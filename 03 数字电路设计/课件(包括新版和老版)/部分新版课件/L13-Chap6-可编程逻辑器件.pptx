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86" r:id="rId3"/>
    <p:sldId id="571" r:id="rId5"/>
    <p:sldId id="695" r:id="rId6"/>
    <p:sldId id="694" r:id="rId7"/>
    <p:sldId id="696" r:id="rId8"/>
    <p:sldId id="697" r:id="rId9"/>
    <p:sldId id="698" r:id="rId10"/>
    <p:sldId id="700" r:id="rId11"/>
    <p:sldId id="703" r:id="rId12"/>
    <p:sldId id="704" r:id="rId13"/>
    <p:sldId id="705" r:id="rId14"/>
    <p:sldId id="699" r:id="rId15"/>
    <p:sldId id="701" r:id="rId16"/>
    <p:sldId id="702" r:id="rId17"/>
    <p:sldId id="706" r:id="rId18"/>
    <p:sldId id="707" r:id="rId19"/>
    <p:sldId id="708" r:id="rId20"/>
    <p:sldId id="709" r:id="rId21"/>
    <p:sldId id="710" r:id="rId22"/>
    <p:sldId id="727" r:id="rId23"/>
    <p:sldId id="711" r:id="rId24"/>
    <p:sldId id="712" r:id="rId25"/>
    <p:sldId id="728" r:id="rId26"/>
    <p:sldId id="729" r:id="rId27"/>
    <p:sldId id="713" r:id="rId28"/>
    <p:sldId id="715" r:id="rId29"/>
    <p:sldId id="718" r:id="rId30"/>
    <p:sldId id="719" r:id="rId31"/>
    <p:sldId id="720" r:id="rId32"/>
    <p:sldId id="721" r:id="rId33"/>
    <p:sldId id="723" r:id="rId34"/>
    <p:sldId id="724" r:id="rId35"/>
    <p:sldId id="722" r:id="rId36"/>
    <p:sldId id="726" r:id="rId37"/>
    <p:sldId id="725" r:id="rId38"/>
    <p:sldId id="279" r:id="rId39"/>
  </p:sldIdLst>
  <p:sldSz cx="9144000" cy="6858000" type="screen4x3"/>
  <p:notesSz cx="6858000" cy="9144000"/>
  <p:custDataLst>
    <p:tags r:id="rId4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FF33CC"/>
    <a:srgbClr val="00FFFF"/>
    <a:srgbClr val="CC9900"/>
    <a:srgbClr val="170A8E"/>
    <a:srgbClr val="1F4E79"/>
    <a:srgbClr val="3CB871"/>
    <a:srgbClr val="2B56F5"/>
    <a:srgbClr val="3D74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5028" autoAdjust="0"/>
  </p:normalViewPr>
  <p:slideViewPr>
    <p:cSldViewPr snapToGrid="0" showGuides="1">
      <p:cViewPr varScale="1">
        <p:scale>
          <a:sx n="95" d="100"/>
          <a:sy n="95" d="100"/>
        </p:scale>
        <p:origin x="1572" y="6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gs" Target="tags/tag19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0.vml.rels><?xml version="1.0" encoding="UTF-8" standalone="yes"?>
<Relationships xmlns="http://schemas.openxmlformats.org/package/2006/relationships"><Relationship Id="rId5" Type="http://schemas.openxmlformats.org/officeDocument/2006/relationships/image" Target="../media/image23.wmf"/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01BD9-4243-4367-977C-650CCA5948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notesSlide" Target="../notesSlides/notesSlide1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9" Type="http://schemas.openxmlformats.org/officeDocument/2006/relationships/tags" Target="../tags/tag18.xml"/><Relationship Id="rId18" Type="http://schemas.openxmlformats.org/officeDocument/2006/relationships/image" Target="../media/image1.jpeg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oleObject" Target="../embeddings/oleObject2.bin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oleObject" Target="../embeddings/oleObject3.bin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emf"/><Relationship Id="rId2" Type="http://schemas.openxmlformats.org/officeDocument/2006/relationships/oleObject" Target="../embeddings/oleObject4.bin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wmf"/><Relationship Id="rId2" Type="http://schemas.openxmlformats.org/officeDocument/2006/relationships/oleObject" Target="../embeddings/oleObject5.bin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vmlDrawing" Target="../drawings/vmlDrawing6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7.bin"/><Relationship Id="rId3" Type="http://schemas.openxmlformats.org/officeDocument/2006/relationships/image" Target="../media/image9.wmf"/><Relationship Id="rId2" Type="http://schemas.openxmlformats.org/officeDocument/2006/relationships/oleObject" Target="../embeddings/oleObject6.bin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wmf"/><Relationship Id="rId2" Type="http://schemas.openxmlformats.org/officeDocument/2006/relationships/oleObject" Target="../embeddings/oleObject8.bin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vmlDrawing" Target="../drawings/vmlDrawing9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wmf"/><Relationship Id="rId2" Type="http://schemas.openxmlformats.org/officeDocument/2006/relationships/oleObject" Target="../embeddings/oleObject11.bin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.bin"/><Relationship Id="rId8" Type="http://schemas.openxmlformats.org/officeDocument/2006/relationships/image" Target="../media/image21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8.png"/><Relationship Id="rId15" Type="http://schemas.openxmlformats.org/officeDocument/2006/relationships/notesSlide" Target="../notesSlides/notesSlide24.xml"/><Relationship Id="rId14" Type="http://schemas.openxmlformats.org/officeDocument/2006/relationships/vmlDrawing" Target="../drawings/vmlDrawing10.v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23.wmf"/><Relationship Id="rId11" Type="http://schemas.openxmlformats.org/officeDocument/2006/relationships/oleObject" Target="../embeddings/oleObject16.bin"/><Relationship Id="rId10" Type="http://schemas.openxmlformats.org/officeDocument/2006/relationships/image" Target="../media/image22.wmf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7" Type="http://schemas.openxmlformats.org/officeDocument/2006/relationships/vmlDrawing" Target="../drawings/vmlDrawing11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18.bin"/><Relationship Id="rId3" Type="http://schemas.openxmlformats.org/officeDocument/2006/relationships/image" Target="../media/image29.wmf"/><Relationship Id="rId2" Type="http://schemas.openxmlformats.org/officeDocument/2006/relationships/oleObject" Target="../embeddings/oleObject17.bin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4.xml"/><Relationship Id="rId5" Type="http://schemas.openxmlformats.org/officeDocument/2006/relationships/vmlDrawing" Target="../drawings/vmlDrawing12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wmf"/><Relationship Id="rId2" Type="http://schemas.openxmlformats.org/officeDocument/2006/relationships/oleObject" Target="../embeddings/oleObject19.bin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5.xml"/><Relationship Id="rId7" Type="http://schemas.openxmlformats.org/officeDocument/2006/relationships/vmlDrawing" Target="../drawings/vmlDrawing13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1.bin"/><Relationship Id="rId3" Type="http://schemas.openxmlformats.org/officeDocument/2006/relationships/image" Target="../media/image32.wmf"/><Relationship Id="rId2" Type="http://schemas.openxmlformats.org/officeDocument/2006/relationships/oleObject" Target="../embeddings/oleObject20.bin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淘宝网chenying0907出品 3"/>
          <p:cNvSpPr/>
          <p:nvPr>
            <p:custDataLst>
              <p:tags r:id="rId1"/>
            </p:custDataLst>
          </p:nvPr>
        </p:nvSpPr>
        <p:spPr>
          <a:xfrm>
            <a:off x="0" y="2586040"/>
            <a:ext cx="233314" cy="215976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PA_淘宝网chenying0907出品 4"/>
          <p:cNvSpPr/>
          <p:nvPr>
            <p:custDataLst>
              <p:tags r:id="rId2"/>
            </p:custDataLst>
          </p:nvPr>
        </p:nvSpPr>
        <p:spPr>
          <a:xfrm>
            <a:off x="5791596" y="2586040"/>
            <a:ext cx="233314" cy="215976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PA_淘宝网chenying0907出品 7"/>
          <p:cNvSpPr/>
          <p:nvPr>
            <p:custDataLst>
              <p:tags r:id="rId3"/>
            </p:custDataLst>
          </p:nvPr>
        </p:nvSpPr>
        <p:spPr>
          <a:xfrm>
            <a:off x="6046708" y="3246665"/>
            <a:ext cx="289874" cy="1485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PA_直接连接符 9"/>
          <p:cNvCxnSpPr/>
          <p:nvPr>
            <p:custDataLst>
              <p:tags r:id="rId4"/>
            </p:custDataLst>
          </p:nvPr>
        </p:nvCxnSpPr>
        <p:spPr>
          <a:xfrm>
            <a:off x="6024911" y="4745807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A_淘宝网chenying0907出品 10"/>
          <p:cNvSpPr/>
          <p:nvPr>
            <p:custDataLst>
              <p:tags r:id="rId5"/>
            </p:custDataLst>
          </p:nvPr>
        </p:nvSpPr>
        <p:spPr>
          <a:xfrm>
            <a:off x="6350719" y="3300665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PA_淘宝网chenying0907出品 11"/>
          <p:cNvSpPr/>
          <p:nvPr>
            <p:custDataLst>
              <p:tags r:id="rId6"/>
            </p:custDataLst>
          </p:nvPr>
        </p:nvSpPr>
        <p:spPr>
          <a:xfrm>
            <a:off x="6660739" y="3300665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PA_淘宝网chenying0907出品 12"/>
          <p:cNvSpPr/>
          <p:nvPr>
            <p:custDataLst>
              <p:tags r:id="rId7"/>
            </p:custDataLst>
          </p:nvPr>
        </p:nvSpPr>
        <p:spPr>
          <a:xfrm>
            <a:off x="6965302" y="3327665"/>
            <a:ext cx="289874" cy="1404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PA_淘宝网chenying0907出品 13"/>
          <p:cNvSpPr/>
          <p:nvPr>
            <p:custDataLst>
              <p:tags r:id="rId8"/>
            </p:custDataLst>
          </p:nvPr>
        </p:nvSpPr>
        <p:spPr>
          <a:xfrm>
            <a:off x="7284553" y="3354665"/>
            <a:ext cx="289874" cy="1377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PA_淘宝网chenying0907出品 14"/>
          <p:cNvSpPr/>
          <p:nvPr>
            <p:custDataLst>
              <p:tags r:id="rId9"/>
            </p:custDataLst>
          </p:nvPr>
        </p:nvSpPr>
        <p:spPr>
          <a:xfrm>
            <a:off x="7601500" y="3381665"/>
            <a:ext cx="289874" cy="135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PA_淘宝网chenying0907出品 15"/>
          <p:cNvSpPr/>
          <p:nvPr>
            <p:custDataLst>
              <p:tags r:id="rId10"/>
            </p:custDataLst>
          </p:nvPr>
        </p:nvSpPr>
        <p:spPr>
          <a:xfrm rot="20959521">
            <a:off x="8008894" y="3420032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PA_淘宝网chenying0907出品 16"/>
          <p:cNvSpPr/>
          <p:nvPr>
            <p:custDataLst>
              <p:tags r:id="rId11"/>
            </p:custDataLst>
          </p:nvPr>
        </p:nvSpPr>
        <p:spPr>
          <a:xfrm rot="19779136">
            <a:off x="8519314" y="3451229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PA_直接连接符 17"/>
          <p:cNvCxnSpPr/>
          <p:nvPr>
            <p:custDataLst>
              <p:tags r:id="rId12"/>
            </p:custDataLst>
          </p:nvPr>
        </p:nvCxnSpPr>
        <p:spPr>
          <a:xfrm>
            <a:off x="233316" y="4745807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PA_直接连接符 19"/>
          <p:cNvCxnSpPr/>
          <p:nvPr>
            <p:custDataLst>
              <p:tags r:id="rId13"/>
            </p:custDataLst>
          </p:nvPr>
        </p:nvCxnSpPr>
        <p:spPr>
          <a:xfrm>
            <a:off x="233312" y="2597418"/>
            <a:ext cx="5558280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PA_直接连接符 20"/>
          <p:cNvCxnSpPr/>
          <p:nvPr>
            <p:custDataLst>
              <p:tags r:id="rId14"/>
            </p:custDataLst>
          </p:nvPr>
        </p:nvCxnSpPr>
        <p:spPr>
          <a:xfrm>
            <a:off x="233315" y="4195517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A_淘宝网chenying0907出品 21"/>
          <p:cNvSpPr txBox="1"/>
          <p:nvPr>
            <p:custDataLst>
              <p:tags r:id="rId15"/>
            </p:custDataLst>
          </p:nvPr>
        </p:nvSpPr>
        <p:spPr>
          <a:xfrm>
            <a:off x="350371" y="2656212"/>
            <a:ext cx="54118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5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endParaRPr lang="en-US" altLang="zh-CN" sz="45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5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可编程逻辑器件</a:t>
            </a:r>
            <a:endParaRPr lang="zh-CN" altLang="en-US" sz="45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PA_淘宝网chenying0907出品 23"/>
          <p:cNvSpPr txBox="1"/>
          <p:nvPr>
            <p:custDataLst>
              <p:tags r:id="rId16"/>
            </p:custDataLst>
          </p:nvPr>
        </p:nvSpPr>
        <p:spPr>
          <a:xfrm>
            <a:off x="1175493" y="4315401"/>
            <a:ext cx="22103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武汉大学计算机学院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PA_淘宝网chenying0907出品 25"/>
          <p:cNvSpPr txBox="1"/>
          <p:nvPr>
            <p:custDataLst>
              <p:tags r:id="rId17"/>
            </p:custDataLst>
          </p:nvPr>
        </p:nvSpPr>
        <p:spPr>
          <a:xfrm>
            <a:off x="1055997" y="424695"/>
            <a:ext cx="2085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武汉大学</a:t>
            </a:r>
            <a:endParaRPr lang="en-US" altLang="zh-CN" sz="20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en-US" altLang="zh-CN" sz="20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   Wuhan University</a:t>
            </a:r>
            <a:endParaRPr lang="zh-CN" altLang="en-US" sz="20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0" y="0"/>
            <a:ext cx="1211379" cy="1211379"/>
          </a:xfrm>
          <a:prstGeom prst="rect">
            <a:avLst/>
          </a:prstGeom>
        </p:spPr>
      </p:pic>
      <p:sp>
        <p:nvSpPr>
          <p:cNvPr id="27" name="PA_淘宝网chenying0907出品 22"/>
          <p:cNvSpPr txBox="1"/>
          <p:nvPr>
            <p:custDataLst>
              <p:tags r:id="rId19"/>
            </p:custDataLst>
          </p:nvPr>
        </p:nvSpPr>
        <p:spPr>
          <a:xfrm>
            <a:off x="3278669" y="4315401"/>
            <a:ext cx="237161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2023-2024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第二学期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淘宝网chenying0907出品 10"/>
          <p:cNvSpPr txBox="1"/>
          <p:nvPr/>
        </p:nvSpPr>
        <p:spPr>
          <a:xfrm>
            <a:off x="1251284" y="3014625"/>
            <a:ext cx="151379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0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Contents</a:t>
            </a:r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淘宝网chenying0907出品 11"/>
          <p:cNvSpPr/>
          <p:nvPr/>
        </p:nvSpPr>
        <p:spPr>
          <a:xfrm>
            <a:off x="3158834" y="-15801"/>
            <a:ext cx="598516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3158833" y="15801"/>
            <a:ext cx="3386343" cy="240418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5827660" y="4362508"/>
            <a:ext cx="3316340" cy="249549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淘宝网chenying0907出品 20"/>
          <p:cNvSpPr txBox="1"/>
          <p:nvPr/>
        </p:nvSpPr>
        <p:spPr>
          <a:xfrm>
            <a:off x="4405821" y="2090677"/>
            <a:ext cx="40930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30" name="淘宝网chenying0907出品 29"/>
          <p:cNvSpPr txBox="1"/>
          <p:nvPr/>
        </p:nvSpPr>
        <p:spPr>
          <a:xfrm>
            <a:off x="4405820" y="3012541"/>
            <a:ext cx="3996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简单</a:t>
            </a:r>
            <a:r>
              <a:rPr lang="en-US" altLang="zh-CN" dirty="0"/>
              <a:t>PLD</a:t>
            </a:r>
            <a:r>
              <a:rPr lang="zh-CN" altLang="en-US" dirty="0"/>
              <a:t>的原理与结构</a:t>
            </a:r>
            <a:endParaRPr lang="zh-CN" altLang="en-US" dirty="0"/>
          </a:p>
        </p:txBody>
      </p:sp>
      <p:sp>
        <p:nvSpPr>
          <p:cNvPr id="17" name="淘宝网chenying0907出品 29"/>
          <p:cNvSpPr txBox="1"/>
          <p:nvPr/>
        </p:nvSpPr>
        <p:spPr>
          <a:xfrm>
            <a:off x="4405820" y="3960780"/>
            <a:ext cx="4489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800" dirty="0"/>
              <a:t>CPLD</a:t>
            </a:r>
            <a:r>
              <a:rPr lang="zh-CN" altLang="en-US" sz="2800" dirty="0"/>
              <a:t>与</a:t>
            </a:r>
            <a:r>
              <a:rPr lang="en-US" altLang="zh-CN" sz="2800" dirty="0"/>
              <a:t>FPGA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概述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05530" y="3315306"/>
            <a:ext cx="8662736" cy="172053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ea typeface="宋体" panose="02010600030101010101" pitchFamily="2" charset="-122"/>
              </a:rPr>
              <a:t>可编程逻辑器件</a:t>
            </a:r>
            <a:r>
              <a:rPr lang="zh-CN" altLang="en-US" sz="2800" b="1" dirty="0"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ea typeface="宋体" panose="02010600030101010101" pitchFamily="2" charset="-122"/>
              </a:rPr>
              <a:t>PLD</a:t>
            </a:r>
            <a:r>
              <a:rPr lang="zh-CN" altLang="en-US" sz="2800" b="1" dirty="0">
                <a:ea typeface="宋体" panose="02010600030101010101" pitchFamily="2" charset="-122"/>
              </a:rPr>
              <a:t>－</a:t>
            </a:r>
            <a:r>
              <a:rPr lang="en-US" altLang="zh-CN" sz="2800" b="1" dirty="0">
                <a:ea typeface="宋体" panose="02010600030101010101" pitchFamily="2" charset="-122"/>
              </a:rPr>
              <a:t>Programmable Logic Device</a:t>
            </a:r>
            <a:r>
              <a:rPr lang="zh-CN" altLang="en-US" sz="2800" b="1" dirty="0">
                <a:ea typeface="宋体" panose="02010600030101010101" pitchFamily="2" charset="-122"/>
              </a:rPr>
              <a:t>）：器件的功能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不是固定不变</a:t>
            </a:r>
            <a:r>
              <a:rPr lang="zh-CN" altLang="en-US" sz="2800" b="1" dirty="0">
                <a:ea typeface="宋体" panose="02010600030101010101" pitchFamily="2" charset="-122"/>
              </a:rPr>
              <a:t>的，而是可根据用户的需要进行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改变</a:t>
            </a:r>
            <a:r>
              <a:rPr lang="zh-CN" altLang="en-US" sz="2800" b="1" dirty="0">
                <a:ea typeface="宋体" panose="02010600030101010101" pitchFamily="2" charset="-122"/>
              </a:rPr>
              <a:t>，即由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编程</a:t>
            </a:r>
            <a:r>
              <a:rPr lang="zh-CN" altLang="en-US" sz="2800" b="1" dirty="0">
                <a:ea typeface="宋体" panose="02010600030101010101" pitchFamily="2" charset="-122"/>
              </a:rPr>
              <a:t>的方法来确定器件的逻辑功能。</a:t>
            </a:r>
            <a:endParaRPr lang="zh-CN" altLang="en-US" sz="2800" b="1" dirty="0"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5530" y="803880"/>
            <a:ext cx="8021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什么是可编程逻辑器件？</a:t>
            </a:r>
            <a:endParaRPr lang="zh-CN" altLang="en-US" sz="2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5530" y="1535181"/>
            <a:ext cx="8662736" cy="172053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ea typeface="宋体" panose="02010600030101010101" pitchFamily="2" charset="-122"/>
              </a:rPr>
              <a:t>逻辑器件</a:t>
            </a:r>
            <a:r>
              <a:rPr lang="zh-CN" altLang="en-US" sz="2800" b="1" dirty="0">
                <a:solidFill>
                  <a:prstClr val="black"/>
                </a:solidFill>
                <a:ea typeface="宋体" panose="02010600030101010101" pitchFamily="2" charset="-122"/>
              </a:rPr>
              <a:t>：用来实现某种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特定</a:t>
            </a:r>
            <a:r>
              <a:rPr lang="zh-CN" altLang="en-US" sz="2800" b="1" dirty="0">
                <a:solidFill>
                  <a:prstClr val="black"/>
                </a:solidFill>
                <a:ea typeface="宋体" panose="02010600030101010101" pitchFamily="2" charset="-122"/>
              </a:rPr>
              <a:t>逻辑功能的电子器件，最简单的逻辑器件是与、或、非门，在此基础上可实现复杂的时序和组合逻辑功能。</a:t>
            </a:r>
            <a:endParaRPr lang="en-US" altLang="zh-CN" sz="28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对话气泡: 矩形 3"/>
          <p:cNvSpPr/>
          <p:nvPr/>
        </p:nvSpPr>
        <p:spPr bwMode="auto">
          <a:xfrm>
            <a:off x="848836" y="5486536"/>
            <a:ext cx="6483927" cy="830997"/>
          </a:xfrm>
          <a:prstGeom prst="wedgeRectCallout">
            <a:avLst>
              <a:gd name="adj1" fmla="val -11671"/>
              <a:gd name="adj2" fmla="val -114387"/>
            </a:avLst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编程：对可编程逻辑器件内部用于连接逻辑门的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开关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进行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配置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，以实现需要的逻辑功能。</a:t>
            </a:r>
            <a:endParaRPr lang="zh-CN" altLang="en-US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概述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397042" y="821626"/>
            <a:ext cx="60238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的作用与特点</a:t>
            </a:r>
            <a:endParaRPr lang="zh-CN" altLang="en-US" sz="2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89412" y="1738114"/>
            <a:ext cx="2971800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传统数字系统的设计</a:t>
            </a:r>
            <a:endParaRPr lang="zh-CN" altLang="en-US" sz="2400" b="1" dirty="0"/>
          </a:p>
        </p:txBody>
      </p:sp>
      <p:sp>
        <p:nvSpPr>
          <p:cNvPr id="4" name="右大括号 3"/>
          <p:cNvSpPr/>
          <p:nvPr/>
        </p:nvSpPr>
        <p:spPr>
          <a:xfrm rot="16200000">
            <a:off x="4334974" y="270448"/>
            <a:ext cx="280677" cy="4439655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15047" y="2651462"/>
            <a:ext cx="2023016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使用</a:t>
            </a:r>
            <a:r>
              <a:rPr lang="zh-CN" altLang="en-US" sz="2400" b="1" dirty="0">
                <a:solidFill>
                  <a:srgbClr val="FF0000"/>
                </a:solidFill>
              </a:rPr>
              <a:t>标准</a:t>
            </a:r>
            <a:r>
              <a:rPr lang="zh-CN" altLang="en-US" sz="2400" b="1" dirty="0"/>
              <a:t>芯片</a:t>
            </a:r>
            <a:endParaRPr lang="zh-CN" altLang="en-US" sz="2400" b="1" dirty="0"/>
          </a:p>
        </p:txBody>
      </p:sp>
      <p:sp>
        <p:nvSpPr>
          <p:cNvPr id="27" name="文本框 26"/>
          <p:cNvSpPr txBox="1"/>
          <p:nvPr/>
        </p:nvSpPr>
        <p:spPr>
          <a:xfrm>
            <a:off x="5683632" y="2635105"/>
            <a:ext cx="2023016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使用</a:t>
            </a:r>
            <a:r>
              <a:rPr lang="zh-CN" altLang="en-US" sz="2400" b="1" dirty="0">
                <a:solidFill>
                  <a:srgbClr val="FF0000"/>
                </a:solidFill>
              </a:rPr>
              <a:t>专用</a:t>
            </a:r>
            <a:r>
              <a:rPr lang="zh-CN" altLang="en-US" sz="2400" b="1" dirty="0"/>
              <a:t>芯片</a:t>
            </a:r>
            <a:endParaRPr lang="zh-CN" altLang="en-US" sz="2400" b="1" dirty="0"/>
          </a:p>
        </p:txBody>
      </p:sp>
      <p:cxnSp>
        <p:nvCxnSpPr>
          <p:cNvPr id="16" name="直接连接符 15"/>
          <p:cNvCxnSpPr>
            <a:stCxn id="5" idx="2"/>
          </p:cNvCxnSpPr>
          <p:nvPr/>
        </p:nvCxnSpPr>
        <p:spPr>
          <a:xfrm>
            <a:off x="2226555" y="3113127"/>
            <a:ext cx="0" cy="235371"/>
          </a:xfrm>
          <a:prstGeom prst="line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289669" y="3340162"/>
            <a:ext cx="3910915" cy="120032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电路器件多，电路尺寸大，功耗大，可靠性差，可实现的数字系统规模受到限制</a:t>
            </a:r>
            <a:endParaRPr lang="zh-CN" altLang="en-US" sz="2400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4625221" y="3332141"/>
            <a:ext cx="4176100" cy="120032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系统功能和性能更优，但设计周期长，风险大，设计成本高，一旦完成设计就很难修改</a:t>
            </a:r>
            <a:endParaRPr lang="zh-CN" altLang="en-US" sz="2400" b="1" dirty="0"/>
          </a:p>
        </p:txBody>
      </p:sp>
      <p:cxnSp>
        <p:nvCxnSpPr>
          <p:cNvPr id="31" name="直接连接符 30"/>
          <p:cNvCxnSpPr/>
          <p:nvPr/>
        </p:nvCxnSpPr>
        <p:spPr>
          <a:xfrm>
            <a:off x="6695140" y="3096770"/>
            <a:ext cx="0" cy="235371"/>
          </a:xfrm>
          <a:prstGeom prst="line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1012650" y="4603823"/>
            <a:ext cx="7122693" cy="1513936"/>
            <a:chOff x="1039155" y="4215093"/>
            <a:chExt cx="7122693" cy="1513936"/>
          </a:xfrm>
        </p:grpSpPr>
        <p:sp>
          <p:nvSpPr>
            <p:cNvPr id="32" name="矩形 31"/>
            <p:cNvSpPr/>
            <p:nvPr/>
          </p:nvSpPr>
          <p:spPr>
            <a:xfrm>
              <a:off x="1039155" y="4774922"/>
              <a:ext cx="7122693" cy="95410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kumimoji="1" lang="en-US" altLang="zh-CN" sz="2800" b="1" dirty="0">
                  <a:solidFill>
                    <a:srgbClr val="FF0000"/>
                  </a:solidFill>
                </a:rPr>
                <a:t>PLD</a:t>
              </a:r>
              <a:r>
                <a:rPr kumimoji="1" lang="zh-CN" altLang="en-US" sz="2800" b="1" dirty="0">
                  <a:solidFill>
                    <a:srgbClr val="FF0000"/>
                  </a:solidFill>
                </a:rPr>
                <a:t>：</a:t>
              </a:r>
              <a:r>
                <a:rPr kumimoji="1" lang="zh-CN" altLang="en-US" sz="2800" b="1" dirty="0">
                  <a:solidFill>
                    <a:srgbClr val="0000FF"/>
                  </a:solidFill>
                </a:rPr>
                <a:t>一种按通用器件来生产，但逻辑功能是由用户通过对器件编程来设定的集成电路</a:t>
              </a:r>
              <a:endParaRPr lang="zh-CN" altLang="en-US" sz="2800" dirty="0"/>
            </a:p>
          </p:txBody>
        </p:sp>
        <p:sp>
          <p:nvSpPr>
            <p:cNvPr id="33" name="左大括号 32"/>
            <p:cNvSpPr/>
            <p:nvPr/>
          </p:nvSpPr>
          <p:spPr>
            <a:xfrm rot="16200000">
              <a:off x="4399990" y="2097093"/>
              <a:ext cx="401024" cy="4637024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概述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397042" y="821626"/>
            <a:ext cx="60238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的优点</a:t>
            </a:r>
            <a:endParaRPr lang="zh-CN" altLang="en-US" sz="2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397042" y="1551147"/>
            <a:ext cx="8331200" cy="4921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90000"/>
              <a:buFont typeface="Symbol" panose="05050102010706020507" pitchFamily="18" charset="2"/>
              <a:buChar char="-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9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90000"/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90000"/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90000"/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90000"/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90000"/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90000"/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defTabSz="914400">
              <a:spcBef>
                <a:spcPts val="0"/>
              </a:spcBef>
              <a:spcAft>
                <a:spcPts val="1200"/>
              </a:spcAft>
            </a:pPr>
            <a:r>
              <a:rPr lang="zh-CN" altLang="en-US" b="1" kern="0" dirty="0">
                <a:solidFill>
                  <a:srgbClr val="44444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集成度高，可以替代多至几千块通用</a:t>
            </a:r>
            <a:r>
              <a:rPr lang="en-US" altLang="zh-CN" b="1" kern="0" dirty="0">
                <a:solidFill>
                  <a:srgbClr val="44444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IC</a:t>
            </a:r>
            <a:r>
              <a:rPr lang="zh-CN" altLang="en-US" b="1" kern="0" dirty="0">
                <a:solidFill>
                  <a:srgbClr val="44444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芯片</a:t>
            </a:r>
            <a:endParaRPr lang="zh-CN" altLang="en-US" b="1" kern="0" dirty="0">
              <a:solidFill>
                <a:srgbClr val="44444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defTabSz="914400">
              <a:spcBef>
                <a:spcPts val="0"/>
              </a:spcBef>
              <a:spcAft>
                <a:spcPts val="1200"/>
              </a:spcAft>
            </a:pPr>
            <a:r>
              <a:rPr lang="zh-CN" altLang="en-US" sz="2400" b="1" kern="0" dirty="0">
                <a:solidFill>
                  <a:srgbClr val="0000FF"/>
                </a:solidFill>
                <a:ea typeface="宋体" panose="02010600030101010101" pitchFamily="2" charset="-122"/>
              </a:rPr>
              <a:t>极大减小电路的面积，降低功耗，提高可靠性</a:t>
            </a:r>
            <a:endParaRPr lang="zh-CN" altLang="en-US" sz="2400" b="1" kern="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defTabSz="914400">
              <a:spcBef>
                <a:spcPts val="0"/>
              </a:spcBef>
              <a:spcAft>
                <a:spcPts val="1200"/>
              </a:spcAft>
            </a:pPr>
            <a:r>
              <a:rPr lang="zh-CN" altLang="en-US" b="1" kern="0" dirty="0">
                <a:solidFill>
                  <a:srgbClr val="44444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具有完善先进的开发工具</a:t>
            </a:r>
            <a:endParaRPr lang="zh-CN" altLang="en-US" b="1" kern="0" dirty="0">
              <a:solidFill>
                <a:srgbClr val="44444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defTabSz="914400">
              <a:spcBef>
                <a:spcPts val="0"/>
              </a:spcBef>
              <a:spcAft>
                <a:spcPts val="1200"/>
              </a:spcAft>
            </a:pPr>
            <a:r>
              <a:rPr lang="zh-CN" altLang="en-US" sz="2400" b="1" kern="0" dirty="0">
                <a:solidFill>
                  <a:srgbClr val="0000FF"/>
                </a:solidFill>
                <a:ea typeface="宋体" panose="02010600030101010101" pitchFamily="2" charset="-122"/>
              </a:rPr>
              <a:t>提供语言、图形等设计方法，十分灵活</a:t>
            </a:r>
            <a:endParaRPr lang="zh-CN" altLang="en-US" sz="2400" b="1" kern="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defTabSz="914400">
              <a:spcBef>
                <a:spcPts val="0"/>
              </a:spcBef>
              <a:spcAft>
                <a:spcPts val="1200"/>
              </a:spcAft>
            </a:pPr>
            <a:r>
              <a:rPr lang="zh-CN" altLang="en-US" sz="2400" b="1" kern="0" dirty="0">
                <a:solidFill>
                  <a:srgbClr val="0000FF"/>
                </a:solidFill>
                <a:ea typeface="宋体" panose="02010600030101010101" pitchFamily="2" charset="-122"/>
              </a:rPr>
              <a:t>通过仿真工具来验证设计的正确性</a:t>
            </a:r>
            <a:endParaRPr lang="zh-CN" altLang="en-US" sz="2400" b="1" kern="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defTabSz="914400">
              <a:spcBef>
                <a:spcPts val="0"/>
              </a:spcBef>
              <a:spcAft>
                <a:spcPts val="1200"/>
              </a:spcAft>
            </a:pPr>
            <a:r>
              <a:rPr lang="zh-CN" altLang="en-US" b="1" kern="0" dirty="0">
                <a:solidFill>
                  <a:srgbClr val="44444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可以反复地擦除、编程，方便设计的修改和升级</a:t>
            </a:r>
            <a:endParaRPr lang="zh-CN" altLang="en-US" b="1" kern="0" dirty="0">
              <a:solidFill>
                <a:srgbClr val="44444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defTabSz="914400">
              <a:spcBef>
                <a:spcPts val="0"/>
              </a:spcBef>
              <a:spcAft>
                <a:spcPts val="1200"/>
              </a:spcAft>
            </a:pPr>
            <a:r>
              <a:rPr lang="zh-CN" altLang="en-US" b="1" kern="0" dirty="0">
                <a:solidFill>
                  <a:srgbClr val="44444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灵活地定义管脚功能，减轻设计工作量，缩短系统开发时间</a:t>
            </a:r>
            <a:endParaRPr lang="zh-CN" altLang="en-US" b="1" kern="0" dirty="0">
              <a:solidFill>
                <a:srgbClr val="44444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defTabSz="914400">
              <a:spcBef>
                <a:spcPts val="0"/>
              </a:spcBef>
              <a:spcAft>
                <a:spcPts val="1200"/>
              </a:spcAft>
            </a:pPr>
            <a:r>
              <a:rPr lang="zh-CN" altLang="en-US" b="1" kern="0" dirty="0">
                <a:solidFill>
                  <a:srgbClr val="44444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保密性好</a:t>
            </a:r>
            <a:endParaRPr lang="en-US" altLang="zh-CN" b="1" kern="0" dirty="0">
              <a:solidFill>
                <a:srgbClr val="44444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概述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128330" y="676878"/>
            <a:ext cx="60238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的分类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按集成度分类</a:t>
            </a:r>
            <a:endParaRPr lang="zh-CN" altLang="en-US" sz="2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5" name="Group 2"/>
          <p:cNvGrpSpPr/>
          <p:nvPr/>
        </p:nvGrpSpPr>
        <p:grpSpPr bwMode="auto">
          <a:xfrm>
            <a:off x="65893" y="1589745"/>
            <a:ext cx="8689731" cy="3516314"/>
            <a:chOff x="137" y="2070"/>
            <a:chExt cx="5260" cy="2215"/>
          </a:xfrm>
        </p:grpSpPr>
        <p:sp>
          <p:nvSpPr>
            <p:cNvPr id="46" name="Text Box 3"/>
            <p:cNvSpPr txBox="1">
              <a:spLocks noChangeArrowheads="1"/>
            </p:cNvSpPr>
            <p:nvPr/>
          </p:nvSpPr>
          <p:spPr bwMode="auto">
            <a:xfrm>
              <a:off x="137" y="3115"/>
              <a:ext cx="57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/>
              <a:r>
                <a:rPr lang="en-US" altLang="zh-CN" sz="2800" b="1" dirty="0"/>
                <a:t>PLD</a:t>
              </a:r>
              <a:endParaRPr lang="en-US" altLang="zh-CN" sz="2800" b="1" dirty="0"/>
            </a:p>
          </p:txBody>
        </p:sp>
        <p:sp>
          <p:nvSpPr>
            <p:cNvPr id="47" name="Text Box 4"/>
            <p:cNvSpPr txBox="1">
              <a:spLocks noChangeArrowheads="1"/>
            </p:cNvSpPr>
            <p:nvPr/>
          </p:nvSpPr>
          <p:spPr bwMode="auto">
            <a:xfrm>
              <a:off x="614" y="2515"/>
              <a:ext cx="102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/>
              <a:r>
                <a:rPr lang="zh-CN" altLang="en-US" sz="2800" b="1" dirty="0"/>
                <a:t>简单</a:t>
              </a:r>
              <a:r>
                <a:rPr lang="en-US" altLang="zh-CN" sz="2800" b="1" dirty="0"/>
                <a:t>PLD</a:t>
              </a:r>
              <a:endParaRPr lang="en-US" altLang="zh-CN" sz="2800" b="1" dirty="0"/>
            </a:p>
          </p:txBody>
        </p:sp>
        <p:sp>
          <p:nvSpPr>
            <p:cNvPr id="48" name="Text Box 5"/>
            <p:cNvSpPr txBox="1">
              <a:spLocks noChangeArrowheads="1"/>
            </p:cNvSpPr>
            <p:nvPr/>
          </p:nvSpPr>
          <p:spPr bwMode="auto">
            <a:xfrm>
              <a:off x="1552" y="2070"/>
              <a:ext cx="384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just"/>
              <a:r>
                <a:rPr lang="en-US" altLang="zh-CN" sz="2800" b="1" dirty="0">
                  <a:solidFill>
                    <a:srgbClr val="0000FF"/>
                  </a:solidFill>
                </a:rPr>
                <a:t>PROM</a:t>
              </a:r>
              <a:r>
                <a:rPr lang="en-US" altLang="zh-CN" sz="2800" b="1" dirty="0"/>
                <a:t>（</a:t>
              </a:r>
              <a:r>
                <a:rPr lang="zh-CN" altLang="en-US" sz="2800" b="1" dirty="0"/>
                <a:t>可编程只读存储器，70年代）</a:t>
              </a:r>
              <a:endParaRPr lang="zh-CN" altLang="en-US" sz="2800" b="1" dirty="0"/>
            </a:p>
          </p:txBody>
        </p:sp>
        <p:sp>
          <p:nvSpPr>
            <p:cNvPr id="49" name="Text Box 6"/>
            <p:cNvSpPr txBox="1">
              <a:spLocks noChangeArrowheads="1"/>
            </p:cNvSpPr>
            <p:nvPr/>
          </p:nvSpPr>
          <p:spPr bwMode="auto">
            <a:xfrm>
              <a:off x="1546" y="2379"/>
              <a:ext cx="345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/>
              <a:r>
                <a:rPr lang="en-US" altLang="zh-CN" sz="2800" b="1" dirty="0">
                  <a:solidFill>
                    <a:srgbClr val="0000FF"/>
                  </a:solidFill>
                </a:rPr>
                <a:t>PLA</a:t>
              </a:r>
              <a:r>
                <a:rPr lang="en-US" altLang="zh-CN" sz="2800" b="1" dirty="0"/>
                <a:t>（</a:t>
              </a:r>
              <a:r>
                <a:rPr lang="zh-CN" altLang="en-US" sz="2800" b="1" dirty="0"/>
                <a:t>可编程逻辑阵列，70年代中）</a:t>
              </a:r>
              <a:endParaRPr lang="zh-CN" altLang="en-US" sz="2800" b="1" dirty="0"/>
            </a:p>
          </p:txBody>
        </p:sp>
        <p:sp>
          <p:nvSpPr>
            <p:cNvPr id="50" name="Text Box 7"/>
            <p:cNvSpPr txBox="1">
              <a:spLocks noChangeArrowheads="1"/>
            </p:cNvSpPr>
            <p:nvPr/>
          </p:nvSpPr>
          <p:spPr bwMode="auto">
            <a:xfrm>
              <a:off x="1546" y="2755"/>
              <a:ext cx="326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/>
              <a:r>
                <a:rPr lang="en-US" altLang="zh-CN" sz="2800" b="1" dirty="0">
                  <a:solidFill>
                    <a:srgbClr val="0000FF"/>
                  </a:solidFill>
                </a:rPr>
                <a:t>PAL</a:t>
              </a:r>
              <a:r>
                <a:rPr lang="en-US" altLang="zh-CN" sz="2800" b="1" dirty="0"/>
                <a:t>（</a:t>
              </a:r>
              <a:r>
                <a:rPr lang="zh-CN" altLang="en-US" sz="2800" b="1" dirty="0"/>
                <a:t>可编程阵列逻辑，70年代末）</a:t>
              </a:r>
              <a:endParaRPr lang="zh-CN" altLang="en-US" sz="2800" b="1" dirty="0"/>
            </a:p>
          </p:txBody>
        </p:sp>
        <p:sp>
          <p:nvSpPr>
            <p:cNvPr id="51" name="AutoShape 8"/>
            <p:cNvSpPr/>
            <p:nvPr/>
          </p:nvSpPr>
          <p:spPr bwMode="auto">
            <a:xfrm>
              <a:off x="1439" y="2202"/>
              <a:ext cx="136" cy="1071"/>
            </a:xfrm>
            <a:prstGeom prst="leftBrace">
              <a:avLst>
                <a:gd name="adj1" fmla="val 48794"/>
                <a:gd name="adj2" fmla="val 50000"/>
              </a:avLst>
            </a:prstGeom>
            <a:noFill/>
            <a:ln w="317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 sz="2800"/>
            </a:p>
          </p:txBody>
        </p:sp>
        <p:sp>
          <p:nvSpPr>
            <p:cNvPr id="52" name="Text Box 9"/>
            <p:cNvSpPr txBox="1">
              <a:spLocks noChangeArrowheads="1"/>
            </p:cNvSpPr>
            <p:nvPr/>
          </p:nvSpPr>
          <p:spPr bwMode="auto">
            <a:xfrm>
              <a:off x="1546" y="3086"/>
              <a:ext cx="351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just"/>
              <a:r>
                <a:rPr lang="en-US" altLang="zh-CN" sz="2800" b="1" dirty="0">
                  <a:solidFill>
                    <a:srgbClr val="0000FF"/>
                  </a:solidFill>
                </a:rPr>
                <a:t>GAL</a:t>
              </a:r>
              <a:r>
                <a:rPr lang="en-US" altLang="zh-CN" sz="2800" b="1" dirty="0"/>
                <a:t>（</a:t>
              </a:r>
              <a:r>
                <a:rPr lang="zh-CN" altLang="en-US" sz="2800" b="1" dirty="0"/>
                <a:t>通用阵列逻辑，80年代中）</a:t>
              </a:r>
              <a:endParaRPr lang="zh-CN" altLang="en-US" sz="2800" b="1" dirty="0"/>
            </a:p>
          </p:txBody>
        </p:sp>
        <p:sp>
          <p:nvSpPr>
            <p:cNvPr id="53" name="Text Box 10"/>
            <p:cNvSpPr txBox="1">
              <a:spLocks noChangeArrowheads="1"/>
            </p:cNvSpPr>
            <p:nvPr/>
          </p:nvSpPr>
          <p:spPr bwMode="auto">
            <a:xfrm>
              <a:off x="604" y="3741"/>
              <a:ext cx="94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2800" b="1" dirty="0"/>
                <a:t>复杂</a:t>
              </a:r>
              <a:r>
                <a:rPr lang="en-US" altLang="zh-CN" sz="2800" b="1" dirty="0"/>
                <a:t>PLD</a:t>
              </a:r>
              <a:endParaRPr lang="en-US" altLang="zh-CN" sz="2800" b="1" dirty="0"/>
            </a:p>
          </p:txBody>
        </p:sp>
        <p:sp>
          <p:nvSpPr>
            <p:cNvPr id="54" name="Text Box 11"/>
            <p:cNvSpPr txBox="1">
              <a:spLocks noChangeArrowheads="1"/>
            </p:cNvSpPr>
            <p:nvPr/>
          </p:nvSpPr>
          <p:spPr bwMode="auto">
            <a:xfrm>
              <a:off x="1522" y="3557"/>
              <a:ext cx="315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just"/>
              <a:r>
                <a:rPr lang="en-US" altLang="zh-CN" sz="2800" b="1" dirty="0">
                  <a:solidFill>
                    <a:srgbClr val="0000FF"/>
                  </a:solidFill>
                </a:rPr>
                <a:t>CPLD </a:t>
              </a:r>
              <a:r>
                <a:rPr lang="zh-CN" altLang="en-US" sz="2800" b="1" dirty="0"/>
                <a:t>（复杂</a:t>
              </a:r>
              <a:r>
                <a:rPr lang="en-US" altLang="zh-CN" sz="2800" b="1" dirty="0"/>
                <a:t>PLD</a:t>
              </a:r>
              <a:r>
                <a:rPr lang="zh-CN" altLang="en-US" sz="2800" b="1" dirty="0"/>
                <a:t>）</a:t>
              </a:r>
              <a:endParaRPr lang="en-US" altLang="zh-CN" sz="2800" b="1" dirty="0"/>
            </a:p>
          </p:txBody>
        </p:sp>
        <p:sp>
          <p:nvSpPr>
            <p:cNvPr id="55" name="Text Box 12"/>
            <p:cNvSpPr txBox="1">
              <a:spLocks noChangeArrowheads="1"/>
            </p:cNvSpPr>
            <p:nvPr/>
          </p:nvSpPr>
          <p:spPr bwMode="auto">
            <a:xfrm>
              <a:off x="1523" y="3955"/>
              <a:ext cx="351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just"/>
              <a:r>
                <a:rPr lang="en-US" altLang="zh-CN" sz="2800" b="1" dirty="0">
                  <a:solidFill>
                    <a:srgbClr val="0000FF"/>
                  </a:solidFill>
                </a:rPr>
                <a:t>FPGA</a:t>
              </a:r>
              <a:r>
                <a:rPr lang="zh-CN" altLang="en-US" sz="2800" b="1" dirty="0"/>
                <a:t>（现场可编程门阵列）</a:t>
              </a:r>
              <a:endParaRPr lang="en-US" altLang="zh-CN" sz="2800" b="1" dirty="0"/>
            </a:p>
          </p:txBody>
        </p:sp>
        <p:sp>
          <p:nvSpPr>
            <p:cNvPr id="56" name="AutoShape 13"/>
            <p:cNvSpPr/>
            <p:nvPr/>
          </p:nvSpPr>
          <p:spPr bwMode="auto">
            <a:xfrm>
              <a:off x="1439" y="3650"/>
              <a:ext cx="136" cy="560"/>
            </a:xfrm>
            <a:prstGeom prst="leftBrace">
              <a:avLst>
                <a:gd name="adj1" fmla="val 32440"/>
                <a:gd name="adj2" fmla="val 50000"/>
              </a:avLst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 sz="2800"/>
            </a:p>
          </p:txBody>
        </p:sp>
        <p:sp>
          <p:nvSpPr>
            <p:cNvPr id="57" name="AutoShape 14"/>
            <p:cNvSpPr/>
            <p:nvPr/>
          </p:nvSpPr>
          <p:spPr bwMode="auto">
            <a:xfrm>
              <a:off x="558" y="2705"/>
              <a:ext cx="113" cy="1222"/>
            </a:xfrm>
            <a:prstGeom prst="leftBrace">
              <a:avLst>
                <a:gd name="adj1" fmla="val 59155"/>
                <a:gd name="adj2" fmla="val 49136"/>
              </a:avLst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 sz="280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淘宝网chenying0907出品 10"/>
          <p:cNvSpPr txBox="1"/>
          <p:nvPr/>
        </p:nvSpPr>
        <p:spPr>
          <a:xfrm>
            <a:off x="1251284" y="3014625"/>
            <a:ext cx="151379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0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Contents</a:t>
            </a:r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淘宝网chenying0907出品 11"/>
          <p:cNvSpPr/>
          <p:nvPr/>
        </p:nvSpPr>
        <p:spPr>
          <a:xfrm>
            <a:off x="3158834" y="-15801"/>
            <a:ext cx="598516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3158833" y="15801"/>
            <a:ext cx="3386343" cy="240418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5827660" y="4362508"/>
            <a:ext cx="3316340" cy="249549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淘宝网chenying0907出品 20"/>
          <p:cNvSpPr txBox="1"/>
          <p:nvPr/>
        </p:nvSpPr>
        <p:spPr>
          <a:xfrm>
            <a:off x="4405821" y="2090677"/>
            <a:ext cx="40930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30" name="淘宝网chenying0907出品 29"/>
          <p:cNvSpPr txBox="1"/>
          <p:nvPr/>
        </p:nvSpPr>
        <p:spPr>
          <a:xfrm>
            <a:off x="4405820" y="3012541"/>
            <a:ext cx="3996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简单</a:t>
            </a:r>
            <a:r>
              <a:rPr lang="en-US" altLang="zh-CN" dirty="0"/>
              <a:t>PLD</a:t>
            </a:r>
            <a:r>
              <a:rPr lang="zh-CN" altLang="en-US" dirty="0"/>
              <a:t>的原理与结构</a:t>
            </a:r>
            <a:endParaRPr lang="zh-CN" altLang="en-US" dirty="0"/>
          </a:p>
        </p:txBody>
      </p:sp>
      <p:sp>
        <p:nvSpPr>
          <p:cNvPr id="17" name="淘宝网chenying0907出品 29"/>
          <p:cNvSpPr txBox="1"/>
          <p:nvPr/>
        </p:nvSpPr>
        <p:spPr>
          <a:xfrm>
            <a:off x="4405820" y="3960780"/>
            <a:ext cx="4489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800" dirty="0"/>
              <a:t>CPLD</a:t>
            </a:r>
            <a:r>
              <a:rPr lang="zh-CN" altLang="en-US" sz="2800" dirty="0"/>
              <a:t>与</a:t>
            </a:r>
            <a:r>
              <a:rPr lang="en-US" altLang="zh-CN" sz="2800" dirty="0"/>
              <a:t>FPGA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45317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14" y="0"/>
            <a:ext cx="1435167" cy="615323"/>
          </a:xfrm>
          <a:prstGeom prst="rect">
            <a:avLst/>
          </a:prstGeom>
        </p:spPr>
      </p:pic>
      <p:sp>
        <p:nvSpPr>
          <p:cNvPr id="174" name="Rectangle 2051"/>
          <p:cNvSpPr txBox="1">
            <a:spLocks noChangeArrowheads="1"/>
          </p:cNvSpPr>
          <p:nvPr/>
        </p:nvSpPr>
        <p:spPr>
          <a:xfrm>
            <a:off x="365427" y="1295812"/>
            <a:ext cx="8098004" cy="3613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18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任何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组合逻辑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函数均可化为“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或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”表达式，用“与门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或门”二级电路实现，任何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时序电路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都是由组合电路加上存储元件（触发器）构成的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18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从原理上说，与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或阵列加上寄存器的结构就可以实现任何数字逻辑电路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PLD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采用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或阵列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加上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寄存器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、以及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可灵活配置的互连线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的结构，即可实现任意的逻辑功能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的结构原理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45317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14" y="0"/>
            <a:ext cx="1435167" cy="615323"/>
          </a:xfrm>
          <a:prstGeom prst="rect">
            <a:avLst/>
          </a:prstGeom>
        </p:spPr>
      </p:pic>
      <p:grpSp>
        <p:nvGrpSpPr>
          <p:cNvPr id="119" name="Group 174"/>
          <p:cNvGrpSpPr/>
          <p:nvPr/>
        </p:nvGrpSpPr>
        <p:grpSpPr bwMode="auto">
          <a:xfrm>
            <a:off x="1106962" y="1300956"/>
            <a:ext cx="7384887" cy="2963642"/>
            <a:chOff x="1237" y="1092"/>
            <a:chExt cx="3316" cy="1176"/>
          </a:xfrm>
        </p:grpSpPr>
        <p:sp>
          <p:nvSpPr>
            <p:cNvPr id="121" name="Text Box 176"/>
            <p:cNvSpPr txBox="1">
              <a:spLocks noChangeArrowheads="1"/>
            </p:cNvSpPr>
            <p:nvPr/>
          </p:nvSpPr>
          <p:spPr bwMode="auto">
            <a:xfrm>
              <a:off x="1964" y="1105"/>
              <a:ext cx="248" cy="1026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输入电路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" name="Text Box 177"/>
            <p:cNvSpPr txBox="1">
              <a:spLocks noChangeArrowheads="1"/>
            </p:cNvSpPr>
            <p:nvPr/>
          </p:nvSpPr>
          <p:spPr bwMode="auto">
            <a:xfrm>
              <a:off x="2542" y="1109"/>
              <a:ext cx="248" cy="1024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80000" rIns="0" bIns="18000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与阵列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123" name="Text Box 178"/>
            <p:cNvSpPr txBox="1">
              <a:spLocks noChangeArrowheads="1"/>
            </p:cNvSpPr>
            <p:nvPr/>
          </p:nvSpPr>
          <p:spPr bwMode="auto">
            <a:xfrm>
              <a:off x="3692" y="1098"/>
              <a:ext cx="248" cy="1026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输出电路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124" name="Text Box 179"/>
            <p:cNvSpPr txBox="1">
              <a:spLocks noChangeArrowheads="1"/>
            </p:cNvSpPr>
            <p:nvPr/>
          </p:nvSpPr>
          <p:spPr bwMode="auto">
            <a:xfrm>
              <a:off x="3120" y="1104"/>
              <a:ext cx="248" cy="1024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80000" rIns="0" bIns="180000">
              <a:spAutoFit/>
            </a:bodyPr>
            <a:lstStyle>
              <a:defPPr>
                <a:defRPr lang="en-US"/>
              </a:defPPr>
              <a:lvl1pPr marR="0" lvl="0" indent="0" algn="ctr" defTabSz="914400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sz="2400" b="1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或阵列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125" name="AutoShape 180"/>
            <p:cNvSpPr>
              <a:spLocks noChangeArrowheads="1"/>
            </p:cNvSpPr>
            <p:nvPr/>
          </p:nvSpPr>
          <p:spPr bwMode="auto">
            <a:xfrm>
              <a:off x="2214" y="1536"/>
              <a:ext cx="324" cy="192"/>
            </a:xfrm>
            <a:prstGeom prst="rightArrow">
              <a:avLst>
                <a:gd name="adj1" fmla="val 50000"/>
                <a:gd name="adj2" fmla="val 42188"/>
              </a:avLst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" name="Line 181"/>
            <p:cNvSpPr>
              <a:spLocks noChangeShapeType="1"/>
            </p:cNvSpPr>
            <p:nvPr/>
          </p:nvSpPr>
          <p:spPr bwMode="auto">
            <a:xfrm>
              <a:off x="3960" y="1230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7" name="Line 182"/>
            <p:cNvSpPr>
              <a:spLocks noChangeShapeType="1"/>
            </p:cNvSpPr>
            <p:nvPr/>
          </p:nvSpPr>
          <p:spPr bwMode="auto">
            <a:xfrm>
              <a:off x="3960" y="1362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8" name="Line 183"/>
            <p:cNvSpPr>
              <a:spLocks noChangeShapeType="1"/>
            </p:cNvSpPr>
            <p:nvPr/>
          </p:nvSpPr>
          <p:spPr bwMode="auto">
            <a:xfrm>
              <a:off x="4068" y="1410"/>
              <a:ext cx="0" cy="17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" name="Line 184"/>
            <p:cNvSpPr>
              <a:spLocks noChangeShapeType="1"/>
            </p:cNvSpPr>
            <p:nvPr/>
          </p:nvSpPr>
          <p:spPr bwMode="auto">
            <a:xfrm>
              <a:off x="3954" y="1626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0" name="Line 185"/>
            <p:cNvSpPr>
              <a:spLocks noChangeShapeType="1"/>
            </p:cNvSpPr>
            <p:nvPr/>
          </p:nvSpPr>
          <p:spPr bwMode="auto">
            <a:xfrm>
              <a:off x="3960" y="1806"/>
              <a:ext cx="20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1" name="Line 186"/>
            <p:cNvSpPr>
              <a:spLocks noChangeShapeType="1"/>
            </p:cNvSpPr>
            <p:nvPr/>
          </p:nvSpPr>
          <p:spPr bwMode="auto">
            <a:xfrm>
              <a:off x="1536" y="1212"/>
              <a:ext cx="41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2" name="Line 187"/>
            <p:cNvSpPr>
              <a:spLocks noChangeShapeType="1"/>
            </p:cNvSpPr>
            <p:nvPr/>
          </p:nvSpPr>
          <p:spPr bwMode="auto">
            <a:xfrm>
              <a:off x="1542" y="1344"/>
              <a:ext cx="4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" name="Line 188"/>
            <p:cNvSpPr>
              <a:spLocks noChangeShapeType="1"/>
            </p:cNvSpPr>
            <p:nvPr/>
          </p:nvSpPr>
          <p:spPr bwMode="auto">
            <a:xfrm>
              <a:off x="1770" y="1392"/>
              <a:ext cx="0" cy="17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4" name="Line 189"/>
            <p:cNvSpPr>
              <a:spLocks noChangeShapeType="1"/>
            </p:cNvSpPr>
            <p:nvPr/>
          </p:nvSpPr>
          <p:spPr bwMode="auto">
            <a:xfrm flipV="1">
              <a:off x="1536" y="1608"/>
              <a:ext cx="41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5" name="Line 190"/>
            <p:cNvSpPr>
              <a:spLocks noChangeShapeType="1"/>
            </p:cNvSpPr>
            <p:nvPr/>
          </p:nvSpPr>
          <p:spPr bwMode="auto">
            <a:xfrm>
              <a:off x="1674" y="1800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6" name="Line 191"/>
            <p:cNvSpPr>
              <a:spLocks noChangeShapeType="1"/>
            </p:cNvSpPr>
            <p:nvPr/>
          </p:nvSpPr>
          <p:spPr bwMode="auto">
            <a:xfrm>
              <a:off x="1752" y="1998"/>
              <a:ext cx="21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 192"/>
            <p:cNvSpPr>
              <a:spLocks noChangeShapeType="1"/>
            </p:cNvSpPr>
            <p:nvPr/>
          </p:nvSpPr>
          <p:spPr bwMode="auto">
            <a:xfrm>
              <a:off x="1812" y="1860"/>
              <a:ext cx="0" cy="1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Line 193"/>
            <p:cNvSpPr>
              <a:spLocks noChangeShapeType="1"/>
            </p:cNvSpPr>
            <p:nvPr/>
          </p:nvSpPr>
          <p:spPr bwMode="auto">
            <a:xfrm>
              <a:off x="1680" y="1800"/>
              <a:ext cx="0" cy="46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9" name="Line 194"/>
            <p:cNvSpPr>
              <a:spLocks noChangeShapeType="1"/>
            </p:cNvSpPr>
            <p:nvPr/>
          </p:nvSpPr>
          <p:spPr bwMode="auto">
            <a:xfrm>
              <a:off x="1758" y="1998"/>
              <a:ext cx="0" cy="1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Line 195"/>
            <p:cNvSpPr>
              <a:spLocks noChangeShapeType="1"/>
            </p:cNvSpPr>
            <p:nvPr/>
          </p:nvSpPr>
          <p:spPr bwMode="auto">
            <a:xfrm flipH="1">
              <a:off x="4080" y="2016"/>
              <a:ext cx="0" cy="16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1" name="Line 196"/>
            <p:cNvSpPr>
              <a:spLocks noChangeShapeType="1"/>
            </p:cNvSpPr>
            <p:nvPr/>
          </p:nvSpPr>
          <p:spPr bwMode="auto">
            <a:xfrm>
              <a:off x="1752" y="2172"/>
              <a:ext cx="232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2" name="Line 197"/>
            <p:cNvSpPr>
              <a:spLocks noChangeShapeType="1"/>
            </p:cNvSpPr>
            <p:nvPr/>
          </p:nvSpPr>
          <p:spPr bwMode="auto">
            <a:xfrm flipV="1">
              <a:off x="1686" y="2262"/>
              <a:ext cx="247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" name="Line 198"/>
            <p:cNvSpPr>
              <a:spLocks noChangeShapeType="1"/>
            </p:cNvSpPr>
            <p:nvPr/>
          </p:nvSpPr>
          <p:spPr bwMode="auto">
            <a:xfrm>
              <a:off x="4152" y="1806"/>
              <a:ext cx="0" cy="46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4" name="Rectangle 199"/>
            <p:cNvSpPr>
              <a:spLocks noChangeArrowheads="1"/>
            </p:cNvSpPr>
            <p:nvPr/>
          </p:nvSpPr>
          <p:spPr bwMode="auto">
            <a:xfrm>
              <a:off x="2297" y="1092"/>
              <a:ext cx="19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输入项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5" name="Rectangle 200"/>
            <p:cNvSpPr>
              <a:spLocks noChangeArrowheads="1"/>
            </p:cNvSpPr>
            <p:nvPr/>
          </p:nvSpPr>
          <p:spPr bwMode="auto">
            <a:xfrm>
              <a:off x="2862" y="1095"/>
              <a:ext cx="19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乘积项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6" name="AutoShape 201"/>
            <p:cNvSpPr>
              <a:spLocks noChangeArrowheads="1"/>
            </p:cNvSpPr>
            <p:nvPr/>
          </p:nvSpPr>
          <p:spPr bwMode="auto">
            <a:xfrm>
              <a:off x="2796" y="1536"/>
              <a:ext cx="324" cy="192"/>
            </a:xfrm>
            <a:prstGeom prst="rightArrow">
              <a:avLst>
                <a:gd name="adj1" fmla="val 50000"/>
                <a:gd name="adj2" fmla="val 42188"/>
              </a:avLst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7" name="AutoShape 202"/>
            <p:cNvSpPr>
              <a:spLocks noChangeArrowheads="1"/>
            </p:cNvSpPr>
            <p:nvPr/>
          </p:nvSpPr>
          <p:spPr bwMode="auto">
            <a:xfrm>
              <a:off x="3372" y="1536"/>
              <a:ext cx="324" cy="192"/>
            </a:xfrm>
            <a:prstGeom prst="rightArrow">
              <a:avLst>
                <a:gd name="adj1" fmla="val 50000"/>
                <a:gd name="adj2" fmla="val 42188"/>
              </a:avLst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8" name="Rectangle 203"/>
            <p:cNvSpPr>
              <a:spLocks noChangeArrowheads="1"/>
            </p:cNvSpPr>
            <p:nvPr/>
          </p:nvSpPr>
          <p:spPr bwMode="auto">
            <a:xfrm>
              <a:off x="3454" y="1161"/>
              <a:ext cx="198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或项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9" name="Rectangle 204"/>
            <p:cNvSpPr>
              <a:spLocks noChangeArrowheads="1"/>
            </p:cNvSpPr>
            <p:nvPr/>
          </p:nvSpPr>
          <p:spPr bwMode="auto">
            <a:xfrm>
              <a:off x="1237" y="1290"/>
              <a:ext cx="185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33CC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输</a:t>
              </a:r>
              <a:endPara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33CC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入</a:t>
              </a:r>
              <a:endPara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150" name="AutoShape 205"/>
            <p:cNvSpPr/>
            <p:nvPr/>
          </p:nvSpPr>
          <p:spPr bwMode="auto">
            <a:xfrm>
              <a:off x="1456" y="1192"/>
              <a:ext cx="56" cy="736"/>
            </a:xfrm>
            <a:prstGeom prst="leftBrace">
              <a:avLst>
                <a:gd name="adj1" fmla="val 109524"/>
                <a:gd name="adj2" fmla="val 50000"/>
              </a:avLst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1" name="AutoShape 206"/>
            <p:cNvSpPr/>
            <p:nvPr/>
          </p:nvSpPr>
          <p:spPr bwMode="auto">
            <a:xfrm>
              <a:off x="4280" y="1212"/>
              <a:ext cx="64" cy="736"/>
            </a:xfrm>
            <a:prstGeom prst="rightBrace">
              <a:avLst>
                <a:gd name="adj1" fmla="val 95833"/>
                <a:gd name="adj2" fmla="val 50000"/>
              </a:avLst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2" name="Rectangle 207"/>
            <p:cNvSpPr>
              <a:spLocks noChangeArrowheads="1"/>
            </p:cNvSpPr>
            <p:nvPr/>
          </p:nvSpPr>
          <p:spPr bwMode="auto">
            <a:xfrm>
              <a:off x="4368" y="1320"/>
              <a:ext cx="185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33CC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输</a:t>
              </a:r>
              <a:endPara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33CC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出</a:t>
              </a:r>
              <a:endPara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153" name="Line 208"/>
            <p:cNvSpPr>
              <a:spLocks noChangeShapeType="1"/>
            </p:cNvSpPr>
            <p:nvPr/>
          </p:nvSpPr>
          <p:spPr bwMode="auto">
            <a:xfrm>
              <a:off x="4012" y="1868"/>
              <a:ext cx="0" cy="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5" name="Line 210"/>
            <p:cNvSpPr>
              <a:spLocks noChangeShapeType="1"/>
            </p:cNvSpPr>
            <p:nvPr/>
          </p:nvSpPr>
          <p:spPr bwMode="auto">
            <a:xfrm flipH="1">
              <a:off x="3954" y="2022"/>
              <a:ext cx="12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" name="对话气泡: 矩形 3"/>
          <p:cNvSpPr/>
          <p:nvPr/>
        </p:nvSpPr>
        <p:spPr bwMode="auto">
          <a:xfrm>
            <a:off x="1022687" y="5134859"/>
            <a:ext cx="3021653" cy="1200329"/>
          </a:xfrm>
          <a:prstGeom prst="wedgeRectCallout">
            <a:avLst>
              <a:gd name="adj1" fmla="val 13467"/>
              <a:gd name="adj2" fmla="val -165305"/>
            </a:avLst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由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缓冲器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反相器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构成，产生每个变量的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原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反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变量信号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2" name="矩形 171"/>
          <p:cNvSpPr/>
          <p:nvPr/>
        </p:nvSpPr>
        <p:spPr bwMode="auto">
          <a:xfrm>
            <a:off x="3845723" y="1041278"/>
            <a:ext cx="2167421" cy="3119426"/>
          </a:xfrm>
          <a:prstGeom prst="rect">
            <a:avLst/>
          </a:prstGeom>
          <a:noFill/>
          <a:ln w="41275">
            <a:solidFill>
              <a:srgbClr val="FF33CC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的基本结构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45317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14" y="0"/>
            <a:ext cx="1435167" cy="615323"/>
          </a:xfrm>
          <a:prstGeom prst="rect">
            <a:avLst/>
          </a:prstGeom>
        </p:spPr>
      </p:pic>
      <p:grpSp>
        <p:nvGrpSpPr>
          <p:cNvPr id="119" name="Group 174"/>
          <p:cNvGrpSpPr/>
          <p:nvPr/>
        </p:nvGrpSpPr>
        <p:grpSpPr bwMode="auto">
          <a:xfrm>
            <a:off x="1106962" y="1300956"/>
            <a:ext cx="7384887" cy="2963642"/>
            <a:chOff x="1237" y="1092"/>
            <a:chExt cx="3316" cy="1176"/>
          </a:xfrm>
        </p:grpSpPr>
        <p:sp>
          <p:nvSpPr>
            <p:cNvPr id="121" name="Text Box 176"/>
            <p:cNvSpPr txBox="1">
              <a:spLocks noChangeArrowheads="1"/>
            </p:cNvSpPr>
            <p:nvPr/>
          </p:nvSpPr>
          <p:spPr bwMode="auto">
            <a:xfrm>
              <a:off x="1964" y="1105"/>
              <a:ext cx="248" cy="1026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输入电路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" name="Text Box 177"/>
            <p:cNvSpPr txBox="1">
              <a:spLocks noChangeArrowheads="1"/>
            </p:cNvSpPr>
            <p:nvPr/>
          </p:nvSpPr>
          <p:spPr bwMode="auto">
            <a:xfrm>
              <a:off x="2542" y="1109"/>
              <a:ext cx="248" cy="1024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80000" rIns="0" bIns="18000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与阵列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123" name="Text Box 178"/>
            <p:cNvSpPr txBox="1">
              <a:spLocks noChangeArrowheads="1"/>
            </p:cNvSpPr>
            <p:nvPr/>
          </p:nvSpPr>
          <p:spPr bwMode="auto">
            <a:xfrm>
              <a:off x="3692" y="1098"/>
              <a:ext cx="248" cy="1026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输出电路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124" name="Text Box 179"/>
            <p:cNvSpPr txBox="1">
              <a:spLocks noChangeArrowheads="1"/>
            </p:cNvSpPr>
            <p:nvPr/>
          </p:nvSpPr>
          <p:spPr bwMode="auto">
            <a:xfrm>
              <a:off x="3120" y="1104"/>
              <a:ext cx="248" cy="1024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80000" rIns="0" bIns="180000">
              <a:spAutoFit/>
            </a:bodyPr>
            <a:lstStyle>
              <a:defPPr>
                <a:defRPr lang="en-US"/>
              </a:defPPr>
              <a:lvl1pPr marR="0" lvl="0" indent="0" algn="ctr" defTabSz="914400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sz="2400" b="1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或阵列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125" name="AutoShape 180"/>
            <p:cNvSpPr>
              <a:spLocks noChangeArrowheads="1"/>
            </p:cNvSpPr>
            <p:nvPr/>
          </p:nvSpPr>
          <p:spPr bwMode="auto">
            <a:xfrm>
              <a:off x="2214" y="1536"/>
              <a:ext cx="324" cy="192"/>
            </a:xfrm>
            <a:prstGeom prst="rightArrow">
              <a:avLst>
                <a:gd name="adj1" fmla="val 50000"/>
                <a:gd name="adj2" fmla="val 42188"/>
              </a:avLst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" name="Line 181"/>
            <p:cNvSpPr>
              <a:spLocks noChangeShapeType="1"/>
            </p:cNvSpPr>
            <p:nvPr/>
          </p:nvSpPr>
          <p:spPr bwMode="auto">
            <a:xfrm>
              <a:off x="3960" y="1230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7" name="Line 182"/>
            <p:cNvSpPr>
              <a:spLocks noChangeShapeType="1"/>
            </p:cNvSpPr>
            <p:nvPr/>
          </p:nvSpPr>
          <p:spPr bwMode="auto">
            <a:xfrm>
              <a:off x="3960" y="1362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8" name="Line 183"/>
            <p:cNvSpPr>
              <a:spLocks noChangeShapeType="1"/>
            </p:cNvSpPr>
            <p:nvPr/>
          </p:nvSpPr>
          <p:spPr bwMode="auto">
            <a:xfrm>
              <a:off x="4068" y="1410"/>
              <a:ext cx="0" cy="17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" name="Line 184"/>
            <p:cNvSpPr>
              <a:spLocks noChangeShapeType="1"/>
            </p:cNvSpPr>
            <p:nvPr/>
          </p:nvSpPr>
          <p:spPr bwMode="auto">
            <a:xfrm>
              <a:off x="3954" y="1626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0" name="Line 185"/>
            <p:cNvSpPr>
              <a:spLocks noChangeShapeType="1"/>
            </p:cNvSpPr>
            <p:nvPr/>
          </p:nvSpPr>
          <p:spPr bwMode="auto">
            <a:xfrm>
              <a:off x="3960" y="1806"/>
              <a:ext cx="20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1" name="Line 186"/>
            <p:cNvSpPr>
              <a:spLocks noChangeShapeType="1"/>
            </p:cNvSpPr>
            <p:nvPr/>
          </p:nvSpPr>
          <p:spPr bwMode="auto">
            <a:xfrm>
              <a:off x="1536" y="1212"/>
              <a:ext cx="41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2" name="Line 187"/>
            <p:cNvSpPr>
              <a:spLocks noChangeShapeType="1"/>
            </p:cNvSpPr>
            <p:nvPr/>
          </p:nvSpPr>
          <p:spPr bwMode="auto">
            <a:xfrm>
              <a:off x="1542" y="1344"/>
              <a:ext cx="4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" name="Line 188"/>
            <p:cNvSpPr>
              <a:spLocks noChangeShapeType="1"/>
            </p:cNvSpPr>
            <p:nvPr/>
          </p:nvSpPr>
          <p:spPr bwMode="auto">
            <a:xfrm>
              <a:off x="1770" y="1392"/>
              <a:ext cx="0" cy="17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4" name="Line 189"/>
            <p:cNvSpPr>
              <a:spLocks noChangeShapeType="1"/>
            </p:cNvSpPr>
            <p:nvPr/>
          </p:nvSpPr>
          <p:spPr bwMode="auto">
            <a:xfrm flipV="1">
              <a:off x="1536" y="1608"/>
              <a:ext cx="41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5" name="Line 190"/>
            <p:cNvSpPr>
              <a:spLocks noChangeShapeType="1"/>
            </p:cNvSpPr>
            <p:nvPr/>
          </p:nvSpPr>
          <p:spPr bwMode="auto">
            <a:xfrm>
              <a:off x="1674" y="1800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6" name="Line 191"/>
            <p:cNvSpPr>
              <a:spLocks noChangeShapeType="1"/>
            </p:cNvSpPr>
            <p:nvPr/>
          </p:nvSpPr>
          <p:spPr bwMode="auto">
            <a:xfrm>
              <a:off x="1752" y="1998"/>
              <a:ext cx="21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 192"/>
            <p:cNvSpPr>
              <a:spLocks noChangeShapeType="1"/>
            </p:cNvSpPr>
            <p:nvPr/>
          </p:nvSpPr>
          <p:spPr bwMode="auto">
            <a:xfrm>
              <a:off x="1812" y="1860"/>
              <a:ext cx="0" cy="1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Line 193"/>
            <p:cNvSpPr>
              <a:spLocks noChangeShapeType="1"/>
            </p:cNvSpPr>
            <p:nvPr/>
          </p:nvSpPr>
          <p:spPr bwMode="auto">
            <a:xfrm>
              <a:off x="1680" y="1800"/>
              <a:ext cx="0" cy="46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9" name="Line 194"/>
            <p:cNvSpPr>
              <a:spLocks noChangeShapeType="1"/>
            </p:cNvSpPr>
            <p:nvPr/>
          </p:nvSpPr>
          <p:spPr bwMode="auto">
            <a:xfrm>
              <a:off x="1758" y="1998"/>
              <a:ext cx="0" cy="1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Line 195"/>
            <p:cNvSpPr>
              <a:spLocks noChangeShapeType="1"/>
            </p:cNvSpPr>
            <p:nvPr/>
          </p:nvSpPr>
          <p:spPr bwMode="auto">
            <a:xfrm flipH="1">
              <a:off x="4080" y="2016"/>
              <a:ext cx="0" cy="16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1" name="Line 196"/>
            <p:cNvSpPr>
              <a:spLocks noChangeShapeType="1"/>
            </p:cNvSpPr>
            <p:nvPr/>
          </p:nvSpPr>
          <p:spPr bwMode="auto">
            <a:xfrm>
              <a:off x="1752" y="2172"/>
              <a:ext cx="232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2" name="Line 197"/>
            <p:cNvSpPr>
              <a:spLocks noChangeShapeType="1"/>
            </p:cNvSpPr>
            <p:nvPr/>
          </p:nvSpPr>
          <p:spPr bwMode="auto">
            <a:xfrm flipV="1">
              <a:off x="1686" y="2262"/>
              <a:ext cx="247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" name="Line 198"/>
            <p:cNvSpPr>
              <a:spLocks noChangeShapeType="1"/>
            </p:cNvSpPr>
            <p:nvPr/>
          </p:nvSpPr>
          <p:spPr bwMode="auto">
            <a:xfrm>
              <a:off x="4152" y="1806"/>
              <a:ext cx="0" cy="46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4" name="Rectangle 199"/>
            <p:cNvSpPr>
              <a:spLocks noChangeArrowheads="1"/>
            </p:cNvSpPr>
            <p:nvPr/>
          </p:nvSpPr>
          <p:spPr bwMode="auto">
            <a:xfrm>
              <a:off x="2297" y="1092"/>
              <a:ext cx="19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输入项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5" name="Rectangle 200"/>
            <p:cNvSpPr>
              <a:spLocks noChangeArrowheads="1"/>
            </p:cNvSpPr>
            <p:nvPr/>
          </p:nvSpPr>
          <p:spPr bwMode="auto">
            <a:xfrm>
              <a:off x="2862" y="1095"/>
              <a:ext cx="19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乘积项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6" name="AutoShape 201"/>
            <p:cNvSpPr>
              <a:spLocks noChangeArrowheads="1"/>
            </p:cNvSpPr>
            <p:nvPr/>
          </p:nvSpPr>
          <p:spPr bwMode="auto">
            <a:xfrm>
              <a:off x="2796" y="1536"/>
              <a:ext cx="324" cy="192"/>
            </a:xfrm>
            <a:prstGeom prst="rightArrow">
              <a:avLst>
                <a:gd name="adj1" fmla="val 50000"/>
                <a:gd name="adj2" fmla="val 42188"/>
              </a:avLst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7" name="AutoShape 202"/>
            <p:cNvSpPr>
              <a:spLocks noChangeArrowheads="1"/>
            </p:cNvSpPr>
            <p:nvPr/>
          </p:nvSpPr>
          <p:spPr bwMode="auto">
            <a:xfrm>
              <a:off x="3372" y="1536"/>
              <a:ext cx="324" cy="192"/>
            </a:xfrm>
            <a:prstGeom prst="rightArrow">
              <a:avLst>
                <a:gd name="adj1" fmla="val 50000"/>
                <a:gd name="adj2" fmla="val 42188"/>
              </a:avLst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8" name="Rectangle 203"/>
            <p:cNvSpPr>
              <a:spLocks noChangeArrowheads="1"/>
            </p:cNvSpPr>
            <p:nvPr/>
          </p:nvSpPr>
          <p:spPr bwMode="auto">
            <a:xfrm>
              <a:off x="3454" y="1161"/>
              <a:ext cx="198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或项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9" name="Rectangle 204"/>
            <p:cNvSpPr>
              <a:spLocks noChangeArrowheads="1"/>
            </p:cNvSpPr>
            <p:nvPr/>
          </p:nvSpPr>
          <p:spPr bwMode="auto">
            <a:xfrm>
              <a:off x="1237" y="1290"/>
              <a:ext cx="185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33CC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输</a:t>
              </a:r>
              <a:endPara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33CC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入</a:t>
              </a:r>
              <a:endPara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150" name="AutoShape 205"/>
            <p:cNvSpPr/>
            <p:nvPr/>
          </p:nvSpPr>
          <p:spPr bwMode="auto">
            <a:xfrm>
              <a:off x="1456" y="1192"/>
              <a:ext cx="56" cy="736"/>
            </a:xfrm>
            <a:prstGeom prst="leftBrace">
              <a:avLst>
                <a:gd name="adj1" fmla="val 109524"/>
                <a:gd name="adj2" fmla="val 50000"/>
              </a:avLst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1" name="AutoShape 206"/>
            <p:cNvSpPr/>
            <p:nvPr/>
          </p:nvSpPr>
          <p:spPr bwMode="auto">
            <a:xfrm>
              <a:off x="4280" y="1212"/>
              <a:ext cx="64" cy="736"/>
            </a:xfrm>
            <a:prstGeom prst="rightBrace">
              <a:avLst>
                <a:gd name="adj1" fmla="val 95833"/>
                <a:gd name="adj2" fmla="val 50000"/>
              </a:avLst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2" name="Rectangle 207"/>
            <p:cNvSpPr>
              <a:spLocks noChangeArrowheads="1"/>
            </p:cNvSpPr>
            <p:nvPr/>
          </p:nvSpPr>
          <p:spPr bwMode="auto">
            <a:xfrm>
              <a:off x="4368" y="1320"/>
              <a:ext cx="185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33CC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输</a:t>
              </a:r>
              <a:endPara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33CC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出</a:t>
              </a:r>
              <a:endPara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153" name="Line 208"/>
            <p:cNvSpPr>
              <a:spLocks noChangeShapeType="1"/>
            </p:cNvSpPr>
            <p:nvPr/>
          </p:nvSpPr>
          <p:spPr bwMode="auto">
            <a:xfrm>
              <a:off x="4012" y="1868"/>
              <a:ext cx="0" cy="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5" name="Line 210"/>
            <p:cNvSpPr>
              <a:spLocks noChangeShapeType="1"/>
            </p:cNvSpPr>
            <p:nvPr/>
          </p:nvSpPr>
          <p:spPr bwMode="auto">
            <a:xfrm flipH="1">
              <a:off x="3954" y="2022"/>
              <a:ext cx="12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68" name="对话气泡: 矩形 167"/>
          <p:cNvSpPr/>
          <p:nvPr/>
        </p:nvSpPr>
        <p:spPr bwMode="auto">
          <a:xfrm>
            <a:off x="2047775" y="4574702"/>
            <a:ext cx="5239242" cy="830997"/>
          </a:xfrm>
          <a:prstGeom prst="wedgeRectCallout">
            <a:avLst>
              <a:gd name="adj1" fmla="val 673"/>
              <a:gd name="adj2" fmla="val -148856"/>
            </a:avLst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分别由多个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多输入与门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或门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组成，用以产生输入变量的各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乘积项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或项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2" name="矩形 171"/>
          <p:cNvSpPr/>
          <p:nvPr/>
        </p:nvSpPr>
        <p:spPr bwMode="auto">
          <a:xfrm>
            <a:off x="3845723" y="1041278"/>
            <a:ext cx="2167421" cy="3119426"/>
          </a:xfrm>
          <a:prstGeom prst="rect">
            <a:avLst/>
          </a:prstGeom>
          <a:noFill/>
          <a:ln w="41275">
            <a:solidFill>
              <a:srgbClr val="FF33CC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751811" y="5562071"/>
            <a:ext cx="7831169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70A8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连接到与阵列、或阵列的信号都要经过一个开关，通过一定的方法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改变开关的状态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70A8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，从而改变与阵列、或阵列的连接方式，以产生不同的与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70A8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70A8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或表达式，这个过程称为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编程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的基本结构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animBg="1"/>
      <p:bldP spid="17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45317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14" y="0"/>
            <a:ext cx="1435167" cy="615323"/>
          </a:xfrm>
          <a:prstGeom prst="rect">
            <a:avLst/>
          </a:prstGeom>
        </p:spPr>
      </p:pic>
      <p:grpSp>
        <p:nvGrpSpPr>
          <p:cNvPr id="119" name="Group 174"/>
          <p:cNvGrpSpPr/>
          <p:nvPr/>
        </p:nvGrpSpPr>
        <p:grpSpPr bwMode="auto">
          <a:xfrm>
            <a:off x="1106962" y="1300956"/>
            <a:ext cx="7384887" cy="2963642"/>
            <a:chOff x="1237" y="1092"/>
            <a:chExt cx="3316" cy="1176"/>
          </a:xfrm>
        </p:grpSpPr>
        <p:sp>
          <p:nvSpPr>
            <p:cNvPr id="121" name="Text Box 176"/>
            <p:cNvSpPr txBox="1">
              <a:spLocks noChangeArrowheads="1"/>
            </p:cNvSpPr>
            <p:nvPr/>
          </p:nvSpPr>
          <p:spPr bwMode="auto">
            <a:xfrm>
              <a:off x="1964" y="1105"/>
              <a:ext cx="248" cy="1026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输入电路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" name="Text Box 177"/>
            <p:cNvSpPr txBox="1">
              <a:spLocks noChangeArrowheads="1"/>
            </p:cNvSpPr>
            <p:nvPr/>
          </p:nvSpPr>
          <p:spPr bwMode="auto">
            <a:xfrm>
              <a:off x="2542" y="1109"/>
              <a:ext cx="248" cy="1024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80000" rIns="0" bIns="18000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与阵列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123" name="Text Box 178"/>
            <p:cNvSpPr txBox="1">
              <a:spLocks noChangeArrowheads="1"/>
            </p:cNvSpPr>
            <p:nvPr/>
          </p:nvSpPr>
          <p:spPr bwMode="auto">
            <a:xfrm>
              <a:off x="3692" y="1098"/>
              <a:ext cx="248" cy="1026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输出电路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124" name="Text Box 179"/>
            <p:cNvSpPr txBox="1">
              <a:spLocks noChangeArrowheads="1"/>
            </p:cNvSpPr>
            <p:nvPr/>
          </p:nvSpPr>
          <p:spPr bwMode="auto">
            <a:xfrm>
              <a:off x="3120" y="1104"/>
              <a:ext cx="248" cy="1024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80000" rIns="0" bIns="180000">
              <a:spAutoFit/>
            </a:bodyPr>
            <a:lstStyle>
              <a:defPPr>
                <a:defRPr lang="en-US"/>
              </a:defPPr>
              <a:lvl1pPr marR="0" lvl="0" indent="0" algn="ctr" defTabSz="914400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sz="2400" b="1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或阵列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125" name="AutoShape 180"/>
            <p:cNvSpPr>
              <a:spLocks noChangeArrowheads="1"/>
            </p:cNvSpPr>
            <p:nvPr/>
          </p:nvSpPr>
          <p:spPr bwMode="auto">
            <a:xfrm>
              <a:off x="2214" y="1536"/>
              <a:ext cx="324" cy="192"/>
            </a:xfrm>
            <a:prstGeom prst="rightArrow">
              <a:avLst>
                <a:gd name="adj1" fmla="val 50000"/>
                <a:gd name="adj2" fmla="val 42188"/>
              </a:avLst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" name="Line 181"/>
            <p:cNvSpPr>
              <a:spLocks noChangeShapeType="1"/>
            </p:cNvSpPr>
            <p:nvPr/>
          </p:nvSpPr>
          <p:spPr bwMode="auto">
            <a:xfrm>
              <a:off x="3960" y="1230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7" name="Line 182"/>
            <p:cNvSpPr>
              <a:spLocks noChangeShapeType="1"/>
            </p:cNvSpPr>
            <p:nvPr/>
          </p:nvSpPr>
          <p:spPr bwMode="auto">
            <a:xfrm>
              <a:off x="3960" y="1362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8" name="Line 183"/>
            <p:cNvSpPr>
              <a:spLocks noChangeShapeType="1"/>
            </p:cNvSpPr>
            <p:nvPr/>
          </p:nvSpPr>
          <p:spPr bwMode="auto">
            <a:xfrm>
              <a:off x="4068" y="1410"/>
              <a:ext cx="0" cy="17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" name="Line 184"/>
            <p:cNvSpPr>
              <a:spLocks noChangeShapeType="1"/>
            </p:cNvSpPr>
            <p:nvPr/>
          </p:nvSpPr>
          <p:spPr bwMode="auto">
            <a:xfrm>
              <a:off x="3954" y="1626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0" name="Line 185"/>
            <p:cNvSpPr>
              <a:spLocks noChangeShapeType="1"/>
            </p:cNvSpPr>
            <p:nvPr/>
          </p:nvSpPr>
          <p:spPr bwMode="auto">
            <a:xfrm>
              <a:off x="3960" y="1806"/>
              <a:ext cx="20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1" name="Line 186"/>
            <p:cNvSpPr>
              <a:spLocks noChangeShapeType="1"/>
            </p:cNvSpPr>
            <p:nvPr/>
          </p:nvSpPr>
          <p:spPr bwMode="auto">
            <a:xfrm>
              <a:off x="1536" y="1212"/>
              <a:ext cx="41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2" name="Line 187"/>
            <p:cNvSpPr>
              <a:spLocks noChangeShapeType="1"/>
            </p:cNvSpPr>
            <p:nvPr/>
          </p:nvSpPr>
          <p:spPr bwMode="auto">
            <a:xfrm>
              <a:off x="1542" y="1344"/>
              <a:ext cx="4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" name="Line 188"/>
            <p:cNvSpPr>
              <a:spLocks noChangeShapeType="1"/>
            </p:cNvSpPr>
            <p:nvPr/>
          </p:nvSpPr>
          <p:spPr bwMode="auto">
            <a:xfrm>
              <a:off x="1770" y="1392"/>
              <a:ext cx="0" cy="17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4" name="Line 189"/>
            <p:cNvSpPr>
              <a:spLocks noChangeShapeType="1"/>
            </p:cNvSpPr>
            <p:nvPr/>
          </p:nvSpPr>
          <p:spPr bwMode="auto">
            <a:xfrm flipV="1">
              <a:off x="1536" y="1608"/>
              <a:ext cx="41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5" name="Line 190"/>
            <p:cNvSpPr>
              <a:spLocks noChangeShapeType="1"/>
            </p:cNvSpPr>
            <p:nvPr/>
          </p:nvSpPr>
          <p:spPr bwMode="auto">
            <a:xfrm>
              <a:off x="1674" y="1800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6" name="Line 191"/>
            <p:cNvSpPr>
              <a:spLocks noChangeShapeType="1"/>
            </p:cNvSpPr>
            <p:nvPr/>
          </p:nvSpPr>
          <p:spPr bwMode="auto">
            <a:xfrm>
              <a:off x="1752" y="1998"/>
              <a:ext cx="21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 192"/>
            <p:cNvSpPr>
              <a:spLocks noChangeShapeType="1"/>
            </p:cNvSpPr>
            <p:nvPr/>
          </p:nvSpPr>
          <p:spPr bwMode="auto">
            <a:xfrm>
              <a:off x="1812" y="1860"/>
              <a:ext cx="0" cy="1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Line 193"/>
            <p:cNvSpPr>
              <a:spLocks noChangeShapeType="1"/>
            </p:cNvSpPr>
            <p:nvPr/>
          </p:nvSpPr>
          <p:spPr bwMode="auto">
            <a:xfrm>
              <a:off x="1680" y="1800"/>
              <a:ext cx="0" cy="46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9" name="Line 194"/>
            <p:cNvSpPr>
              <a:spLocks noChangeShapeType="1"/>
            </p:cNvSpPr>
            <p:nvPr/>
          </p:nvSpPr>
          <p:spPr bwMode="auto">
            <a:xfrm>
              <a:off x="1758" y="1998"/>
              <a:ext cx="0" cy="1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Line 195"/>
            <p:cNvSpPr>
              <a:spLocks noChangeShapeType="1"/>
            </p:cNvSpPr>
            <p:nvPr/>
          </p:nvSpPr>
          <p:spPr bwMode="auto">
            <a:xfrm flipH="1">
              <a:off x="4080" y="2016"/>
              <a:ext cx="0" cy="16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1" name="Line 196"/>
            <p:cNvSpPr>
              <a:spLocks noChangeShapeType="1"/>
            </p:cNvSpPr>
            <p:nvPr/>
          </p:nvSpPr>
          <p:spPr bwMode="auto">
            <a:xfrm>
              <a:off x="1752" y="2172"/>
              <a:ext cx="232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2" name="Line 197"/>
            <p:cNvSpPr>
              <a:spLocks noChangeShapeType="1"/>
            </p:cNvSpPr>
            <p:nvPr/>
          </p:nvSpPr>
          <p:spPr bwMode="auto">
            <a:xfrm flipV="1">
              <a:off x="1686" y="2262"/>
              <a:ext cx="247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" name="Line 198"/>
            <p:cNvSpPr>
              <a:spLocks noChangeShapeType="1"/>
            </p:cNvSpPr>
            <p:nvPr/>
          </p:nvSpPr>
          <p:spPr bwMode="auto">
            <a:xfrm>
              <a:off x="4152" y="1806"/>
              <a:ext cx="0" cy="46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4" name="Rectangle 199"/>
            <p:cNvSpPr>
              <a:spLocks noChangeArrowheads="1"/>
            </p:cNvSpPr>
            <p:nvPr/>
          </p:nvSpPr>
          <p:spPr bwMode="auto">
            <a:xfrm>
              <a:off x="2297" y="1092"/>
              <a:ext cx="19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输入项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5" name="Rectangle 200"/>
            <p:cNvSpPr>
              <a:spLocks noChangeArrowheads="1"/>
            </p:cNvSpPr>
            <p:nvPr/>
          </p:nvSpPr>
          <p:spPr bwMode="auto">
            <a:xfrm>
              <a:off x="2862" y="1095"/>
              <a:ext cx="19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乘积项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6" name="AutoShape 201"/>
            <p:cNvSpPr>
              <a:spLocks noChangeArrowheads="1"/>
            </p:cNvSpPr>
            <p:nvPr/>
          </p:nvSpPr>
          <p:spPr bwMode="auto">
            <a:xfrm>
              <a:off x="2796" y="1536"/>
              <a:ext cx="324" cy="192"/>
            </a:xfrm>
            <a:prstGeom prst="rightArrow">
              <a:avLst>
                <a:gd name="adj1" fmla="val 50000"/>
                <a:gd name="adj2" fmla="val 42188"/>
              </a:avLst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7" name="AutoShape 202"/>
            <p:cNvSpPr>
              <a:spLocks noChangeArrowheads="1"/>
            </p:cNvSpPr>
            <p:nvPr/>
          </p:nvSpPr>
          <p:spPr bwMode="auto">
            <a:xfrm>
              <a:off x="3372" y="1536"/>
              <a:ext cx="324" cy="192"/>
            </a:xfrm>
            <a:prstGeom prst="rightArrow">
              <a:avLst>
                <a:gd name="adj1" fmla="val 50000"/>
                <a:gd name="adj2" fmla="val 42188"/>
              </a:avLst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8" name="Rectangle 203"/>
            <p:cNvSpPr>
              <a:spLocks noChangeArrowheads="1"/>
            </p:cNvSpPr>
            <p:nvPr/>
          </p:nvSpPr>
          <p:spPr bwMode="auto">
            <a:xfrm>
              <a:off x="3454" y="1161"/>
              <a:ext cx="198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或项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9" name="Rectangle 204"/>
            <p:cNvSpPr>
              <a:spLocks noChangeArrowheads="1"/>
            </p:cNvSpPr>
            <p:nvPr/>
          </p:nvSpPr>
          <p:spPr bwMode="auto">
            <a:xfrm>
              <a:off x="1237" y="1290"/>
              <a:ext cx="185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33CC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输</a:t>
              </a:r>
              <a:endPara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33CC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入</a:t>
              </a:r>
              <a:endPara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150" name="AutoShape 205"/>
            <p:cNvSpPr/>
            <p:nvPr/>
          </p:nvSpPr>
          <p:spPr bwMode="auto">
            <a:xfrm>
              <a:off x="1456" y="1192"/>
              <a:ext cx="56" cy="736"/>
            </a:xfrm>
            <a:prstGeom prst="leftBrace">
              <a:avLst>
                <a:gd name="adj1" fmla="val 109524"/>
                <a:gd name="adj2" fmla="val 50000"/>
              </a:avLst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1" name="AutoShape 206"/>
            <p:cNvSpPr/>
            <p:nvPr/>
          </p:nvSpPr>
          <p:spPr bwMode="auto">
            <a:xfrm>
              <a:off x="4280" y="1212"/>
              <a:ext cx="64" cy="736"/>
            </a:xfrm>
            <a:prstGeom prst="rightBrace">
              <a:avLst>
                <a:gd name="adj1" fmla="val 95833"/>
                <a:gd name="adj2" fmla="val 50000"/>
              </a:avLst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2" name="Rectangle 207"/>
            <p:cNvSpPr>
              <a:spLocks noChangeArrowheads="1"/>
            </p:cNvSpPr>
            <p:nvPr/>
          </p:nvSpPr>
          <p:spPr bwMode="auto">
            <a:xfrm>
              <a:off x="4368" y="1320"/>
              <a:ext cx="185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33CC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输</a:t>
              </a:r>
              <a:endPara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33CC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出</a:t>
              </a:r>
              <a:endPara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153" name="Line 208"/>
            <p:cNvSpPr>
              <a:spLocks noChangeShapeType="1"/>
            </p:cNvSpPr>
            <p:nvPr/>
          </p:nvSpPr>
          <p:spPr bwMode="auto">
            <a:xfrm>
              <a:off x="4012" y="1868"/>
              <a:ext cx="0" cy="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5" name="Line 210"/>
            <p:cNvSpPr>
              <a:spLocks noChangeShapeType="1"/>
            </p:cNvSpPr>
            <p:nvPr/>
          </p:nvSpPr>
          <p:spPr bwMode="auto">
            <a:xfrm flipH="1">
              <a:off x="3954" y="2022"/>
              <a:ext cx="12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68" name="对话气泡: 矩形 167"/>
          <p:cNvSpPr/>
          <p:nvPr/>
        </p:nvSpPr>
        <p:spPr bwMode="auto">
          <a:xfrm>
            <a:off x="4609549" y="4926638"/>
            <a:ext cx="3947441" cy="1200329"/>
          </a:xfrm>
          <a:prstGeom prst="wedgeRectCallout">
            <a:avLst>
              <a:gd name="adj1" fmla="val 5450"/>
              <a:gd name="adj2" fmla="val -166854"/>
            </a:avLst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lvl="0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对将要输出的信号进行处理，既能输出纯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组合逻辑信号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，也能输出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时序逻辑信号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2" name="矩形 171"/>
          <p:cNvSpPr/>
          <p:nvPr/>
        </p:nvSpPr>
        <p:spPr bwMode="auto">
          <a:xfrm>
            <a:off x="3845723" y="1041278"/>
            <a:ext cx="2167421" cy="3119426"/>
          </a:xfrm>
          <a:prstGeom prst="rect">
            <a:avLst/>
          </a:prstGeom>
          <a:noFill/>
          <a:ln w="41275">
            <a:solidFill>
              <a:srgbClr val="FF33CC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的基本结构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的阵列图符号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grpSp>
        <p:nvGrpSpPr>
          <p:cNvPr id="19" name="Group 101"/>
          <p:cNvGrpSpPr/>
          <p:nvPr/>
        </p:nvGrpSpPr>
        <p:grpSpPr bwMode="auto">
          <a:xfrm>
            <a:off x="1169154" y="2334868"/>
            <a:ext cx="6027726" cy="2811465"/>
            <a:chOff x="1677" y="2183"/>
            <a:chExt cx="3797" cy="1771"/>
          </a:xfrm>
        </p:grpSpPr>
        <p:graphicFrame>
          <p:nvGraphicFramePr>
            <p:cNvPr id="20" name="Object 99"/>
            <p:cNvGraphicFramePr>
              <a:graphicFrameLocks noChangeAspect="1"/>
            </p:cNvGraphicFramePr>
            <p:nvPr/>
          </p:nvGraphicFramePr>
          <p:xfrm>
            <a:off x="1895" y="2183"/>
            <a:ext cx="3397" cy="10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BMP 图象" r:id="rId2" imgW="3162300" imgH="971550" progId="Paint.Picture">
                    <p:embed/>
                  </p:oleObj>
                </mc:Choice>
                <mc:Fallback>
                  <p:oleObj name="BMP 图象" r:id="rId2" imgW="3162300" imgH="971550" progId="Paint.Picture">
                    <p:embed/>
                    <p:pic>
                      <p:nvPicPr>
                        <p:cNvPr id="0" name="Object 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" y="2183"/>
                          <a:ext cx="3397" cy="10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Text Box 45" descr="窄竖线"/>
            <p:cNvSpPr txBox="1">
              <a:spLocks noChangeArrowheads="1"/>
            </p:cNvSpPr>
            <p:nvPr/>
          </p:nvSpPr>
          <p:spPr bwMode="auto">
            <a:xfrm>
              <a:off x="1869" y="3721"/>
              <a:ext cx="352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marL="457200" indent="-457200" fontAlgn="base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914400" indent="-457200" fontAlgn="base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371600" indent="-457200" fontAlgn="base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828800" indent="-457200" fontAlgn="base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indent="-457200" fontAlgn="base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30000"/>
                </a:spcBef>
              </a:pPr>
              <a:r>
                <a:rPr lang="en-US" altLang="zh-CN" sz="1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(a)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一般画法     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(b)PLD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中的习惯画法</a:t>
              </a:r>
              <a:endPara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2" name="Rectangle 46"/>
            <p:cNvSpPr>
              <a:spLocks noChangeArrowheads="1"/>
            </p:cNvSpPr>
            <p:nvPr/>
          </p:nvSpPr>
          <p:spPr bwMode="auto">
            <a:xfrm>
              <a:off x="2857" y="3251"/>
              <a:ext cx="24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2000">
                  <a:solidFill>
                    <a:schemeClr val="tx1"/>
                  </a:solidFill>
                  <a:latin typeface="宋体" panose="02010600030101010101" pitchFamily="2" charset="-122"/>
                </a:rPr>
                <a:t>(</a:t>
              </a:r>
              <a:r>
                <a:rPr lang="en-US" altLang="zh-CN" sz="2000">
                  <a:solidFill>
                    <a:schemeClr val="tx1"/>
                  </a:solidFill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latin typeface="宋体" panose="02010600030101010101" pitchFamily="2" charset="-122"/>
                </a:rPr>
                <a:t>)</a:t>
              </a:r>
              <a:endParaRPr lang="en-US" altLang="zh-CN" sz="200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" name="Rectangle 47"/>
            <p:cNvSpPr>
              <a:spLocks noChangeArrowheads="1"/>
            </p:cNvSpPr>
            <p:nvPr/>
          </p:nvSpPr>
          <p:spPr bwMode="auto">
            <a:xfrm>
              <a:off x="4134" y="3251"/>
              <a:ext cx="25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2000">
                  <a:solidFill>
                    <a:schemeClr val="tx1"/>
                  </a:solidFill>
                  <a:latin typeface="宋体" panose="02010600030101010101" pitchFamily="2" charset="-122"/>
                </a:rPr>
                <a:t>(</a:t>
              </a:r>
              <a:r>
                <a:rPr lang="en-US" altLang="zh-CN" sz="2000">
                  <a:solidFill>
                    <a:schemeClr val="tx1"/>
                  </a:solidFill>
                </a:rPr>
                <a:t>b</a:t>
              </a:r>
              <a:r>
                <a:rPr lang="en-US" altLang="zh-CN" sz="2000">
                  <a:solidFill>
                    <a:schemeClr val="tx1"/>
                  </a:solidFill>
                  <a:latin typeface="宋体" panose="02010600030101010101" pitchFamily="2" charset="-122"/>
                </a:rPr>
                <a:t>)</a:t>
              </a:r>
              <a:endParaRPr lang="en-US" altLang="zh-CN" sz="200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" name="Rectangle 49"/>
            <p:cNvSpPr>
              <a:spLocks noChangeArrowheads="1"/>
            </p:cNvSpPr>
            <p:nvPr/>
          </p:nvSpPr>
          <p:spPr bwMode="auto">
            <a:xfrm>
              <a:off x="1677" y="2587"/>
              <a:ext cx="168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3200" i="1" dirty="0">
                  <a:solidFill>
                    <a:schemeClr val="tx1"/>
                  </a:solidFill>
                </a:rPr>
                <a:t>A</a:t>
              </a:r>
              <a:endParaRPr lang="en-US" altLang="zh-CN" sz="3200" i="1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50"/>
            <p:cNvSpPr>
              <a:spLocks noChangeArrowheads="1"/>
            </p:cNvSpPr>
            <p:nvPr/>
          </p:nvSpPr>
          <p:spPr bwMode="auto">
            <a:xfrm>
              <a:off x="3129" y="2365"/>
              <a:ext cx="168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3200" i="1" dirty="0">
                  <a:solidFill>
                    <a:schemeClr val="tx1"/>
                  </a:solidFill>
                </a:rPr>
                <a:t>A</a:t>
              </a:r>
              <a:endParaRPr lang="en-US" altLang="zh-CN" sz="3200" i="1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51"/>
            <p:cNvSpPr>
              <a:spLocks noChangeArrowheads="1"/>
            </p:cNvSpPr>
            <p:nvPr/>
          </p:nvSpPr>
          <p:spPr bwMode="auto">
            <a:xfrm>
              <a:off x="3765" y="2562"/>
              <a:ext cx="168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3200" i="1" dirty="0">
                  <a:solidFill>
                    <a:schemeClr val="tx1"/>
                  </a:solidFill>
                </a:rPr>
                <a:t>A</a:t>
              </a:r>
              <a:endParaRPr lang="en-US" altLang="zh-CN" sz="3200" i="1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52"/>
            <p:cNvSpPr>
              <a:spLocks noChangeArrowheads="1"/>
            </p:cNvSpPr>
            <p:nvPr/>
          </p:nvSpPr>
          <p:spPr bwMode="auto">
            <a:xfrm>
              <a:off x="5263" y="2318"/>
              <a:ext cx="168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3600" i="1" dirty="0">
                  <a:solidFill>
                    <a:schemeClr val="tx1"/>
                  </a:solidFill>
                </a:rPr>
                <a:t>A</a:t>
              </a:r>
              <a:endParaRPr lang="en-US" altLang="zh-CN" sz="3600" i="1" dirty="0">
                <a:solidFill>
                  <a:schemeClr val="tx1"/>
                </a:solidFill>
              </a:endParaRPr>
            </a:p>
          </p:txBody>
        </p:sp>
        <p:grpSp>
          <p:nvGrpSpPr>
            <p:cNvPr id="29" name="Group 53"/>
            <p:cNvGrpSpPr/>
            <p:nvPr/>
          </p:nvGrpSpPr>
          <p:grpSpPr bwMode="auto">
            <a:xfrm>
              <a:off x="5291" y="2783"/>
              <a:ext cx="183" cy="349"/>
              <a:chOff x="3547" y="2375"/>
              <a:chExt cx="183" cy="349"/>
            </a:xfrm>
          </p:grpSpPr>
          <p:sp>
            <p:nvSpPr>
              <p:cNvPr id="34" name="Rectangle 54"/>
              <p:cNvSpPr>
                <a:spLocks noChangeArrowheads="1"/>
              </p:cNvSpPr>
              <p:nvPr/>
            </p:nvSpPr>
            <p:spPr bwMode="auto">
              <a:xfrm>
                <a:off x="3547" y="2375"/>
                <a:ext cx="168" cy="3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just" fontAlgn="base">
                  <a:spcBef>
                    <a:spcPct val="30000"/>
                  </a:spcBef>
                </a:pPr>
                <a:r>
                  <a:rPr lang="en-US" altLang="zh-CN" sz="3600" i="1" dirty="0">
                    <a:solidFill>
                      <a:schemeClr val="tx1"/>
                    </a:solidFill>
                  </a:rPr>
                  <a:t>A</a:t>
                </a:r>
                <a:endParaRPr lang="en-US" altLang="zh-CN" sz="36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Line 55"/>
              <p:cNvSpPr>
                <a:spLocks noChangeShapeType="1"/>
              </p:cNvSpPr>
              <p:nvPr/>
            </p:nvSpPr>
            <p:spPr bwMode="auto">
              <a:xfrm flipV="1">
                <a:off x="3562" y="2430"/>
                <a:ext cx="168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800"/>
              </a:p>
            </p:txBody>
          </p:sp>
        </p:grpSp>
        <p:grpSp>
          <p:nvGrpSpPr>
            <p:cNvPr id="30" name="Group 56"/>
            <p:cNvGrpSpPr/>
            <p:nvPr/>
          </p:nvGrpSpPr>
          <p:grpSpPr bwMode="auto">
            <a:xfrm>
              <a:off x="3129" y="2838"/>
              <a:ext cx="190" cy="310"/>
              <a:chOff x="2649" y="2430"/>
              <a:chExt cx="190" cy="310"/>
            </a:xfrm>
          </p:grpSpPr>
          <p:sp>
            <p:nvSpPr>
              <p:cNvPr id="32" name="Rectangle 57"/>
              <p:cNvSpPr>
                <a:spLocks noChangeArrowheads="1"/>
              </p:cNvSpPr>
              <p:nvPr/>
            </p:nvSpPr>
            <p:spPr bwMode="auto">
              <a:xfrm>
                <a:off x="2671" y="2430"/>
                <a:ext cx="168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just" fontAlgn="base">
                  <a:spcBef>
                    <a:spcPct val="30000"/>
                  </a:spcBef>
                </a:pPr>
                <a:r>
                  <a:rPr lang="en-US" altLang="zh-CN" sz="3200" i="1" dirty="0">
                    <a:solidFill>
                      <a:schemeClr val="tx1"/>
                    </a:solidFill>
                  </a:rPr>
                  <a:t>A</a:t>
                </a:r>
                <a:endParaRPr lang="en-US" altLang="zh-CN" sz="32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Line 58"/>
              <p:cNvSpPr>
                <a:spLocks noChangeShapeType="1"/>
              </p:cNvSpPr>
              <p:nvPr/>
            </p:nvSpPr>
            <p:spPr bwMode="auto">
              <a:xfrm>
                <a:off x="2649" y="2485"/>
                <a:ext cx="190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273678" y="734040"/>
            <a:ext cx="28921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输入缓冲电路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的阵列图符号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78972" y="851078"/>
            <a:ext cx="25314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阵列线连接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921918" y="2579241"/>
            <a:ext cx="7093300" cy="2444451"/>
            <a:chOff x="921918" y="2579241"/>
            <a:chExt cx="7093300" cy="2444451"/>
          </a:xfrm>
        </p:grpSpPr>
        <p:graphicFrame>
          <p:nvGraphicFramePr>
            <p:cNvPr id="31" name="Object 3"/>
            <p:cNvGraphicFramePr>
              <a:graphicFrameLocks noChangeAspect="1"/>
            </p:cNvGraphicFramePr>
            <p:nvPr/>
          </p:nvGraphicFramePr>
          <p:xfrm>
            <a:off x="980776" y="2579241"/>
            <a:ext cx="6925060" cy="1833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BMP 图象" r:id="rId2" imgW="3095625" imgH="819150" progId="Paint.Picture">
                    <p:embed/>
                  </p:oleObj>
                </mc:Choice>
                <mc:Fallback>
                  <p:oleObj name="BMP 图象" r:id="rId2" imgW="3095625" imgH="819150" progId="Paint.Picture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0776" y="2579241"/>
                          <a:ext cx="6925060" cy="18331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Text Box 6" descr="窄竖线"/>
            <p:cNvSpPr txBox="1">
              <a:spLocks noChangeArrowheads="1"/>
            </p:cNvSpPr>
            <p:nvPr/>
          </p:nvSpPr>
          <p:spPr bwMode="auto">
            <a:xfrm>
              <a:off x="921918" y="4592805"/>
              <a:ext cx="2049700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narVert">
                    <a:fgClr>
                      <a:srgbClr val="00CC00"/>
                    </a:fgClr>
                    <a:bgClr>
                      <a:schemeClr val="bg1"/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base">
                <a:spcBef>
                  <a:spcPct val="30000"/>
                </a:spcBef>
              </a:pPr>
              <a:r>
                <a:rPr lang="zh-CN" altLang="en-US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固定连接</a:t>
              </a:r>
              <a:endPara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7" name="Text Box 7" descr="窄竖线"/>
            <p:cNvSpPr txBox="1">
              <a:spLocks noChangeArrowheads="1"/>
            </p:cNvSpPr>
            <p:nvPr/>
          </p:nvSpPr>
          <p:spPr bwMode="auto">
            <a:xfrm>
              <a:off x="3281624" y="4592804"/>
              <a:ext cx="2431507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narVert">
                    <a:fgClr>
                      <a:srgbClr val="00CC00"/>
                    </a:fgClr>
                    <a:bgClr>
                      <a:schemeClr val="bg1"/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base">
                <a:spcBef>
                  <a:spcPct val="30000"/>
                </a:spcBef>
              </a:pPr>
              <a:r>
                <a:rPr lang="zh-CN" altLang="en-US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编程连接</a:t>
              </a:r>
              <a:endPara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8" name="Text Box 8" descr="窄竖线"/>
            <p:cNvSpPr txBox="1">
              <a:spLocks noChangeArrowheads="1"/>
            </p:cNvSpPr>
            <p:nvPr/>
          </p:nvSpPr>
          <p:spPr bwMode="auto">
            <a:xfrm>
              <a:off x="5965518" y="4592803"/>
              <a:ext cx="2049700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narVert">
                    <a:fgClr>
                      <a:srgbClr val="00CC00"/>
                    </a:fgClr>
                    <a:bgClr>
                      <a:schemeClr val="bg1"/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base">
                <a:spcBef>
                  <a:spcPct val="30000"/>
                </a:spcBef>
              </a:pPr>
              <a:r>
                <a:rPr lang="zh-CN" altLang="en-US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断开连接</a:t>
              </a:r>
              <a:endPara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" name="椭圆 1"/>
            <p:cNvSpPr/>
            <p:nvPr/>
          </p:nvSpPr>
          <p:spPr bwMode="auto">
            <a:xfrm>
              <a:off x="1723797" y="3338216"/>
              <a:ext cx="192505" cy="21000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</a:ln>
          </p:spPr>
          <p:txBody>
            <a:bodyPr wrap="square" rtlCol="0" anchor="ctr">
              <a:spAutoFit/>
            </a:bodyPr>
            <a:lstStyle/>
            <a:p>
              <a:pPr algn="l"/>
              <a:endParaRPr lang="zh-CN" altLang="en-US" sz="280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的阵列图符号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48599" y="821771"/>
            <a:ext cx="36598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与门、或门的表达</a:t>
            </a:r>
            <a:endParaRPr lang="zh-CN" altLang="en-US" dirty="0"/>
          </a:p>
        </p:txBody>
      </p:sp>
      <p:grpSp>
        <p:nvGrpSpPr>
          <p:cNvPr id="21" name="Group 9"/>
          <p:cNvGrpSpPr/>
          <p:nvPr/>
        </p:nvGrpSpPr>
        <p:grpSpPr bwMode="auto">
          <a:xfrm>
            <a:off x="0" y="2340688"/>
            <a:ext cx="6472014" cy="3269124"/>
            <a:chOff x="938" y="421"/>
            <a:chExt cx="2813" cy="1574"/>
          </a:xfrm>
        </p:grpSpPr>
        <p:graphicFrame>
          <p:nvGraphicFramePr>
            <p:cNvPr id="23" name="Object 10"/>
            <p:cNvGraphicFramePr>
              <a:graphicFrameLocks noChangeAspect="1"/>
            </p:cNvGraphicFramePr>
            <p:nvPr/>
          </p:nvGraphicFramePr>
          <p:xfrm>
            <a:off x="1449" y="467"/>
            <a:ext cx="2243" cy="1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BMP 图象" r:id="rId2" imgW="4391025" imgH="2990850" progId="Paint.Picture">
                    <p:embed/>
                  </p:oleObj>
                </mc:Choice>
                <mc:Fallback>
                  <p:oleObj name="BMP 图象" r:id="rId2" imgW="4391025" imgH="2990850" progId="Paint.Picture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9" y="467"/>
                          <a:ext cx="2243" cy="1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Text Box 13" descr="窄竖线"/>
            <p:cNvSpPr txBox="1">
              <a:spLocks noChangeArrowheads="1"/>
            </p:cNvSpPr>
            <p:nvPr/>
          </p:nvSpPr>
          <p:spPr bwMode="auto">
            <a:xfrm>
              <a:off x="938" y="737"/>
              <a:ext cx="376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narVert">
                    <a:fgClr>
                      <a:srgbClr val="00CC00"/>
                    </a:fgClr>
                    <a:bgClr>
                      <a:schemeClr val="bg1"/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 fontAlgn="base">
                <a:spcBef>
                  <a:spcPct val="3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宋体" panose="02010600030101010101" pitchFamily="2" charset="-122"/>
                </a:rPr>
                <a:t>(</a:t>
              </a:r>
              <a:r>
                <a:rPr lang="en-US" altLang="zh-CN" sz="2400" dirty="0">
                  <a:solidFill>
                    <a:schemeClr val="tx1"/>
                  </a:solidFill>
                </a:rPr>
                <a:t>a</a:t>
              </a:r>
              <a:r>
                <a:rPr lang="en-US" altLang="zh-CN" sz="2400" dirty="0">
                  <a:solidFill>
                    <a:schemeClr val="tx1"/>
                  </a:solidFill>
                  <a:latin typeface="宋体" panose="02010600030101010101" pitchFamily="2" charset="-122"/>
                </a:rPr>
                <a:t>)</a:t>
              </a:r>
              <a:endPara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8" name="Text Box 14" descr="窄竖线"/>
            <p:cNvSpPr txBox="1">
              <a:spLocks noChangeArrowheads="1"/>
            </p:cNvSpPr>
            <p:nvPr/>
          </p:nvSpPr>
          <p:spPr bwMode="auto">
            <a:xfrm>
              <a:off x="979" y="1646"/>
              <a:ext cx="304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narVert">
                    <a:fgClr>
                      <a:srgbClr val="00CC00"/>
                    </a:fgClr>
                    <a:bgClr>
                      <a:schemeClr val="bg1"/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 fontAlgn="base">
                <a:spcBef>
                  <a:spcPct val="3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宋体" panose="02010600030101010101" pitchFamily="2" charset="-122"/>
                </a:rPr>
                <a:t>(</a:t>
              </a:r>
              <a:r>
                <a:rPr lang="en-US" altLang="zh-CN" sz="2400" dirty="0">
                  <a:solidFill>
                    <a:schemeClr val="tx1"/>
                  </a:solidFill>
                </a:rPr>
                <a:t>b</a:t>
              </a:r>
              <a:r>
                <a:rPr lang="en-US" altLang="zh-CN" sz="2400" dirty="0">
                  <a:solidFill>
                    <a:schemeClr val="tx1"/>
                  </a:solidFill>
                  <a:latin typeface="宋体" panose="02010600030101010101" pitchFamily="2" charset="-122"/>
                </a:rPr>
                <a:t>)</a:t>
              </a:r>
              <a:endPara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9" name="Text Box 15" descr="窄竖线"/>
            <p:cNvSpPr txBox="1">
              <a:spLocks noChangeArrowheads="1"/>
            </p:cNvSpPr>
            <p:nvPr/>
          </p:nvSpPr>
          <p:spPr bwMode="auto">
            <a:xfrm>
              <a:off x="2102" y="666"/>
              <a:ext cx="16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narVert">
                    <a:fgClr>
                      <a:srgbClr val="00CC00"/>
                    </a:fgClr>
                    <a:bgClr>
                      <a:schemeClr val="bg1"/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 fontAlgn="base">
                <a:spcBef>
                  <a:spcPct val="3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</a:rPr>
                <a:t>Y</a:t>
              </a:r>
              <a:endParaRPr lang="en-US" altLang="zh-CN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16"/>
            <p:cNvSpPr>
              <a:spLocks noChangeArrowheads="1"/>
            </p:cNvSpPr>
            <p:nvPr/>
          </p:nvSpPr>
          <p:spPr bwMode="auto">
            <a:xfrm>
              <a:off x="2904" y="424"/>
              <a:ext cx="168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2400" i="1">
                  <a:solidFill>
                    <a:schemeClr val="tx1"/>
                  </a:solidFill>
                </a:rPr>
                <a:t>C</a:t>
              </a:r>
              <a:endParaRPr lang="en-US" altLang="zh-CN" sz="2400" i="1">
                <a:solidFill>
                  <a:schemeClr val="tx1"/>
                </a:solidFill>
              </a:endParaRPr>
            </a:p>
          </p:txBody>
        </p:sp>
        <p:sp>
          <p:nvSpPr>
            <p:cNvPr id="32" name="Rectangle 17"/>
            <p:cNvSpPr>
              <a:spLocks noChangeArrowheads="1"/>
            </p:cNvSpPr>
            <p:nvPr/>
          </p:nvSpPr>
          <p:spPr bwMode="auto">
            <a:xfrm>
              <a:off x="1367" y="663"/>
              <a:ext cx="168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2000" i="1" dirty="0">
                  <a:solidFill>
                    <a:schemeClr val="tx1"/>
                  </a:solidFill>
                </a:rPr>
                <a:t>A</a:t>
              </a:r>
              <a:endParaRPr lang="en-US" altLang="zh-CN" sz="2000" i="1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18"/>
            <p:cNvSpPr>
              <a:spLocks noChangeArrowheads="1"/>
            </p:cNvSpPr>
            <p:nvPr/>
          </p:nvSpPr>
          <p:spPr bwMode="auto">
            <a:xfrm>
              <a:off x="2720" y="429"/>
              <a:ext cx="168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2400" i="1">
                  <a:solidFill>
                    <a:schemeClr val="tx1"/>
                  </a:solidFill>
                </a:rPr>
                <a:t>B</a:t>
              </a:r>
              <a:endParaRPr lang="en-US" altLang="zh-CN" sz="2400" i="1">
                <a:solidFill>
                  <a:schemeClr val="tx1"/>
                </a:solidFill>
              </a:endParaRPr>
            </a:p>
          </p:txBody>
        </p:sp>
        <p:sp>
          <p:nvSpPr>
            <p:cNvPr id="34" name="Rectangle 19"/>
            <p:cNvSpPr>
              <a:spLocks noChangeArrowheads="1"/>
            </p:cNvSpPr>
            <p:nvPr/>
          </p:nvSpPr>
          <p:spPr bwMode="auto">
            <a:xfrm>
              <a:off x="1360" y="901"/>
              <a:ext cx="168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2000" i="1" dirty="0">
                  <a:solidFill>
                    <a:schemeClr val="tx1"/>
                  </a:solidFill>
                </a:rPr>
                <a:t>C</a:t>
              </a:r>
              <a:endParaRPr lang="en-US" altLang="zh-CN" sz="2000" i="1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20"/>
            <p:cNvSpPr>
              <a:spLocks noChangeArrowheads="1"/>
            </p:cNvSpPr>
            <p:nvPr/>
          </p:nvSpPr>
          <p:spPr bwMode="auto">
            <a:xfrm>
              <a:off x="1367" y="785"/>
              <a:ext cx="168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2000" i="1" dirty="0">
                  <a:solidFill>
                    <a:schemeClr val="tx1"/>
                  </a:solidFill>
                </a:rPr>
                <a:t>B</a:t>
              </a:r>
              <a:endParaRPr lang="en-US" altLang="zh-CN" sz="2000" i="1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21"/>
            <p:cNvSpPr>
              <a:spLocks noChangeArrowheads="1"/>
            </p:cNvSpPr>
            <p:nvPr/>
          </p:nvSpPr>
          <p:spPr bwMode="auto">
            <a:xfrm>
              <a:off x="2504" y="421"/>
              <a:ext cx="168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</a:rPr>
                <a:t>A</a:t>
              </a:r>
              <a:endParaRPr lang="en-US" altLang="zh-CN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22"/>
            <p:cNvSpPr>
              <a:spLocks noChangeArrowheads="1"/>
            </p:cNvSpPr>
            <p:nvPr/>
          </p:nvSpPr>
          <p:spPr bwMode="auto">
            <a:xfrm>
              <a:off x="1353" y="1539"/>
              <a:ext cx="168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2000" i="1" dirty="0">
                  <a:solidFill>
                    <a:schemeClr val="tx1"/>
                  </a:solidFill>
                </a:rPr>
                <a:t>A</a:t>
              </a:r>
              <a:endParaRPr lang="en-US" altLang="zh-CN" sz="2000" i="1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23"/>
            <p:cNvSpPr>
              <a:spLocks noChangeArrowheads="1"/>
            </p:cNvSpPr>
            <p:nvPr/>
          </p:nvSpPr>
          <p:spPr bwMode="auto">
            <a:xfrm>
              <a:off x="1340" y="1774"/>
              <a:ext cx="168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2000" i="1" dirty="0">
                  <a:solidFill>
                    <a:schemeClr val="tx1"/>
                  </a:solidFill>
                </a:rPr>
                <a:t>C</a:t>
              </a:r>
              <a:endParaRPr lang="en-US" altLang="zh-CN" sz="2000" i="1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24"/>
            <p:cNvSpPr>
              <a:spLocks noChangeArrowheads="1"/>
            </p:cNvSpPr>
            <p:nvPr/>
          </p:nvSpPr>
          <p:spPr bwMode="auto">
            <a:xfrm>
              <a:off x="1342" y="1659"/>
              <a:ext cx="168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2000" i="1" dirty="0">
                  <a:solidFill>
                    <a:schemeClr val="tx1"/>
                  </a:solidFill>
                </a:rPr>
                <a:t>B</a:t>
              </a:r>
              <a:endParaRPr lang="en-US" altLang="zh-CN" sz="2000" i="1" dirty="0">
                <a:solidFill>
                  <a:schemeClr val="tx1"/>
                </a:solidFill>
              </a:endParaRPr>
            </a:p>
          </p:txBody>
        </p:sp>
        <p:sp>
          <p:nvSpPr>
            <p:cNvPr id="43" name="Text Box 25" descr="窄竖线"/>
            <p:cNvSpPr txBox="1">
              <a:spLocks noChangeArrowheads="1"/>
            </p:cNvSpPr>
            <p:nvPr/>
          </p:nvSpPr>
          <p:spPr bwMode="auto">
            <a:xfrm>
              <a:off x="3591" y="745"/>
              <a:ext cx="16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narVert">
                    <a:fgClr>
                      <a:srgbClr val="00CC00"/>
                    </a:fgClr>
                    <a:bgClr>
                      <a:schemeClr val="bg1"/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 fontAlgn="base">
                <a:spcBef>
                  <a:spcPct val="3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</a:rPr>
                <a:t>Y</a:t>
              </a:r>
              <a:endParaRPr lang="en-US" altLang="zh-CN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44" name="Text Box 26" descr="窄竖线"/>
            <p:cNvSpPr txBox="1">
              <a:spLocks noChangeArrowheads="1"/>
            </p:cNvSpPr>
            <p:nvPr/>
          </p:nvSpPr>
          <p:spPr bwMode="auto">
            <a:xfrm>
              <a:off x="2110" y="1520"/>
              <a:ext cx="16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narVert">
                    <a:fgClr>
                      <a:srgbClr val="00CC00"/>
                    </a:fgClr>
                    <a:bgClr>
                      <a:schemeClr val="bg1"/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 fontAlgn="base">
                <a:spcBef>
                  <a:spcPct val="3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</a:rPr>
                <a:t>Y</a:t>
              </a:r>
              <a:endParaRPr lang="en-US" altLang="zh-CN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45" name="Text Box 27" descr="窄竖线"/>
            <p:cNvSpPr txBox="1">
              <a:spLocks noChangeArrowheads="1"/>
            </p:cNvSpPr>
            <p:nvPr/>
          </p:nvSpPr>
          <p:spPr bwMode="auto">
            <a:xfrm>
              <a:off x="3556" y="1635"/>
              <a:ext cx="16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narVert">
                    <a:fgClr>
                      <a:srgbClr val="00CC00"/>
                    </a:fgClr>
                    <a:bgClr>
                      <a:schemeClr val="bg1"/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 fontAlgn="base">
                <a:spcBef>
                  <a:spcPct val="3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</a:rPr>
                <a:t>Y</a:t>
              </a:r>
              <a:endParaRPr lang="en-US" altLang="zh-CN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28"/>
            <p:cNvSpPr>
              <a:spLocks noChangeArrowheads="1"/>
            </p:cNvSpPr>
            <p:nvPr/>
          </p:nvSpPr>
          <p:spPr bwMode="auto">
            <a:xfrm>
              <a:off x="2921" y="1317"/>
              <a:ext cx="168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2400" i="1">
                  <a:solidFill>
                    <a:schemeClr val="tx1"/>
                  </a:solidFill>
                </a:rPr>
                <a:t>C</a:t>
              </a:r>
              <a:endParaRPr lang="en-US" altLang="zh-CN" sz="2400" i="1">
                <a:solidFill>
                  <a:schemeClr val="tx1"/>
                </a:solidFill>
              </a:endParaRPr>
            </a:p>
          </p:txBody>
        </p:sp>
        <p:sp>
          <p:nvSpPr>
            <p:cNvPr id="47" name="Rectangle 29"/>
            <p:cNvSpPr>
              <a:spLocks noChangeArrowheads="1"/>
            </p:cNvSpPr>
            <p:nvPr/>
          </p:nvSpPr>
          <p:spPr bwMode="auto">
            <a:xfrm>
              <a:off x="2737" y="1322"/>
              <a:ext cx="168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2400" i="1">
                  <a:solidFill>
                    <a:schemeClr val="tx1"/>
                  </a:solidFill>
                </a:rPr>
                <a:t>B</a:t>
              </a:r>
              <a:endParaRPr lang="en-US" altLang="zh-CN" sz="2400" i="1">
                <a:solidFill>
                  <a:schemeClr val="tx1"/>
                </a:solidFill>
              </a:endParaRPr>
            </a:p>
          </p:txBody>
        </p:sp>
        <p:sp>
          <p:nvSpPr>
            <p:cNvPr id="48" name="Rectangle 30"/>
            <p:cNvSpPr>
              <a:spLocks noChangeArrowheads="1"/>
            </p:cNvSpPr>
            <p:nvPr/>
          </p:nvSpPr>
          <p:spPr bwMode="auto">
            <a:xfrm>
              <a:off x="2521" y="1314"/>
              <a:ext cx="168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</a:rPr>
                <a:t>A</a:t>
              </a:r>
              <a:endParaRPr lang="en-US" altLang="zh-CN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31"/>
            <p:cNvSpPr>
              <a:spLocks noChangeArrowheads="1"/>
            </p:cNvSpPr>
            <p:nvPr/>
          </p:nvSpPr>
          <p:spPr bwMode="auto">
            <a:xfrm>
              <a:off x="1728" y="1498"/>
              <a:ext cx="267" cy="1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ea typeface="黑体" panose="02010609060101010101" pitchFamily="49" charset="-122"/>
                </a:rPr>
                <a:t>≥1</a:t>
              </a:r>
              <a:endParaRPr lang="en-US" altLang="zh-CN" sz="2400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628015" y="2396196"/>
            <a:ext cx="2126295" cy="1200444"/>
            <a:chOff x="6628015" y="2396196"/>
            <a:chExt cx="2126295" cy="1200444"/>
          </a:xfrm>
        </p:grpSpPr>
        <p:cxnSp>
          <p:nvCxnSpPr>
            <p:cNvPr id="10" name="直接连接符 9"/>
            <p:cNvCxnSpPr>
              <a:endCxn id="11" idx="1"/>
            </p:cNvCxnSpPr>
            <p:nvPr/>
          </p:nvCxnSpPr>
          <p:spPr>
            <a:xfrm flipV="1">
              <a:off x="6628015" y="3187529"/>
              <a:ext cx="1060179" cy="1964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/>
            <p:cNvSpPr/>
            <p:nvPr/>
          </p:nvSpPr>
          <p:spPr bwMode="auto">
            <a:xfrm>
              <a:off x="7688194" y="2802808"/>
              <a:ext cx="375151" cy="76944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zh-CN" sz="2000" dirty="0"/>
                <a:t>&amp;</a:t>
              </a:r>
              <a:endParaRPr lang="en-US" altLang="zh-CN" sz="2000" dirty="0"/>
            </a:p>
            <a:p>
              <a:pPr algn="l"/>
              <a:endParaRPr lang="zh-CN" altLang="en-US" sz="2400" dirty="0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6816436" y="2759825"/>
              <a:ext cx="0" cy="83681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椭圆 14"/>
            <p:cNvSpPr/>
            <p:nvPr/>
          </p:nvSpPr>
          <p:spPr bwMode="auto">
            <a:xfrm>
              <a:off x="6761017" y="3143132"/>
              <a:ext cx="99753" cy="988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</a:ln>
          </p:spPr>
          <p:txBody>
            <a:bodyPr wrap="square" rtlCol="0" anchor="ctr">
              <a:spAutoFit/>
            </a:bodyPr>
            <a:lstStyle/>
            <a:p>
              <a:pPr algn="l"/>
              <a:endParaRPr lang="zh-CN" altLang="en-US" sz="2800"/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7179422" y="2745971"/>
              <a:ext cx="0" cy="83681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椭圆 49"/>
            <p:cNvSpPr/>
            <p:nvPr/>
          </p:nvSpPr>
          <p:spPr bwMode="auto">
            <a:xfrm>
              <a:off x="7124003" y="3129278"/>
              <a:ext cx="99753" cy="988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</a:ln>
          </p:spPr>
          <p:txBody>
            <a:bodyPr wrap="square" rtlCol="0" anchor="ctr">
              <a:spAutoFit/>
            </a:bodyPr>
            <a:lstStyle/>
            <a:p>
              <a:pPr algn="l"/>
              <a:endParaRPr lang="zh-CN" altLang="en-US" sz="2800"/>
            </a:p>
          </p:txBody>
        </p:sp>
        <p:cxnSp>
          <p:nvCxnSpPr>
            <p:cNvPr id="51" name="直接连接符 50"/>
            <p:cNvCxnSpPr/>
            <p:nvPr/>
          </p:nvCxnSpPr>
          <p:spPr>
            <a:xfrm>
              <a:off x="7468449" y="2754807"/>
              <a:ext cx="0" cy="83681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椭圆 51"/>
            <p:cNvSpPr/>
            <p:nvPr/>
          </p:nvSpPr>
          <p:spPr bwMode="auto">
            <a:xfrm>
              <a:off x="7413030" y="3138114"/>
              <a:ext cx="99753" cy="988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</a:ln>
          </p:spPr>
          <p:txBody>
            <a:bodyPr wrap="square" rtlCol="0" anchor="ctr">
              <a:spAutoFit/>
            </a:bodyPr>
            <a:lstStyle/>
            <a:p>
              <a:pPr algn="l"/>
              <a:endParaRPr lang="zh-CN" altLang="en-US" sz="2800"/>
            </a:p>
          </p:txBody>
        </p:sp>
        <p:sp>
          <p:nvSpPr>
            <p:cNvPr id="53" name="Rectangle 16"/>
            <p:cNvSpPr>
              <a:spLocks noChangeArrowheads="1"/>
            </p:cNvSpPr>
            <p:nvPr/>
          </p:nvSpPr>
          <p:spPr bwMode="auto">
            <a:xfrm>
              <a:off x="7401518" y="2396196"/>
              <a:ext cx="386526" cy="4776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</a:rPr>
                <a:t>C</a:t>
              </a:r>
              <a:endParaRPr lang="en-US" altLang="zh-CN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18"/>
            <p:cNvSpPr>
              <a:spLocks noChangeArrowheads="1"/>
            </p:cNvSpPr>
            <p:nvPr/>
          </p:nvSpPr>
          <p:spPr bwMode="auto">
            <a:xfrm>
              <a:off x="7076380" y="2399367"/>
              <a:ext cx="386526" cy="4776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</a:rPr>
                <a:t>B</a:t>
              </a:r>
              <a:endParaRPr lang="en-US" altLang="zh-CN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55" name="Rectangle 21"/>
            <p:cNvSpPr>
              <a:spLocks noChangeArrowheads="1"/>
            </p:cNvSpPr>
            <p:nvPr/>
          </p:nvSpPr>
          <p:spPr bwMode="auto">
            <a:xfrm>
              <a:off x="6695559" y="2402538"/>
              <a:ext cx="386526" cy="4776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</a:rPr>
                <a:t>A</a:t>
              </a:r>
              <a:endParaRPr lang="en-US" altLang="zh-CN" sz="2400" i="1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直接连接符 18"/>
            <p:cNvCxnSpPr>
              <a:stCxn id="11" idx="3"/>
            </p:cNvCxnSpPr>
            <p:nvPr/>
          </p:nvCxnSpPr>
          <p:spPr>
            <a:xfrm>
              <a:off x="8063345" y="3187529"/>
              <a:ext cx="404553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16"/>
            <p:cNvSpPr>
              <a:spLocks noChangeArrowheads="1"/>
            </p:cNvSpPr>
            <p:nvPr/>
          </p:nvSpPr>
          <p:spPr bwMode="auto">
            <a:xfrm>
              <a:off x="8367784" y="2852251"/>
              <a:ext cx="38652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</a:rPr>
                <a:t>Y</a:t>
              </a:r>
              <a:endParaRPr lang="en-US" altLang="zh-CN" sz="2400" i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6653573" y="4245656"/>
            <a:ext cx="2126295" cy="1200444"/>
            <a:chOff x="6628015" y="2396196"/>
            <a:chExt cx="2126295" cy="1200444"/>
          </a:xfrm>
        </p:grpSpPr>
        <p:cxnSp>
          <p:nvCxnSpPr>
            <p:cNvPr id="58" name="直接连接符 57"/>
            <p:cNvCxnSpPr>
              <a:endCxn id="59" idx="1"/>
            </p:cNvCxnSpPr>
            <p:nvPr/>
          </p:nvCxnSpPr>
          <p:spPr>
            <a:xfrm flipV="1">
              <a:off x="6628015" y="3187528"/>
              <a:ext cx="1060179" cy="197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矩形 58"/>
            <p:cNvSpPr/>
            <p:nvPr/>
          </p:nvSpPr>
          <p:spPr bwMode="auto">
            <a:xfrm>
              <a:off x="7688194" y="2858207"/>
              <a:ext cx="476601" cy="65864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rtlCol="0" anchor="ctr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1600" dirty="0">
                  <a:ea typeface="黑体" panose="02010609060101010101" pitchFamily="49" charset="-122"/>
                </a:rPr>
                <a:t>≥1</a:t>
              </a:r>
              <a:endParaRPr lang="en-US" altLang="zh-CN" sz="1600" dirty="0">
                <a:ea typeface="黑体" panose="02010609060101010101" pitchFamily="49" charset="-122"/>
              </a:endParaRPr>
            </a:p>
            <a:p>
              <a:pPr algn="just" fontAlgn="base">
                <a:spcBef>
                  <a:spcPct val="30000"/>
                </a:spcBef>
              </a:pPr>
              <a:endParaRPr lang="en-US" altLang="zh-CN" sz="1600" dirty="0">
                <a:ea typeface="黑体" panose="02010609060101010101" pitchFamily="49" charset="-122"/>
              </a:endParaRPr>
            </a:p>
          </p:txBody>
        </p:sp>
        <p:cxnSp>
          <p:nvCxnSpPr>
            <p:cNvPr id="60" name="直接连接符 59"/>
            <p:cNvCxnSpPr/>
            <p:nvPr/>
          </p:nvCxnSpPr>
          <p:spPr>
            <a:xfrm>
              <a:off x="6816436" y="2759825"/>
              <a:ext cx="0" cy="83681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椭圆 60"/>
            <p:cNvSpPr/>
            <p:nvPr/>
          </p:nvSpPr>
          <p:spPr bwMode="auto">
            <a:xfrm>
              <a:off x="6761017" y="3143132"/>
              <a:ext cx="99753" cy="988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</a:ln>
          </p:spPr>
          <p:txBody>
            <a:bodyPr wrap="square" rtlCol="0" anchor="ctr">
              <a:spAutoFit/>
            </a:bodyPr>
            <a:lstStyle/>
            <a:p>
              <a:pPr algn="l"/>
              <a:endParaRPr lang="zh-CN" altLang="en-US" sz="2800"/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7179422" y="2745971"/>
              <a:ext cx="0" cy="83681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椭圆 62"/>
            <p:cNvSpPr/>
            <p:nvPr/>
          </p:nvSpPr>
          <p:spPr bwMode="auto">
            <a:xfrm>
              <a:off x="7124003" y="3129278"/>
              <a:ext cx="99753" cy="988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</a:ln>
          </p:spPr>
          <p:txBody>
            <a:bodyPr wrap="square" rtlCol="0" anchor="ctr">
              <a:spAutoFit/>
            </a:bodyPr>
            <a:lstStyle/>
            <a:p>
              <a:pPr algn="l"/>
              <a:endParaRPr lang="zh-CN" altLang="en-US" sz="2800"/>
            </a:p>
          </p:txBody>
        </p:sp>
        <p:cxnSp>
          <p:nvCxnSpPr>
            <p:cNvPr id="64" name="直接连接符 63"/>
            <p:cNvCxnSpPr/>
            <p:nvPr/>
          </p:nvCxnSpPr>
          <p:spPr>
            <a:xfrm>
              <a:off x="7468449" y="2754807"/>
              <a:ext cx="0" cy="83681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椭圆 64"/>
            <p:cNvSpPr/>
            <p:nvPr/>
          </p:nvSpPr>
          <p:spPr bwMode="auto">
            <a:xfrm>
              <a:off x="7413030" y="3138114"/>
              <a:ext cx="99753" cy="988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</a:ln>
          </p:spPr>
          <p:txBody>
            <a:bodyPr wrap="square" rtlCol="0" anchor="ctr">
              <a:spAutoFit/>
            </a:bodyPr>
            <a:lstStyle/>
            <a:p>
              <a:pPr algn="l"/>
              <a:endParaRPr lang="zh-CN" altLang="en-US" sz="2800"/>
            </a:p>
          </p:txBody>
        </p:sp>
        <p:sp>
          <p:nvSpPr>
            <p:cNvPr id="66" name="Rectangle 16"/>
            <p:cNvSpPr>
              <a:spLocks noChangeArrowheads="1"/>
            </p:cNvSpPr>
            <p:nvPr/>
          </p:nvSpPr>
          <p:spPr bwMode="auto">
            <a:xfrm>
              <a:off x="7401518" y="2396196"/>
              <a:ext cx="386526" cy="4776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</a:rPr>
                <a:t>C</a:t>
              </a:r>
              <a:endParaRPr lang="en-US" altLang="zh-CN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67" name="Rectangle 18"/>
            <p:cNvSpPr>
              <a:spLocks noChangeArrowheads="1"/>
            </p:cNvSpPr>
            <p:nvPr/>
          </p:nvSpPr>
          <p:spPr bwMode="auto">
            <a:xfrm>
              <a:off x="7076380" y="2399367"/>
              <a:ext cx="386526" cy="4776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</a:rPr>
                <a:t>B</a:t>
              </a:r>
              <a:endParaRPr lang="en-US" altLang="zh-CN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68" name="Rectangle 21"/>
            <p:cNvSpPr>
              <a:spLocks noChangeArrowheads="1"/>
            </p:cNvSpPr>
            <p:nvPr/>
          </p:nvSpPr>
          <p:spPr bwMode="auto">
            <a:xfrm>
              <a:off x="6695559" y="2402538"/>
              <a:ext cx="386526" cy="4776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</a:rPr>
                <a:t>A</a:t>
              </a:r>
              <a:endParaRPr lang="en-US" altLang="zh-CN" sz="2400" i="1" dirty="0">
                <a:solidFill>
                  <a:schemeClr val="tx1"/>
                </a:solidFill>
              </a:endParaRPr>
            </a:p>
          </p:txBody>
        </p:sp>
        <p:cxnSp>
          <p:nvCxnSpPr>
            <p:cNvPr id="69" name="直接连接符 68"/>
            <p:cNvCxnSpPr>
              <a:stCxn id="59" idx="3"/>
            </p:cNvCxnSpPr>
            <p:nvPr/>
          </p:nvCxnSpPr>
          <p:spPr>
            <a:xfrm>
              <a:off x="8164795" y="3187528"/>
              <a:ext cx="303103" cy="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16"/>
            <p:cNvSpPr>
              <a:spLocks noChangeArrowheads="1"/>
            </p:cNvSpPr>
            <p:nvPr/>
          </p:nvSpPr>
          <p:spPr bwMode="auto">
            <a:xfrm>
              <a:off x="8367784" y="2852251"/>
              <a:ext cx="38652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just" fontAlgn="base">
                <a:spcBef>
                  <a:spcPct val="3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</a:rPr>
                <a:t>Y</a:t>
              </a:r>
              <a:endParaRPr lang="en-US" altLang="zh-CN" sz="2400" i="1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的阵列图符号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55157" y="726949"/>
            <a:ext cx="36598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简单阵列的表示</a:t>
            </a:r>
            <a:endParaRPr lang="zh-CN" altLang="en-US" dirty="0"/>
          </a:p>
        </p:txBody>
      </p:sp>
      <p:pic>
        <p:nvPicPr>
          <p:cNvPr id="31" name="Picture 103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45" y="1609388"/>
            <a:ext cx="4600375" cy="5198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" name="AutoShape 1038"/>
          <p:cNvSpPr>
            <a:spLocks noChangeArrowheads="1"/>
          </p:cNvSpPr>
          <p:nvPr/>
        </p:nvSpPr>
        <p:spPr bwMode="auto">
          <a:xfrm>
            <a:off x="5035216" y="2987842"/>
            <a:ext cx="1702970" cy="552028"/>
          </a:xfrm>
          <a:prstGeom prst="wedgeRoundRectCallout">
            <a:avLst>
              <a:gd name="adj1" fmla="val -82740"/>
              <a:gd name="adj2" fmla="val 141348"/>
              <a:gd name="adj3" fmla="val 16667"/>
            </a:avLst>
          </a:prstGeom>
          <a:solidFill>
            <a:srgbClr val="FFCC99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spcBef>
                <a:spcPct val="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乘积项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P1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AutoShape 1039"/>
          <p:cNvSpPr>
            <a:spLocks noChangeArrowheads="1"/>
          </p:cNvSpPr>
          <p:nvPr/>
        </p:nvSpPr>
        <p:spPr bwMode="auto">
          <a:xfrm>
            <a:off x="4950493" y="4123976"/>
            <a:ext cx="1702970" cy="552028"/>
          </a:xfrm>
          <a:prstGeom prst="wedgeRoundRectCallout">
            <a:avLst>
              <a:gd name="adj1" fmla="val -77363"/>
              <a:gd name="adj2" fmla="val 92787"/>
              <a:gd name="adj3" fmla="val 16667"/>
            </a:avLst>
          </a:prstGeom>
          <a:solidFill>
            <a:srgbClr val="99FFCC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spcBef>
                <a:spcPct val="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乘积项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P2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607610" y="5625630"/>
            <a:ext cx="4492274" cy="954107"/>
            <a:chOff x="4376301" y="5820057"/>
            <a:chExt cx="4666662" cy="954107"/>
          </a:xfrm>
        </p:grpSpPr>
        <p:sp>
          <p:nvSpPr>
            <p:cNvPr id="2" name="矩形 1"/>
            <p:cNvSpPr/>
            <p:nvPr/>
          </p:nvSpPr>
          <p:spPr>
            <a:xfrm>
              <a:off x="4376301" y="5820057"/>
              <a:ext cx="4666662" cy="954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latin typeface="Times New Roman" panose="02020603050405020304" pitchFamily="18" charset="0"/>
                </a:rPr>
                <a:t>O1 = P1+P2 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r>
                <a:rPr lang="en-US" altLang="zh-CN" sz="2800" dirty="0">
                  <a:latin typeface="Times New Roman" panose="02020603050405020304" pitchFamily="18" charset="0"/>
                </a:rPr>
                <a:t>      = I1 </a:t>
              </a:r>
              <a:r>
                <a:rPr lang="en-US" altLang="zh-CN" sz="24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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 I2 </a:t>
              </a:r>
              <a:r>
                <a:rPr lang="en-US" altLang="zh-CN" sz="24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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 I3 + I1 </a:t>
              </a:r>
              <a:r>
                <a:rPr lang="en-US" altLang="zh-CN" sz="24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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 I2 </a:t>
              </a:r>
              <a:r>
                <a:rPr lang="en-US" altLang="zh-CN" sz="24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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 I3 </a:t>
              </a:r>
              <a:endParaRPr lang="zh-CN" altLang="en-US" sz="2800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8568015" y="6316209"/>
              <a:ext cx="266638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5301916" y="6316209"/>
              <a:ext cx="274757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5972824" y="6316209"/>
              <a:ext cx="27877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 autoUpdateAnimBg="0"/>
      <p:bldP spid="37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</a:t>
            </a: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的结构与功能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graphicFrame>
        <p:nvGraphicFramePr>
          <p:cNvPr id="11" name="Object 3"/>
          <p:cNvGraphicFramePr>
            <a:graphicFrameLocks noChangeAspect="1"/>
          </p:cNvGraphicFramePr>
          <p:nvPr/>
        </p:nvGraphicFramePr>
        <p:xfrm>
          <a:off x="33338" y="2001255"/>
          <a:ext cx="9055100" cy="3064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Document" r:id="rId2" imgW="5628005" imgH="1189990" progId="Word.Document.8">
                  <p:embed/>
                </p:oleObj>
              </mc:Choice>
              <mc:Fallback>
                <p:oleObj name="Document" r:id="rId2" imgW="5628005" imgH="118999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 l="20415" r="20659" b="15083"/>
                      <a:stretch>
                        <a:fillRect/>
                      </a:stretch>
                    </p:blipFill>
                    <p:spPr bwMode="auto">
                      <a:xfrm>
                        <a:off x="33338" y="2001255"/>
                        <a:ext cx="9055100" cy="30640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</a:t>
            </a: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的结构与功能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-35390" y="715087"/>
            <a:ext cx="43033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可编程只读存储器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PROM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aphicFrame>
        <p:nvGraphicFramePr>
          <p:cNvPr id="12" name="Object 3"/>
          <p:cNvGraphicFramePr>
            <a:graphicFrameLocks noChangeAspect="1"/>
          </p:cNvGraphicFramePr>
          <p:nvPr/>
        </p:nvGraphicFramePr>
        <p:xfrm>
          <a:off x="4608113" y="1426477"/>
          <a:ext cx="4267200" cy="5431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Picture" r:id="rId2" imgW="7219950" imgH="9182100" progId="Word.Picture.8">
                  <p:embed/>
                </p:oleObj>
              </mc:Choice>
              <mc:Fallback>
                <p:oleObj name="Picture" r:id="rId2" imgW="7219950" imgH="9182100" progId="Word.Picture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8113" y="1426477"/>
                        <a:ext cx="4267200" cy="54315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右大括号 1"/>
          <p:cNvSpPr/>
          <p:nvPr/>
        </p:nvSpPr>
        <p:spPr>
          <a:xfrm rot="16200000">
            <a:off x="5437845" y="700032"/>
            <a:ext cx="251713" cy="1452890"/>
          </a:xfrm>
          <a:prstGeom prst="rightBrace">
            <a:avLst>
              <a:gd name="adj1" fmla="val 8333"/>
              <a:gd name="adj2" fmla="val 49448"/>
            </a:avLst>
          </a:prstGeom>
          <a:ln w="317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934479" y="785441"/>
            <a:ext cx="1423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33CC"/>
                </a:solidFill>
              </a:rPr>
              <a:t>n</a:t>
            </a:r>
            <a:r>
              <a:rPr lang="zh-CN" altLang="en-US" sz="2400" b="1" dirty="0">
                <a:solidFill>
                  <a:srgbClr val="FF33CC"/>
                </a:solidFill>
              </a:rPr>
              <a:t>个输入</a:t>
            </a:r>
            <a:endParaRPr lang="zh-CN" altLang="en-US" sz="2400" b="1" dirty="0">
              <a:solidFill>
                <a:srgbClr val="FF33CC"/>
              </a:solidFill>
            </a:endParaRPr>
          </a:p>
        </p:txBody>
      </p:sp>
      <p:sp>
        <p:nvSpPr>
          <p:cNvPr id="4" name="左大括号 3"/>
          <p:cNvSpPr/>
          <p:nvPr/>
        </p:nvSpPr>
        <p:spPr>
          <a:xfrm>
            <a:off x="4326649" y="2474755"/>
            <a:ext cx="354680" cy="3120189"/>
          </a:xfrm>
          <a:prstGeom prst="leftBrac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649795" y="3434684"/>
            <a:ext cx="8582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33CC"/>
                </a:solidFill>
              </a:rPr>
              <a:t>2</a:t>
            </a:r>
            <a:r>
              <a:rPr lang="en-US" altLang="zh-CN" sz="2400" b="1" baseline="30000" dirty="0">
                <a:solidFill>
                  <a:srgbClr val="FF33CC"/>
                </a:solidFill>
              </a:rPr>
              <a:t>n</a:t>
            </a:r>
            <a:r>
              <a:rPr lang="zh-CN" altLang="en-US" sz="2400" b="1" dirty="0">
                <a:solidFill>
                  <a:srgbClr val="FF33CC"/>
                </a:solidFill>
              </a:rPr>
              <a:t>根乘积线</a:t>
            </a:r>
            <a:endParaRPr lang="zh-CN" altLang="en-US" sz="2400" b="1" dirty="0">
              <a:solidFill>
                <a:srgbClr val="FF33CC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94988" y="1935883"/>
            <a:ext cx="3025464" cy="4616648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zh-CN" sz="2400" b="1" dirty="0"/>
              <a:t>PROM</a:t>
            </a:r>
            <a:r>
              <a:rPr lang="zh-CN" altLang="en-US" sz="2400" b="1" dirty="0"/>
              <a:t>是以逻辑函数的</a:t>
            </a:r>
            <a:r>
              <a:rPr lang="zh-CN" altLang="en-US" sz="2400" b="1" dirty="0">
                <a:solidFill>
                  <a:srgbClr val="FF0000"/>
                </a:solidFill>
              </a:rPr>
              <a:t>最小项表达式</a:t>
            </a:r>
            <a:r>
              <a:rPr lang="zh-CN" altLang="en-US" sz="2400" b="1" dirty="0"/>
              <a:t>为依据的</a:t>
            </a:r>
            <a:endParaRPr lang="en-US" altLang="zh-CN" sz="2400" b="1" dirty="0"/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/>
              <a:t>与阵列固定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产生输入变量的</a:t>
            </a:r>
            <a:r>
              <a:rPr lang="zh-CN" altLang="en-US" sz="2400" b="1" dirty="0">
                <a:solidFill>
                  <a:srgbClr val="0000FF"/>
                </a:solidFill>
              </a:rPr>
              <a:t>全部最小项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器件的规模随着输入信号数量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的增加呈</a:t>
            </a:r>
            <a:r>
              <a:rPr lang="en-US" altLang="zh-CN" sz="2400" b="1" dirty="0"/>
              <a:t>2</a:t>
            </a:r>
            <a:r>
              <a:rPr lang="en-US" altLang="zh-CN" sz="2400" b="1" baseline="30000" dirty="0"/>
              <a:t>n</a:t>
            </a:r>
            <a:r>
              <a:rPr lang="zh-CN" altLang="en-US" sz="2400" b="1" dirty="0"/>
              <a:t>指数级增长</a:t>
            </a:r>
            <a:endParaRPr lang="en-US" altLang="zh-CN" sz="2400" b="1" dirty="0"/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/>
              <a:t>组合型结构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无触发器</a:t>
            </a:r>
            <a:endParaRPr lang="zh-CN" altLang="en-US" sz="24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6937424" y="2614611"/>
            <a:ext cx="4542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最小项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</a:t>
            </a: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的结构与功能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graphicFrame>
        <p:nvGraphicFramePr>
          <p:cNvPr id="14" name="Object 6"/>
          <p:cNvGraphicFramePr>
            <a:graphicFrameLocks noChangeAspect="1"/>
          </p:cNvGraphicFramePr>
          <p:nvPr/>
        </p:nvGraphicFramePr>
        <p:xfrm>
          <a:off x="432944" y="1837103"/>
          <a:ext cx="4760496" cy="3981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2" imgW="1847850" imgH="1885950" progId="">
                  <p:embed/>
                </p:oleObj>
              </mc:Choice>
              <mc:Fallback>
                <p:oleObj name="" r:id="rId2" imgW="1847850" imgH="188595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944" y="1837103"/>
                        <a:ext cx="4760496" cy="3981506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7"/>
          <p:cNvGraphicFramePr>
            <a:graphicFrameLocks noChangeAspect="1"/>
          </p:cNvGraphicFramePr>
          <p:nvPr/>
        </p:nvGraphicFramePr>
        <p:xfrm>
          <a:off x="5546287" y="4274330"/>
          <a:ext cx="3113088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4" imgW="27432000" imgH="10972800" progId="Equation.3">
                  <p:embed/>
                </p:oleObj>
              </mc:Choice>
              <mc:Fallback>
                <p:oleObj name="公式" r:id="rId4" imgW="27432000" imgH="10972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6287" y="4274330"/>
                        <a:ext cx="3113088" cy="109855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C00000"/>
                        </a:solidFill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0" y="717477"/>
            <a:ext cx="43033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可编程只读存储器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PROM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</a:t>
            </a: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的结构与功能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9210" y="780823"/>
            <a:ext cx="38336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可编程逻辑阵列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PLA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pSp>
        <p:nvGrpSpPr>
          <p:cNvPr id="11" name="Group 6"/>
          <p:cNvGrpSpPr/>
          <p:nvPr/>
        </p:nvGrpSpPr>
        <p:grpSpPr bwMode="auto">
          <a:xfrm>
            <a:off x="524725" y="2515985"/>
            <a:ext cx="8087261" cy="3307838"/>
            <a:chOff x="567" y="1805"/>
            <a:chExt cx="4626" cy="1665"/>
          </a:xfrm>
        </p:grpSpPr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2148" y="3238"/>
              <a:ext cx="1343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zh-CN" b="1" dirty="0"/>
                <a:t>PLA</a:t>
              </a:r>
              <a:r>
                <a:rPr lang="zh-CN" altLang="en-US" b="1" dirty="0"/>
                <a:t>的基本结构</a:t>
              </a:r>
              <a:endParaRPr lang="zh-CN" altLang="en-US" b="1" dirty="0"/>
            </a:p>
          </p:txBody>
        </p:sp>
        <p:pic>
          <p:nvPicPr>
            <p:cNvPr id="13" name="Picture 5" descr="6-3-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" y="1805"/>
              <a:ext cx="4626" cy="11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</a:t>
            </a: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的结构与功能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7054" y="726949"/>
            <a:ext cx="38336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可编程逻辑阵列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PLA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aphicFrame>
        <p:nvGraphicFramePr>
          <p:cNvPr id="16" name="Object 4"/>
          <p:cNvGraphicFramePr>
            <a:graphicFrameLocks noChangeAspect="1"/>
          </p:cNvGraphicFramePr>
          <p:nvPr/>
        </p:nvGraphicFramePr>
        <p:xfrm>
          <a:off x="3850700" y="1218649"/>
          <a:ext cx="5293300" cy="5605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Picture" r:id="rId2" imgW="7600950" imgH="8048625" progId="Word.Picture.8">
                  <p:embed/>
                </p:oleObj>
              </mc:Choice>
              <mc:Fallback>
                <p:oleObj name="Picture" r:id="rId2" imgW="7600950" imgH="8048625" progId="Word.Picture.8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0700" y="1218649"/>
                        <a:ext cx="5293300" cy="56058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358447" y="2306642"/>
            <a:ext cx="3132898" cy="3724096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/>
              <a:t>用</a:t>
            </a:r>
            <a:r>
              <a:rPr lang="en-US" altLang="zh-CN" sz="2400" b="1" dirty="0"/>
              <a:t>PLA</a:t>
            </a:r>
            <a:r>
              <a:rPr lang="zh-CN" altLang="en-US" sz="2400" b="1" dirty="0"/>
              <a:t>实现逻辑函数的基本原理是基于函数的</a:t>
            </a:r>
            <a:r>
              <a:rPr lang="zh-CN" altLang="en-US" sz="2400" b="1" dirty="0">
                <a:solidFill>
                  <a:srgbClr val="FF0000"/>
                </a:solidFill>
              </a:rPr>
              <a:t>最简与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或</a:t>
            </a:r>
            <a:r>
              <a:rPr lang="zh-CN" altLang="en-US" sz="2400" b="1" dirty="0"/>
              <a:t>表达式</a:t>
            </a:r>
            <a:endParaRPr lang="en-US" altLang="zh-CN" sz="2400" b="1" dirty="0"/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FF"/>
                </a:solidFill>
              </a:rPr>
              <a:t>与阵列可编程</a:t>
            </a:r>
            <a:r>
              <a:rPr lang="zh-CN" altLang="en-US" sz="2400" b="1" dirty="0"/>
              <a:t>，无需产生所有的最小项，电路规模小</a:t>
            </a:r>
            <a:endParaRPr lang="en-US" altLang="zh-CN" sz="2400" b="1" dirty="0"/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FF"/>
                </a:solidFill>
              </a:rPr>
              <a:t>或阵列可编程</a:t>
            </a:r>
            <a:r>
              <a:rPr lang="zh-CN" altLang="en-US" sz="2400" b="1" dirty="0"/>
              <a:t>，电路实现灵活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</a:t>
            </a: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的结构与功能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pic>
        <p:nvPicPr>
          <p:cNvPr id="13" name="Picture 5" descr="6-3-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57" y="1679492"/>
            <a:ext cx="5243369" cy="512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" name="Object 8"/>
          <p:cNvGraphicFramePr>
            <a:graphicFrameLocks noChangeAspect="1"/>
          </p:cNvGraphicFramePr>
          <p:nvPr/>
        </p:nvGraphicFramePr>
        <p:xfrm>
          <a:off x="5923653" y="1436694"/>
          <a:ext cx="2498452" cy="740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公式" r:id="rId3" imgW="787400" imgH="228600" progId="Equation.3">
                  <p:embed/>
                </p:oleObj>
              </mc:Choice>
              <mc:Fallback>
                <p:oleObj name="公式" r:id="rId3" imgW="7874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3653" y="1436694"/>
                        <a:ext cx="2498452" cy="7408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0"/>
          <p:cNvGraphicFramePr>
            <a:graphicFrameLocks noChangeAspect="1"/>
          </p:cNvGraphicFramePr>
          <p:nvPr/>
        </p:nvGraphicFramePr>
        <p:xfrm>
          <a:off x="5923653" y="2117620"/>
          <a:ext cx="2778460" cy="734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5" imgW="889000" imgH="228600" progId="Equation.3">
                  <p:embed/>
                </p:oleObj>
              </mc:Choice>
              <mc:Fallback>
                <p:oleObj name="公式" r:id="rId5" imgW="8890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3653" y="2117620"/>
                        <a:ext cx="2778460" cy="7340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5868594" y="3063463"/>
            <a:ext cx="2985237" cy="3570208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/>
              <a:t>由于需要逻辑函数的最简与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或表达式，涉及的软件算法比较复杂，特别是对于多输出逻辑函数</a:t>
            </a:r>
            <a:endParaRPr lang="en-US" altLang="zh-CN" sz="2400" b="1" dirty="0"/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/>
              <a:t>与、或两级可编程，编程难度较大，一般由厂家完成</a:t>
            </a:r>
            <a:endParaRPr lang="zh-CN" altLang="en-US" sz="2400" b="1" dirty="0"/>
          </a:p>
        </p:txBody>
      </p:sp>
      <p:sp>
        <p:nvSpPr>
          <p:cNvPr id="11" name="矩形 10"/>
          <p:cNvSpPr/>
          <p:nvPr/>
        </p:nvSpPr>
        <p:spPr>
          <a:xfrm>
            <a:off x="77419" y="754637"/>
            <a:ext cx="38336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可编程逻辑阵列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PLA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</a:t>
            </a: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的结构与功能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0329" y="772360"/>
            <a:ext cx="3763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可编程阵列逻辑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PAL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pSp>
        <p:nvGrpSpPr>
          <p:cNvPr id="12" name="Group 6"/>
          <p:cNvGrpSpPr/>
          <p:nvPr/>
        </p:nvGrpSpPr>
        <p:grpSpPr bwMode="auto">
          <a:xfrm>
            <a:off x="440113" y="2021552"/>
            <a:ext cx="8221749" cy="3696656"/>
            <a:chOff x="368" y="1434"/>
            <a:chExt cx="4808" cy="1919"/>
          </a:xfrm>
        </p:grpSpPr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2136" y="3113"/>
              <a:ext cx="1359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zh-CN" b="1" dirty="0"/>
                <a:t>PAL</a:t>
              </a:r>
              <a:r>
                <a:rPr lang="zh-CN" altLang="en-US" b="1" dirty="0"/>
                <a:t>的基本结构</a:t>
              </a:r>
              <a:endParaRPr lang="zh-CN" altLang="en-US" b="1" dirty="0"/>
            </a:p>
          </p:txBody>
        </p:sp>
        <p:pic>
          <p:nvPicPr>
            <p:cNvPr id="14" name="Picture 5" descr="6-3-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" y="1434"/>
              <a:ext cx="4808" cy="14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</a:t>
            </a: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的结构与功能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0329" y="772360"/>
            <a:ext cx="3763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可编程阵列逻辑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PAL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669" name="矩形 668"/>
          <p:cNvSpPr/>
          <p:nvPr/>
        </p:nvSpPr>
        <p:spPr>
          <a:xfrm>
            <a:off x="367197" y="2518581"/>
            <a:ext cx="3069909" cy="3724096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FF"/>
                </a:solidFill>
              </a:rPr>
              <a:t>与阵列可编程，或阵列固定</a:t>
            </a:r>
            <a:r>
              <a:rPr lang="zh-CN" altLang="en-US" sz="2400" b="1" dirty="0"/>
              <a:t>，输出端为</a:t>
            </a:r>
            <a:r>
              <a:rPr lang="zh-CN" altLang="en-US" sz="2400" b="1" dirty="0">
                <a:solidFill>
                  <a:srgbClr val="FF0000"/>
                </a:solidFill>
              </a:rPr>
              <a:t>固定个数</a:t>
            </a:r>
            <a:r>
              <a:rPr lang="zh-CN" altLang="en-US" sz="2400" b="1" dirty="0">
                <a:solidFill>
                  <a:srgbClr val="0000FF"/>
                </a:solidFill>
              </a:rPr>
              <a:t>与项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FF33CC"/>
                </a:solidFill>
              </a:rPr>
              <a:t>或</a:t>
            </a:r>
            <a:endParaRPr lang="en-US" altLang="zh-CN" sz="2400" b="1" dirty="0">
              <a:solidFill>
                <a:srgbClr val="FF33CC"/>
              </a:solidFill>
            </a:endParaRPr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/>
              <a:t>通常</a:t>
            </a:r>
            <a:r>
              <a:rPr lang="en-US" altLang="zh-CN" sz="2400" b="1" dirty="0"/>
              <a:t>PAL</a:t>
            </a:r>
            <a:r>
              <a:rPr lang="zh-CN" altLang="en-US" sz="2400" b="1" dirty="0"/>
              <a:t>输出端的与项个数达到</a:t>
            </a:r>
            <a:r>
              <a:rPr lang="en-US" altLang="zh-CN" sz="2400" b="1" dirty="0"/>
              <a:t>8</a:t>
            </a:r>
            <a:r>
              <a:rPr lang="zh-CN" altLang="en-US" sz="2400" b="1" dirty="0"/>
              <a:t>个，满足大多数逻辑函数的设计需求</a:t>
            </a:r>
            <a:endParaRPr lang="en-US" altLang="zh-CN" sz="2400" b="1" dirty="0"/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/>
              <a:t>易于制造，成本低</a:t>
            </a:r>
            <a:endParaRPr lang="zh-CN" altLang="en-US" sz="2400" b="1" dirty="0"/>
          </a:p>
        </p:txBody>
      </p:sp>
      <p:graphicFrame>
        <p:nvGraphicFramePr>
          <p:cNvPr id="670" name="Object 5"/>
          <p:cNvGraphicFramePr>
            <a:graphicFrameLocks noChangeAspect="1"/>
          </p:cNvGraphicFramePr>
          <p:nvPr/>
        </p:nvGraphicFramePr>
        <p:xfrm>
          <a:off x="4228896" y="1175084"/>
          <a:ext cx="4851012" cy="5160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2" imgW="2400300" imgH="2552700" progId="Word.Picture.8">
                  <p:embed/>
                </p:oleObj>
              </mc:Choice>
              <mc:Fallback>
                <p:oleObj name="" r:id="rId2" imgW="2400300" imgH="2552700" progId="Word.Picture.8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8896" y="1175084"/>
                        <a:ext cx="4851012" cy="51605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对话气泡: 矩形 1"/>
          <p:cNvSpPr/>
          <p:nvPr/>
        </p:nvSpPr>
        <p:spPr bwMode="auto">
          <a:xfrm>
            <a:off x="7369510" y="6285117"/>
            <a:ext cx="1743865" cy="461665"/>
          </a:xfrm>
          <a:prstGeom prst="wedgeRectCallout">
            <a:avLst>
              <a:gd name="adj1" fmla="val -2215"/>
              <a:gd name="adj2" fmla="val -91666"/>
            </a:avLst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0000FF"/>
                </a:solidFill>
              </a:rPr>
              <a:t>四输入或门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60703" y="6297624"/>
            <a:ext cx="2108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可编程与阵列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71" name="文本框 670"/>
          <p:cNvSpPr txBox="1"/>
          <p:nvPr/>
        </p:nvSpPr>
        <p:spPr>
          <a:xfrm>
            <a:off x="7266341" y="899891"/>
            <a:ext cx="1813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固定或阵列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</a:t>
            </a: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的结构与功能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0329" y="772360"/>
            <a:ext cx="3763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可编程阵列逻辑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PAL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pSp>
        <p:nvGrpSpPr>
          <p:cNvPr id="11" name="Group 6"/>
          <p:cNvGrpSpPr/>
          <p:nvPr/>
        </p:nvGrpSpPr>
        <p:grpSpPr bwMode="auto">
          <a:xfrm>
            <a:off x="0" y="1510679"/>
            <a:ext cx="4572000" cy="5213351"/>
            <a:chOff x="1429" y="482"/>
            <a:chExt cx="2880" cy="3284"/>
          </a:xfrm>
        </p:grpSpPr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1807" y="3475"/>
              <a:ext cx="20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zh-CN" altLang="en-US" b="1" dirty="0"/>
                <a:t>一个</a:t>
              </a:r>
              <a:r>
                <a:rPr lang="en-US" altLang="zh-CN" b="1" dirty="0"/>
                <a:t>4</a:t>
              </a:r>
              <a:r>
                <a:rPr lang="zh-CN" altLang="en-US" b="1" dirty="0"/>
                <a:t>输入</a:t>
              </a:r>
              <a:r>
                <a:rPr lang="en-US" altLang="zh-CN" b="1" dirty="0"/>
                <a:t>4</a:t>
              </a:r>
              <a:r>
                <a:rPr lang="zh-CN" altLang="en-US" b="1" dirty="0"/>
                <a:t>输出的</a:t>
              </a:r>
              <a:r>
                <a:rPr lang="en-US" altLang="zh-CN" b="1" dirty="0"/>
                <a:t>PAL</a:t>
              </a:r>
              <a:endParaRPr lang="en-US" altLang="zh-CN" b="1" dirty="0"/>
            </a:p>
          </p:txBody>
        </p:sp>
        <p:pic>
          <p:nvPicPr>
            <p:cNvPr id="13" name="Picture 5" descr="6-3-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9" y="482"/>
              <a:ext cx="2880" cy="29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5092375" y="1867997"/>
          <a:ext cx="266382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3" imgW="1015365" imgH="215900" progId="Equation.3">
                  <p:embed/>
                </p:oleObj>
              </mc:Choice>
              <mc:Fallback>
                <p:oleObj name="公式" r:id="rId3" imgW="1015365" imgH="215900" progId="Equation.3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375" y="1867997"/>
                        <a:ext cx="2663825" cy="573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/>
          <p:cNvGraphicFramePr>
            <a:graphicFrameLocks noChangeAspect="1"/>
          </p:cNvGraphicFramePr>
          <p:nvPr/>
        </p:nvGraphicFramePr>
        <p:xfrm>
          <a:off x="5092375" y="2553003"/>
          <a:ext cx="20193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5" imgW="774065" imgH="190500" progId="Equation.3">
                  <p:embed/>
                </p:oleObj>
              </mc:Choice>
              <mc:Fallback>
                <p:oleObj name="公式" r:id="rId5" imgW="774065" imgH="190500" progId="Equation.3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375" y="2553003"/>
                        <a:ext cx="2019300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8"/>
          <p:cNvGraphicFramePr>
            <a:graphicFrameLocks noChangeAspect="1"/>
          </p:cNvGraphicFramePr>
          <p:nvPr/>
        </p:nvGraphicFramePr>
        <p:xfrm>
          <a:off x="5092375" y="3163396"/>
          <a:ext cx="276542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公式" r:id="rId7" imgW="1053465" imgH="215900" progId="Equation.3">
                  <p:embed/>
                </p:oleObj>
              </mc:Choice>
              <mc:Fallback>
                <p:oleObj name="公式" r:id="rId7" imgW="1053465" imgH="215900" progId="Equation.3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375" y="3163396"/>
                        <a:ext cx="2765425" cy="573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0"/>
          <p:cNvGraphicFramePr>
            <a:graphicFrameLocks noChangeAspect="1"/>
          </p:cNvGraphicFramePr>
          <p:nvPr/>
        </p:nvGraphicFramePr>
        <p:xfrm>
          <a:off x="5092375" y="4209529"/>
          <a:ext cx="33147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公式" r:id="rId9" imgW="1269365" imgH="215900" progId="Equation.3">
                  <p:embed/>
                </p:oleObj>
              </mc:Choice>
              <mc:Fallback>
                <p:oleObj name="公式" r:id="rId9" imgW="1269365" imgH="215900" progId="Equation.3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375" y="4209529"/>
                        <a:ext cx="3314700" cy="573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2"/>
          <p:cNvGraphicFramePr>
            <a:graphicFrameLocks noChangeAspect="1"/>
          </p:cNvGraphicFramePr>
          <p:nvPr/>
        </p:nvGraphicFramePr>
        <p:xfrm>
          <a:off x="5092375" y="4802139"/>
          <a:ext cx="4051626" cy="448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公式" r:id="rId11" imgW="1727200" imgH="190500" progId="Equation.3">
                  <p:embed/>
                </p:oleObj>
              </mc:Choice>
              <mc:Fallback>
                <p:oleObj name="公式" r:id="rId11" imgW="1727200" imgH="190500" progId="Equation.3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375" y="4802139"/>
                        <a:ext cx="4051626" cy="4484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</a:t>
            </a: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的结构与功能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670" name="Text Box 2"/>
          <p:cNvSpPr txBox="1">
            <a:spLocks noChangeArrowheads="1"/>
          </p:cNvSpPr>
          <p:nvPr/>
        </p:nvSpPr>
        <p:spPr bwMode="auto">
          <a:xfrm>
            <a:off x="365733" y="1313126"/>
            <a:ext cx="347542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ea typeface="隶书" panose="02010509060101010101" pitchFamily="49" charset="-122"/>
              </a:rPr>
              <a:t>带反馈寄存器的</a:t>
            </a:r>
            <a:r>
              <a:rPr lang="en-US" altLang="zh-CN" b="1" dirty="0">
                <a:solidFill>
                  <a:srgbClr val="FF0000"/>
                </a:solidFill>
                <a:ea typeface="隶书" panose="02010509060101010101" pitchFamily="49" charset="-122"/>
              </a:rPr>
              <a:t>PAL</a:t>
            </a:r>
            <a:endParaRPr lang="zh-CN" altLang="en-US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-38869" y="709544"/>
            <a:ext cx="3763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可编程阵列逻辑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PAL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77313" y="1974038"/>
            <a:ext cx="8510557" cy="2525917"/>
            <a:chOff x="94185" y="2600265"/>
            <a:chExt cx="8510557" cy="2525917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185" y="2937164"/>
              <a:ext cx="4416856" cy="2189018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1375" y="2600265"/>
              <a:ext cx="3613367" cy="2171240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99957" y="2923185"/>
              <a:ext cx="491418" cy="1044757"/>
            </a:xfrm>
            <a:prstGeom prst="rect">
              <a:avLst/>
            </a:prstGeom>
          </p:spPr>
        </p:pic>
        <p:cxnSp>
          <p:nvCxnSpPr>
            <p:cNvPr id="14" name="直接连接符 13"/>
            <p:cNvCxnSpPr/>
            <p:nvPr/>
          </p:nvCxnSpPr>
          <p:spPr>
            <a:xfrm flipV="1">
              <a:off x="4405745" y="4344785"/>
              <a:ext cx="748146" cy="44335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4499957" y="4566458"/>
              <a:ext cx="620683" cy="38793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矩形 17"/>
          <p:cNvSpPr/>
          <p:nvPr/>
        </p:nvSpPr>
        <p:spPr>
          <a:xfrm>
            <a:off x="630066" y="4749336"/>
            <a:ext cx="80578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时钟脉冲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CP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上升沿，或门的输出被寄存到触发器中。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输出端经反馈送入与阵列。 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输出三态缓冲器在输出使能信号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OE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的控制下，可使输出端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24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呈高阻状态，或将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触发器的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端反向后由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24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输出。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椭圆 2"/>
          <p:cNvSpPr/>
          <p:nvPr/>
        </p:nvSpPr>
        <p:spPr bwMode="auto">
          <a:xfrm>
            <a:off x="2070975" y="3717720"/>
            <a:ext cx="45719" cy="45719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</a:ln>
        </p:spPr>
        <p:txBody>
          <a:bodyPr wrap="square" rtlCol="0" anchor="ctr">
            <a:spAutoFit/>
          </a:bodyPr>
          <a:lstStyle/>
          <a:p>
            <a:pPr algn="l"/>
            <a:endParaRPr lang="zh-CN" altLang="en-US" sz="2800"/>
          </a:p>
        </p:txBody>
      </p:sp>
      <p:sp>
        <p:nvSpPr>
          <p:cNvPr id="15" name="椭圆 14"/>
          <p:cNvSpPr/>
          <p:nvPr/>
        </p:nvSpPr>
        <p:spPr bwMode="auto">
          <a:xfrm>
            <a:off x="2241043" y="3909873"/>
            <a:ext cx="45719" cy="45719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</a:ln>
        </p:spPr>
        <p:txBody>
          <a:bodyPr wrap="square" rtlCol="0" anchor="ctr">
            <a:spAutoFit/>
          </a:bodyPr>
          <a:lstStyle/>
          <a:p>
            <a:pPr algn="l"/>
            <a:endParaRPr lang="zh-CN" altLang="en-US" sz="2800"/>
          </a:p>
        </p:txBody>
      </p:sp>
      <p:sp>
        <p:nvSpPr>
          <p:cNvPr id="19" name="椭圆 18"/>
          <p:cNvSpPr/>
          <p:nvPr/>
        </p:nvSpPr>
        <p:spPr bwMode="auto">
          <a:xfrm>
            <a:off x="2411107" y="3739805"/>
            <a:ext cx="45719" cy="45719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</a:ln>
        </p:spPr>
        <p:txBody>
          <a:bodyPr wrap="square" rtlCol="0" anchor="ctr">
            <a:spAutoFit/>
          </a:bodyPr>
          <a:lstStyle/>
          <a:p>
            <a:pPr algn="l"/>
            <a:endParaRPr lang="zh-CN" altLang="en-US" sz="2800"/>
          </a:p>
        </p:txBody>
      </p:sp>
      <p:sp>
        <p:nvSpPr>
          <p:cNvPr id="20" name="椭圆 19"/>
          <p:cNvSpPr/>
          <p:nvPr/>
        </p:nvSpPr>
        <p:spPr bwMode="auto">
          <a:xfrm>
            <a:off x="2587818" y="3920915"/>
            <a:ext cx="45719" cy="45719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</a:ln>
        </p:spPr>
        <p:txBody>
          <a:bodyPr wrap="square" rtlCol="0" anchor="ctr">
            <a:spAutoFit/>
          </a:bodyPr>
          <a:lstStyle/>
          <a:p>
            <a:pPr algn="l"/>
            <a:endParaRPr lang="zh-CN" altLang="en-US" sz="2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41575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</a:t>
            </a: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的结构与功能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48296" y="707426"/>
            <a:ext cx="36148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通用阵列逻辑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GAL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225881" y="4870273"/>
            <a:ext cx="864964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en-US" altLang="zh-CN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GAL</a:t>
            </a:r>
            <a:r>
              <a:rPr kumimoji="1"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的输出电路部分增设了</a:t>
            </a:r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可编程</a:t>
            </a:r>
            <a:r>
              <a:rPr kumimoji="1"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输出逻辑宏单元</a:t>
            </a:r>
            <a:r>
              <a:rPr kumimoji="1" lang="en-US" altLang="zh-CN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(OLMC)</a:t>
            </a:r>
            <a:r>
              <a:rPr kumimoji="1"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，通过编程可将</a:t>
            </a:r>
            <a:r>
              <a:rPr kumimoji="1" lang="en-US" altLang="zh-CN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OLMC</a:t>
            </a:r>
            <a:r>
              <a:rPr kumimoji="1"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设置为不同的工作状态，从而实现</a:t>
            </a:r>
            <a:r>
              <a:rPr kumimoji="1" lang="en-US" altLang="zh-CN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PAL</a:t>
            </a:r>
            <a:r>
              <a:rPr kumimoji="1"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的所有输出结构，产生组合、时序逻辑电路输出</a:t>
            </a:r>
            <a:endParaRPr kumimoji="1" lang="zh-CN" altLang="en-US" sz="24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1" name="Group 6"/>
          <p:cNvGrpSpPr/>
          <p:nvPr/>
        </p:nvGrpSpPr>
        <p:grpSpPr bwMode="auto">
          <a:xfrm>
            <a:off x="225881" y="1504548"/>
            <a:ext cx="8594726" cy="3040064"/>
            <a:chOff x="345" y="1426"/>
            <a:chExt cx="5414" cy="1915"/>
          </a:xfrm>
        </p:grpSpPr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1929" y="3050"/>
              <a:ext cx="207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zh-CN" b="1" dirty="0"/>
                <a:t>PAL</a:t>
              </a:r>
              <a:r>
                <a:rPr lang="zh-CN" altLang="en-US" b="1" dirty="0"/>
                <a:t>型</a:t>
              </a:r>
              <a:r>
                <a:rPr lang="en-US" altLang="zh-CN" b="1" dirty="0"/>
                <a:t>GAL</a:t>
              </a:r>
              <a:r>
                <a:rPr lang="zh-CN" altLang="en-US" b="1" dirty="0"/>
                <a:t>的基本结构</a:t>
              </a:r>
              <a:endParaRPr lang="zh-CN" altLang="en-US" b="1" dirty="0"/>
            </a:p>
          </p:txBody>
        </p:sp>
        <p:pic>
          <p:nvPicPr>
            <p:cNvPr id="13" name="Picture 5" descr="6-3-1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" y="1426"/>
              <a:ext cx="5414" cy="15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41575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</a:t>
            </a: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的结构与功能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02687" y="718910"/>
            <a:ext cx="33161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通用阵列逻辑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GAL  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13" name="Group 6"/>
          <p:cNvGrpSpPr/>
          <p:nvPr/>
        </p:nvGrpSpPr>
        <p:grpSpPr bwMode="auto">
          <a:xfrm>
            <a:off x="1435167" y="1817658"/>
            <a:ext cx="6234112" cy="4864100"/>
            <a:chOff x="839" y="754"/>
            <a:chExt cx="3927" cy="3064"/>
          </a:xfrm>
        </p:grpSpPr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2015" y="3566"/>
              <a:ext cx="125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zh-CN" sz="2000" b="0" dirty="0"/>
                <a:t>GAL</a:t>
              </a:r>
              <a:r>
                <a:rPr lang="zh-CN" altLang="en-US" sz="2000" b="0" dirty="0"/>
                <a:t>的结构示意</a:t>
              </a:r>
              <a:endParaRPr lang="zh-CN" altLang="en-US" sz="2000" b="0" dirty="0"/>
            </a:p>
          </p:txBody>
        </p:sp>
        <p:pic>
          <p:nvPicPr>
            <p:cNvPr id="15" name="Picture 5" descr="6-3-1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" y="754"/>
              <a:ext cx="3927" cy="2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对话气泡: 矩形 2"/>
          <p:cNvSpPr/>
          <p:nvPr/>
        </p:nvSpPr>
        <p:spPr bwMode="auto">
          <a:xfrm>
            <a:off x="144087" y="3401592"/>
            <a:ext cx="1102822" cy="2308324"/>
          </a:xfrm>
          <a:prstGeom prst="wedgeRectCallout">
            <a:avLst>
              <a:gd name="adj1" fmla="val 136767"/>
              <a:gd name="adj2" fmla="val 6824"/>
            </a:avLst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just"/>
            <a:r>
              <a:rPr lang="zh-CN" altLang="en-US" sz="2400" b="1" dirty="0">
                <a:solidFill>
                  <a:srgbClr val="0000FF"/>
                </a:solidFill>
              </a:rPr>
              <a:t>可编程与阵列，固定或阵列。与</a:t>
            </a:r>
            <a:r>
              <a:rPr lang="en-US" altLang="zh-CN" sz="2400" b="1" dirty="0">
                <a:solidFill>
                  <a:srgbClr val="0000FF"/>
                </a:solidFill>
              </a:rPr>
              <a:t>PAL</a:t>
            </a:r>
            <a:r>
              <a:rPr lang="zh-CN" altLang="en-US" sz="2400" b="1" dirty="0">
                <a:solidFill>
                  <a:srgbClr val="0000FF"/>
                </a:solidFill>
              </a:rPr>
              <a:t>相同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对话气泡: 矩形 4"/>
          <p:cNvSpPr/>
          <p:nvPr/>
        </p:nvSpPr>
        <p:spPr bwMode="auto">
          <a:xfrm>
            <a:off x="7693321" y="2133107"/>
            <a:ext cx="1429125" cy="2308324"/>
          </a:xfrm>
          <a:prstGeom prst="wedgeRectCallout">
            <a:avLst>
              <a:gd name="adj1" fmla="val -149732"/>
              <a:gd name="adj2" fmla="val 46987"/>
            </a:avLst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0000"/>
                </a:solidFill>
              </a:rPr>
              <a:t>可编程输出逻辑宏单元，能实现不同形式的输出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411287" y="4350327"/>
            <a:ext cx="2100349" cy="1429789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l"/>
            <a:endParaRPr lang="zh-CN" altLang="en-US" sz="2800"/>
          </a:p>
        </p:txBody>
      </p:sp>
      <p:sp>
        <p:nvSpPr>
          <p:cNvPr id="19" name="矩形 18"/>
          <p:cNvSpPr/>
          <p:nvPr/>
        </p:nvSpPr>
        <p:spPr bwMode="auto">
          <a:xfrm>
            <a:off x="4400203" y="2422014"/>
            <a:ext cx="2100349" cy="1429789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l"/>
            <a:endParaRPr lang="zh-CN" altLang="en-US" sz="2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淘宝网chenying0907出品 10"/>
          <p:cNvSpPr txBox="1"/>
          <p:nvPr/>
        </p:nvSpPr>
        <p:spPr>
          <a:xfrm>
            <a:off x="1251284" y="3014625"/>
            <a:ext cx="151379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0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Contents</a:t>
            </a:r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淘宝网chenying0907出品 11"/>
          <p:cNvSpPr/>
          <p:nvPr/>
        </p:nvSpPr>
        <p:spPr>
          <a:xfrm>
            <a:off x="3158834" y="-15801"/>
            <a:ext cx="598516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3158833" y="15801"/>
            <a:ext cx="3386343" cy="240418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5827660" y="4362508"/>
            <a:ext cx="3316340" cy="249549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淘宝网chenying0907出品 20"/>
          <p:cNvSpPr txBox="1"/>
          <p:nvPr/>
        </p:nvSpPr>
        <p:spPr>
          <a:xfrm>
            <a:off x="4405821" y="2090677"/>
            <a:ext cx="40930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30" name="淘宝网chenying0907出品 29"/>
          <p:cNvSpPr txBox="1"/>
          <p:nvPr/>
        </p:nvSpPr>
        <p:spPr>
          <a:xfrm>
            <a:off x="4405820" y="3012541"/>
            <a:ext cx="3996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简单</a:t>
            </a:r>
            <a:r>
              <a:rPr lang="en-US" altLang="zh-CN" dirty="0"/>
              <a:t>PLD</a:t>
            </a:r>
            <a:r>
              <a:rPr lang="zh-CN" altLang="en-US" dirty="0"/>
              <a:t>的原理与结构</a:t>
            </a:r>
            <a:endParaRPr lang="zh-CN" altLang="en-US" dirty="0"/>
          </a:p>
        </p:txBody>
      </p:sp>
      <p:sp>
        <p:nvSpPr>
          <p:cNvPr id="17" name="淘宝网chenying0907出品 29"/>
          <p:cNvSpPr txBox="1"/>
          <p:nvPr/>
        </p:nvSpPr>
        <p:spPr>
          <a:xfrm>
            <a:off x="4405820" y="3960780"/>
            <a:ext cx="4489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CPLD</a:t>
            </a:r>
            <a:r>
              <a:rPr lang="zh-CN" altLang="en-US" dirty="0"/>
              <a:t>与</a:t>
            </a:r>
            <a:r>
              <a:rPr lang="en-US" altLang="zh-CN" dirty="0"/>
              <a:t>FPGA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4" y="50071"/>
            <a:ext cx="505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复杂可编程逻辑器件</a:t>
            </a: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CPLD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6" name="Rectangle 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228875" y="798464"/>
            <a:ext cx="8265768" cy="1255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zh-CN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CPLD</a:t>
            </a:r>
            <a:r>
              <a:rPr lang="zh-CN" altLang="en-US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是在</a:t>
            </a:r>
            <a:r>
              <a:rPr lang="en-US" altLang="zh-CN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PAL</a:t>
            </a:r>
            <a:r>
              <a:rPr lang="zh-CN" altLang="en-US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GAL</a:t>
            </a:r>
            <a:r>
              <a:rPr lang="zh-CN" altLang="en-US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基础上发展起来的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阵列型</a:t>
            </a:r>
            <a:r>
              <a:rPr lang="en-US" altLang="zh-CN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endParaRPr lang="en-US" altLang="zh-CN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zh-CN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CPLD</a:t>
            </a:r>
            <a:r>
              <a:rPr lang="zh-CN" altLang="en-US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集成度远远高于</a:t>
            </a:r>
            <a:r>
              <a:rPr lang="en-US" altLang="zh-CN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PAL</a:t>
            </a:r>
            <a:r>
              <a:rPr lang="zh-CN" altLang="en-US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GAL</a:t>
            </a:r>
            <a:r>
              <a:rPr lang="zh-CN" altLang="en-US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，用来设计数字系统，体积小、功耗低、可靠性高</a:t>
            </a:r>
            <a:endParaRPr lang="zh-CN" altLang="en-US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1164604" y="2461109"/>
          <a:ext cx="6443662" cy="397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图片" r:id="rId2" imgW="3788410" imgH="2294890" progId="Word.Picture.8">
                  <p:embed/>
                </p:oleObj>
              </mc:Choice>
              <mc:Fallback>
                <p:oleObj name="图片" r:id="rId2" imgW="3788410" imgH="2294890" progId="Word.Picture.8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4604" y="2461109"/>
                        <a:ext cx="6443662" cy="3970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33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/>
          <p:cNvGraphicFramePr>
            <a:graphicFrameLocks noChangeAspect="1"/>
          </p:cNvGraphicFramePr>
          <p:nvPr/>
        </p:nvGraphicFramePr>
        <p:xfrm>
          <a:off x="1309066" y="2592871"/>
          <a:ext cx="6119813" cy="355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图片" r:id="rId4" imgW="3523615" imgH="2057400" progId="Word.Picture.8">
                  <p:embed/>
                </p:oleObj>
              </mc:Choice>
              <mc:Fallback>
                <p:oleObj name="图片" r:id="rId4" imgW="3523615" imgH="2057400" progId="Word.Picture.8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9066" y="2592871"/>
                        <a:ext cx="6119813" cy="355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33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4" y="50071"/>
            <a:ext cx="505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复杂可编程逻辑器件</a:t>
            </a: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CPLD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435167" y="2896225"/>
            <a:ext cx="5458501" cy="3361588"/>
            <a:chOff x="1219200" y="1082675"/>
            <a:chExt cx="6705600" cy="4692650"/>
          </a:xfrm>
        </p:grpSpPr>
        <p:sp>
          <p:nvSpPr>
            <p:cNvPr id="90" name="Text Box 2"/>
            <p:cNvSpPr txBox="1">
              <a:spLocks noChangeArrowheads="1"/>
            </p:cNvSpPr>
            <p:nvPr/>
          </p:nvSpPr>
          <p:spPr bwMode="auto">
            <a:xfrm>
              <a:off x="1935163" y="1714500"/>
              <a:ext cx="714375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1" name="Text Box 3"/>
            <p:cNvSpPr txBox="1">
              <a:spLocks noChangeArrowheads="1"/>
            </p:cNvSpPr>
            <p:nvPr/>
          </p:nvSpPr>
          <p:spPr bwMode="auto">
            <a:xfrm>
              <a:off x="3186113" y="1714500"/>
              <a:ext cx="715962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" name="Text Box 4"/>
            <p:cNvSpPr txBox="1">
              <a:spLocks noChangeArrowheads="1"/>
            </p:cNvSpPr>
            <p:nvPr/>
          </p:nvSpPr>
          <p:spPr bwMode="auto">
            <a:xfrm>
              <a:off x="5241925" y="1714500"/>
              <a:ext cx="715963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" name="Text Box 5"/>
            <p:cNvSpPr txBox="1">
              <a:spLocks noChangeArrowheads="1"/>
            </p:cNvSpPr>
            <p:nvPr/>
          </p:nvSpPr>
          <p:spPr bwMode="auto">
            <a:xfrm>
              <a:off x="6494463" y="1714500"/>
              <a:ext cx="714375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" name="Text Box 6"/>
            <p:cNvSpPr txBox="1">
              <a:spLocks noChangeArrowheads="1"/>
            </p:cNvSpPr>
            <p:nvPr/>
          </p:nvSpPr>
          <p:spPr bwMode="auto">
            <a:xfrm>
              <a:off x="1935163" y="2797175"/>
              <a:ext cx="714375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5" name="Text Box 7"/>
            <p:cNvSpPr txBox="1">
              <a:spLocks noChangeArrowheads="1"/>
            </p:cNvSpPr>
            <p:nvPr/>
          </p:nvSpPr>
          <p:spPr bwMode="auto">
            <a:xfrm>
              <a:off x="3186113" y="2797175"/>
              <a:ext cx="715962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6" name="Text Box 8"/>
            <p:cNvSpPr txBox="1">
              <a:spLocks noChangeArrowheads="1"/>
            </p:cNvSpPr>
            <p:nvPr/>
          </p:nvSpPr>
          <p:spPr bwMode="auto">
            <a:xfrm>
              <a:off x="5241925" y="2797175"/>
              <a:ext cx="715963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" name="Text Box 9"/>
            <p:cNvSpPr txBox="1">
              <a:spLocks noChangeArrowheads="1"/>
            </p:cNvSpPr>
            <p:nvPr/>
          </p:nvSpPr>
          <p:spPr bwMode="auto">
            <a:xfrm>
              <a:off x="6494463" y="2797175"/>
              <a:ext cx="714375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" name="Text Box 10"/>
            <p:cNvSpPr txBox="1">
              <a:spLocks noChangeArrowheads="1"/>
            </p:cNvSpPr>
            <p:nvPr/>
          </p:nvSpPr>
          <p:spPr bwMode="auto">
            <a:xfrm>
              <a:off x="1935163" y="3608388"/>
              <a:ext cx="714375" cy="385762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" name="Text Box 11"/>
            <p:cNvSpPr txBox="1">
              <a:spLocks noChangeArrowheads="1"/>
            </p:cNvSpPr>
            <p:nvPr/>
          </p:nvSpPr>
          <p:spPr bwMode="auto">
            <a:xfrm>
              <a:off x="3186113" y="3608388"/>
              <a:ext cx="715962" cy="385762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0" name="Text Box 12"/>
            <p:cNvSpPr txBox="1">
              <a:spLocks noChangeArrowheads="1"/>
            </p:cNvSpPr>
            <p:nvPr/>
          </p:nvSpPr>
          <p:spPr bwMode="auto">
            <a:xfrm>
              <a:off x="5241925" y="3608388"/>
              <a:ext cx="715963" cy="385762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1" name="Text Box 13"/>
            <p:cNvSpPr txBox="1">
              <a:spLocks noChangeArrowheads="1"/>
            </p:cNvSpPr>
            <p:nvPr/>
          </p:nvSpPr>
          <p:spPr bwMode="auto">
            <a:xfrm>
              <a:off x="6494463" y="3608388"/>
              <a:ext cx="714375" cy="385762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" name="Text Box 14"/>
            <p:cNvSpPr txBox="1">
              <a:spLocks noChangeArrowheads="1"/>
            </p:cNvSpPr>
            <p:nvPr/>
          </p:nvSpPr>
          <p:spPr bwMode="auto">
            <a:xfrm>
              <a:off x="1935163" y="4692650"/>
              <a:ext cx="714375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" name="Text Box 15"/>
            <p:cNvSpPr txBox="1">
              <a:spLocks noChangeArrowheads="1"/>
            </p:cNvSpPr>
            <p:nvPr/>
          </p:nvSpPr>
          <p:spPr bwMode="auto">
            <a:xfrm>
              <a:off x="3186113" y="4692650"/>
              <a:ext cx="715962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" name="Text Box 16"/>
            <p:cNvSpPr txBox="1">
              <a:spLocks noChangeArrowheads="1"/>
            </p:cNvSpPr>
            <p:nvPr/>
          </p:nvSpPr>
          <p:spPr bwMode="auto">
            <a:xfrm>
              <a:off x="5241925" y="4692650"/>
              <a:ext cx="715963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" name="Text Box 17"/>
            <p:cNvSpPr txBox="1">
              <a:spLocks noChangeArrowheads="1"/>
            </p:cNvSpPr>
            <p:nvPr/>
          </p:nvSpPr>
          <p:spPr bwMode="auto">
            <a:xfrm>
              <a:off x="6494463" y="4692650"/>
              <a:ext cx="714375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" name="Rectangle 18"/>
            <p:cNvSpPr>
              <a:spLocks noChangeArrowheads="1"/>
            </p:cNvSpPr>
            <p:nvPr/>
          </p:nvSpPr>
          <p:spPr bwMode="auto">
            <a:xfrm>
              <a:off x="1935163" y="1082675"/>
              <a:ext cx="5273675" cy="271463"/>
            </a:xfrm>
            <a:prstGeom prst="rect">
              <a:avLst/>
            </a:prstGeom>
            <a:solidFill>
              <a:srgbClr val="CC9900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I/O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7" name="Rectangle 19"/>
            <p:cNvSpPr>
              <a:spLocks noChangeArrowheads="1"/>
            </p:cNvSpPr>
            <p:nvPr/>
          </p:nvSpPr>
          <p:spPr bwMode="auto">
            <a:xfrm>
              <a:off x="2024063" y="5503863"/>
              <a:ext cx="5275262" cy="271462"/>
            </a:xfrm>
            <a:prstGeom prst="rect">
              <a:avLst/>
            </a:prstGeom>
            <a:solidFill>
              <a:srgbClr val="CC9900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dirty="0">
                  <a:solidFill>
                    <a:srgbClr val="000000"/>
                  </a:solidFill>
                </a:rPr>
                <a:t>I/O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" name="Rectangle 20"/>
            <p:cNvSpPr>
              <a:spLocks noChangeArrowheads="1"/>
            </p:cNvSpPr>
            <p:nvPr/>
          </p:nvSpPr>
          <p:spPr bwMode="auto">
            <a:xfrm>
              <a:off x="1219200" y="1533525"/>
              <a:ext cx="268288" cy="3879850"/>
            </a:xfrm>
            <a:prstGeom prst="rect">
              <a:avLst/>
            </a:prstGeom>
            <a:solidFill>
              <a:srgbClr val="CC9900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" name="Rectangle 21"/>
            <p:cNvSpPr>
              <a:spLocks noChangeArrowheads="1"/>
            </p:cNvSpPr>
            <p:nvPr/>
          </p:nvSpPr>
          <p:spPr bwMode="auto">
            <a:xfrm>
              <a:off x="7656513" y="1533525"/>
              <a:ext cx="268287" cy="3879850"/>
            </a:xfrm>
            <a:prstGeom prst="rect">
              <a:avLst/>
            </a:prstGeom>
            <a:solidFill>
              <a:srgbClr val="CC9900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1" name="Line 29"/>
            <p:cNvSpPr>
              <a:spLocks noChangeShapeType="1"/>
            </p:cNvSpPr>
            <p:nvPr/>
          </p:nvSpPr>
          <p:spPr bwMode="auto">
            <a:xfrm>
              <a:off x="4259263" y="1714500"/>
              <a:ext cx="0" cy="63182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" name="Line 30"/>
            <p:cNvSpPr>
              <a:spLocks noChangeShapeType="1"/>
            </p:cNvSpPr>
            <p:nvPr/>
          </p:nvSpPr>
          <p:spPr bwMode="auto">
            <a:xfrm>
              <a:off x="4795838" y="1714500"/>
              <a:ext cx="0" cy="63182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" name="Line 31"/>
            <p:cNvSpPr>
              <a:spLocks noChangeShapeType="1"/>
            </p:cNvSpPr>
            <p:nvPr/>
          </p:nvSpPr>
          <p:spPr bwMode="auto">
            <a:xfrm>
              <a:off x="4259263" y="1714500"/>
              <a:ext cx="5365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5" name="Line 39"/>
            <p:cNvSpPr>
              <a:spLocks noChangeShapeType="1"/>
            </p:cNvSpPr>
            <p:nvPr/>
          </p:nvSpPr>
          <p:spPr bwMode="auto">
            <a:xfrm>
              <a:off x="4259263" y="2616200"/>
              <a:ext cx="0" cy="162401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6" name="Line 40"/>
            <p:cNvSpPr>
              <a:spLocks noChangeShapeType="1"/>
            </p:cNvSpPr>
            <p:nvPr/>
          </p:nvSpPr>
          <p:spPr bwMode="auto">
            <a:xfrm>
              <a:off x="4795838" y="2616200"/>
              <a:ext cx="0" cy="162401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7" name="Line 41"/>
            <p:cNvSpPr>
              <a:spLocks noChangeShapeType="1"/>
            </p:cNvSpPr>
            <p:nvPr/>
          </p:nvSpPr>
          <p:spPr bwMode="auto">
            <a:xfrm>
              <a:off x="4259263" y="4511675"/>
              <a:ext cx="0" cy="63182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8" name="Line 42"/>
            <p:cNvSpPr>
              <a:spLocks noChangeShapeType="1"/>
            </p:cNvSpPr>
            <p:nvPr/>
          </p:nvSpPr>
          <p:spPr bwMode="auto">
            <a:xfrm>
              <a:off x="4795838" y="4511675"/>
              <a:ext cx="0" cy="63182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9" name="Line 43"/>
            <p:cNvSpPr>
              <a:spLocks noChangeShapeType="1"/>
            </p:cNvSpPr>
            <p:nvPr/>
          </p:nvSpPr>
          <p:spPr bwMode="auto">
            <a:xfrm>
              <a:off x="4259263" y="5143500"/>
              <a:ext cx="5365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0" name="Line 44"/>
            <p:cNvSpPr>
              <a:spLocks noChangeShapeType="1"/>
            </p:cNvSpPr>
            <p:nvPr/>
          </p:nvSpPr>
          <p:spPr bwMode="auto">
            <a:xfrm flipV="1">
              <a:off x="2292350" y="1354138"/>
              <a:ext cx="0" cy="3603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1" name="Line 45"/>
            <p:cNvSpPr>
              <a:spLocks noChangeShapeType="1"/>
            </p:cNvSpPr>
            <p:nvPr/>
          </p:nvSpPr>
          <p:spPr bwMode="auto">
            <a:xfrm flipV="1">
              <a:off x="3543300" y="1354138"/>
              <a:ext cx="0" cy="3603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" name="Line 46"/>
            <p:cNvSpPr>
              <a:spLocks noChangeShapeType="1"/>
            </p:cNvSpPr>
            <p:nvPr/>
          </p:nvSpPr>
          <p:spPr bwMode="auto">
            <a:xfrm flipV="1">
              <a:off x="5600700" y="1354138"/>
              <a:ext cx="0" cy="3603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" name="Line 47"/>
            <p:cNvSpPr>
              <a:spLocks noChangeShapeType="1"/>
            </p:cNvSpPr>
            <p:nvPr/>
          </p:nvSpPr>
          <p:spPr bwMode="auto">
            <a:xfrm flipV="1">
              <a:off x="6851650" y="1354138"/>
              <a:ext cx="0" cy="3603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" name="Line 48"/>
            <p:cNvSpPr>
              <a:spLocks noChangeShapeType="1"/>
            </p:cNvSpPr>
            <p:nvPr/>
          </p:nvSpPr>
          <p:spPr bwMode="auto">
            <a:xfrm>
              <a:off x="2292350" y="5143500"/>
              <a:ext cx="0" cy="3603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5" name="Line 49"/>
            <p:cNvSpPr>
              <a:spLocks noChangeShapeType="1"/>
            </p:cNvSpPr>
            <p:nvPr/>
          </p:nvSpPr>
          <p:spPr bwMode="auto">
            <a:xfrm>
              <a:off x="3543300" y="5143500"/>
              <a:ext cx="0" cy="3603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" name="Line 50"/>
            <p:cNvSpPr>
              <a:spLocks noChangeShapeType="1"/>
            </p:cNvSpPr>
            <p:nvPr/>
          </p:nvSpPr>
          <p:spPr bwMode="auto">
            <a:xfrm>
              <a:off x="5600700" y="5143500"/>
              <a:ext cx="0" cy="3603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7" name="Line 51"/>
            <p:cNvSpPr>
              <a:spLocks noChangeShapeType="1"/>
            </p:cNvSpPr>
            <p:nvPr/>
          </p:nvSpPr>
          <p:spPr bwMode="auto">
            <a:xfrm>
              <a:off x="6851650" y="5143500"/>
              <a:ext cx="0" cy="3603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8" name="Line 52"/>
            <p:cNvSpPr>
              <a:spLocks noChangeShapeType="1"/>
            </p:cNvSpPr>
            <p:nvPr/>
          </p:nvSpPr>
          <p:spPr bwMode="auto">
            <a:xfrm flipH="1">
              <a:off x="1487488" y="4962525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" name="Line 53"/>
            <p:cNvSpPr>
              <a:spLocks noChangeShapeType="1"/>
            </p:cNvSpPr>
            <p:nvPr/>
          </p:nvSpPr>
          <p:spPr bwMode="auto">
            <a:xfrm flipH="1">
              <a:off x="1487488" y="3789363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0" name="Line 54"/>
            <p:cNvSpPr>
              <a:spLocks noChangeShapeType="1"/>
            </p:cNvSpPr>
            <p:nvPr/>
          </p:nvSpPr>
          <p:spPr bwMode="auto">
            <a:xfrm flipH="1">
              <a:off x="1487488" y="1895475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1" name="Line 55"/>
            <p:cNvSpPr>
              <a:spLocks noChangeShapeType="1"/>
            </p:cNvSpPr>
            <p:nvPr/>
          </p:nvSpPr>
          <p:spPr bwMode="auto">
            <a:xfrm flipH="1">
              <a:off x="7208838" y="2436813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2" name="Line 56"/>
            <p:cNvSpPr>
              <a:spLocks noChangeShapeType="1"/>
            </p:cNvSpPr>
            <p:nvPr/>
          </p:nvSpPr>
          <p:spPr bwMode="auto">
            <a:xfrm flipH="1">
              <a:off x="7208838" y="4330700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" name="Line 57"/>
            <p:cNvSpPr>
              <a:spLocks noChangeShapeType="1"/>
            </p:cNvSpPr>
            <p:nvPr/>
          </p:nvSpPr>
          <p:spPr bwMode="auto">
            <a:xfrm>
              <a:off x="7208838" y="3789363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4" name="Line 58"/>
            <p:cNvSpPr>
              <a:spLocks noChangeShapeType="1"/>
            </p:cNvSpPr>
            <p:nvPr/>
          </p:nvSpPr>
          <p:spPr bwMode="auto">
            <a:xfrm>
              <a:off x="7208838" y="3067050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5" name="Line 59"/>
            <p:cNvSpPr>
              <a:spLocks noChangeShapeType="1"/>
            </p:cNvSpPr>
            <p:nvPr/>
          </p:nvSpPr>
          <p:spPr bwMode="auto">
            <a:xfrm>
              <a:off x="7208838" y="1984375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6" name="Line 60"/>
            <p:cNvSpPr>
              <a:spLocks noChangeShapeType="1"/>
            </p:cNvSpPr>
            <p:nvPr/>
          </p:nvSpPr>
          <p:spPr bwMode="auto">
            <a:xfrm>
              <a:off x="7208838" y="4962525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 61"/>
            <p:cNvSpPr>
              <a:spLocks noChangeShapeType="1"/>
            </p:cNvSpPr>
            <p:nvPr/>
          </p:nvSpPr>
          <p:spPr bwMode="auto">
            <a:xfrm>
              <a:off x="1487488" y="4330700"/>
              <a:ext cx="3571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Line 62"/>
            <p:cNvSpPr>
              <a:spLocks noChangeShapeType="1"/>
            </p:cNvSpPr>
            <p:nvPr/>
          </p:nvSpPr>
          <p:spPr bwMode="auto">
            <a:xfrm>
              <a:off x="1487488" y="2436813"/>
              <a:ext cx="3571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9" name="Line 63"/>
            <p:cNvSpPr>
              <a:spLocks noChangeShapeType="1"/>
            </p:cNvSpPr>
            <p:nvPr/>
          </p:nvSpPr>
          <p:spPr bwMode="auto">
            <a:xfrm>
              <a:off x="2292350" y="216535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Line 64"/>
            <p:cNvSpPr>
              <a:spLocks noChangeShapeType="1"/>
            </p:cNvSpPr>
            <p:nvPr/>
          </p:nvSpPr>
          <p:spPr bwMode="auto">
            <a:xfrm>
              <a:off x="3543300" y="216535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1" name="Line 65"/>
            <p:cNvSpPr>
              <a:spLocks noChangeShapeType="1"/>
            </p:cNvSpPr>
            <p:nvPr/>
          </p:nvSpPr>
          <p:spPr bwMode="auto">
            <a:xfrm>
              <a:off x="5600700" y="216535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2" name="Line 66"/>
            <p:cNvSpPr>
              <a:spLocks noChangeShapeType="1"/>
            </p:cNvSpPr>
            <p:nvPr/>
          </p:nvSpPr>
          <p:spPr bwMode="auto">
            <a:xfrm>
              <a:off x="6851650" y="216535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" name="Line 67"/>
            <p:cNvSpPr>
              <a:spLocks noChangeShapeType="1"/>
            </p:cNvSpPr>
            <p:nvPr/>
          </p:nvSpPr>
          <p:spPr bwMode="auto">
            <a:xfrm>
              <a:off x="6851650" y="261620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4" name="Line 68"/>
            <p:cNvSpPr>
              <a:spLocks noChangeShapeType="1"/>
            </p:cNvSpPr>
            <p:nvPr/>
          </p:nvSpPr>
          <p:spPr bwMode="auto">
            <a:xfrm>
              <a:off x="6851650" y="4060825"/>
              <a:ext cx="0" cy="1793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5" name="Line 69"/>
            <p:cNvSpPr>
              <a:spLocks noChangeShapeType="1"/>
            </p:cNvSpPr>
            <p:nvPr/>
          </p:nvSpPr>
          <p:spPr bwMode="auto">
            <a:xfrm>
              <a:off x="2292350" y="261620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6" name="Line 70"/>
            <p:cNvSpPr>
              <a:spLocks noChangeShapeType="1"/>
            </p:cNvSpPr>
            <p:nvPr/>
          </p:nvSpPr>
          <p:spPr bwMode="auto">
            <a:xfrm>
              <a:off x="3543300" y="261620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7" name="Line 71"/>
            <p:cNvSpPr>
              <a:spLocks noChangeShapeType="1"/>
            </p:cNvSpPr>
            <p:nvPr/>
          </p:nvSpPr>
          <p:spPr bwMode="auto">
            <a:xfrm>
              <a:off x="5600700" y="261620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8" name="Line 72"/>
            <p:cNvSpPr>
              <a:spLocks noChangeShapeType="1"/>
            </p:cNvSpPr>
            <p:nvPr/>
          </p:nvSpPr>
          <p:spPr bwMode="auto">
            <a:xfrm>
              <a:off x="5600700" y="4060825"/>
              <a:ext cx="0" cy="1793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9" name="Line 73"/>
            <p:cNvSpPr>
              <a:spLocks noChangeShapeType="1"/>
            </p:cNvSpPr>
            <p:nvPr/>
          </p:nvSpPr>
          <p:spPr bwMode="auto">
            <a:xfrm>
              <a:off x="3543300" y="4060825"/>
              <a:ext cx="0" cy="1793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0" name="Line 74"/>
            <p:cNvSpPr>
              <a:spLocks noChangeShapeType="1"/>
            </p:cNvSpPr>
            <p:nvPr/>
          </p:nvSpPr>
          <p:spPr bwMode="auto">
            <a:xfrm>
              <a:off x="2292350" y="4060825"/>
              <a:ext cx="0" cy="1793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1" name="Line 75"/>
            <p:cNvSpPr>
              <a:spLocks noChangeShapeType="1"/>
            </p:cNvSpPr>
            <p:nvPr/>
          </p:nvSpPr>
          <p:spPr bwMode="auto">
            <a:xfrm>
              <a:off x="2292350" y="4511675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2" name="Line 76"/>
            <p:cNvSpPr>
              <a:spLocks noChangeShapeType="1"/>
            </p:cNvSpPr>
            <p:nvPr/>
          </p:nvSpPr>
          <p:spPr bwMode="auto">
            <a:xfrm>
              <a:off x="3543300" y="4511675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3" name="Line 77"/>
            <p:cNvSpPr>
              <a:spLocks noChangeShapeType="1"/>
            </p:cNvSpPr>
            <p:nvPr/>
          </p:nvSpPr>
          <p:spPr bwMode="auto">
            <a:xfrm>
              <a:off x="5600700" y="4511675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4" name="Line 78"/>
            <p:cNvSpPr>
              <a:spLocks noChangeShapeType="1"/>
            </p:cNvSpPr>
            <p:nvPr/>
          </p:nvSpPr>
          <p:spPr bwMode="auto">
            <a:xfrm>
              <a:off x="6851650" y="4511675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5" name="Text Box 80"/>
            <p:cNvSpPr txBox="1">
              <a:spLocks noChangeArrowheads="1"/>
            </p:cNvSpPr>
            <p:nvPr/>
          </p:nvSpPr>
          <p:spPr bwMode="auto">
            <a:xfrm>
              <a:off x="4387850" y="2797175"/>
              <a:ext cx="336550" cy="1006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Tahoma" panose="020B0604030504040204" pitchFamily="34" charset="0"/>
                </a:rPr>
                <a:t>P</a:t>
              </a:r>
              <a:endParaRPr kumimoji="1" lang="en-US" altLang="zh-CN" sz="2000">
                <a:latin typeface="Tahoma" panose="020B0604030504040204" pitchFamily="34" charset="0"/>
              </a:endParaRPr>
            </a:p>
            <a:p>
              <a:pPr eaLnBrk="1" hangingPunct="1"/>
              <a:r>
                <a:rPr kumimoji="1" lang="en-US" altLang="zh-CN" sz="2000">
                  <a:latin typeface="Tahoma" panose="020B0604030504040204" pitchFamily="34" charset="0"/>
                </a:rPr>
                <a:t>I</a:t>
              </a:r>
              <a:endParaRPr kumimoji="1" lang="en-US" altLang="zh-CN" sz="2000">
                <a:latin typeface="Tahoma" panose="020B0604030504040204" pitchFamily="34" charset="0"/>
              </a:endParaRPr>
            </a:p>
            <a:p>
              <a:pPr eaLnBrk="1" hangingPunct="1"/>
              <a:r>
                <a:rPr kumimoji="1" lang="en-US" altLang="zh-CN" sz="2000">
                  <a:latin typeface="Tahoma" panose="020B0604030504040204" pitchFamily="34" charset="0"/>
                </a:rPr>
                <a:t>A</a:t>
              </a:r>
              <a:endParaRPr kumimoji="1" lang="en-US" altLang="zh-CN" sz="2000">
                <a:latin typeface="Tahoma" panose="020B0604030504040204" pitchFamily="34" charset="0"/>
              </a:endParaRPr>
            </a:p>
          </p:txBody>
        </p:sp>
      </p:grpSp>
      <p:sp>
        <p:nvSpPr>
          <p:cNvPr id="3" name="对话气泡: 矩形 2"/>
          <p:cNvSpPr/>
          <p:nvPr/>
        </p:nvSpPr>
        <p:spPr bwMode="auto">
          <a:xfrm>
            <a:off x="171795" y="1583871"/>
            <a:ext cx="1114075" cy="830997"/>
          </a:xfrm>
          <a:prstGeom prst="wedgeRectCallout">
            <a:avLst>
              <a:gd name="adj1" fmla="val 115038"/>
              <a:gd name="adj2" fmla="val 160968"/>
            </a:avLst>
          </a:prstGeom>
          <a:noFill/>
          <a:ln w="22225">
            <a:solidFill>
              <a:schemeClr val="accent6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0000"/>
                </a:solidFill>
              </a:rPr>
              <a:t>逻辑阵列块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32629" y="1168513"/>
            <a:ext cx="7321622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由若干个可编程</a:t>
            </a:r>
            <a:r>
              <a:rPr lang="zh-CN" altLang="en-US" sz="24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逻辑宏单元</a:t>
            </a:r>
            <a:r>
              <a:rPr lang="zh-CN" altLang="en-US" sz="24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LMC</a:t>
            </a:r>
            <a:r>
              <a:rPr lang="zh-CN" altLang="en-US" sz="24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）组成， </a:t>
            </a:r>
            <a:r>
              <a:rPr lang="en-US" altLang="zh-CN" sz="24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LMC</a:t>
            </a:r>
            <a:r>
              <a:rPr lang="zh-CN" altLang="en-US" sz="24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内部主要包括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与阵列</a:t>
            </a:r>
            <a:r>
              <a:rPr lang="zh-CN" altLang="en-US" sz="24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或阵列</a:t>
            </a:r>
            <a:r>
              <a:rPr lang="zh-CN" altLang="en-US" sz="24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、可编程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r>
              <a:rPr lang="zh-CN" altLang="en-US" sz="24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和多路选择器等，能独立地配置为时序或组合工作方式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 rot="16200000">
            <a:off x="1299634" y="4216086"/>
            <a:ext cx="4924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" name="矩形 72"/>
          <p:cNvSpPr/>
          <p:nvPr/>
        </p:nvSpPr>
        <p:spPr>
          <a:xfrm rot="16200000">
            <a:off x="6538252" y="4359375"/>
            <a:ext cx="4924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4" y="50071"/>
            <a:ext cx="505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复杂可编程逻辑器件</a:t>
            </a: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CPLD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435167" y="925342"/>
            <a:ext cx="5458501" cy="3361588"/>
            <a:chOff x="1219200" y="1082675"/>
            <a:chExt cx="6705600" cy="4692650"/>
          </a:xfrm>
        </p:grpSpPr>
        <p:sp>
          <p:nvSpPr>
            <p:cNvPr id="90" name="Text Box 2"/>
            <p:cNvSpPr txBox="1">
              <a:spLocks noChangeArrowheads="1"/>
            </p:cNvSpPr>
            <p:nvPr/>
          </p:nvSpPr>
          <p:spPr bwMode="auto">
            <a:xfrm>
              <a:off x="1935163" y="1714500"/>
              <a:ext cx="714375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1" name="Text Box 3"/>
            <p:cNvSpPr txBox="1">
              <a:spLocks noChangeArrowheads="1"/>
            </p:cNvSpPr>
            <p:nvPr/>
          </p:nvSpPr>
          <p:spPr bwMode="auto">
            <a:xfrm>
              <a:off x="3186113" y="1714500"/>
              <a:ext cx="715962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" name="Text Box 4"/>
            <p:cNvSpPr txBox="1">
              <a:spLocks noChangeArrowheads="1"/>
            </p:cNvSpPr>
            <p:nvPr/>
          </p:nvSpPr>
          <p:spPr bwMode="auto">
            <a:xfrm>
              <a:off x="5241925" y="1714500"/>
              <a:ext cx="715963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" name="Text Box 5"/>
            <p:cNvSpPr txBox="1">
              <a:spLocks noChangeArrowheads="1"/>
            </p:cNvSpPr>
            <p:nvPr/>
          </p:nvSpPr>
          <p:spPr bwMode="auto">
            <a:xfrm>
              <a:off x="6494463" y="1714500"/>
              <a:ext cx="714375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" name="Text Box 6"/>
            <p:cNvSpPr txBox="1">
              <a:spLocks noChangeArrowheads="1"/>
            </p:cNvSpPr>
            <p:nvPr/>
          </p:nvSpPr>
          <p:spPr bwMode="auto">
            <a:xfrm>
              <a:off x="1935163" y="2797175"/>
              <a:ext cx="714375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5" name="Text Box 7"/>
            <p:cNvSpPr txBox="1">
              <a:spLocks noChangeArrowheads="1"/>
            </p:cNvSpPr>
            <p:nvPr/>
          </p:nvSpPr>
          <p:spPr bwMode="auto">
            <a:xfrm>
              <a:off x="3186113" y="2797175"/>
              <a:ext cx="715962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6" name="Text Box 8"/>
            <p:cNvSpPr txBox="1">
              <a:spLocks noChangeArrowheads="1"/>
            </p:cNvSpPr>
            <p:nvPr/>
          </p:nvSpPr>
          <p:spPr bwMode="auto">
            <a:xfrm>
              <a:off x="5241925" y="2797175"/>
              <a:ext cx="715963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" name="Text Box 9"/>
            <p:cNvSpPr txBox="1">
              <a:spLocks noChangeArrowheads="1"/>
            </p:cNvSpPr>
            <p:nvPr/>
          </p:nvSpPr>
          <p:spPr bwMode="auto">
            <a:xfrm>
              <a:off x="6494463" y="2797175"/>
              <a:ext cx="714375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" name="Text Box 10"/>
            <p:cNvSpPr txBox="1">
              <a:spLocks noChangeArrowheads="1"/>
            </p:cNvSpPr>
            <p:nvPr/>
          </p:nvSpPr>
          <p:spPr bwMode="auto">
            <a:xfrm>
              <a:off x="1935163" y="3608388"/>
              <a:ext cx="714375" cy="385762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" name="Text Box 11"/>
            <p:cNvSpPr txBox="1">
              <a:spLocks noChangeArrowheads="1"/>
            </p:cNvSpPr>
            <p:nvPr/>
          </p:nvSpPr>
          <p:spPr bwMode="auto">
            <a:xfrm>
              <a:off x="3186113" y="3608388"/>
              <a:ext cx="715962" cy="385762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0" name="Text Box 12"/>
            <p:cNvSpPr txBox="1">
              <a:spLocks noChangeArrowheads="1"/>
            </p:cNvSpPr>
            <p:nvPr/>
          </p:nvSpPr>
          <p:spPr bwMode="auto">
            <a:xfrm>
              <a:off x="5241925" y="3608388"/>
              <a:ext cx="715963" cy="385762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1" name="Text Box 13"/>
            <p:cNvSpPr txBox="1">
              <a:spLocks noChangeArrowheads="1"/>
            </p:cNvSpPr>
            <p:nvPr/>
          </p:nvSpPr>
          <p:spPr bwMode="auto">
            <a:xfrm>
              <a:off x="6494463" y="3608388"/>
              <a:ext cx="714375" cy="385762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" name="Text Box 14"/>
            <p:cNvSpPr txBox="1">
              <a:spLocks noChangeArrowheads="1"/>
            </p:cNvSpPr>
            <p:nvPr/>
          </p:nvSpPr>
          <p:spPr bwMode="auto">
            <a:xfrm>
              <a:off x="1935163" y="4692650"/>
              <a:ext cx="714375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" name="Text Box 15"/>
            <p:cNvSpPr txBox="1">
              <a:spLocks noChangeArrowheads="1"/>
            </p:cNvSpPr>
            <p:nvPr/>
          </p:nvSpPr>
          <p:spPr bwMode="auto">
            <a:xfrm>
              <a:off x="3186113" y="4692650"/>
              <a:ext cx="715962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" name="Text Box 16"/>
            <p:cNvSpPr txBox="1">
              <a:spLocks noChangeArrowheads="1"/>
            </p:cNvSpPr>
            <p:nvPr/>
          </p:nvSpPr>
          <p:spPr bwMode="auto">
            <a:xfrm>
              <a:off x="5241925" y="4692650"/>
              <a:ext cx="715963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" name="Text Box 17"/>
            <p:cNvSpPr txBox="1">
              <a:spLocks noChangeArrowheads="1"/>
            </p:cNvSpPr>
            <p:nvPr/>
          </p:nvSpPr>
          <p:spPr bwMode="auto">
            <a:xfrm>
              <a:off x="6494463" y="4692650"/>
              <a:ext cx="714375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" name="Rectangle 18"/>
            <p:cNvSpPr>
              <a:spLocks noChangeArrowheads="1"/>
            </p:cNvSpPr>
            <p:nvPr/>
          </p:nvSpPr>
          <p:spPr bwMode="auto">
            <a:xfrm>
              <a:off x="1935163" y="1082675"/>
              <a:ext cx="5273675" cy="271463"/>
            </a:xfrm>
            <a:prstGeom prst="rect">
              <a:avLst/>
            </a:prstGeom>
            <a:solidFill>
              <a:srgbClr val="CC9900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I/O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7" name="Rectangle 19"/>
            <p:cNvSpPr>
              <a:spLocks noChangeArrowheads="1"/>
            </p:cNvSpPr>
            <p:nvPr/>
          </p:nvSpPr>
          <p:spPr bwMode="auto">
            <a:xfrm>
              <a:off x="2024063" y="5503863"/>
              <a:ext cx="5275262" cy="271462"/>
            </a:xfrm>
            <a:prstGeom prst="rect">
              <a:avLst/>
            </a:prstGeom>
            <a:solidFill>
              <a:srgbClr val="CC9900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dirty="0">
                  <a:solidFill>
                    <a:srgbClr val="000000"/>
                  </a:solidFill>
                </a:rPr>
                <a:t>I/O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" name="Rectangle 20"/>
            <p:cNvSpPr>
              <a:spLocks noChangeArrowheads="1"/>
            </p:cNvSpPr>
            <p:nvPr/>
          </p:nvSpPr>
          <p:spPr bwMode="auto">
            <a:xfrm>
              <a:off x="1219200" y="1533525"/>
              <a:ext cx="268288" cy="3879850"/>
            </a:xfrm>
            <a:prstGeom prst="rect">
              <a:avLst/>
            </a:prstGeom>
            <a:solidFill>
              <a:srgbClr val="CC9900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" name="Rectangle 21"/>
            <p:cNvSpPr>
              <a:spLocks noChangeArrowheads="1"/>
            </p:cNvSpPr>
            <p:nvPr/>
          </p:nvSpPr>
          <p:spPr bwMode="auto">
            <a:xfrm>
              <a:off x="7656513" y="1533525"/>
              <a:ext cx="268287" cy="3879850"/>
            </a:xfrm>
            <a:prstGeom prst="rect">
              <a:avLst/>
            </a:prstGeom>
            <a:solidFill>
              <a:srgbClr val="CC9900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1" name="Line 29"/>
            <p:cNvSpPr>
              <a:spLocks noChangeShapeType="1"/>
            </p:cNvSpPr>
            <p:nvPr/>
          </p:nvSpPr>
          <p:spPr bwMode="auto">
            <a:xfrm>
              <a:off x="4259263" y="1714500"/>
              <a:ext cx="0" cy="63182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" name="Line 30"/>
            <p:cNvSpPr>
              <a:spLocks noChangeShapeType="1"/>
            </p:cNvSpPr>
            <p:nvPr/>
          </p:nvSpPr>
          <p:spPr bwMode="auto">
            <a:xfrm>
              <a:off x="4795838" y="1714500"/>
              <a:ext cx="0" cy="63182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" name="Line 31"/>
            <p:cNvSpPr>
              <a:spLocks noChangeShapeType="1"/>
            </p:cNvSpPr>
            <p:nvPr/>
          </p:nvSpPr>
          <p:spPr bwMode="auto">
            <a:xfrm>
              <a:off x="4259263" y="1714500"/>
              <a:ext cx="5365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5" name="Line 39"/>
            <p:cNvSpPr>
              <a:spLocks noChangeShapeType="1"/>
            </p:cNvSpPr>
            <p:nvPr/>
          </p:nvSpPr>
          <p:spPr bwMode="auto">
            <a:xfrm>
              <a:off x="4259263" y="2616200"/>
              <a:ext cx="0" cy="162401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6" name="Line 40"/>
            <p:cNvSpPr>
              <a:spLocks noChangeShapeType="1"/>
            </p:cNvSpPr>
            <p:nvPr/>
          </p:nvSpPr>
          <p:spPr bwMode="auto">
            <a:xfrm>
              <a:off x="4795838" y="2616200"/>
              <a:ext cx="0" cy="162401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7" name="Line 41"/>
            <p:cNvSpPr>
              <a:spLocks noChangeShapeType="1"/>
            </p:cNvSpPr>
            <p:nvPr/>
          </p:nvSpPr>
          <p:spPr bwMode="auto">
            <a:xfrm>
              <a:off x="4259263" y="4511675"/>
              <a:ext cx="0" cy="63182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8" name="Line 42"/>
            <p:cNvSpPr>
              <a:spLocks noChangeShapeType="1"/>
            </p:cNvSpPr>
            <p:nvPr/>
          </p:nvSpPr>
          <p:spPr bwMode="auto">
            <a:xfrm>
              <a:off x="4795838" y="4511675"/>
              <a:ext cx="0" cy="63182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9" name="Line 43"/>
            <p:cNvSpPr>
              <a:spLocks noChangeShapeType="1"/>
            </p:cNvSpPr>
            <p:nvPr/>
          </p:nvSpPr>
          <p:spPr bwMode="auto">
            <a:xfrm>
              <a:off x="4259263" y="5143500"/>
              <a:ext cx="5365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0" name="Line 44"/>
            <p:cNvSpPr>
              <a:spLocks noChangeShapeType="1"/>
            </p:cNvSpPr>
            <p:nvPr/>
          </p:nvSpPr>
          <p:spPr bwMode="auto">
            <a:xfrm flipV="1">
              <a:off x="2292350" y="1354138"/>
              <a:ext cx="0" cy="3603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1" name="Line 45"/>
            <p:cNvSpPr>
              <a:spLocks noChangeShapeType="1"/>
            </p:cNvSpPr>
            <p:nvPr/>
          </p:nvSpPr>
          <p:spPr bwMode="auto">
            <a:xfrm flipV="1">
              <a:off x="3543300" y="1354138"/>
              <a:ext cx="0" cy="3603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" name="Line 46"/>
            <p:cNvSpPr>
              <a:spLocks noChangeShapeType="1"/>
            </p:cNvSpPr>
            <p:nvPr/>
          </p:nvSpPr>
          <p:spPr bwMode="auto">
            <a:xfrm flipV="1">
              <a:off x="5600700" y="1354138"/>
              <a:ext cx="0" cy="3603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" name="Line 47"/>
            <p:cNvSpPr>
              <a:spLocks noChangeShapeType="1"/>
            </p:cNvSpPr>
            <p:nvPr/>
          </p:nvSpPr>
          <p:spPr bwMode="auto">
            <a:xfrm flipV="1">
              <a:off x="6851650" y="1354138"/>
              <a:ext cx="0" cy="3603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" name="Line 48"/>
            <p:cNvSpPr>
              <a:spLocks noChangeShapeType="1"/>
            </p:cNvSpPr>
            <p:nvPr/>
          </p:nvSpPr>
          <p:spPr bwMode="auto">
            <a:xfrm>
              <a:off x="2292350" y="5143500"/>
              <a:ext cx="0" cy="3603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5" name="Line 49"/>
            <p:cNvSpPr>
              <a:spLocks noChangeShapeType="1"/>
            </p:cNvSpPr>
            <p:nvPr/>
          </p:nvSpPr>
          <p:spPr bwMode="auto">
            <a:xfrm>
              <a:off x="3543300" y="5143500"/>
              <a:ext cx="0" cy="3603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" name="Line 50"/>
            <p:cNvSpPr>
              <a:spLocks noChangeShapeType="1"/>
            </p:cNvSpPr>
            <p:nvPr/>
          </p:nvSpPr>
          <p:spPr bwMode="auto">
            <a:xfrm>
              <a:off x="5600700" y="5143500"/>
              <a:ext cx="0" cy="3603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7" name="Line 51"/>
            <p:cNvSpPr>
              <a:spLocks noChangeShapeType="1"/>
            </p:cNvSpPr>
            <p:nvPr/>
          </p:nvSpPr>
          <p:spPr bwMode="auto">
            <a:xfrm>
              <a:off x="6851650" y="5143500"/>
              <a:ext cx="0" cy="3603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8" name="Line 52"/>
            <p:cNvSpPr>
              <a:spLocks noChangeShapeType="1"/>
            </p:cNvSpPr>
            <p:nvPr/>
          </p:nvSpPr>
          <p:spPr bwMode="auto">
            <a:xfrm flipH="1">
              <a:off x="1487488" y="4962525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" name="Line 53"/>
            <p:cNvSpPr>
              <a:spLocks noChangeShapeType="1"/>
            </p:cNvSpPr>
            <p:nvPr/>
          </p:nvSpPr>
          <p:spPr bwMode="auto">
            <a:xfrm flipH="1">
              <a:off x="1487488" y="3789363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0" name="Line 54"/>
            <p:cNvSpPr>
              <a:spLocks noChangeShapeType="1"/>
            </p:cNvSpPr>
            <p:nvPr/>
          </p:nvSpPr>
          <p:spPr bwMode="auto">
            <a:xfrm flipH="1">
              <a:off x="1487488" y="1895475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1" name="Line 55"/>
            <p:cNvSpPr>
              <a:spLocks noChangeShapeType="1"/>
            </p:cNvSpPr>
            <p:nvPr/>
          </p:nvSpPr>
          <p:spPr bwMode="auto">
            <a:xfrm flipH="1">
              <a:off x="7208838" y="2436813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2" name="Line 56"/>
            <p:cNvSpPr>
              <a:spLocks noChangeShapeType="1"/>
            </p:cNvSpPr>
            <p:nvPr/>
          </p:nvSpPr>
          <p:spPr bwMode="auto">
            <a:xfrm flipH="1">
              <a:off x="7208838" y="4330700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" name="Line 57"/>
            <p:cNvSpPr>
              <a:spLocks noChangeShapeType="1"/>
            </p:cNvSpPr>
            <p:nvPr/>
          </p:nvSpPr>
          <p:spPr bwMode="auto">
            <a:xfrm>
              <a:off x="7208838" y="3789363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4" name="Line 58"/>
            <p:cNvSpPr>
              <a:spLocks noChangeShapeType="1"/>
            </p:cNvSpPr>
            <p:nvPr/>
          </p:nvSpPr>
          <p:spPr bwMode="auto">
            <a:xfrm>
              <a:off x="7208838" y="3067050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5" name="Line 59"/>
            <p:cNvSpPr>
              <a:spLocks noChangeShapeType="1"/>
            </p:cNvSpPr>
            <p:nvPr/>
          </p:nvSpPr>
          <p:spPr bwMode="auto">
            <a:xfrm>
              <a:off x="7208838" y="1984375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6" name="Line 60"/>
            <p:cNvSpPr>
              <a:spLocks noChangeShapeType="1"/>
            </p:cNvSpPr>
            <p:nvPr/>
          </p:nvSpPr>
          <p:spPr bwMode="auto">
            <a:xfrm>
              <a:off x="7208838" y="4962525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 61"/>
            <p:cNvSpPr>
              <a:spLocks noChangeShapeType="1"/>
            </p:cNvSpPr>
            <p:nvPr/>
          </p:nvSpPr>
          <p:spPr bwMode="auto">
            <a:xfrm>
              <a:off x="1487488" y="4330700"/>
              <a:ext cx="3571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Line 62"/>
            <p:cNvSpPr>
              <a:spLocks noChangeShapeType="1"/>
            </p:cNvSpPr>
            <p:nvPr/>
          </p:nvSpPr>
          <p:spPr bwMode="auto">
            <a:xfrm>
              <a:off x="1487488" y="2436813"/>
              <a:ext cx="3571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9" name="Line 63"/>
            <p:cNvSpPr>
              <a:spLocks noChangeShapeType="1"/>
            </p:cNvSpPr>
            <p:nvPr/>
          </p:nvSpPr>
          <p:spPr bwMode="auto">
            <a:xfrm>
              <a:off x="2292350" y="216535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Line 64"/>
            <p:cNvSpPr>
              <a:spLocks noChangeShapeType="1"/>
            </p:cNvSpPr>
            <p:nvPr/>
          </p:nvSpPr>
          <p:spPr bwMode="auto">
            <a:xfrm>
              <a:off x="3543300" y="216535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1" name="Line 65"/>
            <p:cNvSpPr>
              <a:spLocks noChangeShapeType="1"/>
            </p:cNvSpPr>
            <p:nvPr/>
          </p:nvSpPr>
          <p:spPr bwMode="auto">
            <a:xfrm>
              <a:off x="5600700" y="216535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2" name="Line 66"/>
            <p:cNvSpPr>
              <a:spLocks noChangeShapeType="1"/>
            </p:cNvSpPr>
            <p:nvPr/>
          </p:nvSpPr>
          <p:spPr bwMode="auto">
            <a:xfrm>
              <a:off x="6851650" y="216535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" name="Line 67"/>
            <p:cNvSpPr>
              <a:spLocks noChangeShapeType="1"/>
            </p:cNvSpPr>
            <p:nvPr/>
          </p:nvSpPr>
          <p:spPr bwMode="auto">
            <a:xfrm>
              <a:off x="6851650" y="261620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4" name="Line 68"/>
            <p:cNvSpPr>
              <a:spLocks noChangeShapeType="1"/>
            </p:cNvSpPr>
            <p:nvPr/>
          </p:nvSpPr>
          <p:spPr bwMode="auto">
            <a:xfrm>
              <a:off x="6851650" y="4060825"/>
              <a:ext cx="0" cy="1793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5" name="Line 69"/>
            <p:cNvSpPr>
              <a:spLocks noChangeShapeType="1"/>
            </p:cNvSpPr>
            <p:nvPr/>
          </p:nvSpPr>
          <p:spPr bwMode="auto">
            <a:xfrm>
              <a:off x="2292350" y="261620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6" name="Line 70"/>
            <p:cNvSpPr>
              <a:spLocks noChangeShapeType="1"/>
            </p:cNvSpPr>
            <p:nvPr/>
          </p:nvSpPr>
          <p:spPr bwMode="auto">
            <a:xfrm>
              <a:off x="3543300" y="261620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7" name="Line 71"/>
            <p:cNvSpPr>
              <a:spLocks noChangeShapeType="1"/>
            </p:cNvSpPr>
            <p:nvPr/>
          </p:nvSpPr>
          <p:spPr bwMode="auto">
            <a:xfrm>
              <a:off x="5600700" y="261620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8" name="Line 72"/>
            <p:cNvSpPr>
              <a:spLocks noChangeShapeType="1"/>
            </p:cNvSpPr>
            <p:nvPr/>
          </p:nvSpPr>
          <p:spPr bwMode="auto">
            <a:xfrm>
              <a:off x="5600700" y="4060825"/>
              <a:ext cx="0" cy="1793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9" name="Line 73"/>
            <p:cNvSpPr>
              <a:spLocks noChangeShapeType="1"/>
            </p:cNvSpPr>
            <p:nvPr/>
          </p:nvSpPr>
          <p:spPr bwMode="auto">
            <a:xfrm>
              <a:off x="3543300" y="4060825"/>
              <a:ext cx="0" cy="1793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0" name="Line 74"/>
            <p:cNvSpPr>
              <a:spLocks noChangeShapeType="1"/>
            </p:cNvSpPr>
            <p:nvPr/>
          </p:nvSpPr>
          <p:spPr bwMode="auto">
            <a:xfrm>
              <a:off x="2292350" y="4060825"/>
              <a:ext cx="0" cy="1793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1" name="Line 75"/>
            <p:cNvSpPr>
              <a:spLocks noChangeShapeType="1"/>
            </p:cNvSpPr>
            <p:nvPr/>
          </p:nvSpPr>
          <p:spPr bwMode="auto">
            <a:xfrm>
              <a:off x="2292350" y="4511675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2" name="Line 76"/>
            <p:cNvSpPr>
              <a:spLocks noChangeShapeType="1"/>
            </p:cNvSpPr>
            <p:nvPr/>
          </p:nvSpPr>
          <p:spPr bwMode="auto">
            <a:xfrm>
              <a:off x="3543300" y="4511675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3" name="Line 77"/>
            <p:cNvSpPr>
              <a:spLocks noChangeShapeType="1"/>
            </p:cNvSpPr>
            <p:nvPr/>
          </p:nvSpPr>
          <p:spPr bwMode="auto">
            <a:xfrm>
              <a:off x="5600700" y="4511675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4" name="Line 78"/>
            <p:cNvSpPr>
              <a:spLocks noChangeShapeType="1"/>
            </p:cNvSpPr>
            <p:nvPr/>
          </p:nvSpPr>
          <p:spPr bwMode="auto">
            <a:xfrm>
              <a:off x="6851650" y="4511675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5" name="Text Box 80"/>
            <p:cNvSpPr txBox="1">
              <a:spLocks noChangeArrowheads="1"/>
            </p:cNvSpPr>
            <p:nvPr/>
          </p:nvSpPr>
          <p:spPr bwMode="auto">
            <a:xfrm>
              <a:off x="4387850" y="2797175"/>
              <a:ext cx="336550" cy="1006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Tahoma" panose="020B0604030504040204" pitchFamily="34" charset="0"/>
                </a:rPr>
                <a:t>P</a:t>
              </a:r>
              <a:endParaRPr kumimoji="1" lang="en-US" altLang="zh-CN" sz="2000">
                <a:latin typeface="Tahoma" panose="020B0604030504040204" pitchFamily="34" charset="0"/>
              </a:endParaRPr>
            </a:p>
            <a:p>
              <a:pPr eaLnBrk="1" hangingPunct="1"/>
              <a:r>
                <a:rPr kumimoji="1" lang="en-US" altLang="zh-CN" sz="2000">
                  <a:latin typeface="Tahoma" panose="020B0604030504040204" pitchFamily="34" charset="0"/>
                </a:rPr>
                <a:t>I</a:t>
              </a:r>
              <a:endParaRPr kumimoji="1" lang="en-US" altLang="zh-CN" sz="2000">
                <a:latin typeface="Tahoma" panose="020B0604030504040204" pitchFamily="34" charset="0"/>
              </a:endParaRPr>
            </a:p>
            <a:p>
              <a:pPr eaLnBrk="1" hangingPunct="1"/>
              <a:r>
                <a:rPr kumimoji="1" lang="en-US" altLang="zh-CN" sz="2000">
                  <a:latin typeface="Tahoma" panose="020B0604030504040204" pitchFamily="34" charset="0"/>
                </a:rPr>
                <a:t>A</a:t>
              </a:r>
              <a:endParaRPr kumimoji="1" lang="en-US" altLang="zh-CN" sz="2000">
                <a:latin typeface="Tahoma" panose="020B0604030504040204" pitchFamily="34" charset="0"/>
              </a:endParaRPr>
            </a:p>
          </p:txBody>
        </p:sp>
      </p:grpSp>
      <p:sp>
        <p:nvSpPr>
          <p:cNvPr id="4" name="对话气泡: 矩形 3"/>
          <p:cNvSpPr/>
          <p:nvPr/>
        </p:nvSpPr>
        <p:spPr bwMode="auto">
          <a:xfrm>
            <a:off x="235152" y="4535560"/>
            <a:ext cx="964862" cy="830997"/>
          </a:xfrm>
          <a:prstGeom prst="wedgeRectCallout">
            <a:avLst>
              <a:gd name="adj1" fmla="val 232211"/>
              <a:gd name="adj2" fmla="val -85162"/>
            </a:avLst>
          </a:prstGeom>
          <a:noFill/>
          <a:ln w="22225">
            <a:solidFill>
              <a:schemeClr val="accent4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FF0000"/>
                </a:solidFill>
              </a:rPr>
              <a:t>I/O</a:t>
            </a:r>
            <a:r>
              <a:rPr lang="zh-CN" altLang="en-US" sz="2400" b="1" dirty="0">
                <a:solidFill>
                  <a:srgbClr val="FF0000"/>
                </a:solidFill>
              </a:rPr>
              <a:t>控制块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35167" y="4951059"/>
            <a:ext cx="7458040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I/O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单元是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CPLD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外部封装引脚和内部逻辑间的接口。每个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I/O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单元对应一个封装引脚，对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I/O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单元编程，可将引脚定义为输入、输出和双向功能</a:t>
            </a:r>
            <a:endParaRPr lang="zh-CN" altLang="en-US" sz="2400" b="1" dirty="0"/>
          </a:p>
        </p:txBody>
      </p:sp>
      <p:sp>
        <p:nvSpPr>
          <p:cNvPr id="72" name="矩形 71"/>
          <p:cNvSpPr/>
          <p:nvPr/>
        </p:nvSpPr>
        <p:spPr>
          <a:xfrm rot="16200000">
            <a:off x="1284570" y="2392274"/>
            <a:ext cx="4924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" name="矩形 72"/>
          <p:cNvSpPr/>
          <p:nvPr/>
        </p:nvSpPr>
        <p:spPr>
          <a:xfrm rot="16200000">
            <a:off x="6538251" y="2291260"/>
            <a:ext cx="4924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4" y="50071"/>
            <a:ext cx="505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复杂可编程逻辑器件</a:t>
            </a: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CPLD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543399" y="1884076"/>
            <a:ext cx="5458501" cy="3361588"/>
            <a:chOff x="1219200" y="1082675"/>
            <a:chExt cx="6705600" cy="4692650"/>
          </a:xfrm>
        </p:grpSpPr>
        <p:sp>
          <p:nvSpPr>
            <p:cNvPr id="90" name="Text Box 2"/>
            <p:cNvSpPr txBox="1">
              <a:spLocks noChangeArrowheads="1"/>
            </p:cNvSpPr>
            <p:nvPr/>
          </p:nvSpPr>
          <p:spPr bwMode="auto">
            <a:xfrm>
              <a:off x="1935163" y="1714500"/>
              <a:ext cx="714375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1" name="Text Box 3"/>
            <p:cNvSpPr txBox="1">
              <a:spLocks noChangeArrowheads="1"/>
            </p:cNvSpPr>
            <p:nvPr/>
          </p:nvSpPr>
          <p:spPr bwMode="auto">
            <a:xfrm>
              <a:off x="3186113" y="1714500"/>
              <a:ext cx="715962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" name="Text Box 4"/>
            <p:cNvSpPr txBox="1">
              <a:spLocks noChangeArrowheads="1"/>
            </p:cNvSpPr>
            <p:nvPr/>
          </p:nvSpPr>
          <p:spPr bwMode="auto">
            <a:xfrm>
              <a:off x="5241925" y="1714500"/>
              <a:ext cx="715963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" name="Text Box 5"/>
            <p:cNvSpPr txBox="1">
              <a:spLocks noChangeArrowheads="1"/>
            </p:cNvSpPr>
            <p:nvPr/>
          </p:nvSpPr>
          <p:spPr bwMode="auto">
            <a:xfrm>
              <a:off x="6494463" y="1714500"/>
              <a:ext cx="714375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" name="Text Box 6"/>
            <p:cNvSpPr txBox="1">
              <a:spLocks noChangeArrowheads="1"/>
            </p:cNvSpPr>
            <p:nvPr/>
          </p:nvSpPr>
          <p:spPr bwMode="auto">
            <a:xfrm>
              <a:off x="1935163" y="2797175"/>
              <a:ext cx="714375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5" name="Text Box 7"/>
            <p:cNvSpPr txBox="1">
              <a:spLocks noChangeArrowheads="1"/>
            </p:cNvSpPr>
            <p:nvPr/>
          </p:nvSpPr>
          <p:spPr bwMode="auto">
            <a:xfrm>
              <a:off x="3186113" y="2797175"/>
              <a:ext cx="715962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6" name="Text Box 8"/>
            <p:cNvSpPr txBox="1">
              <a:spLocks noChangeArrowheads="1"/>
            </p:cNvSpPr>
            <p:nvPr/>
          </p:nvSpPr>
          <p:spPr bwMode="auto">
            <a:xfrm>
              <a:off x="5241925" y="2797175"/>
              <a:ext cx="715963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" name="Text Box 9"/>
            <p:cNvSpPr txBox="1">
              <a:spLocks noChangeArrowheads="1"/>
            </p:cNvSpPr>
            <p:nvPr/>
          </p:nvSpPr>
          <p:spPr bwMode="auto">
            <a:xfrm>
              <a:off x="6494463" y="2797175"/>
              <a:ext cx="714375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" name="Text Box 10"/>
            <p:cNvSpPr txBox="1">
              <a:spLocks noChangeArrowheads="1"/>
            </p:cNvSpPr>
            <p:nvPr/>
          </p:nvSpPr>
          <p:spPr bwMode="auto">
            <a:xfrm>
              <a:off x="1935163" y="3608388"/>
              <a:ext cx="714375" cy="385762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" name="Text Box 11"/>
            <p:cNvSpPr txBox="1">
              <a:spLocks noChangeArrowheads="1"/>
            </p:cNvSpPr>
            <p:nvPr/>
          </p:nvSpPr>
          <p:spPr bwMode="auto">
            <a:xfrm>
              <a:off x="3186113" y="3608388"/>
              <a:ext cx="715962" cy="385762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0" name="Text Box 12"/>
            <p:cNvSpPr txBox="1">
              <a:spLocks noChangeArrowheads="1"/>
            </p:cNvSpPr>
            <p:nvPr/>
          </p:nvSpPr>
          <p:spPr bwMode="auto">
            <a:xfrm>
              <a:off x="5241925" y="3608388"/>
              <a:ext cx="715963" cy="385762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1" name="Text Box 13"/>
            <p:cNvSpPr txBox="1">
              <a:spLocks noChangeArrowheads="1"/>
            </p:cNvSpPr>
            <p:nvPr/>
          </p:nvSpPr>
          <p:spPr bwMode="auto">
            <a:xfrm>
              <a:off x="6494463" y="3608388"/>
              <a:ext cx="714375" cy="385762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" name="Text Box 14"/>
            <p:cNvSpPr txBox="1">
              <a:spLocks noChangeArrowheads="1"/>
            </p:cNvSpPr>
            <p:nvPr/>
          </p:nvSpPr>
          <p:spPr bwMode="auto">
            <a:xfrm>
              <a:off x="1935163" y="4692650"/>
              <a:ext cx="714375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" name="Text Box 15"/>
            <p:cNvSpPr txBox="1">
              <a:spLocks noChangeArrowheads="1"/>
            </p:cNvSpPr>
            <p:nvPr/>
          </p:nvSpPr>
          <p:spPr bwMode="auto">
            <a:xfrm>
              <a:off x="3186113" y="4692650"/>
              <a:ext cx="715962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" name="Text Box 16"/>
            <p:cNvSpPr txBox="1">
              <a:spLocks noChangeArrowheads="1"/>
            </p:cNvSpPr>
            <p:nvPr/>
          </p:nvSpPr>
          <p:spPr bwMode="auto">
            <a:xfrm>
              <a:off x="5241925" y="4692650"/>
              <a:ext cx="715963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" name="Text Box 17"/>
            <p:cNvSpPr txBox="1">
              <a:spLocks noChangeArrowheads="1"/>
            </p:cNvSpPr>
            <p:nvPr/>
          </p:nvSpPr>
          <p:spPr bwMode="auto">
            <a:xfrm>
              <a:off x="6494463" y="4692650"/>
              <a:ext cx="714375" cy="385763"/>
            </a:xfrm>
            <a:prstGeom prst="rect">
              <a:avLst/>
            </a:prstGeom>
            <a:solidFill>
              <a:srgbClr val="AFBF39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LAB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" name="Rectangle 18"/>
            <p:cNvSpPr>
              <a:spLocks noChangeArrowheads="1"/>
            </p:cNvSpPr>
            <p:nvPr/>
          </p:nvSpPr>
          <p:spPr bwMode="auto">
            <a:xfrm>
              <a:off x="1935163" y="1082675"/>
              <a:ext cx="5273675" cy="271463"/>
            </a:xfrm>
            <a:prstGeom prst="rect">
              <a:avLst/>
            </a:prstGeom>
            <a:solidFill>
              <a:srgbClr val="CC9900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I/O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7" name="Rectangle 19"/>
            <p:cNvSpPr>
              <a:spLocks noChangeArrowheads="1"/>
            </p:cNvSpPr>
            <p:nvPr/>
          </p:nvSpPr>
          <p:spPr bwMode="auto">
            <a:xfrm>
              <a:off x="2024063" y="5503863"/>
              <a:ext cx="5275262" cy="271462"/>
            </a:xfrm>
            <a:prstGeom prst="rect">
              <a:avLst/>
            </a:prstGeom>
            <a:solidFill>
              <a:srgbClr val="CC9900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dirty="0">
                  <a:solidFill>
                    <a:srgbClr val="000000"/>
                  </a:solidFill>
                </a:rPr>
                <a:t>I/O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" name="Rectangle 20"/>
            <p:cNvSpPr>
              <a:spLocks noChangeArrowheads="1"/>
            </p:cNvSpPr>
            <p:nvPr/>
          </p:nvSpPr>
          <p:spPr bwMode="auto">
            <a:xfrm>
              <a:off x="1219200" y="1533525"/>
              <a:ext cx="268288" cy="3879850"/>
            </a:xfrm>
            <a:prstGeom prst="rect">
              <a:avLst/>
            </a:prstGeom>
            <a:solidFill>
              <a:srgbClr val="CC9900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" name="Rectangle 21"/>
            <p:cNvSpPr>
              <a:spLocks noChangeArrowheads="1"/>
            </p:cNvSpPr>
            <p:nvPr/>
          </p:nvSpPr>
          <p:spPr bwMode="auto">
            <a:xfrm>
              <a:off x="7656513" y="1533525"/>
              <a:ext cx="268287" cy="3879850"/>
            </a:xfrm>
            <a:prstGeom prst="rect">
              <a:avLst/>
            </a:prstGeom>
            <a:solidFill>
              <a:srgbClr val="CC9900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1" name="Line 29"/>
            <p:cNvSpPr>
              <a:spLocks noChangeShapeType="1"/>
            </p:cNvSpPr>
            <p:nvPr/>
          </p:nvSpPr>
          <p:spPr bwMode="auto">
            <a:xfrm>
              <a:off x="4259263" y="1714500"/>
              <a:ext cx="0" cy="63182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" name="Line 30"/>
            <p:cNvSpPr>
              <a:spLocks noChangeShapeType="1"/>
            </p:cNvSpPr>
            <p:nvPr/>
          </p:nvSpPr>
          <p:spPr bwMode="auto">
            <a:xfrm>
              <a:off x="4795838" y="1714500"/>
              <a:ext cx="0" cy="63182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" name="Line 31"/>
            <p:cNvSpPr>
              <a:spLocks noChangeShapeType="1"/>
            </p:cNvSpPr>
            <p:nvPr/>
          </p:nvSpPr>
          <p:spPr bwMode="auto">
            <a:xfrm>
              <a:off x="4259263" y="1714500"/>
              <a:ext cx="5365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5" name="Line 39"/>
            <p:cNvSpPr>
              <a:spLocks noChangeShapeType="1"/>
            </p:cNvSpPr>
            <p:nvPr/>
          </p:nvSpPr>
          <p:spPr bwMode="auto">
            <a:xfrm>
              <a:off x="4259263" y="2616200"/>
              <a:ext cx="0" cy="162401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6" name="Line 40"/>
            <p:cNvSpPr>
              <a:spLocks noChangeShapeType="1"/>
            </p:cNvSpPr>
            <p:nvPr/>
          </p:nvSpPr>
          <p:spPr bwMode="auto">
            <a:xfrm>
              <a:off x="4795838" y="2616200"/>
              <a:ext cx="0" cy="162401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7" name="Line 41"/>
            <p:cNvSpPr>
              <a:spLocks noChangeShapeType="1"/>
            </p:cNvSpPr>
            <p:nvPr/>
          </p:nvSpPr>
          <p:spPr bwMode="auto">
            <a:xfrm>
              <a:off x="4259263" y="4511675"/>
              <a:ext cx="0" cy="63182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8" name="Line 42"/>
            <p:cNvSpPr>
              <a:spLocks noChangeShapeType="1"/>
            </p:cNvSpPr>
            <p:nvPr/>
          </p:nvSpPr>
          <p:spPr bwMode="auto">
            <a:xfrm>
              <a:off x="4795838" y="4511675"/>
              <a:ext cx="0" cy="63182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9" name="Line 43"/>
            <p:cNvSpPr>
              <a:spLocks noChangeShapeType="1"/>
            </p:cNvSpPr>
            <p:nvPr/>
          </p:nvSpPr>
          <p:spPr bwMode="auto">
            <a:xfrm>
              <a:off x="4259263" y="5143500"/>
              <a:ext cx="5365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0" name="Line 44"/>
            <p:cNvSpPr>
              <a:spLocks noChangeShapeType="1"/>
            </p:cNvSpPr>
            <p:nvPr/>
          </p:nvSpPr>
          <p:spPr bwMode="auto">
            <a:xfrm flipV="1">
              <a:off x="2292350" y="1354138"/>
              <a:ext cx="0" cy="3603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1" name="Line 45"/>
            <p:cNvSpPr>
              <a:spLocks noChangeShapeType="1"/>
            </p:cNvSpPr>
            <p:nvPr/>
          </p:nvSpPr>
          <p:spPr bwMode="auto">
            <a:xfrm flipV="1">
              <a:off x="3543300" y="1354138"/>
              <a:ext cx="0" cy="3603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" name="Line 46"/>
            <p:cNvSpPr>
              <a:spLocks noChangeShapeType="1"/>
            </p:cNvSpPr>
            <p:nvPr/>
          </p:nvSpPr>
          <p:spPr bwMode="auto">
            <a:xfrm flipV="1">
              <a:off x="5600700" y="1354138"/>
              <a:ext cx="0" cy="3603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" name="Line 47"/>
            <p:cNvSpPr>
              <a:spLocks noChangeShapeType="1"/>
            </p:cNvSpPr>
            <p:nvPr/>
          </p:nvSpPr>
          <p:spPr bwMode="auto">
            <a:xfrm flipV="1">
              <a:off x="6851650" y="1354138"/>
              <a:ext cx="0" cy="3603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" name="Line 48"/>
            <p:cNvSpPr>
              <a:spLocks noChangeShapeType="1"/>
            </p:cNvSpPr>
            <p:nvPr/>
          </p:nvSpPr>
          <p:spPr bwMode="auto">
            <a:xfrm>
              <a:off x="2292350" y="5143500"/>
              <a:ext cx="0" cy="3603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5" name="Line 49"/>
            <p:cNvSpPr>
              <a:spLocks noChangeShapeType="1"/>
            </p:cNvSpPr>
            <p:nvPr/>
          </p:nvSpPr>
          <p:spPr bwMode="auto">
            <a:xfrm>
              <a:off x="3543300" y="5143500"/>
              <a:ext cx="0" cy="3603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" name="Line 50"/>
            <p:cNvSpPr>
              <a:spLocks noChangeShapeType="1"/>
            </p:cNvSpPr>
            <p:nvPr/>
          </p:nvSpPr>
          <p:spPr bwMode="auto">
            <a:xfrm>
              <a:off x="5600700" y="5143500"/>
              <a:ext cx="0" cy="3603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7" name="Line 51"/>
            <p:cNvSpPr>
              <a:spLocks noChangeShapeType="1"/>
            </p:cNvSpPr>
            <p:nvPr/>
          </p:nvSpPr>
          <p:spPr bwMode="auto">
            <a:xfrm>
              <a:off x="6851650" y="5143500"/>
              <a:ext cx="0" cy="3603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8" name="Line 52"/>
            <p:cNvSpPr>
              <a:spLocks noChangeShapeType="1"/>
            </p:cNvSpPr>
            <p:nvPr/>
          </p:nvSpPr>
          <p:spPr bwMode="auto">
            <a:xfrm flipH="1">
              <a:off x="1487488" y="4962525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" name="Line 53"/>
            <p:cNvSpPr>
              <a:spLocks noChangeShapeType="1"/>
            </p:cNvSpPr>
            <p:nvPr/>
          </p:nvSpPr>
          <p:spPr bwMode="auto">
            <a:xfrm flipH="1">
              <a:off x="1487488" y="3789363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0" name="Line 54"/>
            <p:cNvSpPr>
              <a:spLocks noChangeShapeType="1"/>
            </p:cNvSpPr>
            <p:nvPr/>
          </p:nvSpPr>
          <p:spPr bwMode="auto">
            <a:xfrm flipH="1">
              <a:off x="1487488" y="1895475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1" name="Line 55"/>
            <p:cNvSpPr>
              <a:spLocks noChangeShapeType="1"/>
            </p:cNvSpPr>
            <p:nvPr/>
          </p:nvSpPr>
          <p:spPr bwMode="auto">
            <a:xfrm flipH="1">
              <a:off x="7208838" y="2436813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2" name="Line 56"/>
            <p:cNvSpPr>
              <a:spLocks noChangeShapeType="1"/>
            </p:cNvSpPr>
            <p:nvPr/>
          </p:nvSpPr>
          <p:spPr bwMode="auto">
            <a:xfrm flipH="1">
              <a:off x="7208838" y="4330700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" name="Line 57"/>
            <p:cNvSpPr>
              <a:spLocks noChangeShapeType="1"/>
            </p:cNvSpPr>
            <p:nvPr/>
          </p:nvSpPr>
          <p:spPr bwMode="auto">
            <a:xfrm>
              <a:off x="7208838" y="3789363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4" name="Line 58"/>
            <p:cNvSpPr>
              <a:spLocks noChangeShapeType="1"/>
            </p:cNvSpPr>
            <p:nvPr/>
          </p:nvSpPr>
          <p:spPr bwMode="auto">
            <a:xfrm>
              <a:off x="7208838" y="3067050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5" name="Line 59"/>
            <p:cNvSpPr>
              <a:spLocks noChangeShapeType="1"/>
            </p:cNvSpPr>
            <p:nvPr/>
          </p:nvSpPr>
          <p:spPr bwMode="auto">
            <a:xfrm>
              <a:off x="7208838" y="1984375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6" name="Line 60"/>
            <p:cNvSpPr>
              <a:spLocks noChangeShapeType="1"/>
            </p:cNvSpPr>
            <p:nvPr/>
          </p:nvSpPr>
          <p:spPr bwMode="auto">
            <a:xfrm>
              <a:off x="7208838" y="4962525"/>
              <a:ext cx="447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 61"/>
            <p:cNvSpPr>
              <a:spLocks noChangeShapeType="1"/>
            </p:cNvSpPr>
            <p:nvPr/>
          </p:nvSpPr>
          <p:spPr bwMode="auto">
            <a:xfrm>
              <a:off x="1487488" y="4330700"/>
              <a:ext cx="3571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Line 62"/>
            <p:cNvSpPr>
              <a:spLocks noChangeShapeType="1"/>
            </p:cNvSpPr>
            <p:nvPr/>
          </p:nvSpPr>
          <p:spPr bwMode="auto">
            <a:xfrm>
              <a:off x="1487488" y="2436813"/>
              <a:ext cx="3571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9" name="Line 63"/>
            <p:cNvSpPr>
              <a:spLocks noChangeShapeType="1"/>
            </p:cNvSpPr>
            <p:nvPr/>
          </p:nvSpPr>
          <p:spPr bwMode="auto">
            <a:xfrm>
              <a:off x="2292350" y="216535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Line 64"/>
            <p:cNvSpPr>
              <a:spLocks noChangeShapeType="1"/>
            </p:cNvSpPr>
            <p:nvPr/>
          </p:nvSpPr>
          <p:spPr bwMode="auto">
            <a:xfrm>
              <a:off x="3543300" y="216535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1" name="Line 65"/>
            <p:cNvSpPr>
              <a:spLocks noChangeShapeType="1"/>
            </p:cNvSpPr>
            <p:nvPr/>
          </p:nvSpPr>
          <p:spPr bwMode="auto">
            <a:xfrm>
              <a:off x="5600700" y="216535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2" name="Line 66"/>
            <p:cNvSpPr>
              <a:spLocks noChangeShapeType="1"/>
            </p:cNvSpPr>
            <p:nvPr/>
          </p:nvSpPr>
          <p:spPr bwMode="auto">
            <a:xfrm>
              <a:off x="6851650" y="216535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" name="Line 67"/>
            <p:cNvSpPr>
              <a:spLocks noChangeShapeType="1"/>
            </p:cNvSpPr>
            <p:nvPr/>
          </p:nvSpPr>
          <p:spPr bwMode="auto">
            <a:xfrm>
              <a:off x="6851650" y="261620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4" name="Line 68"/>
            <p:cNvSpPr>
              <a:spLocks noChangeShapeType="1"/>
            </p:cNvSpPr>
            <p:nvPr/>
          </p:nvSpPr>
          <p:spPr bwMode="auto">
            <a:xfrm>
              <a:off x="6851650" y="4060825"/>
              <a:ext cx="0" cy="1793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5" name="Line 69"/>
            <p:cNvSpPr>
              <a:spLocks noChangeShapeType="1"/>
            </p:cNvSpPr>
            <p:nvPr/>
          </p:nvSpPr>
          <p:spPr bwMode="auto">
            <a:xfrm>
              <a:off x="2292350" y="261620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6" name="Line 70"/>
            <p:cNvSpPr>
              <a:spLocks noChangeShapeType="1"/>
            </p:cNvSpPr>
            <p:nvPr/>
          </p:nvSpPr>
          <p:spPr bwMode="auto">
            <a:xfrm>
              <a:off x="3543300" y="261620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7" name="Line 71"/>
            <p:cNvSpPr>
              <a:spLocks noChangeShapeType="1"/>
            </p:cNvSpPr>
            <p:nvPr/>
          </p:nvSpPr>
          <p:spPr bwMode="auto">
            <a:xfrm>
              <a:off x="5600700" y="2616200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8" name="Line 72"/>
            <p:cNvSpPr>
              <a:spLocks noChangeShapeType="1"/>
            </p:cNvSpPr>
            <p:nvPr/>
          </p:nvSpPr>
          <p:spPr bwMode="auto">
            <a:xfrm>
              <a:off x="5600700" y="4060825"/>
              <a:ext cx="0" cy="1793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9" name="Line 73"/>
            <p:cNvSpPr>
              <a:spLocks noChangeShapeType="1"/>
            </p:cNvSpPr>
            <p:nvPr/>
          </p:nvSpPr>
          <p:spPr bwMode="auto">
            <a:xfrm>
              <a:off x="3543300" y="4060825"/>
              <a:ext cx="0" cy="1793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0" name="Line 74"/>
            <p:cNvSpPr>
              <a:spLocks noChangeShapeType="1"/>
            </p:cNvSpPr>
            <p:nvPr/>
          </p:nvSpPr>
          <p:spPr bwMode="auto">
            <a:xfrm>
              <a:off x="2292350" y="4060825"/>
              <a:ext cx="0" cy="1793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1" name="Line 75"/>
            <p:cNvSpPr>
              <a:spLocks noChangeShapeType="1"/>
            </p:cNvSpPr>
            <p:nvPr/>
          </p:nvSpPr>
          <p:spPr bwMode="auto">
            <a:xfrm>
              <a:off x="2292350" y="4511675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2" name="Line 76"/>
            <p:cNvSpPr>
              <a:spLocks noChangeShapeType="1"/>
            </p:cNvSpPr>
            <p:nvPr/>
          </p:nvSpPr>
          <p:spPr bwMode="auto">
            <a:xfrm>
              <a:off x="3543300" y="4511675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3" name="Line 77"/>
            <p:cNvSpPr>
              <a:spLocks noChangeShapeType="1"/>
            </p:cNvSpPr>
            <p:nvPr/>
          </p:nvSpPr>
          <p:spPr bwMode="auto">
            <a:xfrm>
              <a:off x="5600700" y="4511675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4" name="Line 78"/>
            <p:cNvSpPr>
              <a:spLocks noChangeShapeType="1"/>
            </p:cNvSpPr>
            <p:nvPr/>
          </p:nvSpPr>
          <p:spPr bwMode="auto">
            <a:xfrm>
              <a:off x="6851650" y="4511675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5" name="Text Box 80"/>
            <p:cNvSpPr txBox="1">
              <a:spLocks noChangeArrowheads="1"/>
            </p:cNvSpPr>
            <p:nvPr/>
          </p:nvSpPr>
          <p:spPr bwMode="auto">
            <a:xfrm>
              <a:off x="4387850" y="2797175"/>
              <a:ext cx="336550" cy="1006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Tahoma" panose="020B0604030504040204" pitchFamily="34" charset="0"/>
                </a:rPr>
                <a:t>P</a:t>
              </a:r>
              <a:endParaRPr kumimoji="1" lang="en-US" altLang="zh-CN" sz="2000">
                <a:latin typeface="Tahoma" panose="020B0604030504040204" pitchFamily="34" charset="0"/>
              </a:endParaRPr>
            </a:p>
            <a:p>
              <a:pPr eaLnBrk="1" hangingPunct="1"/>
              <a:r>
                <a:rPr kumimoji="1" lang="en-US" altLang="zh-CN" sz="2000">
                  <a:latin typeface="Tahoma" panose="020B0604030504040204" pitchFamily="34" charset="0"/>
                </a:rPr>
                <a:t>I</a:t>
              </a:r>
              <a:endParaRPr kumimoji="1" lang="en-US" altLang="zh-CN" sz="2000">
                <a:latin typeface="Tahoma" panose="020B0604030504040204" pitchFamily="34" charset="0"/>
              </a:endParaRPr>
            </a:p>
            <a:p>
              <a:pPr eaLnBrk="1" hangingPunct="1"/>
              <a:r>
                <a:rPr kumimoji="1" lang="en-US" altLang="zh-CN" sz="2000">
                  <a:latin typeface="Tahoma" panose="020B0604030504040204" pitchFamily="34" charset="0"/>
                </a:rPr>
                <a:t>A</a:t>
              </a:r>
              <a:endParaRPr kumimoji="1" lang="en-US" altLang="zh-CN" sz="2000">
                <a:latin typeface="Tahoma" panose="020B0604030504040204" pitchFamily="34" charset="0"/>
              </a:endParaRPr>
            </a:p>
          </p:txBody>
        </p:sp>
      </p:grpSp>
      <p:sp>
        <p:nvSpPr>
          <p:cNvPr id="5" name="对话气泡: 矩形 4"/>
          <p:cNvSpPr/>
          <p:nvPr/>
        </p:nvSpPr>
        <p:spPr bwMode="auto">
          <a:xfrm>
            <a:off x="6668941" y="949743"/>
            <a:ext cx="2012868" cy="461665"/>
          </a:xfrm>
          <a:prstGeom prst="wedgeRectCallout">
            <a:avLst>
              <a:gd name="adj1" fmla="val -209781"/>
              <a:gd name="adj2" fmla="val 445857"/>
            </a:avLst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0000"/>
                </a:solidFill>
              </a:rPr>
              <a:t>内部连线矩阵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351796" y="2129305"/>
            <a:ext cx="2489196" cy="3904852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可编程内部连线的作用是实现逻辑块与逻辑块之间、逻辑块与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I/O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块之间以及全局信号到逻辑块和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I/O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块之间的连接 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2" name="矩形 71"/>
          <p:cNvSpPr/>
          <p:nvPr/>
        </p:nvSpPr>
        <p:spPr>
          <a:xfrm rot="16200000">
            <a:off x="406374" y="3412044"/>
            <a:ext cx="4924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" name="矩形 72"/>
          <p:cNvSpPr/>
          <p:nvPr/>
        </p:nvSpPr>
        <p:spPr>
          <a:xfrm rot="16200000">
            <a:off x="5646483" y="3379636"/>
            <a:ext cx="4924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4" y="50071"/>
            <a:ext cx="505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复杂可编程逻辑器件</a:t>
            </a: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CPLD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242836" y="872187"/>
            <a:ext cx="71850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26987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通用的</a:t>
            </a:r>
            <a:r>
              <a:rPr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CPLD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器件逻辑阵列块</a:t>
            </a:r>
            <a:r>
              <a:rPr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LAB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的结构</a:t>
            </a:r>
            <a:endParaRPr lang="zh-CN" altLang="en-US" sz="2800" b="1" dirty="0">
              <a:solidFill>
                <a:srgbClr val="0000FF"/>
              </a:solidFill>
              <a:ea typeface="楷体_GB2312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61904" y="1603600"/>
            <a:ext cx="8620191" cy="3098350"/>
            <a:chOff x="261465" y="2064604"/>
            <a:chExt cx="8620191" cy="3098350"/>
          </a:xfrm>
        </p:grpSpPr>
        <p:sp>
          <p:nvSpPr>
            <p:cNvPr id="24" name="Rectangle 9"/>
            <p:cNvSpPr>
              <a:spLocks noChangeArrowheads="1"/>
            </p:cNvSpPr>
            <p:nvPr/>
          </p:nvSpPr>
          <p:spPr bwMode="auto">
            <a:xfrm>
              <a:off x="402819" y="2087451"/>
              <a:ext cx="79126" cy="381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5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b="0">
                <a:latin typeface="Verdana" panose="020B0604030504040204" pitchFamily="34" charset="0"/>
              </a:endParaRPr>
            </a:p>
          </p:txBody>
        </p:sp>
        <p:sp>
          <p:nvSpPr>
            <p:cNvPr id="25" name="Line 10"/>
            <p:cNvSpPr>
              <a:spLocks noChangeShapeType="1"/>
            </p:cNvSpPr>
            <p:nvPr/>
          </p:nvSpPr>
          <p:spPr bwMode="auto">
            <a:xfrm flipH="1">
              <a:off x="1197600" y="3477578"/>
              <a:ext cx="828190" cy="175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1994139" y="3430127"/>
              <a:ext cx="309472" cy="94901"/>
            </a:xfrm>
            <a:custGeom>
              <a:avLst/>
              <a:gdLst>
                <a:gd name="T0" fmla="*/ 0 w 176"/>
                <a:gd name="T1" fmla="*/ 0 h 54"/>
                <a:gd name="T2" fmla="*/ 0 w 176"/>
                <a:gd name="T3" fmla="*/ 54 h 54"/>
                <a:gd name="T4" fmla="*/ 176 w 176"/>
                <a:gd name="T5" fmla="*/ 27 h 54"/>
                <a:gd name="T6" fmla="*/ 0 w 176"/>
                <a:gd name="T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6" h="54">
                  <a:moveTo>
                    <a:pt x="0" y="0"/>
                  </a:moveTo>
                  <a:lnTo>
                    <a:pt x="0" y="54"/>
                  </a:lnTo>
                  <a:lnTo>
                    <a:pt x="176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1994139" y="3430127"/>
              <a:ext cx="309472" cy="94901"/>
            </a:xfrm>
            <a:custGeom>
              <a:avLst/>
              <a:gdLst>
                <a:gd name="T0" fmla="*/ 0 w 176"/>
                <a:gd name="T1" fmla="*/ 0 h 54"/>
                <a:gd name="T2" fmla="*/ 0 w 176"/>
                <a:gd name="T3" fmla="*/ 54 h 54"/>
                <a:gd name="T4" fmla="*/ 176 w 176"/>
                <a:gd name="T5" fmla="*/ 27 h 54"/>
                <a:gd name="T6" fmla="*/ 0 w 176"/>
                <a:gd name="T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6" h="54">
                  <a:moveTo>
                    <a:pt x="0" y="0"/>
                  </a:moveTo>
                  <a:lnTo>
                    <a:pt x="0" y="54"/>
                  </a:lnTo>
                  <a:lnTo>
                    <a:pt x="176" y="2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3"/>
            <p:cNvSpPr>
              <a:spLocks noChangeShapeType="1"/>
            </p:cNvSpPr>
            <p:nvPr/>
          </p:nvSpPr>
          <p:spPr bwMode="auto">
            <a:xfrm flipH="1">
              <a:off x="6249383" y="3326439"/>
              <a:ext cx="1320532" cy="175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14"/>
            <p:cNvSpPr/>
            <p:nvPr/>
          </p:nvSpPr>
          <p:spPr bwMode="auto">
            <a:xfrm>
              <a:off x="7427487" y="3278988"/>
              <a:ext cx="309472" cy="96659"/>
            </a:xfrm>
            <a:custGeom>
              <a:avLst/>
              <a:gdLst>
                <a:gd name="T0" fmla="*/ 0 w 176"/>
                <a:gd name="T1" fmla="*/ 0 h 55"/>
                <a:gd name="T2" fmla="*/ 0 w 176"/>
                <a:gd name="T3" fmla="*/ 55 h 55"/>
                <a:gd name="T4" fmla="*/ 176 w 176"/>
                <a:gd name="T5" fmla="*/ 27 h 55"/>
                <a:gd name="T6" fmla="*/ 0 w 176"/>
                <a:gd name="T7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6" h="55">
                  <a:moveTo>
                    <a:pt x="0" y="0"/>
                  </a:moveTo>
                  <a:lnTo>
                    <a:pt x="0" y="55"/>
                  </a:lnTo>
                  <a:lnTo>
                    <a:pt x="176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15"/>
            <p:cNvSpPr/>
            <p:nvPr/>
          </p:nvSpPr>
          <p:spPr bwMode="auto">
            <a:xfrm>
              <a:off x="7427487" y="3278988"/>
              <a:ext cx="309472" cy="96659"/>
            </a:xfrm>
            <a:custGeom>
              <a:avLst/>
              <a:gdLst>
                <a:gd name="T0" fmla="*/ 0 w 176"/>
                <a:gd name="T1" fmla="*/ 0 h 55"/>
                <a:gd name="T2" fmla="*/ 0 w 176"/>
                <a:gd name="T3" fmla="*/ 55 h 55"/>
                <a:gd name="T4" fmla="*/ 176 w 176"/>
                <a:gd name="T5" fmla="*/ 27 h 55"/>
                <a:gd name="T6" fmla="*/ 0 w 176"/>
                <a:gd name="T7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6" h="55">
                  <a:moveTo>
                    <a:pt x="0" y="0"/>
                  </a:moveTo>
                  <a:lnTo>
                    <a:pt x="0" y="55"/>
                  </a:lnTo>
                  <a:lnTo>
                    <a:pt x="176" y="2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Rectangle 20"/>
            <p:cNvSpPr>
              <a:spLocks noChangeArrowheads="1"/>
            </p:cNvSpPr>
            <p:nvPr/>
          </p:nvSpPr>
          <p:spPr bwMode="auto">
            <a:xfrm>
              <a:off x="1253868" y="4097951"/>
              <a:ext cx="158253" cy="379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500" b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en-US" altLang="zh-CN" b="0">
                <a:latin typeface="Verdana" panose="020B0604030504040204" pitchFamily="34" charset="0"/>
              </a:endParaRPr>
            </a:p>
          </p:txBody>
        </p:sp>
        <p:sp>
          <p:nvSpPr>
            <p:cNvPr id="36" name="Rectangle 21"/>
            <p:cNvSpPr>
              <a:spLocks noChangeArrowheads="1"/>
            </p:cNvSpPr>
            <p:nvPr/>
          </p:nvSpPr>
          <p:spPr bwMode="auto">
            <a:xfrm>
              <a:off x="1580924" y="3055795"/>
              <a:ext cx="158253" cy="379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500" b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n</a:t>
              </a:r>
              <a:endParaRPr lang="en-US" altLang="zh-CN" b="0">
                <a:latin typeface="Verdana" panose="020B0604030504040204" pitchFamily="34" charset="0"/>
              </a:endParaRPr>
            </a:p>
          </p:txBody>
        </p:sp>
        <p:sp>
          <p:nvSpPr>
            <p:cNvPr id="37" name="Rectangle 22"/>
            <p:cNvSpPr>
              <a:spLocks noChangeArrowheads="1"/>
            </p:cNvSpPr>
            <p:nvPr/>
          </p:nvSpPr>
          <p:spPr bwMode="auto">
            <a:xfrm>
              <a:off x="1755002" y="3055795"/>
              <a:ext cx="158253" cy="379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500" b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en-US" altLang="zh-CN" b="0">
                <a:latin typeface="Verdana" panose="020B0604030504040204" pitchFamily="34" charset="0"/>
              </a:endParaRPr>
            </a:p>
          </p:txBody>
        </p:sp>
        <p:sp>
          <p:nvSpPr>
            <p:cNvPr id="38" name="Rectangle 23"/>
            <p:cNvSpPr>
              <a:spLocks noChangeArrowheads="1"/>
            </p:cNvSpPr>
            <p:nvPr/>
          </p:nvSpPr>
          <p:spPr bwMode="auto">
            <a:xfrm>
              <a:off x="4793456" y="2198169"/>
              <a:ext cx="1178105" cy="381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zh-CN" altLang="en-US" sz="2500" b="0" dirty="0">
                  <a:solidFill>
                    <a:srgbClr val="FF00FF"/>
                  </a:solidFill>
                  <a:latin typeface="楷体_GB2312" pitchFamily="49" charset="-122"/>
                  <a:ea typeface="楷体_GB2312" pitchFamily="49" charset="-122"/>
                </a:rPr>
                <a:t>宏单元</a:t>
              </a:r>
              <a:r>
                <a:rPr lang="en-US" altLang="zh-CN" sz="2500" b="0" dirty="0">
                  <a:solidFill>
                    <a:srgbClr val="FF00FF"/>
                  </a:solidFill>
                  <a:latin typeface="楷体_GB2312" pitchFamily="49" charset="-122"/>
                  <a:ea typeface="楷体_GB2312" pitchFamily="49" charset="-122"/>
                </a:rPr>
                <a:t>1</a:t>
              </a:r>
              <a:endParaRPr lang="zh-CN" altLang="en-US" b="0" dirty="0">
                <a:solidFill>
                  <a:srgbClr val="FF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40" name="Rectangle 25"/>
            <p:cNvSpPr>
              <a:spLocks noChangeArrowheads="1"/>
            </p:cNvSpPr>
            <p:nvPr/>
          </p:nvSpPr>
          <p:spPr bwMode="auto">
            <a:xfrm>
              <a:off x="6106955" y="2198169"/>
              <a:ext cx="158253" cy="381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500" b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en-US" altLang="zh-CN" b="0">
                <a:latin typeface="Verdana" panose="020B0604030504040204" pitchFamily="34" charset="0"/>
              </a:endParaRPr>
            </a:p>
          </p:txBody>
        </p:sp>
        <p:sp>
          <p:nvSpPr>
            <p:cNvPr id="41" name="Rectangle 26"/>
            <p:cNvSpPr>
              <a:spLocks noChangeArrowheads="1"/>
            </p:cNvSpPr>
            <p:nvPr/>
          </p:nvSpPr>
          <p:spPr bwMode="auto">
            <a:xfrm>
              <a:off x="2303612" y="2064604"/>
              <a:ext cx="47476" cy="9490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27"/>
            <p:cNvSpPr>
              <a:spLocks noChangeShapeType="1"/>
            </p:cNvSpPr>
            <p:nvPr/>
          </p:nvSpPr>
          <p:spPr bwMode="auto">
            <a:xfrm>
              <a:off x="2303612" y="2064604"/>
              <a:ext cx="1758" cy="9490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Rectangle 28"/>
            <p:cNvSpPr>
              <a:spLocks noChangeArrowheads="1"/>
            </p:cNvSpPr>
            <p:nvPr/>
          </p:nvSpPr>
          <p:spPr bwMode="auto">
            <a:xfrm>
              <a:off x="2303612" y="2064604"/>
              <a:ext cx="47476" cy="4745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29"/>
            <p:cNvSpPr>
              <a:spLocks noChangeShapeType="1"/>
            </p:cNvSpPr>
            <p:nvPr/>
          </p:nvSpPr>
          <p:spPr bwMode="auto">
            <a:xfrm>
              <a:off x="2303612" y="2064604"/>
              <a:ext cx="47476" cy="175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30"/>
            <p:cNvSpPr>
              <a:spLocks noChangeShapeType="1"/>
            </p:cNvSpPr>
            <p:nvPr/>
          </p:nvSpPr>
          <p:spPr bwMode="auto">
            <a:xfrm>
              <a:off x="2303612" y="2064604"/>
              <a:ext cx="1758" cy="4745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Rectangle 31"/>
            <p:cNvSpPr>
              <a:spLocks noChangeArrowheads="1"/>
            </p:cNvSpPr>
            <p:nvPr/>
          </p:nvSpPr>
          <p:spPr bwMode="auto">
            <a:xfrm>
              <a:off x="2351087" y="2064604"/>
              <a:ext cx="1114803" cy="4745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32"/>
            <p:cNvSpPr>
              <a:spLocks noChangeShapeType="1"/>
            </p:cNvSpPr>
            <p:nvPr/>
          </p:nvSpPr>
          <p:spPr bwMode="auto">
            <a:xfrm>
              <a:off x="2351087" y="2064604"/>
              <a:ext cx="1114803" cy="175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Rectangle 33"/>
            <p:cNvSpPr>
              <a:spLocks noChangeArrowheads="1"/>
            </p:cNvSpPr>
            <p:nvPr/>
          </p:nvSpPr>
          <p:spPr bwMode="auto">
            <a:xfrm>
              <a:off x="3465891" y="2112055"/>
              <a:ext cx="31651" cy="4745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34"/>
            <p:cNvSpPr>
              <a:spLocks noChangeShapeType="1"/>
            </p:cNvSpPr>
            <p:nvPr/>
          </p:nvSpPr>
          <p:spPr bwMode="auto">
            <a:xfrm>
              <a:off x="3465891" y="2112055"/>
              <a:ext cx="1758" cy="4745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Rectangle 35"/>
            <p:cNvSpPr>
              <a:spLocks noChangeArrowheads="1"/>
            </p:cNvSpPr>
            <p:nvPr/>
          </p:nvSpPr>
          <p:spPr bwMode="auto">
            <a:xfrm>
              <a:off x="3465891" y="2064604"/>
              <a:ext cx="47476" cy="4745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36"/>
            <p:cNvSpPr>
              <a:spLocks noChangeShapeType="1"/>
            </p:cNvSpPr>
            <p:nvPr/>
          </p:nvSpPr>
          <p:spPr bwMode="auto">
            <a:xfrm>
              <a:off x="3465891" y="2064604"/>
              <a:ext cx="47476" cy="175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37"/>
            <p:cNvSpPr>
              <a:spLocks noChangeShapeType="1"/>
            </p:cNvSpPr>
            <p:nvPr/>
          </p:nvSpPr>
          <p:spPr bwMode="auto">
            <a:xfrm>
              <a:off x="3465891" y="2064604"/>
              <a:ext cx="1758" cy="4745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Rectangle 38"/>
            <p:cNvSpPr>
              <a:spLocks noChangeArrowheads="1"/>
            </p:cNvSpPr>
            <p:nvPr/>
          </p:nvSpPr>
          <p:spPr bwMode="auto">
            <a:xfrm>
              <a:off x="3513367" y="2064604"/>
              <a:ext cx="1113045" cy="4745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39"/>
            <p:cNvSpPr>
              <a:spLocks noChangeShapeType="1"/>
            </p:cNvSpPr>
            <p:nvPr/>
          </p:nvSpPr>
          <p:spPr bwMode="auto">
            <a:xfrm>
              <a:off x="3513367" y="2064604"/>
              <a:ext cx="1113045" cy="175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Rectangle 40"/>
            <p:cNvSpPr>
              <a:spLocks noChangeArrowheads="1"/>
            </p:cNvSpPr>
            <p:nvPr/>
          </p:nvSpPr>
          <p:spPr bwMode="auto">
            <a:xfrm>
              <a:off x="4626412" y="2112055"/>
              <a:ext cx="31651" cy="4745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41"/>
            <p:cNvSpPr>
              <a:spLocks noChangeShapeType="1"/>
            </p:cNvSpPr>
            <p:nvPr/>
          </p:nvSpPr>
          <p:spPr bwMode="auto">
            <a:xfrm>
              <a:off x="4626412" y="2112055"/>
              <a:ext cx="1758" cy="4745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Rectangle 42"/>
            <p:cNvSpPr>
              <a:spLocks noChangeArrowheads="1"/>
            </p:cNvSpPr>
            <p:nvPr/>
          </p:nvSpPr>
          <p:spPr bwMode="auto">
            <a:xfrm>
              <a:off x="4626412" y="2064604"/>
              <a:ext cx="47476" cy="4745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43"/>
            <p:cNvSpPr>
              <a:spLocks noChangeShapeType="1"/>
            </p:cNvSpPr>
            <p:nvPr/>
          </p:nvSpPr>
          <p:spPr bwMode="auto">
            <a:xfrm>
              <a:off x="4626412" y="2064604"/>
              <a:ext cx="47476" cy="175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44"/>
            <p:cNvSpPr>
              <a:spLocks noChangeShapeType="1"/>
            </p:cNvSpPr>
            <p:nvPr/>
          </p:nvSpPr>
          <p:spPr bwMode="auto">
            <a:xfrm>
              <a:off x="4626412" y="2064604"/>
              <a:ext cx="1758" cy="4745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Rectangle 45"/>
            <p:cNvSpPr>
              <a:spLocks noChangeArrowheads="1"/>
            </p:cNvSpPr>
            <p:nvPr/>
          </p:nvSpPr>
          <p:spPr bwMode="auto">
            <a:xfrm>
              <a:off x="4673888" y="2064604"/>
              <a:ext cx="1568462" cy="4745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46"/>
            <p:cNvSpPr>
              <a:spLocks noChangeShapeType="1"/>
            </p:cNvSpPr>
            <p:nvPr/>
          </p:nvSpPr>
          <p:spPr bwMode="auto">
            <a:xfrm>
              <a:off x="4673888" y="2064604"/>
              <a:ext cx="1568462" cy="175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Rectangle 47"/>
            <p:cNvSpPr>
              <a:spLocks noChangeArrowheads="1"/>
            </p:cNvSpPr>
            <p:nvPr/>
          </p:nvSpPr>
          <p:spPr bwMode="auto">
            <a:xfrm>
              <a:off x="6242349" y="2064604"/>
              <a:ext cx="47476" cy="9490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48"/>
            <p:cNvSpPr>
              <a:spLocks noChangeShapeType="1"/>
            </p:cNvSpPr>
            <p:nvPr/>
          </p:nvSpPr>
          <p:spPr bwMode="auto">
            <a:xfrm>
              <a:off x="6242349" y="2064604"/>
              <a:ext cx="1758" cy="9490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Rectangle 49"/>
            <p:cNvSpPr>
              <a:spLocks noChangeArrowheads="1"/>
            </p:cNvSpPr>
            <p:nvPr/>
          </p:nvSpPr>
          <p:spPr bwMode="auto">
            <a:xfrm>
              <a:off x="6242349" y="2064604"/>
              <a:ext cx="47476" cy="4745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50"/>
            <p:cNvSpPr>
              <a:spLocks noChangeShapeType="1"/>
            </p:cNvSpPr>
            <p:nvPr/>
          </p:nvSpPr>
          <p:spPr bwMode="auto">
            <a:xfrm>
              <a:off x="6242349" y="2064604"/>
              <a:ext cx="47476" cy="175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51"/>
            <p:cNvSpPr>
              <a:spLocks noChangeShapeType="1"/>
            </p:cNvSpPr>
            <p:nvPr/>
          </p:nvSpPr>
          <p:spPr bwMode="auto">
            <a:xfrm>
              <a:off x="6242349" y="2064604"/>
              <a:ext cx="1758" cy="4745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Rectangle 52"/>
            <p:cNvSpPr>
              <a:spLocks noChangeArrowheads="1"/>
            </p:cNvSpPr>
            <p:nvPr/>
          </p:nvSpPr>
          <p:spPr bwMode="auto">
            <a:xfrm>
              <a:off x="2303612" y="2159505"/>
              <a:ext cx="47476" cy="50086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53"/>
            <p:cNvSpPr>
              <a:spLocks noChangeShapeType="1"/>
            </p:cNvSpPr>
            <p:nvPr/>
          </p:nvSpPr>
          <p:spPr bwMode="auto">
            <a:xfrm>
              <a:off x="2303612" y="2159505"/>
              <a:ext cx="1758" cy="50086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Rectangle 54"/>
            <p:cNvSpPr>
              <a:spLocks noChangeArrowheads="1"/>
            </p:cNvSpPr>
            <p:nvPr/>
          </p:nvSpPr>
          <p:spPr bwMode="auto">
            <a:xfrm>
              <a:off x="3465891" y="2159505"/>
              <a:ext cx="31651" cy="50086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55"/>
            <p:cNvSpPr>
              <a:spLocks noChangeShapeType="1"/>
            </p:cNvSpPr>
            <p:nvPr/>
          </p:nvSpPr>
          <p:spPr bwMode="auto">
            <a:xfrm>
              <a:off x="3465891" y="2159505"/>
              <a:ext cx="1758" cy="50086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Rectangle 56"/>
            <p:cNvSpPr>
              <a:spLocks noChangeArrowheads="1"/>
            </p:cNvSpPr>
            <p:nvPr/>
          </p:nvSpPr>
          <p:spPr bwMode="auto">
            <a:xfrm>
              <a:off x="4626412" y="2159505"/>
              <a:ext cx="31651" cy="50086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57"/>
            <p:cNvSpPr>
              <a:spLocks noChangeShapeType="1"/>
            </p:cNvSpPr>
            <p:nvPr/>
          </p:nvSpPr>
          <p:spPr bwMode="auto">
            <a:xfrm>
              <a:off x="4626412" y="2159505"/>
              <a:ext cx="1758" cy="50086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Rectangle 58"/>
            <p:cNvSpPr>
              <a:spLocks noChangeArrowheads="1"/>
            </p:cNvSpPr>
            <p:nvPr/>
          </p:nvSpPr>
          <p:spPr bwMode="auto">
            <a:xfrm>
              <a:off x="6242349" y="2159505"/>
              <a:ext cx="47476" cy="50086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59"/>
            <p:cNvSpPr>
              <a:spLocks noChangeShapeType="1"/>
            </p:cNvSpPr>
            <p:nvPr/>
          </p:nvSpPr>
          <p:spPr bwMode="auto">
            <a:xfrm>
              <a:off x="6242349" y="2159505"/>
              <a:ext cx="1758" cy="50086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Rectangle 60"/>
            <p:cNvSpPr>
              <a:spLocks noChangeArrowheads="1"/>
            </p:cNvSpPr>
            <p:nvPr/>
          </p:nvSpPr>
          <p:spPr bwMode="auto">
            <a:xfrm>
              <a:off x="4793456" y="2778121"/>
              <a:ext cx="1202722" cy="384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zh-CN" altLang="en-US" sz="2500" b="0" dirty="0">
                  <a:solidFill>
                    <a:srgbClr val="FF00FF"/>
                  </a:solidFill>
                  <a:latin typeface="楷体_GB2312" pitchFamily="49" charset="-122"/>
                  <a:ea typeface="楷体_GB2312" pitchFamily="49" charset="-122"/>
                </a:rPr>
                <a:t>宏单元</a:t>
              </a:r>
              <a:r>
                <a:rPr lang="en-US" altLang="zh-CN" sz="2500" b="0" dirty="0">
                  <a:solidFill>
                    <a:srgbClr val="FF00FF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  <a:endParaRPr lang="zh-CN" altLang="en-US" b="0" dirty="0">
                <a:solidFill>
                  <a:srgbClr val="FF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77" name="Rectangle 62"/>
            <p:cNvSpPr>
              <a:spLocks noChangeArrowheads="1"/>
            </p:cNvSpPr>
            <p:nvPr/>
          </p:nvSpPr>
          <p:spPr bwMode="auto">
            <a:xfrm>
              <a:off x="6106955" y="2778121"/>
              <a:ext cx="158253" cy="379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500" b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en-US" altLang="zh-CN" b="0">
                <a:latin typeface="Verdana" panose="020B0604030504040204" pitchFamily="34" charset="0"/>
              </a:endParaRPr>
            </a:p>
          </p:txBody>
        </p:sp>
        <p:sp>
          <p:nvSpPr>
            <p:cNvPr id="78" name="Rectangle 63"/>
            <p:cNvSpPr>
              <a:spLocks noChangeArrowheads="1"/>
            </p:cNvSpPr>
            <p:nvPr/>
          </p:nvSpPr>
          <p:spPr bwMode="auto">
            <a:xfrm>
              <a:off x="2303612" y="2660373"/>
              <a:ext cx="47476" cy="7908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64"/>
            <p:cNvSpPr>
              <a:spLocks noChangeShapeType="1"/>
            </p:cNvSpPr>
            <p:nvPr/>
          </p:nvSpPr>
          <p:spPr bwMode="auto">
            <a:xfrm>
              <a:off x="2303612" y="2660373"/>
              <a:ext cx="1758" cy="7908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Rectangle 65"/>
            <p:cNvSpPr>
              <a:spLocks noChangeArrowheads="1"/>
            </p:cNvSpPr>
            <p:nvPr/>
          </p:nvSpPr>
          <p:spPr bwMode="auto">
            <a:xfrm>
              <a:off x="3465891" y="2660373"/>
              <a:ext cx="31651" cy="7908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66"/>
            <p:cNvSpPr>
              <a:spLocks noChangeShapeType="1"/>
            </p:cNvSpPr>
            <p:nvPr/>
          </p:nvSpPr>
          <p:spPr bwMode="auto">
            <a:xfrm>
              <a:off x="3465891" y="2660373"/>
              <a:ext cx="1758" cy="7908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Rectangle 67"/>
            <p:cNvSpPr>
              <a:spLocks noChangeArrowheads="1"/>
            </p:cNvSpPr>
            <p:nvPr/>
          </p:nvSpPr>
          <p:spPr bwMode="auto">
            <a:xfrm>
              <a:off x="4626412" y="2660373"/>
              <a:ext cx="31651" cy="7908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68"/>
            <p:cNvSpPr>
              <a:spLocks noChangeShapeType="1"/>
            </p:cNvSpPr>
            <p:nvPr/>
          </p:nvSpPr>
          <p:spPr bwMode="auto">
            <a:xfrm>
              <a:off x="4626412" y="2660373"/>
              <a:ext cx="1758" cy="7908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Rectangle 69"/>
            <p:cNvSpPr>
              <a:spLocks noChangeArrowheads="1"/>
            </p:cNvSpPr>
            <p:nvPr/>
          </p:nvSpPr>
          <p:spPr bwMode="auto">
            <a:xfrm>
              <a:off x="4658062" y="2660373"/>
              <a:ext cx="1584287" cy="3163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70"/>
            <p:cNvSpPr>
              <a:spLocks noChangeShapeType="1"/>
            </p:cNvSpPr>
            <p:nvPr/>
          </p:nvSpPr>
          <p:spPr bwMode="auto">
            <a:xfrm>
              <a:off x="4658062" y="2660373"/>
              <a:ext cx="1584287" cy="175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Rectangle 71"/>
            <p:cNvSpPr>
              <a:spLocks noChangeArrowheads="1"/>
            </p:cNvSpPr>
            <p:nvPr/>
          </p:nvSpPr>
          <p:spPr bwMode="auto">
            <a:xfrm>
              <a:off x="6242349" y="2660373"/>
              <a:ext cx="47476" cy="7908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72"/>
            <p:cNvSpPr>
              <a:spLocks noChangeShapeType="1"/>
            </p:cNvSpPr>
            <p:nvPr/>
          </p:nvSpPr>
          <p:spPr bwMode="auto">
            <a:xfrm>
              <a:off x="6242349" y="2660373"/>
              <a:ext cx="1758" cy="7908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Rectangle 73"/>
            <p:cNvSpPr>
              <a:spLocks noChangeArrowheads="1"/>
            </p:cNvSpPr>
            <p:nvPr/>
          </p:nvSpPr>
          <p:spPr bwMode="auto">
            <a:xfrm>
              <a:off x="2303612" y="2739457"/>
              <a:ext cx="47476" cy="492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74"/>
            <p:cNvSpPr>
              <a:spLocks noChangeShapeType="1"/>
            </p:cNvSpPr>
            <p:nvPr/>
          </p:nvSpPr>
          <p:spPr bwMode="auto">
            <a:xfrm>
              <a:off x="2303612" y="2739457"/>
              <a:ext cx="1758" cy="49208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Rectangle 75"/>
            <p:cNvSpPr>
              <a:spLocks noChangeArrowheads="1"/>
            </p:cNvSpPr>
            <p:nvPr/>
          </p:nvSpPr>
          <p:spPr bwMode="auto">
            <a:xfrm>
              <a:off x="3465891" y="2739457"/>
              <a:ext cx="31651" cy="492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76"/>
            <p:cNvSpPr>
              <a:spLocks noChangeShapeType="1"/>
            </p:cNvSpPr>
            <p:nvPr/>
          </p:nvSpPr>
          <p:spPr bwMode="auto">
            <a:xfrm>
              <a:off x="3465891" y="2739457"/>
              <a:ext cx="1758" cy="49208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Rectangle 77"/>
            <p:cNvSpPr>
              <a:spLocks noChangeArrowheads="1"/>
            </p:cNvSpPr>
            <p:nvPr/>
          </p:nvSpPr>
          <p:spPr bwMode="auto">
            <a:xfrm>
              <a:off x="4626412" y="2739457"/>
              <a:ext cx="31651" cy="492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78"/>
            <p:cNvSpPr>
              <a:spLocks noChangeShapeType="1"/>
            </p:cNvSpPr>
            <p:nvPr/>
          </p:nvSpPr>
          <p:spPr bwMode="auto">
            <a:xfrm>
              <a:off x="4626412" y="2739457"/>
              <a:ext cx="1758" cy="49208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Rectangle 79"/>
            <p:cNvSpPr>
              <a:spLocks noChangeArrowheads="1"/>
            </p:cNvSpPr>
            <p:nvPr/>
          </p:nvSpPr>
          <p:spPr bwMode="auto">
            <a:xfrm>
              <a:off x="6242349" y="2739457"/>
              <a:ext cx="47476" cy="492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80"/>
            <p:cNvSpPr>
              <a:spLocks noChangeShapeType="1"/>
            </p:cNvSpPr>
            <p:nvPr/>
          </p:nvSpPr>
          <p:spPr bwMode="auto">
            <a:xfrm>
              <a:off x="6242349" y="2739457"/>
              <a:ext cx="1758" cy="49208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Rectangle 81"/>
            <p:cNvSpPr>
              <a:spLocks noChangeArrowheads="1"/>
            </p:cNvSpPr>
            <p:nvPr/>
          </p:nvSpPr>
          <p:spPr bwMode="auto">
            <a:xfrm>
              <a:off x="4793456" y="3351043"/>
              <a:ext cx="1283606" cy="384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zh-CN" altLang="en-US" sz="2500" b="0" dirty="0">
                  <a:solidFill>
                    <a:srgbClr val="FF00FF"/>
                  </a:solidFill>
                  <a:latin typeface="楷体_GB2312" pitchFamily="49" charset="-122"/>
                  <a:ea typeface="楷体_GB2312" pitchFamily="49" charset="-122"/>
                </a:rPr>
                <a:t>宏单元</a:t>
              </a:r>
              <a:r>
                <a:rPr lang="en-US" altLang="zh-CN" sz="2500" b="0" dirty="0">
                  <a:solidFill>
                    <a:srgbClr val="FF00FF"/>
                  </a:solidFill>
                  <a:latin typeface="楷体_GB2312" pitchFamily="49" charset="-122"/>
                  <a:ea typeface="楷体_GB2312" pitchFamily="49" charset="-122"/>
                </a:rPr>
                <a:t>3</a:t>
              </a:r>
              <a:endParaRPr lang="zh-CN" altLang="en-US" b="0" dirty="0">
                <a:solidFill>
                  <a:srgbClr val="FF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99" name="Rectangle 83"/>
            <p:cNvSpPr>
              <a:spLocks noChangeArrowheads="1"/>
            </p:cNvSpPr>
            <p:nvPr/>
          </p:nvSpPr>
          <p:spPr bwMode="auto">
            <a:xfrm>
              <a:off x="6106955" y="3351043"/>
              <a:ext cx="158253" cy="379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500" b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en-US" altLang="zh-CN" b="0">
                <a:latin typeface="Verdana" panose="020B0604030504040204" pitchFamily="34" charset="0"/>
              </a:endParaRPr>
            </a:p>
          </p:txBody>
        </p:sp>
        <p:sp>
          <p:nvSpPr>
            <p:cNvPr id="100" name="Rectangle 84"/>
            <p:cNvSpPr>
              <a:spLocks noChangeArrowheads="1"/>
            </p:cNvSpPr>
            <p:nvPr/>
          </p:nvSpPr>
          <p:spPr bwMode="auto">
            <a:xfrm>
              <a:off x="2303612" y="3231538"/>
              <a:ext cx="47476" cy="7908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85"/>
            <p:cNvSpPr>
              <a:spLocks noChangeShapeType="1"/>
            </p:cNvSpPr>
            <p:nvPr/>
          </p:nvSpPr>
          <p:spPr bwMode="auto">
            <a:xfrm>
              <a:off x="2303612" y="3231538"/>
              <a:ext cx="1758" cy="7908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Rectangle 86"/>
            <p:cNvSpPr>
              <a:spLocks noChangeArrowheads="1"/>
            </p:cNvSpPr>
            <p:nvPr/>
          </p:nvSpPr>
          <p:spPr bwMode="auto">
            <a:xfrm>
              <a:off x="3465891" y="3231538"/>
              <a:ext cx="31651" cy="7908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87"/>
            <p:cNvSpPr>
              <a:spLocks noChangeShapeType="1"/>
            </p:cNvSpPr>
            <p:nvPr/>
          </p:nvSpPr>
          <p:spPr bwMode="auto">
            <a:xfrm>
              <a:off x="3465891" y="3231538"/>
              <a:ext cx="1758" cy="7908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Rectangle 88"/>
            <p:cNvSpPr>
              <a:spLocks noChangeArrowheads="1"/>
            </p:cNvSpPr>
            <p:nvPr/>
          </p:nvSpPr>
          <p:spPr bwMode="auto">
            <a:xfrm>
              <a:off x="4626412" y="3231538"/>
              <a:ext cx="31651" cy="7908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89"/>
            <p:cNvSpPr>
              <a:spLocks noChangeShapeType="1"/>
            </p:cNvSpPr>
            <p:nvPr/>
          </p:nvSpPr>
          <p:spPr bwMode="auto">
            <a:xfrm>
              <a:off x="4626412" y="3231538"/>
              <a:ext cx="1758" cy="7908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Rectangle 90"/>
            <p:cNvSpPr>
              <a:spLocks noChangeArrowheads="1"/>
            </p:cNvSpPr>
            <p:nvPr/>
          </p:nvSpPr>
          <p:spPr bwMode="auto">
            <a:xfrm>
              <a:off x="4658062" y="3231538"/>
              <a:ext cx="1584287" cy="3163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91"/>
            <p:cNvSpPr>
              <a:spLocks noChangeShapeType="1"/>
            </p:cNvSpPr>
            <p:nvPr/>
          </p:nvSpPr>
          <p:spPr bwMode="auto">
            <a:xfrm>
              <a:off x="4658062" y="3231538"/>
              <a:ext cx="1584287" cy="175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Rectangle 92"/>
            <p:cNvSpPr>
              <a:spLocks noChangeArrowheads="1"/>
            </p:cNvSpPr>
            <p:nvPr/>
          </p:nvSpPr>
          <p:spPr bwMode="auto">
            <a:xfrm>
              <a:off x="6242349" y="3231538"/>
              <a:ext cx="47476" cy="7908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93"/>
            <p:cNvSpPr>
              <a:spLocks noChangeShapeType="1"/>
            </p:cNvSpPr>
            <p:nvPr/>
          </p:nvSpPr>
          <p:spPr bwMode="auto">
            <a:xfrm>
              <a:off x="6242349" y="3231538"/>
              <a:ext cx="1758" cy="7908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Rectangle 94"/>
            <p:cNvSpPr>
              <a:spLocks noChangeArrowheads="1"/>
            </p:cNvSpPr>
            <p:nvPr/>
          </p:nvSpPr>
          <p:spPr bwMode="auto">
            <a:xfrm>
              <a:off x="2303612" y="3310622"/>
              <a:ext cx="47476" cy="50086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95"/>
            <p:cNvSpPr>
              <a:spLocks noChangeShapeType="1"/>
            </p:cNvSpPr>
            <p:nvPr/>
          </p:nvSpPr>
          <p:spPr bwMode="auto">
            <a:xfrm>
              <a:off x="2303612" y="3310622"/>
              <a:ext cx="1758" cy="50086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Rectangle 96"/>
            <p:cNvSpPr>
              <a:spLocks noChangeArrowheads="1"/>
            </p:cNvSpPr>
            <p:nvPr/>
          </p:nvSpPr>
          <p:spPr bwMode="auto">
            <a:xfrm>
              <a:off x="3465891" y="3310622"/>
              <a:ext cx="31651" cy="50086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97"/>
            <p:cNvSpPr>
              <a:spLocks noChangeShapeType="1"/>
            </p:cNvSpPr>
            <p:nvPr/>
          </p:nvSpPr>
          <p:spPr bwMode="auto">
            <a:xfrm>
              <a:off x="3465891" y="3310622"/>
              <a:ext cx="1758" cy="50086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Rectangle 98"/>
            <p:cNvSpPr>
              <a:spLocks noChangeArrowheads="1"/>
            </p:cNvSpPr>
            <p:nvPr/>
          </p:nvSpPr>
          <p:spPr bwMode="auto">
            <a:xfrm>
              <a:off x="4626412" y="3310622"/>
              <a:ext cx="31651" cy="50086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99"/>
            <p:cNvSpPr>
              <a:spLocks noChangeShapeType="1"/>
            </p:cNvSpPr>
            <p:nvPr/>
          </p:nvSpPr>
          <p:spPr bwMode="auto">
            <a:xfrm>
              <a:off x="4626412" y="3310622"/>
              <a:ext cx="1758" cy="50086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Rectangle 100"/>
            <p:cNvSpPr>
              <a:spLocks noChangeArrowheads="1"/>
            </p:cNvSpPr>
            <p:nvPr/>
          </p:nvSpPr>
          <p:spPr bwMode="auto">
            <a:xfrm>
              <a:off x="6242349" y="3310622"/>
              <a:ext cx="47476" cy="50086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101"/>
            <p:cNvSpPr>
              <a:spLocks noChangeShapeType="1"/>
            </p:cNvSpPr>
            <p:nvPr/>
          </p:nvSpPr>
          <p:spPr bwMode="auto">
            <a:xfrm>
              <a:off x="6242349" y="3310622"/>
              <a:ext cx="1758" cy="50086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Rectangle 102"/>
            <p:cNvSpPr>
              <a:spLocks noChangeArrowheads="1"/>
            </p:cNvSpPr>
            <p:nvPr/>
          </p:nvSpPr>
          <p:spPr bwMode="auto">
            <a:xfrm>
              <a:off x="5375475" y="3700772"/>
              <a:ext cx="145944" cy="381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500" b="0">
                  <a:solidFill>
                    <a:srgbClr val="000000"/>
                  </a:solidFill>
                  <a:latin typeface="Symbol" panose="05050102010706020507" pitchFamily="18" charset="2"/>
                </a:rPr>
                <a:t>·</a:t>
              </a:r>
              <a:endParaRPr lang="en-US" altLang="zh-CN" b="0">
                <a:latin typeface="Verdana" panose="020B0604030504040204" pitchFamily="34" charset="0"/>
              </a:endParaRPr>
            </a:p>
          </p:txBody>
        </p:sp>
        <p:sp>
          <p:nvSpPr>
            <p:cNvPr id="121" name="Rectangle 103"/>
            <p:cNvSpPr>
              <a:spLocks noChangeArrowheads="1"/>
            </p:cNvSpPr>
            <p:nvPr/>
          </p:nvSpPr>
          <p:spPr bwMode="auto">
            <a:xfrm>
              <a:off x="5533728" y="3748222"/>
              <a:ext cx="158253" cy="381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500" b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en-US" altLang="zh-CN" b="0">
                <a:latin typeface="Verdana" panose="020B0604030504040204" pitchFamily="34" charset="0"/>
              </a:endParaRPr>
            </a:p>
          </p:txBody>
        </p:sp>
        <p:sp>
          <p:nvSpPr>
            <p:cNvPr id="122" name="Rectangle 104"/>
            <p:cNvSpPr>
              <a:spLocks noChangeArrowheads="1"/>
            </p:cNvSpPr>
            <p:nvPr/>
          </p:nvSpPr>
          <p:spPr bwMode="auto">
            <a:xfrm>
              <a:off x="5375475" y="3899361"/>
              <a:ext cx="147476" cy="384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500" b="0">
                  <a:solidFill>
                    <a:srgbClr val="FF00FF"/>
                  </a:solidFill>
                  <a:latin typeface="Symbol" panose="05050102010706020507" pitchFamily="18" charset="2"/>
                </a:rPr>
                <a:t>·</a:t>
              </a:r>
              <a:endParaRPr lang="en-US" altLang="zh-CN" b="0">
                <a:solidFill>
                  <a:srgbClr val="FF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23" name="Rectangle 105"/>
            <p:cNvSpPr>
              <a:spLocks noChangeArrowheads="1"/>
            </p:cNvSpPr>
            <p:nvPr/>
          </p:nvSpPr>
          <p:spPr bwMode="auto">
            <a:xfrm>
              <a:off x="5533728" y="3946812"/>
              <a:ext cx="158253" cy="381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500" b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en-US" altLang="zh-CN" b="0">
                <a:latin typeface="Verdana" panose="020B0604030504040204" pitchFamily="34" charset="0"/>
              </a:endParaRPr>
            </a:p>
          </p:txBody>
        </p:sp>
        <p:sp>
          <p:nvSpPr>
            <p:cNvPr id="124" name="Rectangle 106"/>
            <p:cNvSpPr>
              <a:spLocks noChangeArrowheads="1"/>
            </p:cNvSpPr>
            <p:nvPr/>
          </p:nvSpPr>
          <p:spPr bwMode="auto">
            <a:xfrm>
              <a:off x="5375475" y="4097951"/>
              <a:ext cx="145944" cy="379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500" b="0">
                  <a:solidFill>
                    <a:srgbClr val="000000"/>
                  </a:solidFill>
                  <a:latin typeface="Symbol" panose="05050102010706020507" pitchFamily="18" charset="2"/>
                </a:rPr>
                <a:t>·</a:t>
              </a:r>
              <a:endParaRPr lang="en-US" altLang="zh-CN" b="0">
                <a:latin typeface="Verdana" panose="020B0604030504040204" pitchFamily="34" charset="0"/>
              </a:endParaRPr>
            </a:p>
          </p:txBody>
        </p:sp>
        <p:sp>
          <p:nvSpPr>
            <p:cNvPr id="125" name="Rectangle 107"/>
            <p:cNvSpPr>
              <a:spLocks noChangeArrowheads="1"/>
            </p:cNvSpPr>
            <p:nvPr/>
          </p:nvSpPr>
          <p:spPr bwMode="auto">
            <a:xfrm>
              <a:off x="5533728" y="4145401"/>
              <a:ext cx="158253" cy="379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500" b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en-US" altLang="zh-CN" b="0">
                <a:latin typeface="Verdana" panose="020B0604030504040204" pitchFamily="34" charset="0"/>
              </a:endParaRPr>
            </a:p>
          </p:txBody>
        </p:sp>
        <p:sp>
          <p:nvSpPr>
            <p:cNvPr id="126" name="Rectangle 108"/>
            <p:cNvSpPr>
              <a:spLocks noChangeArrowheads="1"/>
            </p:cNvSpPr>
            <p:nvPr/>
          </p:nvSpPr>
          <p:spPr bwMode="auto">
            <a:xfrm>
              <a:off x="2303612" y="3811490"/>
              <a:ext cx="47476" cy="7908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109"/>
            <p:cNvSpPr>
              <a:spLocks noChangeShapeType="1"/>
            </p:cNvSpPr>
            <p:nvPr/>
          </p:nvSpPr>
          <p:spPr bwMode="auto">
            <a:xfrm>
              <a:off x="2303612" y="3811490"/>
              <a:ext cx="1758" cy="7908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Rectangle 110"/>
            <p:cNvSpPr>
              <a:spLocks noChangeArrowheads="1"/>
            </p:cNvSpPr>
            <p:nvPr/>
          </p:nvSpPr>
          <p:spPr bwMode="auto">
            <a:xfrm>
              <a:off x="3465891" y="3811490"/>
              <a:ext cx="31651" cy="7908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111"/>
            <p:cNvSpPr>
              <a:spLocks noChangeShapeType="1"/>
            </p:cNvSpPr>
            <p:nvPr/>
          </p:nvSpPr>
          <p:spPr bwMode="auto">
            <a:xfrm>
              <a:off x="3465891" y="3811490"/>
              <a:ext cx="1758" cy="7908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Rectangle 112"/>
            <p:cNvSpPr>
              <a:spLocks noChangeArrowheads="1"/>
            </p:cNvSpPr>
            <p:nvPr/>
          </p:nvSpPr>
          <p:spPr bwMode="auto">
            <a:xfrm>
              <a:off x="4626412" y="3811490"/>
              <a:ext cx="31651" cy="7908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113"/>
            <p:cNvSpPr>
              <a:spLocks noChangeShapeType="1"/>
            </p:cNvSpPr>
            <p:nvPr/>
          </p:nvSpPr>
          <p:spPr bwMode="auto">
            <a:xfrm>
              <a:off x="4626412" y="3811490"/>
              <a:ext cx="1758" cy="7908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Rectangle 114"/>
            <p:cNvSpPr>
              <a:spLocks noChangeArrowheads="1"/>
            </p:cNvSpPr>
            <p:nvPr/>
          </p:nvSpPr>
          <p:spPr bwMode="auto">
            <a:xfrm>
              <a:off x="4658062" y="3811490"/>
              <a:ext cx="1584287" cy="3163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115"/>
            <p:cNvSpPr>
              <a:spLocks noChangeShapeType="1"/>
            </p:cNvSpPr>
            <p:nvPr/>
          </p:nvSpPr>
          <p:spPr bwMode="auto">
            <a:xfrm>
              <a:off x="4658062" y="3811490"/>
              <a:ext cx="1584287" cy="175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Rectangle 116"/>
            <p:cNvSpPr>
              <a:spLocks noChangeArrowheads="1"/>
            </p:cNvSpPr>
            <p:nvPr/>
          </p:nvSpPr>
          <p:spPr bwMode="auto">
            <a:xfrm>
              <a:off x="6242349" y="3811490"/>
              <a:ext cx="47476" cy="7908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117"/>
            <p:cNvSpPr>
              <a:spLocks noChangeShapeType="1"/>
            </p:cNvSpPr>
            <p:nvPr/>
          </p:nvSpPr>
          <p:spPr bwMode="auto">
            <a:xfrm>
              <a:off x="6242349" y="3811490"/>
              <a:ext cx="1758" cy="7908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Rectangle 118"/>
            <p:cNvSpPr>
              <a:spLocks noChangeArrowheads="1"/>
            </p:cNvSpPr>
            <p:nvPr/>
          </p:nvSpPr>
          <p:spPr bwMode="auto">
            <a:xfrm>
              <a:off x="2303612" y="3890574"/>
              <a:ext cx="47476" cy="64497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119"/>
            <p:cNvSpPr>
              <a:spLocks noChangeShapeType="1"/>
            </p:cNvSpPr>
            <p:nvPr/>
          </p:nvSpPr>
          <p:spPr bwMode="auto">
            <a:xfrm>
              <a:off x="2303612" y="3890574"/>
              <a:ext cx="1758" cy="64497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Rectangle 120"/>
            <p:cNvSpPr>
              <a:spLocks noChangeArrowheads="1"/>
            </p:cNvSpPr>
            <p:nvPr/>
          </p:nvSpPr>
          <p:spPr bwMode="auto">
            <a:xfrm>
              <a:off x="3465891" y="3890574"/>
              <a:ext cx="31651" cy="64497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121"/>
            <p:cNvSpPr>
              <a:spLocks noChangeShapeType="1"/>
            </p:cNvSpPr>
            <p:nvPr/>
          </p:nvSpPr>
          <p:spPr bwMode="auto">
            <a:xfrm>
              <a:off x="3465891" y="3890574"/>
              <a:ext cx="1758" cy="64497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Rectangle 122"/>
            <p:cNvSpPr>
              <a:spLocks noChangeArrowheads="1"/>
            </p:cNvSpPr>
            <p:nvPr/>
          </p:nvSpPr>
          <p:spPr bwMode="auto">
            <a:xfrm>
              <a:off x="4626412" y="3890574"/>
              <a:ext cx="31651" cy="64497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123"/>
            <p:cNvSpPr>
              <a:spLocks noChangeShapeType="1"/>
            </p:cNvSpPr>
            <p:nvPr/>
          </p:nvSpPr>
          <p:spPr bwMode="auto">
            <a:xfrm>
              <a:off x="4626412" y="3890574"/>
              <a:ext cx="1758" cy="64497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Rectangle 124"/>
            <p:cNvSpPr>
              <a:spLocks noChangeArrowheads="1"/>
            </p:cNvSpPr>
            <p:nvPr/>
          </p:nvSpPr>
          <p:spPr bwMode="auto">
            <a:xfrm>
              <a:off x="6242349" y="3890574"/>
              <a:ext cx="47476" cy="64497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125"/>
            <p:cNvSpPr>
              <a:spLocks noChangeShapeType="1"/>
            </p:cNvSpPr>
            <p:nvPr/>
          </p:nvSpPr>
          <p:spPr bwMode="auto">
            <a:xfrm>
              <a:off x="6242349" y="3890574"/>
              <a:ext cx="1758" cy="64497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Rectangle 130"/>
            <p:cNvSpPr>
              <a:spLocks noChangeArrowheads="1"/>
            </p:cNvSpPr>
            <p:nvPr/>
          </p:nvSpPr>
          <p:spPr bwMode="auto">
            <a:xfrm>
              <a:off x="3251370" y="4050500"/>
              <a:ext cx="158253" cy="379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500" b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en-US" altLang="zh-CN" b="0">
                <a:latin typeface="Verdana" panose="020B0604030504040204" pitchFamily="34" charset="0"/>
              </a:endParaRPr>
            </a:p>
          </p:txBody>
        </p:sp>
        <p:sp>
          <p:nvSpPr>
            <p:cNvPr id="152" name="Rectangle 134"/>
            <p:cNvSpPr>
              <a:spLocks noChangeArrowheads="1"/>
            </p:cNvSpPr>
            <p:nvPr/>
          </p:nvSpPr>
          <p:spPr bwMode="auto">
            <a:xfrm>
              <a:off x="4237813" y="3827307"/>
              <a:ext cx="160011" cy="381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500" b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en-US" altLang="zh-CN" b="0">
                <a:latin typeface="Verdana" panose="020B0604030504040204" pitchFamily="34" charset="0"/>
              </a:endParaRPr>
            </a:p>
          </p:txBody>
        </p:sp>
        <p:sp>
          <p:nvSpPr>
            <p:cNvPr id="153" name="Rectangle 135"/>
            <p:cNvSpPr>
              <a:spLocks noChangeArrowheads="1"/>
            </p:cNvSpPr>
            <p:nvPr/>
          </p:nvSpPr>
          <p:spPr bwMode="auto">
            <a:xfrm>
              <a:off x="4793456" y="4653299"/>
              <a:ext cx="1306465" cy="384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zh-CN" altLang="en-US" sz="2500" b="0" dirty="0">
                  <a:solidFill>
                    <a:srgbClr val="FF00FF"/>
                  </a:solidFill>
                  <a:latin typeface="楷体_GB2312" pitchFamily="49" charset="-122"/>
                  <a:ea typeface="楷体_GB2312" pitchFamily="49" charset="-122"/>
                </a:rPr>
                <a:t>宏单元</a:t>
              </a:r>
              <a:r>
                <a:rPr lang="en-US" altLang="zh-CN" sz="2500" dirty="0">
                  <a:solidFill>
                    <a:srgbClr val="FF00FF"/>
                  </a:solidFill>
                  <a:latin typeface="楷体_GB2312" pitchFamily="49" charset="-122"/>
                  <a:ea typeface="楷体_GB2312" pitchFamily="49" charset="-122"/>
                </a:rPr>
                <a:t>m</a:t>
              </a:r>
              <a:endParaRPr lang="zh-CN" altLang="en-US" b="0" dirty="0">
                <a:solidFill>
                  <a:srgbClr val="FF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55" name="Rectangle 137"/>
            <p:cNvSpPr>
              <a:spLocks noChangeArrowheads="1"/>
            </p:cNvSpPr>
            <p:nvPr/>
          </p:nvSpPr>
          <p:spPr bwMode="auto">
            <a:xfrm>
              <a:off x="6106955" y="4653299"/>
              <a:ext cx="158253" cy="379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500" b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en-US" altLang="zh-CN" b="0">
                <a:latin typeface="Verdana" panose="020B0604030504040204" pitchFamily="34" charset="0"/>
              </a:endParaRPr>
            </a:p>
          </p:txBody>
        </p:sp>
        <p:sp>
          <p:nvSpPr>
            <p:cNvPr id="169" name="Rectangle 138"/>
            <p:cNvSpPr>
              <a:spLocks noChangeArrowheads="1"/>
            </p:cNvSpPr>
            <p:nvPr/>
          </p:nvSpPr>
          <p:spPr bwMode="auto">
            <a:xfrm>
              <a:off x="2303612" y="4535551"/>
              <a:ext cx="47476" cy="7908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Line 139"/>
            <p:cNvSpPr>
              <a:spLocks noChangeShapeType="1"/>
            </p:cNvSpPr>
            <p:nvPr/>
          </p:nvSpPr>
          <p:spPr bwMode="auto">
            <a:xfrm>
              <a:off x="2303612" y="4535551"/>
              <a:ext cx="1758" cy="7908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Rectangle 140"/>
            <p:cNvSpPr>
              <a:spLocks noChangeArrowheads="1"/>
            </p:cNvSpPr>
            <p:nvPr/>
          </p:nvSpPr>
          <p:spPr bwMode="auto">
            <a:xfrm>
              <a:off x="3465891" y="4535551"/>
              <a:ext cx="31651" cy="7908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Line 141"/>
            <p:cNvSpPr>
              <a:spLocks noChangeShapeType="1"/>
            </p:cNvSpPr>
            <p:nvPr/>
          </p:nvSpPr>
          <p:spPr bwMode="auto">
            <a:xfrm>
              <a:off x="3465891" y="4535551"/>
              <a:ext cx="1758" cy="7908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Rectangle 142"/>
            <p:cNvSpPr>
              <a:spLocks noChangeArrowheads="1"/>
            </p:cNvSpPr>
            <p:nvPr/>
          </p:nvSpPr>
          <p:spPr bwMode="auto">
            <a:xfrm>
              <a:off x="4626412" y="4535551"/>
              <a:ext cx="31651" cy="7908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Line 143"/>
            <p:cNvSpPr>
              <a:spLocks noChangeShapeType="1"/>
            </p:cNvSpPr>
            <p:nvPr/>
          </p:nvSpPr>
          <p:spPr bwMode="auto">
            <a:xfrm>
              <a:off x="4626412" y="4535551"/>
              <a:ext cx="1758" cy="7908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Rectangle 144"/>
            <p:cNvSpPr>
              <a:spLocks noChangeArrowheads="1"/>
            </p:cNvSpPr>
            <p:nvPr/>
          </p:nvSpPr>
          <p:spPr bwMode="auto">
            <a:xfrm>
              <a:off x="4658062" y="4535551"/>
              <a:ext cx="1584287" cy="3163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145"/>
            <p:cNvSpPr>
              <a:spLocks noChangeShapeType="1"/>
            </p:cNvSpPr>
            <p:nvPr/>
          </p:nvSpPr>
          <p:spPr bwMode="auto">
            <a:xfrm>
              <a:off x="4658062" y="4535551"/>
              <a:ext cx="1584287" cy="175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Rectangle 146"/>
            <p:cNvSpPr>
              <a:spLocks noChangeArrowheads="1"/>
            </p:cNvSpPr>
            <p:nvPr/>
          </p:nvSpPr>
          <p:spPr bwMode="auto">
            <a:xfrm>
              <a:off x="6242349" y="4535551"/>
              <a:ext cx="47476" cy="7908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147"/>
            <p:cNvSpPr>
              <a:spLocks noChangeShapeType="1"/>
            </p:cNvSpPr>
            <p:nvPr/>
          </p:nvSpPr>
          <p:spPr bwMode="auto">
            <a:xfrm>
              <a:off x="6242349" y="4535551"/>
              <a:ext cx="1758" cy="7908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Rectangle 148"/>
            <p:cNvSpPr>
              <a:spLocks noChangeArrowheads="1"/>
            </p:cNvSpPr>
            <p:nvPr/>
          </p:nvSpPr>
          <p:spPr bwMode="auto">
            <a:xfrm>
              <a:off x="2303612" y="4614635"/>
              <a:ext cx="47476" cy="50086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149"/>
            <p:cNvSpPr>
              <a:spLocks noChangeShapeType="1"/>
            </p:cNvSpPr>
            <p:nvPr/>
          </p:nvSpPr>
          <p:spPr bwMode="auto">
            <a:xfrm>
              <a:off x="2303612" y="4614635"/>
              <a:ext cx="1758" cy="38839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Rectangle 150"/>
            <p:cNvSpPr>
              <a:spLocks noChangeArrowheads="1"/>
            </p:cNvSpPr>
            <p:nvPr/>
          </p:nvSpPr>
          <p:spPr bwMode="auto">
            <a:xfrm>
              <a:off x="2303612" y="5115503"/>
              <a:ext cx="47476" cy="4745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Line 151"/>
            <p:cNvSpPr>
              <a:spLocks noChangeShapeType="1"/>
            </p:cNvSpPr>
            <p:nvPr/>
          </p:nvSpPr>
          <p:spPr bwMode="auto">
            <a:xfrm>
              <a:off x="2303612" y="5115503"/>
              <a:ext cx="47476" cy="175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Line 152"/>
            <p:cNvSpPr>
              <a:spLocks noChangeShapeType="1"/>
            </p:cNvSpPr>
            <p:nvPr/>
          </p:nvSpPr>
          <p:spPr bwMode="auto">
            <a:xfrm>
              <a:off x="2303612" y="5115503"/>
              <a:ext cx="1758" cy="4745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Rectangle 153"/>
            <p:cNvSpPr>
              <a:spLocks noChangeArrowheads="1"/>
            </p:cNvSpPr>
            <p:nvPr/>
          </p:nvSpPr>
          <p:spPr bwMode="auto">
            <a:xfrm>
              <a:off x="2303612" y="5115503"/>
              <a:ext cx="47476" cy="4745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Line 154"/>
            <p:cNvSpPr>
              <a:spLocks noChangeShapeType="1"/>
            </p:cNvSpPr>
            <p:nvPr/>
          </p:nvSpPr>
          <p:spPr bwMode="auto">
            <a:xfrm>
              <a:off x="2303612" y="5115503"/>
              <a:ext cx="47476" cy="175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Line 155"/>
            <p:cNvSpPr>
              <a:spLocks noChangeShapeType="1"/>
            </p:cNvSpPr>
            <p:nvPr/>
          </p:nvSpPr>
          <p:spPr bwMode="auto">
            <a:xfrm>
              <a:off x="2303612" y="5115503"/>
              <a:ext cx="1758" cy="4745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Rectangle 156"/>
            <p:cNvSpPr>
              <a:spLocks noChangeArrowheads="1"/>
            </p:cNvSpPr>
            <p:nvPr/>
          </p:nvSpPr>
          <p:spPr bwMode="auto">
            <a:xfrm>
              <a:off x="2351087" y="5115503"/>
              <a:ext cx="1114803" cy="4745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" name="Line 157"/>
            <p:cNvSpPr>
              <a:spLocks noChangeShapeType="1"/>
            </p:cNvSpPr>
            <p:nvPr/>
          </p:nvSpPr>
          <p:spPr bwMode="auto">
            <a:xfrm>
              <a:off x="2351087" y="5115503"/>
              <a:ext cx="1114803" cy="175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" name="Rectangle 158"/>
            <p:cNvSpPr>
              <a:spLocks noChangeArrowheads="1"/>
            </p:cNvSpPr>
            <p:nvPr/>
          </p:nvSpPr>
          <p:spPr bwMode="auto">
            <a:xfrm>
              <a:off x="3465891" y="4614635"/>
              <a:ext cx="31651" cy="50086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Line 159"/>
            <p:cNvSpPr>
              <a:spLocks noChangeShapeType="1"/>
            </p:cNvSpPr>
            <p:nvPr/>
          </p:nvSpPr>
          <p:spPr bwMode="auto">
            <a:xfrm>
              <a:off x="3465891" y="4614635"/>
              <a:ext cx="1758" cy="38839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Rectangle 160"/>
            <p:cNvSpPr>
              <a:spLocks noChangeArrowheads="1"/>
            </p:cNvSpPr>
            <p:nvPr/>
          </p:nvSpPr>
          <p:spPr bwMode="auto">
            <a:xfrm>
              <a:off x="3465891" y="5115503"/>
              <a:ext cx="47476" cy="4745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Line 161"/>
            <p:cNvSpPr>
              <a:spLocks noChangeShapeType="1"/>
            </p:cNvSpPr>
            <p:nvPr/>
          </p:nvSpPr>
          <p:spPr bwMode="auto">
            <a:xfrm>
              <a:off x="3465891" y="5115503"/>
              <a:ext cx="47476" cy="175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Line 162"/>
            <p:cNvSpPr>
              <a:spLocks noChangeShapeType="1"/>
            </p:cNvSpPr>
            <p:nvPr/>
          </p:nvSpPr>
          <p:spPr bwMode="auto">
            <a:xfrm>
              <a:off x="3465891" y="5115503"/>
              <a:ext cx="1758" cy="4745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Rectangle 163"/>
            <p:cNvSpPr>
              <a:spLocks noChangeArrowheads="1"/>
            </p:cNvSpPr>
            <p:nvPr/>
          </p:nvSpPr>
          <p:spPr bwMode="auto">
            <a:xfrm>
              <a:off x="3513367" y="5115503"/>
              <a:ext cx="1113045" cy="4745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Line 164"/>
            <p:cNvSpPr>
              <a:spLocks noChangeShapeType="1"/>
            </p:cNvSpPr>
            <p:nvPr/>
          </p:nvSpPr>
          <p:spPr bwMode="auto">
            <a:xfrm>
              <a:off x="3513367" y="5115503"/>
              <a:ext cx="1113045" cy="175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Rectangle 165"/>
            <p:cNvSpPr>
              <a:spLocks noChangeArrowheads="1"/>
            </p:cNvSpPr>
            <p:nvPr/>
          </p:nvSpPr>
          <p:spPr bwMode="auto">
            <a:xfrm>
              <a:off x="4626412" y="4614635"/>
              <a:ext cx="31651" cy="50086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166"/>
            <p:cNvSpPr>
              <a:spLocks noChangeShapeType="1"/>
            </p:cNvSpPr>
            <p:nvPr/>
          </p:nvSpPr>
          <p:spPr bwMode="auto">
            <a:xfrm>
              <a:off x="4626412" y="4614635"/>
              <a:ext cx="1758" cy="38839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Rectangle 167"/>
            <p:cNvSpPr>
              <a:spLocks noChangeArrowheads="1"/>
            </p:cNvSpPr>
            <p:nvPr/>
          </p:nvSpPr>
          <p:spPr bwMode="auto">
            <a:xfrm>
              <a:off x="4626412" y="5115503"/>
              <a:ext cx="47476" cy="4745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Line 168"/>
            <p:cNvSpPr>
              <a:spLocks noChangeShapeType="1"/>
            </p:cNvSpPr>
            <p:nvPr/>
          </p:nvSpPr>
          <p:spPr bwMode="auto">
            <a:xfrm>
              <a:off x="4626412" y="5115503"/>
              <a:ext cx="47476" cy="175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Line 169"/>
            <p:cNvSpPr>
              <a:spLocks noChangeShapeType="1"/>
            </p:cNvSpPr>
            <p:nvPr/>
          </p:nvSpPr>
          <p:spPr bwMode="auto">
            <a:xfrm>
              <a:off x="4626412" y="5115503"/>
              <a:ext cx="1758" cy="4745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Rectangle 170"/>
            <p:cNvSpPr>
              <a:spLocks noChangeArrowheads="1"/>
            </p:cNvSpPr>
            <p:nvPr/>
          </p:nvSpPr>
          <p:spPr bwMode="auto">
            <a:xfrm>
              <a:off x="4673888" y="5115503"/>
              <a:ext cx="1568462" cy="4745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Line 171"/>
            <p:cNvSpPr>
              <a:spLocks noChangeShapeType="1"/>
            </p:cNvSpPr>
            <p:nvPr/>
          </p:nvSpPr>
          <p:spPr bwMode="auto">
            <a:xfrm>
              <a:off x="4673888" y="5115503"/>
              <a:ext cx="1568462" cy="175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Rectangle 172"/>
            <p:cNvSpPr>
              <a:spLocks noChangeArrowheads="1"/>
            </p:cNvSpPr>
            <p:nvPr/>
          </p:nvSpPr>
          <p:spPr bwMode="auto">
            <a:xfrm>
              <a:off x="6242349" y="4614635"/>
              <a:ext cx="47476" cy="50086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Line 173"/>
            <p:cNvSpPr>
              <a:spLocks noChangeShapeType="1"/>
            </p:cNvSpPr>
            <p:nvPr/>
          </p:nvSpPr>
          <p:spPr bwMode="auto">
            <a:xfrm>
              <a:off x="6242349" y="4614635"/>
              <a:ext cx="1758" cy="38839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Rectangle 174"/>
            <p:cNvSpPr>
              <a:spLocks noChangeArrowheads="1"/>
            </p:cNvSpPr>
            <p:nvPr/>
          </p:nvSpPr>
          <p:spPr bwMode="auto">
            <a:xfrm>
              <a:off x="6242349" y="5115503"/>
              <a:ext cx="47476" cy="4745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Line 175"/>
            <p:cNvSpPr>
              <a:spLocks noChangeShapeType="1"/>
            </p:cNvSpPr>
            <p:nvPr/>
          </p:nvSpPr>
          <p:spPr bwMode="auto">
            <a:xfrm>
              <a:off x="6242349" y="5115503"/>
              <a:ext cx="47476" cy="175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Line 176"/>
            <p:cNvSpPr>
              <a:spLocks noChangeShapeType="1"/>
            </p:cNvSpPr>
            <p:nvPr/>
          </p:nvSpPr>
          <p:spPr bwMode="auto">
            <a:xfrm>
              <a:off x="6242349" y="5115503"/>
              <a:ext cx="1758" cy="4745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Rectangle 177"/>
            <p:cNvSpPr>
              <a:spLocks noChangeArrowheads="1"/>
            </p:cNvSpPr>
            <p:nvPr/>
          </p:nvSpPr>
          <p:spPr bwMode="auto">
            <a:xfrm>
              <a:off x="6242349" y="5115503"/>
              <a:ext cx="47476" cy="4745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Line 178"/>
            <p:cNvSpPr>
              <a:spLocks noChangeShapeType="1"/>
            </p:cNvSpPr>
            <p:nvPr/>
          </p:nvSpPr>
          <p:spPr bwMode="auto">
            <a:xfrm>
              <a:off x="6242349" y="5115503"/>
              <a:ext cx="47476" cy="175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Line 179"/>
            <p:cNvSpPr>
              <a:spLocks noChangeShapeType="1"/>
            </p:cNvSpPr>
            <p:nvPr/>
          </p:nvSpPr>
          <p:spPr bwMode="auto">
            <a:xfrm>
              <a:off x="6242349" y="5115503"/>
              <a:ext cx="1758" cy="4745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Line 181"/>
            <p:cNvSpPr>
              <a:spLocks noChangeShapeType="1"/>
            </p:cNvSpPr>
            <p:nvPr/>
          </p:nvSpPr>
          <p:spPr bwMode="auto">
            <a:xfrm>
              <a:off x="6775134" y="3310622"/>
              <a:ext cx="1758" cy="92968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Line 182"/>
            <p:cNvSpPr>
              <a:spLocks noChangeShapeType="1"/>
            </p:cNvSpPr>
            <p:nvPr/>
          </p:nvSpPr>
          <p:spPr bwMode="auto">
            <a:xfrm>
              <a:off x="6775134" y="4240303"/>
              <a:ext cx="794781" cy="175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Freeform 183"/>
            <p:cNvSpPr/>
            <p:nvPr/>
          </p:nvSpPr>
          <p:spPr bwMode="auto">
            <a:xfrm>
              <a:off x="7427487" y="4177035"/>
              <a:ext cx="309472" cy="94901"/>
            </a:xfrm>
            <a:custGeom>
              <a:avLst/>
              <a:gdLst>
                <a:gd name="T0" fmla="*/ 0 w 176"/>
                <a:gd name="T1" fmla="*/ 0 h 54"/>
                <a:gd name="T2" fmla="*/ 0 w 176"/>
                <a:gd name="T3" fmla="*/ 54 h 54"/>
                <a:gd name="T4" fmla="*/ 176 w 176"/>
                <a:gd name="T5" fmla="*/ 27 h 54"/>
                <a:gd name="T6" fmla="*/ 0 w 176"/>
                <a:gd name="T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6" h="54">
                  <a:moveTo>
                    <a:pt x="0" y="0"/>
                  </a:moveTo>
                  <a:lnTo>
                    <a:pt x="0" y="54"/>
                  </a:lnTo>
                  <a:lnTo>
                    <a:pt x="176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Freeform 184"/>
            <p:cNvSpPr/>
            <p:nvPr/>
          </p:nvSpPr>
          <p:spPr bwMode="auto">
            <a:xfrm>
              <a:off x="7427487" y="4177035"/>
              <a:ext cx="309472" cy="94901"/>
            </a:xfrm>
            <a:custGeom>
              <a:avLst/>
              <a:gdLst>
                <a:gd name="T0" fmla="*/ 0 w 176"/>
                <a:gd name="T1" fmla="*/ 0 h 54"/>
                <a:gd name="T2" fmla="*/ 0 w 176"/>
                <a:gd name="T3" fmla="*/ 54 h 54"/>
                <a:gd name="T4" fmla="*/ 176 w 176"/>
                <a:gd name="T5" fmla="*/ 27 h 54"/>
                <a:gd name="T6" fmla="*/ 0 w 176"/>
                <a:gd name="T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6" h="54">
                  <a:moveTo>
                    <a:pt x="0" y="0"/>
                  </a:moveTo>
                  <a:lnTo>
                    <a:pt x="0" y="54"/>
                  </a:lnTo>
                  <a:lnTo>
                    <a:pt x="176" y="2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Freeform 185"/>
            <p:cNvSpPr/>
            <p:nvPr/>
          </p:nvSpPr>
          <p:spPr bwMode="auto">
            <a:xfrm>
              <a:off x="6734691" y="3271959"/>
              <a:ext cx="103744" cy="103688"/>
            </a:xfrm>
            <a:custGeom>
              <a:avLst/>
              <a:gdLst>
                <a:gd name="T0" fmla="*/ 27 w 59"/>
                <a:gd name="T1" fmla="*/ 0 h 59"/>
                <a:gd name="T2" fmla="*/ 23 w 59"/>
                <a:gd name="T3" fmla="*/ 4 h 59"/>
                <a:gd name="T4" fmla="*/ 18 w 59"/>
                <a:gd name="T5" fmla="*/ 4 h 59"/>
                <a:gd name="T6" fmla="*/ 9 w 59"/>
                <a:gd name="T7" fmla="*/ 9 h 59"/>
                <a:gd name="T8" fmla="*/ 0 w 59"/>
                <a:gd name="T9" fmla="*/ 18 h 59"/>
                <a:gd name="T10" fmla="*/ 0 w 59"/>
                <a:gd name="T11" fmla="*/ 27 h 59"/>
                <a:gd name="T12" fmla="*/ 0 w 59"/>
                <a:gd name="T13" fmla="*/ 31 h 59"/>
                <a:gd name="T14" fmla="*/ 0 w 59"/>
                <a:gd name="T15" fmla="*/ 36 h 59"/>
                <a:gd name="T16" fmla="*/ 0 w 59"/>
                <a:gd name="T17" fmla="*/ 40 h 59"/>
                <a:gd name="T18" fmla="*/ 9 w 59"/>
                <a:gd name="T19" fmla="*/ 54 h 59"/>
                <a:gd name="T20" fmla="*/ 18 w 59"/>
                <a:gd name="T21" fmla="*/ 59 h 59"/>
                <a:gd name="T22" fmla="*/ 23 w 59"/>
                <a:gd name="T23" fmla="*/ 59 h 59"/>
                <a:gd name="T24" fmla="*/ 27 w 59"/>
                <a:gd name="T25" fmla="*/ 59 h 59"/>
                <a:gd name="T26" fmla="*/ 36 w 59"/>
                <a:gd name="T27" fmla="*/ 59 h 59"/>
                <a:gd name="T28" fmla="*/ 41 w 59"/>
                <a:gd name="T29" fmla="*/ 59 h 59"/>
                <a:gd name="T30" fmla="*/ 50 w 59"/>
                <a:gd name="T31" fmla="*/ 54 h 59"/>
                <a:gd name="T32" fmla="*/ 54 w 59"/>
                <a:gd name="T33" fmla="*/ 40 h 59"/>
                <a:gd name="T34" fmla="*/ 59 w 59"/>
                <a:gd name="T35" fmla="*/ 36 h 59"/>
                <a:gd name="T36" fmla="*/ 59 w 59"/>
                <a:gd name="T37" fmla="*/ 31 h 59"/>
                <a:gd name="T38" fmla="*/ 59 w 59"/>
                <a:gd name="T39" fmla="*/ 27 h 59"/>
                <a:gd name="T40" fmla="*/ 54 w 59"/>
                <a:gd name="T41" fmla="*/ 18 h 59"/>
                <a:gd name="T42" fmla="*/ 50 w 59"/>
                <a:gd name="T43" fmla="*/ 9 h 59"/>
                <a:gd name="T44" fmla="*/ 41 w 59"/>
                <a:gd name="T45" fmla="*/ 4 h 59"/>
                <a:gd name="T46" fmla="*/ 36 w 59"/>
                <a:gd name="T47" fmla="*/ 4 h 59"/>
                <a:gd name="T48" fmla="*/ 27 w 59"/>
                <a:gd name="T49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9" h="59">
                  <a:moveTo>
                    <a:pt x="27" y="0"/>
                  </a:moveTo>
                  <a:lnTo>
                    <a:pt x="23" y="4"/>
                  </a:lnTo>
                  <a:lnTo>
                    <a:pt x="18" y="4"/>
                  </a:lnTo>
                  <a:lnTo>
                    <a:pt x="9" y="9"/>
                  </a:lnTo>
                  <a:lnTo>
                    <a:pt x="0" y="18"/>
                  </a:lnTo>
                  <a:lnTo>
                    <a:pt x="0" y="27"/>
                  </a:lnTo>
                  <a:lnTo>
                    <a:pt x="0" y="31"/>
                  </a:lnTo>
                  <a:lnTo>
                    <a:pt x="0" y="36"/>
                  </a:lnTo>
                  <a:lnTo>
                    <a:pt x="0" y="40"/>
                  </a:lnTo>
                  <a:lnTo>
                    <a:pt x="9" y="54"/>
                  </a:lnTo>
                  <a:lnTo>
                    <a:pt x="18" y="59"/>
                  </a:lnTo>
                  <a:lnTo>
                    <a:pt x="23" y="59"/>
                  </a:lnTo>
                  <a:lnTo>
                    <a:pt x="27" y="59"/>
                  </a:lnTo>
                  <a:lnTo>
                    <a:pt x="36" y="59"/>
                  </a:lnTo>
                  <a:lnTo>
                    <a:pt x="41" y="59"/>
                  </a:lnTo>
                  <a:lnTo>
                    <a:pt x="50" y="54"/>
                  </a:lnTo>
                  <a:lnTo>
                    <a:pt x="54" y="40"/>
                  </a:lnTo>
                  <a:lnTo>
                    <a:pt x="59" y="36"/>
                  </a:lnTo>
                  <a:lnTo>
                    <a:pt x="59" y="31"/>
                  </a:lnTo>
                  <a:lnTo>
                    <a:pt x="59" y="27"/>
                  </a:lnTo>
                  <a:lnTo>
                    <a:pt x="54" y="18"/>
                  </a:lnTo>
                  <a:lnTo>
                    <a:pt x="50" y="9"/>
                  </a:lnTo>
                  <a:lnTo>
                    <a:pt x="41" y="4"/>
                  </a:lnTo>
                  <a:lnTo>
                    <a:pt x="36" y="4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Freeform 186"/>
            <p:cNvSpPr/>
            <p:nvPr/>
          </p:nvSpPr>
          <p:spPr bwMode="auto">
            <a:xfrm>
              <a:off x="6734691" y="3271959"/>
              <a:ext cx="103744" cy="103688"/>
            </a:xfrm>
            <a:custGeom>
              <a:avLst/>
              <a:gdLst>
                <a:gd name="T0" fmla="*/ 27 w 59"/>
                <a:gd name="T1" fmla="*/ 0 h 59"/>
                <a:gd name="T2" fmla="*/ 23 w 59"/>
                <a:gd name="T3" fmla="*/ 4 h 59"/>
                <a:gd name="T4" fmla="*/ 18 w 59"/>
                <a:gd name="T5" fmla="*/ 4 h 59"/>
                <a:gd name="T6" fmla="*/ 9 w 59"/>
                <a:gd name="T7" fmla="*/ 9 h 59"/>
                <a:gd name="T8" fmla="*/ 0 w 59"/>
                <a:gd name="T9" fmla="*/ 18 h 59"/>
                <a:gd name="T10" fmla="*/ 0 w 59"/>
                <a:gd name="T11" fmla="*/ 27 h 59"/>
                <a:gd name="T12" fmla="*/ 0 w 59"/>
                <a:gd name="T13" fmla="*/ 31 h 59"/>
                <a:gd name="T14" fmla="*/ 0 w 59"/>
                <a:gd name="T15" fmla="*/ 36 h 59"/>
                <a:gd name="T16" fmla="*/ 0 w 59"/>
                <a:gd name="T17" fmla="*/ 40 h 59"/>
                <a:gd name="T18" fmla="*/ 9 w 59"/>
                <a:gd name="T19" fmla="*/ 54 h 59"/>
                <a:gd name="T20" fmla="*/ 18 w 59"/>
                <a:gd name="T21" fmla="*/ 59 h 59"/>
                <a:gd name="T22" fmla="*/ 23 w 59"/>
                <a:gd name="T23" fmla="*/ 59 h 59"/>
                <a:gd name="T24" fmla="*/ 27 w 59"/>
                <a:gd name="T25" fmla="*/ 59 h 59"/>
                <a:gd name="T26" fmla="*/ 36 w 59"/>
                <a:gd name="T27" fmla="*/ 59 h 59"/>
                <a:gd name="T28" fmla="*/ 41 w 59"/>
                <a:gd name="T29" fmla="*/ 59 h 59"/>
                <a:gd name="T30" fmla="*/ 50 w 59"/>
                <a:gd name="T31" fmla="*/ 54 h 59"/>
                <a:gd name="T32" fmla="*/ 54 w 59"/>
                <a:gd name="T33" fmla="*/ 40 h 59"/>
                <a:gd name="T34" fmla="*/ 59 w 59"/>
                <a:gd name="T35" fmla="*/ 36 h 59"/>
                <a:gd name="T36" fmla="*/ 59 w 59"/>
                <a:gd name="T37" fmla="*/ 31 h 59"/>
                <a:gd name="T38" fmla="*/ 59 w 59"/>
                <a:gd name="T39" fmla="*/ 27 h 59"/>
                <a:gd name="T40" fmla="*/ 54 w 59"/>
                <a:gd name="T41" fmla="*/ 18 h 59"/>
                <a:gd name="T42" fmla="*/ 50 w 59"/>
                <a:gd name="T43" fmla="*/ 9 h 59"/>
                <a:gd name="T44" fmla="*/ 41 w 59"/>
                <a:gd name="T45" fmla="*/ 4 h 59"/>
                <a:gd name="T46" fmla="*/ 36 w 59"/>
                <a:gd name="T47" fmla="*/ 4 h 59"/>
                <a:gd name="T48" fmla="*/ 27 w 59"/>
                <a:gd name="T49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9" h="59">
                  <a:moveTo>
                    <a:pt x="27" y="0"/>
                  </a:moveTo>
                  <a:lnTo>
                    <a:pt x="23" y="4"/>
                  </a:lnTo>
                  <a:lnTo>
                    <a:pt x="18" y="4"/>
                  </a:lnTo>
                  <a:lnTo>
                    <a:pt x="9" y="9"/>
                  </a:lnTo>
                  <a:lnTo>
                    <a:pt x="0" y="18"/>
                  </a:lnTo>
                  <a:lnTo>
                    <a:pt x="0" y="27"/>
                  </a:lnTo>
                  <a:lnTo>
                    <a:pt x="0" y="31"/>
                  </a:lnTo>
                  <a:lnTo>
                    <a:pt x="0" y="36"/>
                  </a:lnTo>
                  <a:lnTo>
                    <a:pt x="0" y="40"/>
                  </a:lnTo>
                  <a:lnTo>
                    <a:pt x="9" y="54"/>
                  </a:lnTo>
                  <a:lnTo>
                    <a:pt x="18" y="59"/>
                  </a:lnTo>
                  <a:lnTo>
                    <a:pt x="23" y="59"/>
                  </a:lnTo>
                  <a:lnTo>
                    <a:pt x="27" y="59"/>
                  </a:lnTo>
                  <a:lnTo>
                    <a:pt x="36" y="59"/>
                  </a:lnTo>
                  <a:lnTo>
                    <a:pt x="41" y="59"/>
                  </a:lnTo>
                  <a:lnTo>
                    <a:pt x="50" y="54"/>
                  </a:lnTo>
                  <a:lnTo>
                    <a:pt x="54" y="40"/>
                  </a:lnTo>
                  <a:lnTo>
                    <a:pt x="59" y="36"/>
                  </a:lnTo>
                  <a:lnTo>
                    <a:pt x="59" y="31"/>
                  </a:lnTo>
                  <a:lnTo>
                    <a:pt x="59" y="27"/>
                  </a:lnTo>
                  <a:lnTo>
                    <a:pt x="54" y="18"/>
                  </a:lnTo>
                  <a:lnTo>
                    <a:pt x="50" y="9"/>
                  </a:lnTo>
                  <a:lnTo>
                    <a:pt x="41" y="4"/>
                  </a:lnTo>
                  <a:lnTo>
                    <a:pt x="36" y="4"/>
                  </a:lnTo>
                  <a:lnTo>
                    <a:pt x="27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8" name="Line 187"/>
            <p:cNvSpPr>
              <a:spLocks noChangeShapeType="1"/>
            </p:cNvSpPr>
            <p:nvPr/>
          </p:nvSpPr>
          <p:spPr bwMode="auto">
            <a:xfrm flipH="1">
              <a:off x="1635433" y="3375647"/>
              <a:ext cx="96710" cy="19859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Rectangle 192"/>
            <p:cNvSpPr>
              <a:spLocks noChangeArrowheads="1"/>
            </p:cNvSpPr>
            <p:nvPr/>
          </p:nvSpPr>
          <p:spPr bwMode="auto">
            <a:xfrm>
              <a:off x="8675926" y="4082134"/>
              <a:ext cx="158253" cy="379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500" b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en-US" altLang="zh-CN" b="0">
                <a:latin typeface="Verdana" panose="020B0604030504040204" pitchFamily="34" charset="0"/>
              </a:endParaRPr>
            </a:p>
          </p:txBody>
        </p:sp>
        <p:sp>
          <p:nvSpPr>
            <p:cNvPr id="224" name="Rectangle 193"/>
            <p:cNvSpPr>
              <a:spLocks noChangeArrowheads="1"/>
            </p:cNvSpPr>
            <p:nvPr/>
          </p:nvSpPr>
          <p:spPr bwMode="auto">
            <a:xfrm>
              <a:off x="6949212" y="2890596"/>
              <a:ext cx="160011" cy="379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500" b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m</a:t>
              </a:r>
              <a:endParaRPr lang="en-US" altLang="zh-CN" b="0">
                <a:latin typeface="Verdana" panose="020B0604030504040204" pitchFamily="34" charset="0"/>
              </a:endParaRPr>
            </a:p>
          </p:txBody>
        </p:sp>
        <p:sp>
          <p:nvSpPr>
            <p:cNvPr id="225" name="Rectangle 194"/>
            <p:cNvSpPr>
              <a:spLocks noChangeArrowheads="1"/>
            </p:cNvSpPr>
            <p:nvPr/>
          </p:nvSpPr>
          <p:spPr bwMode="auto">
            <a:xfrm>
              <a:off x="7125048" y="2890596"/>
              <a:ext cx="158253" cy="379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500" b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en-US" altLang="zh-CN" b="0">
                <a:latin typeface="Verdana" panose="020B0604030504040204" pitchFamily="34" charset="0"/>
              </a:endParaRPr>
            </a:p>
          </p:txBody>
        </p:sp>
        <p:sp>
          <p:nvSpPr>
            <p:cNvPr id="226" name="Line 195"/>
            <p:cNvSpPr>
              <a:spLocks noChangeShapeType="1"/>
            </p:cNvSpPr>
            <p:nvPr/>
          </p:nvSpPr>
          <p:spPr bwMode="auto">
            <a:xfrm flipH="1">
              <a:off x="7068781" y="3215721"/>
              <a:ext cx="94952" cy="19859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" name="Rectangle 196"/>
            <p:cNvSpPr>
              <a:spLocks noChangeArrowheads="1"/>
            </p:cNvSpPr>
            <p:nvPr/>
          </p:nvSpPr>
          <p:spPr bwMode="auto">
            <a:xfrm>
              <a:off x="6949212" y="3818519"/>
              <a:ext cx="160011" cy="381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500" b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m</a:t>
              </a:r>
              <a:endParaRPr lang="en-US" altLang="zh-CN" b="0">
                <a:latin typeface="Verdana" panose="020B0604030504040204" pitchFamily="34" charset="0"/>
              </a:endParaRPr>
            </a:p>
          </p:txBody>
        </p:sp>
        <p:sp>
          <p:nvSpPr>
            <p:cNvPr id="228" name="Rectangle 197"/>
            <p:cNvSpPr>
              <a:spLocks noChangeArrowheads="1"/>
            </p:cNvSpPr>
            <p:nvPr/>
          </p:nvSpPr>
          <p:spPr bwMode="auto">
            <a:xfrm>
              <a:off x="7125048" y="3818519"/>
              <a:ext cx="158253" cy="381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500" b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en-US" altLang="zh-CN" b="0">
                <a:latin typeface="Verdana" panose="020B0604030504040204" pitchFamily="34" charset="0"/>
              </a:endParaRPr>
            </a:p>
          </p:txBody>
        </p:sp>
        <p:sp>
          <p:nvSpPr>
            <p:cNvPr id="229" name="Line 198"/>
            <p:cNvSpPr>
              <a:spLocks noChangeShapeType="1"/>
            </p:cNvSpPr>
            <p:nvPr/>
          </p:nvSpPr>
          <p:spPr bwMode="auto">
            <a:xfrm flipH="1">
              <a:off x="7068781" y="4138372"/>
              <a:ext cx="94952" cy="19859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Rectangle 201"/>
            <p:cNvSpPr>
              <a:spLocks noChangeArrowheads="1"/>
            </p:cNvSpPr>
            <p:nvPr/>
          </p:nvSpPr>
          <p:spPr bwMode="auto">
            <a:xfrm>
              <a:off x="8723402" y="4312357"/>
              <a:ext cx="158253" cy="379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500" b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en-US" altLang="zh-CN" b="0">
                <a:latin typeface="Verdana" panose="020B0604030504040204" pitchFamily="34" charset="0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2448782" y="2863221"/>
              <a:ext cx="960841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F00FF"/>
                  </a:solidFill>
                </a:rPr>
                <a:t>可编程与阵列</a:t>
              </a:r>
              <a:endParaRPr lang="zh-CN" altLang="en-US" sz="2800" b="1" dirty="0">
                <a:solidFill>
                  <a:srgbClr val="FF00FF"/>
                </a:solidFill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581556" y="3047985"/>
              <a:ext cx="960841" cy="9469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F00FF"/>
                  </a:solidFill>
                </a:rPr>
                <a:t>与项分配</a:t>
              </a:r>
              <a:endParaRPr lang="zh-CN" altLang="en-US" sz="2800" b="1" dirty="0">
                <a:solidFill>
                  <a:srgbClr val="FF00FF"/>
                </a:solidFill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261465" y="2502920"/>
              <a:ext cx="1127112" cy="2229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内部可编程连线阵列</a:t>
              </a:r>
              <a:endPara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4" name="文本框 233"/>
            <p:cNvSpPr txBox="1"/>
            <p:nvPr/>
          </p:nvSpPr>
          <p:spPr>
            <a:xfrm>
              <a:off x="7773885" y="2524908"/>
              <a:ext cx="1107771" cy="2229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内部可编程连线阵列</a:t>
              </a:r>
              <a:endPara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915084" y="5280893"/>
            <a:ext cx="48200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CPLD</a:t>
            </a:r>
            <a:r>
              <a:rPr lang="zh-CN" altLang="en-US" sz="2800" b="1" dirty="0">
                <a:solidFill>
                  <a:srgbClr val="C00000"/>
                </a:solidFill>
              </a:rPr>
              <a:t>的计算部件</a:t>
            </a:r>
            <a:r>
              <a:rPr lang="en-US" altLang="zh-CN" sz="2800" b="1" dirty="0">
                <a:solidFill>
                  <a:srgbClr val="C00000"/>
                </a:solidFill>
              </a:rPr>
              <a:t>LAB</a:t>
            </a:r>
            <a:r>
              <a:rPr lang="zh-CN" altLang="en-US" sz="2800" b="1" dirty="0">
                <a:solidFill>
                  <a:srgbClr val="C00000"/>
                </a:solidFill>
              </a:rPr>
              <a:t>与</a:t>
            </a:r>
            <a:r>
              <a:rPr lang="en-US" altLang="zh-CN" sz="2800" b="1" dirty="0">
                <a:solidFill>
                  <a:srgbClr val="C00000"/>
                </a:solidFill>
              </a:rPr>
              <a:t>PLD</a:t>
            </a:r>
            <a:r>
              <a:rPr lang="zh-CN" altLang="en-US" sz="2800" b="1" dirty="0">
                <a:solidFill>
                  <a:srgbClr val="C00000"/>
                </a:solidFill>
              </a:rPr>
              <a:t>一样，也是基于与阵列和或阵列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4" y="50071"/>
            <a:ext cx="505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现场可编程门阵列</a:t>
            </a: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FPGA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graphicFrame>
        <p:nvGraphicFramePr>
          <p:cNvPr id="14" name="Object 3"/>
          <p:cNvGraphicFramePr>
            <a:graphicFrameLocks noChangeAspect="1"/>
          </p:cNvGraphicFramePr>
          <p:nvPr/>
        </p:nvGraphicFramePr>
        <p:xfrm>
          <a:off x="1714500" y="903288"/>
          <a:ext cx="5715000" cy="547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Visio" r:id="rId2" imgW="4439285" imgH="4360545" progId="Visio.Drawing.6">
                  <p:embed/>
                </p:oleObj>
              </mc:Choice>
              <mc:Fallback>
                <p:oleObj name="Visio" r:id="rId2" imgW="4439285" imgH="4360545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903288"/>
                        <a:ext cx="5715000" cy="5478462"/>
                      </a:xfrm>
                      <a:prstGeom prst="rect">
                        <a:avLst/>
                      </a:prstGeom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对话气泡: 矩形 2"/>
          <p:cNvSpPr/>
          <p:nvPr/>
        </p:nvSpPr>
        <p:spPr bwMode="auto">
          <a:xfrm>
            <a:off x="7519987" y="1169890"/>
            <a:ext cx="1409701" cy="830997"/>
          </a:xfrm>
          <a:prstGeom prst="wedgeRectCallout">
            <a:avLst>
              <a:gd name="adj1" fmla="val -99875"/>
              <a:gd name="adj2" fmla="val -4649"/>
            </a:avLst>
          </a:prstGeom>
          <a:solidFill>
            <a:srgbClr val="00FFFF"/>
          </a:solidFill>
          <a:ln w="9525">
            <a:solidFill>
              <a:schemeClr val="tx1"/>
            </a:solidFill>
            <a:round/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zh-CN" altLang="en-US" sz="2400" b="1" dirty="0"/>
              <a:t>可编程开关矩阵</a:t>
            </a:r>
            <a:endParaRPr lang="zh-CN" altLang="en-US" sz="2400" b="1" dirty="0"/>
          </a:p>
        </p:txBody>
      </p:sp>
      <p:sp>
        <p:nvSpPr>
          <p:cNvPr id="4" name="对话气泡: 矩形 3"/>
          <p:cNvSpPr/>
          <p:nvPr/>
        </p:nvSpPr>
        <p:spPr bwMode="auto">
          <a:xfrm>
            <a:off x="7786688" y="3157448"/>
            <a:ext cx="1143000" cy="1200329"/>
          </a:xfrm>
          <a:prstGeom prst="wedgeRectCallout">
            <a:avLst>
              <a:gd name="adj1" fmla="val -96712"/>
              <a:gd name="adj2" fmla="val 4531"/>
            </a:avLst>
          </a:prstGeom>
          <a:solidFill>
            <a:srgbClr val="FF00FF"/>
          </a:solidFill>
          <a:ln w="9525">
            <a:solidFill>
              <a:srgbClr val="000000"/>
            </a:solidFill>
            <a:round/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zh-CN" altLang="en-US" sz="2400" b="1" dirty="0"/>
              <a:t>可编程输入输出模块</a:t>
            </a:r>
            <a:endParaRPr lang="zh-CN" altLang="en-US" sz="2400" b="1" dirty="0"/>
          </a:p>
        </p:txBody>
      </p:sp>
      <p:sp>
        <p:nvSpPr>
          <p:cNvPr id="5" name="对话气泡: 矩形 4"/>
          <p:cNvSpPr/>
          <p:nvPr/>
        </p:nvSpPr>
        <p:spPr bwMode="auto">
          <a:xfrm>
            <a:off x="130970" y="2554392"/>
            <a:ext cx="1404936" cy="830997"/>
          </a:xfrm>
          <a:prstGeom prst="wedgeRectCallout">
            <a:avLst>
              <a:gd name="adj1" fmla="val 149396"/>
              <a:gd name="adj2" fmla="val 57856"/>
            </a:avLst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zh-CN" altLang="en-US" sz="2400" b="1" dirty="0"/>
              <a:t>可编程逻辑模块</a:t>
            </a:r>
            <a:endParaRPr lang="zh-CN" altLang="en-US" sz="2400" b="1" dirty="0"/>
          </a:p>
        </p:txBody>
      </p:sp>
      <p:sp>
        <p:nvSpPr>
          <p:cNvPr id="8" name="对话气泡: 矩形 7"/>
          <p:cNvSpPr/>
          <p:nvPr/>
        </p:nvSpPr>
        <p:spPr bwMode="auto">
          <a:xfrm>
            <a:off x="547688" y="5166152"/>
            <a:ext cx="887479" cy="830997"/>
          </a:xfrm>
          <a:prstGeom prst="wedgeRectCallout">
            <a:avLst>
              <a:gd name="adj1" fmla="val 165915"/>
              <a:gd name="adj2" fmla="val -53186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000000"/>
            </a:solidFill>
            <a:round/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zh-CN" altLang="en-US" sz="2400" b="1" dirty="0"/>
              <a:t>互连资源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4" y="50071"/>
            <a:ext cx="505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现场可编程门阵列</a:t>
            </a:r>
            <a:r>
              <a:rPr lang="en-US" altLang="zh-CN" sz="32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FPGA</a:t>
            </a:r>
            <a:endParaRPr lang="zh-CN" altLang="en-US" sz="32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75447" y="614010"/>
            <a:ext cx="8793105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可编程逻辑块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CLB  </a:t>
            </a:r>
            <a:endParaRPr lang="en-US" altLang="zh-CN" sz="28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CLB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FPGA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的基本逻辑单元，所有的逻辑功能都是在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CLB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中完成的。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CLB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主要由逻辑函数发生器、触发器、数据选择器等电路组成。</a:t>
            </a:r>
            <a:r>
              <a:rPr lang="zh-CN" altLang="en-US" sz="2400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逻辑函数发生器主要由查找表</a:t>
            </a:r>
            <a:r>
              <a:rPr lang="en-US" altLang="zh-CN" sz="2400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LUT(look up table)</a:t>
            </a:r>
            <a:r>
              <a:rPr lang="zh-CN" altLang="en-US" sz="2400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构成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11" name="Object 6"/>
          <p:cNvGraphicFramePr>
            <a:graphicFrameLocks noChangeAspect="1"/>
          </p:cNvGraphicFramePr>
          <p:nvPr/>
        </p:nvGraphicFramePr>
        <p:xfrm>
          <a:off x="3591690" y="2768446"/>
          <a:ext cx="5376862" cy="4038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Visio" r:id="rId2" imgW="3276600" imgH="2409825" progId="Visio.Drawing.11">
                  <p:embed/>
                </p:oleObj>
              </mc:Choice>
              <mc:Fallback>
                <p:oleObj name="Visio" r:id="rId2" imgW="3276600" imgH="2409825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1690" y="2768446"/>
                        <a:ext cx="5376862" cy="4038784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" name="Object 7"/>
          <p:cNvGraphicFramePr>
            <a:graphicFrameLocks noChangeAspect="1"/>
          </p:cNvGraphicFramePr>
          <p:nvPr/>
        </p:nvGraphicFramePr>
        <p:xfrm>
          <a:off x="100167" y="4320209"/>
          <a:ext cx="3322848" cy="1797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4" imgW="1752600" imgH="1028700" progId="">
                  <p:embed/>
                </p:oleObj>
              </mc:Choice>
              <mc:Fallback>
                <p:oleObj name="" r:id="rId4" imgW="1752600" imgH="10287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67" y="4320209"/>
                        <a:ext cx="3322848" cy="1797503"/>
                      </a:xfrm>
                      <a:prstGeom prst="rect">
                        <a:avLst/>
                      </a:prstGeom>
                      <a:solidFill>
                        <a:srgbClr val="CCFF99"/>
                      </a:solid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" name="Text Box 8"/>
          <p:cNvSpPr txBox="1">
            <a:spLocks noChangeArrowheads="1"/>
          </p:cNvSpPr>
          <p:nvPr/>
        </p:nvSpPr>
        <p:spPr bwMode="auto">
          <a:xfrm>
            <a:off x="467968" y="3375616"/>
            <a:ext cx="2514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函数发生器基于查找表单元：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6640592" y="4194740"/>
            <a:ext cx="581352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www.1ppt.com/moban/     </a:t>
            </a:r>
            <a:r>
              <a:rPr lang="zh-CN" altLang="en-US" sz="100" kern="0" dirty="0">
                <a:solidFill>
                  <a:prstClr val="white"/>
                </a:solidFill>
              </a:rPr>
              <a:t>行业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www.1ppt.com/hangye/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节日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www.1ppt.com/jieri/   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素材下载：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www.1ppt.com/sucai/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背景图片：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www.1ppt.com/beijing/      PPT</a:t>
            </a:r>
            <a:r>
              <a:rPr lang="zh-CN" altLang="en-US" sz="100" kern="0" dirty="0">
                <a:solidFill>
                  <a:prstClr val="white"/>
                </a:solidFill>
              </a:rPr>
              <a:t>图表下载：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www.1ppt.com/tubiao/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优秀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www.1ppt.com/xiazai/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教程： 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www.1ppt.com/powerpoint/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Word</a:t>
            </a:r>
            <a:r>
              <a:rPr lang="zh-CN" altLang="en-US" sz="100" kern="0" dirty="0">
                <a:solidFill>
                  <a:prstClr val="white"/>
                </a:solidFill>
              </a:rPr>
              <a:t>教程： 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www.1ppt.com/word/              Excel</a:t>
            </a:r>
            <a:r>
              <a:rPr lang="zh-CN" altLang="en-US" sz="100" kern="0" dirty="0">
                <a:solidFill>
                  <a:prstClr val="white"/>
                </a:solidFill>
              </a:rPr>
              <a:t>教程：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www.1ppt.com/excel/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资料下载：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www.1ppt.com/ziliao/        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课件下载：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www.1ppt.com/kejian/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范文下载：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www.1ppt.com/fanwen/             </a:t>
            </a:r>
            <a:r>
              <a:rPr lang="zh-CN" altLang="en-US" sz="100" kern="0" dirty="0">
                <a:solidFill>
                  <a:prstClr val="white"/>
                </a:solidFill>
              </a:rPr>
              <a:t>试卷下载：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www.1ppt.com/shiti/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教案下载：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www.1ppt.com/jiaoan/  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字体下载：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www.1ppt.com/ziti/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 </a:t>
            </a:r>
            <a:endParaRPr lang="zh-CN" altLang="en-US" sz="100" kern="0" dirty="0">
              <a:solidFill>
                <a:prstClr val="white"/>
              </a:solidFill>
            </a:endParaRPr>
          </a:p>
        </p:txBody>
      </p:sp>
      <p:sp>
        <p:nvSpPr>
          <p:cNvPr id="4" name="淘宝网chenying0907出品 3"/>
          <p:cNvSpPr/>
          <p:nvPr/>
        </p:nvSpPr>
        <p:spPr>
          <a:xfrm>
            <a:off x="0" y="2836881"/>
            <a:ext cx="233314" cy="190892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淘宝网chenying0907出品 4"/>
          <p:cNvSpPr/>
          <p:nvPr/>
        </p:nvSpPr>
        <p:spPr>
          <a:xfrm>
            <a:off x="5791596" y="2836881"/>
            <a:ext cx="233314" cy="190892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淘宝网chenying0907出品 7"/>
          <p:cNvSpPr/>
          <p:nvPr/>
        </p:nvSpPr>
        <p:spPr>
          <a:xfrm>
            <a:off x="6046708" y="3246665"/>
            <a:ext cx="289874" cy="1485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/>
        </p:nvCxnSpPr>
        <p:spPr>
          <a:xfrm>
            <a:off x="6024911" y="4745807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网chenying0907出品 10"/>
          <p:cNvSpPr/>
          <p:nvPr/>
        </p:nvSpPr>
        <p:spPr>
          <a:xfrm>
            <a:off x="6350719" y="3300665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淘宝网chenying0907出品 11"/>
          <p:cNvSpPr/>
          <p:nvPr/>
        </p:nvSpPr>
        <p:spPr>
          <a:xfrm>
            <a:off x="6676531" y="3300665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淘宝网chenying0907出品 12"/>
          <p:cNvSpPr/>
          <p:nvPr/>
        </p:nvSpPr>
        <p:spPr>
          <a:xfrm>
            <a:off x="6980542" y="3327665"/>
            <a:ext cx="289874" cy="1404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淘宝网chenying0907出品 13"/>
          <p:cNvSpPr/>
          <p:nvPr/>
        </p:nvSpPr>
        <p:spPr>
          <a:xfrm>
            <a:off x="7284553" y="3354665"/>
            <a:ext cx="289874" cy="1377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淘宝网chenying0907出品 14"/>
          <p:cNvSpPr/>
          <p:nvPr/>
        </p:nvSpPr>
        <p:spPr>
          <a:xfrm>
            <a:off x="7601500" y="3381665"/>
            <a:ext cx="289874" cy="135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淘宝网chenying0907出品 15"/>
          <p:cNvSpPr/>
          <p:nvPr/>
        </p:nvSpPr>
        <p:spPr>
          <a:xfrm rot="20959521">
            <a:off x="8008894" y="3420032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淘宝网chenying0907出品 16"/>
          <p:cNvSpPr/>
          <p:nvPr/>
        </p:nvSpPr>
        <p:spPr>
          <a:xfrm rot="19779136">
            <a:off x="8519314" y="3451229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/>
        </p:nvCxnSpPr>
        <p:spPr>
          <a:xfrm>
            <a:off x="233316" y="4745807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233316" y="285101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233315" y="4195517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淘宝网chenying0907出品 21"/>
          <p:cNvSpPr txBox="1"/>
          <p:nvPr/>
        </p:nvSpPr>
        <p:spPr>
          <a:xfrm>
            <a:off x="1550958" y="3076801"/>
            <a:ext cx="28827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zh-CN" altLang="en-US" sz="5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淘宝网chenying0907出品 22"/>
          <p:cNvSpPr txBox="1"/>
          <p:nvPr/>
        </p:nvSpPr>
        <p:spPr>
          <a:xfrm>
            <a:off x="651868" y="4297539"/>
            <a:ext cx="1824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淘宝网chenying0907出品 23"/>
          <p:cNvSpPr txBox="1"/>
          <p:nvPr/>
        </p:nvSpPr>
        <p:spPr>
          <a:xfrm>
            <a:off x="2871046" y="4297540"/>
            <a:ext cx="271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B962C8B-B14F-4D97-AF65-F5344CB8AC3E}" type="datetime1"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淘宝网chenying0907出品 25"/>
          <p:cNvSpPr txBox="1"/>
          <p:nvPr/>
        </p:nvSpPr>
        <p:spPr>
          <a:xfrm>
            <a:off x="920435" y="265888"/>
            <a:ext cx="2085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武汉大学</a:t>
            </a:r>
            <a:endParaRPr lang="en-US" altLang="zh-CN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en-US" altLang="zh-CN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Wuhan University</a:t>
            </a:r>
            <a:endParaRPr lang="zh-CN" altLang="en-US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20433" cy="92043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PA" val="v3.0.1"/>
</p:tagLst>
</file>

<file path=ppt/tags/tag4.xml><?xml version="1.0" encoding="utf-8"?>
<p:tagLst xmlns:p="http://schemas.openxmlformats.org/presentationml/2006/main">
  <p:tag name="PA" val="v3.0.1"/>
</p:tagLst>
</file>

<file path=ppt/tags/tag5.xml><?xml version="1.0" encoding="utf-8"?>
<p:tagLst xmlns:p="http://schemas.openxmlformats.org/presentationml/2006/main">
  <p:tag name="PA" val="v3.0.1"/>
</p:tagLst>
</file>

<file path=ppt/tags/tag6.xml><?xml version="1.0" encoding="utf-8"?>
<p:tagLst xmlns:p="http://schemas.openxmlformats.org/presentationml/2006/main">
  <p:tag name="PA" val="v3.0.1"/>
</p:tagLst>
</file>

<file path=ppt/tags/tag7.xml><?xml version="1.0" encoding="utf-8"?>
<p:tagLst xmlns:p="http://schemas.openxmlformats.org/presentationml/2006/main">
  <p:tag name="PA" val="v3.0.1"/>
</p:tagLst>
</file>

<file path=ppt/tags/tag8.xml><?xml version="1.0" encoding="utf-8"?>
<p:tagLst xmlns:p="http://schemas.openxmlformats.org/presentationml/2006/main">
  <p:tag name="PA" val="v3.0.1"/>
</p:tagLst>
</file>

<file path=ppt/tags/tag9.xml><?xml version="1.0" encoding="utf-8"?>
<p:tagLst xmlns:p="http://schemas.openxmlformats.org/presentationml/2006/main">
  <p:tag name="PA" val="v3.0.1"/>
</p:tagLst>
</file>

<file path=ppt/tags/tag10.xml><?xml version="1.0" encoding="utf-8"?>
<p:tagLst xmlns:p="http://schemas.openxmlformats.org/presentationml/2006/main">
  <p:tag name="PA" val="v3.0.1"/>
</p:tagLst>
</file>

<file path=ppt/tags/tag11.xml><?xml version="1.0" encoding="utf-8"?>
<p:tagLst xmlns:p="http://schemas.openxmlformats.org/presentationml/2006/main">
  <p:tag name="PA" val="v3.0.1"/>
</p:tagLst>
</file>

<file path=ppt/tags/tag12.xml><?xml version="1.0" encoding="utf-8"?>
<p:tagLst xmlns:p="http://schemas.openxmlformats.org/presentationml/2006/main">
  <p:tag name="PA" val="v3.0.1"/>
</p:tagLst>
</file>

<file path=ppt/tags/tag13.xml><?xml version="1.0" encoding="utf-8"?>
<p:tagLst xmlns:p="http://schemas.openxmlformats.org/presentationml/2006/main">
  <p:tag name="PA" val="v3.0.1"/>
</p:tagLst>
</file>

<file path=ppt/tags/tag14.xml><?xml version="1.0" encoding="utf-8"?>
<p:tagLst xmlns:p="http://schemas.openxmlformats.org/presentationml/2006/main">
  <p:tag name="PA" val="v3.0.1"/>
</p:tagLst>
</file>

<file path=ppt/tags/tag15.xml><?xml version="1.0" encoding="utf-8"?>
<p:tagLst xmlns:p="http://schemas.openxmlformats.org/presentationml/2006/main">
  <p:tag name="PA" val="v3.0.1"/>
</p:tagLst>
</file>

<file path=ppt/tags/tag16.xml><?xml version="1.0" encoding="utf-8"?>
<p:tagLst xmlns:p="http://schemas.openxmlformats.org/presentationml/2006/main">
  <p:tag name="PA" val="v3.0.1"/>
</p:tagLst>
</file>

<file path=ppt/tags/tag17.xml><?xml version="1.0" encoding="utf-8"?>
<p:tagLst xmlns:p="http://schemas.openxmlformats.org/presentationml/2006/main">
  <p:tag name="PA" val="v3.0.1"/>
</p:tagLst>
</file>

<file path=ppt/tags/tag18.xml><?xml version="1.0" encoding="utf-8"?>
<p:tagLst xmlns:p="http://schemas.openxmlformats.org/presentationml/2006/main">
  <p:tag name="PA" val="v3.0.1"/>
</p:tagLst>
</file>

<file path=ppt/tags/tag19.xml><?xml version="1.0" encoding="utf-8"?>
<p:tagLst xmlns:p="http://schemas.openxmlformats.org/presentationml/2006/main">
  <p:tag name="ISPRING_PRESENTATION_TITLE" val="PowerPoint 演示文稿3"/>
  <p:tag name="commondata" val="eyJoZGlkIjoiNDg3NzM1Mjc0YTM1YzBmZTFmNzkyMmIyZjRlNzBlMDQifQ=="/>
</p:tagLst>
</file>

<file path=ppt/theme/theme1.xml><?xml version="1.0" encoding="utf-8"?>
<a:theme xmlns:a="http://schemas.openxmlformats.org/drawingml/2006/main" name="第一PPT，www.1ppt.com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9525">
          <a:solidFill>
            <a:srgbClr val="000000"/>
          </a:solidFill>
          <a:round/>
        </a:ln>
      </a:spPr>
      <a:bodyPr wrap="square">
        <a:spAutoFit/>
      </a:bodyPr>
      <a:lstStyle>
        <a:defPPr algn="l">
          <a:defRPr sz="2800"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3623</Words>
  <Application>WPS 演示</Application>
  <PresentationFormat>全屏显示(4:3)</PresentationFormat>
  <Paragraphs>652</Paragraphs>
  <Slides>36</Slides>
  <Notes>36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19</vt:i4>
      </vt:variant>
      <vt:variant>
        <vt:lpstr>幻灯片标题</vt:lpstr>
      </vt:variant>
      <vt:variant>
        <vt:i4>36</vt:i4>
      </vt:variant>
    </vt:vector>
  </HeadingPairs>
  <TitlesOfParts>
    <vt:vector size="75" baseType="lpstr">
      <vt:lpstr>Arial</vt:lpstr>
      <vt:lpstr>宋体</vt:lpstr>
      <vt:lpstr>Wingdings</vt:lpstr>
      <vt:lpstr>微软雅黑</vt:lpstr>
      <vt:lpstr>华文行楷</vt:lpstr>
      <vt:lpstr>黑体</vt:lpstr>
      <vt:lpstr>Calibri</vt:lpstr>
      <vt:lpstr>Symbol</vt:lpstr>
      <vt:lpstr>Times New Roman</vt:lpstr>
      <vt:lpstr>隶书</vt:lpstr>
      <vt:lpstr>楷体</vt:lpstr>
      <vt:lpstr>等线</vt:lpstr>
      <vt:lpstr>Arial Unicode MS</vt:lpstr>
      <vt:lpstr>Tahoma</vt:lpstr>
      <vt:lpstr>楷体_GB2312</vt:lpstr>
      <vt:lpstr>新宋体</vt:lpstr>
      <vt:lpstr>Verdana</vt:lpstr>
      <vt:lpstr>Calibri Light</vt:lpstr>
      <vt:lpstr>等线 Light</vt:lpstr>
      <vt:lpstr>第一PPT，www.1ppt.com</vt:lpstr>
      <vt:lpstr>Paint.Picture</vt:lpstr>
      <vt:lpstr>Equation.3</vt:lpstr>
      <vt:lpstr>Word.Picture.8</vt:lpstr>
      <vt:lpstr>Equation.3</vt:lpstr>
      <vt:lpstr>Equation.3</vt:lpstr>
      <vt:lpstr>Equation.3</vt:lpstr>
      <vt:lpstr>Equation.3</vt:lpstr>
      <vt:lpstr>Equation.3</vt:lpstr>
      <vt:lpstr>Word.Picture.8</vt:lpstr>
      <vt:lpstr>Word.Picture.8</vt:lpstr>
      <vt:lpstr>Visio.Drawing.6</vt:lpstr>
      <vt:lpstr>Paint.Picture</vt:lpstr>
      <vt:lpstr>Visio.Drawing.11</vt:lpstr>
      <vt:lpstr>Paint.Picture</vt:lpstr>
      <vt:lpstr>Word.Document.8</vt:lpstr>
      <vt:lpstr>Word.Picture.8</vt:lpstr>
      <vt:lpstr>Equation.3</vt:lpstr>
      <vt:lpstr>Word.Picture.8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公开课开题报告</dc:title>
  <dc:creator>第一PPT模板网-WWW.1PPT.COM</dc:creator>
  <cp:keywords>第一PPT模板网-WWW.1PPT.COM</cp:keywords>
  <cp:lastModifiedBy>刘树波</cp:lastModifiedBy>
  <cp:revision>3466</cp:revision>
  <dcterms:created xsi:type="dcterms:W3CDTF">2016-04-09T13:02:00Z</dcterms:created>
  <dcterms:modified xsi:type="dcterms:W3CDTF">2024-01-11T03:50:27Z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E60257471221405CB8BC9315D96A63DB_12</vt:lpwstr>
  </property>
</Properties>
</file>