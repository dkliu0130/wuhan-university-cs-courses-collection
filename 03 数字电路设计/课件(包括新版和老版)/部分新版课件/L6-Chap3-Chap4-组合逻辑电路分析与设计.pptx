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6" r:id="rId3"/>
    <p:sldId id="537" r:id="rId5"/>
    <p:sldId id="477" r:id="rId6"/>
    <p:sldId id="478" r:id="rId7"/>
    <p:sldId id="479" r:id="rId8"/>
    <p:sldId id="480" r:id="rId9"/>
    <p:sldId id="514" r:id="rId10"/>
    <p:sldId id="482" r:id="rId11"/>
    <p:sldId id="516" r:id="rId12"/>
    <p:sldId id="520" r:id="rId13"/>
    <p:sldId id="518" r:id="rId14"/>
    <p:sldId id="517" r:id="rId15"/>
    <p:sldId id="519" r:id="rId16"/>
    <p:sldId id="538" r:id="rId17"/>
    <p:sldId id="539" r:id="rId18"/>
    <p:sldId id="540" r:id="rId19"/>
    <p:sldId id="541" r:id="rId20"/>
    <p:sldId id="542" r:id="rId21"/>
    <p:sldId id="543" r:id="rId22"/>
    <p:sldId id="544" r:id="rId23"/>
    <p:sldId id="545" r:id="rId24"/>
    <p:sldId id="546" r:id="rId25"/>
    <p:sldId id="547" r:id="rId26"/>
    <p:sldId id="548" r:id="rId27"/>
    <p:sldId id="549" r:id="rId28"/>
    <p:sldId id="550" r:id="rId29"/>
    <p:sldId id="551" r:id="rId30"/>
    <p:sldId id="552" r:id="rId31"/>
    <p:sldId id="553" r:id="rId32"/>
    <p:sldId id="554" r:id="rId33"/>
    <p:sldId id="555" r:id="rId34"/>
    <p:sldId id="556" r:id="rId35"/>
    <p:sldId id="557" r:id="rId36"/>
    <p:sldId id="558" r:id="rId37"/>
    <p:sldId id="559" r:id="rId38"/>
    <p:sldId id="560" r:id="rId39"/>
    <p:sldId id="561" r:id="rId40"/>
    <p:sldId id="562" r:id="rId41"/>
    <p:sldId id="563" r:id="rId42"/>
    <p:sldId id="564" r:id="rId43"/>
    <p:sldId id="565" r:id="rId44"/>
    <p:sldId id="566" r:id="rId45"/>
    <p:sldId id="567" r:id="rId46"/>
    <p:sldId id="568" r:id="rId47"/>
    <p:sldId id="569" r:id="rId48"/>
    <p:sldId id="570" r:id="rId49"/>
    <p:sldId id="279" r:id="rId50"/>
  </p:sldIdLst>
  <p:sldSz cx="9144000" cy="6858000" type="screen4x3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6F5"/>
    <a:srgbClr val="0000FF"/>
    <a:srgbClr val="FF33CC"/>
    <a:srgbClr val="CC9900"/>
    <a:srgbClr val="FF0000"/>
    <a:srgbClr val="170A8E"/>
    <a:srgbClr val="1F4E79"/>
    <a:srgbClr val="19BCD7"/>
    <a:srgbClr val="3D74A7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56" autoAdjust="0"/>
    <p:restoredTop sz="77624" autoAdjust="0"/>
  </p:normalViewPr>
  <p:slideViewPr>
    <p:cSldViewPr snapToGrid="0" showGuides="1">
      <p:cViewPr varScale="1">
        <p:scale>
          <a:sx n="68" d="100"/>
          <a:sy n="68" d="100"/>
        </p:scale>
        <p:origin x="-1914" y="-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gs" Target="tags/tag19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1.emf"/><Relationship Id="rId2" Type="http://schemas.openxmlformats.org/officeDocument/2006/relationships/image" Target="../media/image10.wmf"/><Relationship Id="rId1" Type="http://schemas.openxmlformats.org/officeDocument/2006/relationships/oleObject" Target="../embeddings/oleObject5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4.png"/><Relationship Id="rId2" Type="http://schemas.openxmlformats.org/officeDocument/2006/relationships/image" Target="../media/image13.wmf"/><Relationship Id="rId1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1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wmf"/><Relationship Id="rId10" Type="http://schemas.openxmlformats.org/officeDocument/2006/relationships/notesSlide" Target="../notesSlides/notesSlide31.xml"/><Relationship Id="rId1" Type="http://schemas.openxmlformats.org/officeDocument/2006/relationships/oleObject" Target="../embeddings/oleObject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21.emf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21.emf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35.wmf"/><Relationship Id="rId10" Type="http://schemas.openxmlformats.org/officeDocument/2006/relationships/notesSlide" Target="../notesSlides/notesSlide43.xml"/><Relationship Id="rId1" Type="http://schemas.openxmlformats.org/officeDocument/2006/relationships/oleObject" Target="../embeddings/oleObject9.bin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8.png"/><Relationship Id="rId2" Type="http://schemas.openxmlformats.org/officeDocument/2006/relationships/image" Target="../media/image37.wmf"/><Relationship Id="rId1" Type="http://schemas.openxmlformats.org/officeDocument/2006/relationships/oleObject" Target="../embeddings/oleObject1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_淘宝网chenying0907出品 25"/>
          <p:cNvSpPr txBox="1"/>
          <p:nvPr>
            <p:custDataLst>
              <p:tags r:id="rId1"/>
            </p:custDataLst>
          </p:nvPr>
        </p:nvSpPr>
        <p:spPr>
          <a:xfrm>
            <a:off x="920434" y="333394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09"/>
            <a:ext cx="920433" cy="920433"/>
          </a:xfrm>
          <a:prstGeom prst="rect">
            <a:avLst/>
          </a:prstGeom>
        </p:spPr>
      </p:pic>
      <p:sp>
        <p:nvSpPr>
          <p:cNvPr id="29" name="PA_淘宝网chenying0907出品 3"/>
          <p:cNvSpPr/>
          <p:nvPr>
            <p:custDataLst>
              <p:tags r:id="rId3"/>
            </p:custDataLst>
          </p:nvPr>
        </p:nvSpPr>
        <p:spPr>
          <a:xfrm>
            <a:off x="0" y="2059709"/>
            <a:ext cx="233314" cy="29121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PA_淘宝网chenying0907出品 4"/>
          <p:cNvSpPr/>
          <p:nvPr>
            <p:custDataLst>
              <p:tags r:id="rId4"/>
            </p:custDataLst>
          </p:nvPr>
        </p:nvSpPr>
        <p:spPr>
          <a:xfrm>
            <a:off x="5791593" y="2059709"/>
            <a:ext cx="233314" cy="29121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1" name="PA_淘宝网chenying0907出品 7"/>
          <p:cNvSpPr/>
          <p:nvPr>
            <p:custDataLst>
              <p:tags r:id="rId5"/>
            </p:custDataLst>
          </p:nvPr>
        </p:nvSpPr>
        <p:spPr>
          <a:xfrm>
            <a:off x="6046707" y="3472713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32" name="PA_直接连接符 9"/>
          <p:cNvCxnSpPr/>
          <p:nvPr>
            <p:custDataLst>
              <p:tags r:id="rId6"/>
            </p:custDataLst>
          </p:nvPr>
        </p:nvCxnSpPr>
        <p:spPr>
          <a:xfrm>
            <a:off x="6024908" y="4971855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_淘宝网chenying0907出品 10"/>
          <p:cNvSpPr/>
          <p:nvPr>
            <p:custDataLst>
              <p:tags r:id="rId7"/>
            </p:custDataLst>
          </p:nvPr>
        </p:nvSpPr>
        <p:spPr>
          <a:xfrm>
            <a:off x="6350719" y="3526713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4" name="PA_淘宝网chenying0907出品 11"/>
          <p:cNvSpPr/>
          <p:nvPr>
            <p:custDataLst>
              <p:tags r:id="rId8"/>
            </p:custDataLst>
          </p:nvPr>
        </p:nvSpPr>
        <p:spPr>
          <a:xfrm>
            <a:off x="6660738" y="3526713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5" name="PA_淘宝网chenying0907出品 12"/>
          <p:cNvSpPr/>
          <p:nvPr>
            <p:custDataLst>
              <p:tags r:id="rId9"/>
            </p:custDataLst>
          </p:nvPr>
        </p:nvSpPr>
        <p:spPr>
          <a:xfrm>
            <a:off x="6965301" y="3553713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PA_淘宝网chenying0907出品 13"/>
          <p:cNvSpPr/>
          <p:nvPr>
            <p:custDataLst>
              <p:tags r:id="rId10"/>
            </p:custDataLst>
          </p:nvPr>
        </p:nvSpPr>
        <p:spPr>
          <a:xfrm>
            <a:off x="7284553" y="3580713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7" name="PA_淘宝网chenying0907出品 14"/>
          <p:cNvSpPr/>
          <p:nvPr>
            <p:custDataLst>
              <p:tags r:id="rId11"/>
            </p:custDataLst>
          </p:nvPr>
        </p:nvSpPr>
        <p:spPr>
          <a:xfrm>
            <a:off x="7601497" y="3607713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8" name="PA_淘宝网chenying0907出品 15"/>
          <p:cNvSpPr/>
          <p:nvPr>
            <p:custDataLst>
              <p:tags r:id="rId12"/>
            </p:custDataLst>
          </p:nvPr>
        </p:nvSpPr>
        <p:spPr>
          <a:xfrm rot="20959521">
            <a:off x="8008894" y="3646080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9" name="PA_淘宝网chenying0907出品 16"/>
          <p:cNvSpPr/>
          <p:nvPr>
            <p:custDataLst>
              <p:tags r:id="rId13"/>
            </p:custDataLst>
          </p:nvPr>
        </p:nvSpPr>
        <p:spPr>
          <a:xfrm rot="19779136">
            <a:off x="8519313" y="3677277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0" name="PA_直接连接符 17"/>
          <p:cNvCxnSpPr/>
          <p:nvPr>
            <p:custDataLst>
              <p:tags r:id="rId14"/>
            </p:custDataLst>
          </p:nvPr>
        </p:nvCxnSpPr>
        <p:spPr>
          <a:xfrm>
            <a:off x="233315" y="4971855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PA_直接连接符 19"/>
          <p:cNvCxnSpPr/>
          <p:nvPr>
            <p:custDataLst>
              <p:tags r:id="rId15"/>
            </p:custDataLst>
          </p:nvPr>
        </p:nvCxnSpPr>
        <p:spPr>
          <a:xfrm>
            <a:off x="233313" y="2054706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A_直接连接符 20"/>
          <p:cNvCxnSpPr/>
          <p:nvPr>
            <p:custDataLst>
              <p:tags r:id="rId16"/>
            </p:custDataLst>
          </p:nvPr>
        </p:nvCxnSpPr>
        <p:spPr>
          <a:xfrm>
            <a:off x="233314" y="4421565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A_淘宝网chenying0907出品 21"/>
          <p:cNvSpPr txBox="1"/>
          <p:nvPr>
            <p:custDataLst>
              <p:tags r:id="rId17"/>
            </p:custDataLst>
          </p:nvPr>
        </p:nvSpPr>
        <p:spPr>
          <a:xfrm>
            <a:off x="154856" y="2450611"/>
            <a:ext cx="57254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lang="en-US" altLang="zh-CN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Verilog HDL</a:t>
            </a:r>
            <a:endParaRPr lang="en-US" altLang="zh-CN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基本语法</a:t>
            </a:r>
            <a:endParaRPr lang="zh-CN" altLang="en-US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PA_淘宝网chenying0907出品 23"/>
          <p:cNvSpPr txBox="1"/>
          <p:nvPr>
            <p:custDataLst>
              <p:tags r:id="rId18"/>
            </p:custDataLst>
          </p:nvPr>
        </p:nvSpPr>
        <p:spPr>
          <a:xfrm>
            <a:off x="1072234" y="4524289"/>
            <a:ext cx="226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PA_淘宝网chenying0907出品 22"/>
          <p:cNvSpPr txBox="1"/>
          <p:nvPr>
            <p:custDataLst>
              <p:tags r:id="rId19"/>
            </p:custDataLst>
          </p:nvPr>
        </p:nvSpPr>
        <p:spPr>
          <a:xfrm>
            <a:off x="3338526" y="4524288"/>
            <a:ext cx="24802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学期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27740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/>
              <a:t>程序基本结构</a:t>
            </a:r>
            <a:endParaRPr lang="zh-CN" altLang="en-US" sz="2800" dirty="0"/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6357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39050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基本语句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74889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模块化程序设计</a:t>
            </a:r>
            <a:endParaRPr lang="zh-CN" altLang="en-US" sz="2800" dirty="0"/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99418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运算符</a:t>
            </a:r>
            <a:endParaRPr lang="zh-CN" altLang="en-US" sz="2800" dirty="0"/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88108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1563" y="2306570"/>
            <a:ext cx="2916316" cy="3711785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forever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</a:t>
            </a:r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forever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语句；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</a:t>
            </a:r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forever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begin</a:t>
            </a:r>
            <a:endParaRPr kumimoji="1"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多条语句；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end</a:t>
            </a:r>
            <a:endParaRPr kumimoji="1" lang="en-US" altLang="zh-CN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78974" y="2924265"/>
            <a:ext cx="4404059" cy="230832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initial</a:t>
            </a:r>
            <a:endParaRPr lang="en-US" altLang="zh-CN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begin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&amp;quot"/>
              </a:rPr>
              <a:t>  </a:t>
            </a:r>
            <a:r>
              <a:rPr lang="en-US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1’b0;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forever  #10 </a:t>
            </a:r>
            <a:r>
              <a:rPr lang="en-US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~</a:t>
            </a:r>
            <a:r>
              <a:rPr lang="en-US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82425" y="755283"/>
            <a:ext cx="5481377" cy="2092881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marL="257175" indent="-257175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/>
              <a:t>forever</a:t>
            </a:r>
            <a:r>
              <a:rPr lang="zh-CN" altLang="en-US" sz="2400" b="1" dirty="0"/>
              <a:t>是一种</a:t>
            </a:r>
            <a:r>
              <a:rPr lang="zh-CN" altLang="en-US" sz="2400" b="1" dirty="0">
                <a:solidFill>
                  <a:srgbClr val="FF0000"/>
                </a:solidFill>
              </a:rPr>
              <a:t>无穷循环</a:t>
            </a:r>
            <a:r>
              <a:rPr lang="zh-CN" altLang="en-US" sz="2400" b="1" dirty="0"/>
              <a:t>控制语句，它不断地执行其后的语句或语句块</a:t>
            </a:r>
            <a:endParaRPr lang="en-US" altLang="zh-CN" sz="2400" b="1" dirty="0"/>
          </a:p>
          <a:p>
            <a:pPr marL="257175" indent="-257175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/>
              <a:t>forever</a:t>
            </a:r>
            <a:r>
              <a:rPr lang="zh-CN" altLang="en-US" sz="2400" b="1" dirty="0"/>
              <a:t>语句要写在</a:t>
            </a:r>
            <a:r>
              <a:rPr lang="en-US" altLang="zh-CN" sz="2400" b="1" dirty="0">
                <a:solidFill>
                  <a:srgbClr val="FF0000"/>
                </a:solidFill>
              </a:rPr>
              <a:t>initial</a:t>
            </a:r>
            <a:r>
              <a:rPr lang="zh-CN" altLang="en-US" sz="2400" b="1" dirty="0">
                <a:solidFill>
                  <a:srgbClr val="FF0000"/>
                </a:solidFill>
              </a:rPr>
              <a:t>块</a:t>
            </a:r>
            <a:r>
              <a:rPr lang="zh-CN" altLang="en-US" sz="2400" b="1" dirty="0"/>
              <a:t>中</a:t>
            </a:r>
            <a:endParaRPr lang="en-US" altLang="zh-CN" sz="2400" b="1" dirty="0"/>
          </a:p>
          <a:p>
            <a:pPr marL="257175" indent="-257175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/>
              <a:t>forever</a:t>
            </a:r>
            <a:r>
              <a:rPr lang="zh-CN" altLang="en-US" sz="2400" b="1" dirty="0"/>
              <a:t>语句常用来产生周期性的波形，作为</a:t>
            </a:r>
            <a:r>
              <a:rPr lang="zh-CN" altLang="en-US" sz="2400" b="1" dirty="0">
                <a:solidFill>
                  <a:srgbClr val="FF0000"/>
                </a:solidFill>
              </a:rPr>
              <a:t>仿真激励</a:t>
            </a:r>
            <a:r>
              <a:rPr lang="zh-CN" altLang="en-US" sz="2400" b="1" dirty="0"/>
              <a:t>信号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四、循环语句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990809" y="6389979"/>
            <a:ext cx="4065192" cy="341917"/>
            <a:chOff x="3949775" y="6249302"/>
            <a:chExt cx="4065192" cy="341917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3949775" y="6563120"/>
              <a:ext cx="817008" cy="541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V="1">
              <a:off x="4766783" y="6249302"/>
              <a:ext cx="0" cy="3138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4761373" y="6254714"/>
              <a:ext cx="817008" cy="541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5578381" y="6260124"/>
              <a:ext cx="0" cy="3138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568456" y="6580398"/>
              <a:ext cx="817008" cy="541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6385464" y="6266580"/>
              <a:ext cx="0" cy="3138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389979" y="6271991"/>
              <a:ext cx="817008" cy="541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7206987" y="6277401"/>
              <a:ext cx="0" cy="3138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197959" y="6580398"/>
              <a:ext cx="817008" cy="541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3795004" y="532308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功能：每隔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个时间单位，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反向，时钟周期为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个时间单位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00916" y="1456016"/>
            <a:ext cx="7616368" cy="3508653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repeat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</a:t>
            </a:r>
            <a:r>
              <a:rPr kumimoji="1"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repeat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（循环次数表达式）   语句；</a:t>
            </a:r>
            <a:endParaRPr kumimoji="1" lang="zh-CN" altLang="en-US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</a:t>
            </a:r>
            <a:r>
              <a:rPr kumimoji="1"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 ：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repeat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（循环次数表达式）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begin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	            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语句块；</a:t>
            </a:r>
            <a:endParaRPr kumimoji="1" lang="zh-CN" altLang="en-US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end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82056" y="5076538"/>
            <a:ext cx="5854087" cy="1200329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repeat</a:t>
            </a:r>
            <a:r>
              <a:rPr lang="zh-CN" altLang="en-US" sz="2400" b="1" dirty="0"/>
              <a:t>语句执行</a:t>
            </a:r>
            <a:r>
              <a:rPr lang="zh-CN" altLang="en-US" sz="2400" b="1" dirty="0">
                <a:solidFill>
                  <a:srgbClr val="FF0000"/>
                </a:solidFill>
              </a:rPr>
              <a:t>指定循环次数</a:t>
            </a:r>
            <a:r>
              <a:rPr lang="zh-CN" altLang="en-US" sz="2400" b="1" dirty="0"/>
              <a:t>，如果循环次数表达式的值不确定，则循环次数为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2939" y="584904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四、循环语句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46643" y="2062698"/>
            <a:ext cx="3665483" cy="3416320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while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 ：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while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（条件）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begin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	        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语句块；</a:t>
            </a:r>
            <a:endParaRPr kumimoji="1" lang="zh-CN" altLang="en-US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end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69343" y="1785699"/>
            <a:ext cx="4158365" cy="3970318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while</a:t>
            </a:r>
            <a:r>
              <a:rPr lang="zh-CN" altLang="en-US" sz="2400" b="1" dirty="0"/>
              <a:t>语句实现的是一种</a:t>
            </a:r>
            <a:r>
              <a:rPr lang="zh-CN" altLang="en-US" sz="2400" b="1" dirty="0">
                <a:solidFill>
                  <a:srgbClr val="FF0000"/>
                </a:solidFill>
              </a:rPr>
              <a:t>条件循环</a:t>
            </a:r>
            <a:r>
              <a:rPr lang="zh-CN" altLang="en-US" sz="2400" b="1" dirty="0"/>
              <a:t>，只有在指定的循环条件为真时才会重复执行循环体</a:t>
            </a:r>
            <a:endParaRPr lang="en-US" altLang="zh-CN" sz="2400" b="1" dirty="0"/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如果条件表达式的值在开始时不为真，那么过程语句将永远不会被执行</a:t>
            </a:r>
            <a:endParaRPr lang="en-US" altLang="zh-CN" sz="2400" b="1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四、循环语句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8685" y="1554377"/>
            <a:ext cx="8929566" cy="3379387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for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 ：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for(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循环变量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初值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循环变量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终值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循环变量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循环变量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步长值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begin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	    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语句块；</a:t>
            </a:r>
            <a:endParaRPr kumimoji="1" lang="zh-CN" altLang="en-US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end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8779" y="5236819"/>
            <a:ext cx="6834765" cy="1200329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语句重复执行的次数由语句中的参数确定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循环重复次数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（终值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初值）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步长值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四、循环语句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00950" y="1233972"/>
            <a:ext cx="8462852" cy="5535318"/>
          </a:xfrm>
          <a:prstGeom prst="rect">
            <a:avLst/>
          </a:prstGeom>
          <a:noFill/>
          <a:ln>
            <a:solidFill>
              <a:schemeClr val="accent2"/>
            </a:solidFill>
            <a:miter lim="800000"/>
          </a:ln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voter7(</a:t>
            </a:r>
            <a:r>
              <a:rPr lang="en-US" altLang="zh-CN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pass,vote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);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output  pass;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input[6:0]  vote;  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reg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[2:0]  sum; 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integer  </a:t>
            </a:r>
            <a:r>
              <a:rPr lang="en-US" altLang="zh-CN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reg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pass;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always @(vote)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sum=0;</a:t>
            </a:r>
            <a:endParaRPr lang="en-US" altLang="zh-CN" b="1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for(</a:t>
            </a:r>
            <a:r>
              <a:rPr lang="en-US" altLang="zh-CN" b="1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=0;i&lt;=6;i=i+1) </a:t>
            </a:r>
            <a:endParaRPr lang="en-US" altLang="zh-CN" b="1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	     if(vote[</a:t>
            </a:r>
            <a:r>
              <a:rPr lang="en-US" altLang="zh-CN" b="1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]) sum=sum+1; </a:t>
            </a:r>
            <a:endParaRPr lang="en-US" altLang="zh-CN" b="1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if(sum[2]) pass=1; </a:t>
            </a:r>
            <a:endParaRPr lang="en-US" altLang="zh-CN" b="1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else pass=0;</a:t>
            </a:r>
            <a:endParaRPr lang="en-US" altLang="zh-CN" b="1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b="1" dirty="0">
              <a:solidFill>
                <a:srgbClr val="FF33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999484" y="651157"/>
            <a:ext cx="4692898" cy="622133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语句描述七人投票表决器</a:t>
            </a:r>
            <a:endParaRPr lang="en-US" altLang="zh-CN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四、循环语句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99484" y="1996530"/>
            <a:ext cx="5091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投票值，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表示赞成，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表示反对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4743" y="2693581"/>
            <a:ext cx="2694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循环变量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64642" y="4877471"/>
            <a:ext cx="3296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统计投赞成票的人数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392828" y="5909655"/>
            <a:ext cx="3219961" cy="461665"/>
            <a:chOff x="3840939" y="5990820"/>
            <a:chExt cx="3219961" cy="461665"/>
          </a:xfrm>
        </p:grpSpPr>
        <p:sp>
          <p:nvSpPr>
            <p:cNvPr id="5" name="矩形 4"/>
            <p:cNvSpPr/>
            <p:nvPr/>
          </p:nvSpPr>
          <p:spPr>
            <a:xfrm>
              <a:off x="5140119" y="6027465"/>
              <a:ext cx="1920781" cy="4057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b="1" dirty="0">
                  <a:solidFill>
                    <a:srgbClr val="FF0000"/>
                  </a:solidFill>
                </a:rPr>
                <a:t>  1</a:t>
              </a:r>
              <a:r>
                <a:rPr lang="en-US" altLang="zh-CN" dirty="0">
                  <a:solidFill>
                    <a:schemeClr val="tx1"/>
                  </a:solidFill>
                </a:rPr>
                <a:t>     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H="1">
              <a:off x="5761096" y="6022055"/>
              <a:ext cx="624" cy="4112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6406421" y="6030454"/>
              <a:ext cx="624" cy="4112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3840939" y="5990820"/>
              <a:ext cx="1225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00FF"/>
                  </a:solidFill>
                </a:rPr>
                <a:t>sum[2:0]</a:t>
              </a:r>
              <a:endParaRPr lang="zh-CN" altLang="en-US" sz="24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3692520" y="5280852"/>
            <a:ext cx="370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超过4人赞成，则通过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5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67782" y="1324387"/>
            <a:ext cx="3741654" cy="60939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四种循环语句的比较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62515" y="2022240"/>
            <a:ext cx="8602934" cy="3631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MSTT3195ed4ebao262093S00" charset="0"/>
              </a:rPr>
              <a:t>repeat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：将一块语句循环执行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确定次数</a:t>
            </a:r>
            <a:endParaRPr kumimoji="1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repeat (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次数表达式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) 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&lt;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语句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&gt;</a:t>
            </a:r>
            <a:endParaRPr kumimoji="1" lang="en-US" altLang="zh-CN" sz="2000" b="1" dirty="0">
              <a:solidFill>
                <a:srgbClr val="0000FF"/>
              </a:solidFill>
              <a:latin typeface="MSTT3195ed4ebao262093S00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MSTT3195ed4ebao262093S00" charset="0"/>
              </a:rPr>
              <a:t>while</a:t>
            </a:r>
            <a:r>
              <a:rPr kumimoji="1" lang="zh-CN" altLang="en-US" sz="2000" b="1" dirty="0">
                <a:latin typeface="MSTT3195ed4ebao262093S00" charset="0"/>
              </a:rPr>
              <a:t>：在条件</a:t>
            </a:r>
            <a:r>
              <a:rPr kumimoji="1" lang="zh-CN" altLang="en-US" sz="2000" b="1" dirty="0">
                <a:solidFill>
                  <a:srgbClr val="FF0000"/>
                </a:solidFill>
                <a:latin typeface="MSTT3195ed4ebao262093S00" charset="0"/>
              </a:rPr>
              <a:t>表达式为真时一直循环执行</a:t>
            </a:r>
            <a:endParaRPr kumimoji="1" lang="zh-CN" altLang="en-US" sz="2000" b="1" dirty="0">
              <a:solidFill>
                <a:srgbClr val="FF0000"/>
              </a:solidFill>
              <a:latin typeface="MSTT3195ed4ebao262093S00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C00000"/>
                </a:solidFill>
                <a:latin typeface="MSTT3195ed4ebao262093S00" charset="0"/>
              </a:rPr>
              <a:t>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while (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条件表达式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)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 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&lt;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语句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&gt;</a:t>
            </a:r>
            <a:endParaRPr kumimoji="1" lang="en-US" altLang="zh-CN" sz="2000" b="1" dirty="0">
              <a:solidFill>
                <a:srgbClr val="0000FF"/>
              </a:solidFill>
              <a:latin typeface="MSTT3195ed4ebao262093S00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MSTT3195ed4ebao262093S00" charset="0"/>
              </a:rPr>
              <a:t>forever</a:t>
            </a:r>
            <a:r>
              <a:rPr kumimoji="1" lang="zh-CN" altLang="en-US" sz="2000" b="1" dirty="0">
                <a:latin typeface="MSTT3195ed4ebao262093S00" charset="0"/>
              </a:rPr>
              <a:t>：重复执行</a:t>
            </a:r>
            <a:r>
              <a:rPr kumimoji="1" lang="zh-CN" altLang="en-US" sz="2000" b="1" dirty="0">
                <a:solidFill>
                  <a:srgbClr val="FF0000"/>
                </a:solidFill>
                <a:latin typeface="MSTT3195ed4ebao262093S00" charset="0"/>
              </a:rPr>
              <a:t>直到仿真结束</a:t>
            </a:r>
            <a:endParaRPr kumimoji="1" lang="zh-CN" altLang="en-US" sz="2000" b="1" dirty="0">
              <a:solidFill>
                <a:srgbClr val="FF0000"/>
              </a:solidFill>
              <a:latin typeface="MSTT3195ed4ebao262093S00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forever   &lt;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语句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&gt;</a:t>
            </a:r>
            <a:endParaRPr kumimoji="1" lang="en-US" altLang="zh-CN" sz="2000" b="1" dirty="0">
              <a:solidFill>
                <a:srgbClr val="0000FF"/>
              </a:solidFill>
              <a:latin typeface="MSTT3195ed4ebao262093S00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MSTT3195ed4ebao262093S00" charset="0"/>
              </a:rPr>
              <a:t>for</a:t>
            </a:r>
            <a:r>
              <a:rPr kumimoji="1" lang="zh-CN" altLang="en-US" sz="2000" b="1" dirty="0">
                <a:latin typeface="MSTT3195ed4ebao262093S00" charset="0"/>
              </a:rPr>
              <a:t>：在执行过程中对变量进行计算和判断，在</a:t>
            </a:r>
            <a:r>
              <a:rPr kumimoji="1" lang="zh-CN" altLang="en-US" sz="2000" b="1" dirty="0">
                <a:solidFill>
                  <a:srgbClr val="FF0000"/>
                </a:solidFill>
                <a:latin typeface="MSTT3195ed4ebao262093S00" charset="0"/>
              </a:rPr>
              <a:t>条件满足时执行</a:t>
            </a:r>
            <a:endParaRPr kumimoji="1" lang="zh-CN" altLang="en-US" sz="2000" b="1" dirty="0">
              <a:solidFill>
                <a:srgbClr val="FF0000"/>
              </a:solidFill>
              <a:latin typeface="MSTT3195ed4ebao262093S00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accent2"/>
                </a:solidFill>
                <a:latin typeface="MSTT3195ed4ebao262093S00" charset="0"/>
              </a:rPr>
              <a:t>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for(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循环变量赋初值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; 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条件表达式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; 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循环变量更新计算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)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     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&lt;</a:t>
            </a:r>
            <a:r>
              <a:rPr kumimoji="1" lang="zh-CN" altLang="en-US" sz="2000" b="1" dirty="0">
                <a:solidFill>
                  <a:srgbClr val="0000FF"/>
                </a:solidFill>
                <a:latin typeface="MSTT3195ed4ebao262093S00" charset="0"/>
              </a:rPr>
              <a:t>语句</a:t>
            </a:r>
            <a:r>
              <a:rPr kumimoji="1" lang="en-US" altLang="zh-CN" sz="2000" b="1" dirty="0">
                <a:solidFill>
                  <a:srgbClr val="0000FF"/>
                </a:solidFill>
                <a:latin typeface="MSTT3195ed4ebao262093S00" charset="0"/>
              </a:rPr>
              <a:t>&gt;</a:t>
            </a:r>
            <a:endParaRPr kumimoji="1" lang="en-US" altLang="zh-CN" sz="2000" b="1" dirty="0">
              <a:solidFill>
                <a:srgbClr val="0000FF"/>
              </a:solidFill>
              <a:latin typeface="MSTT3195ed4ebao262093S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6045" y="5905564"/>
            <a:ext cx="6241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循环次数不确定的循环语句一般不能被综合。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四、循环语句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25891" y="1706860"/>
            <a:ext cx="8486608" cy="246221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任务（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task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）和函数（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function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）都用来实现程序中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相对独立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的某项功能，可被模块或其它任务及函数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把大的程序模块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分解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成较小的任务或函数，或把需要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重复使用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的程序代码写出任务或函数多次调用，可使程序条理清晰易懂，便于调试</a:t>
            </a:r>
            <a:endParaRPr lang="en-US" altLang="zh-CN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4512" y="4841497"/>
            <a:ext cx="485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二者的区别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函数有返回值，任务没有返回值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五、任务与函数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23366" y="1614433"/>
            <a:ext cx="4927962" cy="275152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任务（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task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）定义格式</a:t>
            </a:r>
            <a:endParaRPr lang="en-US" altLang="zh-CN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task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任务名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端口与类型说明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局部变量说明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块语句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endtask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25261" y="2433311"/>
            <a:ext cx="31366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任务调用格式：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任务名 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端口列表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3027" y="4744456"/>
            <a:ext cx="8140436" cy="175432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任务调用时和定义时的端口变量应是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一一对应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一个任务可以调用别的任务和函数，可以调用的任务和函数个数不限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五、任务与函数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97388" y="1297435"/>
            <a:ext cx="5172723" cy="4370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>
              <a:lnSpc>
                <a:spcPct val="100000"/>
              </a:lnSpc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module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add16(a,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cin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sum,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input [15:0]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input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cin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output [15:0]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sum;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output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reg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[15:0]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sum;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reg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reg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c8;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always @(a or b or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cin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b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2B56F5"/>
                </a:solidFill>
                <a:latin typeface="Times New Roman" panose="02020603050405020304"/>
                <a:ea typeface="宋体" panose="02010600030101010101" pitchFamily="2" charset="-122"/>
              </a:rPr>
              <a:t>begin</a:t>
            </a:r>
            <a:endParaRPr lang="en-US" altLang="zh-CN" sz="2800" b="1" dirty="0">
              <a:solidFill>
                <a:srgbClr val="2B56F5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adder8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(a[7:0],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b[7:0],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cin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sum[7:0],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c8);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adder8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(a[15:8],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b[15:8],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c8,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sum[15:8],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);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b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</a:t>
            </a:r>
            <a:r>
              <a:rPr lang="en-US" altLang="zh-CN" sz="2000" b="1" dirty="0">
                <a:solidFill>
                  <a:srgbClr val="2B56F5"/>
                </a:solidFill>
                <a:latin typeface="Times New Roman" panose="02020603050405020304"/>
                <a:ea typeface="宋体" panose="02010600030101010101" pitchFamily="2" charset="-122"/>
              </a:rPr>
              <a:t>end</a:t>
            </a:r>
            <a:br>
              <a:rPr lang="en-US" altLang="zh-CN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endParaRPr lang="en-US" altLang="zh-CN" sz="28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99861" y="1889807"/>
            <a:ext cx="3460656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  </a:t>
            </a:r>
            <a:r>
              <a:rPr lang="en-US" altLang="zh-CN" sz="2000" b="1" dirty="0">
                <a:solidFill>
                  <a:srgbClr val="FF33CC"/>
                </a:solidFill>
              </a:rPr>
              <a:t>task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adder8</a:t>
            </a:r>
            <a:r>
              <a:rPr lang="zh-CN" altLang="en-US" sz="2000" b="1" dirty="0"/>
              <a:t>；</a:t>
            </a:r>
            <a:br>
              <a:rPr lang="zh-CN" altLang="en-US" sz="2000" b="1" dirty="0"/>
            </a:br>
            <a:r>
              <a:rPr lang="zh-CN" altLang="en-US" sz="2000" b="1" dirty="0"/>
              <a:t>       </a:t>
            </a:r>
            <a:r>
              <a:rPr lang="en-US" altLang="zh-CN" sz="2000" b="1" dirty="0"/>
              <a:t>input [7:0]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ta,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tb</a:t>
            </a:r>
            <a:r>
              <a:rPr lang="zh-CN" altLang="en-US" sz="2000" b="1" dirty="0"/>
              <a:t>； </a:t>
            </a:r>
            <a:br>
              <a:rPr lang="zh-CN" altLang="en-US" sz="2000" b="1" dirty="0"/>
            </a:br>
            <a:r>
              <a:rPr lang="zh-CN" altLang="en-US" sz="2000" b="1" dirty="0"/>
              <a:t>       </a:t>
            </a:r>
            <a:r>
              <a:rPr lang="en-US" altLang="zh-CN" sz="2000" b="1" dirty="0"/>
              <a:t>input </a:t>
            </a:r>
            <a:r>
              <a:rPr lang="en-US" altLang="zh-CN" sz="2000" b="1" dirty="0" err="1"/>
              <a:t>tcin</a:t>
            </a:r>
            <a:r>
              <a:rPr lang="zh-CN" altLang="en-US" sz="2000" b="1" dirty="0"/>
              <a:t>； </a:t>
            </a:r>
            <a:br>
              <a:rPr lang="zh-CN" altLang="en-US" sz="2000" b="1" dirty="0"/>
            </a:br>
            <a:r>
              <a:rPr lang="zh-CN" altLang="en-US" sz="2000" b="1" dirty="0"/>
              <a:t>       </a:t>
            </a:r>
            <a:r>
              <a:rPr lang="en-US" altLang="zh-CN" sz="2000" b="1" dirty="0"/>
              <a:t>output [7:0]</a:t>
            </a:r>
            <a:r>
              <a:rPr lang="zh-CN" altLang="en-US" sz="2000" b="1" dirty="0"/>
              <a:t>  </a:t>
            </a:r>
            <a:r>
              <a:rPr lang="en-US" altLang="zh-CN" sz="2000" b="1" dirty="0" err="1"/>
              <a:t>tsum</a:t>
            </a:r>
            <a:r>
              <a:rPr lang="zh-CN" altLang="en-US" sz="2000" b="1" dirty="0"/>
              <a:t>； </a:t>
            </a:r>
            <a:br>
              <a:rPr lang="zh-CN" altLang="en-US" sz="2000" b="1" dirty="0"/>
            </a:br>
            <a:r>
              <a:rPr lang="zh-CN" altLang="en-US" sz="2000" b="1" dirty="0"/>
              <a:t>       </a:t>
            </a:r>
            <a:r>
              <a:rPr lang="en-US" altLang="zh-CN" sz="2000" b="1" dirty="0"/>
              <a:t>output  </a:t>
            </a:r>
            <a:r>
              <a:rPr lang="en-US" altLang="zh-CN" sz="2000" b="1" dirty="0" err="1"/>
              <a:t>tcout</a:t>
            </a:r>
            <a:r>
              <a:rPr lang="zh-CN" altLang="en-US" sz="2000" b="1" dirty="0"/>
              <a:t>； </a:t>
            </a:r>
            <a:br>
              <a:rPr lang="zh-CN" altLang="en-US" sz="2000" b="1" dirty="0"/>
            </a:br>
            <a:r>
              <a:rPr lang="zh-CN" altLang="en-US" sz="2000" b="1" dirty="0"/>
              <a:t>       </a:t>
            </a:r>
            <a:r>
              <a:rPr lang="en-US" altLang="zh-CN" sz="2000" b="1" dirty="0"/>
              <a:t>begin </a:t>
            </a:r>
            <a:br>
              <a:rPr lang="en-US" altLang="zh-CN" sz="2000" b="1" dirty="0"/>
            </a:br>
            <a:r>
              <a:rPr lang="en-US" altLang="zh-CN" sz="2000" b="1" dirty="0"/>
              <a:t>          {</a:t>
            </a:r>
            <a:r>
              <a:rPr lang="en-US" altLang="zh-CN" sz="2000" b="1" dirty="0" err="1"/>
              <a:t>tcout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tsum</a:t>
            </a:r>
            <a:r>
              <a:rPr lang="en-US" altLang="zh-CN" sz="2000" b="1" dirty="0"/>
              <a:t>}=</a:t>
            </a:r>
            <a:r>
              <a:rPr lang="en-US" altLang="zh-CN" sz="2000" b="1" dirty="0" err="1"/>
              <a:t>ta+tb+tcin</a:t>
            </a:r>
            <a:r>
              <a:rPr lang="zh-CN" altLang="en-US" sz="2000" b="1" dirty="0"/>
              <a:t>；</a:t>
            </a:r>
            <a:br>
              <a:rPr lang="zh-CN" altLang="en-US" sz="2000" b="1" dirty="0"/>
            </a:br>
            <a:r>
              <a:rPr lang="zh-CN" altLang="en-US" sz="2000" b="1" dirty="0"/>
              <a:t>       </a:t>
            </a:r>
            <a:r>
              <a:rPr lang="en-US" altLang="zh-CN" sz="2000" b="1" dirty="0"/>
              <a:t>end</a:t>
            </a:r>
            <a:br>
              <a:rPr lang="en-US" altLang="zh-CN" sz="2000" b="1" dirty="0"/>
            </a:br>
            <a:r>
              <a:rPr lang="en-US" altLang="zh-CN" sz="2000" b="1" dirty="0"/>
              <a:t>   </a:t>
            </a:r>
            <a:r>
              <a:rPr lang="en-US" altLang="zh-CN" sz="2000" b="1" dirty="0" err="1">
                <a:solidFill>
                  <a:srgbClr val="FF33CC"/>
                </a:solidFill>
              </a:rPr>
              <a:t>endtask</a:t>
            </a:r>
            <a:endParaRPr lang="en-US" altLang="zh-CN" sz="2000" b="1" dirty="0">
              <a:solidFill>
                <a:srgbClr val="FF33CC"/>
              </a:solidFill>
            </a:endParaRPr>
          </a:p>
          <a:p>
            <a:br>
              <a:rPr lang="en-US" altLang="zh-CN" sz="2000" b="1" dirty="0"/>
            </a:br>
            <a:r>
              <a:rPr lang="en-US" altLang="zh-CN" sz="2000" b="1" dirty="0" err="1">
                <a:solidFill>
                  <a:srgbClr val="0000FF"/>
                </a:solidFill>
              </a:rPr>
              <a:t>endmodule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5211" y="5807092"/>
            <a:ext cx="644887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task adder8</a:t>
            </a:r>
            <a:r>
              <a:rPr lang="zh-CN" altLang="en-US" sz="2400" b="1" dirty="0">
                <a:solidFill>
                  <a:srgbClr val="0000FF"/>
                </a:solidFill>
              </a:rPr>
              <a:t>定义一个</a:t>
            </a:r>
            <a:r>
              <a:rPr lang="en-US" altLang="zh-CN" sz="2400" b="1" dirty="0">
                <a:solidFill>
                  <a:srgbClr val="0000FF"/>
                </a:solidFill>
              </a:rPr>
              <a:t>8</a:t>
            </a:r>
            <a:r>
              <a:rPr lang="zh-CN" altLang="en-US" sz="2400" b="1" dirty="0">
                <a:solidFill>
                  <a:srgbClr val="0000FF"/>
                </a:solidFill>
              </a:rPr>
              <a:t>位加法器。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r>
              <a:rPr lang="zh-CN" altLang="en-US" sz="2400" b="1" dirty="0">
                <a:solidFill>
                  <a:srgbClr val="0000FF"/>
                </a:solidFill>
              </a:rPr>
              <a:t>过程块</a:t>
            </a:r>
            <a:r>
              <a:rPr lang="en-US" altLang="zh-CN" sz="2400" b="1" dirty="0">
                <a:solidFill>
                  <a:srgbClr val="0000FF"/>
                </a:solidFill>
              </a:rPr>
              <a:t>always</a:t>
            </a:r>
            <a:r>
              <a:rPr lang="zh-CN" altLang="en-US" sz="2400" b="1" dirty="0">
                <a:solidFill>
                  <a:srgbClr val="0000FF"/>
                </a:solidFill>
              </a:rPr>
              <a:t>两次调用</a:t>
            </a:r>
            <a:r>
              <a:rPr lang="en-US" altLang="zh-CN" sz="2400" b="1" dirty="0">
                <a:solidFill>
                  <a:srgbClr val="0000FF"/>
                </a:solidFill>
              </a:rPr>
              <a:t>adder8</a:t>
            </a:r>
            <a:r>
              <a:rPr lang="zh-CN" altLang="en-US" sz="2400" b="1" dirty="0">
                <a:solidFill>
                  <a:srgbClr val="0000FF"/>
                </a:solidFill>
              </a:rPr>
              <a:t>可实现</a:t>
            </a:r>
            <a:r>
              <a:rPr lang="en-US" altLang="zh-CN" sz="2400" b="1" dirty="0">
                <a:solidFill>
                  <a:srgbClr val="0000FF"/>
                </a:solidFill>
              </a:rPr>
              <a:t>16</a:t>
            </a:r>
            <a:r>
              <a:rPr lang="zh-CN" altLang="en-US" sz="2400" b="1" dirty="0">
                <a:solidFill>
                  <a:srgbClr val="0000FF"/>
                </a:solidFill>
              </a:rPr>
              <a:t>位加法。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五、任务与函数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9057" y="1318743"/>
            <a:ext cx="9068369" cy="355174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zh-CN" altLang="en-US" sz="2800" b="1" kern="0" dirty="0">
                <a:solidFill>
                  <a:srgbClr val="000000"/>
                </a:solidFill>
                <a:latin typeface="Verdana" panose="020B0604030504040204"/>
                <a:ea typeface="宋体" panose="02010600030101010101" pitchFamily="2" charset="-122"/>
              </a:rPr>
              <a:t>函数的定义格式：</a:t>
            </a:r>
            <a:endParaRPr lang="zh-CN" altLang="en-US" sz="2800" b="1" kern="0" dirty="0">
              <a:solidFill>
                <a:srgbClr val="000000"/>
              </a:solidFill>
              <a:latin typeface="Verdana" panose="020B0604030504040204"/>
              <a:ea typeface="宋体" panose="02010600030101010101" pitchFamily="2" charset="-122"/>
            </a:endParaRPr>
          </a:p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</a:pPr>
            <a:r>
              <a:rPr lang="en-US" altLang="zh-CN" sz="2400" b="1" kern="0" dirty="0">
                <a:solidFill>
                  <a:srgbClr val="0000FF"/>
                </a:solidFill>
                <a:latin typeface="Verdana" panose="020B0604030504040204"/>
                <a:ea typeface="宋体" panose="02010600030101010101" pitchFamily="2" charset="-122"/>
              </a:rPr>
              <a:t>	function  </a:t>
            </a:r>
            <a:r>
              <a:rPr lang="en-US" altLang="zh-CN" sz="2400" b="1" kern="0" dirty="0">
                <a:latin typeface="Verdana" panose="020B0604030504040204"/>
                <a:ea typeface="宋体" panose="02010600030101010101" pitchFamily="2" charset="-122"/>
              </a:rPr>
              <a:t>&lt;</a:t>
            </a:r>
            <a:r>
              <a:rPr lang="zh-CN" altLang="en-US" sz="2400" b="1" kern="0" dirty="0">
                <a:solidFill>
                  <a:srgbClr val="FF0000"/>
                </a:solidFill>
                <a:latin typeface="Verdana" panose="020B0604030504040204"/>
                <a:ea typeface="宋体" panose="02010600030101010101" pitchFamily="2" charset="-122"/>
              </a:rPr>
              <a:t>返回值位宽或类型说明</a:t>
            </a:r>
            <a:r>
              <a:rPr lang="en-US" altLang="zh-CN" sz="2400" b="1" kern="0" dirty="0">
                <a:latin typeface="Verdana" panose="020B0604030504040204"/>
                <a:ea typeface="宋体" panose="02010600030101010101" pitchFamily="2" charset="-122"/>
              </a:rPr>
              <a:t>&gt; </a:t>
            </a:r>
            <a:r>
              <a:rPr lang="zh-CN" altLang="en-US" sz="2400" b="1" kern="0" dirty="0">
                <a:latin typeface="Verdana" panose="020B0604030504040204"/>
                <a:ea typeface="宋体" panose="02010600030101010101" pitchFamily="2" charset="-122"/>
              </a:rPr>
              <a:t>函数名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en-US" sz="24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</a:pPr>
            <a:r>
              <a:rPr lang="zh-CN" altLang="en-US" sz="2400" b="1" kern="0" dirty="0">
                <a:solidFill>
                  <a:srgbClr val="0000FF"/>
                </a:solidFill>
                <a:latin typeface="Verdana" panose="020B0604030504040204"/>
                <a:ea typeface="宋体" panose="02010600030101010101" pitchFamily="2" charset="-122"/>
              </a:rPr>
              <a:t>	  </a:t>
            </a:r>
            <a:r>
              <a:rPr lang="zh-CN" altLang="en-US" sz="2400" b="1" kern="0" dirty="0">
                <a:latin typeface="Verdana" panose="020B0604030504040204"/>
                <a:ea typeface="宋体" panose="02010600030101010101" pitchFamily="2" charset="-122"/>
              </a:rPr>
              <a:t>参数声明；</a:t>
            </a:r>
            <a:endParaRPr lang="zh-CN" altLang="en-US" sz="2400" b="1" kern="0" dirty="0">
              <a:latin typeface="Verdana" panose="020B0604030504040204"/>
              <a:ea typeface="宋体" panose="02010600030101010101" pitchFamily="2" charset="-122"/>
            </a:endParaRPr>
          </a:p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</a:pPr>
            <a:r>
              <a:rPr lang="zh-CN" altLang="en-US" sz="2400" b="1" kern="0" dirty="0">
                <a:latin typeface="Verdana" panose="020B0604030504040204"/>
                <a:ea typeface="宋体" panose="02010600030101010101" pitchFamily="2" charset="-122"/>
              </a:rPr>
              <a:t>	  局部变量定义；</a:t>
            </a:r>
            <a:endParaRPr lang="zh-CN" altLang="en-US" sz="2400" b="1" kern="0" dirty="0">
              <a:latin typeface="Verdana" panose="020B0604030504040204"/>
              <a:ea typeface="宋体" panose="02010600030101010101" pitchFamily="2" charset="-122"/>
            </a:endParaRPr>
          </a:p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</a:pPr>
            <a:r>
              <a:rPr lang="zh-CN" altLang="en-US" sz="2400" b="1" kern="0" dirty="0">
                <a:latin typeface="Verdana" panose="020B0604030504040204"/>
                <a:ea typeface="宋体" panose="02010600030101010101" pitchFamily="2" charset="-122"/>
              </a:rPr>
              <a:t>	  其它语句；</a:t>
            </a:r>
            <a:endParaRPr lang="zh-CN" altLang="en-US" sz="2400" b="1" kern="0" dirty="0">
              <a:latin typeface="Verdana" panose="020B0604030504040204"/>
              <a:ea typeface="宋体" panose="02010600030101010101" pitchFamily="2" charset="-122"/>
            </a:endParaRPr>
          </a:p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</a:pPr>
            <a:r>
              <a:rPr lang="en-US" altLang="zh-CN" sz="2400" b="1" kern="0" dirty="0">
                <a:solidFill>
                  <a:srgbClr val="0000FF"/>
                </a:solidFill>
                <a:latin typeface="Verdana" panose="020B0604030504040204"/>
                <a:ea typeface="宋体" panose="02010600030101010101" pitchFamily="2" charset="-122"/>
              </a:rPr>
              <a:t>	</a:t>
            </a:r>
            <a:r>
              <a:rPr lang="en-US" altLang="zh-CN" sz="2400" b="1" kern="0" dirty="0" err="1">
                <a:solidFill>
                  <a:srgbClr val="0000FF"/>
                </a:solidFill>
                <a:latin typeface="Verdana" panose="020B0604030504040204"/>
                <a:ea typeface="宋体" panose="02010600030101010101" pitchFamily="2" charset="-122"/>
              </a:rPr>
              <a:t>endfunction</a:t>
            </a:r>
            <a:endParaRPr lang="en-US" altLang="zh-CN" sz="2400" b="1" kern="0" dirty="0">
              <a:solidFill>
                <a:srgbClr val="0000FF"/>
              </a:solidFill>
              <a:latin typeface="Verdana" panose="020B0604030504040204"/>
              <a:ea typeface="宋体" panose="02010600030101010101" pitchFamily="2" charset="-122"/>
            </a:endParaRPr>
          </a:p>
          <a:p>
            <a:pPr marL="352425" indent="-35242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返回值位宽或类型说明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是一个可选项，如果缺省，则返回值为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寄存器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类型的数据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505" y="5251585"/>
            <a:ext cx="458293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函数调用格式：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变量名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函数名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输入参数列表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43012" y="5066920"/>
            <a:ext cx="4274414" cy="15696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14630" indent="-21463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函数的定义与调用须在一个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module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模块内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函数必须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至少有一个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输入参数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输出变量由函数名担任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五、任务与函数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857794" y="752429"/>
            <a:ext cx="5132828" cy="601359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function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[7:0] get0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input[7:0] x;  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reg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[7:0] count;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integer </a:t>
            </a:r>
            <a:r>
              <a:rPr lang="en-US" altLang="zh-CN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kern="0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count=0;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for (</a:t>
            </a:r>
            <a:r>
              <a:rPr lang="en-US" altLang="zh-CN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=0;i&lt;=7;i=i+1)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	  	   if(x[</a:t>
            </a:r>
            <a:r>
              <a:rPr lang="en-US" altLang="zh-CN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]==1'b0)  count=count+1;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lvl="0" indent="-352425" algn="just" defTabSz="685800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循环检查输入数据</a:t>
            </a:r>
            <a:r>
              <a:rPr lang="en-US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的每一位，计算出</a:t>
            </a:r>
            <a:r>
              <a:rPr lang="en-US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endParaRPr lang="en-US" altLang="zh-CN" sz="2000" kern="0" dirty="0">
              <a:solidFill>
                <a:srgbClr val="00B05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lvl="0" indent="-352425" algn="just" defTabSz="685800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000" kern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0的位数</a:t>
            </a:r>
            <a:r>
              <a:rPr lang="zh-CN" altLang="en-US" sz="2000" kern="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，并返回一个适当的值</a:t>
            </a:r>
            <a:endParaRPr lang="en-US" altLang="zh-CN" sz="2000" kern="0" dirty="0">
              <a:solidFill>
                <a:srgbClr val="00B05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get0=count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kern="0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</a:t>
            </a:r>
            <a:endParaRPr lang="en-US" altLang="zh-CN" sz="2400" kern="0" dirty="0">
              <a:solidFill>
                <a:srgbClr val="FF33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90000"/>
              </a:lnSpc>
              <a:buClr>
                <a:srgbClr val="CC0000"/>
              </a:buClr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endfunction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120000"/>
              </a:lnSpc>
              <a:spcBef>
                <a:spcPct val="0"/>
              </a:spcBef>
              <a:buClr>
                <a:srgbClr val="CC0000"/>
              </a:buClr>
              <a:buNone/>
              <a:defRPr/>
            </a:pPr>
            <a:r>
              <a:rPr lang="en-US" altLang="zh-CN" sz="2000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zh-CN" altLang="en-US" sz="2000" kern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80344" y="1521202"/>
            <a:ext cx="3625903" cy="3393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>
              <a:lnSpc>
                <a:spcPct val="100000"/>
              </a:lnSpc>
              <a:defRPr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module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example(a,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c, d)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 </a:t>
            </a:r>
            <a:b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input [7:0]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 </a:t>
            </a:r>
            <a:b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output [2:0]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c, d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 </a:t>
            </a:r>
            <a:b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</a:t>
            </a:r>
            <a:b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always @(a or b)</a:t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begin</a:t>
            </a:r>
            <a:endParaRPr lang="en-US" altLang="zh-CN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c=get0(a)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； </a:t>
            </a:r>
            <a:br>
              <a:rPr lang="zh-CN" altLang="en-US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d=get0(b)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 </a:t>
            </a:r>
            <a:b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end</a:t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endParaRPr lang="en-US" altLang="zh-CN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五、任务与函数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34035" y="4755962"/>
            <a:ext cx="3016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输出变量中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的位数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输出变量与函数名相同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3628" y="5199635"/>
            <a:ext cx="321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：分别统计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位二进制数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的位数。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27740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/>
              <a:t>程序基本结构</a:t>
            </a:r>
            <a:endParaRPr lang="zh-CN" altLang="en-US" sz="2800" dirty="0"/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6357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39050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基本语句</a:t>
            </a:r>
            <a:endParaRPr lang="zh-CN" altLang="en-US" sz="2800" dirty="0"/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74889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模块化程序设计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99418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运算符</a:t>
            </a:r>
            <a:endParaRPr lang="zh-CN" altLang="en-US" sz="2800" dirty="0"/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88108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模块化程序设计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grpSp>
        <p:nvGrpSpPr>
          <p:cNvPr id="9" name="Group 4"/>
          <p:cNvGrpSpPr>
            <a:grpSpLocks noChangeAspect="1"/>
          </p:cNvGrpSpPr>
          <p:nvPr/>
        </p:nvGrpSpPr>
        <p:grpSpPr bwMode="auto">
          <a:xfrm>
            <a:off x="819733" y="1233972"/>
            <a:ext cx="7576013" cy="4713652"/>
            <a:chOff x="2160" y="2139"/>
            <a:chExt cx="8540" cy="3459"/>
          </a:xfrm>
        </p:grpSpPr>
        <p:sp>
          <p:nvSpPr>
            <p:cNvPr id="15" name="AutoShape 5"/>
            <p:cNvSpPr>
              <a:spLocks noChangeAspect="1" noChangeArrowheads="1"/>
            </p:cNvSpPr>
            <p:nvPr/>
          </p:nvSpPr>
          <p:spPr bwMode="auto">
            <a:xfrm>
              <a:off x="2220" y="2139"/>
              <a:ext cx="8280" cy="3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5461" y="2163"/>
              <a:ext cx="1619" cy="4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顶层模块</a:t>
              </a:r>
              <a:endPara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300" y="3232"/>
              <a:ext cx="108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5280" y="3232"/>
              <a:ext cx="108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24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8700" y="3232"/>
              <a:ext cx="1081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sz="24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901" y="3232"/>
              <a:ext cx="1081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…</a:t>
              </a:r>
              <a:endParaRPr lang="en-US" altLang="zh-CN" sz="1400" b="1">
                <a:latin typeface="宋体" panose="02010600030101010101" pitchFamily="2" charset="-122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2160" y="4324"/>
              <a:ext cx="108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3280" y="4322"/>
              <a:ext cx="54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840" y="4324"/>
              <a:ext cx="108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1l</a:t>
              </a:r>
              <a:endParaRPr lang="en-US" altLang="zh-CN" sz="20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5026" y="4324"/>
              <a:ext cx="1079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21</a:t>
              </a:r>
              <a:endParaRPr lang="en-US" altLang="zh-CN" sz="20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6150" y="4322"/>
              <a:ext cx="54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…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2400" b="1">
                <a:latin typeface="宋体" panose="02010600030101010101" pitchFamily="2" charset="-122"/>
              </a:endParaRPr>
            </a:p>
          </p:txBody>
        </p:sp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6720" y="4324"/>
              <a:ext cx="108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2m</a:t>
              </a:r>
              <a:endParaRPr lang="en-US" altLang="zh-CN" sz="20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7906" y="4324"/>
              <a:ext cx="1084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n1</a:t>
              </a:r>
              <a:endParaRPr lang="en-US" altLang="zh-CN" sz="20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Rectangle 18"/>
            <p:cNvSpPr>
              <a:spLocks noChangeArrowheads="1"/>
            </p:cNvSpPr>
            <p:nvPr/>
          </p:nvSpPr>
          <p:spPr bwMode="auto">
            <a:xfrm>
              <a:off x="9021" y="4324"/>
              <a:ext cx="54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9600" y="4324"/>
              <a:ext cx="1100" cy="4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marL="342900" indent="-342900" algn="ctr">
                <a:spcBef>
                  <a:spcPct val="50000"/>
                </a:spcBef>
              </a:pPr>
              <a:r>
                <a:rPr lang="zh-CN" altLang="en-US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模块</a:t>
              </a:r>
              <a:r>
                <a:rPr lang="en-US" altLang="zh-CN" sz="2000" b="1">
                  <a:latin typeface="黑体" panose="02010609060101010101" pitchFamily="49" charset="-122"/>
                  <a:ea typeface="黑体" panose="02010609060101010101" pitchFamily="49" charset="-122"/>
                </a:rPr>
                <a:t>nn</a:t>
              </a:r>
              <a:endParaRPr lang="en-US" altLang="zh-CN" sz="20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" name="Line 20"/>
            <p:cNvSpPr>
              <a:spLocks noChangeShapeType="1"/>
            </p:cNvSpPr>
            <p:nvPr/>
          </p:nvSpPr>
          <p:spPr bwMode="auto">
            <a:xfrm flipH="1">
              <a:off x="4020" y="2608"/>
              <a:ext cx="19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1"/>
            <p:cNvSpPr>
              <a:spLocks noChangeShapeType="1"/>
            </p:cNvSpPr>
            <p:nvPr/>
          </p:nvSpPr>
          <p:spPr bwMode="auto">
            <a:xfrm flipH="1">
              <a:off x="6000" y="2608"/>
              <a:ext cx="1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6540" y="2608"/>
              <a:ext cx="234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3"/>
            <p:cNvSpPr>
              <a:spLocks noChangeShapeType="1"/>
            </p:cNvSpPr>
            <p:nvPr/>
          </p:nvSpPr>
          <p:spPr bwMode="auto">
            <a:xfrm flipH="1">
              <a:off x="2760" y="3700"/>
              <a:ext cx="90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4"/>
            <p:cNvSpPr>
              <a:spLocks noChangeShapeType="1"/>
            </p:cNvSpPr>
            <p:nvPr/>
          </p:nvSpPr>
          <p:spPr bwMode="auto">
            <a:xfrm>
              <a:off x="4020" y="3700"/>
              <a:ext cx="36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25"/>
            <p:cNvSpPr>
              <a:spLocks noChangeShapeType="1"/>
            </p:cNvSpPr>
            <p:nvPr/>
          </p:nvSpPr>
          <p:spPr bwMode="auto">
            <a:xfrm flipH="1">
              <a:off x="5640" y="3700"/>
              <a:ext cx="1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>
              <a:off x="6000" y="3700"/>
              <a:ext cx="10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 flipH="1">
              <a:off x="8340" y="3700"/>
              <a:ext cx="72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8"/>
            <p:cNvSpPr>
              <a:spLocks noChangeShapeType="1"/>
            </p:cNvSpPr>
            <p:nvPr/>
          </p:nvSpPr>
          <p:spPr bwMode="auto">
            <a:xfrm>
              <a:off x="9420" y="3700"/>
              <a:ext cx="54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4484" y="5130"/>
              <a:ext cx="443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多模块之间的关系图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_淘宝网chenying0907出品 25"/>
          <p:cNvSpPr txBox="1"/>
          <p:nvPr/>
        </p:nvSpPr>
        <p:spPr>
          <a:xfrm>
            <a:off x="920434" y="270442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7"/>
            <a:ext cx="920433" cy="920433"/>
          </a:xfrm>
          <a:prstGeom prst="rect">
            <a:avLst/>
          </a:prstGeom>
        </p:spPr>
      </p:pic>
      <p:sp>
        <p:nvSpPr>
          <p:cNvPr id="29" name="PA_淘宝网chenying0907出品 3"/>
          <p:cNvSpPr/>
          <p:nvPr/>
        </p:nvSpPr>
        <p:spPr>
          <a:xfrm>
            <a:off x="0" y="2065808"/>
            <a:ext cx="233314" cy="33610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0" name="PA_淘宝网chenying0907出品 4"/>
          <p:cNvSpPr/>
          <p:nvPr/>
        </p:nvSpPr>
        <p:spPr>
          <a:xfrm>
            <a:off x="5791593" y="2065808"/>
            <a:ext cx="233314" cy="33610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1" name="PA_淘宝网chenying0907出品 7"/>
          <p:cNvSpPr/>
          <p:nvPr/>
        </p:nvSpPr>
        <p:spPr>
          <a:xfrm>
            <a:off x="6046707" y="3927756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cxnSp>
        <p:nvCxnSpPr>
          <p:cNvPr id="32" name="PA_直接连接符 9"/>
          <p:cNvCxnSpPr/>
          <p:nvPr/>
        </p:nvCxnSpPr>
        <p:spPr>
          <a:xfrm>
            <a:off x="6024908" y="5426898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_淘宝网chenying0907出品 10"/>
          <p:cNvSpPr/>
          <p:nvPr/>
        </p:nvSpPr>
        <p:spPr>
          <a:xfrm>
            <a:off x="6350719" y="3981756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4" name="PA_淘宝网chenying0907出品 11"/>
          <p:cNvSpPr/>
          <p:nvPr/>
        </p:nvSpPr>
        <p:spPr>
          <a:xfrm>
            <a:off x="6660738" y="3981756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5" name="PA_淘宝网chenying0907出品 12"/>
          <p:cNvSpPr/>
          <p:nvPr/>
        </p:nvSpPr>
        <p:spPr>
          <a:xfrm>
            <a:off x="6965301" y="4008756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6" name="PA_淘宝网chenying0907出品 13"/>
          <p:cNvSpPr/>
          <p:nvPr/>
        </p:nvSpPr>
        <p:spPr>
          <a:xfrm>
            <a:off x="7284553" y="4035756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7" name="PA_淘宝网chenying0907出品 14"/>
          <p:cNvSpPr/>
          <p:nvPr/>
        </p:nvSpPr>
        <p:spPr>
          <a:xfrm>
            <a:off x="7601497" y="4062756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8" name="PA_淘宝网chenying0907出品 15"/>
          <p:cNvSpPr/>
          <p:nvPr/>
        </p:nvSpPr>
        <p:spPr>
          <a:xfrm rot="20959521">
            <a:off x="8008894" y="4101123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9" name="PA_淘宝网chenying0907出品 16"/>
          <p:cNvSpPr/>
          <p:nvPr/>
        </p:nvSpPr>
        <p:spPr>
          <a:xfrm rot="19779136">
            <a:off x="8519313" y="4132320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cxnSp>
        <p:nvCxnSpPr>
          <p:cNvPr id="40" name="PA_直接连接符 17"/>
          <p:cNvCxnSpPr/>
          <p:nvPr/>
        </p:nvCxnSpPr>
        <p:spPr>
          <a:xfrm>
            <a:off x="233315" y="5426898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PA_直接连接符 19"/>
          <p:cNvCxnSpPr/>
          <p:nvPr/>
        </p:nvCxnSpPr>
        <p:spPr>
          <a:xfrm>
            <a:off x="260475" y="2065808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A_直接连接符 20"/>
          <p:cNvCxnSpPr/>
          <p:nvPr/>
        </p:nvCxnSpPr>
        <p:spPr>
          <a:xfrm>
            <a:off x="233314" y="4876608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A_淘宝网chenying0907出品 21"/>
          <p:cNvSpPr txBox="1"/>
          <p:nvPr/>
        </p:nvSpPr>
        <p:spPr>
          <a:xfrm>
            <a:off x="163292" y="2296217"/>
            <a:ext cx="57254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  组合逻辑电路</a:t>
            </a:r>
            <a:endParaRPr lang="zh-CN" altLang="en-US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PA_淘宝网chenying0907出品 22"/>
          <p:cNvSpPr txBox="1"/>
          <p:nvPr/>
        </p:nvSpPr>
        <p:spPr>
          <a:xfrm>
            <a:off x="227724" y="4979332"/>
            <a:ext cx="94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涂卫平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PA_淘宝网chenying0907出品 23"/>
          <p:cNvSpPr txBox="1"/>
          <p:nvPr/>
        </p:nvSpPr>
        <p:spPr>
          <a:xfrm>
            <a:off x="1072234" y="4979332"/>
            <a:ext cx="226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PA_淘宝网chenying0907出品 22"/>
          <p:cNvSpPr txBox="1"/>
          <p:nvPr/>
        </p:nvSpPr>
        <p:spPr>
          <a:xfrm>
            <a:off x="3338526" y="4979331"/>
            <a:ext cx="248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2020-2021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春季学期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4"/>
          <p:cNvSpPr txBox="1"/>
          <p:nvPr/>
        </p:nvSpPr>
        <p:spPr>
          <a:xfrm>
            <a:off x="833386" y="3183769"/>
            <a:ext cx="4257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/>
              <a:t>4.1  </a:t>
            </a:r>
            <a:r>
              <a:rPr lang="zh-CN" altLang="en-US" sz="3200" b="1" dirty="0"/>
              <a:t>组合逻辑电路概述</a:t>
            </a:r>
            <a:endParaRPr lang="en-US" altLang="zh-CN" sz="3200" b="1" dirty="0"/>
          </a:p>
          <a:p>
            <a:r>
              <a:rPr lang="en-US" altLang="zh-CN" sz="3200" b="1" dirty="0"/>
              <a:t>4.2  </a:t>
            </a:r>
            <a:r>
              <a:rPr lang="zh-CN" altLang="en-US" sz="3200" b="1" dirty="0"/>
              <a:t>组合逻辑电路分析</a:t>
            </a:r>
            <a:endParaRPr lang="en-US" altLang="zh-CN" sz="3200" b="1" dirty="0"/>
          </a:p>
          <a:p>
            <a:r>
              <a:rPr lang="en-US" altLang="zh-CN" sz="3200" b="1" dirty="0"/>
              <a:t>4.3  </a:t>
            </a:r>
            <a:r>
              <a:rPr lang="zh-CN" altLang="en-US" sz="3200" b="1" dirty="0"/>
              <a:t>组合逻辑电路设计</a:t>
            </a:r>
            <a:endParaRPr lang="en-US" altLang="zh-CN" sz="32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淘宝网chenying0907出品 10"/>
          <p:cNvSpPr txBox="1"/>
          <p:nvPr/>
        </p:nvSpPr>
        <p:spPr>
          <a:xfrm>
            <a:off x="950159" y="3078790"/>
            <a:ext cx="20752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淘宝网chenying0907出品 11"/>
          <p:cNvSpPr/>
          <p:nvPr/>
        </p:nvSpPr>
        <p:spPr>
          <a:xfrm>
            <a:off x="3025365" y="0"/>
            <a:ext cx="611863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3025365" y="39481"/>
            <a:ext cx="2394626" cy="19630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840121" y="4809438"/>
            <a:ext cx="2303880" cy="20485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20"/>
          <p:cNvSpPr txBox="1"/>
          <p:nvPr/>
        </p:nvSpPr>
        <p:spPr>
          <a:xfrm>
            <a:off x="4003720" y="2143109"/>
            <a:ext cx="36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组合逻辑电路概述</a:t>
            </a:r>
            <a:endParaRPr lang="zh-CN" altLang="en-US" dirty="0"/>
          </a:p>
        </p:txBody>
      </p:sp>
      <p:sp>
        <p:nvSpPr>
          <p:cNvPr id="33" name="淘宝网chenying0907出品 25"/>
          <p:cNvSpPr txBox="1"/>
          <p:nvPr/>
        </p:nvSpPr>
        <p:spPr>
          <a:xfrm>
            <a:off x="4003720" y="3209455"/>
            <a:ext cx="413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组合逻辑电路分析</a:t>
            </a:r>
            <a:endParaRPr lang="zh-CN" altLang="en-US" dirty="0"/>
          </a:p>
        </p:txBody>
      </p:sp>
      <p:sp>
        <p:nvSpPr>
          <p:cNvPr id="34" name="淘宝网chenying0907出品 29"/>
          <p:cNvSpPr txBox="1"/>
          <p:nvPr/>
        </p:nvSpPr>
        <p:spPr>
          <a:xfrm>
            <a:off x="4003720" y="4275801"/>
            <a:ext cx="489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组合逻辑电路设计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35042" y="2169244"/>
            <a:ext cx="8530661" cy="1130214"/>
            <a:chOff x="335042" y="2169244"/>
            <a:chExt cx="8530661" cy="1130214"/>
          </a:xfrm>
        </p:grpSpPr>
        <p:sp>
          <p:nvSpPr>
            <p:cNvPr id="17" name="文本框 292865"/>
            <p:cNvSpPr txBox="1">
              <a:spLocks noChangeArrowheads="1"/>
            </p:cNvSpPr>
            <p:nvPr/>
          </p:nvSpPr>
          <p:spPr bwMode="auto">
            <a:xfrm>
              <a:off x="335042" y="2464294"/>
              <a:ext cx="234872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组合电路特点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18" name="文本框 292866"/>
            <p:cNvSpPr txBox="1">
              <a:spLocks noChangeArrowheads="1"/>
            </p:cNvSpPr>
            <p:nvPr/>
          </p:nvSpPr>
          <p:spPr bwMode="auto">
            <a:xfrm>
              <a:off x="2741057" y="2169244"/>
              <a:ext cx="1633220" cy="1124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功能上：</a:t>
              </a:r>
              <a:endParaRPr lang="zh-CN" altLang="en-US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结构上：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19" name="左大括号 292867"/>
            <p:cNvSpPr/>
            <p:nvPr/>
          </p:nvSpPr>
          <p:spPr bwMode="auto">
            <a:xfrm>
              <a:off x="2626612" y="2307876"/>
              <a:ext cx="114300" cy="826359"/>
            </a:xfrm>
            <a:prstGeom prst="leftBrace">
              <a:avLst>
                <a:gd name="adj1" fmla="val 72687"/>
                <a:gd name="adj2" fmla="val 50000"/>
              </a:avLst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2100" b="1"/>
            </a:p>
          </p:txBody>
        </p:sp>
        <p:sp>
          <p:nvSpPr>
            <p:cNvPr id="20" name="矩形 292868"/>
            <p:cNvSpPr>
              <a:spLocks noChangeArrowheads="1"/>
            </p:cNvSpPr>
            <p:nvPr/>
          </p:nvSpPr>
          <p:spPr bwMode="auto">
            <a:xfrm>
              <a:off x="4081866" y="2227896"/>
              <a:ext cx="47838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输出仅与该时刻的输入有关</a:t>
              </a:r>
              <a:endParaRPr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矩形 292869"/>
            <p:cNvSpPr>
              <a:spLocks noChangeArrowheads="1"/>
            </p:cNvSpPr>
            <p:nvPr/>
          </p:nvSpPr>
          <p:spPr bwMode="auto">
            <a:xfrm>
              <a:off x="4081866" y="2776238"/>
              <a:ext cx="246617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由门电路组成</a:t>
              </a:r>
              <a:endParaRPr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35042" y="964953"/>
            <a:ext cx="4921184" cy="1097528"/>
            <a:chOff x="335042" y="964953"/>
            <a:chExt cx="4921184" cy="1097528"/>
          </a:xfrm>
        </p:grpSpPr>
        <p:sp>
          <p:nvSpPr>
            <p:cNvPr id="22" name="文本框 292870"/>
            <p:cNvSpPr txBox="1">
              <a:spLocks noChangeArrowheads="1"/>
            </p:cNvSpPr>
            <p:nvPr/>
          </p:nvSpPr>
          <p:spPr bwMode="auto">
            <a:xfrm>
              <a:off x="335042" y="1262220"/>
              <a:ext cx="234872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数字逻辑电路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24" name="左大括号 292871"/>
            <p:cNvSpPr/>
            <p:nvPr/>
          </p:nvSpPr>
          <p:spPr bwMode="auto">
            <a:xfrm>
              <a:off x="2740912" y="1067747"/>
              <a:ext cx="166594" cy="912166"/>
            </a:xfrm>
            <a:prstGeom prst="leftBrace">
              <a:avLst>
                <a:gd name="adj1" fmla="val 7268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2100" b="1"/>
            </a:p>
          </p:txBody>
        </p:sp>
        <p:sp>
          <p:nvSpPr>
            <p:cNvPr id="35" name="文本框 292872"/>
            <p:cNvSpPr txBox="1">
              <a:spLocks noChangeArrowheads="1"/>
            </p:cNvSpPr>
            <p:nvPr/>
          </p:nvSpPr>
          <p:spPr bwMode="auto">
            <a:xfrm>
              <a:off x="2907506" y="964953"/>
              <a:ext cx="234872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组合逻辑电路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36" name="文本框 292873"/>
            <p:cNvSpPr txBox="1">
              <a:spLocks noChangeArrowheads="1"/>
            </p:cNvSpPr>
            <p:nvPr/>
          </p:nvSpPr>
          <p:spPr bwMode="auto">
            <a:xfrm>
              <a:off x="2907506" y="1539261"/>
              <a:ext cx="234872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时序逻辑电路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</p:grpSp>
      <p:sp>
        <p:nvSpPr>
          <p:cNvPr id="37" name="矩形 292874"/>
          <p:cNvSpPr>
            <a:spLocks noChangeArrowheads="1"/>
          </p:cNvSpPr>
          <p:nvPr/>
        </p:nvSpPr>
        <p:spPr bwMode="auto">
          <a:xfrm>
            <a:off x="478817" y="3827842"/>
            <a:ext cx="4421796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SzPct val="85000"/>
              <a:buFont typeface="Arial" panose="020B0604020202020204" pitchFamily="34" charset="0"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主要内容</a:t>
            </a:r>
            <a:endParaRPr lang="zh-CN" altLang="en-US" sz="32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SzPct val="85000"/>
              <a:buFont typeface="Arial" panose="020B0604020202020204" pitchFamily="34" charset="0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⒈ </a:t>
            </a:r>
            <a:r>
              <a:rPr lang="zh-CN" altLang="en-US" sz="2400" b="1" dirty="0">
                <a:ea typeface="宋体" panose="02010600030101010101" pitchFamily="2" charset="-122"/>
              </a:rPr>
              <a:t>组合电路的分析、设计方法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SzPct val="85000"/>
              <a:buFont typeface="Arial" panose="020B0604020202020204" pitchFamily="34" charset="0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⒉ </a:t>
            </a:r>
            <a:r>
              <a:rPr lang="zh-CN" altLang="en-US" sz="2400" b="1" dirty="0">
                <a:ea typeface="宋体" panose="02010600030101010101" pitchFamily="2" charset="-122"/>
              </a:rPr>
              <a:t>常用集成组合逻辑电路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p:sp>
        <p:nvSpPr>
          <p:cNvPr id="39" name="圆角矩形标注 292876"/>
          <p:cNvSpPr>
            <a:spLocks noChangeArrowheads="1"/>
          </p:cNvSpPr>
          <p:nvPr/>
        </p:nvSpPr>
        <p:spPr bwMode="auto">
          <a:xfrm>
            <a:off x="4310112" y="3376677"/>
            <a:ext cx="2009681" cy="763109"/>
          </a:xfrm>
          <a:prstGeom prst="wedgeRoundRectCallout">
            <a:avLst>
              <a:gd name="adj1" fmla="val -57064"/>
              <a:gd name="adj2" fmla="val 128251"/>
              <a:gd name="adj3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</a:rPr>
              <a:t>由小规模集成电路组成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</a:endParaRPr>
          </a:p>
        </p:txBody>
      </p:sp>
      <p:sp>
        <p:nvSpPr>
          <p:cNvPr id="40" name="圆角矩形标注 292877"/>
          <p:cNvSpPr>
            <a:spLocks noChangeArrowheads="1"/>
          </p:cNvSpPr>
          <p:nvPr/>
        </p:nvSpPr>
        <p:spPr bwMode="auto">
          <a:xfrm>
            <a:off x="3662365" y="5546045"/>
            <a:ext cx="2105023" cy="718204"/>
          </a:xfrm>
          <a:prstGeom prst="wedgeRoundRectCallout">
            <a:avLst>
              <a:gd name="adj1" fmla="val -116355"/>
              <a:gd name="adj2" fmla="val -69715"/>
              <a:gd name="adj3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由中规模集成电路组成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组合逻辑电路概述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Box 19"/>
          <p:cNvSpPr txBox="1">
            <a:spLocks noChangeArrowheads="1"/>
          </p:cNvSpPr>
          <p:nvPr/>
        </p:nvSpPr>
        <p:spPr bwMode="auto">
          <a:xfrm>
            <a:off x="5539834" y="1694485"/>
            <a:ext cx="30299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输入：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X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… ,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24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输出：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F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… , 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5" name="Group 23"/>
          <p:cNvGrpSpPr/>
          <p:nvPr/>
        </p:nvGrpSpPr>
        <p:grpSpPr bwMode="auto">
          <a:xfrm>
            <a:off x="5539834" y="3369616"/>
            <a:ext cx="2972991" cy="2450306"/>
            <a:chOff x="1200" y="2640"/>
            <a:chExt cx="2497" cy="2058"/>
          </a:xfrm>
        </p:grpSpPr>
        <p:graphicFrame>
          <p:nvGraphicFramePr>
            <p:cNvPr id="66" name="Object 21"/>
            <p:cNvGraphicFramePr>
              <a:graphicFrameLocks noChangeAspect="1"/>
            </p:cNvGraphicFramePr>
            <p:nvPr/>
          </p:nvGraphicFramePr>
          <p:xfrm>
            <a:off x="1276" y="3153"/>
            <a:ext cx="2421" cy="1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1" imgW="1473200" imgH="939800" progId="Equation.3">
                    <p:embed/>
                  </p:oleObj>
                </mc:Choice>
                <mc:Fallback>
                  <p:oleObj name="Equation" r:id="rId1" imgW="1473200" imgH="939800" progId="Equation.3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6" y="3153"/>
                          <a:ext cx="2421" cy="1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Text Box 22"/>
            <p:cNvSpPr txBox="1">
              <a:spLocks noChangeArrowheads="1"/>
            </p:cNvSpPr>
            <p:nvPr/>
          </p:nvSpPr>
          <p:spPr bwMode="auto">
            <a:xfrm>
              <a:off x="1200" y="2640"/>
              <a:ext cx="145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逻辑关系：</a:t>
              </a:r>
              <a:endPara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8" name="Text Box 24"/>
          <p:cNvSpPr txBox="1">
            <a:spLocks noChangeArrowheads="1"/>
          </p:cNvSpPr>
          <p:nvPr/>
        </p:nvSpPr>
        <p:spPr bwMode="auto">
          <a:xfrm>
            <a:off x="68193" y="688902"/>
            <a:ext cx="62230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输出跟随输入的变化 </a:t>
            </a:r>
            <a:endParaRPr kumimoji="1" lang="zh-CN" altLang="en-US" sz="2800" b="1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" name="Text Box 25"/>
          <p:cNvSpPr txBox="1">
            <a:spLocks noChangeArrowheads="1"/>
          </p:cNvSpPr>
          <p:nvPr/>
        </p:nvSpPr>
        <p:spPr bwMode="auto">
          <a:xfrm>
            <a:off x="294443" y="3586309"/>
            <a:ext cx="4407980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组合电路的特点</a:t>
            </a:r>
            <a:r>
              <a:rPr kumimoji="1"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  <a:buSzPct val="55000"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电路中不包含记忆元件</a:t>
            </a:r>
            <a:r>
              <a:rPr kumimoji="1"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  <a:buSzPct val="55000"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输出无反馈到输入的回路</a:t>
            </a:r>
            <a:endParaRPr kumimoji="1"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  <a:buSzPct val="55000"/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任意时刻</a:t>
            </a:r>
            <a:r>
              <a:rPr kumimoji="1"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电路的输出仅取决于当时的输入</a:t>
            </a:r>
            <a:r>
              <a:rPr kumimoji="1"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组合逻辑电路概述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52490" y="1528094"/>
            <a:ext cx="4691885" cy="1742242"/>
            <a:chOff x="152490" y="1528094"/>
            <a:chExt cx="4691885" cy="1742242"/>
          </a:xfrm>
        </p:grpSpPr>
        <p:grpSp>
          <p:nvGrpSpPr>
            <p:cNvPr id="50" name="Group 4"/>
            <p:cNvGrpSpPr/>
            <p:nvPr/>
          </p:nvGrpSpPr>
          <p:grpSpPr bwMode="auto">
            <a:xfrm>
              <a:off x="152490" y="1528094"/>
              <a:ext cx="4691885" cy="1742242"/>
              <a:chOff x="3120" y="988"/>
              <a:chExt cx="2535" cy="730"/>
            </a:xfrm>
          </p:grpSpPr>
          <p:sp>
            <p:nvSpPr>
              <p:cNvPr id="51" name="Rectangle 5"/>
              <p:cNvSpPr>
                <a:spLocks noChangeArrowheads="1"/>
              </p:cNvSpPr>
              <p:nvPr/>
            </p:nvSpPr>
            <p:spPr bwMode="auto">
              <a:xfrm>
                <a:off x="3936" y="1046"/>
                <a:ext cx="912" cy="672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kern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组合逻辑</a:t>
                </a:r>
                <a:endParaRPr kumimoji="1" lang="zh-CN" altLang="en-US" sz="2800" b="1" kern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kern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电      路</a:t>
                </a:r>
                <a:endParaRPr kumimoji="1" lang="zh-CN" altLang="en-US" sz="2800" b="1" kern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2" name="Line 6"/>
              <p:cNvSpPr>
                <a:spLocks noChangeShapeType="1"/>
              </p:cNvSpPr>
              <p:nvPr/>
            </p:nvSpPr>
            <p:spPr bwMode="auto">
              <a:xfrm>
                <a:off x="3408" y="1133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32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Text Box 7"/>
              <p:cNvSpPr txBox="1">
                <a:spLocks noChangeArrowheads="1"/>
              </p:cNvSpPr>
              <p:nvPr/>
            </p:nvSpPr>
            <p:spPr bwMode="auto">
              <a:xfrm>
                <a:off x="3124" y="998"/>
                <a:ext cx="292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kumimoji="1" lang="en-US" altLang="zh-CN" sz="2400" b="1" kern="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kumimoji="1" lang="en-US" altLang="zh-CN" sz="24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Line 8"/>
              <p:cNvSpPr>
                <a:spLocks noChangeShapeType="1"/>
              </p:cNvSpPr>
              <p:nvPr/>
            </p:nvSpPr>
            <p:spPr bwMode="auto">
              <a:xfrm>
                <a:off x="3404" y="1306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32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Text Box 9"/>
              <p:cNvSpPr txBox="1">
                <a:spLocks noChangeArrowheads="1"/>
              </p:cNvSpPr>
              <p:nvPr/>
            </p:nvSpPr>
            <p:spPr bwMode="auto">
              <a:xfrm>
                <a:off x="3120" y="1171"/>
                <a:ext cx="292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kumimoji="1" lang="en-US" altLang="zh-CN" sz="2400" b="1" kern="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kumimoji="1" lang="en-US" altLang="zh-CN" sz="24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Line 10"/>
              <p:cNvSpPr>
                <a:spLocks noChangeShapeType="1"/>
              </p:cNvSpPr>
              <p:nvPr/>
            </p:nvSpPr>
            <p:spPr bwMode="auto">
              <a:xfrm>
                <a:off x="3404" y="1613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32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Text Box 11"/>
              <p:cNvSpPr txBox="1">
                <a:spLocks noChangeArrowheads="1"/>
              </p:cNvSpPr>
              <p:nvPr/>
            </p:nvSpPr>
            <p:spPr bwMode="auto">
              <a:xfrm>
                <a:off x="3120" y="1478"/>
                <a:ext cx="332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kumimoji="1" lang="en-US" altLang="zh-CN" sz="2400" b="1" kern="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m</a:t>
                </a:r>
                <a:endParaRPr kumimoji="1" lang="en-US" altLang="zh-CN" sz="24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Line 12"/>
              <p:cNvSpPr>
                <a:spLocks noChangeShapeType="1"/>
              </p:cNvSpPr>
              <p:nvPr/>
            </p:nvSpPr>
            <p:spPr bwMode="auto">
              <a:xfrm>
                <a:off x="4852" y="1123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32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9" name="Text Box 13"/>
              <p:cNvSpPr txBox="1">
                <a:spLocks noChangeArrowheads="1"/>
              </p:cNvSpPr>
              <p:nvPr/>
            </p:nvSpPr>
            <p:spPr bwMode="auto">
              <a:xfrm>
                <a:off x="5380" y="988"/>
                <a:ext cx="272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 kern="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kumimoji="1" lang="en-US" altLang="zh-CN" sz="24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Line 14"/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32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1" name="Text Box 15"/>
              <p:cNvSpPr txBox="1">
                <a:spLocks noChangeArrowheads="1"/>
              </p:cNvSpPr>
              <p:nvPr/>
            </p:nvSpPr>
            <p:spPr bwMode="auto">
              <a:xfrm>
                <a:off x="5376" y="1161"/>
                <a:ext cx="272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 kern="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kumimoji="1" lang="en-US" altLang="zh-CN" sz="24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Line 16"/>
              <p:cNvSpPr>
                <a:spLocks noChangeShapeType="1"/>
              </p:cNvSpPr>
              <p:nvPr/>
            </p:nvSpPr>
            <p:spPr bwMode="auto">
              <a:xfrm>
                <a:off x="4848" y="1603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32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3" name="Text Box 17"/>
              <p:cNvSpPr txBox="1">
                <a:spLocks noChangeArrowheads="1"/>
              </p:cNvSpPr>
              <p:nvPr/>
            </p:nvSpPr>
            <p:spPr bwMode="auto">
              <a:xfrm>
                <a:off x="5376" y="1468"/>
                <a:ext cx="279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 kern="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kumimoji="1" lang="en-US" altLang="zh-CN" sz="24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846876" y="2447173"/>
              <a:ext cx="615553" cy="32463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800" b="1" dirty="0"/>
                <a:t>…</a:t>
              </a:r>
              <a:endParaRPr lang="zh-CN" altLang="en-US" sz="2800" b="1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630999" y="2437909"/>
              <a:ext cx="615553" cy="32463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800" b="1" dirty="0"/>
                <a:t>…</a:t>
              </a:r>
              <a:endParaRPr lang="zh-CN" alt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utoUpdateAnimBg="0"/>
      <p:bldP spid="6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淘宝网chenying0907出品 10"/>
          <p:cNvSpPr txBox="1"/>
          <p:nvPr/>
        </p:nvSpPr>
        <p:spPr>
          <a:xfrm>
            <a:off x="950159" y="3078790"/>
            <a:ext cx="20752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淘宝网chenying0907出品 11"/>
          <p:cNvSpPr/>
          <p:nvPr/>
        </p:nvSpPr>
        <p:spPr>
          <a:xfrm>
            <a:off x="3025365" y="0"/>
            <a:ext cx="611863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3025365" y="39481"/>
            <a:ext cx="2394626" cy="19630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840121" y="4809438"/>
            <a:ext cx="2303880" cy="20485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20"/>
          <p:cNvSpPr txBox="1"/>
          <p:nvPr/>
        </p:nvSpPr>
        <p:spPr>
          <a:xfrm>
            <a:off x="4003720" y="2143109"/>
            <a:ext cx="36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组合逻辑电路概述</a:t>
            </a:r>
            <a:endParaRPr lang="zh-CN" altLang="en-US" dirty="0"/>
          </a:p>
        </p:txBody>
      </p:sp>
      <p:sp>
        <p:nvSpPr>
          <p:cNvPr id="33" name="淘宝网chenying0907出品 25"/>
          <p:cNvSpPr txBox="1"/>
          <p:nvPr/>
        </p:nvSpPr>
        <p:spPr>
          <a:xfrm>
            <a:off x="4003720" y="3209455"/>
            <a:ext cx="413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组合逻辑电路分析</a:t>
            </a:r>
            <a:endParaRPr lang="zh-CN" altLang="en-US" dirty="0"/>
          </a:p>
        </p:txBody>
      </p:sp>
      <p:sp>
        <p:nvSpPr>
          <p:cNvPr id="34" name="淘宝网chenying0907出品 29"/>
          <p:cNvSpPr txBox="1"/>
          <p:nvPr/>
        </p:nvSpPr>
        <p:spPr>
          <a:xfrm>
            <a:off x="4003720" y="4275801"/>
            <a:ext cx="489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组合逻辑电路设计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3"/>
          <p:cNvSpPr txBox="1">
            <a:spLocks noChangeArrowheads="1"/>
          </p:cNvSpPr>
          <p:nvPr/>
        </p:nvSpPr>
        <p:spPr bwMode="auto">
          <a:xfrm>
            <a:off x="423132" y="875898"/>
            <a:ext cx="8264679" cy="32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buClr>
                <a:srgbClr val="3333CC"/>
              </a:buClr>
              <a:defRPr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分析目的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69875" lvl="1" indent="0" algn="just" defTabSz="6858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找出电路的输出与输入变量的逻辑关系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确定电路所实现的逻辑功能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450"/>
              </a:spcBef>
              <a:spcAft>
                <a:spcPts val="0"/>
              </a:spcAft>
              <a:buClr>
                <a:srgbClr val="3333CC"/>
              </a:buClr>
              <a:defRPr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分析方法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45" lvl="1" algn="just">
              <a:lnSpc>
                <a:spcPct val="110000"/>
              </a:lnSpc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从输入级开始</a:t>
            </a:r>
            <a:r>
              <a:rPr lang="en-US" altLang="zh-CN" sz="2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逐级写出门的逻辑表达式</a:t>
            </a:r>
            <a:endParaRPr lang="zh-CN" altLang="en-US" sz="2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45" lvl="1" algn="just">
              <a:lnSpc>
                <a:spcPct val="110000"/>
              </a:lnSpc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对表达式进行化简</a:t>
            </a:r>
            <a:endParaRPr lang="zh-CN" altLang="en-US" sz="2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45" lvl="1" algn="just">
              <a:lnSpc>
                <a:spcPct val="110000"/>
              </a:lnSpc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列真值表</a:t>
            </a:r>
            <a:endParaRPr lang="zh-CN" altLang="en-US" sz="2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45" lvl="1" algn="just">
              <a:lnSpc>
                <a:spcPct val="110000"/>
              </a:lnSpc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描述电路的逻辑功能</a:t>
            </a:r>
            <a:endParaRPr lang="zh-CN" altLang="en-US" sz="2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组合逻辑电路分析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76515" y="4641953"/>
            <a:ext cx="757450" cy="1554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组合逻辑电路图</a:t>
            </a:r>
            <a:endParaRPr lang="zh-CN" altLang="en-US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2022717" y="5289678"/>
            <a:ext cx="429904" cy="259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641373" y="4641953"/>
            <a:ext cx="757450" cy="1554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逻辑表达式</a:t>
            </a:r>
            <a:endParaRPr lang="zh-CN" altLang="en-US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587096" y="5289675"/>
            <a:ext cx="429904" cy="259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209190" y="4641953"/>
            <a:ext cx="757450" cy="1554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逻辑函数化简</a:t>
            </a:r>
            <a:endParaRPr lang="zh-CN" altLang="en-US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80924" y="4641953"/>
            <a:ext cx="757450" cy="1554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  <a:endParaRPr lang="zh-CN" altLang="en-US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5158830" y="5289675"/>
            <a:ext cx="429904" cy="259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352658" y="4641953"/>
            <a:ext cx="757450" cy="1554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描述电路功能</a:t>
            </a:r>
            <a:endParaRPr lang="zh-CN" altLang="en-US" sz="2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6730564" y="5289675"/>
            <a:ext cx="429904" cy="259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49" y="1408524"/>
            <a:ext cx="3697343" cy="291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4263460" y="1397489"/>
            <a:ext cx="416136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该电路为二级组合电路。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424375" y="4487241"/>
            <a:ext cx="3339881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组合逻辑电路的级数：</a:t>
            </a: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输入信号从输入端到输出端所经历的逻辑门的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</a:t>
            </a: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endParaRPr kumimoji="1"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4287784" y="2017133"/>
            <a:ext cx="3714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写出电路的逻辑表达式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6" name="Object 11"/>
          <p:cNvGraphicFramePr>
            <a:graphicFrameLocks noChangeAspect="1"/>
          </p:cNvGraphicFramePr>
          <p:nvPr/>
        </p:nvGraphicFramePr>
        <p:xfrm>
          <a:off x="4456770" y="2608683"/>
          <a:ext cx="2509314" cy="1592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2" imgW="1180465" imgH="748665" progId="Equation.3">
                  <p:embed/>
                </p:oleObj>
              </mc:Choice>
              <mc:Fallback>
                <p:oleObj name="Equation" r:id="rId2" imgW="1180465" imgH="748665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770" y="2608683"/>
                        <a:ext cx="2509314" cy="1592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15"/>
          <p:cNvGrpSpPr/>
          <p:nvPr/>
        </p:nvGrpSpPr>
        <p:grpSpPr bwMode="auto">
          <a:xfrm>
            <a:off x="4363508" y="4511952"/>
            <a:ext cx="4412769" cy="1857376"/>
            <a:chOff x="1032" y="2898"/>
            <a:chExt cx="3432" cy="1560"/>
          </a:xfrm>
        </p:grpSpPr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1032" y="2898"/>
              <a:ext cx="264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(2)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描述电路的逻辑功能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14"/>
            <p:cNvSpPr txBox="1">
              <a:spLocks noChangeArrowheads="1"/>
            </p:cNvSpPr>
            <p:nvPr/>
          </p:nvSpPr>
          <p:spPr bwMode="auto">
            <a:xfrm>
              <a:off x="1296" y="3264"/>
              <a:ext cx="3168" cy="1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该函数表达式比较简单，不用列真值表，由表达式可知此电路是一个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异或电路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。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3166" y="633484"/>
            <a:ext cx="64972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：试分析下图所示逻辑电路的功能。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120813" y="1151202"/>
            <a:ext cx="28858" cy="56409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组合逻辑电路分析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弧形箭头 18"/>
          <p:cNvSpPr/>
          <p:nvPr/>
        </p:nvSpPr>
        <p:spPr>
          <a:xfrm>
            <a:off x="6870713" y="2766107"/>
            <a:ext cx="371960" cy="6509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89577" y="2812371"/>
            <a:ext cx="1135250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反演律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右弧形箭头 21"/>
          <p:cNvSpPr/>
          <p:nvPr/>
        </p:nvSpPr>
        <p:spPr>
          <a:xfrm>
            <a:off x="6919180" y="3565032"/>
            <a:ext cx="371960" cy="6509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38044" y="3611296"/>
            <a:ext cx="1135250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分配律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19" grpId="0" animBg="1"/>
      <p:bldP spid="20" grpId="0" animBg="1"/>
      <p:bldP spid="22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116" y="720780"/>
            <a:ext cx="64972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：试分析图中所示逻辑电路的功能。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Text Box 5"/>
          <p:cNvSpPr txBox="1">
            <a:spLocks noChangeArrowheads="1"/>
          </p:cNvSpPr>
          <p:nvPr/>
        </p:nvSpPr>
        <p:spPr bwMode="auto">
          <a:xfrm>
            <a:off x="167534" y="4206642"/>
            <a:ext cx="3714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写出电路的逻辑表达式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5066659" y="1366639"/>
            <a:ext cx="18582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列真值表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Object 7"/>
          <p:cNvGraphicFramePr>
            <a:graphicFrameLocks noChangeAspect="1"/>
          </p:cNvGraphicFramePr>
          <p:nvPr/>
        </p:nvGraphicFramePr>
        <p:xfrm>
          <a:off x="191116" y="4824886"/>
          <a:ext cx="2782888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公式" r:id="rId1" imgW="31394400" imgH="17678400" progId="Equation.3">
                  <p:embed/>
                </p:oleObj>
              </mc:Choice>
              <mc:Fallback>
                <p:oleObj name="公式" r:id="rId1" imgW="31394400" imgH="176784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16" y="4824886"/>
                        <a:ext cx="2782888" cy="16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Group 10"/>
          <p:cNvGrpSpPr/>
          <p:nvPr/>
        </p:nvGrpSpPr>
        <p:grpSpPr bwMode="auto">
          <a:xfrm>
            <a:off x="5340138" y="1835234"/>
            <a:ext cx="1775222" cy="2584847"/>
            <a:chOff x="3661" y="2350"/>
            <a:chExt cx="1491" cy="2171"/>
          </a:xfrm>
        </p:grpSpPr>
        <p:sp>
          <p:nvSpPr>
            <p:cNvPr id="58" name="Text Box 11"/>
            <p:cNvSpPr txBox="1">
              <a:spLocks noChangeArrowheads="1"/>
            </p:cNvSpPr>
            <p:nvPr/>
          </p:nvSpPr>
          <p:spPr bwMode="auto">
            <a:xfrm>
              <a:off x="3661" y="2350"/>
              <a:ext cx="1491" cy="2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   B   C        F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0    0    0        0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0    0    1        0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0    1    0        0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0    1    1        1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1    0    0        0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1    0    1        1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1    1    0        1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1    1    1        1</a:t>
              </a:r>
              <a:endPara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Line 12"/>
            <p:cNvSpPr>
              <a:spLocks noChangeShapeType="1"/>
            </p:cNvSpPr>
            <p:nvPr/>
          </p:nvSpPr>
          <p:spPr bwMode="auto">
            <a:xfrm>
              <a:off x="3696" y="2400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000" ker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3696" y="2592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ker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" name="Line 14"/>
            <p:cNvSpPr>
              <a:spLocks noChangeShapeType="1"/>
            </p:cNvSpPr>
            <p:nvPr/>
          </p:nvSpPr>
          <p:spPr bwMode="auto">
            <a:xfrm>
              <a:off x="4560" y="2400"/>
              <a:ext cx="20" cy="20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ker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2" name="Line 15"/>
            <p:cNvSpPr>
              <a:spLocks noChangeShapeType="1"/>
            </p:cNvSpPr>
            <p:nvPr/>
          </p:nvSpPr>
          <p:spPr bwMode="auto">
            <a:xfrm>
              <a:off x="3696" y="4483"/>
              <a:ext cx="12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ker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63" name="Group 17"/>
          <p:cNvGrpSpPr/>
          <p:nvPr/>
        </p:nvGrpSpPr>
        <p:grpSpPr bwMode="auto">
          <a:xfrm>
            <a:off x="5325050" y="3018348"/>
            <a:ext cx="1714500" cy="1321257"/>
            <a:chOff x="3850" y="3264"/>
            <a:chExt cx="1440" cy="1119"/>
          </a:xfrm>
        </p:grpSpPr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3888" y="3264"/>
              <a:ext cx="1392" cy="190"/>
            </a:xfrm>
            <a:prstGeom prst="rect">
              <a:avLst/>
            </a:prstGeom>
            <a:noFill/>
            <a:ln w="31750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5" name="Rectangle 19"/>
            <p:cNvSpPr>
              <a:spLocks noChangeArrowheads="1"/>
            </p:cNvSpPr>
            <p:nvPr/>
          </p:nvSpPr>
          <p:spPr bwMode="auto">
            <a:xfrm>
              <a:off x="3850" y="3744"/>
              <a:ext cx="1440" cy="639"/>
            </a:xfrm>
            <a:prstGeom prst="rect">
              <a:avLst/>
            </a:prstGeom>
            <a:noFill/>
            <a:ln w="349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66" name="Group 20"/>
          <p:cNvGrpSpPr/>
          <p:nvPr/>
        </p:nvGrpSpPr>
        <p:grpSpPr bwMode="auto">
          <a:xfrm>
            <a:off x="5381810" y="2199527"/>
            <a:ext cx="1714500" cy="1290638"/>
            <a:chOff x="3888" y="2564"/>
            <a:chExt cx="1440" cy="1084"/>
          </a:xfrm>
        </p:grpSpPr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3901" y="2564"/>
              <a:ext cx="1392" cy="632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8" name="Rectangle 22"/>
            <p:cNvSpPr>
              <a:spLocks noChangeArrowheads="1"/>
            </p:cNvSpPr>
            <p:nvPr/>
          </p:nvSpPr>
          <p:spPr bwMode="auto">
            <a:xfrm>
              <a:off x="3888" y="3484"/>
              <a:ext cx="1440" cy="164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69" name="Text Box 25"/>
          <p:cNvSpPr txBox="1">
            <a:spLocks noChangeArrowheads="1"/>
          </p:cNvSpPr>
          <p:nvPr/>
        </p:nvSpPr>
        <p:spPr bwMode="auto">
          <a:xfrm>
            <a:off x="4731773" y="4648680"/>
            <a:ext cx="34050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描述电路的逻辑功能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 Box 26"/>
          <p:cNvSpPr txBox="1">
            <a:spLocks noChangeArrowheads="1"/>
          </p:cNvSpPr>
          <p:nvPr/>
        </p:nvSpPr>
        <p:spPr bwMode="auto">
          <a:xfrm>
            <a:off x="4909344" y="5928667"/>
            <a:ext cx="33774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因此，该电路为</a:t>
            </a:r>
            <a:r>
              <a:rPr kumimoji="1" lang="zh-CN" altLang="en-US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少数服从多数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电路，也称多数表决电路。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Text Box 27"/>
          <p:cNvSpPr txBox="1">
            <a:spLocks noChangeArrowheads="1"/>
          </p:cNvSpPr>
          <p:nvPr/>
        </p:nvSpPr>
        <p:spPr bwMode="auto">
          <a:xfrm>
            <a:off x="4899726" y="5116974"/>
            <a:ext cx="36952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多数输入变量为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，输出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Text Box 28"/>
          <p:cNvSpPr txBox="1">
            <a:spLocks noChangeArrowheads="1"/>
          </p:cNvSpPr>
          <p:nvPr/>
        </p:nvSpPr>
        <p:spPr bwMode="auto">
          <a:xfrm>
            <a:off x="4909344" y="5510011"/>
            <a:ext cx="35012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多数输入变量为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，输出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0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73" name="Group 32"/>
          <p:cNvGrpSpPr/>
          <p:nvPr/>
        </p:nvGrpSpPr>
        <p:grpSpPr bwMode="auto">
          <a:xfrm>
            <a:off x="523875" y="1359159"/>
            <a:ext cx="3643311" cy="2591530"/>
            <a:chOff x="3312" y="798"/>
            <a:chExt cx="2208" cy="1458"/>
          </a:xfrm>
        </p:grpSpPr>
        <p:pic>
          <p:nvPicPr>
            <p:cNvPr id="74" name="Picture 2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798"/>
              <a:ext cx="2208" cy="1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5" name="Text Box 29"/>
            <p:cNvSpPr txBox="1">
              <a:spLocks noChangeArrowheads="1"/>
            </p:cNvSpPr>
            <p:nvPr/>
          </p:nvSpPr>
          <p:spPr bwMode="auto">
            <a:xfrm>
              <a:off x="4262" y="864"/>
              <a:ext cx="27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050">
                  <a:solidFill>
                    <a:srgbClr val="000000"/>
                  </a:solidFill>
                  <a:latin typeface="Times New Roman" panose="02020603050405020304" pitchFamily="18" charset="0"/>
                </a:rPr>
                <a:t>F1</a:t>
              </a:r>
              <a:endParaRPr kumimoji="1" lang="en-US" altLang="zh-CN" sz="105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30"/>
            <p:cNvSpPr txBox="1">
              <a:spLocks noChangeArrowheads="1"/>
            </p:cNvSpPr>
            <p:nvPr/>
          </p:nvSpPr>
          <p:spPr bwMode="auto">
            <a:xfrm>
              <a:off x="4262" y="1344"/>
              <a:ext cx="27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050">
                  <a:solidFill>
                    <a:srgbClr val="000000"/>
                  </a:solidFill>
                  <a:latin typeface="Times New Roman" panose="02020603050405020304" pitchFamily="18" charset="0"/>
                </a:rPr>
                <a:t>F2</a:t>
              </a:r>
              <a:endParaRPr kumimoji="1" lang="en-US" altLang="zh-CN" sz="105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31"/>
            <p:cNvSpPr txBox="1">
              <a:spLocks noChangeArrowheads="1"/>
            </p:cNvSpPr>
            <p:nvPr/>
          </p:nvSpPr>
          <p:spPr bwMode="auto">
            <a:xfrm>
              <a:off x="4262" y="1872"/>
              <a:ext cx="27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050">
                  <a:solidFill>
                    <a:srgbClr val="000000"/>
                  </a:solidFill>
                  <a:latin typeface="Times New Roman" panose="02020603050405020304" pitchFamily="18" charset="0"/>
                </a:rPr>
                <a:t>F3</a:t>
              </a:r>
              <a:endParaRPr kumimoji="1" lang="en-US" altLang="zh-CN" sz="105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6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组合逻辑电路分析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38" name="直接连接符 3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右弧形箭头 3"/>
          <p:cNvSpPr/>
          <p:nvPr/>
        </p:nvSpPr>
        <p:spPr>
          <a:xfrm>
            <a:off x="2921022" y="5750102"/>
            <a:ext cx="371960" cy="6509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9886" y="5796366"/>
            <a:ext cx="1135250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反演律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utoUpdateAnimBg="0"/>
      <p:bldP spid="52" grpId="0" autoUpdateAnimBg="0"/>
      <p:bldP spid="69" grpId="0" autoUpdateAnimBg="0"/>
      <p:bldP spid="70" grpId="0" autoUpdateAnimBg="0"/>
      <p:bldP spid="71" grpId="0" autoUpdateAnimBg="0"/>
      <p:bldP spid="72" grpId="0" autoUpdateAnimBg="0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100" y="632525"/>
            <a:ext cx="7579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：试分析图中所示电路逻辑，写出表达式。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5" y="1660815"/>
            <a:ext cx="3395985" cy="1709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Object 30"/>
          <p:cNvGraphicFramePr>
            <a:graphicFrameLocks noChangeAspect="1"/>
          </p:cNvGraphicFramePr>
          <p:nvPr/>
        </p:nvGraphicFramePr>
        <p:xfrm>
          <a:off x="520628" y="4484484"/>
          <a:ext cx="2585591" cy="201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公式" r:id="rId2" imgW="951865" imgH="939165" progId="Equation.3">
                  <p:embed/>
                </p:oleObj>
              </mc:Choice>
              <mc:Fallback>
                <p:oleObj name="公式" r:id="rId2" imgW="951865" imgH="939165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28" y="4484484"/>
                        <a:ext cx="2585591" cy="201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-136791" y="3911691"/>
            <a:ext cx="3900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写出电路的逻辑表达式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" name="Group 8"/>
          <p:cNvGrpSpPr/>
          <p:nvPr/>
        </p:nvGrpSpPr>
        <p:grpSpPr bwMode="auto">
          <a:xfrm>
            <a:off x="3951695" y="1910901"/>
            <a:ext cx="2688431" cy="4726782"/>
            <a:chOff x="3384" y="113"/>
            <a:chExt cx="2258" cy="3970"/>
          </a:xfrm>
        </p:grpSpPr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4002" y="353"/>
              <a:ext cx="15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endParaRPr lang="zh-CN" altLang="zh-CN" sz="1350">
                <a:latin typeface="宋体" panose="02010600030101010101" pitchFamily="2" charset="-122"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3384" y="353"/>
              <a:ext cx="2258" cy="3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Aft>
                  <a:spcPct val="20000"/>
                </a:spcAft>
              </a:pPr>
              <a:r>
                <a:rPr lang="en-US" altLang="zh-CN" dirty="0">
                  <a:latin typeface="Times New Roman" panose="02020603050405020304" pitchFamily="18" charset="0"/>
                </a:rPr>
                <a:t> 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</a:rPr>
                <a:t>      G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3  </a:t>
              </a:r>
              <a:r>
                <a:rPr lang="en-US" altLang="zh-CN" dirty="0">
                  <a:latin typeface="Times New Roman" panose="02020603050405020304" pitchFamily="18" charset="0"/>
                </a:rPr>
                <a:t>G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  </a:t>
              </a:r>
              <a:r>
                <a:rPr lang="en-US" altLang="zh-CN" dirty="0">
                  <a:latin typeface="Times New Roman" panose="02020603050405020304" pitchFamily="18" charset="0"/>
                </a:rPr>
                <a:t>G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 </a:t>
              </a:r>
              <a:r>
                <a:rPr lang="en-US" altLang="zh-CN" dirty="0">
                  <a:latin typeface="Times New Roman" panose="02020603050405020304" pitchFamily="18" charset="0"/>
                </a:rPr>
                <a:t>G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1600" baseline="-25000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0  0  0  0        0   0   0   0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0  0  0  1        0   0   0   1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0  0  1  0        0   0   1   1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0  0  1  1        0   0   1   0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0  1  0  0        0   1   1   0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0  1  0  1        0   1   1   1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0  1  1  0        0   1   0   1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0  1  1  1        0   1   0   0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1  0  0  0        1   1   0   0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1  0  0  1        1   1   0   1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1  0  1  0        1   1   1   1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1  0  1  1        1   1   1   0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1  1  0  0        1   0   1   0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1  1  0  1        1   0   1   1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1  1  1  0        1   0   0   1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1  1  1  1        1   0   0   0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4469" y="113"/>
              <a:ext cx="10" cy="3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3438" y="4014"/>
              <a:ext cx="2150" cy="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3420" y="654"/>
              <a:ext cx="2150" cy="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3420" y="392"/>
              <a:ext cx="2150" cy="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V="1">
              <a:off x="3420" y="113"/>
              <a:ext cx="2150" cy="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3888632" y="1397208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列写真值表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182143" y="1964389"/>
            <a:ext cx="19653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描述电路的逻辑功能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7126501" y="3388461"/>
            <a:ext cx="17841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自然二进制码到格雷码的转换电路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88632" y="1904886"/>
            <a:ext cx="1434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自然二进制码</a:t>
            </a:r>
            <a:endParaRPr lang="zh-CN" altLang="en-US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86618" y="1904886"/>
            <a:ext cx="877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</a:t>
            </a:r>
            <a:endParaRPr lang="zh-CN" altLang="en-US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组合逻辑电路分析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8" name="直接连接符 2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 autoUpdateAnimBg="0"/>
      <p:bldP spid="24" grpId="0"/>
      <p:bldP spid="25" grpId="0" autoUpdateAnimBg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淘宝网chenying0907出品 10"/>
          <p:cNvSpPr txBox="1"/>
          <p:nvPr/>
        </p:nvSpPr>
        <p:spPr>
          <a:xfrm>
            <a:off x="950159" y="3078790"/>
            <a:ext cx="20752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淘宝网chenying0907出品 11"/>
          <p:cNvSpPr/>
          <p:nvPr/>
        </p:nvSpPr>
        <p:spPr>
          <a:xfrm>
            <a:off x="3025365" y="0"/>
            <a:ext cx="611863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3025365" y="39481"/>
            <a:ext cx="2394626" cy="19630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840121" y="4809438"/>
            <a:ext cx="2303880" cy="20485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20"/>
          <p:cNvSpPr txBox="1"/>
          <p:nvPr/>
        </p:nvSpPr>
        <p:spPr>
          <a:xfrm>
            <a:off x="4003720" y="2143109"/>
            <a:ext cx="36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组合逻辑电路概述</a:t>
            </a:r>
            <a:endParaRPr lang="zh-CN" altLang="en-US" dirty="0"/>
          </a:p>
        </p:txBody>
      </p:sp>
      <p:sp>
        <p:nvSpPr>
          <p:cNvPr id="33" name="淘宝网chenying0907出品 25"/>
          <p:cNvSpPr txBox="1"/>
          <p:nvPr/>
        </p:nvSpPr>
        <p:spPr>
          <a:xfrm>
            <a:off x="4003720" y="3209455"/>
            <a:ext cx="413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组合逻辑电路分析</a:t>
            </a:r>
            <a:endParaRPr lang="zh-CN" altLang="en-US" dirty="0"/>
          </a:p>
        </p:txBody>
      </p:sp>
      <p:sp>
        <p:nvSpPr>
          <p:cNvPr id="34" name="淘宝网chenying0907出品 29"/>
          <p:cNvSpPr txBox="1"/>
          <p:nvPr/>
        </p:nvSpPr>
        <p:spPr>
          <a:xfrm>
            <a:off x="4003720" y="4275801"/>
            <a:ext cx="489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组合逻辑电路设计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323995" y="747359"/>
            <a:ext cx="8515206" cy="5696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just" defTabSz="68580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设计目标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57530" lvl="1" indent="-214630" algn="just" defTabSz="685800">
              <a:lnSpc>
                <a:spcPct val="100000"/>
              </a:lnSpc>
              <a:spcAft>
                <a:spcPts val="600"/>
              </a:spcAft>
              <a:buClrTx/>
              <a:buSzTx/>
              <a:buFontTx/>
              <a:buChar char="–"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根据逻辑功能的要求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得到实现该功能的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逻辑电路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 defTabSz="68580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最优标准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 algn="just" defTabSz="68580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小规模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SSI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逻辑门数最少，逻辑门级数最少，逻辑门之间的连线最少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85800" lvl="1" indent="-342900" algn="just" defTabSz="68580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中大规模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MSI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集成块数最少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 defTabSz="68580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传统方法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用逻辑函数实现</a:t>
            </a:r>
            <a:endParaRPr lang="en-US" altLang="zh-CN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编程方法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用硬件描述语言编程实现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661849" y="4557624"/>
            <a:ext cx="7839497" cy="1144598"/>
            <a:chOff x="525368" y="4400714"/>
            <a:chExt cx="7839497" cy="1144598"/>
          </a:xfrm>
        </p:grpSpPr>
        <p:sp>
          <p:nvSpPr>
            <p:cNvPr id="2" name="矩形 1"/>
            <p:cNvSpPr/>
            <p:nvPr/>
          </p:nvSpPr>
          <p:spPr>
            <a:xfrm>
              <a:off x="525368" y="4557840"/>
              <a:ext cx="703386" cy="925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实际逻辑问题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" name="右箭头 2"/>
            <p:cNvSpPr/>
            <p:nvPr/>
          </p:nvSpPr>
          <p:spPr>
            <a:xfrm>
              <a:off x="1287735" y="4945335"/>
              <a:ext cx="221837" cy="1677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568658" y="4557839"/>
              <a:ext cx="449515" cy="9252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624166" y="4400714"/>
              <a:ext cx="1482518" cy="3811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逻辑表达式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495671" y="4400714"/>
              <a:ext cx="1207155" cy="3811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公式化简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624166" y="5164129"/>
              <a:ext cx="1482518" cy="3811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卡诺图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495671" y="5164129"/>
              <a:ext cx="1207155" cy="3811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图形化简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右箭头 15"/>
            <p:cNvSpPr/>
            <p:nvPr/>
          </p:nvSpPr>
          <p:spPr>
            <a:xfrm>
              <a:off x="2046406" y="4944145"/>
              <a:ext cx="221837" cy="1677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左大括号 3"/>
            <p:cNvSpPr/>
            <p:nvPr/>
          </p:nvSpPr>
          <p:spPr>
            <a:xfrm>
              <a:off x="2366819" y="4579483"/>
              <a:ext cx="246528" cy="86236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右箭头 16"/>
            <p:cNvSpPr/>
            <p:nvPr/>
          </p:nvSpPr>
          <p:spPr>
            <a:xfrm>
              <a:off x="4207425" y="4523672"/>
              <a:ext cx="221837" cy="1677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右箭头 17"/>
            <p:cNvSpPr/>
            <p:nvPr/>
          </p:nvSpPr>
          <p:spPr>
            <a:xfrm>
              <a:off x="4189679" y="5270855"/>
              <a:ext cx="221837" cy="1677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右大括号 4"/>
            <p:cNvSpPr/>
            <p:nvPr/>
          </p:nvSpPr>
          <p:spPr>
            <a:xfrm>
              <a:off x="5794807" y="4523672"/>
              <a:ext cx="232658" cy="914913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右箭头 18"/>
            <p:cNvSpPr/>
            <p:nvPr/>
          </p:nvSpPr>
          <p:spPr>
            <a:xfrm>
              <a:off x="6183215" y="4897263"/>
              <a:ext cx="221837" cy="1677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434420" y="4518517"/>
              <a:ext cx="761745" cy="9252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最简表达式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右箭头 20"/>
            <p:cNvSpPr/>
            <p:nvPr/>
          </p:nvSpPr>
          <p:spPr>
            <a:xfrm>
              <a:off x="7262249" y="4901484"/>
              <a:ext cx="221837" cy="1677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7603120" y="4513363"/>
              <a:ext cx="761745" cy="9252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逻辑电路图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377184" y="2990128"/>
            <a:ext cx="50806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）确定输入输出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根据题意，有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个输入变量，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个输出变量。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87791" y="4272272"/>
            <a:ext cx="50748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个输入变量分别为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，其中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表示主裁判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输入：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表示同意，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表示不同意；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设输出变量为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输出：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表示通过，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表示不通过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3" name="Group 2"/>
          <p:cNvGraphicFramePr>
            <a:graphicFrameLocks noGrp="1"/>
          </p:cNvGraphicFramePr>
          <p:nvPr/>
        </p:nvGraphicFramePr>
        <p:xfrm>
          <a:off x="6227544" y="3094293"/>
          <a:ext cx="2159794" cy="3360420"/>
        </p:xfrm>
        <a:graphic>
          <a:graphicData uri="http://schemas.openxmlformats.org/drawingml/2006/table">
            <a:tbl>
              <a:tblPr/>
              <a:tblGrid>
                <a:gridCol w="1328738"/>
                <a:gridCol w="831056"/>
              </a:tblGrid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  B   C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Rectangle 34"/>
          <p:cNvSpPr>
            <a:spLocks noChangeArrowheads="1"/>
          </p:cNvSpPr>
          <p:nvPr/>
        </p:nvSpPr>
        <p:spPr bwMode="auto">
          <a:xfrm>
            <a:off x="5900629" y="2522588"/>
            <a:ext cx="25670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）列出真值表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232910" y="673421"/>
            <a:ext cx="8358639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在举重比赛中，有两名副裁判，一名主裁判。 当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两名以上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裁判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必须包括主裁判在内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认为运动员上举杠铃合格，按动电钮，裁决合格信号灯亮，则该运动员成绩有效。试设计该电路。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3466" y="2461033"/>
            <a:ext cx="4088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（一）传统方法</a:t>
            </a:r>
            <a:endParaRPr lang="zh-CN" altLang="en-US" sz="2800" b="1" dirty="0">
              <a:solidFill>
                <a:srgbClr val="FF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Group 2"/>
          <p:cNvGraphicFramePr>
            <a:graphicFrameLocks noGrp="1"/>
          </p:cNvGraphicFramePr>
          <p:nvPr/>
        </p:nvGraphicFramePr>
        <p:xfrm>
          <a:off x="705213" y="1847321"/>
          <a:ext cx="2159794" cy="3909060"/>
        </p:xfrm>
        <a:graphic>
          <a:graphicData uri="http://schemas.openxmlformats.org/drawingml/2006/table">
            <a:tbl>
              <a:tblPr/>
              <a:tblGrid>
                <a:gridCol w="1328738"/>
                <a:gridCol w="831056"/>
              </a:tblGrid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  B   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Rectangle 34"/>
          <p:cNvSpPr>
            <a:spLocks noChangeArrowheads="1"/>
          </p:cNvSpPr>
          <p:nvPr/>
        </p:nvSpPr>
        <p:spPr bwMode="auto">
          <a:xfrm>
            <a:off x="1016851" y="1098392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  <a:endParaRPr lang="zh-CN" altLang="en-US" sz="28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86678" y="1098392"/>
            <a:ext cx="418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）由真值表写出表达式　　　　　　　　　　　　　　　　　　           </a:t>
            </a:r>
            <a:r>
              <a:rPr lang="zh-CN" altLang="en-US" sz="24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4330156" y="1753673"/>
          <a:ext cx="4013744" cy="60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1" imgW="1257300" imgH="190500" progId="Equation.DSMT4">
                  <p:embed/>
                </p:oleObj>
              </mc:Choice>
              <mc:Fallback>
                <p:oleObj name="Equation" r:id="rId1" imgW="1257300" imgH="1905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156" y="1753673"/>
                        <a:ext cx="4013744" cy="606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986678" y="2553501"/>
            <a:ext cx="25939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）化简表达式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64370" y="4801204"/>
            <a:ext cx="1939158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64370" y="5242638"/>
            <a:ext cx="1939158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07233" y="5687521"/>
            <a:ext cx="1939158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156" y="3208782"/>
            <a:ext cx="3661344" cy="2778790"/>
          </a:xfrm>
          <a:prstGeom prst="rect">
            <a:avLst/>
          </a:prstGeom>
        </p:spPr>
      </p:pic>
      <p:sp>
        <p:nvSpPr>
          <p:cNvPr id="14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3790" y="1626038"/>
            <a:ext cx="36848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）画出逻辑电路图　　　　　　　　　　　　　　　　　　           </a:t>
            </a:r>
            <a:r>
              <a:rPr lang="zh-CN" altLang="en-US" sz="24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4484" y="894713"/>
            <a:ext cx="19325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i="1" dirty="0">
                <a:solidFill>
                  <a:srgbClr val="FF0000"/>
                </a:solidFill>
              </a:rPr>
              <a:t>Y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en-US" altLang="zh-CN" sz="3200" i="1" dirty="0">
                <a:solidFill>
                  <a:srgbClr val="FF0000"/>
                </a:solidFill>
              </a:rPr>
              <a:t>AB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en-US" altLang="zh-CN" sz="3200" i="1" dirty="0">
                <a:solidFill>
                  <a:srgbClr val="FF0000"/>
                </a:solidFill>
              </a:rPr>
              <a:t>AC</a:t>
            </a:r>
            <a:r>
              <a:rPr lang="zh-CN" altLang="en-US" sz="3200" i="1" dirty="0">
                <a:solidFill>
                  <a:srgbClr val="FF0000"/>
                </a:solidFill>
              </a:rPr>
              <a:t>　　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154" y="2402403"/>
            <a:ext cx="4597469" cy="313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同一个电路可用不同的逻辑门来实现，需要根据所用的逻辑门对化简后的逻辑函数进行变形处理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除了基本逻辑门电路之外，常用的逻辑门电路有与非门、或非门、与或非门等</a:t>
            </a:r>
            <a:endParaRPr lang="zh-CN" altLang="en-US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Picture 5" descr="4-3-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103" y="3381375"/>
            <a:ext cx="3949565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5131103" y="2634604"/>
            <a:ext cx="4073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1.1  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与门、或门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</a:t>
            </a:r>
            <a:endParaRPr lang="zh-CN" altLang="en-US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5258" y="1761288"/>
            <a:ext cx="36766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）画出逻辑电路图　　　　　　　　　　　　　　　　　　           </a:t>
            </a:r>
            <a:r>
              <a:rPr lang="zh-CN" altLang="en-US" sz="24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224" y="941092"/>
            <a:ext cx="21440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</a:rPr>
              <a:t>Y</a:t>
            </a:r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</a:rPr>
              <a:t>AB</a:t>
            </a:r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r>
              <a:rPr lang="en-US" altLang="zh-CN" sz="3200" b="1" i="1" dirty="0">
                <a:solidFill>
                  <a:srgbClr val="FF0000"/>
                </a:solidFill>
              </a:rPr>
              <a:t>AC</a:t>
            </a:r>
            <a:r>
              <a:rPr lang="zh-CN" altLang="en-US" sz="3200" b="1" i="1" dirty="0">
                <a:solidFill>
                  <a:srgbClr val="FF0000"/>
                </a:solidFill>
              </a:rPr>
              <a:t>　　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319622" y="3574037"/>
          <a:ext cx="3120864" cy="115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1" imgW="31699200" imgH="10058400" progId="Equation.DSMT4">
                  <p:embed/>
                </p:oleObj>
              </mc:Choice>
              <mc:Fallback>
                <p:oleObj name="Equation" r:id="rId1" imgW="31699200" imgH="10058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22" y="3574037"/>
                        <a:ext cx="3120864" cy="1155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015859" y="1723188"/>
            <a:ext cx="390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1.2  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与非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门实现</a:t>
            </a:r>
            <a:endParaRPr lang="zh-CN" altLang="en-US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7" name="Picture 5" descr="4-3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012" y="2730427"/>
            <a:ext cx="4455788" cy="199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319622" y="2794716"/>
            <a:ext cx="2804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与非表达式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6643" y="1198094"/>
            <a:ext cx="32075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）画出逻辑电路图　　　　　　　　　　　　　　　　　　           </a:t>
            </a:r>
            <a:r>
              <a:rPr lang="zh-CN" altLang="en-US" sz="24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675689" y="1881188"/>
            <a:ext cx="16021" cy="484346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87609" y="631716"/>
            <a:ext cx="22942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</a:rPr>
              <a:t>Y</a:t>
            </a:r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</a:rPr>
              <a:t>AB</a:t>
            </a:r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r>
              <a:rPr lang="en-US" altLang="zh-CN" sz="3200" b="1" i="1" dirty="0">
                <a:solidFill>
                  <a:srgbClr val="FF0000"/>
                </a:solidFill>
              </a:rPr>
              <a:t>AC</a:t>
            </a:r>
            <a:r>
              <a:rPr lang="zh-CN" altLang="en-US" sz="3200" b="1" i="1" dirty="0">
                <a:solidFill>
                  <a:srgbClr val="FF0000"/>
                </a:solidFill>
              </a:rPr>
              <a:t>　　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77077" y="3730956"/>
          <a:ext cx="3197156" cy="1391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1" imgW="37490400" imgH="15849600" progId="Equation.DSMT4">
                  <p:embed/>
                </p:oleObj>
              </mc:Choice>
              <mc:Fallback>
                <p:oleObj name="Equation" r:id="rId1" imgW="37490400" imgH="158496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77" y="3730956"/>
                        <a:ext cx="3197156" cy="13912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06350" y="1800065"/>
            <a:ext cx="3469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  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或非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门实现</a:t>
            </a:r>
            <a:endParaRPr lang="zh-CN" altLang="en-US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6" name="Picture 5" descr="4-3-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342" y="4660990"/>
            <a:ext cx="3537107" cy="177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" descr="4-3-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517" y="2705100"/>
            <a:ext cx="1519437" cy="180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4110495" y="1233973"/>
            <a:ext cx="4742847" cy="1200329"/>
          </a:xfrm>
          <a:prstGeom prst="rect">
            <a:avLst/>
          </a:prstGeom>
          <a:noFill/>
          <a:ln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通过卡诺图求或非</a:t>
            </a:r>
            <a:r>
              <a:rPr lang="en-US" altLang="zh-CN" sz="2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或非表达式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，得到或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与表达式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将或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与表达式两次求非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0" y="2790540"/>
            <a:ext cx="3693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通过公式法求或非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或非表达式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4036029" y="3048875"/>
          <a:ext cx="3171893" cy="1034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5" imgW="31699200" imgH="10058400" progId="Equation.DSMT4">
                  <p:embed/>
                </p:oleObj>
              </mc:Choice>
              <mc:Fallback>
                <p:oleObj name="Equation" r:id="rId5" imgW="31699200" imgH="10058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6029" y="3048875"/>
                        <a:ext cx="3171893" cy="1034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30100" y="3052226"/>
            <a:ext cx="2261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Verilog HDL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行为描述方式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</a:t>
            </a:r>
            <a:endParaRPr lang="zh-CN" altLang="en-US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120" y="802607"/>
            <a:ext cx="3219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（二）编程方法</a:t>
            </a:r>
            <a:endParaRPr lang="zh-CN" altLang="en-US" sz="3200" b="1" dirty="0">
              <a:solidFill>
                <a:srgbClr val="FF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49103" y="962775"/>
            <a:ext cx="5562045" cy="537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685800">
              <a:lnSpc>
                <a:spcPct val="120000"/>
              </a:lnSpc>
              <a:defRPr/>
            </a:pPr>
            <a:r>
              <a:rPr kumimoji="1" lang="en-US" altLang="zh-CN" sz="2400" b="1" kern="0" dirty="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module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samp4_3_1(A,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B,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C,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Y);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</a:t>
            </a:r>
            <a:b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</a:b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input A,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B,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C;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                               </a:t>
            </a:r>
            <a:b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</a:b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output Y;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 </a:t>
            </a:r>
            <a:endParaRPr kumimoji="1" lang="en-US" altLang="zh-CN" sz="2400" b="1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+mj-cs"/>
            </a:endParaRPr>
          </a:p>
          <a:p>
            <a:pPr lvl="0">
              <a:lnSpc>
                <a:spcPct val="120000"/>
              </a:lnSpc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reg Y;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   </a:t>
            </a:r>
            <a:endParaRPr kumimoji="1" lang="en-US" altLang="zh-CN" sz="2400" b="1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+mj-cs"/>
            </a:endParaRPr>
          </a:p>
          <a:p>
            <a:pPr lvl="0">
              <a:lnSpc>
                <a:spcPct val="120000"/>
              </a:lnSpc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                                    </a:t>
            </a:r>
            <a:b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</a:b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</a:t>
            </a:r>
            <a:r>
              <a:rPr lang="en-US" altLang="zh-CN" sz="2400" b="1" dirty="0"/>
              <a:t>always@(A or B or C)</a:t>
            </a:r>
            <a:br>
              <a:rPr lang="en-US" altLang="zh-CN" sz="2400" b="1" dirty="0"/>
            </a:br>
            <a:r>
              <a:rPr lang="zh-CN" altLang="en-US" sz="2400" b="1" dirty="0"/>
              <a:t>　 </a:t>
            </a:r>
            <a:r>
              <a:rPr lang="en-US" altLang="zh-CN" sz="2400" b="1" dirty="0"/>
              <a:t>if(A&amp;B|A&amp;C|A&amp;B&amp;C)   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输入变量中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0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有两个或三个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，且</a:t>
            </a:r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</a:rPr>
              <a:t>为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br>
              <a:rPr lang="zh-CN" altLang="en-US" sz="2400" b="1" dirty="0"/>
            </a:br>
            <a:r>
              <a:rPr lang="zh-CN" altLang="en-US" sz="2400" b="1" dirty="0"/>
              <a:t>　     </a:t>
            </a:r>
            <a:r>
              <a:rPr lang="en-US" altLang="zh-CN" sz="2400" b="1" dirty="0"/>
              <a:t>Y=1;</a:t>
            </a:r>
            <a:r>
              <a:rPr lang="zh-CN" altLang="en-US" sz="2400" b="1" dirty="0"/>
              <a:t> </a:t>
            </a:r>
            <a:br>
              <a:rPr lang="zh-CN" altLang="en-US" sz="2400" b="1" dirty="0"/>
            </a:br>
            <a:r>
              <a:rPr lang="zh-CN" altLang="en-US" sz="2400" b="1" dirty="0"/>
              <a:t>　 </a:t>
            </a:r>
            <a:r>
              <a:rPr lang="en-US" altLang="zh-CN" sz="2400" b="1" dirty="0"/>
              <a:t>else </a:t>
            </a:r>
            <a:br>
              <a:rPr lang="en-US" altLang="zh-CN" sz="2400" b="1" dirty="0"/>
            </a:br>
            <a:r>
              <a:rPr lang="zh-CN" altLang="en-US" sz="2400" b="1" dirty="0"/>
              <a:t>　     </a:t>
            </a:r>
            <a:r>
              <a:rPr lang="en-US" altLang="zh-CN" sz="2400" b="1" dirty="0"/>
              <a:t>Y=0;</a:t>
            </a:r>
            <a:b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</a:br>
            <a:r>
              <a:rPr kumimoji="1" lang="en-US" altLang="zh-CN" sz="2400" b="1" kern="0" dirty="0" err="1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endmodule</a:t>
            </a:r>
            <a:endParaRPr lang="zh-CN" altLang="en-US" sz="2400" b="1" kern="0" dirty="0">
              <a:solidFill>
                <a:srgbClr val="0000FF"/>
              </a:solidFill>
            </a:endParaRPr>
          </a:p>
        </p:txBody>
      </p:sp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74394" y="723152"/>
            <a:ext cx="8634343" cy="18651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设计一个可以实现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二进制编码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相互转换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电路，有一个</a:t>
            </a:r>
            <a:r>
              <a:rPr lang="zh-CN" altLang="en-US" sz="24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控制端</a:t>
            </a:r>
            <a:r>
              <a:rPr lang="en-US" altLang="zh-CN" sz="24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：当</a:t>
            </a:r>
            <a:r>
              <a:rPr lang="en-US" altLang="zh-CN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时，可以将输入的</a:t>
            </a:r>
            <a:r>
              <a:rPr lang="en-US" altLang="zh-CN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位格雷码转换成</a:t>
            </a:r>
            <a:r>
              <a:rPr lang="en-US" altLang="zh-CN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位二进制编码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；当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时，实现将输入的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位二进制编码转换成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位格雷码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814745" y="3328168"/>
            <a:ext cx="67829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）确定输入输出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根据题意，有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个输入变量，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个输出变量。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14745" y="4528183"/>
            <a:ext cx="76891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个输入变量分别为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控制变量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和四位输入码（格雷码或者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位二进制码）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输出变量为四位输出码（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位二进制码或者格雷码）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4394" y="2692033"/>
            <a:ext cx="4088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（一）传统方法</a:t>
            </a:r>
            <a:endParaRPr lang="zh-CN" altLang="en-US" sz="2800" b="1" dirty="0">
              <a:solidFill>
                <a:srgbClr val="FF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8293" y="674696"/>
            <a:ext cx="41427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）列出真值表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3" name="Picture 5" descr="B4-3-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868536"/>
            <a:ext cx="8067675" cy="495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/>
          <p:cNvSpPr txBox="1"/>
          <p:nvPr/>
        </p:nvSpPr>
        <p:spPr>
          <a:xfrm>
            <a:off x="1606504" y="1457895"/>
            <a:ext cx="1611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32493" y="1484587"/>
            <a:ext cx="1282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23320" y="1445729"/>
            <a:ext cx="1366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76889" y="1445728"/>
            <a:ext cx="1452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二进制码</a:t>
            </a:r>
            <a:endParaRPr lang="zh-CN" altLang="en-US" dirty="0"/>
          </a:p>
        </p:txBody>
      </p:sp>
      <p:sp>
        <p:nvSpPr>
          <p:cNvPr id="11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614863" y="1505970"/>
            <a:ext cx="1282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控制端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5037" y="1509419"/>
            <a:ext cx="98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控制端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19185" y="1868536"/>
            <a:ext cx="1871025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G3    G2    G1    G0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090210" y="1868536"/>
            <a:ext cx="171089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dirty="0" smtClean="0"/>
              <a:t>3    </a:t>
            </a:r>
            <a:r>
              <a:rPr lang="en-US" altLang="zh-CN" dirty="0"/>
              <a:t>B</a:t>
            </a:r>
            <a:r>
              <a:rPr lang="en-US" altLang="zh-CN" dirty="0" smtClean="0"/>
              <a:t>2   B1   </a:t>
            </a:r>
            <a:r>
              <a:rPr lang="en-US" altLang="zh-CN" dirty="0"/>
              <a:t>B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/>
      <p:bldP spid="14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-57796" y="652504"/>
            <a:ext cx="54460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17600" y="1422774"/>
            <a:ext cx="43629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本题涉及</a:t>
            </a:r>
            <a:r>
              <a:rPr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个变量，采用卡诺图化简逻辑表达式比较麻烦。为了减少变量个数，可以分为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S=0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S=1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两种情况来处理。</a:t>
            </a:r>
            <a:endParaRPr lang="zh-CN" altLang="en-US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1897" y="1395175"/>
            <a:ext cx="19351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S=0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88" y="1964659"/>
            <a:ext cx="3449941" cy="4193254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4599736" y="3249400"/>
            <a:ext cx="3477903" cy="2620016"/>
            <a:chOff x="5206842" y="1850735"/>
            <a:chExt cx="2049793" cy="2238702"/>
          </a:xfrm>
        </p:grpSpPr>
        <p:grpSp>
          <p:nvGrpSpPr>
            <p:cNvPr id="19" name="组合 18"/>
            <p:cNvGrpSpPr/>
            <p:nvPr/>
          </p:nvGrpSpPr>
          <p:grpSpPr bwMode="auto">
            <a:xfrm>
              <a:off x="5206842" y="1850735"/>
              <a:ext cx="2004623" cy="1941935"/>
              <a:chOff x="164" y="-6"/>
              <a:chExt cx="2110" cy="1989"/>
            </a:xfrm>
          </p:grpSpPr>
          <p:sp>
            <p:nvSpPr>
              <p:cNvPr id="21" name="矩形 135214"/>
              <p:cNvSpPr>
                <a:spLocks noChangeArrowheads="1"/>
              </p:cNvSpPr>
              <p:nvPr/>
            </p:nvSpPr>
            <p:spPr bwMode="auto">
              <a:xfrm>
                <a:off x="616" y="457"/>
                <a:ext cx="1647" cy="1466"/>
              </a:xfrm>
              <a:prstGeom prst="rect">
                <a:avLst/>
              </a:prstGeom>
              <a:noFill/>
              <a:ln w="28575">
                <a:solidFill>
                  <a:srgbClr val="3333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r>
                  <a:rPr lang="en-US" altLang="zh-CN" sz="2100" dirty="0"/>
                  <a:t>  </a:t>
                </a:r>
                <a:endParaRPr lang="zh-CN" altLang="en-US" sz="2100" dirty="0"/>
              </a:p>
            </p:txBody>
          </p:sp>
          <p:sp>
            <p:nvSpPr>
              <p:cNvPr id="22" name="直接连接符 135215"/>
              <p:cNvSpPr>
                <a:spLocks noChangeShapeType="1"/>
              </p:cNvSpPr>
              <p:nvPr/>
            </p:nvSpPr>
            <p:spPr bwMode="auto">
              <a:xfrm>
                <a:off x="619" y="813"/>
                <a:ext cx="16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" name="直接连接符 135220"/>
              <p:cNvSpPr>
                <a:spLocks noChangeShapeType="1"/>
              </p:cNvSpPr>
              <p:nvPr/>
            </p:nvSpPr>
            <p:spPr bwMode="auto">
              <a:xfrm>
                <a:off x="619" y="1169"/>
                <a:ext cx="16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" name="直接连接符 135221"/>
              <p:cNvSpPr>
                <a:spLocks noChangeShapeType="1"/>
              </p:cNvSpPr>
              <p:nvPr/>
            </p:nvSpPr>
            <p:spPr bwMode="auto">
              <a:xfrm>
                <a:off x="619" y="1569"/>
                <a:ext cx="16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" name="直接连接符 135208"/>
              <p:cNvSpPr>
                <a:spLocks noChangeShapeType="1"/>
              </p:cNvSpPr>
              <p:nvPr/>
            </p:nvSpPr>
            <p:spPr bwMode="auto">
              <a:xfrm flipH="1" flipV="1">
                <a:off x="342" y="194"/>
                <a:ext cx="265" cy="255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" name="文本框 135210"/>
              <p:cNvSpPr txBox="1">
                <a:spLocks noChangeArrowheads="1"/>
              </p:cNvSpPr>
              <p:nvPr/>
            </p:nvSpPr>
            <p:spPr bwMode="auto">
              <a:xfrm>
                <a:off x="685" y="196"/>
                <a:ext cx="1470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sz="1800" dirty="0">
                    <a:ea typeface="宋体" panose="02010600030101010101" pitchFamily="2" charset="-122"/>
                  </a:rPr>
                  <a:t>00        01       11       10</a:t>
                </a:r>
                <a:endParaRPr lang="en-US" altLang="zh-CN" sz="18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32" name="文本框 135211"/>
              <p:cNvSpPr txBox="1">
                <a:spLocks noChangeArrowheads="1"/>
              </p:cNvSpPr>
              <p:nvPr/>
            </p:nvSpPr>
            <p:spPr bwMode="auto">
              <a:xfrm>
                <a:off x="389" y="357"/>
                <a:ext cx="388" cy="1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>
                  <a:lnSpc>
                    <a:spcPct val="160000"/>
                  </a:lnSpc>
                </a:pPr>
                <a:r>
                  <a:rPr lang="en-US" altLang="zh-CN" sz="1800" dirty="0">
                    <a:ea typeface="宋体" panose="02010600030101010101" pitchFamily="2" charset="-122"/>
                  </a:rPr>
                  <a:t>00</a:t>
                </a:r>
                <a:endParaRPr lang="en-US" altLang="zh-CN" sz="1800" dirty="0">
                  <a:ea typeface="宋体" panose="02010600030101010101" pitchFamily="2" charset="-122"/>
                </a:endParaRPr>
              </a:p>
              <a:p>
                <a:pPr algn="l">
                  <a:lnSpc>
                    <a:spcPct val="160000"/>
                  </a:lnSpc>
                </a:pPr>
                <a:r>
                  <a:rPr lang="en-US" altLang="zh-CN" sz="1800" dirty="0">
                    <a:ea typeface="宋体" panose="02010600030101010101" pitchFamily="2" charset="-122"/>
                  </a:rPr>
                  <a:t>01</a:t>
                </a:r>
                <a:endParaRPr lang="en-US" altLang="zh-CN" sz="1800" dirty="0">
                  <a:ea typeface="宋体" panose="02010600030101010101" pitchFamily="2" charset="-122"/>
                </a:endParaRPr>
              </a:p>
              <a:p>
                <a:pPr algn="l">
                  <a:lnSpc>
                    <a:spcPct val="160000"/>
                  </a:lnSpc>
                </a:pPr>
                <a:r>
                  <a:rPr lang="en-US" altLang="zh-CN" sz="1800" dirty="0">
                    <a:ea typeface="宋体" panose="02010600030101010101" pitchFamily="2" charset="-122"/>
                  </a:rPr>
                  <a:t>11</a:t>
                </a:r>
                <a:endParaRPr lang="en-US" altLang="zh-CN" sz="1800" dirty="0">
                  <a:ea typeface="宋体" panose="02010600030101010101" pitchFamily="2" charset="-122"/>
                </a:endParaRPr>
              </a:p>
              <a:p>
                <a:pPr algn="l">
                  <a:lnSpc>
                    <a:spcPct val="160000"/>
                  </a:lnSpc>
                </a:pPr>
                <a:r>
                  <a:rPr lang="en-US" altLang="zh-CN" sz="1800" dirty="0">
                    <a:ea typeface="宋体" panose="02010600030101010101" pitchFamily="2" charset="-122"/>
                  </a:rPr>
                  <a:t>10</a:t>
                </a:r>
                <a:endParaRPr lang="en-US" altLang="zh-CN" sz="18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文本框 135212"/>
              <p:cNvSpPr txBox="1">
                <a:spLocks noChangeArrowheads="1"/>
              </p:cNvSpPr>
              <p:nvPr/>
            </p:nvSpPr>
            <p:spPr bwMode="auto">
              <a:xfrm>
                <a:off x="372" y="-6"/>
                <a:ext cx="355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3</a:t>
                </a:r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2</a:t>
                </a:r>
                <a:endParaRPr lang="en-US" altLang="zh-CN" sz="1600" i="1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34" name="文本框 135213"/>
              <p:cNvSpPr txBox="1">
                <a:spLocks noChangeArrowheads="1"/>
              </p:cNvSpPr>
              <p:nvPr/>
            </p:nvSpPr>
            <p:spPr bwMode="auto">
              <a:xfrm>
                <a:off x="164" y="236"/>
                <a:ext cx="355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1</a:t>
                </a:r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0</a:t>
                </a:r>
                <a:endParaRPr lang="en-US" altLang="zh-CN" sz="1600" i="1" baseline="-25000" dirty="0">
                  <a:ea typeface="宋体" panose="02010600030101010101" pitchFamily="2" charset="-122"/>
                </a:endParaRPr>
              </a:p>
            </p:txBody>
          </p:sp>
          <p:grpSp>
            <p:nvGrpSpPr>
              <p:cNvPr id="35" name="组合 135216"/>
              <p:cNvGrpSpPr/>
              <p:nvPr/>
            </p:nvGrpSpPr>
            <p:grpSpPr bwMode="auto">
              <a:xfrm>
                <a:off x="1041" y="455"/>
                <a:ext cx="812" cy="1479"/>
                <a:chOff x="78" y="4"/>
                <a:chExt cx="812" cy="712"/>
              </a:xfrm>
            </p:grpSpPr>
            <p:sp>
              <p:nvSpPr>
                <p:cNvPr id="36" name="直接连接符 135217"/>
                <p:cNvSpPr>
                  <a:spLocks noChangeShapeType="1"/>
                </p:cNvSpPr>
                <p:nvPr/>
              </p:nvSpPr>
              <p:spPr bwMode="auto">
                <a:xfrm>
                  <a:off x="78" y="5"/>
                  <a:ext cx="0" cy="711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7" name="直接连接符 135219"/>
                <p:cNvSpPr>
                  <a:spLocks noChangeShapeType="1"/>
                </p:cNvSpPr>
                <p:nvPr/>
              </p:nvSpPr>
              <p:spPr bwMode="auto">
                <a:xfrm>
                  <a:off x="890" y="5"/>
                  <a:ext cx="0" cy="711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8" name="直接连接符 135218"/>
                <p:cNvSpPr>
                  <a:spLocks noChangeShapeType="1"/>
                </p:cNvSpPr>
                <p:nvPr/>
              </p:nvSpPr>
              <p:spPr bwMode="auto">
                <a:xfrm>
                  <a:off x="468" y="4"/>
                  <a:ext cx="0" cy="711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</p:grpSp>
        <p:sp>
          <p:nvSpPr>
            <p:cNvPr id="13" name="文本框 12"/>
            <p:cNvSpPr txBox="1"/>
            <p:nvPr/>
          </p:nvSpPr>
          <p:spPr>
            <a:xfrm>
              <a:off x="5750417" y="2282211"/>
              <a:ext cx="1506218" cy="1425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altLang="zh-CN" sz="1600" b="1" dirty="0"/>
                <a:t>                              1         1</a:t>
              </a:r>
              <a:endParaRPr lang="en-US" altLang="zh-CN" sz="1600" b="1" dirty="0"/>
            </a:p>
            <a:p>
              <a:pPr>
                <a:lnSpc>
                  <a:spcPct val="160000"/>
                </a:lnSpc>
              </a:pPr>
              <a:r>
                <a:rPr lang="en-US" altLang="zh-CN" sz="1600" b="1" dirty="0"/>
                <a:t>                              1         1</a:t>
              </a:r>
              <a:endParaRPr lang="en-US" altLang="zh-CN" sz="1600" b="1" dirty="0"/>
            </a:p>
            <a:p>
              <a:pPr>
                <a:lnSpc>
                  <a:spcPct val="160000"/>
                </a:lnSpc>
              </a:pPr>
              <a:r>
                <a:rPr lang="en-US" altLang="zh-CN" sz="1600" b="1" dirty="0"/>
                <a:t>                              1         1</a:t>
              </a:r>
              <a:endParaRPr lang="en-US" altLang="zh-CN" sz="1600" b="1" dirty="0"/>
            </a:p>
            <a:p>
              <a:pPr>
                <a:lnSpc>
                  <a:spcPct val="160000"/>
                </a:lnSpc>
              </a:pPr>
              <a:r>
                <a:rPr lang="en-US" altLang="zh-CN" sz="1600" b="1" dirty="0"/>
                <a:t>                              1         1</a:t>
              </a:r>
              <a:endParaRPr lang="zh-CN" altLang="en-US" sz="1600" b="1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225567" y="3790621"/>
              <a:ext cx="369997" cy="298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/>
                <a:t>G</a:t>
              </a:r>
              <a:r>
                <a:rPr lang="en-US" altLang="zh-CN" sz="1500" baseline="-25000" dirty="0"/>
                <a:t>3</a:t>
              </a:r>
              <a:endParaRPr lang="zh-CN" altLang="en-US" sz="1500" baseline="-250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6452964" y="2369358"/>
              <a:ext cx="660641" cy="12951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735" y="5920791"/>
            <a:ext cx="1168678" cy="543268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5" name="直接连接符 4"/>
          <p:cNvCxnSpPr/>
          <p:nvPr/>
        </p:nvCxnSpPr>
        <p:spPr>
          <a:xfrm>
            <a:off x="1030264" y="4380623"/>
            <a:ext cx="1498624" cy="1040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030264" y="4653771"/>
            <a:ext cx="14986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1030264" y="4883493"/>
            <a:ext cx="1498624" cy="759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030264" y="5136957"/>
            <a:ext cx="1498624" cy="654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1030264" y="5374682"/>
            <a:ext cx="1498624" cy="218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1030264" y="5605463"/>
            <a:ext cx="1498624" cy="709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1030264" y="5853113"/>
            <a:ext cx="1498624" cy="914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1030264" y="6081713"/>
            <a:ext cx="1498624" cy="3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6815" y="1238083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S=0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71" y="1804656"/>
            <a:ext cx="4047857" cy="4919994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4752367" y="2110044"/>
            <a:ext cx="3114581" cy="2440252"/>
            <a:chOff x="9027609" y="1887553"/>
            <a:chExt cx="1921128" cy="188555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7609" y="1887553"/>
              <a:ext cx="1921128" cy="1885550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9914021" y="2300439"/>
              <a:ext cx="221381" cy="11742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/>
          </p:nvSpPr>
          <p:spPr>
            <a:xfrm>
              <a:off x="10480248" y="2300439"/>
              <a:ext cx="221381" cy="1174281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/>
              <p:cNvSpPr/>
              <p:nvPr/>
            </p:nvSpPr>
            <p:spPr>
              <a:xfrm>
                <a:off x="5010188" y="4904864"/>
                <a:ext cx="3109875" cy="96026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acc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acc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5" name="矩形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88" y="4904864"/>
                <a:ext cx="3109875" cy="960263"/>
              </a:xfrm>
              <a:prstGeom prst="rect">
                <a:avLst/>
              </a:prstGeom>
              <a:blipFill rotWithShape="1">
                <a:blip r:embed="rId3"/>
                <a:stretch>
                  <a:fillRect l="-165" t="-542" r="-153" b="-43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 flipV="1">
            <a:off x="960219" y="4643438"/>
            <a:ext cx="2211606" cy="641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1006815" y="4938713"/>
            <a:ext cx="2165010" cy="370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006815" y="5211364"/>
            <a:ext cx="2165010" cy="357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960219" y="5519332"/>
            <a:ext cx="2211606" cy="40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960219" y="4351265"/>
            <a:ext cx="2211606" cy="16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1006815" y="4067175"/>
            <a:ext cx="2165010" cy="1177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006815" y="3757708"/>
            <a:ext cx="2165010" cy="943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06815" y="3484090"/>
            <a:ext cx="2165010" cy="20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3" y="1677429"/>
            <a:ext cx="4176039" cy="5075795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4920816" y="1892371"/>
            <a:ext cx="2985035" cy="2595174"/>
            <a:chOff x="5950104" y="4166227"/>
            <a:chExt cx="1875028" cy="1959616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0104" y="4166227"/>
              <a:ext cx="1875028" cy="1959616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6812017" y="4631083"/>
              <a:ext cx="399448" cy="5149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0" name="右中括号 39"/>
            <p:cNvSpPr/>
            <p:nvPr/>
          </p:nvSpPr>
          <p:spPr>
            <a:xfrm>
              <a:off x="6292249" y="5236143"/>
              <a:ext cx="389828" cy="539631"/>
            </a:xfrm>
            <a:prstGeom prst="rightBracket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左中括号 40"/>
            <p:cNvSpPr/>
            <p:nvPr/>
          </p:nvSpPr>
          <p:spPr>
            <a:xfrm>
              <a:off x="7392197" y="5236143"/>
              <a:ext cx="389828" cy="539631"/>
            </a:xfrm>
            <a:prstGeom prst="leftBracket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/>
              <p:cNvSpPr/>
              <p:nvPr/>
            </p:nvSpPr>
            <p:spPr>
              <a:xfrm>
                <a:off x="5243694" y="4816309"/>
                <a:ext cx="3299942" cy="95590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acc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acc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694" y="4816309"/>
                <a:ext cx="3299942" cy="955903"/>
              </a:xfrm>
              <a:prstGeom prst="rect">
                <a:avLst/>
              </a:prstGeom>
              <a:blipFill rotWithShape="1">
                <a:blip r:embed="rId3"/>
                <a:stretch>
                  <a:fillRect l="-150" t="-514" r="-143" b="-45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连接符 57"/>
          <p:cNvCxnSpPr/>
          <p:nvPr/>
        </p:nvCxnSpPr>
        <p:spPr>
          <a:xfrm flipV="1">
            <a:off x="955160" y="3405188"/>
            <a:ext cx="2702440" cy="1024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955160" y="3724275"/>
            <a:ext cx="2702440" cy="984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955160" y="5790415"/>
            <a:ext cx="2702440" cy="1031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955160" y="6081713"/>
            <a:ext cx="2702440" cy="23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006815" y="5200466"/>
            <a:ext cx="2650785" cy="1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955160" y="5500688"/>
            <a:ext cx="2702440" cy="1130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5160" y="3119438"/>
            <a:ext cx="2702440" cy="20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1006815" y="2828925"/>
            <a:ext cx="2650785" cy="1218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06815" y="1238083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S=0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" y="1699747"/>
            <a:ext cx="4183892" cy="5085339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4934150" y="1871520"/>
            <a:ext cx="3124000" cy="2790968"/>
            <a:chOff x="9015181" y="3955983"/>
            <a:chExt cx="1933556" cy="197700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15181" y="3955983"/>
              <a:ext cx="1933556" cy="1977006"/>
            </a:xfrm>
            <a:prstGeom prst="rect">
              <a:avLst/>
            </a:prstGeom>
          </p:spPr>
        </p:pic>
        <p:sp>
          <p:nvSpPr>
            <p:cNvPr id="42" name="矩形 41"/>
            <p:cNvSpPr/>
            <p:nvPr/>
          </p:nvSpPr>
          <p:spPr>
            <a:xfrm>
              <a:off x="9591575" y="4750067"/>
              <a:ext cx="1132606" cy="23100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94780" y="5350046"/>
              <a:ext cx="1132606" cy="231007"/>
            </a:xfrm>
            <a:prstGeom prst="rect">
              <a:avLst/>
            </a:prstGeom>
            <a:noFill/>
            <a:ln w="28575"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/>
              <p:cNvSpPr/>
              <p:nvPr/>
            </p:nvSpPr>
            <p:spPr>
              <a:xfrm>
                <a:off x="5270111" y="5049970"/>
                <a:ext cx="3299942" cy="960006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acc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acc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111" y="5049970"/>
                <a:ext cx="3299942" cy="960006"/>
              </a:xfrm>
              <a:prstGeom prst="rect">
                <a:avLst/>
              </a:prstGeom>
              <a:blipFill rotWithShape="1">
                <a:blip r:embed="rId3"/>
                <a:stretch>
                  <a:fillRect l="-161" t="-510" r="-132" b="-49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>
            <a:off x="944335" y="2541117"/>
            <a:ext cx="3156178" cy="1634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44335" y="2836292"/>
            <a:ext cx="3156178" cy="1644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944335" y="3737908"/>
            <a:ext cx="3122840" cy="541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44335" y="4028145"/>
            <a:ext cx="3156178" cy="199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944335" y="4910138"/>
            <a:ext cx="3122840" cy="4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944335" y="5214938"/>
            <a:ext cx="3122840" cy="1794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944335" y="6119813"/>
            <a:ext cx="3122840" cy="155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944335" y="6410473"/>
            <a:ext cx="3122840" cy="461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06815" y="1238083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S=0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32" name="直接连接符 3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63" y="1563690"/>
            <a:ext cx="4215717" cy="51197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999913" y="1912436"/>
            <a:ext cx="3524693" cy="2911977"/>
            <a:chOff x="5160289" y="1836090"/>
            <a:chExt cx="2149744" cy="2294406"/>
          </a:xfrm>
        </p:grpSpPr>
        <p:grpSp>
          <p:nvGrpSpPr>
            <p:cNvPr id="14" name="组合 13"/>
            <p:cNvGrpSpPr/>
            <p:nvPr/>
          </p:nvGrpSpPr>
          <p:grpSpPr bwMode="auto">
            <a:xfrm>
              <a:off x="5160289" y="1836090"/>
              <a:ext cx="2051176" cy="1908740"/>
              <a:chOff x="115" y="-21"/>
              <a:chExt cx="2159" cy="1955"/>
            </a:xfrm>
          </p:grpSpPr>
          <p:sp>
            <p:nvSpPr>
              <p:cNvPr id="19" name="矩形 135214"/>
              <p:cNvSpPr>
                <a:spLocks noChangeArrowheads="1"/>
              </p:cNvSpPr>
              <p:nvPr/>
            </p:nvSpPr>
            <p:spPr bwMode="auto">
              <a:xfrm>
                <a:off x="616" y="457"/>
                <a:ext cx="1647" cy="1466"/>
              </a:xfrm>
              <a:prstGeom prst="rect">
                <a:avLst/>
              </a:prstGeom>
              <a:noFill/>
              <a:ln w="28575">
                <a:solidFill>
                  <a:srgbClr val="3333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r>
                  <a:rPr lang="en-US" altLang="zh-CN" sz="2100" dirty="0"/>
                  <a:t>  </a:t>
                </a:r>
                <a:endParaRPr lang="zh-CN" altLang="en-US" sz="2100" dirty="0"/>
              </a:p>
            </p:txBody>
          </p:sp>
          <p:sp>
            <p:nvSpPr>
              <p:cNvPr id="20" name="直接连接符 135215"/>
              <p:cNvSpPr>
                <a:spLocks noChangeShapeType="1"/>
              </p:cNvSpPr>
              <p:nvPr/>
            </p:nvSpPr>
            <p:spPr bwMode="auto">
              <a:xfrm>
                <a:off x="619" y="813"/>
                <a:ext cx="16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" name="直接连接符 135220"/>
              <p:cNvSpPr>
                <a:spLocks noChangeShapeType="1"/>
              </p:cNvSpPr>
              <p:nvPr/>
            </p:nvSpPr>
            <p:spPr bwMode="auto">
              <a:xfrm>
                <a:off x="619" y="1169"/>
                <a:ext cx="16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" name="直接连接符 135221"/>
              <p:cNvSpPr>
                <a:spLocks noChangeShapeType="1"/>
              </p:cNvSpPr>
              <p:nvPr/>
            </p:nvSpPr>
            <p:spPr bwMode="auto">
              <a:xfrm>
                <a:off x="619" y="1569"/>
                <a:ext cx="16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" name="直接连接符 135208"/>
              <p:cNvSpPr>
                <a:spLocks noChangeShapeType="1"/>
              </p:cNvSpPr>
              <p:nvPr/>
            </p:nvSpPr>
            <p:spPr bwMode="auto">
              <a:xfrm flipH="1" flipV="1">
                <a:off x="342" y="194"/>
                <a:ext cx="265" cy="255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" name="文本框 135210"/>
              <p:cNvSpPr txBox="1">
                <a:spLocks noChangeArrowheads="1"/>
              </p:cNvSpPr>
              <p:nvPr/>
            </p:nvSpPr>
            <p:spPr bwMode="auto">
              <a:xfrm>
                <a:off x="672" y="167"/>
                <a:ext cx="1578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sz="2000" dirty="0">
                    <a:ea typeface="宋体" panose="02010600030101010101" pitchFamily="2" charset="-122"/>
                  </a:rPr>
                  <a:t>00     01      11     10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5" name="文本框 135211"/>
              <p:cNvSpPr txBox="1">
                <a:spLocks noChangeArrowheads="1"/>
              </p:cNvSpPr>
              <p:nvPr/>
            </p:nvSpPr>
            <p:spPr bwMode="auto">
              <a:xfrm>
                <a:off x="363" y="466"/>
                <a:ext cx="388" cy="1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>
                  <a:lnSpc>
                    <a:spcPct val="140000"/>
                  </a:lnSpc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00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01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11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10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文本框 135212"/>
              <p:cNvSpPr txBox="1">
                <a:spLocks noChangeArrowheads="1"/>
              </p:cNvSpPr>
              <p:nvPr/>
            </p:nvSpPr>
            <p:spPr bwMode="auto">
              <a:xfrm>
                <a:off x="340" y="-21"/>
                <a:ext cx="368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3</a:t>
                </a:r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2</a:t>
                </a:r>
                <a:endParaRPr lang="en-US" altLang="zh-CN" sz="1600" i="1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文本框 135213"/>
              <p:cNvSpPr txBox="1">
                <a:spLocks noChangeArrowheads="1"/>
              </p:cNvSpPr>
              <p:nvPr/>
            </p:nvSpPr>
            <p:spPr bwMode="auto">
              <a:xfrm>
                <a:off x="115" y="208"/>
                <a:ext cx="368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1</a:t>
                </a:r>
                <a:r>
                  <a:rPr lang="en-US" altLang="zh-CN" sz="1600" i="1" dirty="0">
                    <a:ea typeface="宋体" panose="02010600030101010101" pitchFamily="2" charset="-122"/>
                  </a:rPr>
                  <a:t>B</a:t>
                </a:r>
                <a:r>
                  <a:rPr lang="en-US" altLang="zh-CN" sz="1600" i="1" baseline="-25000" dirty="0">
                    <a:ea typeface="宋体" panose="02010600030101010101" pitchFamily="2" charset="-122"/>
                  </a:rPr>
                  <a:t>0</a:t>
                </a:r>
                <a:endParaRPr lang="en-US" altLang="zh-CN" sz="1600" i="1" baseline="-25000" dirty="0">
                  <a:ea typeface="宋体" panose="02010600030101010101" pitchFamily="2" charset="-122"/>
                </a:endParaRPr>
              </a:p>
            </p:txBody>
          </p:sp>
          <p:grpSp>
            <p:nvGrpSpPr>
              <p:cNvPr id="28" name="组合 135216"/>
              <p:cNvGrpSpPr/>
              <p:nvPr/>
            </p:nvGrpSpPr>
            <p:grpSpPr bwMode="auto">
              <a:xfrm>
                <a:off x="1041" y="455"/>
                <a:ext cx="812" cy="1479"/>
                <a:chOff x="78" y="4"/>
                <a:chExt cx="812" cy="712"/>
              </a:xfrm>
            </p:grpSpPr>
            <p:sp>
              <p:nvSpPr>
                <p:cNvPr id="29" name="直接连接符 135217"/>
                <p:cNvSpPr>
                  <a:spLocks noChangeShapeType="1"/>
                </p:cNvSpPr>
                <p:nvPr/>
              </p:nvSpPr>
              <p:spPr bwMode="auto">
                <a:xfrm>
                  <a:off x="78" y="5"/>
                  <a:ext cx="0" cy="711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直接连接符 135219"/>
                <p:cNvSpPr>
                  <a:spLocks noChangeShapeType="1"/>
                </p:cNvSpPr>
                <p:nvPr/>
              </p:nvSpPr>
              <p:spPr bwMode="auto">
                <a:xfrm>
                  <a:off x="890" y="5"/>
                  <a:ext cx="0" cy="711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直接连接符 135218"/>
                <p:cNvSpPr>
                  <a:spLocks noChangeShapeType="1"/>
                </p:cNvSpPr>
                <p:nvPr/>
              </p:nvSpPr>
              <p:spPr bwMode="auto">
                <a:xfrm>
                  <a:off x="468" y="4"/>
                  <a:ext cx="0" cy="711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</p:grpSp>
        <p:sp>
          <p:nvSpPr>
            <p:cNvPr id="16" name="文本框 15"/>
            <p:cNvSpPr txBox="1"/>
            <p:nvPr/>
          </p:nvSpPr>
          <p:spPr>
            <a:xfrm>
              <a:off x="5745287" y="2331701"/>
              <a:ext cx="1564746" cy="1337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                          1       1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                          1       1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                          1       1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                          1       1</a:t>
              </a:r>
              <a:endParaRPr lang="zh-CN" altLang="en-US" sz="16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085870" y="3785136"/>
              <a:ext cx="369997" cy="345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G</a:t>
              </a:r>
              <a:r>
                <a:rPr lang="en-US" altLang="zh-CN" baseline="-25000" dirty="0"/>
                <a:t>3</a:t>
              </a:r>
              <a:endParaRPr lang="zh-CN" altLang="en-US" baseline="-250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488922" y="2367076"/>
              <a:ext cx="562492" cy="12981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686" y="5283966"/>
            <a:ext cx="1303452" cy="605919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54" name="直接连接符 53"/>
          <p:cNvCxnSpPr/>
          <p:nvPr/>
        </p:nvCxnSpPr>
        <p:spPr>
          <a:xfrm>
            <a:off x="1146708" y="4535853"/>
            <a:ext cx="183461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1146708" y="4824413"/>
            <a:ext cx="1796517" cy="570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1146708" y="5122686"/>
            <a:ext cx="1834617" cy="1128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46708" y="5424488"/>
            <a:ext cx="1796517" cy="30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46708" y="5724525"/>
            <a:ext cx="1796517" cy="1001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146708" y="6010275"/>
            <a:ext cx="1796517" cy="156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146708" y="6334117"/>
            <a:ext cx="1796517" cy="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1146708" y="6601568"/>
            <a:ext cx="1796517" cy="87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30254" y="1141191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5897" y="1602856"/>
            <a:ext cx="1871025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G3    G2    G1    G0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700090" y="1602856"/>
            <a:ext cx="171089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dirty="0" smtClean="0"/>
              <a:t>3    </a:t>
            </a:r>
            <a:r>
              <a:rPr lang="en-US" altLang="zh-CN" dirty="0"/>
              <a:t>B</a:t>
            </a:r>
            <a:r>
              <a:rPr lang="en-US" altLang="zh-CN" dirty="0" smtClean="0"/>
              <a:t>2   B1   </a:t>
            </a:r>
            <a:r>
              <a:rPr lang="en-US" altLang="zh-CN" dirty="0"/>
              <a:t>B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8" y="1552518"/>
            <a:ext cx="4291877" cy="5212282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4928736" y="1666089"/>
            <a:ext cx="3405639" cy="2714735"/>
            <a:chOff x="7750225" y="1614200"/>
            <a:chExt cx="1869276" cy="196532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50225" y="1614200"/>
              <a:ext cx="1869276" cy="1965325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8628001" y="2046539"/>
              <a:ext cx="221381" cy="1174281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4" name="矩形 33"/>
            <p:cNvSpPr/>
            <p:nvPr/>
          </p:nvSpPr>
          <p:spPr>
            <a:xfrm>
              <a:off x="9266481" y="2054552"/>
              <a:ext cx="221381" cy="11742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/>
              <p:cNvSpPr/>
              <p:nvPr/>
            </p:nvSpPr>
            <p:spPr>
              <a:xfrm>
                <a:off x="5406215" y="4820090"/>
                <a:ext cx="3297784" cy="96026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acc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zh-CN" altLang="en-US" sz="2800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8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acc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plcHide m:val="on"/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zh-CN" altLang="en-US" sz="2800" b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215" y="4820090"/>
                <a:ext cx="3297784" cy="960263"/>
              </a:xfrm>
              <a:prstGeom prst="rect">
                <a:avLst/>
              </a:prstGeom>
              <a:blipFill rotWithShape="1">
                <a:blip r:embed="rId3"/>
                <a:stretch>
                  <a:fillRect l="-149" t="-509" r="-133" b="-46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/>
          <p:cNvCxnSpPr/>
          <p:nvPr/>
        </p:nvCxnSpPr>
        <p:spPr>
          <a:xfrm>
            <a:off x="1137693" y="5780353"/>
            <a:ext cx="2305595" cy="1084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137693" y="6089160"/>
            <a:ext cx="2305595" cy="20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1137693" y="6391275"/>
            <a:ext cx="2305595" cy="1642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137693" y="6689659"/>
            <a:ext cx="2305595" cy="16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1137693" y="4281488"/>
            <a:ext cx="2305595" cy="1321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1137693" y="3961241"/>
            <a:ext cx="2305595" cy="1522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1137693" y="3667125"/>
            <a:ext cx="2305595" cy="581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1137693" y="3362325"/>
            <a:ext cx="2305595" cy="591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0254" y="1141191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3772" y="1535983"/>
            <a:ext cx="1871025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G3    G2    G1    G0</a:t>
            </a:r>
            <a:endParaRPr lang="zh-CN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91040" y="1552518"/>
            <a:ext cx="171089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dirty="0" smtClean="0"/>
              <a:t>3    </a:t>
            </a:r>
            <a:r>
              <a:rPr lang="en-US" altLang="zh-CN" dirty="0"/>
              <a:t>B</a:t>
            </a:r>
            <a:r>
              <a:rPr lang="en-US" altLang="zh-CN" dirty="0" smtClean="0"/>
              <a:t>2   B1   </a:t>
            </a:r>
            <a:r>
              <a:rPr lang="en-US" altLang="zh-CN" dirty="0"/>
              <a:t>B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80" y="1614165"/>
            <a:ext cx="4184528" cy="5081910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4851034" y="1650481"/>
            <a:ext cx="3283316" cy="2448668"/>
            <a:chOff x="3906894" y="3948149"/>
            <a:chExt cx="1869276" cy="198143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6894" y="3948149"/>
              <a:ext cx="1869276" cy="1981432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4779272" y="4403558"/>
              <a:ext cx="269179" cy="539015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7" name="矩形 36"/>
            <p:cNvSpPr/>
            <p:nvPr/>
          </p:nvSpPr>
          <p:spPr>
            <a:xfrm>
              <a:off x="5408131" y="4382701"/>
              <a:ext cx="269179" cy="5390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8" name="矩形 37"/>
            <p:cNvSpPr/>
            <p:nvPr/>
          </p:nvSpPr>
          <p:spPr>
            <a:xfrm>
              <a:off x="4450408" y="5032409"/>
              <a:ext cx="269179" cy="539015"/>
            </a:xfrm>
            <a:prstGeom prst="rect">
              <a:avLst/>
            </a:prstGeom>
            <a:noFill/>
            <a:ln w="28575"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/>
          </p:nvSpPr>
          <p:spPr>
            <a:xfrm>
              <a:off x="5085678" y="5042035"/>
              <a:ext cx="269179" cy="53901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597" y="4589081"/>
            <a:ext cx="3899792" cy="1605236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1" name="组合 10"/>
          <p:cNvGrpSpPr/>
          <p:nvPr/>
        </p:nvGrpSpPr>
        <p:grpSpPr>
          <a:xfrm>
            <a:off x="955171" y="2824658"/>
            <a:ext cx="2722415" cy="3795217"/>
            <a:chOff x="1375170" y="3078942"/>
            <a:chExt cx="3629886" cy="5060288"/>
          </a:xfrm>
        </p:grpSpPr>
        <p:cxnSp>
          <p:nvCxnSpPr>
            <p:cNvPr id="63" name="直接连接符 62"/>
            <p:cNvCxnSpPr/>
            <p:nvPr/>
          </p:nvCxnSpPr>
          <p:spPr>
            <a:xfrm flipV="1">
              <a:off x="1475280" y="4608631"/>
              <a:ext cx="3484078" cy="1864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502476" y="4988688"/>
              <a:ext cx="3456882" cy="729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375170" y="8134345"/>
              <a:ext cx="3629886" cy="488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V="1">
              <a:off x="1434135" y="6145832"/>
              <a:ext cx="3570921" cy="1583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V="1">
              <a:off x="1434135" y="6589830"/>
              <a:ext cx="3570921" cy="453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V="1">
              <a:off x="1475281" y="7739181"/>
              <a:ext cx="3484078" cy="488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V="1">
              <a:off x="1434135" y="3421182"/>
              <a:ext cx="3570921" cy="609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V="1">
              <a:off x="1434135" y="3078942"/>
              <a:ext cx="3570921" cy="367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30254" y="1141191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8" name="直接连接符 2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5213" y="1614165"/>
            <a:ext cx="1871025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G3    G2    G1    G0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49318" y="1625766"/>
            <a:ext cx="171089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dirty="0" smtClean="0"/>
              <a:t>3    </a:t>
            </a:r>
            <a:r>
              <a:rPr lang="en-US" altLang="zh-CN" dirty="0"/>
              <a:t>B</a:t>
            </a:r>
            <a:r>
              <a:rPr lang="en-US" altLang="zh-CN" dirty="0" smtClean="0"/>
              <a:t>2   B1   </a:t>
            </a:r>
            <a:r>
              <a:rPr lang="en-US" altLang="zh-CN" dirty="0"/>
              <a:t>B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0" y="1650583"/>
            <a:ext cx="4099940" cy="4979184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4925385" y="1662764"/>
            <a:ext cx="3132141" cy="2611396"/>
            <a:chOff x="8740734" y="3244923"/>
            <a:chExt cx="1851867" cy="198142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0734" y="3244923"/>
              <a:ext cx="1851867" cy="1981421"/>
            </a:xfrm>
            <a:prstGeom prst="rect">
              <a:avLst/>
            </a:prstGeom>
          </p:spPr>
        </p:pic>
        <p:sp>
          <p:nvSpPr>
            <p:cNvPr id="44" name="椭圆 43"/>
            <p:cNvSpPr/>
            <p:nvPr/>
          </p:nvSpPr>
          <p:spPr>
            <a:xfrm>
              <a:off x="9606013" y="3628724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椭圆 44"/>
            <p:cNvSpPr/>
            <p:nvPr/>
          </p:nvSpPr>
          <p:spPr>
            <a:xfrm>
              <a:off x="9281658" y="3969633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6" name="椭圆 45"/>
            <p:cNvSpPr/>
            <p:nvPr/>
          </p:nvSpPr>
          <p:spPr>
            <a:xfrm>
              <a:off x="9910813" y="3933524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椭圆 46"/>
            <p:cNvSpPr/>
            <p:nvPr/>
          </p:nvSpPr>
          <p:spPr>
            <a:xfrm>
              <a:off x="10268551" y="4302405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8" name="椭圆 47"/>
            <p:cNvSpPr/>
            <p:nvPr/>
          </p:nvSpPr>
          <p:spPr>
            <a:xfrm>
              <a:off x="10268552" y="3628724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9" name="椭圆 48"/>
            <p:cNvSpPr/>
            <p:nvPr/>
          </p:nvSpPr>
          <p:spPr>
            <a:xfrm>
              <a:off x="9281658" y="4636177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椭圆 49"/>
            <p:cNvSpPr/>
            <p:nvPr/>
          </p:nvSpPr>
          <p:spPr>
            <a:xfrm>
              <a:off x="9910813" y="3933524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1" name="椭圆 50"/>
            <p:cNvSpPr/>
            <p:nvPr/>
          </p:nvSpPr>
          <p:spPr>
            <a:xfrm>
              <a:off x="9558844" y="4302405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2" name="椭圆 51"/>
            <p:cNvSpPr/>
            <p:nvPr/>
          </p:nvSpPr>
          <p:spPr>
            <a:xfrm>
              <a:off x="9907604" y="4632965"/>
              <a:ext cx="240631" cy="25025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556" y="4705357"/>
            <a:ext cx="4719044" cy="1266818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3" name="组合 2"/>
          <p:cNvGrpSpPr/>
          <p:nvPr/>
        </p:nvGrpSpPr>
        <p:grpSpPr>
          <a:xfrm>
            <a:off x="902274" y="2499083"/>
            <a:ext cx="3102990" cy="4058880"/>
            <a:chOff x="1306714" y="2734554"/>
            <a:chExt cx="4137319" cy="5411839"/>
          </a:xfrm>
        </p:grpSpPr>
        <p:cxnSp>
          <p:nvCxnSpPr>
            <p:cNvPr id="27" name="直接连接符 26"/>
            <p:cNvCxnSpPr/>
            <p:nvPr/>
          </p:nvCxnSpPr>
          <p:spPr>
            <a:xfrm flipV="1">
              <a:off x="1306714" y="2734554"/>
              <a:ext cx="4137319" cy="1083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350553" y="3544480"/>
              <a:ext cx="4093480" cy="1086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350553" y="4285593"/>
              <a:ext cx="4093480" cy="470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1401963" y="5071689"/>
              <a:ext cx="4042070" cy="538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1401963" y="5841343"/>
              <a:ext cx="4042070" cy="1253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1401963" y="6592988"/>
              <a:ext cx="4042070" cy="979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1350553" y="7365342"/>
              <a:ext cx="4093480" cy="130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306714" y="8130917"/>
              <a:ext cx="4137319" cy="1547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30254" y="1141191"/>
            <a:ext cx="1879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S=1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8462" y="1646229"/>
            <a:ext cx="1871025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G3    G2    G1    G0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489487" y="1646229"/>
            <a:ext cx="171089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dirty="0" smtClean="0"/>
              <a:t>3    </a:t>
            </a:r>
            <a:r>
              <a:rPr lang="en-US" altLang="zh-CN" dirty="0"/>
              <a:t>B</a:t>
            </a:r>
            <a:r>
              <a:rPr lang="en-US" altLang="zh-CN" dirty="0" smtClean="0"/>
              <a:t>2   B1   </a:t>
            </a:r>
            <a:r>
              <a:rPr lang="en-US" altLang="zh-CN" dirty="0"/>
              <a:t>B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369535" y="1478649"/>
            <a:ext cx="2387953" cy="2453376"/>
            <a:chOff x="428324" y="1708484"/>
            <a:chExt cx="2338420" cy="2708434"/>
          </a:xfrm>
        </p:grpSpPr>
        <p:graphicFrame>
          <p:nvGraphicFramePr>
            <p:cNvPr id="56" name="Object 4"/>
            <p:cNvGraphicFramePr>
              <a:graphicFrameLocks noChangeAspect="1"/>
            </p:cNvGraphicFramePr>
            <p:nvPr/>
          </p:nvGraphicFramePr>
          <p:xfrm>
            <a:off x="666000" y="2340627"/>
            <a:ext cx="1972098" cy="1983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name="Equation" r:id="rId1" imgW="787400" imgH="800100" progId="Equation.DSMT4">
                    <p:embed/>
                  </p:oleObj>
                </mc:Choice>
                <mc:Fallback>
                  <p:oleObj name="Equation" r:id="rId1" imgW="787400" imgH="8001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00" y="2340627"/>
                          <a:ext cx="1972098" cy="198333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矩形 56"/>
            <p:cNvSpPr/>
            <p:nvPr/>
          </p:nvSpPr>
          <p:spPr>
            <a:xfrm>
              <a:off x="428324" y="1708484"/>
              <a:ext cx="2338420" cy="270843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当</a:t>
              </a:r>
              <a:r>
                <a:rPr lang="en-US" altLang="zh-CN" i="1" dirty="0"/>
                <a:t>S</a:t>
              </a:r>
              <a:r>
                <a:rPr lang="en-US" altLang="zh-CN" dirty="0"/>
                <a:t>=0</a:t>
              </a:r>
              <a:r>
                <a:rPr lang="zh-CN" altLang="en-US" dirty="0"/>
                <a:t>时：</a:t>
              </a:r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150876" y="1478649"/>
            <a:ext cx="4510678" cy="2453376"/>
            <a:chOff x="2901767" y="1879864"/>
            <a:chExt cx="4872051" cy="2779867"/>
          </a:xfrm>
        </p:grpSpPr>
        <p:sp>
          <p:nvSpPr>
            <p:cNvPr id="11" name="矩形 10"/>
            <p:cNvSpPr/>
            <p:nvPr/>
          </p:nvSpPr>
          <p:spPr>
            <a:xfrm>
              <a:off x="2942897" y="1879864"/>
              <a:ext cx="4770065" cy="2779867"/>
            </a:xfrm>
            <a:prstGeom prst="rect">
              <a:avLst/>
            </a:prstGeom>
            <a:ln w="2540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当</a:t>
              </a:r>
              <a:r>
                <a:rPr lang="en-US" altLang="zh-CN" i="1" dirty="0"/>
                <a:t>S</a:t>
              </a:r>
              <a:r>
                <a:rPr lang="en-US" altLang="zh-CN" dirty="0"/>
                <a:t>=1</a:t>
              </a:r>
              <a:r>
                <a:rPr lang="zh-CN" altLang="en-US" dirty="0"/>
                <a:t>时：</a:t>
              </a:r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endParaRPr lang="zh-CN" altLang="en-US" dirty="0"/>
            </a:p>
          </p:txBody>
        </p:sp>
        <p:graphicFrame>
          <p:nvGraphicFramePr>
            <p:cNvPr id="58" name="Object 4"/>
            <p:cNvGraphicFramePr>
              <a:graphicFrameLocks noChangeAspect="1"/>
            </p:cNvGraphicFramePr>
            <p:nvPr/>
          </p:nvGraphicFramePr>
          <p:xfrm>
            <a:off x="2901767" y="2329666"/>
            <a:ext cx="4872051" cy="2191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name="Equation" r:id="rId3" imgW="1828800" imgH="800100" progId="Equation.DSMT4">
                    <p:embed/>
                  </p:oleObj>
                </mc:Choice>
                <mc:Fallback>
                  <p:oleObj name="Equation" r:id="rId3" imgW="1828800" imgH="8001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767" y="2329666"/>
                          <a:ext cx="4872051" cy="219125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箭头: 右 34"/>
          <p:cNvSpPr/>
          <p:nvPr/>
        </p:nvSpPr>
        <p:spPr>
          <a:xfrm>
            <a:off x="1168267" y="5332423"/>
            <a:ext cx="1114124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2862924" y="4345949"/>
          <a:ext cx="2938449" cy="1977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5" imgW="1257300" imgH="850900" progId="Equation.DSMT4">
                  <p:embed/>
                </p:oleObj>
              </mc:Choice>
              <mc:Fallback>
                <p:oleObj name="Equation" r:id="rId5" imgW="1257300" imgH="8509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924" y="4345949"/>
                        <a:ext cx="2938449" cy="197774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/>
          <p:cNvSpPr/>
          <p:nvPr/>
        </p:nvSpPr>
        <p:spPr>
          <a:xfrm>
            <a:off x="1422797" y="2928938"/>
            <a:ext cx="1121800" cy="437943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椭圆 15"/>
          <p:cNvSpPr/>
          <p:nvPr/>
        </p:nvSpPr>
        <p:spPr>
          <a:xfrm>
            <a:off x="5801373" y="2823737"/>
            <a:ext cx="1197560" cy="445112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椭圆 16"/>
          <p:cNvSpPr/>
          <p:nvPr/>
        </p:nvSpPr>
        <p:spPr>
          <a:xfrm>
            <a:off x="6536646" y="3268849"/>
            <a:ext cx="1068566" cy="481657"/>
          </a:xfrm>
          <a:prstGeom prst="ellipse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椭圆 17"/>
          <p:cNvSpPr/>
          <p:nvPr/>
        </p:nvSpPr>
        <p:spPr>
          <a:xfrm>
            <a:off x="1462088" y="3405188"/>
            <a:ext cx="1071562" cy="404325"/>
          </a:xfrm>
          <a:prstGeom prst="ellipse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" name="直接连接符 5"/>
          <p:cNvCxnSpPr/>
          <p:nvPr/>
        </p:nvCxnSpPr>
        <p:spPr>
          <a:xfrm>
            <a:off x="3786488" y="5754252"/>
            <a:ext cx="1285575" cy="36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786488" y="6257623"/>
            <a:ext cx="1333199" cy="30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-12370" y="637329"/>
            <a:ext cx="5418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）根据卡诺图写函数表达式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6" grpId="0" animBg="1"/>
      <p:bldP spid="17" grpId="0" animBg="1"/>
      <p:bldP spid="1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651157"/>
            <a:ext cx="45594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）画出逻辑电路图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157736" y="2195514"/>
          <a:ext cx="3117040" cy="209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1" imgW="1257300" imgH="850900" progId="Equation.DSMT4">
                  <p:embed/>
                </p:oleObj>
              </mc:Choice>
              <mc:Fallback>
                <p:oleObj name="Equation" r:id="rId1" imgW="1257300" imgH="8509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36" y="2195514"/>
                        <a:ext cx="3117040" cy="20979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600449" y="1462087"/>
            <a:ext cx="4995863" cy="4395788"/>
            <a:chOff x="4942381" y="1260612"/>
            <a:chExt cx="5060950" cy="4675188"/>
          </a:xfrm>
        </p:grpSpPr>
        <p:pic>
          <p:nvPicPr>
            <p:cNvPr id="13" name="Picture 5" descr="4-3-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2381" y="1260612"/>
              <a:ext cx="5060950" cy="4675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文本框 3"/>
            <p:cNvSpPr txBox="1"/>
            <p:nvPr/>
          </p:nvSpPr>
          <p:spPr>
            <a:xfrm>
              <a:off x="8870730" y="1450427"/>
              <a:ext cx="1051036" cy="39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异或门</a:t>
              </a:r>
              <a:endPara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808010" y="3205399"/>
              <a:ext cx="1051036" cy="39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r>
                <a:rPr lang="zh-CN" altLang="en-US" dirty="0"/>
                <a:t>异或门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808010" y="5054020"/>
              <a:ext cx="1051036" cy="39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r>
                <a:rPr lang="zh-CN" altLang="en-US" dirty="0"/>
                <a:t>异或门</a:t>
              </a:r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462350" y="2464318"/>
              <a:ext cx="1051036" cy="39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r>
                <a:rPr lang="zh-CN" altLang="en-US" dirty="0"/>
                <a:t>与或门</a:t>
              </a:r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62349" y="4271954"/>
              <a:ext cx="1051036" cy="39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r>
                <a:rPr lang="zh-CN" altLang="en-US" dirty="0"/>
                <a:t>与或门</a:t>
              </a:r>
              <a:endParaRPr lang="zh-CN" altLang="en-US" dirty="0"/>
            </a:p>
          </p:txBody>
        </p:sp>
      </p:grpSp>
      <p:sp>
        <p:nvSpPr>
          <p:cNvPr id="21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7288" y="656404"/>
            <a:ext cx="3853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（二）编程方法</a:t>
            </a:r>
            <a:endParaRPr lang="zh-CN" altLang="en-US" sz="2800" b="1" dirty="0">
              <a:solidFill>
                <a:srgbClr val="FF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552" y="1265730"/>
            <a:ext cx="2985464" cy="4967514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module</a:t>
            </a:r>
            <a:r>
              <a:rPr lang="en-US" altLang="zh-CN" b="1" dirty="0"/>
              <a:t> samp4_3_6(B,</a:t>
            </a:r>
            <a:r>
              <a:rPr lang="zh-CN" altLang="en-US" b="1" dirty="0"/>
              <a:t> </a:t>
            </a:r>
            <a:r>
              <a:rPr lang="en-US" altLang="zh-CN" b="1" dirty="0"/>
              <a:t>S,</a:t>
            </a:r>
            <a:r>
              <a:rPr lang="zh-CN" altLang="en-US" b="1" dirty="0"/>
              <a:t> </a:t>
            </a:r>
            <a:r>
              <a:rPr lang="en-US" altLang="zh-CN" b="1" dirty="0"/>
              <a:t>G);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/>
              <a:t>input </a:t>
            </a:r>
            <a:r>
              <a:rPr lang="zh-CN" altLang="en-US" b="1" dirty="0"/>
              <a:t>［</a:t>
            </a:r>
            <a:r>
              <a:rPr lang="en-US" altLang="zh-CN" b="1" dirty="0"/>
              <a:t>3:0</a:t>
            </a:r>
            <a:r>
              <a:rPr lang="zh-CN" altLang="en-US" b="1" dirty="0"/>
              <a:t>］ </a:t>
            </a:r>
            <a:r>
              <a:rPr lang="en-US" altLang="zh-CN" b="1" dirty="0"/>
              <a:t>B;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/>
              <a:t>input S;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/>
              <a:t>output reg </a:t>
            </a:r>
            <a:r>
              <a:rPr lang="zh-CN" altLang="en-US" b="1" dirty="0"/>
              <a:t>［</a:t>
            </a:r>
            <a:r>
              <a:rPr lang="en-US" altLang="zh-CN" b="1" dirty="0"/>
              <a:t>3:0</a:t>
            </a:r>
            <a:r>
              <a:rPr lang="zh-CN" altLang="en-US" b="1" dirty="0"/>
              <a:t>］ </a:t>
            </a:r>
            <a:r>
              <a:rPr lang="en-US" altLang="zh-CN" b="1" dirty="0"/>
              <a:t>G;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/>
              <a:t>always@(S or B)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FF33CC"/>
                </a:solidFill>
              </a:rPr>
              <a:t>if</a:t>
            </a:r>
            <a:r>
              <a:rPr lang="en-US" altLang="zh-CN" b="1" dirty="0"/>
              <a:t>(S) </a:t>
            </a:r>
            <a:r>
              <a:rPr lang="en-US" altLang="zh-CN" sz="1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1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格雷码到二进制码的转换</a:t>
            </a:r>
            <a:br>
              <a:rPr lang="en-US" altLang="zh-CN" sz="1600" b="1" dirty="0"/>
            </a:br>
            <a:r>
              <a:rPr lang="en-US" altLang="zh-CN" b="1" dirty="0"/>
              <a:t>       </a:t>
            </a:r>
            <a:r>
              <a:rPr lang="en-US" altLang="zh-CN" b="1" dirty="0">
                <a:solidFill>
                  <a:srgbClr val="C00000"/>
                </a:solidFill>
              </a:rPr>
              <a:t>begin</a:t>
            </a:r>
            <a:br>
              <a:rPr lang="zh-CN" altLang="en-US" b="1" dirty="0"/>
            </a:br>
            <a:r>
              <a:rPr lang="zh-CN" altLang="en-US" b="1" dirty="0"/>
              <a:t>          </a:t>
            </a:r>
            <a:r>
              <a:rPr lang="en-US" altLang="zh-CN" b="1" dirty="0">
                <a:solidFill>
                  <a:srgbClr val="7030A0"/>
                </a:solidFill>
              </a:rPr>
              <a:t>case</a:t>
            </a:r>
            <a:r>
              <a:rPr lang="en-US" altLang="zh-CN" b="1" dirty="0"/>
              <a:t>(B)</a:t>
            </a:r>
            <a:br>
              <a:rPr lang="en-US" altLang="zh-CN" b="1" dirty="0"/>
            </a:br>
            <a:r>
              <a:rPr lang="en-US" altLang="zh-CN" b="1" dirty="0"/>
              <a:t>              4′b0000: G=4′b0000;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</a:t>
            </a:r>
            <a:r>
              <a:rPr lang="en-US" altLang="zh-CN" b="1" dirty="0"/>
              <a:t>4′b0001: G=4′b0001;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</a:t>
            </a:r>
            <a:r>
              <a:rPr lang="en-US" altLang="zh-CN" b="1" dirty="0"/>
              <a:t>4′b0011: G=4′b0010;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</a:t>
            </a:r>
            <a:r>
              <a:rPr lang="en-US" altLang="zh-CN" b="1" dirty="0"/>
              <a:t>4′b0010: G=4′b0011;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zh-CN" altLang="en-US" b="1" dirty="0"/>
              <a:t>              </a:t>
            </a:r>
            <a:r>
              <a:rPr lang="en-US" altLang="zh-CN" b="1" dirty="0"/>
              <a:t>4′b0110: G=4′b0100;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</a:t>
            </a:r>
            <a:r>
              <a:rPr lang="en-US" altLang="zh-CN" b="1" dirty="0"/>
              <a:t>4′b0111: G=4′b0101;</a:t>
            </a:r>
            <a:br>
              <a:rPr lang="zh-CN" altLang="en-US" b="1" dirty="0"/>
            </a:br>
            <a:r>
              <a:rPr lang="zh-CN" altLang="en-US" b="1" dirty="0"/>
              <a:t>              </a:t>
            </a:r>
            <a:r>
              <a:rPr lang="en-US" altLang="zh-CN" b="1" dirty="0"/>
              <a:t>4′b0101: G=4′b0110;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</a:t>
            </a:r>
            <a:r>
              <a:rPr lang="en-US" altLang="zh-CN" b="1" dirty="0"/>
              <a:t>4′b0100: G=4′b0111;</a:t>
            </a:r>
            <a:endParaRPr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3155482" y="1275893"/>
            <a:ext cx="3120261" cy="4967514"/>
          </a:xfrm>
          <a:prstGeom prst="rect">
            <a:avLst/>
          </a:prstGeom>
          <a:ln w="254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/>
              <a:t>            </a:t>
            </a:r>
            <a:r>
              <a:rPr lang="en-US" altLang="zh-CN" b="1" dirty="0"/>
              <a:t>4′b1100: G=4′b1000;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4′b1101: G=4′b1001;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4′b1111: G=4′b1010;</a:t>
            </a:r>
            <a:r>
              <a:rPr lang="zh-CN" altLang="en-US" b="1" dirty="0"/>
              <a:t>  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zh-CN" altLang="en-US" b="1" dirty="0"/>
              <a:t>            </a:t>
            </a:r>
            <a:r>
              <a:rPr lang="en-US" altLang="zh-CN" b="1" dirty="0"/>
              <a:t>4′b1110: G=4′b1011;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4′b1010: G=4′b1100;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4′b1011: G=4′b1101;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4′b1001: G=4′b1110;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4′b1000: G=4′b1111;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en-US" altLang="zh-CN" b="1" dirty="0"/>
              <a:t>        </a:t>
            </a:r>
            <a:r>
              <a:rPr lang="en-US" altLang="zh-CN" b="1" dirty="0" err="1">
                <a:solidFill>
                  <a:srgbClr val="7030A0"/>
                </a:solidFill>
              </a:rPr>
              <a:t>endcase</a:t>
            </a:r>
            <a:br>
              <a:rPr lang="en-US" altLang="zh-CN" b="1" dirty="0"/>
            </a:br>
            <a:r>
              <a:rPr lang="en-US" altLang="zh-CN" b="1" dirty="0"/>
              <a:t>     </a:t>
            </a:r>
            <a:r>
              <a:rPr lang="en-US" altLang="zh-CN" b="1" dirty="0">
                <a:solidFill>
                  <a:srgbClr val="C00000"/>
                </a:solidFill>
              </a:rPr>
              <a:t>end</a:t>
            </a:r>
            <a:r>
              <a:rPr lang="en-US" altLang="zh-CN" b="1" dirty="0"/>
              <a:t> </a:t>
            </a: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en-US" altLang="zh-CN" b="1" dirty="0">
                <a:solidFill>
                  <a:srgbClr val="FF33CC"/>
                </a:solidFill>
              </a:rPr>
              <a:t>else</a:t>
            </a:r>
            <a:r>
              <a:rPr lang="en-US" altLang="zh-CN" b="1" dirty="0"/>
              <a:t> </a:t>
            </a:r>
            <a:r>
              <a:rPr lang="en-US" altLang="zh-CN" sz="1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1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二进制码到格雷码的转换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begin</a:t>
            </a:r>
            <a:br>
              <a:rPr lang="en-US" altLang="zh-CN" b="1" dirty="0"/>
            </a:br>
            <a:r>
              <a:rPr lang="en-US" altLang="zh-CN" b="1" dirty="0"/>
              <a:t>        </a:t>
            </a:r>
            <a:r>
              <a:rPr lang="en-US" altLang="zh-CN" b="1" dirty="0">
                <a:solidFill>
                  <a:srgbClr val="7030A0"/>
                </a:solidFill>
              </a:rPr>
              <a:t>case</a:t>
            </a:r>
            <a:r>
              <a:rPr lang="en-US" altLang="zh-CN" b="1" dirty="0"/>
              <a:t>(B)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en-US" altLang="zh-CN" b="1" dirty="0"/>
              <a:t>            4′b0000: G=4′b0000;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4′b0001: G=4′b0001;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4′b0010: G=4′b0011;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6374209" y="1275893"/>
            <a:ext cx="2705340" cy="4967514"/>
          </a:xfrm>
          <a:prstGeom prst="rect">
            <a:avLst/>
          </a:prstGeom>
          <a:ln w="254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/>
              <a:t>            </a:t>
            </a:r>
            <a:r>
              <a:rPr lang="en-US" altLang="zh-CN" b="1" dirty="0"/>
              <a:t>4′b0011: G=4′b0010;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4′b0100: G=4′b0110;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4′b0101: G=4′b0111;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4′b0110: G=4′b0101;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4′b0111: G=4′b0100;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4′b1000: G=4′b1100;            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en-US" altLang="zh-CN" b="1" dirty="0"/>
              <a:t>            4′b1001: G=4′b1101;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4′b1010: G=4′b1111;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4′b1011: G=4′b1110;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4′b1100: G=4′b1010;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4′b1101: G=4′b1011;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4′b1110: G=4′b1001;</a:t>
            </a:r>
            <a:br>
              <a:rPr lang="zh-CN" altLang="en-US" b="1" dirty="0"/>
            </a:br>
            <a:r>
              <a:rPr lang="zh-CN" altLang="en-US" b="1" dirty="0"/>
              <a:t>            </a:t>
            </a:r>
            <a:r>
              <a:rPr lang="en-US" altLang="zh-CN" b="1" dirty="0"/>
              <a:t>4′b1111: G=4′b1000;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</a:t>
            </a:r>
            <a:r>
              <a:rPr lang="en-US" altLang="zh-CN" b="1" dirty="0" err="1">
                <a:solidFill>
                  <a:srgbClr val="7030A0"/>
                </a:solidFill>
              </a:rPr>
              <a:t>endcase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end</a:t>
            </a:r>
            <a:r>
              <a:rPr lang="en-US" altLang="zh-CN" b="1" dirty="0"/>
              <a:t> </a:t>
            </a:r>
            <a:br>
              <a:rPr lang="en-US" altLang="zh-CN" b="1" dirty="0"/>
            </a:br>
            <a:r>
              <a:rPr lang="en-US" altLang="zh-CN" b="1" dirty="0" err="1">
                <a:solidFill>
                  <a:srgbClr val="0000FF"/>
                </a:solidFill>
              </a:rPr>
              <a:t>endmodule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组合逻辑电路设计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35267" y="610136"/>
            <a:ext cx="888428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P106</a:t>
            </a:r>
            <a:r>
              <a:rPr lang="zh-CN" altLang="en-US" sz="2000" b="1">
                <a:solidFill>
                  <a:srgbClr val="FF0000"/>
                </a:solidFill>
              </a:rPr>
              <a:t>习题</a:t>
            </a:r>
            <a:r>
              <a:rPr lang="en-US" altLang="zh-CN" sz="2000" b="1">
                <a:solidFill>
                  <a:srgbClr val="FF0000"/>
                </a:solidFill>
              </a:rPr>
              <a:t>5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/>
              <a:t> </a:t>
            </a:r>
            <a:r>
              <a:rPr lang="zh-CN" altLang="en-US" sz="2000" b="1" dirty="0"/>
              <a:t>若</a:t>
            </a:r>
            <a:r>
              <a:rPr lang="en-US" altLang="zh-CN" sz="2000" b="1" dirty="0"/>
              <a:t>case</a:t>
            </a:r>
            <a:r>
              <a:rPr lang="zh-CN" altLang="en-US" sz="2000" b="1" dirty="0"/>
              <a:t>语句的分支没有覆盖到所有可能的选项，那么有</a:t>
            </a:r>
            <a:r>
              <a:rPr lang="en-US" altLang="zh-CN" sz="2000" b="1" dirty="0"/>
              <a:t>default</a:t>
            </a:r>
            <a:r>
              <a:rPr lang="zh-CN" altLang="en-US" sz="2000" b="1" dirty="0"/>
              <a:t>和没有</a:t>
            </a:r>
            <a:r>
              <a:rPr lang="en-US" altLang="zh-CN" sz="2000" b="1" dirty="0"/>
              <a:t>default</a:t>
            </a:r>
            <a:r>
              <a:rPr lang="zh-CN" altLang="en-US" sz="2000" b="1" dirty="0"/>
              <a:t>语句有什么</a:t>
            </a:r>
            <a:r>
              <a:rPr lang="zh-CN" altLang="en-US" sz="2000" b="1"/>
              <a:t>不同？</a:t>
            </a:r>
            <a:endParaRPr lang="en-US" altLang="zh-CN" sz="2000" b="1" dirty="0"/>
          </a:p>
          <a:p>
            <a:r>
              <a:rPr lang="en-US" altLang="zh-CN" sz="2000" b="1">
                <a:solidFill>
                  <a:srgbClr val="FF0000"/>
                </a:solidFill>
              </a:rPr>
              <a:t>P167</a:t>
            </a:r>
            <a:r>
              <a:rPr lang="zh-CN" altLang="en-US" sz="2000" b="1">
                <a:solidFill>
                  <a:srgbClr val="FF0000"/>
                </a:solidFill>
              </a:rPr>
              <a:t>习题</a:t>
            </a:r>
            <a:r>
              <a:rPr lang="en-US" altLang="zh-CN" sz="2000" b="1">
                <a:solidFill>
                  <a:srgbClr val="FF0000"/>
                </a:solidFill>
              </a:rPr>
              <a:t>2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/>
              <a:t> </a:t>
            </a:r>
            <a:r>
              <a:rPr lang="zh-CN" altLang="en-US" sz="2000" b="1" dirty="0"/>
              <a:t>试写出下图所示组合逻辑电路的输出逻辑表达式，并画出与之功能相同的简化逻辑电路。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>
                <a:solidFill>
                  <a:srgbClr val="FF0000"/>
                </a:solidFill>
              </a:rPr>
              <a:t>P167</a:t>
            </a:r>
            <a:r>
              <a:rPr lang="zh-CN" altLang="en-US" sz="2000" b="1">
                <a:solidFill>
                  <a:srgbClr val="FF0000"/>
                </a:solidFill>
              </a:rPr>
              <a:t>习题</a:t>
            </a:r>
            <a:r>
              <a:rPr lang="en-US" altLang="zh-CN" sz="2000" b="1">
                <a:solidFill>
                  <a:srgbClr val="FF0000"/>
                </a:solidFill>
              </a:rPr>
              <a:t>5 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zh-CN" altLang="en-US" sz="2000" b="1"/>
              <a:t>设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为某保密锁的三个按键，当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单独按下时，锁既不打开也不报警，只有当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，或者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，或者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分别同时按下时，锁才能被打开；当不符合上述组合状态时，将发出报警信息。试分别用门电路和</a:t>
            </a:r>
            <a:r>
              <a:rPr lang="en-US" altLang="zh-CN" sz="2000" b="1" dirty="0"/>
              <a:t>Verilog</a:t>
            </a:r>
            <a:r>
              <a:rPr lang="zh-CN" altLang="en-US" sz="2000" b="1" dirty="0"/>
              <a:t>模块实现此保密锁</a:t>
            </a:r>
            <a:r>
              <a:rPr lang="zh-CN" altLang="en-US" sz="2000" b="1"/>
              <a:t>电路。</a:t>
            </a:r>
            <a:endParaRPr lang="en-US" altLang="zh-CN" sz="2000" b="1" dirty="0"/>
          </a:p>
          <a:p>
            <a:r>
              <a:rPr lang="en-US" altLang="zh-CN" sz="2000" b="1">
                <a:solidFill>
                  <a:srgbClr val="FF0000"/>
                </a:solidFill>
              </a:rPr>
              <a:t>P167</a:t>
            </a:r>
            <a:r>
              <a:rPr lang="zh-CN" altLang="en-US" sz="2000" b="1">
                <a:solidFill>
                  <a:srgbClr val="FF0000"/>
                </a:solidFill>
              </a:rPr>
              <a:t>习题</a:t>
            </a:r>
            <a:r>
              <a:rPr lang="en-US" altLang="zh-CN" sz="2000" b="1">
                <a:solidFill>
                  <a:srgbClr val="FF0000"/>
                </a:solidFill>
              </a:rPr>
              <a:t>6 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zh-CN" altLang="en-US" sz="2000" b="1"/>
              <a:t>用</a:t>
            </a:r>
            <a:r>
              <a:rPr lang="zh-CN" altLang="en-US" sz="2000" b="1" dirty="0"/>
              <a:t>与非门设计一个四变量表决电路。当变量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有三个或三个以上为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时，输出</a:t>
            </a:r>
            <a:r>
              <a:rPr lang="en-US" altLang="zh-CN" sz="2000" b="1" dirty="0"/>
              <a:t>Y=1</a:t>
            </a:r>
            <a:r>
              <a:rPr lang="zh-CN" altLang="en-US" sz="2000" b="1" dirty="0"/>
              <a:t>，输入为其它状态时，输出</a:t>
            </a:r>
            <a:r>
              <a:rPr lang="en-US" altLang="zh-CN" sz="2000" b="1" dirty="0"/>
              <a:t>Y=0</a:t>
            </a:r>
            <a:r>
              <a:rPr lang="zh-CN" altLang="en-US" sz="2000" b="1" dirty="0"/>
              <a:t>。</a:t>
            </a:r>
            <a:endParaRPr lang="zh-CN" altLang="en-US" sz="2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702" y="2784748"/>
            <a:ext cx="5348859" cy="177078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37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79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3" y="2836879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6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07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8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28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0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2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497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2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4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4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3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4" y="3076800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7" y="4297537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37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20434" y="440271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386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ISPRING_PRESENTATION_TITLE" val="PowerPoint 演示文稿3"/>
  <p:tag name="COMMONDATA" val="eyJoZGlkIjoiMDM5Zjk4NTdiZmFhODE1YWE0OTMwYzI1MDRiNWU2OTYifQ==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10100</Words>
  <Application>WPS 演示</Application>
  <PresentationFormat>全屏显示(4:3)</PresentationFormat>
  <Paragraphs>888</Paragraphs>
  <Slides>47</Slides>
  <Notes>47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47</vt:i4>
      </vt:variant>
    </vt:vector>
  </HeadingPairs>
  <TitlesOfParts>
    <vt:vector size="80" baseType="lpstr">
      <vt:lpstr>Arial</vt:lpstr>
      <vt:lpstr>宋体</vt:lpstr>
      <vt:lpstr>Wingdings</vt:lpstr>
      <vt:lpstr>华文行楷</vt:lpstr>
      <vt:lpstr>微软雅黑</vt:lpstr>
      <vt:lpstr>Times New Roman</vt:lpstr>
      <vt:lpstr>黑体</vt:lpstr>
      <vt:lpstr>&amp;quot</vt:lpstr>
      <vt:lpstr>Segoe Print</vt:lpstr>
      <vt:lpstr>Calibri</vt:lpstr>
      <vt:lpstr>MSTT3195ed4ebao262093S00</vt:lpstr>
      <vt:lpstr>Arial Unicode MS</vt:lpstr>
      <vt:lpstr>Times New Roman</vt:lpstr>
      <vt:lpstr>Verdana</vt:lpstr>
      <vt:lpstr>Tahoma</vt:lpstr>
      <vt:lpstr>Symbol</vt:lpstr>
      <vt:lpstr>楷体</vt:lpstr>
      <vt:lpstr>Cambria Math</vt:lpstr>
      <vt:lpstr>Cambria Math</vt:lpstr>
      <vt:lpstr>Calibri Light</vt:lpstr>
      <vt:lpstr>第一PPT，www.1ppt.com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1841</cp:revision>
  <dcterms:created xsi:type="dcterms:W3CDTF">2016-04-09T13:02:00Z</dcterms:created>
  <dcterms:modified xsi:type="dcterms:W3CDTF">2024-01-11T03:47:08Z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067C0B4DB3A7453F95EF4DE9765EF71B_12</vt:lpwstr>
  </property>
</Properties>
</file>