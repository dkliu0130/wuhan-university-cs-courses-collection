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s/slide67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74.xml" ContentType="application/vnd.openxmlformats-officedocument.presentationml.slide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Default Extension="gif" ContentType="image/gif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handoutMasters/handoutMaster1.xml" ContentType="application/vnd.openxmlformats-officedocument.presentationml.handoutMaster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3" r:id="rId1"/>
  </p:sldMasterIdLst>
  <p:notesMasterIdLst>
    <p:notesMasterId r:id="rId76"/>
  </p:notesMasterIdLst>
  <p:handoutMasterIdLst>
    <p:handoutMasterId r:id="rId77"/>
  </p:handoutMasterIdLst>
  <p:sldIdLst>
    <p:sldId id="670" r:id="rId2"/>
    <p:sldId id="650" r:id="rId3"/>
    <p:sldId id="546" r:id="rId4"/>
    <p:sldId id="758" r:id="rId5"/>
    <p:sldId id="652" r:id="rId6"/>
    <p:sldId id="653" r:id="rId7"/>
    <p:sldId id="654" r:id="rId8"/>
    <p:sldId id="655" r:id="rId9"/>
    <p:sldId id="651" r:id="rId10"/>
    <p:sldId id="759" r:id="rId11"/>
    <p:sldId id="693" r:id="rId12"/>
    <p:sldId id="692" r:id="rId13"/>
    <p:sldId id="769" r:id="rId14"/>
    <p:sldId id="658" r:id="rId15"/>
    <p:sldId id="694" r:id="rId16"/>
    <p:sldId id="770" r:id="rId17"/>
    <p:sldId id="696" r:id="rId18"/>
    <p:sldId id="771" r:id="rId19"/>
    <p:sldId id="697" r:id="rId20"/>
    <p:sldId id="699" r:id="rId21"/>
    <p:sldId id="700" r:id="rId22"/>
    <p:sldId id="772" r:id="rId23"/>
    <p:sldId id="773" r:id="rId24"/>
    <p:sldId id="705" r:id="rId25"/>
    <p:sldId id="706" r:id="rId26"/>
    <p:sldId id="715" r:id="rId27"/>
    <p:sldId id="716" r:id="rId28"/>
    <p:sldId id="723" r:id="rId29"/>
    <p:sldId id="717" r:id="rId30"/>
    <p:sldId id="718" r:id="rId31"/>
    <p:sldId id="776" r:id="rId32"/>
    <p:sldId id="719" r:id="rId33"/>
    <p:sldId id="720" r:id="rId34"/>
    <p:sldId id="721" r:id="rId35"/>
    <p:sldId id="777" r:id="rId36"/>
    <p:sldId id="778" r:id="rId37"/>
    <p:sldId id="779" r:id="rId38"/>
    <p:sldId id="780" r:id="rId39"/>
    <p:sldId id="781" r:id="rId40"/>
    <p:sldId id="782" r:id="rId41"/>
    <p:sldId id="783" r:id="rId42"/>
    <p:sldId id="784" r:id="rId43"/>
    <p:sldId id="785" r:id="rId44"/>
    <p:sldId id="788" r:id="rId45"/>
    <p:sldId id="791" r:id="rId46"/>
    <p:sldId id="789" r:id="rId47"/>
    <p:sldId id="669" r:id="rId48"/>
    <p:sldId id="575" r:id="rId49"/>
    <p:sldId id="576" r:id="rId50"/>
    <p:sldId id="767" r:id="rId51"/>
    <p:sldId id="577" r:id="rId52"/>
    <p:sldId id="599" r:id="rId53"/>
    <p:sldId id="752" r:id="rId54"/>
    <p:sldId id="742" r:id="rId55"/>
    <p:sldId id="747" r:id="rId56"/>
    <p:sldId id="748" r:id="rId57"/>
    <p:sldId id="749" r:id="rId58"/>
    <p:sldId id="578" r:id="rId59"/>
    <p:sldId id="753" r:id="rId60"/>
    <p:sldId id="741" r:id="rId61"/>
    <p:sldId id="750" r:id="rId62"/>
    <p:sldId id="792" r:id="rId63"/>
    <p:sldId id="768" r:id="rId64"/>
    <p:sldId id="678" r:id="rId65"/>
    <p:sldId id="582" r:id="rId66"/>
    <p:sldId id="583" r:id="rId67"/>
    <p:sldId id="584" r:id="rId68"/>
    <p:sldId id="603" r:id="rId69"/>
    <p:sldId id="585" r:id="rId70"/>
    <p:sldId id="754" r:id="rId71"/>
    <p:sldId id="755" r:id="rId72"/>
    <p:sldId id="793" r:id="rId73"/>
    <p:sldId id="757" r:id="rId74"/>
    <p:sldId id="604" r:id="rId75"/>
  </p:sldIdLst>
  <p:sldSz cx="9144000" cy="6858000" type="screen4x3"/>
  <p:notesSz cx="6858000" cy="9144000"/>
  <p:defaultTextStyle>
    <a:defPPr>
      <a:defRPr lang="zh-CN"/>
    </a:defPPr>
    <a:lvl1pPr algn="ctr" rtl="0" fontAlgn="base">
      <a:lnSpc>
        <a:spcPct val="80000"/>
      </a:lnSpc>
      <a:spcBef>
        <a:spcPct val="50000"/>
      </a:spcBef>
      <a:spcAft>
        <a:spcPct val="0"/>
      </a:spcAft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1pPr>
    <a:lvl2pPr marL="457200" algn="ctr" rtl="0" fontAlgn="base">
      <a:lnSpc>
        <a:spcPct val="80000"/>
      </a:lnSpc>
      <a:spcBef>
        <a:spcPct val="50000"/>
      </a:spcBef>
      <a:spcAft>
        <a:spcPct val="0"/>
      </a:spcAft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2pPr>
    <a:lvl3pPr marL="914400" algn="ctr" rtl="0" fontAlgn="base">
      <a:lnSpc>
        <a:spcPct val="80000"/>
      </a:lnSpc>
      <a:spcBef>
        <a:spcPct val="50000"/>
      </a:spcBef>
      <a:spcAft>
        <a:spcPct val="0"/>
      </a:spcAft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3pPr>
    <a:lvl4pPr marL="1371600" algn="ctr" rtl="0" fontAlgn="base">
      <a:lnSpc>
        <a:spcPct val="80000"/>
      </a:lnSpc>
      <a:spcBef>
        <a:spcPct val="50000"/>
      </a:spcBef>
      <a:spcAft>
        <a:spcPct val="0"/>
      </a:spcAft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4pPr>
    <a:lvl5pPr marL="1828800" algn="ctr" rtl="0" fontAlgn="base">
      <a:lnSpc>
        <a:spcPct val="80000"/>
      </a:lnSpc>
      <a:spcBef>
        <a:spcPct val="50000"/>
      </a:spcBef>
      <a:spcAft>
        <a:spcPct val="0"/>
      </a:spcAft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</p:showPr>
  <p:clrMru>
    <a:srgbClr val="006600"/>
    <a:srgbClr val="0000FF"/>
    <a:srgbClr val="FF00FF"/>
    <a:srgbClr val="FF3399"/>
    <a:srgbClr val="339933"/>
    <a:srgbClr val="009900"/>
    <a:srgbClr val="3333FF"/>
    <a:srgbClr val="6600CC"/>
    <a:srgbClr val="000000"/>
    <a:srgbClr val="0033CC"/>
  </p:clrMru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0" autoAdjust="0"/>
    <p:restoredTop sz="94581" autoAdjust="0"/>
  </p:normalViewPr>
  <p:slideViewPr>
    <p:cSldViewPr>
      <p:cViewPr varScale="1">
        <p:scale>
          <a:sx n="100" d="100"/>
          <a:sy n="100" d="100"/>
        </p:scale>
        <p:origin x="-498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3360" y="-108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348C81-2EE0-4ADC-AD51-9DC87E0EF387}" type="datetimeFigureOut">
              <a:rPr lang="zh-CN" altLang="en-US" smtClean="0"/>
              <a:pPr/>
              <a:t>2022/6/6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F0761C-5A44-4BA0-B4C5-00F13EA65E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150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15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150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2150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150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fld id="{0D1E2EF4-146E-47B5-A412-FFD548A1AB6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101066" y="6356350"/>
            <a:ext cx="900090" cy="365125"/>
          </a:xfrm>
        </p:spPr>
        <p:txBody>
          <a:bodyPr/>
          <a:lstStyle>
            <a:lvl1pPr>
              <a:defRPr sz="1400" b="0">
                <a:solidFill>
                  <a:srgbClr val="FF0000"/>
                </a:solidFill>
                <a:latin typeface="Consolas" pitchFamily="49" charset="0"/>
                <a:cs typeface="Consolas" pitchFamily="49" charset="0"/>
              </a:defRPr>
            </a:lvl1pPr>
          </a:lstStyle>
          <a:p>
            <a:fld id="{7AF016A1-9F15-429F-9EFD-84004B73C732}" type="slidenum">
              <a:rPr lang="en-US" altLang="zh-CN" smtClean="0"/>
              <a:pPr/>
              <a:t>‹#›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D3DD41-1E0E-46B0-ABE7-D5048A3DF73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2285984" y="714356"/>
            <a:ext cx="3643338" cy="756718"/>
          </a:xfrm>
          <a:prstGeom prst="rect">
            <a:avLst/>
          </a:prstGeom>
          <a:ln>
            <a:noFill/>
          </a:ln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tIns="216000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zh-CN" altLang="zh-CN" sz="320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方正启体简体" pitchFamily="65" charset="-122"/>
                <a:ea typeface="方正启体简体" pitchFamily="65" charset="-122"/>
              </a:rPr>
              <a:t>第</a:t>
            </a:r>
            <a:r>
              <a:rPr lang="en-US" altLang="zh-CN" sz="320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方正启体简体" pitchFamily="65" charset="-122"/>
                <a:ea typeface="方正启体简体" pitchFamily="65" charset="-122"/>
              </a:rPr>
              <a:t>3</a:t>
            </a:r>
            <a:r>
              <a:rPr lang="zh-CN" altLang="zh-CN" sz="320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方正启体简体" pitchFamily="65" charset="-122"/>
                <a:ea typeface="方正启体简体" pitchFamily="65" charset="-122"/>
              </a:rPr>
              <a:t>章 </a:t>
            </a:r>
            <a:r>
              <a:rPr lang="zh-CN" altLang="en-US" sz="320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方正启体简体" pitchFamily="65" charset="-122"/>
                <a:ea typeface="方正启体简体" pitchFamily="65" charset="-122"/>
              </a:rPr>
              <a:t>栈和队列</a:t>
            </a:r>
            <a:endParaRPr lang="zh-CN" altLang="en-US" sz="320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方正启体简体" pitchFamily="65" charset="-122"/>
              <a:ea typeface="方正启体简体" pitchFamily="65" charset="-122"/>
            </a:endParaRPr>
          </a:p>
        </p:txBody>
      </p:sp>
      <p:sp>
        <p:nvSpPr>
          <p:cNvPr id="12" name="TextBox 11">
            <a:hlinkClick r:id="rId2" action="ppaction://hlinksldjump"/>
          </p:cNvPr>
          <p:cNvSpPr txBox="1"/>
          <p:nvPr/>
        </p:nvSpPr>
        <p:spPr>
          <a:xfrm>
            <a:off x="3500430" y="2678040"/>
            <a:ext cx="3357586" cy="47838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tIns="36000" bIns="72000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pc="5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3.1  </a:t>
            </a:r>
            <a:r>
              <a:rPr lang="zh-CN" altLang="en-US" spc="5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栈</a:t>
            </a:r>
            <a:endParaRPr lang="zh-CN" altLang="en-US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14" name="TextBox 13">
            <a:hlinkClick r:id="" action="ppaction://noaction"/>
          </p:cNvPr>
          <p:cNvSpPr txBox="1"/>
          <p:nvPr/>
        </p:nvSpPr>
        <p:spPr>
          <a:xfrm>
            <a:off x="3500430" y="3535296"/>
            <a:ext cx="3357586" cy="51473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tIns="72000" bIns="72000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pc="5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3.2  </a:t>
            </a:r>
            <a:r>
              <a:rPr lang="zh-CN" altLang="en-US" spc="5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队 列</a:t>
            </a:r>
            <a:endParaRPr lang="zh-CN" altLang="en-US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grpSp>
        <p:nvGrpSpPr>
          <p:cNvPr id="18" name="组合 79"/>
          <p:cNvGrpSpPr>
            <a:grpSpLocks/>
          </p:cNvGrpSpPr>
          <p:nvPr/>
        </p:nvGrpSpPr>
        <p:grpSpPr bwMode="auto">
          <a:xfrm>
            <a:off x="840364" y="2214554"/>
            <a:ext cx="2160000" cy="2177998"/>
            <a:chOff x="6379728" y="2488774"/>
            <a:chExt cx="2513016" cy="2533955"/>
          </a:xfrm>
        </p:grpSpPr>
        <p:sp>
          <p:nvSpPr>
            <p:cNvPr id="19" name="任意多边形 82"/>
            <p:cNvSpPr/>
            <p:nvPr/>
          </p:nvSpPr>
          <p:spPr>
            <a:xfrm rot="3738964">
              <a:off x="6379728" y="2488774"/>
              <a:ext cx="2513016" cy="2513016"/>
            </a:xfrm>
            <a:custGeom>
              <a:avLst/>
              <a:gdLst>
                <a:gd name="connsiteX0" fmla="*/ 0 w 1800200"/>
                <a:gd name="connsiteY0" fmla="*/ 900100 h 1800200"/>
                <a:gd name="connsiteX1" fmla="*/ 263634 w 1800200"/>
                <a:gd name="connsiteY1" fmla="*/ 263633 h 1800200"/>
                <a:gd name="connsiteX2" fmla="*/ 900101 w 1800200"/>
                <a:gd name="connsiteY2" fmla="*/ 1 h 1800200"/>
                <a:gd name="connsiteX3" fmla="*/ 1536568 w 1800200"/>
                <a:gd name="connsiteY3" fmla="*/ 263635 h 1800200"/>
                <a:gd name="connsiteX4" fmla="*/ 1800200 w 1800200"/>
                <a:gd name="connsiteY4" fmla="*/ 900102 h 1800200"/>
                <a:gd name="connsiteX5" fmla="*/ 1536567 w 1800200"/>
                <a:gd name="connsiteY5" fmla="*/ 1536569 h 1800200"/>
                <a:gd name="connsiteX6" fmla="*/ 900100 w 1800200"/>
                <a:gd name="connsiteY6" fmla="*/ 1800202 h 1800200"/>
                <a:gd name="connsiteX7" fmla="*/ 263633 w 1800200"/>
                <a:gd name="connsiteY7" fmla="*/ 1536568 h 1800200"/>
                <a:gd name="connsiteX8" fmla="*/ 0 w 1800200"/>
                <a:gd name="connsiteY8" fmla="*/ 900101 h 1800200"/>
                <a:gd name="connsiteX9" fmla="*/ 0 w 1800200"/>
                <a:gd name="connsiteY9" fmla="*/ 900100 h 180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00200" h="1800200">
                  <a:moveTo>
                    <a:pt x="0" y="900100"/>
                  </a:moveTo>
                  <a:cubicBezTo>
                    <a:pt x="0" y="661379"/>
                    <a:pt x="94832" y="432435"/>
                    <a:pt x="263634" y="263633"/>
                  </a:cubicBezTo>
                  <a:cubicBezTo>
                    <a:pt x="432436" y="94832"/>
                    <a:pt x="661380" y="0"/>
                    <a:pt x="900101" y="1"/>
                  </a:cubicBezTo>
                  <a:cubicBezTo>
                    <a:pt x="1138822" y="1"/>
                    <a:pt x="1367766" y="94833"/>
                    <a:pt x="1536568" y="263635"/>
                  </a:cubicBezTo>
                  <a:cubicBezTo>
                    <a:pt x="1705369" y="432437"/>
                    <a:pt x="1800201" y="661381"/>
                    <a:pt x="1800200" y="900102"/>
                  </a:cubicBezTo>
                  <a:cubicBezTo>
                    <a:pt x="1800200" y="1138823"/>
                    <a:pt x="1705368" y="1367767"/>
                    <a:pt x="1536567" y="1536569"/>
                  </a:cubicBezTo>
                  <a:cubicBezTo>
                    <a:pt x="1367765" y="1705371"/>
                    <a:pt x="1138821" y="1800202"/>
                    <a:pt x="900100" y="1800202"/>
                  </a:cubicBezTo>
                  <a:cubicBezTo>
                    <a:pt x="661379" y="1800202"/>
                    <a:pt x="432435" y="1705370"/>
                    <a:pt x="263633" y="1536568"/>
                  </a:cubicBezTo>
                  <a:cubicBezTo>
                    <a:pt x="94832" y="1367766"/>
                    <a:pt x="0" y="1138822"/>
                    <a:pt x="0" y="900101"/>
                  </a:cubicBezTo>
                  <a:lnTo>
                    <a:pt x="0" y="900100"/>
                  </a:lnTo>
                  <a:close/>
                </a:path>
              </a:pathLst>
            </a:custGeom>
            <a:gradFill flip="none" rotWithShape="1">
              <a:gsLst>
                <a:gs pos="17000">
                  <a:srgbClr val="FFFFFF"/>
                </a:gs>
                <a:gs pos="88000">
                  <a:srgbClr val="FFFFFF">
                    <a:lumMod val="72000"/>
                  </a:srgbClr>
                </a:gs>
              </a:gsLst>
              <a:lin ang="270000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127000" dist="63500" dir="7380000" sx="102000" sy="102000" algn="tr" rotWithShape="0">
                <a:prstClr val="black">
                  <a:alpha val="39000"/>
                </a:prstClr>
              </a:outerShdw>
            </a:effectLst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 kern="0">
                <a:solidFill>
                  <a:srgbClr val="FFFFFF"/>
                </a:solidFill>
                <a:latin typeface="Arial"/>
                <a:ea typeface="宋体"/>
              </a:endParaRPr>
            </a:p>
          </p:txBody>
        </p:sp>
        <p:sp>
          <p:nvSpPr>
            <p:cNvPr id="20" name="任意多边形 83"/>
            <p:cNvSpPr/>
            <p:nvPr/>
          </p:nvSpPr>
          <p:spPr>
            <a:xfrm rot="16377237">
              <a:off x="6409519" y="2545928"/>
              <a:ext cx="2476803" cy="2476799"/>
            </a:xfrm>
            <a:custGeom>
              <a:avLst/>
              <a:gdLst>
                <a:gd name="connsiteX0" fmla="*/ 0 w 1800200"/>
                <a:gd name="connsiteY0" fmla="*/ 900100 h 1800200"/>
                <a:gd name="connsiteX1" fmla="*/ 263634 w 1800200"/>
                <a:gd name="connsiteY1" fmla="*/ 263633 h 1800200"/>
                <a:gd name="connsiteX2" fmla="*/ 900101 w 1800200"/>
                <a:gd name="connsiteY2" fmla="*/ 1 h 1800200"/>
                <a:gd name="connsiteX3" fmla="*/ 1536568 w 1800200"/>
                <a:gd name="connsiteY3" fmla="*/ 263635 h 1800200"/>
                <a:gd name="connsiteX4" fmla="*/ 1800200 w 1800200"/>
                <a:gd name="connsiteY4" fmla="*/ 900102 h 1800200"/>
                <a:gd name="connsiteX5" fmla="*/ 1536567 w 1800200"/>
                <a:gd name="connsiteY5" fmla="*/ 1536569 h 1800200"/>
                <a:gd name="connsiteX6" fmla="*/ 900100 w 1800200"/>
                <a:gd name="connsiteY6" fmla="*/ 1800202 h 1800200"/>
                <a:gd name="connsiteX7" fmla="*/ 263633 w 1800200"/>
                <a:gd name="connsiteY7" fmla="*/ 1536568 h 1800200"/>
                <a:gd name="connsiteX8" fmla="*/ 0 w 1800200"/>
                <a:gd name="connsiteY8" fmla="*/ 900101 h 1800200"/>
                <a:gd name="connsiteX9" fmla="*/ 0 w 1800200"/>
                <a:gd name="connsiteY9" fmla="*/ 900100 h 180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00200" h="1800200">
                  <a:moveTo>
                    <a:pt x="0" y="900100"/>
                  </a:moveTo>
                  <a:cubicBezTo>
                    <a:pt x="0" y="661379"/>
                    <a:pt x="94832" y="432435"/>
                    <a:pt x="263634" y="263633"/>
                  </a:cubicBezTo>
                  <a:cubicBezTo>
                    <a:pt x="432436" y="94832"/>
                    <a:pt x="661380" y="0"/>
                    <a:pt x="900101" y="1"/>
                  </a:cubicBezTo>
                  <a:cubicBezTo>
                    <a:pt x="1138822" y="1"/>
                    <a:pt x="1367766" y="94833"/>
                    <a:pt x="1536568" y="263635"/>
                  </a:cubicBezTo>
                  <a:cubicBezTo>
                    <a:pt x="1705369" y="432437"/>
                    <a:pt x="1800201" y="661381"/>
                    <a:pt x="1800200" y="900102"/>
                  </a:cubicBezTo>
                  <a:cubicBezTo>
                    <a:pt x="1800200" y="1138823"/>
                    <a:pt x="1705368" y="1367767"/>
                    <a:pt x="1536567" y="1536569"/>
                  </a:cubicBezTo>
                  <a:cubicBezTo>
                    <a:pt x="1367765" y="1705371"/>
                    <a:pt x="1138821" y="1800202"/>
                    <a:pt x="900100" y="1800202"/>
                  </a:cubicBezTo>
                  <a:cubicBezTo>
                    <a:pt x="661379" y="1800202"/>
                    <a:pt x="432435" y="1705370"/>
                    <a:pt x="263633" y="1536568"/>
                  </a:cubicBezTo>
                  <a:cubicBezTo>
                    <a:pt x="94832" y="1367766"/>
                    <a:pt x="0" y="1138822"/>
                    <a:pt x="0" y="900101"/>
                  </a:cubicBezTo>
                  <a:lnTo>
                    <a:pt x="0" y="900100"/>
                  </a:lnTo>
                  <a:close/>
                </a:path>
              </a:pathLst>
            </a:custGeom>
            <a:gradFill flip="none" rotWithShape="1">
              <a:gsLst>
                <a:gs pos="29000">
                  <a:srgbClr val="FFFFFF"/>
                </a:gs>
                <a:gs pos="98000">
                  <a:srgbClr val="FFFFFF">
                    <a:lumMod val="75000"/>
                  </a:srgbClr>
                </a:gs>
              </a:gsLst>
              <a:lin ang="2700000" scaled="1"/>
              <a:tileRect/>
            </a:gradFill>
            <a:ln w="25400" cap="flat" cmpd="sng" algn="ctr">
              <a:noFill/>
              <a:prstDash val="solid"/>
            </a:ln>
            <a:effectLst>
              <a:softEdge rad="0"/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kern="0" smtClean="0">
                <a:solidFill>
                  <a:srgbClr val="FFFFFF"/>
                </a:solidFill>
              </a:endParaRPr>
            </a:p>
          </p:txBody>
        </p:sp>
      </p:grpSp>
      <p:sp>
        <p:nvSpPr>
          <p:cNvPr id="21" name="文本框 20"/>
          <p:cNvSpPr txBox="1">
            <a:spLocks noChangeArrowheads="1"/>
          </p:cNvSpPr>
          <p:nvPr/>
        </p:nvSpPr>
        <p:spPr bwMode="auto">
          <a:xfrm>
            <a:off x="1091886" y="3324331"/>
            <a:ext cx="167871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</a:pPr>
            <a:r>
              <a:rPr lang="en-US" altLang="zh-CN" sz="2000" b="1" dirty="0">
                <a:solidFill>
                  <a:srgbClr val="9900FF"/>
                </a:solidFill>
              </a:rPr>
              <a:t>CONTENTS</a:t>
            </a:r>
            <a:endParaRPr lang="zh-CN" altLang="en-US" sz="2000" b="1" dirty="0">
              <a:solidFill>
                <a:srgbClr val="9900FF"/>
              </a:solidFill>
            </a:endParaRPr>
          </a:p>
        </p:txBody>
      </p:sp>
      <p:sp>
        <p:nvSpPr>
          <p:cNvPr id="22" name="文本框 20"/>
          <p:cNvSpPr txBox="1">
            <a:spLocks noChangeArrowheads="1"/>
          </p:cNvSpPr>
          <p:nvPr/>
        </p:nvSpPr>
        <p:spPr bwMode="auto">
          <a:xfrm>
            <a:off x="1235902" y="2644321"/>
            <a:ext cx="141222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</a:pPr>
            <a:r>
              <a:rPr lang="zh-CN" altLang="en-US" sz="3200" b="1" dirty="0" smtClean="0">
                <a:solidFill>
                  <a:srgbClr val="008000"/>
                </a:solidFill>
              </a:rPr>
              <a:t>提纲</a:t>
            </a:r>
            <a:endParaRPr lang="zh-CN" altLang="en-US" sz="3200" b="1" dirty="0">
              <a:solidFill>
                <a:srgbClr val="008000"/>
              </a:solidFill>
            </a:endParaRPr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圆角矩形 23"/>
          <p:cNvSpPr/>
          <p:nvPr/>
        </p:nvSpPr>
        <p:spPr>
          <a:xfrm rot="2400000">
            <a:off x="2119628" y="4512359"/>
            <a:ext cx="1512000" cy="72000"/>
          </a:xfrm>
          <a:prstGeom prst="roundRect">
            <a:avLst>
              <a:gd name="adj" fmla="val 50000"/>
            </a:avLst>
          </a:prstGeom>
          <a:solidFill>
            <a:srgbClr val="1848C0"/>
          </a:solidFill>
          <a:ln w="25400">
            <a:noFill/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defRPr/>
            </a:pPr>
            <a:endParaRPr lang="zh-CN" altLang="en-US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圆角矩形 4"/>
          <p:cNvSpPr/>
          <p:nvPr/>
        </p:nvSpPr>
        <p:spPr>
          <a:xfrm rot="19500000">
            <a:off x="2226231" y="3079542"/>
            <a:ext cx="1332000" cy="72000"/>
          </a:xfrm>
          <a:prstGeom prst="roundRect">
            <a:avLst>
              <a:gd name="adj" fmla="val 50000"/>
            </a:avLst>
          </a:prstGeom>
          <a:solidFill>
            <a:srgbClr val="1848C0"/>
          </a:solidFill>
          <a:ln w="25400">
            <a:noFill/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defRPr/>
            </a:pPr>
            <a:endParaRPr lang="zh-CN" altLang="en-US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2296026" y="3482234"/>
            <a:ext cx="1224000" cy="72000"/>
          </a:xfrm>
          <a:prstGeom prst="roundRect">
            <a:avLst>
              <a:gd name="adj" fmla="val 50000"/>
            </a:avLst>
          </a:prstGeom>
          <a:solidFill>
            <a:srgbClr val="1848C0"/>
          </a:solidFill>
          <a:ln w="25400">
            <a:noFill/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defRPr/>
            </a:pPr>
            <a:endParaRPr lang="zh-CN" altLang="en-US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 rot="18900000">
            <a:off x="1797436" y="2551104"/>
            <a:ext cx="1944000" cy="72000"/>
          </a:xfrm>
          <a:prstGeom prst="roundRect">
            <a:avLst>
              <a:gd name="adj" fmla="val 50000"/>
            </a:avLst>
          </a:prstGeom>
          <a:solidFill>
            <a:srgbClr val="1848C0"/>
          </a:solidFill>
          <a:ln w="25400">
            <a:noFill/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defRPr/>
            </a:pPr>
            <a:endParaRPr lang="zh-CN" altLang="en-US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圆角矩形 7"/>
          <p:cNvSpPr/>
          <p:nvPr/>
        </p:nvSpPr>
        <p:spPr>
          <a:xfrm rot="1800000">
            <a:off x="2475780" y="3992788"/>
            <a:ext cx="1080000" cy="72000"/>
          </a:xfrm>
          <a:prstGeom prst="roundRect">
            <a:avLst>
              <a:gd name="adj" fmla="val 50000"/>
            </a:avLst>
          </a:prstGeom>
          <a:solidFill>
            <a:srgbClr val="1848C0"/>
          </a:solidFill>
          <a:ln w="25400">
            <a:noFill/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defRPr/>
            </a:pPr>
            <a:endParaRPr lang="zh-CN" altLang="en-US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56"/>
          <p:cNvGrpSpPr/>
          <p:nvPr/>
        </p:nvGrpSpPr>
        <p:grpSpPr bwMode="auto">
          <a:xfrm>
            <a:off x="929666" y="2836594"/>
            <a:ext cx="1812169" cy="1398588"/>
            <a:chOff x="3352122" y="2836689"/>
            <a:chExt cx="2245771" cy="2245772"/>
          </a:xfrm>
          <a:solidFill>
            <a:srgbClr val="0BA5BF"/>
          </a:solidFill>
        </p:grpSpPr>
        <p:sp>
          <p:nvSpPr>
            <p:cNvPr id="10" name="Oval 2"/>
            <p:cNvSpPr>
              <a:spLocks noChangeAspect="1" noChangeArrowheads="1"/>
            </p:cNvSpPr>
            <p:nvPr/>
          </p:nvSpPr>
          <p:spPr bwMode="auto">
            <a:xfrm>
              <a:off x="3352122" y="2836689"/>
              <a:ext cx="2245771" cy="2245772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rgbClr val="1848C0"/>
              </a:solidFill>
            </a:ln>
            <a:effectLst>
              <a:outerShdw blurRad="152400" dist="317500" dir="5400000" sx="90000" sy="-19000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ctr" hangingPunct="0"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70000"/>
                <a:defRPr/>
              </a:pPr>
              <a:endParaRPr lang="fr-FR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Text Box 29"/>
            <p:cNvSpPr txBox="1">
              <a:spLocks noChangeArrowheads="1"/>
            </p:cNvSpPr>
            <p:nvPr/>
          </p:nvSpPr>
          <p:spPr bwMode="gray">
            <a:xfrm>
              <a:off x="3882063" y="3058839"/>
              <a:ext cx="1150906" cy="179562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anchor="ctr">
              <a:spAutoFit/>
            </a:bodyPr>
            <a:lstStyle/>
            <a:p>
              <a:pPr fontAlgn="auto">
                <a:lnSpc>
                  <a:spcPts val="4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smtClean="0">
                  <a:solidFill>
                    <a:srgbClr val="FF0000"/>
                  </a:solidFill>
                  <a:latin typeface="Consolas" pitchFamily="49" charset="0"/>
                  <a:ea typeface="微软雅黑" pitchFamily="34" charset="-122"/>
                  <a:cs typeface="Consolas" pitchFamily="49" charset="0"/>
                </a:rPr>
                <a:t>3.1</a:t>
              </a:r>
            </a:p>
            <a:p>
              <a:pPr fontAlgn="auto">
                <a:lnSpc>
                  <a:spcPts val="4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zh-CN" sz="3200" smtClean="0">
                  <a:solidFill>
                    <a:srgbClr val="FF0000"/>
                  </a:solidFill>
                  <a:latin typeface="Consolas" pitchFamily="49" charset="0"/>
                  <a:ea typeface="微软雅黑" pitchFamily="34" charset="-122"/>
                  <a:cs typeface="Consolas" pitchFamily="49" charset="0"/>
                </a:rPr>
                <a:t>栈</a:t>
              </a:r>
              <a:endParaRPr kumimoji="1" lang="zh-CN" altLang="en-US" sz="3200" dirty="0">
                <a:solidFill>
                  <a:srgbClr val="FF0000"/>
                </a:solidFill>
                <a:effectLst>
                  <a:reflection blurRad="6350" stA="50000" endA="300" endPos="50000" dist="29997" dir="5400000" sy="-100000" algn="bl" rotWithShape="0"/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endParaRPr>
            </a:p>
          </p:txBody>
        </p:sp>
      </p:grpSp>
      <p:sp>
        <p:nvSpPr>
          <p:cNvPr id="12" name="圆角矩形 11"/>
          <p:cNvSpPr/>
          <p:nvPr/>
        </p:nvSpPr>
        <p:spPr bwMode="auto">
          <a:xfrm>
            <a:off x="3514501" y="3237368"/>
            <a:ext cx="3686405" cy="539690"/>
          </a:xfrm>
          <a:prstGeom prst="roundRect">
            <a:avLst>
              <a:gd name="adj" fmla="val 7848"/>
            </a:avLst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1848C0"/>
            </a:solidFill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marL="0" lvl="2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tabLst>
                <a:tab pos="136525" algn="l"/>
              </a:tabLst>
              <a:defRPr/>
            </a:pP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87"/>
          <p:cNvSpPr>
            <a:spLocks noChangeArrowheads="1"/>
          </p:cNvSpPr>
          <p:nvPr/>
        </p:nvSpPr>
        <p:spPr bwMode="auto">
          <a:xfrm>
            <a:off x="3863993" y="3324690"/>
            <a:ext cx="3208337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链     栈</a:t>
            </a:r>
            <a:endParaRPr lang="zh-CN" altLang="en-US" sz="200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14" name="圆角矩形 13"/>
          <p:cNvSpPr/>
          <p:nvPr/>
        </p:nvSpPr>
        <p:spPr bwMode="auto">
          <a:xfrm>
            <a:off x="3514501" y="4828643"/>
            <a:ext cx="3686405" cy="529183"/>
          </a:xfrm>
          <a:prstGeom prst="roundRect">
            <a:avLst>
              <a:gd name="adj" fmla="val 7848"/>
            </a:avLst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1848C0"/>
            </a:solidFill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marL="0" lvl="2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tabLst>
                <a:tab pos="136525" algn="l"/>
              </a:tabLst>
              <a:defRPr/>
            </a:pP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87"/>
          <p:cNvSpPr>
            <a:spLocks noChangeArrowheads="1"/>
          </p:cNvSpPr>
          <p:nvPr/>
        </p:nvSpPr>
        <p:spPr bwMode="auto">
          <a:xfrm>
            <a:off x="3689202" y="4881038"/>
            <a:ext cx="3362325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栈的综合应用</a:t>
            </a:r>
            <a:endParaRPr lang="zh-CN" altLang="en-US" sz="200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16" name="圆角矩形 15"/>
          <p:cNvSpPr/>
          <p:nvPr/>
        </p:nvSpPr>
        <p:spPr bwMode="auto">
          <a:xfrm>
            <a:off x="3514500" y="2388493"/>
            <a:ext cx="3686405" cy="562147"/>
          </a:xfrm>
          <a:prstGeom prst="roundRect">
            <a:avLst>
              <a:gd name="adj" fmla="val 7848"/>
            </a:avLst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1848C0"/>
            </a:solidFill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marL="0" lvl="2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tabLst>
                <a:tab pos="136525" algn="l"/>
              </a:tabLst>
              <a:defRPr/>
            </a:pP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87"/>
          <p:cNvSpPr>
            <a:spLocks noChangeArrowheads="1"/>
          </p:cNvSpPr>
          <p:nvPr/>
        </p:nvSpPr>
        <p:spPr bwMode="auto">
          <a:xfrm>
            <a:off x="3863993" y="2460404"/>
            <a:ext cx="3148012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顺 序 栈</a:t>
            </a:r>
            <a:endParaRPr lang="zh-CN" altLang="en-US" sz="200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18" name="AutoShape 3"/>
          <p:cNvSpPr>
            <a:spLocks noChangeAspect="1" noChangeArrowheads="1"/>
          </p:cNvSpPr>
          <p:nvPr/>
        </p:nvSpPr>
        <p:spPr bwMode="auto">
          <a:xfrm>
            <a:off x="3344258" y="2552655"/>
            <a:ext cx="324000" cy="324000"/>
          </a:xfrm>
          <a:prstGeom prst="ellipse">
            <a:avLst/>
          </a:prstGeom>
          <a:solidFill>
            <a:srgbClr val="1848C0"/>
          </a:solidFill>
          <a:ln w="25400">
            <a:noFill/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defRPr/>
            </a:pPr>
            <a:endParaRPr lang="zh-CN" altLang="zh-CN" sz="1600" b="1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AutoShape 3"/>
          <p:cNvSpPr>
            <a:spLocks noChangeAspect="1" noChangeArrowheads="1"/>
          </p:cNvSpPr>
          <p:nvPr/>
        </p:nvSpPr>
        <p:spPr bwMode="auto">
          <a:xfrm>
            <a:off x="3344258" y="3332944"/>
            <a:ext cx="324000" cy="324000"/>
          </a:xfrm>
          <a:prstGeom prst="ellipse">
            <a:avLst/>
          </a:prstGeom>
          <a:solidFill>
            <a:srgbClr val="1848C0"/>
          </a:solidFill>
          <a:ln w="25400">
            <a:noFill/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defRPr/>
            </a:pPr>
            <a:endParaRPr lang="zh-CN" altLang="zh-CN" sz="1600" b="1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圆角矩形 19"/>
          <p:cNvSpPr/>
          <p:nvPr/>
        </p:nvSpPr>
        <p:spPr bwMode="auto">
          <a:xfrm>
            <a:off x="3514501" y="1569760"/>
            <a:ext cx="3686405" cy="544194"/>
          </a:xfrm>
          <a:prstGeom prst="roundRect">
            <a:avLst>
              <a:gd name="adj" fmla="val 7848"/>
            </a:avLst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1848C0"/>
            </a:solidFill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marL="0" lvl="2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tabLst>
                <a:tab pos="136525" algn="l"/>
              </a:tabLst>
              <a:defRPr/>
            </a:pP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87"/>
          <p:cNvSpPr>
            <a:spLocks noChangeArrowheads="1"/>
          </p:cNvSpPr>
          <p:nvPr/>
        </p:nvSpPr>
        <p:spPr bwMode="auto">
          <a:xfrm>
            <a:off x="3707836" y="1660043"/>
            <a:ext cx="3421062" cy="338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0" fontAlgn="ctr" hangingPunct="0">
              <a:buClr>
                <a:srgbClr val="FF0000"/>
              </a:buClr>
              <a:buSzPct val="70000"/>
            </a:pP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栈</a:t>
            </a:r>
            <a:r>
              <a:rPr lang="zh-CN" altLang="en-US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的定义</a:t>
            </a:r>
            <a:endParaRPr lang="zh-CN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AutoShape 3"/>
          <p:cNvSpPr>
            <a:spLocks noChangeAspect="1" noChangeArrowheads="1"/>
          </p:cNvSpPr>
          <p:nvPr/>
        </p:nvSpPr>
        <p:spPr bwMode="auto">
          <a:xfrm>
            <a:off x="3344258" y="1694126"/>
            <a:ext cx="324000" cy="324000"/>
          </a:xfrm>
          <a:prstGeom prst="ellipse">
            <a:avLst/>
          </a:prstGeom>
          <a:solidFill>
            <a:srgbClr val="1848C0"/>
          </a:solidFill>
          <a:ln w="25400">
            <a:noFill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defRPr/>
            </a:pPr>
            <a:endParaRPr lang="zh-CN" altLang="zh-CN" sz="1600" b="1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AutoShape 3"/>
          <p:cNvSpPr>
            <a:spLocks noChangeAspect="1" noChangeArrowheads="1"/>
          </p:cNvSpPr>
          <p:nvPr/>
        </p:nvSpPr>
        <p:spPr bwMode="auto">
          <a:xfrm>
            <a:off x="3344258" y="4928382"/>
            <a:ext cx="324000" cy="324000"/>
          </a:xfrm>
          <a:prstGeom prst="ellipse">
            <a:avLst/>
          </a:prstGeom>
          <a:solidFill>
            <a:srgbClr val="1848C0"/>
          </a:solidFill>
          <a:ln w="25400">
            <a:noFill/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defRPr/>
            </a:pPr>
            <a:endParaRPr lang="zh-CN" altLang="zh-CN" sz="1600" b="1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圆角矩形 27"/>
          <p:cNvSpPr/>
          <p:nvPr/>
        </p:nvSpPr>
        <p:spPr bwMode="auto">
          <a:xfrm>
            <a:off x="3528801" y="4041301"/>
            <a:ext cx="3686405" cy="539690"/>
          </a:xfrm>
          <a:prstGeom prst="roundRect">
            <a:avLst>
              <a:gd name="adj" fmla="val 7848"/>
            </a:avLst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1848C0"/>
            </a:solidFill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marL="0" lvl="2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tabLst>
                <a:tab pos="136525" algn="l"/>
              </a:tabLst>
              <a:defRPr/>
            </a:pP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87"/>
          <p:cNvSpPr>
            <a:spLocks noChangeArrowheads="1"/>
          </p:cNvSpPr>
          <p:nvPr/>
        </p:nvSpPr>
        <p:spPr bwMode="auto">
          <a:xfrm>
            <a:off x="3770177" y="4106013"/>
            <a:ext cx="3208337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STL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中的栈容器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stack</a:t>
            </a:r>
            <a:endParaRPr lang="zh-CN" altLang="en-US" sz="200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30" name="AutoShape 3"/>
          <p:cNvSpPr>
            <a:spLocks noChangeAspect="1" noChangeArrowheads="1"/>
          </p:cNvSpPr>
          <p:nvPr/>
        </p:nvSpPr>
        <p:spPr bwMode="auto">
          <a:xfrm>
            <a:off x="3358558" y="4136877"/>
            <a:ext cx="324000" cy="324000"/>
          </a:xfrm>
          <a:prstGeom prst="ellipse">
            <a:avLst/>
          </a:prstGeom>
          <a:solidFill>
            <a:srgbClr val="1848C0"/>
          </a:solidFill>
          <a:ln w="25400">
            <a:noFill/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defRPr/>
            </a:pPr>
            <a:endParaRPr lang="zh-CN" altLang="zh-CN" sz="1600" b="1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灯片编号占位符 3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/>
          <p:cNvSpPr txBox="1"/>
          <p:nvPr/>
        </p:nvSpPr>
        <p:spPr>
          <a:xfrm>
            <a:off x="785786" y="1500174"/>
            <a:ext cx="7572428" cy="2425389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tIns="72000" bIns="72000" rtlCol="0">
            <a:spAutoFit/>
          </a:bodyPr>
          <a:lstStyle/>
          <a:p>
            <a:pPr marL="457200" indent="-457200" algn="l">
              <a:lnSpc>
                <a:spcPts val="28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</a:t>
            </a:r>
            <a:r>
              <a:rPr lang="zh-CN" altLang="zh-CN" sz="2000" smtClean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</a:t>
            </a:r>
            <a:r>
              <a:rPr lang="en-US" altLang="zh-CN" sz="2000" smtClean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stack</a:t>
            </a:r>
            <a:r>
              <a:rPr lang="zh-CN" altLang="zh-CN" sz="2000" smtClean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）是一种只能在</a:t>
            </a:r>
            <a:r>
              <a:rPr lang="zh-CN" altLang="en-US" sz="2000" smtClean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同</a:t>
            </a:r>
            <a:r>
              <a:rPr lang="zh-CN" altLang="zh-CN" sz="2000" smtClean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一端进行插入或删除操作的线性表。</a:t>
            </a:r>
            <a:endParaRPr lang="en-US" altLang="zh-CN" sz="2000" smtClean="0">
              <a:solidFill>
                <a:srgbClr val="3333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457200" indent="-457200" algn="l">
              <a:lnSpc>
                <a:spcPts val="28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表中允许进行插入、删除操作的一端称为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栈顶</a:t>
            </a:r>
            <a:r>
              <a:rPr lang="zh-CN" altLang="zh-CN" sz="2000" smtClean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</a:t>
            </a:r>
            <a:r>
              <a:rPr lang="en-US" altLang="zh-CN" sz="2000" smtClean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top</a:t>
            </a:r>
            <a:r>
              <a:rPr lang="zh-CN" altLang="zh-CN" sz="2000" smtClean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），表的另一端称为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栈底</a:t>
            </a:r>
            <a:r>
              <a:rPr lang="zh-CN" altLang="zh-CN" sz="2000" smtClean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</a:t>
            </a:r>
            <a:r>
              <a:rPr lang="en-US" altLang="zh-CN" sz="2000" smtClean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bottom</a:t>
            </a:r>
            <a:r>
              <a:rPr lang="zh-CN" altLang="zh-CN" sz="2000" smtClean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）。</a:t>
            </a:r>
            <a:endParaRPr lang="en-US" altLang="zh-CN" sz="2000" smtClean="0">
              <a:solidFill>
                <a:srgbClr val="3333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457200" indent="-457200" algn="l">
              <a:lnSpc>
                <a:spcPts val="28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栈的插入操作通常称为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进栈</a:t>
            </a:r>
            <a:r>
              <a:rPr lang="zh-CN" altLang="zh-CN" sz="2000" smtClean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或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入栈</a:t>
            </a:r>
            <a:r>
              <a:rPr lang="zh-CN" altLang="zh-CN" sz="2000" smtClean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</a:t>
            </a:r>
            <a:r>
              <a:rPr lang="en-US" altLang="zh-CN" sz="2000" smtClean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push</a:t>
            </a:r>
            <a:r>
              <a:rPr lang="zh-CN" altLang="zh-CN" sz="2000" smtClean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），栈的删除操作通常称为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退栈</a:t>
            </a:r>
            <a:r>
              <a:rPr lang="zh-CN" altLang="zh-CN" sz="2000" smtClean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或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出栈</a:t>
            </a:r>
            <a:r>
              <a:rPr lang="zh-CN" altLang="zh-CN" sz="2000" smtClean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</a:t>
            </a:r>
            <a:r>
              <a:rPr lang="en-US" altLang="zh-CN" sz="2000" smtClean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pop</a:t>
            </a:r>
            <a:r>
              <a:rPr lang="zh-CN" altLang="zh-CN" sz="2000" smtClean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）。</a:t>
            </a:r>
            <a:endParaRPr lang="zh-CN" altLang="en-US" sz="2000" smtClean="0">
              <a:solidFill>
                <a:srgbClr val="3333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2176446" y="4070359"/>
            <a:ext cx="4181504" cy="1726654"/>
            <a:chOff x="2176446" y="4714884"/>
            <a:chExt cx="4181504" cy="1726654"/>
          </a:xfrm>
        </p:grpSpPr>
        <p:sp>
          <p:nvSpPr>
            <p:cNvPr id="46" name="矩形 45"/>
            <p:cNvSpPr/>
            <p:nvPr/>
          </p:nvSpPr>
          <p:spPr bwMode="auto">
            <a:xfrm>
              <a:off x="2214546" y="5072074"/>
              <a:ext cx="2928958" cy="571504"/>
            </a:xfrm>
            <a:prstGeom prst="rect">
              <a:avLst/>
            </a:prstGeom>
            <a:ln>
              <a:headEnd/>
              <a:tailEnd type="arrow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216000" tIns="10800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>
                <a:lnSpc>
                  <a:spcPct val="100000"/>
                </a:lnSpc>
              </a:pPr>
              <a:r>
                <a:rPr lang="en-US" altLang="zh-CN" sz="1800" i="1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1800" baseline="-25000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0</a:t>
              </a:r>
              <a:r>
                <a:rPr lang="en-US" altLang="zh-CN" sz="1800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   </a:t>
              </a:r>
              <a:r>
                <a:rPr lang="en-US" altLang="zh-CN" sz="1800" i="1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1800" baseline="-25000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1</a:t>
              </a:r>
              <a:r>
                <a:rPr lang="en-US" altLang="zh-CN" sz="1800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   </a:t>
              </a:r>
              <a:r>
                <a:rPr lang="en-US" altLang="zh-CN" sz="1800" smtClean="0">
                  <a:solidFill>
                    <a:srgbClr val="0000FF"/>
                  </a:solidFill>
                  <a:latin typeface="+mn-ea"/>
                  <a:cs typeface="Consolas" pitchFamily="49" charset="0"/>
                </a:rPr>
                <a:t>…</a:t>
              </a:r>
              <a:r>
                <a:rPr lang="en-US" altLang="zh-CN" sz="1800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   </a:t>
              </a:r>
              <a:r>
                <a:rPr lang="en-US" altLang="zh-CN" sz="1800" i="1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1800" i="1" baseline="-25000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n</a:t>
              </a:r>
              <a:r>
                <a:rPr lang="en-US" altLang="zh-CN" sz="1800" baseline="-25000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-1</a:t>
              </a:r>
              <a:endParaRPr lang="zh-CN" altLang="en-US" sz="1800" baseline="-250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cxnSp>
          <p:nvCxnSpPr>
            <p:cNvPr id="48" name="直接箭头连接符 47"/>
            <p:cNvCxnSpPr/>
            <p:nvPr/>
          </p:nvCxnSpPr>
          <p:spPr>
            <a:xfrm rot="5400000" flipH="1" flipV="1">
              <a:off x="2321703" y="5893611"/>
              <a:ext cx="357190" cy="158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TextBox 48"/>
            <p:cNvSpPr txBox="1"/>
            <p:nvPr/>
          </p:nvSpPr>
          <p:spPr>
            <a:xfrm>
              <a:off x="2176446" y="6072206"/>
              <a:ext cx="7143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1800" smtClean="0">
                  <a:solidFill>
                    <a:srgbClr val="0000FF"/>
                  </a:solidFill>
                  <a:latin typeface="仿宋" pitchFamily="49" charset="-122"/>
                  <a:ea typeface="仿宋" pitchFamily="49" charset="-122"/>
                </a:rPr>
                <a:t>栈底</a:t>
              </a:r>
            </a:p>
          </p:txBody>
        </p:sp>
        <p:cxnSp>
          <p:nvCxnSpPr>
            <p:cNvPr id="50" name="直接箭头连接符 49"/>
            <p:cNvCxnSpPr/>
            <p:nvPr/>
          </p:nvCxnSpPr>
          <p:spPr>
            <a:xfrm rot="5400000" flipH="1" flipV="1">
              <a:off x="4145753" y="5892817"/>
              <a:ext cx="357190" cy="158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/>
          </p:nvSpPr>
          <p:spPr>
            <a:xfrm>
              <a:off x="4000496" y="6071412"/>
              <a:ext cx="7143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1800" smtClean="0">
                  <a:solidFill>
                    <a:srgbClr val="0000FF"/>
                  </a:solidFill>
                  <a:latin typeface="仿宋" pitchFamily="49" charset="-122"/>
                  <a:ea typeface="仿宋" pitchFamily="49" charset="-122"/>
                </a:rPr>
                <a:t>栈顶</a:t>
              </a:r>
            </a:p>
          </p:txBody>
        </p:sp>
        <p:cxnSp>
          <p:nvCxnSpPr>
            <p:cNvPr id="53" name="直接箭头连接符 52"/>
            <p:cNvCxnSpPr>
              <a:endCxn id="46" idx="3"/>
            </p:cNvCxnSpPr>
            <p:nvPr/>
          </p:nvCxnSpPr>
          <p:spPr>
            <a:xfrm rot="10800000" flipV="1">
              <a:off x="5143504" y="5000636"/>
              <a:ext cx="500066" cy="35719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直接箭头连接符 54"/>
            <p:cNvCxnSpPr/>
            <p:nvPr/>
          </p:nvCxnSpPr>
          <p:spPr>
            <a:xfrm>
              <a:off x="5143504" y="5500702"/>
              <a:ext cx="571504" cy="285752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7" name="TextBox 56"/>
            <p:cNvSpPr txBox="1"/>
            <p:nvPr/>
          </p:nvSpPr>
          <p:spPr>
            <a:xfrm>
              <a:off x="5643570" y="4714884"/>
              <a:ext cx="7143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1800" smtClean="0">
                  <a:solidFill>
                    <a:srgbClr val="0000FF"/>
                  </a:solidFill>
                  <a:latin typeface="仿宋" pitchFamily="49" charset="-122"/>
                  <a:ea typeface="仿宋" pitchFamily="49" charset="-122"/>
                </a:rPr>
                <a:t>进栈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5643570" y="5643578"/>
              <a:ext cx="7143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1800" smtClean="0">
                  <a:solidFill>
                    <a:srgbClr val="0000FF"/>
                  </a:solidFill>
                  <a:latin typeface="仿宋" pitchFamily="49" charset="-122"/>
                  <a:ea typeface="仿宋" pitchFamily="49" charset="-122"/>
                </a:rPr>
                <a:t>出栈</a:t>
              </a: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428596" y="642918"/>
            <a:ext cx="2928958" cy="46166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mtClean="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3.1.1  </a:t>
            </a:r>
            <a:r>
              <a:rPr lang="zh-CN" altLang="en-US" smtClean="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栈的定义</a:t>
            </a:r>
            <a:endParaRPr lang="zh-CN" altLang="zh-CN" smtClean="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43174" y="214290"/>
            <a:ext cx="2352675" cy="435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2643174" y="4714884"/>
            <a:ext cx="30003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000" smtClean="0">
                <a:solidFill>
                  <a:srgbClr val="0000FF"/>
                </a:solidFill>
                <a:latin typeface="仿宋" pitchFamily="49" charset="-122"/>
                <a:ea typeface="仿宋" pitchFamily="49" charset="-122"/>
              </a:rPr>
              <a:t>后放置的木块先取出来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85786" y="1142984"/>
            <a:ext cx="7215238" cy="18082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marL="342900" indent="-342900" algn="l">
              <a:lnSpc>
                <a:spcPts val="28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后进先出，即后进栈的元素先出栈。</a:t>
            </a:r>
            <a:endParaRPr lang="en-US" altLang="zh-CN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342900" indent="-342900" algn="l">
              <a:lnSpc>
                <a:spcPts val="28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每次进栈的元素都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作为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新栈顶元素，每次出栈的元素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只能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是当前栈顶元素。</a:t>
            </a:r>
            <a:endParaRPr lang="en-US" altLang="zh-CN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342900" indent="-342900" algn="l">
              <a:lnSpc>
                <a:spcPts val="28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栈也称为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后进先出表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或者</a:t>
            </a:r>
            <a:r>
              <a:rPr lang="zh-CN" altLang="en-US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先进后出表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48" y="500042"/>
            <a:ext cx="2143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2000" smtClean="0">
                <a:solidFill>
                  <a:srgbClr val="3333FF"/>
                </a:solidFill>
                <a:latin typeface="楷体" pitchFamily="49" charset="-122"/>
                <a:ea typeface="楷体" pitchFamily="49" charset="-122"/>
              </a:rPr>
              <a:t>栈的</a:t>
            </a:r>
            <a:r>
              <a:rPr lang="zh-CN" altLang="zh-CN" sz="200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主要特点</a:t>
            </a:r>
            <a:r>
              <a:rPr lang="zh-CN" altLang="en-US" sz="2000" smtClean="0">
                <a:solidFill>
                  <a:srgbClr val="3333FF"/>
                </a:solidFill>
                <a:latin typeface="楷体" pitchFamily="49" charset="-122"/>
                <a:ea typeface="楷体" pitchFamily="49" charset="-122"/>
              </a:rPr>
              <a:t>：</a:t>
            </a: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000100" y="5357826"/>
            <a:ext cx="5572164" cy="453183"/>
          </a:xfrm>
          <a:prstGeom prst="rect">
            <a:avLst/>
          </a:prstGeom>
          <a:gradFill flip="none" rotWithShape="1">
            <a:gsLst>
              <a:gs pos="0">
                <a:srgbClr val="92D050">
                  <a:tint val="66000"/>
                  <a:satMod val="16000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lin ang="13500000" scaled="1"/>
            <a:tileRect/>
          </a:gra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tIns="72000" bIns="72000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000" smtClean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栈抽象数据类型 </a:t>
            </a:r>
            <a:r>
              <a:rPr lang="en-US" altLang="zh-CN" sz="2000" smtClean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= </a:t>
            </a:r>
            <a:r>
              <a:rPr lang="zh-CN" altLang="en-US" sz="2000" smtClean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线性结构 </a:t>
            </a:r>
            <a:r>
              <a:rPr lang="en-US" altLang="zh-CN" sz="2000" smtClean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+ </a:t>
            </a:r>
            <a:r>
              <a:rPr lang="zh-CN" altLang="en-US" sz="2000" smtClean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栈的基本运算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034" y="428604"/>
            <a:ext cx="7286676" cy="4764867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16000" tIns="108000" bIns="108000" rtlCol="0">
            <a:spAutoFit/>
          </a:bodyPr>
          <a:lstStyle/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ADT Stack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zh-CN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数据对象：</a:t>
            </a: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D={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en-US" altLang="zh-CN" sz="1800" i="1" baseline="-25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| 0</a:t>
            </a:r>
            <a:r>
              <a:rPr lang="zh-CN" altLang="zh-CN" sz="1800" smtClean="0">
                <a:solidFill>
                  <a:srgbClr val="0000FF"/>
                </a:solidFill>
                <a:latin typeface="+mj-ea"/>
                <a:ea typeface="+mj-ea"/>
                <a:cs typeface="Consolas" pitchFamily="49" charset="0"/>
              </a:rPr>
              <a:t>≤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zh-CN" altLang="zh-CN" sz="1800" smtClean="0">
                <a:solidFill>
                  <a:srgbClr val="0000FF"/>
                </a:solidFill>
                <a:latin typeface="+mj-ea"/>
                <a:ea typeface="+mj-ea"/>
                <a:cs typeface="Consolas" pitchFamily="49" charset="0"/>
              </a:rPr>
              <a:t>≤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 sz="1800" smtClean="0">
                <a:solidFill>
                  <a:srgbClr val="0000FF"/>
                </a:solidFill>
                <a:latin typeface="+mj-ea"/>
                <a:ea typeface="+mj-ea"/>
                <a:cs typeface="Consolas" pitchFamily="49" charset="0"/>
              </a:rPr>
              <a:t>≥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，元素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en-US" altLang="zh-CN" sz="1800" i="1" baseline="-25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为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类型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zh-CN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数据关系：</a:t>
            </a: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R={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r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={&lt;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en-US" altLang="zh-CN" sz="1800" i="1" baseline="-25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en-US" altLang="zh-CN" sz="1800" i="1" baseline="-25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1800" baseline="-25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+1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&gt; | 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en-US" altLang="zh-CN" sz="1800" i="1" baseline="-25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en-US" altLang="zh-CN" sz="1800" i="1" baseline="-25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1800" baseline="-25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+1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∈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 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=0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 smtClean="0">
                <a:solidFill>
                  <a:srgbClr val="0000FF"/>
                </a:solidFill>
                <a:latin typeface="+mj-ea"/>
                <a:ea typeface="+mj-ea"/>
                <a:cs typeface="Consolas" pitchFamily="49" charset="0"/>
              </a:rPr>
              <a:t>…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-2}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zh-CN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基本运算：</a:t>
            </a: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empty()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：判断栈是否为空，若空栈返回真；否则返回假。</a:t>
            </a: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push(T 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：进栈操作，将元素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插入到栈中作为栈顶元素。</a:t>
            </a: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pop(T&amp; e)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：出栈操作。</a:t>
            </a: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gettop(T&amp; e)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：取栈顶操作。</a:t>
            </a: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00166" y="357166"/>
            <a:ext cx="6572296" cy="1705696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rIns="180000" bIns="108000" rtlCol="0">
            <a:spAutoFit/>
          </a:bodyPr>
          <a:lstStyle/>
          <a:p>
            <a:pPr algn="l">
              <a:lnSpc>
                <a:spcPts val="2600"/>
              </a:lnSpc>
              <a:spcBef>
                <a:spcPts val="600"/>
              </a:spcBef>
            </a:pPr>
            <a:r>
              <a:rPr lang="zh-CN" altLang="zh-CN" sz="2000" smtClean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一个栈的进栈序列是</a:t>
            </a:r>
            <a:r>
              <a:rPr lang="en-US" altLang="zh-CN" sz="2000" smtClean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a</a:t>
            </a:r>
            <a:r>
              <a:rPr lang="zh-CN" altLang="zh-CN" sz="2000" smtClean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、</a:t>
            </a:r>
            <a:r>
              <a:rPr lang="en-US" altLang="zh-CN" sz="2000" smtClean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b</a:t>
            </a:r>
            <a:r>
              <a:rPr lang="zh-CN" altLang="zh-CN" sz="2000" smtClean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、</a:t>
            </a:r>
            <a:r>
              <a:rPr lang="en-US" altLang="zh-CN" sz="2000" smtClean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c</a:t>
            </a:r>
            <a:r>
              <a:rPr lang="zh-CN" altLang="zh-CN" sz="2000" smtClean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、</a:t>
            </a:r>
            <a:r>
              <a:rPr lang="en-US" altLang="zh-CN" sz="2000" smtClean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d</a:t>
            </a:r>
            <a:r>
              <a:rPr lang="zh-CN" altLang="zh-CN" sz="2000" smtClean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、</a:t>
            </a:r>
            <a:r>
              <a:rPr lang="en-US" altLang="zh-CN" sz="2000" smtClean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e</a:t>
            </a:r>
            <a:r>
              <a:rPr lang="zh-CN" altLang="zh-CN" sz="2000" smtClean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，则栈的不可能的输出序列是</a:t>
            </a:r>
            <a:r>
              <a:rPr lang="zh-CN" altLang="en-US" sz="2000" smtClean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（  ）</a:t>
            </a:r>
            <a:r>
              <a:rPr lang="zh-CN" altLang="zh-CN" sz="2000" smtClean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。</a:t>
            </a:r>
          </a:p>
          <a:p>
            <a:pPr algn="l">
              <a:lnSpc>
                <a:spcPts val="2600"/>
              </a:lnSpc>
              <a:spcBef>
                <a:spcPts val="600"/>
              </a:spcBef>
            </a:pPr>
            <a:r>
              <a:rPr lang="en-US" altLang="zh-CN" sz="2000" smtClean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 A.edcba		B.decba</a:t>
            </a:r>
          </a:p>
          <a:p>
            <a:pPr algn="l">
              <a:lnSpc>
                <a:spcPts val="2600"/>
              </a:lnSpc>
              <a:spcBef>
                <a:spcPts val="600"/>
              </a:spcBef>
            </a:pPr>
            <a:r>
              <a:rPr lang="en-US" altLang="zh-CN" sz="2000" smtClean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 </a:t>
            </a:r>
            <a:r>
              <a:rPr lang="en-US" altLang="zh-CN" sz="2000" smtClean="0">
                <a:solidFill>
                  <a:srgbClr val="0099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C.dceab</a:t>
            </a:r>
            <a:r>
              <a:rPr lang="en-US" altLang="zh-CN" sz="2000" smtClean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		D.abcde</a:t>
            </a:r>
            <a:endParaRPr lang="zh-CN" altLang="en-US" sz="2000" smtClean="0">
              <a:solidFill>
                <a:srgbClr val="3333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285720" y="642919"/>
            <a:ext cx="1000100" cy="1071569"/>
            <a:chOff x="214282" y="142852"/>
            <a:chExt cx="1000100" cy="1071569"/>
          </a:xfrm>
        </p:grpSpPr>
        <p:sp>
          <p:nvSpPr>
            <p:cNvPr id="7" name="Oval 20"/>
            <p:cNvSpPr>
              <a:spLocks noChangeArrowheads="1"/>
            </p:cNvSpPr>
            <p:nvPr/>
          </p:nvSpPr>
          <p:spPr bwMode="gray">
            <a:xfrm>
              <a:off x="214282" y="142852"/>
              <a:ext cx="1000100" cy="1071569"/>
            </a:xfrm>
            <a:prstGeom prst="ellipse">
              <a:avLst/>
            </a:prstGeom>
            <a:solidFill>
              <a:srgbClr val="F8F8F8"/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zh-CN">
                <a:latin typeface="Calibri" pitchFamily="34" charset="0"/>
                <a:cs typeface="Arial" pitchFamily="34" charset="0"/>
              </a:endParaRPr>
            </a:p>
          </p:txBody>
        </p:sp>
        <p:sp>
          <p:nvSpPr>
            <p:cNvPr id="8" name="Oval 21"/>
            <p:cNvSpPr>
              <a:spLocks noChangeArrowheads="1"/>
            </p:cNvSpPr>
            <p:nvPr/>
          </p:nvSpPr>
          <p:spPr bwMode="gray">
            <a:xfrm>
              <a:off x="255399" y="186960"/>
              <a:ext cx="916658" cy="98335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8100">
              <a:solidFill>
                <a:srgbClr val="FF0000">
                  <a:alpha val="70195"/>
                </a:srgb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zh-CN">
                <a:latin typeface="Calibri" pitchFamily="34" charset="0"/>
                <a:cs typeface="Arial" pitchFamily="34" charset="0"/>
              </a:endParaRPr>
            </a:p>
          </p:txBody>
        </p:sp>
        <p:sp>
          <p:nvSpPr>
            <p:cNvPr id="9" name="Oval 22"/>
            <p:cNvSpPr>
              <a:spLocks noChangeArrowheads="1"/>
            </p:cNvSpPr>
            <p:nvPr/>
          </p:nvSpPr>
          <p:spPr bwMode="gray">
            <a:xfrm>
              <a:off x="296515" y="233663"/>
              <a:ext cx="834424" cy="895136"/>
            </a:xfrm>
            <a:prstGeom prst="ellipse">
              <a:avLst/>
            </a:prstGeom>
            <a:noFill/>
            <a:ln w="38100">
              <a:solidFill>
                <a:srgbClr val="FF0000">
                  <a:alpha val="30196"/>
                </a:srgb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zh-CN">
                <a:latin typeface="Calibri" pitchFamily="34" charset="0"/>
                <a:cs typeface="Arial" pitchFamily="34" charset="0"/>
              </a:endParaRPr>
            </a:p>
          </p:txBody>
        </p:sp>
        <p:sp>
          <p:nvSpPr>
            <p:cNvPr id="10" name="Text Box 23"/>
            <p:cNvSpPr txBox="1">
              <a:spLocks noChangeArrowheads="1"/>
            </p:cNvSpPr>
            <p:nvPr/>
          </p:nvSpPr>
          <p:spPr bwMode="gray">
            <a:xfrm>
              <a:off x="325912" y="538608"/>
              <a:ext cx="728120" cy="3139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800" b="1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Consolas" pitchFamily="49" charset="0"/>
                </a:rPr>
                <a:t>示例</a:t>
              </a:r>
              <a:endParaRPr lang="zh-CN" altLang="en-US" sz="18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57224" y="2385948"/>
            <a:ext cx="36433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0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用</a:t>
            </a:r>
            <a:r>
              <a:rPr lang="zh-CN" altLang="en-US" sz="20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栈模拟进行判断</a:t>
            </a:r>
          </a:p>
        </p:txBody>
      </p:sp>
      <p:grpSp>
        <p:nvGrpSpPr>
          <p:cNvPr id="48" name="组合 47"/>
          <p:cNvGrpSpPr/>
          <p:nvPr/>
        </p:nvGrpSpPr>
        <p:grpSpPr>
          <a:xfrm>
            <a:off x="1214414" y="3071810"/>
            <a:ext cx="2214578" cy="2082942"/>
            <a:chOff x="1214414" y="3071810"/>
            <a:chExt cx="2214578" cy="2082942"/>
          </a:xfrm>
        </p:grpSpPr>
        <p:cxnSp>
          <p:nvCxnSpPr>
            <p:cNvPr id="29" name="直接连接符 28"/>
            <p:cNvCxnSpPr/>
            <p:nvPr/>
          </p:nvCxnSpPr>
          <p:spPr>
            <a:xfrm rot="5400000">
              <a:off x="2137488" y="4434752"/>
              <a:ext cx="1440000" cy="0"/>
            </a:xfrm>
            <a:prstGeom prst="line">
              <a:avLst/>
            </a:prstGeom>
            <a:ln w="190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rot="5400000">
              <a:off x="2708992" y="4434752"/>
              <a:ext cx="1440000" cy="0"/>
            </a:xfrm>
            <a:prstGeom prst="line">
              <a:avLst/>
            </a:prstGeom>
            <a:ln w="190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>
              <a:off x="2857488" y="5143512"/>
              <a:ext cx="571504" cy="0"/>
            </a:xfrm>
            <a:prstGeom prst="line">
              <a:avLst/>
            </a:prstGeom>
            <a:ln w="190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2971789" y="3871745"/>
              <a:ext cx="35719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8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d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8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c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8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b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8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endParaRPr lang="zh-CN" altLang="en-US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214414" y="3071810"/>
              <a:ext cx="17859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1800" smtClean="0">
                  <a:solidFill>
                    <a:srgbClr val="0000FF"/>
                  </a:solidFill>
                  <a:latin typeface="仿宋" pitchFamily="49" charset="-122"/>
                  <a:ea typeface="仿宋" pitchFamily="49" charset="-122"/>
                </a:rPr>
                <a:t>考虑 </a:t>
              </a:r>
              <a:r>
                <a:rPr lang="en-US" altLang="zh-CN" sz="1800" smtClean="0">
                  <a:solidFill>
                    <a:srgbClr val="009900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C.dceab</a:t>
              </a:r>
              <a:endParaRPr lang="zh-CN" altLang="en-US" sz="1800" smtClean="0">
                <a:solidFill>
                  <a:srgbClr val="0000FF"/>
                </a:solidFill>
                <a:latin typeface="仿宋" pitchFamily="49" charset="-122"/>
                <a:ea typeface="仿宋" pitchFamily="49" charset="-122"/>
              </a:endParaRPr>
            </a:p>
          </p:txBody>
        </p:sp>
        <p:cxnSp>
          <p:nvCxnSpPr>
            <p:cNvPr id="38" name="直接箭头连接符 37"/>
            <p:cNvCxnSpPr>
              <a:stCxn id="35" idx="0"/>
            </p:cNvCxnSpPr>
            <p:nvPr/>
          </p:nvCxnSpPr>
          <p:spPr>
            <a:xfrm rot="16200000" flipV="1">
              <a:off x="2963240" y="3691745"/>
              <a:ext cx="360000" cy="0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9" name="右箭头 38"/>
          <p:cNvSpPr/>
          <p:nvPr/>
        </p:nvSpPr>
        <p:spPr bwMode="auto">
          <a:xfrm>
            <a:off x="3714744" y="4214818"/>
            <a:ext cx="357190" cy="214314"/>
          </a:xfrm>
          <a:prstGeom prst="rightArrow">
            <a:avLst/>
          </a:prstGeom>
          <a:ln>
            <a:headEnd/>
            <a:tailEnd type="arrow" w="sm" len="sm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4357686" y="2988751"/>
            <a:ext cx="1857388" cy="2166001"/>
            <a:chOff x="4357686" y="2988751"/>
            <a:chExt cx="1857388" cy="2166001"/>
          </a:xfrm>
        </p:grpSpPr>
        <p:cxnSp>
          <p:nvCxnSpPr>
            <p:cNvPr id="40" name="直接连接符 39"/>
            <p:cNvCxnSpPr/>
            <p:nvPr/>
          </p:nvCxnSpPr>
          <p:spPr>
            <a:xfrm rot="5400000">
              <a:off x="3637686" y="4434752"/>
              <a:ext cx="1440000" cy="0"/>
            </a:xfrm>
            <a:prstGeom prst="line">
              <a:avLst/>
            </a:prstGeom>
            <a:ln w="190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rot="5400000">
              <a:off x="4209190" y="4434752"/>
              <a:ext cx="1440000" cy="0"/>
            </a:xfrm>
            <a:prstGeom prst="line">
              <a:avLst/>
            </a:prstGeom>
            <a:ln w="190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>
              <a:off x="4357686" y="5143512"/>
              <a:ext cx="571504" cy="0"/>
            </a:xfrm>
            <a:prstGeom prst="line">
              <a:avLst/>
            </a:prstGeom>
            <a:ln w="190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4471987" y="3929066"/>
              <a:ext cx="357190" cy="10333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ts val="2500"/>
                </a:lnSpc>
                <a:spcBef>
                  <a:spcPts val="0"/>
                </a:spcBef>
              </a:pPr>
              <a:r>
                <a:rPr lang="en-US" altLang="zh-CN" sz="18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c</a:t>
              </a:r>
            </a:p>
            <a:p>
              <a:pPr algn="l">
                <a:lnSpc>
                  <a:spcPts val="2500"/>
                </a:lnSpc>
                <a:spcBef>
                  <a:spcPts val="0"/>
                </a:spcBef>
              </a:pPr>
              <a:r>
                <a:rPr lang="en-US" altLang="zh-CN" sz="18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b</a:t>
              </a:r>
            </a:p>
            <a:p>
              <a:pPr algn="l">
                <a:lnSpc>
                  <a:spcPts val="2500"/>
                </a:lnSpc>
                <a:spcBef>
                  <a:spcPts val="0"/>
                </a:spcBef>
              </a:pPr>
              <a:r>
                <a:rPr lang="en-US" altLang="zh-CN" sz="18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endParaRPr lang="zh-CN" altLang="en-US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cxnSp>
          <p:nvCxnSpPr>
            <p:cNvPr id="45" name="直接连接符 44"/>
            <p:cNvCxnSpPr/>
            <p:nvPr/>
          </p:nvCxnSpPr>
          <p:spPr>
            <a:xfrm>
              <a:off x="5143504" y="3500438"/>
              <a:ext cx="1071570" cy="0"/>
            </a:xfrm>
            <a:prstGeom prst="line">
              <a:avLst/>
            </a:prstGeom>
            <a:ln w="19050">
              <a:solidFill>
                <a:srgbClr val="339933"/>
              </a:solidFill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5286380" y="2988751"/>
              <a:ext cx="357190" cy="440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ts val="3000"/>
                </a:lnSpc>
                <a:spcBef>
                  <a:spcPts val="0"/>
                </a:spcBef>
              </a:pPr>
              <a:r>
                <a:rPr lang="en-US" altLang="zh-CN" sz="18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d</a:t>
              </a:r>
              <a:endParaRPr lang="zh-CN" altLang="en-US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4491037" y="4276731"/>
            <a:ext cx="2438417" cy="714380"/>
            <a:chOff x="4491037" y="4276731"/>
            <a:chExt cx="2438417" cy="714380"/>
          </a:xfrm>
        </p:grpSpPr>
        <p:sp>
          <p:nvSpPr>
            <p:cNvPr id="47" name="矩形 46"/>
            <p:cNvSpPr/>
            <p:nvPr/>
          </p:nvSpPr>
          <p:spPr bwMode="auto">
            <a:xfrm>
              <a:off x="4491037" y="4276731"/>
              <a:ext cx="285752" cy="714380"/>
            </a:xfrm>
            <a:prstGeom prst="rect">
              <a:avLst/>
            </a:prstGeom>
            <a:ln w="19050">
              <a:solidFill>
                <a:srgbClr val="FF00FF"/>
              </a:solidFill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5286380" y="4286256"/>
              <a:ext cx="164307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18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不可能有出栈序列：</a:t>
              </a:r>
              <a:r>
                <a:rPr lang="en-US" altLang="zh-CN" sz="18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a b</a:t>
              </a:r>
              <a:endParaRPr lang="zh-CN" altLang="en-US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cxnSp>
          <p:nvCxnSpPr>
            <p:cNvPr id="52" name="直接箭头连接符 51"/>
            <p:cNvCxnSpPr>
              <a:stCxn id="47" idx="3"/>
              <a:endCxn id="50" idx="1"/>
            </p:cNvCxnSpPr>
            <p:nvPr/>
          </p:nvCxnSpPr>
          <p:spPr>
            <a:xfrm flipV="1">
              <a:off x="4776789" y="4609422"/>
              <a:ext cx="509591" cy="24499"/>
            </a:xfrm>
            <a:prstGeom prst="straightConnector1">
              <a:avLst/>
            </a:prstGeom>
            <a:ln w="19050">
              <a:solidFill>
                <a:srgbClr val="FF00FF"/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7" name="灯片编号占位符 3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71604" y="714356"/>
            <a:ext cx="6357982" cy="133777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rIns="180000" bIns="108000" rtlCol="0">
            <a:spAutoFit/>
          </a:bodyPr>
          <a:lstStyle/>
          <a:p>
            <a:pPr algn="l">
              <a:lnSpc>
                <a:spcPts val="2800"/>
              </a:lnSpc>
              <a:spcBef>
                <a:spcPts val="600"/>
              </a:spcBef>
            </a:pPr>
            <a:r>
              <a:rPr lang="zh-CN" altLang="zh-CN" sz="2000" smtClean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已知一个栈的进栈序列是</a:t>
            </a:r>
            <a:r>
              <a:rPr lang="en-US" altLang="zh-CN" sz="2000" smtClean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1</a:t>
            </a:r>
            <a:r>
              <a:rPr lang="zh-CN" altLang="zh-CN" sz="2000" smtClean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lang="en-US" altLang="zh-CN" sz="2000" smtClean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2</a:t>
            </a:r>
            <a:r>
              <a:rPr lang="zh-CN" altLang="zh-CN" sz="2000" smtClean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lang="en-US" altLang="zh-CN" sz="2000" smtClean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3</a:t>
            </a:r>
            <a:r>
              <a:rPr lang="zh-CN" altLang="zh-CN" sz="2000" smtClean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lang="zh-CN" altLang="zh-CN" sz="2000" smtClean="0">
                <a:solidFill>
                  <a:srgbClr val="3333FF"/>
                </a:solidFill>
                <a:latin typeface="+mn-ea"/>
                <a:cs typeface="Consolas" pitchFamily="49" charset="0"/>
              </a:rPr>
              <a:t>…</a:t>
            </a:r>
            <a:r>
              <a:rPr lang="zh-CN" altLang="zh-CN" sz="2000" smtClean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lang="en-US" altLang="zh-CN" sz="2000" i="1" smtClean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zh-CN" altLang="zh-CN" sz="2000" smtClean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，其输出序列是</a:t>
            </a:r>
            <a:r>
              <a:rPr lang="en-US" altLang="zh-CN" sz="2000" i="1" smtClean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p</a:t>
            </a:r>
            <a:r>
              <a:rPr lang="en-US" altLang="zh-CN" sz="2000" baseline="-25000" smtClean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1</a:t>
            </a:r>
            <a:r>
              <a:rPr lang="zh-CN" altLang="zh-CN" sz="2000" smtClean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lang="en-US" altLang="zh-CN" sz="2000" i="1" smtClean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p</a:t>
            </a:r>
            <a:r>
              <a:rPr lang="en-US" altLang="zh-CN" sz="2000" baseline="-25000" smtClean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2</a:t>
            </a:r>
            <a:r>
              <a:rPr lang="zh-CN" altLang="zh-CN" sz="2000" smtClean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lang="zh-CN" altLang="zh-CN" sz="2000" smtClean="0">
                <a:solidFill>
                  <a:srgbClr val="3333FF"/>
                </a:solidFill>
                <a:latin typeface="+mn-ea"/>
                <a:cs typeface="Consolas" pitchFamily="49" charset="0"/>
              </a:rPr>
              <a:t>…</a:t>
            </a:r>
            <a:r>
              <a:rPr lang="zh-CN" altLang="zh-CN" sz="2000" smtClean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lang="en-US" altLang="zh-CN" sz="2000" i="1" smtClean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p</a:t>
            </a:r>
            <a:r>
              <a:rPr lang="en-US" altLang="zh-CN" sz="2000" i="1" baseline="-25000" smtClean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zh-CN" altLang="zh-CN" sz="2000" smtClean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，若</a:t>
            </a:r>
            <a:r>
              <a:rPr lang="en-US" altLang="zh-CN" sz="2000" i="1" smtClean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p</a:t>
            </a:r>
            <a:r>
              <a:rPr lang="en-US" altLang="zh-CN" sz="2000" baseline="-25000" smtClean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1</a:t>
            </a:r>
            <a:r>
              <a:rPr lang="en-US" altLang="zh-CN" sz="2000" smtClean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=</a:t>
            </a:r>
            <a:r>
              <a:rPr lang="en-US" altLang="zh-CN" sz="2000" i="1" smtClean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zh-CN" altLang="zh-CN" sz="2000" smtClean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，则</a:t>
            </a:r>
            <a:r>
              <a:rPr lang="en-US" altLang="zh-CN" sz="2000" i="1" smtClean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p</a:t>
            </a:r>
            <a:r>
              <a:rPr lang="en-US" altLang="zh-CN" sz="2000" i="1" baseline="-25000" smtClean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i</a:t>
            </a:r>
            <a:r>
              <a:rPr lang="zh-CN" altLang="zh-CN" sz="2000" smtClean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的值为</a:t>
            </a:r>
            <a:r>
              <a:rPr lang="zh-CN" altLang="en-US" sz="2000" smtClean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（  ）</a:t>
            </a:r>
            <a:r>
              <a:rPr lang="zh-CN" altLang="zh-CN" sz="2000" smtClean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。</a:t>
            </a:r>
          </a:p>
          <a:p>
            <a:pPr algn="l">
              <a:lnSpc>
                <a:spcPts val="2800"/>
              </a:lnSpc>
              <a:spcBef>
                <a:spcPts val="600"/>
              </a:spcBef>
            </a:pPr>
            <a:r>
              <a:rPr lang="nb-NO" altLang="zh-CN" sz="2000" smtClean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 A.</a:t>
            </a:r>
            <a:r>
              <a:rPr lang="nb-NO" altLang="zh-CN" sz="2000" i="1" smtClean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i</a:t>
            </a:r>
            <a:r>
              <a:rPr lang="nb-NO" altLang="zh-CN" sz="2000" smtClean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	      B.</a:t>
            </a:r>
            <a:r>
              <a:rPr lang="nb-NO" altLang="zh-CN" sz="2000" i="1" smtClean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nb-NO" altLang="zh-CN" sz="2000" smtClean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-</a:t>
            </a:r>
            <a:r>
              <a:rPr lang="nb-NO" altLang="zh-CN" sz="2000" i="1" smtClean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i</a:t>
            </a:r>
            <a:r>
              <a:rPr lang="nb-NO" altLang="zh-CN" sz="2000" smtClean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	   </a:t>
            </a:r>
            <a:r>
              <a:rPr lang="nb-NO" altLang="zh-CN" sz="2000" smtClean="0">
                <a:solidFill>
                  <a:srgbClr val="339933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C.</a:t>
            </a:r>
            <a:r>
              <a:rPr lang="nb-NO" altLang="zh-CN" sz="2000" i="1" smtClean="0">
                <a:solidFill>
                  <a:srgbClr val="339933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nb-NO" altLang="zh-CN" sz="2000" smtClean="0">
                <a:solidFill>
                  <a:srgbClr val="339933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-</a:t>
            </a:r>
            <a:r>
              <a:rPr lang="nb-NO" altLang="zh-CN" sz="2000" i="1" smtClean="0">
                <a:solidFill>
                  <a:srgbClr val="339933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i</a:t>
            </a:r>
            <a:r>
              <a:rPr lang="nb-NO" altLang="zh-CN" sz="2000" smtClean="0">
                <a:solidFill>
                  <a:srgbClr val="339933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+1</a:t>
            </a:r>
            <a:r>
              <a:rPr lang="nb-NO" altLang="zh-CN" sz="2000" smtClean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	  D.</a:t>
            </a:r>
            <a:r>
              <a:rPr lang="zh-CN" altLang="zh-CN" sz="2000" smtClean="0">
                <a:solidFill>
                  <a:srgbClr val="3333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不确定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500066" y="714356"/>
            <a:ext cx="1000100" cy="1071569"/>
            <a:chOff x="214282" y="142852"/>
            <a:chExt cx="1000100" cy="1071569"/>
          </a:xfrm>
        </p:grpSpPr>
        <p:sp>
          <p:nvSpPr>
            <p:cNvPr id="7" name="Oval 20"/>
            <p:cNvSpPr>
              <a:spLocks noChangeArrowheads="1"/>
            </p:cNvSpPr>
            <p:nvPr/>
          </p:nvSpPr>
          <p:spPr bwMode="gray">
            <a:xfrm>
              <a:off x="214282" y="142852"/>
              <a:ext cx="1000100" cy="1071569"/>
            </a:xfrm>
            <a:prstGeom prst="ellipse">
              <a:avLst/>
            </a:prstGeom>
            <a:solidFill>
              <a:srgbClr val="F8F8F8"/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zh-CN">
                <a:latin typeface="Calibri" pitchFamily="34" charset="0"/>
                <a:cs typeface="Arial" pitchFamily="34" charset="0"/>
              </a:endParaRPr>
            </a:p>
          </p:txBody>
        </p:sp>
        <p:sp>
          <p:nvSpPr>
            <p:cNvPr id="8" name="Oval 21"/>
            <p:cNvSpPr>
              <a:spLocks noChangeArrowheads="1"/>
            </p:cNvSpPr>
            <p:nvPr/>
          </p:nvSpPr>
          <p:spPr bwMode="gray">
            <a:xfrm>
              <a:off x="255399" y="186960"/>
              <a:ext cx="916658" cy="98335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8100">
              <a:solidFill>
                <a:srgbClr val="FF0000">
                  <a:alpha val="70195"/>
                </a:srgb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zh-CN">
                <a:latin typeface="Calibri" pitchFamily="34" charset="0"/>
                <a:cs typeface="Arial" pitchFamily="34" charset="0"/>
              </a:endParaRPr>
            </a:p>
          </p:txBody>
        </p:sp>
        <p:sp>
          <p:nvSpPr>
            <p:cNvPr id="9" name="Oval 22"/>
            <p:cNvSpPr>
              <a:spLocks noChangeArrowheads="1"/>
            </p:cNvSpPr>
            <p:nvPr/>
          </p:nvSpPr>
          <p:spPr bwMode="gray">
            <a:xfrm>
              <a:off x="296515" y="233663"/>
              <a:ext cx="834424" cy="895136"/>
            </a:xfrm>
            <a:prstGeom prst="ellipse">
              <a:avLst/>
            </a:prstGeom>
            <a:noFill/>
            <a:ln w="38100">
              <a:solidFill>
                <a:srgbClr val="FF0000">
                  <a:alpha val="30196"/>
                </a:srgb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zh-CN">
                <a:latin typeface="Calibri" pitchFamily="34" charset="0"/>
                <a:cs typeface="Arial" pitchFamily="34" charset="0"/>
              </a:endParaRPr>
            </a:p>
          </p:txBody>
        </p:sp>
        <p:sp>
          <p:nvSpPr>
            <p:cNvPr id="10" name="Text Box 23"/>
            <p:cNvSpPr txBox="1">
              <a:spLocks noChangeArrowheads="1"/>
            </p:cNvSpPr>
            <p:nvPr/>
          </p:nvSpPr>
          <p:spPr bwMode="gray">
            <a:xfrm>
              <a:off x="325912" y="538608"/>
              <a:ext cx="728120" cy="3139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800" b="1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Consolas" pitchFamily="49" charset="0"/>
                </a:rPr>
                <a:t>示例</a:t>
              </a:r>
              <a:endParaRPr lang="zh-CN" altLang="en-US" sz="18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857356" y="2571744"/>
            <a:ext cx="4786346" cy="900176"/>
            <a:chOff x="1857356" y="2571744"/>
            <a:chExt cx="4786346" cy="900176"/>
          </a:xfrm>
        </p:grpSpPr>
        <p:sp>
          <p:nvSpPr>
            <p:cNvPr id="11" name="TextBox 10"/>
            <p:cNvSpPr txBox="1"/>
            <p:nvPr/>
          </p:nvSpPr>
          <p:spPr>
            <a:xfrm>
              <a:off x="1857356" y="2571744"/>
              <a:ext cx="21431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 smtClean="0">
                  <a:solidFill>
                    <a:srgbClr val="3333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r>
                <a:rPr lang="zh-CN" altLang="zh-CN" sz="2000" smtClean="0">
                  <a:solidFill>
                    <a:srgbClr val="3333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，</a:t>
              </a:r>
              <a:r>
                <a:rPr lang="en-US" altLang="zh-CN" sz="2000" smtClean="0">
                  <a:solidFill>
                    <a:srgbClr val="3333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  <a:r>
                <a:rPr lang="zh-CN" altLang="zh-CN" sz="2000" smtClean="0">
                  <a:solidFill>
                    <a:srgbClr val="3333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，</a:t>
              </a:r>
              <a:r>
                <a:rPr lang="en-US" altLang="zh-CN" sz="2000" smtClean="0">
                  <a:solidFill>
                    <a:srgbClr val="3333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3</a:t>
              </a:r>
              <a:r>
                <a:rPr lang="zh-CN" altLang="zh-CN" sz="2000" smtClean="0">
                  <a:solidFill>
                    <a:srgbClr val="3333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，</a:t>
              </a:r>
              <a:r>
                <a:rPr lang="zh-CN" altLang="zh-CN" sz="2000" smtClean="0">
                  <a:solidFill>
                    <a:srgbClr val="3333FF"/>
                  </a:solidFill>
                  <a:latin typeface="+mn-ea"/>
                  <a:cs typeface="Consolas" pitchFamily="49" charset="0"/>
                </a:rPr>
                <a:t>…</a:t>
              </a:r>
              <a:r>
                <a:rPr lang="zh-CN" altLang="zh-CN" sz="2000" smtClean="0">
                  <a:solidFill>
                    <a:srgbClr val="3333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，</a:t>
              </a:r>
              <a:r>
                <a:rPr lang="en-US" altLang="zh-CN" sz="2000" i="1" smtClean="0">
                  <a:solidFill>
                    <a:srgbClr val="3333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n</a:t>
              </a:r>
              <a:endParaRPr lang="zh-CN" altLang="en-US" sz="2000" smtClean="0">
                <a:solidFill>
                  <a:srgbClr val="0000FF"/>
                </a:solidFill>
                <a:latin typeface="仿宋" pitchFamily="49" charset="-122"/>
                <a:ea typeface="仿宋" pitchFamily="49" charset="-122"/>
              </a:endParaRPr>
            </a:p>
          </p:txBody>
        </p:sp>
        <p:sp>
          <p:nvSpPr>
            <p:cNvPr id="12" name="右箭头 11"/>
            <p:cNvSpPr/>
            <p:nvPr/>
          </p:nvSpPr>
          <p:spPr bwMode="auto">
            <a:xfrm>
              <a:off x="4071934" y="2676520"/>
              <a:ext cx="500066" cy="214314"/>
            </a:xfrm>
            <a:prstGeom prst="rightArrow">
              <a:avLst/>
            </a:prstGeom>
            <a:ln>
              <a:headEnd/>
              <a:tailEnd type="arrow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sz="20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786314" y="2571744"/>
              <a:ext cx="11430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 i="1" smtClean="0">
                  <a:solidFill>
                    <a:srgbClr val="3333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n</a:t>
              </a:r>
              <a:r>
                <a:rPr lang="zh-CN" altLang="en-US" sz="2000" smtClean="0">
                  <a:solidFill>
                    <a:srgbClr val="3333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，</a:t>
              </a:r>
              <a:r>
                <a:rPr lang="zh-CN" altLang="zh-CN" sz="2000" smtClean="0">
                  <a:solidFill>
                    <a:srgbClr val="3333FF"/>
                  </a:solidFill>
                  <a:latin typeface="+mn-ea"/>
                  <a:cs typeface="Consolas" pitchFamily="49" charset="0"/>
                </a:rPr>
                <a:t>…</a:t>
              </a:r>
              <a:endParaRPr lang="zh-CN" altLang="en-US" sz="2000" smtClean="0">
                <a:solidFill>
                  <a:srgbClr val="0000FF"/>
                </a:solidFill>
                <a:latin typeface="仿宋" pitchFamily="49" charset="-122"/>
                <a:ea typeface="仿宋" pitchFamily="49" charset="-122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786314" y="3071810"/>
              <a:ext cx="18573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2000" smtClean="0">
                  <a:solidFill>
                    <a:srgbClr val="FF0000"/>
                  </a:solidFill>
                  <a:latin typeface="仿宋" pitchFamily="49" charset="-122"/>
                  <a:ea typeface="仿宋" pitchFamily="49" charset="-122"/>
                </a:rPr>
                <a:t>输出序列唯一</a:t>
              </a: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2071670" y="3627642"/>
            <a:ext cx="4071966" cy="2015936"/>
            <a:chOff x="2071670" y="3627642"/>
            <a:chExt cx="4071966" cy="2015936"/>
          </a:xfrm>
        </p:grpSpPr>
        <p:sp>
          <p:nvSpPr>
            <p:cNvPr id="15" name="TextBox 14"/>
            <p:cNvSpPr txBox="1"/>
            <p:nvPr/>
          </p:nvSpPr>
          <p:spPr>
            <a:xfrm>
              <a:off x="2071670" y="3627642"/>
              <a:ext cx="1214446" cy="201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ts val="3000"/>
                </a:lnSpc>
                <a:spcBef>
                  <a:spcPts val="0"/>
                </a:spcBef>
              </a:pPr>
              <a:r>
                <a:rPr lang="en-US" altLang="zh-CN" sz="1800" i="1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p</a:t>
              </a:r>
              <a:r>
                <a:rPr lang="en-US" altLang="zh-CN" sz="1800" baseline="-25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r>
                <a:rPr lang="en-US" altLang="zh-CN" sz="18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=</a:t>
              </a:r>
              <a:r>
                <a:rPr lang="en-US" altLang="zh-CN" sz="1800" i="1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n</a:t>
              </a:r>
            </a:p>
            <a:p>
              <a:pPr algn="l">
                <a:lnSpc>
                  <a:spcPts val="3000"/>
                </a:lnSpc>
                <a:spcBef>
                  <a:spcPts val="0"/>
                </a:spcBef>
              </a:pPr>
              <a:r>
                <a:rPr lang="en-US" altLang="zh-CN" sz="1800" i="1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p</a:t>
              </a:r>
              <a:r>
                <a:rPr lang="en-US" altLang="zh-CN" sz="1800" baseline="-25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  <a:r>
                <a:rPr lang="en-US" altLang="zh-CN" sz="18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=</a:t>
              </a:r>
              <a:r>
                <a:rPr lang="en-US" altLang="zh-CN" sz="1800" i="1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n</a:t>
              </a:r>
              <a:r>
                <a:rPr lang="en-US" altLang="zh-CN" sz="18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-1</a:t>
              </a:r>
            </a:p>
            <a:p>
              <a:pPr algn="l">
                <a:lnSpc>
                  <a:spcPts val="3000"/>
                </a:lnSpc>
                <a:spcBef>
                  <a:spcPts val="0"/>
                </a:spcBef>
              </a:pPr>
              <a:r>
                <a:rPr lang="en-US" altLang="zh-CN" sz="1800" i="1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p</a:t>
              </a:r>
              <a:r>
                <a:rPr lang="en-US" altLang="zh-CN" sz="1800" baseline="-25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3</a:t>
              </a:r>
              <a:r>
                <a:rPr lang="en-US" altLang="zh-CN" sz="18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=</a:t>
              </a:r>
              <a:r>
                <a:rPr lang="en-US" altLang="zh-CN" sz="1800" i="1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n</a:t>
              </a:r>
              <a:r>
                <a:rPr lang="en-US" altLang="zh-CN" sz="18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-2</a:t>
              </a:r>
            </a:p>
            <a:p>
              <a:pPr algn="l">
                <a:lnSpc>
                  <a:spcPts val="3000"/>
                </a:lnSpc>
                <a:spcBef>
                  <a:spcPts val="0"/>
                </a:spcBef>
              </a:pPr>
              <a:r>
                <a:rPr lang="en-US" altLang="zh-CN" sz="1800" smtClean="0">
                  <a:solidFill>
                    <a:srgbClr val="0000FF"/>
                  </a:solidFill>
                  <a:latin typeface="宋体" pitchFamily="2" charset="-122"/>
                  <a:ea typeface="宋体" pitchFamily="2" charset="-122"/>
                  <a:cs typeface="Consolas" pitchFamily="49" charset="0"/>
                </a:rPr>
                <a:t>…</a:t>
              </a:r>
            </a:p>
            <a:p>
              <a:pPr algn="l">
                <a:lnSpc>
                  <a:spcPts val="3000"/>
                </a:lnSpc>
                <a:spcBef>
                  <a:spcPts val="0"/>
                </a:spcBef>
              </a:pPr>
              <a:r>
                <a:rPr lang="en-US" altLang="zh-CN" sz="1800" i="1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p</a:t>
              </a:r>
              <a:r>
                <a:rPr lang="en-US" altLang="zh-CN" sz="1800" i="1" baseline="-25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n</a:t>
              </a:r>
              <a:r>
                <a:rPr lang="en-US" altLang="zh-CN" sz="18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=1</a:t>
              </a:r>
              <a:endParaRPr lang="zh-CN" altLang="en-US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6" name="右大括号 15"/>
            <p:cNvSpPr/>
            <p:nvPr/>
          </p:nvSpPr>
          <p:spPr>
            <a:xfrm>
              <a:off x="3143240" y="3913394"/>
              <a:ext cx="214314" cy="1571636"/>
            </a:xfrm>
            <a:prstGeom prst="rightBrace">
              <a:avLst/>
            </a:prstGeom>
            <a:ln w="190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428992" y="4457650"/>
              <a:ext cx="27146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 i="1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p</a:t>
              </a:r>
              <a:r>
                <a:rPr lang="en-US" altLang="zh-CN" sz="2000" i="1" baseline="-25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i</a:t>
              </a:r>
              <a:r>
                <a:rPr lang="en-US" altLang="zh-CN" sz="2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+</a:t>
              </a:r>
              <a:r>
                <a:rPr lang="en-US" altLang="zh-CN" sz="2000" i="1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i</a:t>
              </a:r>
              <a:r>
                <a:rPr lang="en-US" altLang="zh-CN" sz="2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=</a:t>
              </a:r>
              <a:r>
                <a:rPr lang="en-US" altLang="zh-CN" sz="2000" i="1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n</a:t>
              </a:r>
              <a:r>
                <a:rPr lang="en-US" altLang="zh-CN" sz="2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+1</a:t>
              </a:r>
              <a:r>
                <a:rPr lang="zh-CN" altLang="en-US" sz="2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即</a:t>
              </a:r>
              <a:r>
                <a:rPr lang="en-US" altLang="zh-CN" sz="2000" i="1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p</a:t>
              </a:r>
              <a:r>
                <a:rPr lang="en-US" altLang="zh-CN" sz="2000" i="1" baseline="-25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i</a:t>
              </a:r>
              <a:r>
                <a:rPr lang="en-US" altLang="zh-CN" sz="2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=</a:t>
              </a:r>
              <a:r>
                <a:rPr lang="en-US" altLang="zh-CN" sz="2000" i="1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n</a:t>
              </a:r>
              <a:r>
                <a:rPr lang="en-US" altLang="zh-CN" sz="2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-</a:t>
              </a:r>
              <a:r>
                <a:rPr lang="en-US" altLang="zh-CN" sz="2000" i="1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i</a:t>
              </a:r>
              <a:r>
                <a:rPr lang="en-US" altLang="zh-CN" sz="2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+1</a:t>
              </a:r>
              <a:endPara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890561" y="1928802"/>
            <a:ext cx="2000264" cy="430887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200" smtClean="0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栈的实现方式</a:t>
            </a:r>
          </a:p>
        </p:txBody>
      </p:sp>
      <p:grpSp>
        <p:nvGrpSpPr>
          <p:cNvPr id="2" name="组合 33"/>
          <p:cNvGrpSpPr/>
          <p:nvPr/>
        </p:nvGrpSpPr>
        <p:grpSpPr>
          <a:xfrm>
            <a:off x="890561" y="2857496"/>
            <a:ext cx="7039025" cy="1785950"/>
            <a:chOff x="500034" y="2786058"/>
            <a:chExt cx="7039025" cy="1785950"/>
          </a:xfrm>
        </p:grpSpPr>
        <p:sp>
          <p:nvSpPr>
            <p:cNvPr id="8" name="TextBox 7"/>
            <p:cNvSpPr txBox="1"/>
            <p:nvPr/>
          </p:nvSpPr>
          <p:spPr>
            <a:xfrm>
              <a:off x="2824151" y="2786058"/>
              <a:ext cx="1143008" cy="453183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tIns="72000" bIns="7200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2000" smtClean="0">
                  <a:solidFill>
                    <a:srgbClr val="0000FF"/>
                  </a:solidFill>
                  <a:latin typeface="仿宋" pitchFamily="49" charset="-122"/>
                  <a:ea typeface="仿宋" pitchFamily="49" charset="-122"/>
                </a:rPr>
                <a:t>线性表</a:t>
              </a:r>
            </a:p>
          </p:txBody>
        </p:sp>
        <p:sp>
          <p:nvSpPr>
            <p:cNvPr id="11" name="流程图: 卡片 10"/>
            <p:cNvSpPr/>
            <p:nvPr/>
          </p:nvSpPr>
          <p:spPr>
            <a:xfrm>
              <a:off x="2214546" y="4000504"/>
              <a:ext cx="1000132" cy="571504"/>
            </a:xfrm>
            <a:prstGeom prst="flowChartPunchedCard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bIns="108000" rtlCol="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2000" smtClean="0">
                  <a:solidFill>
                    <a:srgbClr val="0000FF"/>
                  </a:solidFill>
                  <a:latin typeface="仿宋" pitchFamily="49" charset="-122"/>
                  <a:ea typeface="仿宋" pitchFamily="49" charset="-122"/>
                </a:rPr>
                <a:t>顺序表</a:t>
              </a:r>
              <a:endParaRPr lang="zh-CN" altLang="en-US" sz="2000">
                <a:solidFill>
                  <a:srgbClr val="0000FF"/>
                </a:solidFill>
                <a:latin typeface="仿宋" pitchFamily="49" charset="-122"/>
                <a:ea typeface="仿宋" pitchFamily="49" charset="-122"/>
              </a:endParaRPr>
            </a:p>
          </p:txBody>
        </p:sp>
        <p:sp>
          <p:nvSpPr>
            <p:cNvPr id="12" name="流程图: 卡片 11"/>
            <p:cNvSpPr/>
            <p:nvPr/>
          </p:nvSpPr>
          <p:spPr>
            <a:xfrm>
              <a:off x="3681407" y="4000504"/>
              <a:ext cx="1000132" cy="571504"/>
            </a:xfrm>
            <a:prstGeom prst="flowChartPunchedCard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bIns="108000" rtlCol="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2000" smtClean="0">
                  <a:solidFill>
                    <a:srgbClr val="0000FF"/>
                  </a:solidFill>
                  <a:latin typeface="仿宋" pitchFamily="49" charset="-122"/>
                  <a:ea typeface="仿宋" pitchFamily="49" charset="-122"/>
                </a:rPr>
                <a:t>链表</a:t>
              </a:r>
              <a:endParaRPr lang="zh-CN" altLang="en-US" sz="2000">
                <a:solidFill>
                  <a:srgbClr val="0000FF"/>
                </a:solidFill>
                <a:latin typeface="仿宋" pitchFamily="49" charset="-122"/>
                <a:ea typeface="仿宋" pitchFamily="49" charset="-122"/>
              </a:endParaRPr>
            </a:p>
          </p:txBody>
        </p:sp>
        <p:cxnSp>
          <p:nvCxnSpPr>
            <p:cNvPr id="14" name="直接箭头连接符 13"/>
            <p:cNvCxnSpPr>
              <a:endCxn id="11" idx="0"/>
            </p:cNvCxnSpPr>
            <p:nvPr/>
          </p:nvCxnSpPr>
          <p:spPr>
            <a:xfrm rot="5400000">
              <a:off x="2593168" y="3393281"/>
              <a:ext cx="728668" cy="485779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>
              <a:endCxn id="12" idx="0"/>
            </p:cNvCxnSpPr>
            <p:nvPr/>
          </p:nvCxnSpPr>
          <p:spPr>
            <a:xfrm rot="16200000" flipH="1">
              <a:off x="3555200" y="3374231"/>
              <a:ext cx="752480" cy="500066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5681671" y="2786058"/>
              <a:ext cx="1143008" cy="453183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tIns="72000" bIns="7200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2000" smtClean="0">
                  <a:solidFill>
                    <a:srgbClr val="0000FF"/>
                  </a:solidFill>
                  <a:latin typeface="仿宋" pitchFamily="49" charset="-122"/>
                  <a:ea typeface="仿宋" pitchFamily="49" charset="-122"/>
                </a:rPr>
                <a:t>栈</a:t>
              </a:r>
            </a:p>
          </p:txBody>
        </p:sp>
        <p:sp>
          <p:nvSpPr>
            <p:cNvPr id="24" name="流程图: 卡片 23"/>
            <p:cNvSpPr/>
            <p:nvPr/>
          </p:nvSpPr>
          <p:spPr>
            <a:xfrm>
              <a:off x="5072066" y="4000504"/>
              <a:ext cx="1000132" cy="571504"/>
            </a:xfrm>
            <a:prstGeom prst="flowChartPunchedCard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bIns="108000" rtlCol="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2000" smtClean="0">
                  <a:solidFill>
                    <a:schemeClr val="bg1"/>
                  </a:solidFill>
                  <a:latin typeface="仿宋" pitchFamily="49" charset="-122"/>
                  <a:ea typeface="仿宋" pitchFamily="49" charset="-122"/>
                </a:rPr>
                <a:t>顺序栈</a:t>
              </a:r>
              <a:endParaRPr lang="zh-CN" altLang="en-US" sz="2000">
                <a:solidFill>
                  <a:schemeClr val="bg1"/>
                </a:solidFill>
                <a:latin typeface="仿宋" pitchFamily="49" charset="-122"/>
                <a:ea typeface="仿宋" pitchFamily="49" charset="-122"/>
              </a:endParaRPr>
            </a:p>
          </p:txBody>
        </p:sp>
        <p:sp>
          <p:nvSpPr>
            <p:cNvPr id="25" name="流程图: 卡片 24"/>
            <p:cNvSpPr/>
            <p:nvPr/>
          </p:nvSpPr>
          <p:spPr>
            <a:xfrm>
              <a:off x="6538927" y="4000504"/>
              <a:ext cx="1000132" cy="571504"/>
            </a:xfrm>
            <a:prstGeom prst="flowChartPunchedCard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bIns="108000" rtlCol="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2000" smtClean="0">
                  <a:solidFill>
                    <a:srgbClr val="0000FF"/>
                  </a:solidFill>
                  <a:latin typeface="仿宋" pitchFamily="49" charset="-122"/>
                  <a:ea typeface="仿宋" pitchFamily="49" charset="-122"/>
                </a:rPr>
                <a:t>链栈</a:t>
              </a:r>
              <a:endParaRPr lang="zh-CN" altLang="en-US" sz="2000">
                <a:solidFill>
                  <a:srgbClr val="0000FF"/>
                </a:solidFill>
                <a:latin typeface="仿宋" pitchFamily="49" charset="-122"/>
                <a:ea typeface="仿宋" pitchFamily="49" charset="-122"/>
              </a:endParaRPr>
            </a:p>
          </p:txBody>
        </p:sp>
        <p:cxnSp>
          <p:nvCxnSpPr>
            <p:cNvPr id="26" name="直接箭头连接符 25"/>
            <p:cNvCxnSpPr>
              <a:endCxn id="24" idx="0"/>
            </p:cNvCxnSpPr>
            <p:nvPr/>
          </p:nvCxnSpPr>
          <p:spPr>
            <a:xfrm rot="5400000">
              <a:off x="5450688" y="3393281"/>
              <a:ext cx="728668" cy="485779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>
              <a:endCxn id="25" idx="0"/>
            </p:cNvCxnSpPr>
            <p:nvPr/>
          </p:nvCxnSpPr>
          <p:spPr>
            <a:xfrm rot="16200000" flipH="1">
              <a:off x="6412720" y="3374231"/>
              <a:ext cx="752480" cy="500066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500034" y="2786058"/>
              <a:ext cx="12858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2000" smtClean="0">
                  <a:solidFill>
                    <a:srgbClr val="0000FF"/>
                  </a:solidFill>
                  <a:latin typeface="仿宋" pitchFamily="49" charset="-122"/>
                  <a:ea typeface="仿宋" pitchFamily="49" charset="-122"/>
                </a:rPr>
                <a:t>逻辑结构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00034" y="4143380"/>
              <a:ext cx="12858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2000" smtClean="0">
                  <a:solidFill>
                    <a:srgbClr val="0000FF"/>
                  </a:solidFill>
                  <a:latin typeface="仿宋" pitchFamily="49" charset="-122"/>
                  <a:ea typeface="仿宋" pitchFamily="49" charset="-122"/>
                </a:rPr>
                <a:t>存储结构</a:t>
              </a:r>
            </a:p>
          </p:txBody>
        </p:sp>
        <p:cxnSp>
          <p:nvCxnSpPr>
            <p:cNvPr id="31" name="直接箭头连接符 30"/>
            <p:cNvCxnSpPr>
              <a:stCxn id="28" idx="2"/>
            </p:cNvCxnSpPr>
            <p:nvPr/>
          </p:nvCxnSpPr>
          <p:spPr>
            <a:xfrm rot="5400000">
              <a:off x="699295" y="3629055"/>
              <a:ext cx="886568" cy="794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>
              <a:off x="1142976" y="3429000"/>
              <a:ext cx="7858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2000" smtClean="0">
                  <a:solidFill>
                    <a:srgbClr val="FF00FF"/>
                  </a:solidFill>
                  <a:latin typeface="仿宋" pitchFamily="49" charset="-122"/>
                  <a:ea typeface="仿宋" pitchFamily="49" charset="-122"/>
                </a:rPr>
                <a:t>映射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 rot="5400000">
              <a:off x="4624789" y="2790420"/>
              <a:ext cx="428628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ts val="3000"/>
                </a:lnSpc>
                <a:spcBef>
                  <a:spcPts val="0"/>
                </a:spcBef>
              </a:pPr>
              <a:r>
                <a:rPr lang="zh-CN" altLang="en-US" sz="2000" smtClean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∩</a:t>
              </a:r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571472" y="642918"/>
            <a:ext cx="7000924" cy="46166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mtClean="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3.1.2 </a:t>
            </a:r>
            <a:r>
              <a:rPr lang="zh-CN" altLang="zh-CN" smtClean="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栈的顺序存储结构及其基本运算算法实现</a:t>
            </a:r>
          </a:p>
        </p:txBody>
      </p:sp>
      <p:sp>
        <p:nvSpPr>
          <p:cNvPr id="21" name="燕尾形 20"/>
          <p:cNvSpPr/>
          <p:nvPr/>
        </p:nvSpPr>
        <p:spPr bwMode="auto">
          <a:xfrm rot="16200000">
            <a:off x="5607851" y="4964917"/>
            <a:ext cx="714380" cy="357190"/>
          </a:xfrm>
          <a:prstGeom prst="chevron">
            <a:avLst/>
          </a:prstGeom>
          <a:ln>
            <a:headEnd/>
            <a:tailEnd type="arrow" w="sm" len="sm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20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5" name="灯片编号占位符 3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9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 bwMode="auto">
          <a:xfrm>
            <a:off x="1357290" y="1142984"/>
            <a:ext cx="6000792" cy="1643074"/>
          </a:xfrm>
          <a:prstGeom prst="rect">
            <a:avLst/>
          </a:prstGeom>
          <a:ln>
            <a:noFill/>
            <a:headEnd/>
            <a:tailEnd type="arrow" w="sm" len="sm"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18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0034" y="428604"/>
            <a:ext cx="1500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0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顺序栈实现</a:t>
            </a:r>
            <a:endParaRPr lang="zh-CN" altLang="en-US" sz="2000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643042" y="1357298"/>
            <a:ext cx="4798345" cy="1357322"/>
            <a:chOff x="1500166" y="1142984"/>
            <a:chExt cx="4798345" cy="1357322"/>
          </a:xfrm>
        </p:grpSpPr>
        <p:sp>
          <p:nvSpPr>
            <p:cNvPr id="2068" name="Rectangle 20"/>
            <p:cNvSpPr>
              <a:spLocks noChangeArrowheads="1"/>
            </p:cNvSpPr>
            <p:nvPr/>
          </p:nvSpPr>
          <p:spPr bwMode="auto">
            <a:xfrm>
              <a:off x="2531089" y="1536088"/>
              <a:ext cx="481532" cy="41959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45720" rIns="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i="0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  <a:endParaRPr kumimoji="0" lang="en-US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067" name="Rectangle 19"/>
            <p:cNvSpPr>
              <a:spLocks noChangeArrowheads="1"/>
            </p:cNvSpPr>
            <p:nvPr/>
          </p:nvSpPr>
          <p:spPr bwMode="auto">
            <a:xfrm>
              <a:off x="3005217" y="1536088"/>
              <a:ext cx="481532" cy="41959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45720" rIns="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i="0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endParaRPr kumimoji="0" lang="en-US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066" name="Rectangle 18"/>
            <p:cNvSpPr>
              <a:spLocks noChangeArrowheads="1"/>
            </p:cNvSpPr>
            <p:nvPr/>
          </p:nvSpPr>
          <p:spPr bwMode="auto">
            <a:xfrm>
              <a:off x="3481446" y="1536088"/>
              <a:ext cx="646992" cy="41959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45720" rIns="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+mn-ea"/>
                  <a:ea typeface="+mn-ea"/>
                  <a:cs typeface="Consolas" pitchFamily="49" charset="0"/>
                </a:rPr>
                <a:t>…</a:t>
              </a:r>
            </a:p>
          </p:txBody>
        </p:sp>
        <p:sp>
          <p:nvSpPr>
            <p:cNvPr id="2065" name="Rectangle 17"/>
            <p:cNvSpPr>
              <a:spLocks noChangeArrowheads="1"/>
            </p:cNvSpPr>
            <p:nvPr/>
          </p:nvSpPr>
          <p:spPr bwMode="auto">
            <a:xfrm>
              <a:off x="4128437" y="1536088"/>
              <a:ext cx="481532" cy="41959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45720" rIns="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i="1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i</a:t>
              </a:r>
              <a:r>
                <a:rPr kumimoji="0" lang="en-US" altLang="zh-CN" sz="1600" i="0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-1</a:t>
              </a:r>
              <a:endParaRPr kumimoji="0" lang="en-US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064" name="Rectangle 16"/>
            <p:cNvSpPr>
              <a:spLocks noChangeArrowheads="1"/>
            </p:cNvSpPr>
            <p:nvPr/>
          </p:nvSpPr>
          <p:spPr bwMode="auto">
            <a:xfrm>
              <a:off x="4609969" y="1536088"/>
              <a:ext cx="481532" cy="41959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45720" rIns="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i="1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i</a:t>
              </a:r>
              <a:endParaRPr kumimoji="0" lang="en-US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063" name="Rectangle 15"/>
            <p:cNvSpPr>
              <a:spLocks noChangeArrowheads="1"/>
            </p:cNvSpPr>
            <p:nvPr/>
          </p:nvSpPr>
          <p:spPr bwMode="auto">
            <a:xfrm>
              <a:off x="5088318" y="1536088"/>
              <a:ext cx="646992" cy="41959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45720" rIns="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+mn-ea"/>
                  <a:ea typeface="+mn-ea"/>
                  <a:cs typeface="Consolas" pitchFamily="49" charset="0"/>
                </a:rPr>
                <a:t>…</a:t>
              </a:r>
            </a:p>
          </p:txBody>
        </p:sp>
        <p:sp>
          <p:nvSpPr>
            <p:cNvPr id="2062" name="Rectangle 14"/>
            <p:cNvSpPr>
              <a:spLocks noChangeArrowheads="1"/>
            </p:cNvSpPr>
            <p:nvPr/>
          </p:nvSpPr>
          <p:spPr bwMode="auto">
            <a:xfrm>
              <a:off x="5731067" y="1536088"/>
              <a:ext cx="481532" cy="41959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45720" rIns="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i="1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n</a:t>
              </a:r>
              <a:r>
                <a:rPr kumimoji="0" lang="en-US" altLang="zh-CN" sz="1600" i="0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-1</a:t>
              </a:r>
              <a:endParaRPr kumimoji="0" lang="en-US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061" name="Text Box 13"/>
            <p:cNvSpPr txBox="1">
              <a:spLocks noChangeArrowheads="1"/>
            </p:cNvSpPr>
            <p:nvPr/>
          </p:nvSpPr>
          <p:spPr bwMode="auto">
            <a:xfrm>
              <a:off x="1509712" y="1615557"/>
              <a:ext cx="950335" cy="33058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data</a:t>
              </a:r>
              <a:r>
                <a:rPr kumimoji="0" lang="zh-CN" altLang="en-US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数组</a:t>
              </a:r>
            </a:p>
          </p:txBody>
        </p:sp>
        <p:sp>
          <p:nvSpPr>
            <p:cNvPr id="2060" name="Text Box 12"/>
            <p:cNvSpPr txBox="1">
              <a:spLocks noChangeArrowheads="1"/>
            </p:cNvSpPr>
            <p:nvPr/>
          </p:nvSpPr>
          <p:spPr bwMode="auto">
            <a:xfrm>
              <a:off x="1500166" y="1172652"/>
              <a:ext cx="955639" cy="32952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元素索引</a:t>
              </a:r>
            </a:p>
          </p:txBody>
        </p:sp>
        <p:sp>
          <p:nvSpPr>
            <p:cNvPr id="2059" name="Text Box 11"/>
            <p:cNvSpPr txBox="1">
              <a:spLocks noChangeArrowheads="1"/>
            </p:cNvSpPr>
            <p:nvPr/>
          </p:nvSpPr>
          <p:spPr bwMode="auto">
            <a:xfrm>
              <a:off x="2473835" y="1154639"/>
              <a:ext cx="589717" cy="33058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B0F0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</a:p>
          </p:txBody>
        </p:sp>
        <p:sp>
          <p:nvSpPr>
            <p:cNvPr id="2058" name="Text Box 10"/>
            <p:cNvSpPr txBox="1">
              <a:spLocks noChangeArrowheads="1"/>
            </p:cNvSpPr>
            <p:nvPr/>
          </p:nvSpPr>
          <p:spPr bwMode="auto">
            <a:xfrm>
              <a:off x="2945821" y="1149341"/>
              <a:ext cx="589717" cy="33058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B0F0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</a:p>
          </p:txBody>
        </p:sp>
        <p:sp>
          <p:nvSpPr>
            <p:cNvPr id="2057" name="Text Box 9"/>
            <p:cNvSpPr txBox="1">
              <a:spLocks noChangeArrowheads="1"/>
            </p:cNvSpPr>
            <p:nvPr/>
          </p:nvSpPr>
          <p:spPr bwMode="auto">
            <a:xfrm>
              <a:off x="3589631" y="1149341"/>
              <a:ext cx="433803" cy="33058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i="0" u="none" strike="noStrike" cap="none" normalizeH="0" baseline="0" smtClean="0">
                  <a:ln>
                    <a:noFill/>
                  </a:ln>
                  <a:solidFill>
                    <a:srgbClr val="00B0F0"/>
                  </a:solidFill>
                  <a:effectLst/>
                  <a:latin typeface="+mn-ea"/>
                  <a:ea typeface="+mn-ea"/>
                  <a:cs typeface="Consolas" pitchFamily="49" charset="0"/>
                </a:rPr>
                <a:t>…</a:t>
              </a:r>
            </a:p>
          </p:txBody>
        </p:sp>
        <p:sp>
          <p:nvSpPr>
            <p:cNvPr id="2056" name="Text Box 8"/>
            <p:cNvSpPr txBox="1">
              <a:spLocks noChangeArrowheads="1"/>
            </p:cNvSpPr>
            <p:nvPr/>
          </p:nvSpPr>
          <p:spPr bwMode="auto">
            <a:xfrm>
              <a:off x="4095557" y="1151461"/>
              <a:ext cx="589717" cy="32952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B0F0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i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B0F0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-1</a:t>
              </a:r>
            </a:p>
          </p:txBody>
        </p:sp>
        <p:sp>
          <p:nvSpPr>
            <p:cNvPr id="2055" name="Text Box 7"/>
            <p:cNvSpPr txBox="1">
              <a:spLocks noChangeArrowheads="1"/>
            </p:cNvSpPr>
            <p:nvPr/>
          </p:nvSpPr>
          <p:spPr bwMode="auto">
            <a:xfrm>
              <a:off x="4691638" y="1151461"/>
              <a:ext cx="311829" cy="32952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B0F0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i</a:t>
              </a:r>
              <a:endParaRPr kumimoji="0" lang="en-US" altLang="zh-CN" sz="1600" i="0" u="none" strike="noStrike" cap="none" normalizeH="0" baseline="0" smtClean="0">
                <a:ln>
                  <a:noFill/>
                </a:ln>
                <a:solidFill>
                  <a:srgbClr val="00B0F0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054" name="Text Box 6"/>
            <p:cNvSpPr txBox="1">
              <a:spLocks noChangeArrowheads="1"/>
            </p:cNvSpPr>
            <p:nvPr/>
          </p:nvSpPr>
          <p:spPr bwMode="auto">
            <a:xfrm>
              <a:off x="5066045" y="1147222"/>
              <a:ext cx="589717" cy="33058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i="0" u="none" strike="noStrike" cap="none" normalizeH="0" baseline="0" smtClean="0">
                  <a:ln>
                    <a:noFill/>
                  </a:ln>
                  <a:solidFill>
                    <a:srgbClr val="00B0F0"/>
                  </a:solidFill>
                  <a:effectLst/>
                  <a:latin typeface="+mn-ea"/>
                  <a:ea typeface="+mn-ea"/>
                  <a:cs typeface="Consolas" pitchFamily="49" charset="0"/>
                </a:rPr>
                <a:t>…</a:t>
              </a:r>
            </a:p>
          </p:txBody>
        </p:sp>
        <p:sp>
          <p:nvSpPr>
            <p:cNvPr id="2053" name="Text Box 5"/>
            <p:cNvSpPr txBox="1">
              <a:spLocks noChangeArrowheads="1"/>
            </p:cNvSpPr>
            <p:nvPr/>
          </p:nvSpPr>
          <p:spPr bwMode="auto">
            <a:xfrm>
              <a:off x="5708794" y="1142984"/>
              <a:ext cx="589717" cy="32952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B0F0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n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B0F0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-1</a:t>
              </a:r>
            </a:p>
          </p:txBody>
        </p:sp>
        <p:sp>
          <p:nvSpPr>
            <p:cNvPr id="2052" name="Text Box 4"/>
            <p:cNvSpPr txBox="1">
              <a:spLocks noChangeArrowheads="1"/>
            </p:cNvSpPr>
            <p:nvPr/>
          </p:nvSpPr>
          <p:spPr bwMode="auto">
            <a:xfrm>
              <a:off x="5735310" y="2170777"/>
              <a:ext cx="479410" cy="32952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top</a:t>
              </a:r>
            </a:p>
          </p:txBody>
        </p:sp>
        <p:sp>
          <p:nvSpPr>
            <p:cNvPr id="2051" name="AutoShape 3"/>
            <p:cNvSpPr>
              <a:spLocks noChangeShapeType="1"/>
            </p:cNvSpPr>
            <p:nvPr/>
          </p:nvSpPr>
          <p:spPr bwMode="auto">
            <a:xfrm flipH="1" flipV="1">
              <a:off x="5971833" y="1955682"/>
              <a:ext cx="1061" cy="29986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050" name="Text Box 2"/>
            <p:cNvSpPr txBox="1">
              <a:spLocks noChangeArrowheads="1"/>
            </p:cNvSpPr>
            <p:nvPr/>
          </p:nvSpPr>
          <p:spPr bwMode="auto">
            <a:xfrm>
              <a:off x="2521564" y="2060580"/>
              <a:ext cx="479410" cy="32952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栈底</a:t>
              </a: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714348" y="3643314"/>
            <a:ext cx="7715304" cy="193014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342900" indent="-342900" algn="l">
              <a:lnSpc>
                <a:spcPts val="28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chemeClr val="bg1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由于栈顶是动态变化的，为此设置一个栈顶指针</a:t>
            </a:r>
            <a:r>
              <a:rPr lang="en-US" altLang="zh-CN" sz="2000" smtClean="0">
                <a:solidFill>
                  <a:schemeClr val="bg1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top</a:t>
            </a:r>
            <a:r>
              <a:rPr lang="zh-CN" altLang="zh-CN" sz="2000" smtClean="0">
                <a:solidFill>
                  <a:schemeClr val="bg1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以反映栈状态，约定</a:t>
            </a:r>
            <a:r>
              <a:rPr lang="en-US" altLang="zh-CN" sz="2000" smtClean="0">
                <a:solidFill>
                  <a:schemeClr val="bg1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top</a:t>
            </a:r>
            <a:r>
              <a:rPr lang="zh-CN" altLang="zh-CN" sz="2000" smtClean="0">
                <a:solidFill>
                  <a:schemeClr val="bg1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总是指向栈顶元素。</a:t>
            </a:r>
          </a:p>
          <a:p>
            <a:pPr marL="342900" indent="-342900" algn="l">
              <a:lnSpc>
                <a:spcPts val="28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chemeClr val="bg1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为了简单，这里的</a:t>
            </a:r>
            <a:r>
              <a:rPr lang="en-US" altLang="zh-CN" sz="2000" smtClean="0">
                <a:solidFill>
                  <a:schemeClr val="bg1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data</a:t>
            </a:r>
            <a:r>
              <a:rPr lang="zh-CN" altLang="zh-CN" sz="2000" smtClean="0">
                <a:solidFill>
                  <a:schemeClr val="bg1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数组采用固定容量（容量为</a:t>
            </a:r>
            <a:r>
              <a:rPr lang="en-US" altLang="zh-CN" sz="2000" smtClean="0">
                <a:solidFill>
                  <a:schemeClr val="bg1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MaxSize</a:t>
            </a:r>
            <a:r>
              <a:rPr lang="zh-CN" altLang="zh-CN" sz="2000" smtClean="0">
                <a:solidFill>
                  <a:schemeClr val="bg1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）分配方式，并且置</a:t>
            </a:r>
            <a:r>
              <a:rPr lang="en-US" altLang="zh-CN" sz="2000" smtClean="0">
                <a:solidFill>
                  <a:schemeClr val="bg1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data[0]</a:t>
            </a:r>
            <a:r>
              <a:rPr lang="zh-CN" altLang="zh-CN" sz="2000" smtClean="0">
                <a:solidFill>
                  <a:schemeClr val="bg1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端作为栈底，另外一端</a:t>
            </a:r>
            <a:r>
              <a:rPr lang="en-US" altLang="zh-CN" sz="2000" smtClean="0">
                <a:solidFill>
                  <a:schemeClr val="bg1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data[MaxSize-1]</a:t>
            </a:r>
            <a:r>
              <a:rPr lang="zh-CN" altLang="zh-CN" sz="2000" smtClean="0">
                <a:solidFill>
                  <a:schemeClr val="bg1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作为栈顶，其中的元素个数恰好为</a:t>
            </a:r>
            <a:r>
              <a:rPr lang="en-US" altLang="zh-CN" sz="2000" smtClean="0">
                <a:solidFill>
                  <a:schemeClr val="bg1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top+1</a:t>
            </a:r>
            <a:r>
              <a:rPr lang="zh-CN" altLang="zh-CN" sz="2000" smtClean="0">
                <a:solidFill>
                  <a:schemeClr val="bg1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lang="zh-CN" altLang="en-US" sz="2000" smtClean="0">
              <a:solidFill>
                <a:schemeClr val="bg1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35" name="下箭头 34"/>
          <p:cNvSpPr/>
          <p:nvPr/>
        </p:nvSpPr>
        <p:spPr bwMode="auto">
          <a:xfrm>
            <a:off x="4429124" y="2928934"/>
            <a:ext cx="214314" cy="357190"/>
          </a:xfrm>
          <a:prstGeom prst="downArrow">
            <a:avLst/>
          </a:prstGeom>
          <a:ln>
            <a:headEnd/>
            <a:tailEnd type="arrow" w="sm" len="sm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0" name="灯片编号占位符 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10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0" name="Rectangle 6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78" name="组合 77"/>
          <p:cNvGrpSpPr/>
          <p:nvPr/>
        </p:nvGrpSpPr>
        <p:grpSpPr>
          <a:xfrm>
            <a:off x="857224" y="3643314"/>
            <a:ext cx="6643734" cy="2308866"/>
            <a:chOff x="500034" y="3416858"/>
            <a:chExt cx="6643734" cy="2308866"/>
          </a:xfrm>
        </p:grpSpPr>
        <p:sp>
          <p:nvSpPr>
            <p:cNvPr id="71" name="TextBox 70"/>
            <p:cNvSpPr txBox="1"/>
            <p:nvPr/>
          </p:nvSpPr>
          <p:spPr>
            <a:xfrm>
              <a:off x="500034" y="3416858"/>
              <a:ext cx="47149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 sz="2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顺序栈的四要素如下</a:t>
              </a:r>
              <a:r>
                <a:rPr lang="zh-CN" altLang="en-US" sz="2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（初始时</a:t>
              </a:r>
              <a:r>
                <a:rPr lang="en-US" altLang="zh-CN" sz="2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top=-1</a:t>
              </a:r>
              <a:r>
                <a:rPr lang="zh-CN" altLang="en-US" sz="2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）</a:t>
              </a:r>
              <a:r>
                <a:rPr lang="zh-CN" altLang="zh-CN" sz="2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：</a:t>
              </a:r>
              <a:endPara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571472" y="3988362"/>
              <a:ext cx="6572296" cy="17373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lIns="180000" tIns="144000" rIns="180000" bIns="144000" rtlCol="0">
              <a:spAutoFit/>
            </a:bodyPr>
            <a:lstStyle/>
            <a:p>
              <a:pPr algn="l"/>
              <a:r>
                <a:rPr lang="zh-CN" altLang="zh-CN" sz="2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① </a:t>
              </a:r>
              <a:r>
                <a:rPr lang="zh-CN" altLang="zh-CN" sz="2000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栈空条件</a:t>
              </a:r>
              <a:r>
                <a:rPr lang="zh-CN" altLang="zh-CN" sz="2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：</a:t>
              </a:r>
              <a:r>
                <a:rPr lang="en-US" altLang="zh-CN" sz="2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top==-1</a:t>
              </a:r>
              <a:r>
                <a:rPr lang="zh-CN" altLang="zh-CN" sz="2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。</a:t>
              </a:r>
            </a:p>
            <a:p>
              <a:pPr algn="l"/>
              <a:r>
                <a:rPr lang="zh-CN" altLang="zh-CN" sz="2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② </a:t>
              </a:r>
              <a:r>
                <a:rPr lang="zh-CN" altLang="zh-CN" sz="2000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栈满条件</a:t>
              </a:r>
              <a:r>
                <a:rPr lang="zh-CN" altLang="zh-CN" sz="2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：</a:t>
              </a:r>
              <a:r>
                <a:rPr lang="en-US" altLang="zh-CN" sz="2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top==MaxSize-1</a:t>
              </a:r>
              <a:r>
                <a:rPr lang="zh-CN" altLang="zh-CN" sz="2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。</a:t>
              </a:r>
            </a:p>
            <a:p>
              <a:pPr algn="l"/>
              <a:r>
                <a:rPr lang="zh-CN" altLang="zh-CN" sz="2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③ </a:t>
              </a:r>
              <a:r>
                <a:rPr lang="zh-CN" altLang="zh-CN" sz="2000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元素</a:t>
              </a:r>
              <a:r>
                <a:rPr lang="en-US" altLang="zh-CN" sz="2000" i="1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e</a:t>
              </a:r>
              <a:r>
                <a:rPr lang="zh-CN" altLang="zh-CN" sz="2000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进栈操作</a:t>
              </a:r>
              <a:r>
                <a:rPr lang="zh-CN" altLang="zh-CN" sz="2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：</a:t>
              </a:r>
              <a:r>
                <a:rPr lang="en-US" altLang="zh-CN" sz="2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top++;data[top]=e</a:t>
              </a:r>
              <a:r>
                <a:rPr lang="zh-CN" altLang="zh-CN" sz="2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。</a:t>
              </a:r>
            </a:p>
            <a:p>
              <a:pPr algn="l"/>
              <a:r>
                <a:rPr lang="zh-CN" altLang="zh-CN" sz="2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④ </a:t>
              </a:r>
              <a:r>
                <a:rPr lang="zh-CN" altLang="zh-CN" sz="2000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出栈操作</a:t>
              </a:r>
              <a:r>
                <a:rPr lang="zh-CN" altLang="zh-CN" sz="2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：</a:t>
              </a:r>
              <a:r>
                <a:rPr lang="en-US" altLang="zh-CN" sz="2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e=data[top];top--</a:t>
              </a:r>
              <a:r>
                <a:rPr lang="zh-CN" altLang="zh-CN" sz="2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。</a:t>
              </a:r>
              <a:endPara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66" name="TextBox 65"/>
          <p:cNvSpPr txBox="1"/>
          <p:nvPr/>
        </p:nvSpPr>
        <p:spPr>
          <a:xfrm>
            <a:off x="285720" y="214290"/>
            <a:ext cx="2500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1800" smtClean="0">
                <a:solidFill>
                  <a:srgbClr val="0000FF"/>
                </a:solidFill>
                <a:latin typeface="Consolas" pitchFamily="49" charset="0"/>
                <a:ea typeface="华文中宋" pitchFamily="2" charset="-122"/>
                <a:cs typeface="Consolas" pitchFamily="49" charset="0"/>
              </a:rPr>
              <a:t>顺序栈（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华文中宋" pitchFamily="2" charset="-122"/>
                <a:cs typeface="Consolas" pitchFamily="49" charset="0"/>
              </a:rPr>
              <a:t>MaxSize=5</a:t>
            </a:r>
            <a:r>
              <a:rPr lang="zh-CN" altLang="en-US" sz="1800" smtClean="0">
                <a:solidFill>
                  <a:srgbClr val="0000FF"/>
                </a:solidFill>
                <a:latin typeface="Consolas" pitchFamily="49" charset="0"/>
                <a:ea typeface="华文中宋" pitchFamily="2" charset="-122"/>
                <a:cs typeface="Consolas" pitchFamily="49" charset="0"/>
              </a:rPr>
              <a:t>）</a:t>
            </a:r>
          </a:p>
        </p:txBody>
      </p:sp>
      <p:grpSp>
        <p:nvGrpSpPr>
          <p:cNvPr id="92" name="组合 91"/>
          <p:cNvGrpSpPr/>
          <p:nvPr/>
        </p:nvGrpSpPr>
        <p:grpSpPr>
          <a:xfrm>
            <a:off x="395402" y="846659"/>
            <a:ext cx="1659319" cy="2429994"/>
            <a:chOff x="395402" y="846659"/>
            <a:chExt cx="1659319" cy="2429994"/>
          </a:xfrm>
        </p:grpSpPr>
        <p:sp>
          <p:nvSpPr>
            <p:cNvPr id="2097" name="Rectangle 49"/>
            <p:cNvSpPr>
              <a:spLocks noChangeArrowheads="1"/>
            </p:cNvSpPr>
            <p:nvPr/>
          </p:nvSpPr>
          <p:spPr bwMode="auto">
            <a:xfrm>
              <a:off x="714348" y="3000372"/>
              <a:ext cx="1323470" cy="27628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（</a:t>
              </a:r>
              <a:r>
                <a: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）空栈</a:t>
              </a:r>
            </a:p>
          </p:txBody>
        </p:sp>
        <p:sp>
          <p:nvSpPr>
            <p:cNvPr id="36" name="Rectangle 41"/>
            <p:cNvSpPr>
              <a:spLocks noChangeArrowheads="1"/>
            </p:cNvSpPr>
            <p:nvPr/>
          </p:nvSpPr>
          <p:spPr bwMode="auto">
            <a:xfrm>
              <a:off x="1109782" y="846659"/>
              <a:ext cx="584819" cy="339121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37" name="Rectangle 22"/>
            <p:cNvSpPr>
              <a:spLocks noChangeArrowheads="1"/>
            </p:cNvSpPr>
            <p:nvPr/>
          </p:nvSpPr>
          <p:spPr bwMode="auto">
            <a:xfrm>
              <a:off x="1772577" y="1201544"/>
              <a:ext cx="276165" cy="24594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3</a:t>
              </a:r>
            </a:p>
          </p:txBody>
        </p:sp>
        <p:sp>
          <p:nvSpPr>
            <p:cNvPr id="38" name="Rectangle 21"/>
            <p:cNvSpPr>
              <a:spLocks noChangeArrowheads="1"/>
            </p:cNvSpPr>
            <p:nvPr/>
          </p:nvSpPr>
          <p:spPr bwMode="auto">
            <a:xfrm>
              <a:off x="1772577" y="1538498"/>
              <a:ext cx="276165" cy="24702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</a:p>
          </p:txBody>
        </p:sp>
        <p:sp>
          <p:nvSpPr>
            <p:cNvPr id="39" name="Rectangle 20"/>
            <p:cNvSpPr>
              <a:spLocks noChangeArrowheads="1"/>
            </p:cNvSpPr>
            <p:nvPr/>
          </p:nvSpPr>
          <p:spPr bwMode="auto">
            <a:xfrm>
              <a:off x="1772577" y="1877619"/>
              <a:ext cx="276165" cy="24486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</a:p>
          </p:txBody>
        </p:sp>
        <p:sp>
          <p:nvSpPr>
            <p:cNvPr id="40" name="Rectangle 19"/>
            <p:cNvSpPr>
              <a:spLocks noChangeArrowheads="1"/>
            </p:cNvSpPr>
            <p:nvPr/>
          </p:nvSpPr>
          <p:spPr bwMode="auto">
            <a:xfrm>
              <a:off x="1772577" y="2189653"/>
              <a:ext cx="276165" cy="24594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</a:p>
          </p:txBody>
        </p:sp>
        <p:sp>
          <p:nvSpPr>
            <p:cNvPr id="41" name="Rectangle 22"/>
            <p:cNvSpPr>
              <a:spLocks noChangeArrowheads="1"/>
            </p:cNvSpPr>
            <p:nvPr/>
          </p:nvSpPr>
          <p:spPr bwMode="auto">
            <a:xfrm>
              <a:off x="1778556" y="866757"/>
              <a:ext cx="276165" cy="24594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smtClean="0">
                  <a:solidFill>
                    <a:schemeClr val="bg1">
                      <a:lumMod val="50000"/>
                    </a:schemeClr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4</a:t>
              </a:r>
              <a:endParaRPr kumimoji="0" lang="en-US" altLang="zh-CN" sz="1800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42" name="Rectangle 41"/>
            <p:cNvSpPr>
              <a:spLocks noChangeArrowheads="1"/>
            </p:cNvSpPr>
            <p:nvPr/>
          </p:nvSpPr>
          <p:spPr bwMode="auto">
            <a:xfrm>
              <a:off x="1109782" y="1190971"/>
              <a:ext cx="584819" cy="339121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43" name="Rectangle 40"/>
            <p:cNvSpPr>
              <a:spLocks noChangeArrowheads="1"/>
            </p:cNvSpPr>
            <p:nvPr/>
          </p:nvSpPr>
          <p:spPr bwMode="auto">
            <a:xfrm>
              <a:off x="1109782" y="1519257"/>
              <a:ext cx="584819" cy="338037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44" name="Rectangle 39"/>
            <p:cNvSpPr>
              <a:spLocks noChangeArrowheads="1"/>
            </p:cNvSpPr>
            <p:nvPr/>
          </p:nvSpPr>
          <p:spPr bwMode="auto">
            <a:xfrm>
              <a:off x="1109782" y="1845377"/>
              <a:ext cx="584819" cy="339121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45" name="Rectangle 38"/>
            <p:cNvSpPr>
              <a:spLocks noChangeArrowheads="1"/>
            </p:cNvSpPr>
            <p:nvPr/>
          </p:nvSpPr>
          <p:spPr bwMode="auto">
            <a:xfrm>
              <a:off x="1109782" y="2162828"/>
              <a:ext cx="584819" cy="336954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grpSp>
          <p:nvGrpSpPr>
            <p:cNvPr id="70" name="组合 69"/>
            <p:cNvGrpSpPr/>
            <p:nvPr/>
          </p:nvGrpSpPr>
          <p:grpSpPr>
            <a:xfrm>
              <a:off x="395402" y="2500306"/>
              <a:ext cx="642942" cy="369332"/>
              <a:chOff x="71406" y="2549719"/>
              <a:chExt cx="642942" cy="369332"/>
            </a:xfrm>
          </p:grpSpPr>
          <p:cxnSp>
            <p:nvCxnSpPr>
              <p:cNvPr id="68" name="直接箭头连接符 67"/>
              <p:cNvCxnSpPr/>
              <p:nvPr/>
            </p:nvCxnSpPr>
            <p:spPr>
              <a:xfrm>
                <a:off x="500034" y="2714620"/>
                <a:ext cx="214314" cy="1588"/>
              </a:xfrm>
              <a:prstGeom prst="straightConnector1">
                <a:avLst/>
              </a:prstGeom>
              <a:ln w="19050"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9" name="TextBox 68"/>
              <p:cNvSpPr txBox="1"/>
              <p:nvPr/>
            </p:nvSpPr>
            <p:spPr>
              <a:xfrm>
                <a:off x="71406" y="2549719"/>
                <a:ext cx="5715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altLang="zh-CN" sz="1800" b="0" smtClean="0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top</a:t>
                </a:r>
                <a:endParaRPr lang="zh-CN" altLang="en-US" sz="1800" b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</p:grpSp>
        <p:sp>
          <p:nvSpPr>
            <p:cNvPr id="74" name="Rectangle 30"/>
            <p:cNvSpPr>
              <a:spLocks noChangeArrowheads="1"/>
            </p:cNvSpPr>
            <p:nvPr/>
          </p:nvSpPr>
          <p:spPr bwMode="auto">
            <a:xfrm>
              <a:off x="1758488" y="2524119"/>
              <a:ext cx="275082" cy="24702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-1</a:t>
              </a:r>
            </a:p>
          </p:txBody>
        </p:sp>
      </p:grpSp>
      <p:grpSp>
        <p:nvGrpSpPr>
          <p:cNvPr id="93" name="组合 92"/>
          <p:cNvGrpSpPr/>
          <p:nvPr/>
        </p:nvGrpSpPr>
        <p:grpSpPr>
          <a:xfrm>
            <a:off x="2467104" y="846659"/>
            <a:ext cx="1759493" cy="2429994"/>
            <a:chOff x="2467104" y="846659"/>
            <a:chExt cx="1759493" cy="2429994"/>
          </a:xfrm>
        </p:grpSpPr>
        <p:sp>
          <p:nvSpPr>
            <p:cNvPr id="2091" name="Rectangle 43"/>
            <p:cNvSpPr>
              <a:spLocks noChangeArrowheads="1"/>
            </p:cNvSpPr>
            <p:nvPr/>
          </p:nvSpPr>
          <p:spPr bwMode="auto">
            <a:xfrm>
              <a:off x="2500298" y="3000372"/>
              <a:ext cx="1726299" cy="27628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（</a:t>
              </a:r>
              <a:r>
                <a: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b</a:t>
              </a:r>
              <a:r>
                <a: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）元素</a:t>
              </a:r>
              <a:r>
                <a: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进栈</a:t>
              </a:r>
            </a:p>
          </p:txBody>
        </p:sp>
        <p:sp>
          <p:nvSpPr>
            <p:cNvPr id="46" name="Rectangle 41"/>
            <p:cNvSpPr>
              <a:spLocks noChangeArrowheads="1"/>
            </p:cNvSpPr>
            <p:nvPr/>
          </p:nvSpPr>
          <p:spPr bwMode="auto">
            <a:xfrm>
              <a:off x="3093801" y="846659"/>
              <a:ext cx="584819" cy="339121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47" name="Rectangle 22"/>
            <p:cNvSpPr>
              <a:spLocks noChangeArrowheads="1"/>
            </p:cNvSpPr>
            <p:nvPr/>
          </p:nvSpPr>
          <p:spPr bwMode="auto">
            <a:xfrm>
              <a:off x="3756596" y="1198602"/>
              <a:ext cx="276165" cy="24594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3</a:t>
              </a:r>
            </a:p>
          </p:txBody>
        </p:sp>
        <p:sp>
          <p:nvSpPr>
            <p:cNvPr id="48" name="Rectangle 21"/>
            <p:cNvSpPr>
              <a:spLocks noChangeArrowheads="1"/>
            </p:cNvSpPr>
            <p:nvPr/>
          </p:nvSpPr>
          <p:spPr bwMode="auto">
            <a:xfrm>
              <a:off x="3756596" y="1535556"/>
              <a:ext cx="276165" cy="24702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</a:p>
          </p:txBody>
        </p:sp>
        <p:sp>
          <p:nvSpPr>
            <p:cNvPr id="49" name="Rectangle 20"/>
            <p:cNvSpPr>
              <a:spLocks noChangeArrowheads="1"/>
            </p:cNvSpPr>
            <p:nvPr/>
          </p:nvSpPr>
          <p:spPr bwMode="auto">
            <a:xfrm>
              <a:off x="3756596" y="1874677"/>
              <a:ext cx="276165" cy="24486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</a:p>
          </p:txBody>
        </p:sp>
        <p:sp>
          <p:nvSpPr>
            <p:cNvPr id="50" name="Rectangle 19"/>
            <p:cNvSpPr>
              <a:spLocks noChangeArrowheads="1"/>
            </p:cNvSpPr>
            <p:nvPr/>
          </p:nvSpPr>
          <p:spPr bwMode="auto">
            <a:xfrm>
              <a:off x="3756596" y="2186711"/>
              <a:ext cx="276165" cy="24594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</a:p>
          </p:txBody>
        </p:sp>
        <p:sp>
          <p:nvSpPr>
            <p:cNvPr id="51" name="Rectangle 22"/>
            <p:cNvSpPr>
              <a:spLocks noChangeArrowheads="1"/>
            </p:cNvSpPr>
            <p:nvPr/>
          </p:nvSpPr>
          <p:spPr bwMode="auto">
            <a:xfrm>
              <a:off x="3762575" y="863815"/>
              <a:ext cx="276165" cy="24594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smtClean="0">
                  <a:solidFill>
                    <a:schemeClr val="bg1">
                      <a:lumMod val="50000"/>
                    </a:schemeClr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4</a:t>
              </a:r>
              <a:endParaRPr kumimoji="0" lang="en-US" altLang="zh-CN" sz="1800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52" name="Rectangle 41"/>
            <p:cNvSpPr>
              <a:spLocks noChangeArrowheads="1"/>
            </p:cNvSpPr>
            <p:nvPr/>
          </p:nvSpPr>
          <p:spPr bwMode="auto">
            <a:xfrm>
              <a:off x="3093801" y="1190971"/>
              <a:ext cx="584819" cy="339121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53" name="Rectangle 40"/>
            <p:cNvSpPr>
              <a:spLocks noChangeArrowheads="1"/>
            </p:cNvSpPr>
            <p:nvPr/>
          </p:nvSpPr>
          <p:spPr bwMode="auto">
            <a:xfrm>
              <a:off x="3093801" y="1519257"/>
              <a:ext cx="584819" cy="338037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54" name="Rectangle 39"/>
            <p:cNvSpPr>
              <a:spLocks noChangeArrowheads="1"/>
            </p:cNvSpPr>
            <p:nvPr/>
          </p:nvSpPr>
          <p:spPr bwMode="auto">
            <a:xfrm>
              <a:off x="3093801" y="1845377"/>
              <a:ext cx="584819" cy="339121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55" name="Rectangle 38"/>
            <p:cNvSpPr>
              <a:spLocks noChangeArrowheads="1"/>
            </p:cNvSpPr>
            <p:nvPr/>
          </p:nvSpPr>
          <p:spPr bwMode="auto">
            <a:xfrm>
              <a:off x="3093801" y="2162828"/>
              <a:ext cx="584819" cy="336954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</a:p>
          </p:txBody>
        </p:sp>
        <p:grpSp>
          <p:nvGrpSpPr>
            <p:cNvPr id="73" name="组合 72"/>
            <p:cNvGrpSpPr/>
            <p:nvPr/>
          </p:nvGrpSpPr>
          <p:grpSpPr>
            <a:xfrm>
              <a:off x="2467104" y="2171691"/>
              <a:ext cx="642942" cy="369332"/>
              <a:chOff x="71406" y="2549719"/>
              <a:chExt cx="642942" cy="369332"/>
            </a:xfrm>
          </p:grpSpPr>
          <p:cxnSp>
            <p:nvCxnSpPr>
              <p:cNvPr id="79" name="直接箭头连接符 78"/>
              <p:cNvCxnSpPr/>
              <p:nvPr/>
            </p:nvCxnSpPr>
            <p:spPr>
              <a:xfrm>
                <a:off x="500034" y="2714620"/>
                <a:ext cx="214314" cy="1588"/>
              </a:xfrm>
              <a:prstGeom prst="straightConnector1">
                <a:avLst/>
              </a:prstGeom>
              <a:ln w="19050"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0" name="TextBox 79"/>
              <p:cNvSpPr txBox="1"/>
              <p:nvPr/>
            </p:nvSpPr>
            <p:spPr>
              <a:xfrm>
                <a:off x="71406" y="2549719"/>
                <a:ext cx="5715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altLang="zh-CN" sz="1800" b="0" smtClean="0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top</a:t>
                </a:r>
                <a:endParaRPr lang="zh-CN" altLang="en-US" sz="1800" b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</p:grpSp>
        <p:sp>
          <p:nvSpPr>
            <p:cNvPr id="75" name="Rectangle 30"/>
            <p:cNvSpPr>
              <a:spLocks noChangeArrowheads="1"/>
            </p:cNvSpPr>
            <p:nvPr/>
          </p:nvSpPr>
          <p:spPr bwMode="auto">
            <a:xfrm>
              <a:off x="3786182" y="2571744"/>
              <a:ext cx="275082" cy="24702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-1</a:t>
              </a:r>
            </a:p>
          </p:txBody>
        </p:sp>
      </p:grpSp>
      <p:grpSp>
        <p:nvGrpSpPr>
          <p:cNvPr id="94" name="组合 93"/>
          <p:cNvGrpSpPr/>
          <p:nvPr/>
        </p:nvGrpSpPr>
        <p:grpSpPr>
          <a:xfrm>
            <a:off x="4543092" y="847183"/>
            <a:ext cx="2457799" cy="2429470"/>
            <a:chOff x="4543092" y="847183"/>
            <a:chExt cx="2457799" cy="2429470"/>
          </a:xfrm>
        </p:grpSpPr>
        <p:sp>
          <p:nvSpPr>
            <p:cNvPr id="34" name="Rectangle 41"/>
            <p:cNvSpPr>
              <a:spLocks noChangeArrowheads="1"/>
            </p:cNvSpPr>
            <p:nvPr/>
          </p:nvSpPr>
          <p:spPr bwMode="auto">
            <a:xfrm>
              <a:off x="5379817" y="847183"/>
              <a:ext cx="584819" cy="339121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085" name="Rectangle 37"/>
            <p:cNvSpPr>
              <a:spLocks noChangeArrowheads="1"/>
            </p:cNvSpPr>
            <p:nvPr/>
          </p:nvSpPr>
          <p:spPr bwMode="auto">
            <a:xfrm>
              <a:off x="4543092" y="3000372"/>
              <a:ext cx="2457799" cy="27628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（</a:t>
              </a:r>
              <a:r>
                <a: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c</a:t>
              </a:r>
              <a:r>
                <a: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）元素</a:t>
              </a:r>
              <a:r>
                <a: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b</a:t>
              </a:r>
              <a:r>
                <a: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、</a:t>
              </a:r>
              <a:r>
                <a: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c</a:t>
              </a:r>
              <a:r>
                <a: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、</a:t>
              </a:r>
              <a:r>
                <a: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d</a:t>
              </a:r>
              <a:r>
                <a: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进栈</a:t>
              </a:r>
            </a:p>
          </p:txBody>
        </p:sp>
        <p:sp>
          <p:nvSpPr>
            <p:cNvPr id="2070" name="Rectangle 22"/>
            <p:cNvSpPr>
              <a:spLocks noChangeArrowheads="1"/>
            </p:cNvSpPr>
            <p:nvPr/>
          </p:nvSpPr>
          <p:spPr bwMode="auto">
            <a:xfrm>
              <a:off x="6042612" y="1189601"/>
              <a:ext cx="276165" cy="24594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3</a:t>
              </a:r>
            </a:p>
          </p:txBody>
        </p:sp>
        <p:sp>
          <p:nvSpPr>
            <p:cNvPr id="2069" name="Rectangle 21"/>
            <p:cNvSpPr>
              <a:spLocks noChangeArrowheads="1"/>
            </p:cNvSpPr>
            <p:nvPr/>
          </p:nvSpPr>
          <p:spPr bwMode="auto">
            <a:xfrm>
              <a:off x="6042612" y="1526555"/>
              <a:ext cx="276165" cy="24702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</a:p>
          </p:txBody>
        </p:sp>
        <p:sp>
          <p:nvSpPr>
            <p:cNvPr id="2068" name="Rectangle 20"/>
            <p:cNvSpPr>
              <a:spLocks noChangeArrowheads="1"/>
            </p:cNvSpPr>
            <p:nvPr/>
          </p:nvSpPr>
          <p:spPr bwMode="auto">
            <a:xfrm>
              <a:off x="6042612" y="1865676"/>
              <a:ext cx="276165" cy="24486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</a:p>
          </p:txBody>
        </p:sp>
        <p:sp>
          <p:nvSpPr>
            <p:cNvPr id="2067" name="Rectangle 19"/>
            <p:cNvSpPr>
              <a:spLocks noChangeArrowheads="1"/>
            </p:cNvSpPr>
            <p:nvPr/>
          </p:nvSpPr>
          <p:spPr bwMode="auto">
            <a:xfrm>
              <a:off x="6042612" y="2177710"/>
              <a:ext cx="276165" cy="24594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</a:p>
          </p:txBody>
        </p:sp>
        <p:sp>
          <p:nvSpPr>
            <p:cNvPr id="35" name="Rectangle 22"/>
            <p:cNvSpPr>
              <a:spLocks noChangeArrowheads="1"/>
            </p:cNvSpPr>
            <p:nvPr/>
          </p:nvSpPr>
          <p:spPr bwMode="auto">
            <a:xfrm>
              <a:off x="6048591" y="854814"/>
              <a:ext cx="276165" cy="24594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smtClean="0">
                  <a:solidFill>
                    <a:schemeClr val="bg1">
                      <a:lumMod val="50000"/>
                    </a:schemeClr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4</a:t>
              </a:r>
              <a:endParaRPr kumimoji="0" lang="en-US" altLang="zh-CN" sz="1800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089" name="Rectangle 41"/>
            <p:cNvSpPr>
              <a:spLocks noChangeArrowheads="1"/>
            </p:cNvSpPr>
            <p:nvPr/>
          </p:nvSpPr>
          <p:spPr bwMode="auto">
            <a:xfrm>
              <a:off x="5379817" y="1191495"/>
              <a:ext cx="584819" cy="339121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d</a:t>
              </a:r>
            </a:p>
          </p:txBody>
        </p:sp>
        <p:sp>
          <p:nvSpPr>
            <p:cNvPr id="2088" name="Rectangle 40"/>
            <p:cNvSpPr>
              <a:spLocks noChangeArrowheads="1"/>
            </p:cNvSpPr>
            <p:nvPr/>
          </p:nvSpPr>
          <p:spPr bwMode="auto">
            <a:xfrm>
              <a:off x="5379817" y="1519781"/>
              <a:ext cx="584819" cy="338037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c</a:t>
              </a:r>
            </a:p>
          </p:txBody>
        </p:sp>
        <p:sp>
          <p:nvSpPr>
            <p:cNvPr id="2087" name="Rectangle 39"/>
            <p:cNvSpPr>
              <a:spLocks noChangeArrowheads="1"/>
            </p:cNvSpPr>
            <p:nvPr/>
          </p:nvSpPr>
          <p:spPr bwMode="auto">
            <a:xfrm>
              <a:off x="5379817" y="1845901"/>
              <a:ext cx="584819" cy="339121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b</a:t>
              </a:r>
            </a:p>
          </p:txBody>
        </p:sp>
        <p:sp>
          <p:nvSpPr>
            <p:cNvPr id="2086" name="Rectangle 38"/>
            <p:cNvSpPr>
              <a:spLocks noChangeArrowheads="1"/>
            </p:cNvSpPr>
            <p:nvPr/>
          </p:nvSpPr>
          <p:spPr bwMode="auto">
            <a:xfrm>
              <a:off x="5379817" y="2163352"/>
              <a:ext cx="584819" cy="336954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</a:p>
          </p:txBody>
        </p:sp>
        <p:grpSp>
          <p:nvGrpSpPr>
            <p:cNvPr id="81" name="组合 80"/>
            <p:cNvGrpSpPr/>
            <p:nvPr/>
          </p:nvGrpSpPr>
          <p:grpSpPr>
            <a:xfrm>
              <a:off x="4728566" y="1192397"/>
              <a:ext cx="642942" cy="369332"/>
              <a:chOff x="71406" y="2549719"/>
              <a:chExt cx="642942" cy="369332"/>
            </a:xfrm>
          </p:grpSpPr>
          <p:cxnSp>
            <p:nvCxnSpPr>
              <p:cNvPr id="82" name="直接箭头连接符 81"/>
              <p:cNvCxnSpPr/>
              <p:nvPr/>
            </p:nvCxnSpPr>
            <p:spPr>
              <a:xfrm>
                <a:off x="500034" y="2714620"/>
                <a:ext cx="214314" cy="1588"/>
              </a:xfrm>
              <a:prstGeom prst="straightConnector1">
                <a:avLst/>
              </a:prstGeom>
              <a:ln w="19050"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3" name="TextBox 82"/>
              <p:cNvSpPr txBox="1"/>
              <p:nvPr/>
            </p:nvSpPr>
            <p:spPr>
              <a:xfrm>
                <a:off x="71406" y="2549719"/>
                <a:ext cx="5715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altLang="zh-CN" sz="1800" b="0" smtClean="0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top</a:t>
                </a:r>
                <a:endParaRPr lang="zh-CN" altLang="en-US" sz="1800" b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</p:grpSp>
        <p:sp>
          <p:nvSpPr>
            <p:cNvPr id="76" name="Rectangle 30"/>
            <p:cNvSpPr>
              <a:spLocks noChangeArrowheads="1"/>
            </p:cNvSpPr>
            <p:nvPr/>
          </p:nvSpPr>
          <p:spPr bwMode="auto">
            <a:xfrm>
              <a:off x="6020955" y="2571744"/>
              <a:ext cx="275082" cy="24702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-1</a:t>
              </a:r>
            </a:p>
          </p:txBody>
        </p:sp>
      </p:grpSp>
      <p:grpSp>
        <p:nvGrpSpPr>
          <p:cNvPr id="95" name="组合 94"/>
          <p:cNvGrpSpPr/>
          <p:nvPr/>
        </p:nvGrpSpPr>
        <p:grpSpPr>
          <a:xfrm>
            <a:off x="6862922" y="838182"/>
            <a:ext cx="2066796" cy="2438471"/>
            <a:chOff x="6862922" y="838182"/>
            <a:chExt cx="2066796" cy="2438471"/>
          </a:xfrm>
        </p:grpSpPr>
        <p:sp>
          <p:nvSpPr>
            <p:cNvPr id="2079" name="Rectangle 31"/>
            <p:cNvSpPr>
              <a:spLocks noChangeArrowheads="1"/>
            </p:cNvSpPr>
            <p:nvPr/>
          </p:nvSpPr>
          <p:spPr bwMode="auto">
            <a:xfrm>
              <a:off x="7039136" y="3000372"/>
              <a:ext cx="1890582" cy="27628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（</a:t>
              </a:r>
              <a:r>
                <a: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d</a:t>
              </a:r>
              <a:r>
                <a: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）元素</a:t>
              </a:r>
              <a:r>
                <a: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d</a:t>
              </a:r>
              <a:r>
                <a: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出栈</a:t>
              </a:r>
            </a:p>
          </p:txBody>
        </p:sp>
        <p:sp>
          <p:nvSpPr>
            <p:cNvPr id="56" name="Rectangle 41"/>
            <p:cNvSpPr>
              <a:spLocks noChangeArrowheads="1"/>
            </p:cNvSpPr>
            <p:nvPr/>
          </p:nvSpPr>
          <p:spPr bwMode="auto">
            <a:xfrm>
              <a:off x="7522957" y="838182"/>
              <a:ext cx="584819" cy="339121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57" name="Rectangle 22"/>
            <p:cNvSpPr>
              <a:spLocks noChangeArrowheads="1"/>
            </p:cNvSpPr>
            <p:nvPr/>
          </p:nvSpPr>
          <p:spPr bwMode="auto">
            <a:xfrm>
              <a:off x="8185752" y="1199650"/>
              <a:ext cx="276165" cy="24594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3</a:t>
              </a:r>
            </a:p>
          </p:txBody>
        </p:sp>
        <p:sp>
          <p:nvSpPr>
            <p:cNvPr id="58" name="Rectangle 21"/>
            <p:cNvSpPr>
              <a:spLocks noChangeArrowheads="1"/>
            </p:cNvSpPr>
            <p:nvPr/>
          </p:nvSpPr>
          <p:spPr bwMode="auto">
            <a:xfrm>
              <a:off x="8185752" y="1536604"/>
              <a:ext cx="276165" cy="24702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</a:p>
          </p:txBody>
        </p:sp>
        <p:sp>
          <p:nvSpPr>
            <p:cNvPr id="59" name="Rectangle 20"/>
            <p:cNvSpPr>
              <a:spLocks noChangeArrowheads="1"/>
            </p:cNvSpPr>
            <p:nvPr/>
          </p:nvSpPr>
          <p:spPr bwMode="auto">
            <a:xfrm>
              <a:off x="8185752" y="1875725"/>
              <a:ext cx="276165" cy="24486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</a:p>
          </p:txBody>
        </p:sp>
        <p:sp>
          <p:nvSpPr>
            <p:cNvPr id="60" name="Rectangle 19"/>
            <p:cNvSpPr>
              <a:spLocks noChangeArrowheads="1"/>
            </p:cNvSpPr>
            <p:nvPr/>
          </p:nvSpPr>
          <p:spPr bwMode="auto">
            <a:xfrm>
              <a:off x="8185752" y="2187759"/>
              <a:ext cx="276165" cy="24594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</a:p>
          </p:txBody>
        </p:sp>
        <p:sp>
          <p:nvSpPr>
            <p:cNvPr id="61" name="Rectangle 22"/>
            <p:cNvSpPr>
              <a:spLocks noChangeArrowheads="1"/>
            </p:cNvSpPr>
            <p:nvPr/>
          </p:nvSpPr>
          <p:spPr bwMode="auto">
            <a:xfrm>
              <a:off x="8191731" y="864863"/>
              <a:ext cx="276165" cy="24594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smtClean="0">
                  <a:solidFill>
                    <a:schemeClr val="bg1">
                      <a:lumMod val="50000"/>
                    </a:schemeClr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4</a:t>
              </a:r>
              <a:endParaRPr kumimoji="0" lang="en-US" altLang="zh-CN" sz="1800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62" name="Rectangle 41"/>
            <p:cNvSpPr>
              <a:spLocks noChangeArrowheads="1"/>
            </p:cNvSpPr>
            <p:nvPr/>
          </p:nvSpPr>
          <p:spPr bwMode="auto">
            <a:xfrm>
              <a:off x="7522957" y="1182494"/>
              <a:ext cx="584819" cy="339121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63" name="Rectangle 40"/>
            <p:cNvSpPr>
              <a:spLocks noChangeArrowheads="1"/>
            </p:cNvSpPr>
            <p:nvPr/>
          </p:nvSpPr>
          <p:spPr bwMode="auto">
            <a:xfrm>
              <a:off x="7522957" y="1510780"/>
              <a:ext cx="584819" cy="338037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c</a:t>
              </a:r>
            </a:p>
          </p:txBody>
        </p:sp>
        <p:sp>
          <p:nvSpPr>
            <p:cNvPr id="64" name="Rectangle 39"/>
            <p:cNvSpPr>
              <a:spLocks noChangeArrowheads="1"/>
            </p:cNvSpPr>
            <p:nvPr/>
          </p:nvSpPr>
          <p:spPr bwMode="auto">
            <a:xfrm>
              <a:off x="7522957" y="1836900"/>
              <a:ext cx="584819" cy="339121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b</a:t>
              </a:r>
            </a:p>
          </p:txBody>
        </p:sp>
        <p:sp>
          <p:nvSpPr>
            <p:cNvPr id="65" name="Rectangle 38"/>
            <p:cNvSpPr>
              <a:spLocks noChangeArrowheads="1"/>
            </p:cNvSpPr>
            <p:nvPr/>
          </p:nvSpPr>
          <p:spPr bwMode="auto">
            <a:xfrm>
              <a:off x="7522957" y="2154351"/>
              <a:ext cx="584819" cy="336954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</a:p>
          </p:txBody>
        </p:sp>
        <p:grpSp>
          <p:nvGrpSpPr>
            <p:cNvPr id="84" name="组合 83"/>
            <p:cNvGrpSpPr/>
            <p:nvPr/>
          </p:nvGrpSpPr>
          <p:grpSpPr>
            <a:xfrm>
              <a:off x="6862922" y="1521012"/>
              <a:ext cx="642942" cy="369332"/>
              <a:chOff x="71406" y="2549719"/>
              <a:chExt cx="642942" cy="369332"/>
            </a:xfrm>
          </p:grpSpPr>
          <p:cxnSp>
            <p:nvCxnSpPr>
              <p:cNvPr id="85" name="直接箭头连接符 84"/>
              <p:cNvCxnSpPr/>
              <p:nvPr/>
            </p:nvCxnSpPr>
            <p:spPr>
              <a:xfrm>
                <a:off x="500034" y="2714620"/>
                <a:ext cx="214314" cy="1588"/>
              </a:xfrm>
              <a:prstGeom prst="straightConnector1">
                <a:avLst/>
              </a:prstGeom>
              <a:ln w="19050"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6" name="TextBox 85"/>
              <p:cNvSpPr txBox="1"/>
              <p:nvPr/>
            </p:nvSpPr>
            <p:spPr>
              <a:xfrm>
                <a:off x="71406" y="2549719"/>
                <a:ext cx="5715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altLang="zh-CN" sz="1800" b="0" smtClean="0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top</a:t>
                </a:r>
                <a:endParaRPr lang="zh-CN" altLang="en-US" sz="1800" b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</p:grpSp>
        <p:sp>
          <p:nvSpPr>
            <p:cNvPr id="77" name="Rectangle 30"/>
            <p:cNvSpPr>
              <a:spLocks noChangeArrowheads="1"/>
            </p:cNvSpPr>
            <p:nvPr/>
          </p:nvSpPr>
          <p:spPr bwMode="auto">
            <a:xfrm>
              <a:off x="8211720" y="2571744"/>
              <a:ext cx="275082" cy="24702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-1</a:t>
              </a:r>
            </a:p>
          </p:txBody>
        </p:sp>
      </p:grpSp>
      <p:sp>
        <p:nvSpPr>
          <p:cNvPr id="89" name="灯片编号占位符 8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11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Rectangle 2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3" name="TextBox 32"/>
          <p:cNvSpPr txBox="1"/>
          <p:nvPr/>
        </p:nvSpPr>
        <p:spPr>
          <a:xfrm>
            <a:off x="642910" y="1141029"/>
            <a:ext cx="7072362" cy="24148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44000" bIns="144000" rtlCol="0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template &lt;typename T&gt;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class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SqStack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顺序栈类</a:t>
            </a:r>
            <a:r>
              <a:rPr lang="zh-CN" altLang="en-US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模板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T* data;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存放栈中元素</a:t>
            </a:r>
          </a:p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int top;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栈顶指针</a:t>
            </a:r>
          </a:p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//</a:t>
            </a:r>
            <a:r>
              <a:rPr lang="zh-CN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栈的基本运算算法</a:t>
            </a:r>
          </a:p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};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2910" y="569525"/>
            <a:ext cx="46434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顺序栈类</a:t>
            </a:r>
            <a:r>
              <a:rPr lang="zh-CN" altLang="en-US" sz="200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模板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SqStack</a:t>
            </a:r>
            <a:endParaRPr lang="zh-CN" altLang="en-US" sz="2000" smtClean="0">
              <a:solidFill>
                <a:srgbClr val="FF0000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12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85786" y="487900"/>
            <a:ext cx="35004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200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顺序栈的基本运算算法</a:t>
            </a:r>
            <a:endParaRPr lang="zh-CN" altLang="en-US" sz="2000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4348" y="1071546"/>
            <a:ext cx="6429420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200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（</a:t>
            </a:r>
            <a:r>
              <a:rPr lang="en-US" altLang="zh-CN" sz="200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1</a:t>
            </a:r>
            <a:r>
              <a:rPr lang="zh-CN" altLang="zh-CN" sz="200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）顺序栈的初始化和销毁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100" y="1785926"/>
            <a:ext cx="7786742" cy="134662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SqStack()			//</a:t>
            </a:r>
            <a:r>
              <a:rPr lang="zh-CN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构造函数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data=new T[MaxSize];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为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data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分配容量为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MaxSize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的空间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top=-1;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栈顶指针初始化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0100" y="3643314"/>
            <a:ext cx="6929486" cy="134662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~SqStack()			//</a:t>
            </a:r>
            <a:r>
              <a:rPr lang="zh-CN" altLang="en-US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析</a:t>
            </a:r>
            <a:r>
              <a:rPr lang="zh-CN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构函数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delete [] data;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13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714348" y="1071546"/>
            <a:ext cx="6429420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（</a:t>
            </a:r>
            <a:r>
              <a:rPr lang="en-US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2</a:t>
            </a: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）判断栈是否为空</a:t>
            </a:r>
            <a:r>
              <a:rPr lang="en-US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empty()</a:t>
            </a:r>
            <a:endParaRPr lang="zh-CN" altLang="zh-CN" sz="2000" smtClean="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00100" y="1785926"/>
            <a:ext cx="6143668" cy="174160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empty()        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判断栈是否为空</a:t>
            </a:r>
          </a:p>
          <a:p>
            <a:pPr algn="l">
              <a:lnSpc>
                <a:spcPct val="100000"/>
              </a:lnSpc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</a:t>
            </a:r>
          </a:p>
          <a:p>
            <a:pPr algn="l">
              <a:lnSpc>
                <a:spcPct val="100000"/>
              </a:lnSpc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return top==-1;</a:t>
            </a:r>
          </a:p>
          <a:p>
            <a:pPr algn="l">
              <a:lnSpc>
                <a:spcPct val="100000"/>
              </a:lnSpc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14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4348" y="785794"/>
            <a:ext cx="2714644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l">
              <a:lnSpc>
                <a:spcPct val="100000"/>
              </a:lnSpc>
            </a:pP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（</a:t>
            </a:r>
            <a:r>
              <a:rPr lang="en-US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3</a:t>
            </a: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）进栈</a:t>
            </a:r>
            <a:r>
              <a:rPr lang="en-US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push(e)</a:t>
            </a:r>
            <a:endParaRPr lang="zh-CN" altLang="zh-CN" sz="200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57224" y="1571612"/>
            <a:ext cx="6572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元素进栈只能从栈顶进，不能从栈底或中间位置进栈</a:t>
            </a:r>
            <a:endParaRPr lang="zh-CN" altLang="en-US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786" y="2285992"/>
            <a:ext cx="6610350" cy="202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15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28662" y="1000108"/>
            <a:ext cx="7215238" cy="261466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push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(T e)			</a:t>
            </a:r>
            <a:r>
              <a:rPr lang="en-US" altLang="zh-CN" sz="180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进栈算法</a:t>
            </a:r>
          </a:p>
          <a:p>
            <a:pPr algn="l">
              <a:lnSpc>
                <a:spcPts val="27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if (top==MaxSize-1)	</a:t>
            </a:r>
            <a:r>
              <a:rPr lang="en-US" altLang="zh-CN" sz="180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栈满时返回</a:t>
            </a:r>
            <a:r>
              <a:rPr lang="en-US" altLang="zh-CN" sz="180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false</a:t>
            </a:r>
            <a:endParaRPr lang="zh-CN" altLang="zh-CN" sz="1800" smtClean="0">
              <a:solidFill>
                <a:schemeClr val="bg1">
                  <a:lumMod val="65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7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return false;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7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top++;			</a:t>
            </a:r>
            <a:r>
              <a:rPr lang="en-US" altLang="zh-CN" sz="180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栈顶指针增</a:t>
            </a:r>
            <a:r>
              <a:rPr lang="en-US" altLang="zh-CN" sz="180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endParaRPr lang="zh-CN" altLang="zh-CN" sz="1800" smtClean="0">
              <a:solidFill>
                <a:schemeClr val="bg1">
                  <a:lumMod val="65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7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data[top]=e;		</a:t>
            </a:r>
            <a:r>
              <a:rPr lang="en-US" altLang="zh-CN" sz="180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</a:t>
            </a:r>
            <a:r>
              <a:rPr lang="en-US" altLang="zh-CN" sz="180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  <a:r>
              <a:rPr lang="zh-CN" altLang="zh-CN" sz="180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进栈</a:t>
            </a:r>
          </a:p>
          <a:p>
            <a:pPr algn="l">
              <a:lnSpc>
                <a:spcPts val="27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return true;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7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16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4348" y="785794"/>
            <a:ext cx="2143140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l">
              <a:lnSpc>
                <a:spcPct val="100000"/>
              </a:lnSpc>
            </a:pP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（</a:t>
            </a:r>
            <a:r>
              <a:rPr lang="en-US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4</a:t>
            </a: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）出栈</a:t>
            </a:r>
            <a:r>
              <a:rPr lang="en-US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pop()</a:t>
            </a:r>
            <a:endParaRPr lang="zh-CN" altLang="zh-CN" sz="200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7224" y="2214554"/>
            <a:ext cx="6800850" cy="207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857224" y="1500174"/>
            <a:ext cx="65008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元素出栈只能从栈顶出，不能从栈底或中间位置出栈</a:t>
            </a:r>
            <a:endParaRPr lang="zh-CN" altLang="en-US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17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57224" y="1000108"/>
            <a:ext cx="7286676" cy="261466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pop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(T&amp; e)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出栈算法</a:t>
            </a:r>
          </a:p>
          <a:p>
            <a:pPr algn="l">
              <a:lnSpc>
                <a:spcPts val="27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if (empty())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栈为空的情况，即栈下溢出</a:t>
            </a:r>
          </a:p>
          <a:p>
            <a:pPr algn="l">
              <a:lnSpc>
                <a:spcPts val="27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return false;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7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e=data[top];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取栈顶指针元素的元素</a:t>
            </a:r>
          </a:p>
          <a:p>
            <a:pPr algn="l">
              <a:lnSpc>
                <a:spcPts val="27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top--;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栈顶指针减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7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return true;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7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18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4348" y="785794"/>
            <a:ext cx="3143272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l">
              <a:lnSpc>
                <a:spcPct val="100000"/>
              </a:lnSpc>
            </a:pP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（</a:t>
            </a:r>
            <a:r>
              <a:rPr lang="en-US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5</a:t>
            </a: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）取栈顶元素</a:t>
            </a:r>
            <a:r>
              <a:rPr lang="en-US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gettop()</a:t>
            </a:r>
            <a:endParaRPr lang="zh-CN" altLang="zh-CN" sz="200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57224" y="1571612"/>
            <a:ext cx="7500990" cy="2268414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gettop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(T&amp; e)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取栈顶元素算法</a:t>
            </a:r>
          </a:p>
          <a:p>
            <a:pPr algn="l">
              <a:lnSpc>
                <a:spcPts val="27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if (empty())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栈为空的情况，即栈下溢出</a:t>
            </a:r>
          </a:p>
          <a:p>
            <a:pPr algn="l">
              <a:lnSpc>
                <a:spcPts val="27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return false;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7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e=data[top];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取栈顶指针位置的元素</a:t>
            </a:r>
          </a:p>
          <a:p>
            <a:pPr algn="l">
              <a:lnSpc>
                <a:spcPts val="27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return true;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7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19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8596" y="642918"/>
            <a:ext cx="5072098" cy="46166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mtClean="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3.1.3 </a:t>
            </a:r>
            <a:r>
              <a:rPr lang="zh-CN" altLang="zh-CN" smtClean="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顺序栈的应用算法设计示例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4348" y="1643050"/>
            <a:ext cx="7286676" cy="1207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</a:pP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 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【例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3.4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】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设计一个算法利用顺序栈检查用户输入的表达式中括号是否配对（假设表达式中可能含有圆括号、中括号和大括号）。并用相关数据进行测试。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20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1571612"/>
            <a:ext cx="8858312" cy="3056194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#include "SqStack.cpp"		</a:t>
            </a:r>
            <a:r>
              <a:rPr lang="en-US" altLang="zh-CN" sz="180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包含顺序栈类模板的定义</a:t>
            </a:r>
          </a:p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isMatch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(string str)		</a:t>
            </a:r>
            <a:r>
              <a:rPr lang="en-US" altLang="zh-CN" sz="180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判断表达式各种括号是否匹配的算法</a:t>
            </a:r>
          </a:p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SqStack&lt;char&gt; st;			</a:t>
            </a:r>
            <a:r>
              <a:rPr lang="en-US" altLang="zh-CN" sz="180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建立一个顺序栈</a:t>
            </a:r>
          </a:p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int i=0;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char 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while (i&lt;str.length())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if (str[i]=='(' || str[i]=='[' || str[i]=='{')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st.push(str[i]);	</a:t>
            </a:r>
            <a:r>
              <a:rPr lang="en-US" altLang="zh-CN" sz="180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遇到将左括号</a:t>
            </a:r>
            <a:r>
              <a:rPr lang="en-US" altLang="zh-CN" sz="180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,</a:t>
            </a:r>
            <a:r>
              <a:rPr lang="zh-CN" altLang="zh-CN" sz="180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均进栈</a:t>
            </a:r>
            <a:endParaRPr lang="zh-CN" altLang="zh-CN" sz="1800">
              <a:solidFill>
                <a:schemeClr val="bg1">
                  <a:lumMod val="65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58" y="357166"/>
            <a:ext cx="1643074" cy="7960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21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214290"/>
            <a:ext cx="8715404" cy="645058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else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8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{  if (</a:t>
            </a:r>
            <a:r>
              <a:rPr lang="en-US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str[i]==')'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遇到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')' 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8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{  if (st.empty())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栈空时返回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false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8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     return false;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8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  st.pop(e);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出栈元素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8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  if (e!='(')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栈顶不是匹配的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'(',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返回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false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8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     return false; 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8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8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if (</a:t>
            </a:r>
            <a:r>
              <a:rPr lang="en-US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str[i]==']'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遇到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']' 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8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{  if (st.empty())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栈空时返回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false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8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     return false;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8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  st.pop(e);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出栈元素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8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  if (e!='[')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栈顶不是匹配的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'[',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返回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false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8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     return false; 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8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8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if (</a:t>
            </a:r>
            <a:r>
              <a:rPr lang="en-US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str[i]=='}'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遇到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'}' 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8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{  if (st.empty())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栈空时返回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false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8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     return false;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8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  st.pop(e);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出栈元素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8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  if (e!='{')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栈顶不是匹配的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'{',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返回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false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8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     return false; 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8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8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8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i++;  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继续遍历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str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8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8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return st.empty();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8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22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8596" y="357166"/>
            <a:ext cx="7858180" cy="4526981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main()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cout &lt;&lt; "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测试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1: ";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string str="([)]";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if (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isMatch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(str))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cout &lt;&lt; str &lt;&lt; "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中括号是匹配的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" &lt;&lt; endl;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else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cout &lt;&lt; str &lt;&lt; "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中括号不匹配的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" &lt;&lt; endl;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ct val="100000"/>
              </a:lnSpc>
              <a:spcBef>
                <a:spcPts val="120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cout &lt;&lt; "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测试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2:";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str="([])";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if (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isMatch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(str))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cout &lt;&lt; str &lt;&lt; "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中括号是匹配的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" &lt;&lt; endl;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else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cout &lt;&lt; str &lt;&lt; "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中括号不匹配的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" &lt;&lt; endl;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return 0;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85918" y="5395934"/>
            <a:ext cx="3457575" cy="110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下箭头 4"/>
          <p:cNvSpPr/>
          <p:nvPr/>
        </p:nvSpPr>
        <p:spPr bwMode="auto">
          <a:xfrm>
            <a:off x="3357554" y="4967306"/>
            <a:ext cx="214314" cy="285752"/>
          </a:xfrm>
          <a:prstGeom prst="downArrow">
            <a:avLst/>
          </a:prstGeom>
          <a:ln>
            <a:headEnd/>
            <a:tailEnd type="arrow" w="sm" len="sm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23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0034" y="785794"/>
            <a:ext cx="7500990" cy="1372271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44000" tIns="108000" bIns="108000" rtlCol="0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</a:pP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  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【例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3.7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】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设有两个栈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S1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和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S2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，它们都采用顺序栈存储，并且共享一个固定容量的存储区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s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[0..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M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-1]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，为了尽量利用空间，减少溢出的可能，请设计这两个栈的存储方式。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8926" y="214290"/>
            <a:ext cx="16430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000" smtClean="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共享栈问题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7158" y="3286124"/>
            <a:ext cx="821537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</a:pP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为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了尽量利用空间，减少溢出的可能，可以让两个的栈顶相向即进栈元素迎面增长的存储方式，为此设置两个栈的栈顶指针分别为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top1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和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top2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（均指向对应栈的栈顶元素）。</a:t>
            </a:r>
            <a:endParaRPr lang="zh-CN" altLang="en-US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500166" y="4857760"/>
            <a:ext cx="5572164" cy="1500198"/>
            <a:chOff x="1214414" y="785794"/>
            <a:chExt cx="5572164" cy="1500198"/>
          </a:xfrm>
        </p:grpSpPr>
        <p:sp>
          <p:nvSpPr>
            <p:cNvPr id="9" name="Rectangle 13"/>
            <p:cNvSpPr>
              <a:spLocks noChangeArrowheads="1"/>
            </p:cNvSpPr>
            <p:nvPr/>
          </p:nvSpPr>
          <p:spPr bwMode="auto">
            <a:xfrm>
              <a:off x="1499320" y="1488392"/>
              <a:ext cx="5144382" cy="41446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36000" tIns="36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baseline="-30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  </a:t>
              </a: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baseline="-30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  </a:t>
              </a: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baseline="-30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  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+mn-ea"/>
                  <a:cs typeface="Consolas" pitchFamily="49" charset="0"/>
                </a:rPr>
                <a:t>…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  </a:t>
              </a: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i="1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n</a:t>
              </a:r>
              <a:r>
                <a:rPr kumimoji="0" lang="en-US" altLang="zh-CN" sz="1600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-1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   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+mn-ea"/>
                  <a:cs typeface="Consolas" pitchFamily="49" charset="0"/>
                </a:rPr>
                <a:t>……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   </a:t>
              </a: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b</a:t>
              </a:r>
              <a:r>
                <a:rPr kumimoji="0" lang="en-US" altLang="zh-CN" sz="1600" i="1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m</a:t>
              </a:r>
              <a:r>
                <a:rPr kumimoji="0" lang="en-US" altLang="zh-CN" sz="1600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-1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  </a:t>
              </a: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b</a:t>
              </a:r>
              <a:r>
                <a:rPr kumimoji="0" lang="en-US" altLang="zh-CN" sz="1600" i="1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m</a:t>
              </a:r>
              <a:r>
                <a:rPr kumimoji="0" lang="en-US" altLang="zh-CN" sz="1600" i="0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-2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 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+mn-ea"/>
                  <a:cs typeface="Consolas" pitchFamily="49" charset="0"/>
                </a:rPr>
                <a:t>…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 </a:t>
              </a: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b</a:t>
              </a:r>
              <a:r>
                <a:rPr kumimoji="0" lang="en-US" altLang="zh-CN" sz="1600" baseline="-30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  </a:t>
              </a: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b</a:t>
              </a:r>
              <a:r>
                <a:rPr kumimoji="0" lang="en-US" altLang="zh-CN" sz="1600" baseline="-30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  <a:endParaRPr kumimoji="0" lang="en-US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0" name="Rectangle 12"/>
            <p:cNvSpPr>
              <a:spLocks noChangeArrowheads="1"/>
            </p:cNvSpPr>
            <p:nvPr/>
          </p:nvSpPr>
          <p:spPr bwMode="auto">
            <a:xfrm>
              <a:off x="1532716" y="1109428"/>
              <a:ext cx="1467647" cy="29544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rgbClr val="00B0F0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0   1   2  </a:t>
              </a: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rgbClr val="00B0F0"/>
                  </a:solidFill>
                  <a:effectLst/>
                  <a:latin typeface="+mn-ea"/>
                  <a:ea typeface="+mn-ea"/>
                  <a:cs typeface="Consolas" pitchFamily="49" charset="0"/>
                </a:rPr>
                <a:t>…</a:t>
              </a:r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6348260" y="1112559"/>
              <a:ext cx="438318" cy="29544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rgbClr val="00B0F0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M-1</a:t>
              </a:r>
            </a:p>
          </p:txBody>
        </p:sp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1303121" y="1981150"/>
              <a:ext cx="751403" cy="29544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栈</a:t>
              </a: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r>
                <a:rPr kumimoji="0" lang="zh-CN" altLang="en-US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底</a:t>
              </a:r>
            </a:p>
          </p:txBody>
        </p:sp>
        <p:sp>
          <p:nvSpPr>
            <p:cNvPr id="13" name="Rectangle 9"/>
            <p:cNvSpPr>
              <a:spLocks noChangeArrowheads="1"/>
            </p:cNvSpPr>
            <p:nvPr/>
          </p:nvSpPr>
          <p:spPr bwMode="auto">
            <a:xfrm>
              <a:off x="3000364" y="1981150"/>
              <a:ext cx="751403" cy="29544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栈</a:t>
              </a: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r>
                <a:rPr kumimoji="0" lang="zh-CN" altLang="en-US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顶</a:t>
              </a:r>
            </a:p>
          </p:txBody>
        </p:sp>
        <p:sp>
          <p:nvSpPr>
            <p:cNvPr id="14" name="Line 8"/>
            <p:cNvSpPr>
              <a:spLocks noChangeShapeType="1"/>
            </p:cNvSpPr>
            <p:nvPr/>
          </p:nvSpPr>
          <p:spPr bwMode="auto">
            <a:xfrm>
              <a:off x="3412791" y="1145967"/>
              <a:ext cx="1044" cy="325721"/>
            </a:xfrm>
            <a:prstGeom prst="line">
              <a:avLst/>
            </a:prstGeom>
            <a:ln w="19050"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5" name="Rectangle 7"/>
            <p:cNvSpPr>
              <a:spLocks noChangeArrowheads="1"/>
            </p:cNvSpPr>
            <p:nvPr/>
          </p:nvSpPr>
          <p:spPr bwMode="auto">
            <a:xfrm>
              <a:off x="4391057" y="1990546"/>
              <a:ext cx="752447" cy="29544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栈</a:t>
              </a: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  <a:r>
                <a:rPr kumimoji="0" lang="zh-CN" altLang="en-US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顶</a:t>
              </a:r>
            </a:p>
          </p:txBody>
        </p:sp>
        <p:sp>
          <p:nvSpPr>
            <p:cNvPr id="16" name="Rectangle 6"/>
            <p:cNvSpPr>
              <a:spLocks noChangeArrowheads="1"/>
            </p:cNvSpPr>
            <p:nvPr/>
          </p:nvSpPr>
          <p:spPr bwMode="auto">
            <a:xfrm>
              <a:off x="6036219" y="1990546"/>
              <a:ext cx="750359" cy="29544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栈</a:t>
              </a: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  <a:r>
                <a:rPr kumimoji="0" lang="zh-CN" altLang="en-US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底</a:t>
              </a:r>
            </a:p>
          </p:txBody>
        </p:sp>
        <p:sp>
          <p:nvSpPr>
            <p:cNvPr id="17" name="Rectangle 5"/>
            <p:cNvSpPr>
              <a:spLocks noChangeArrowheads="1"/>
            </p:cNvSpPr>
            <p:nvPr/>
          </p:nvSpPr>
          <p:spPr bwMode="auto">
            <a:xfrm>
              <a:off x="2714612" y="785794"/>
              <a:ext cx="1318386" cy="29544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栈顶指针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top1</a:t>
              </a:r>
            </a:p>
          </p:txBody>
        </p:sp>
        <p:sp>
          <p:nvSpPr>
            <p:cNvPr id="18" name="Line 4"/>
            <p:cNvSpPr>
              <a:spLocks noChangeShapeType="1"/>
            </p:cNvSpPr>
            <p:nvPr/>
          </p:nvSpPr>
          <p:spPr bwMode="auto">
            <a:xfrm>
              <a:off x="4760420" y="1145967"/>
              <a:ext cx="1044" cy="325721"/>
            </a:xfrm>
            <a:prstGeom prst="line">
              <a:avLst/>
            </a:prstGeom>
            <a:ln w="19050"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9" name="Rectangle 3"/>
            <p:cNvSpPr>
              <a:spLocks noChangeArrowheads="1"/>
            </p:cNvSpPr>
            <p:nvPr/>
          </p:nvSpPr>
          <p:spPr bwMode="auto">
            <a:xfrm>
              <a:off x="4286619" y="785794"/>
              <a:ext cx="1428389" cy="29544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栈顶指针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top2</a:t>
              </a:r>
            </a:p>
          </p:txBody>
        </p:sp>
        <p:sp>
          <p:nvSpPr>
            <p:cNvPr id="20" name="Rectangle 2"/>
            <p:cNvSpPr>
              <a:spLocks noChangeArrowheads="1"/>
            </p:cNvSpPr>
            <p:nvPr/>
          </p:nvSpPr>
          <p:spPr bwMode="auto">
            <a:xfrm>
              <a:off x="1214414" y="1539547"/>
              <a:ext cx="187851" cy="29544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s</a:t>
              </a:r>
              <a:r>
                <a:rPr kumimoji="0" lang="zh-CN" altLang="en-US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：</a:t>
              </a:r>
            </a:p>
          </p:txBody>
        </p:sp>
      </p:grp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2" y="2428868"/>
            <a:ext cx="1643074" cy="7960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灯片编号占位符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24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67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1214414" y="571480"/>
            <a:ext cx="5572164" cy="1500198"/>
            <a:chOff x="1214414" y="785794"/>
            <a:chExt cx="5572164" cy="1500198"/>
          </a:xfrm>
        </p:grpSpPr>
        <p:sp>
          <p:nvSpPr>
            <p:cNvPr id="100365" name="Rectangle 13"/>
            <p:cNvSpPr>
              <a:spLocks noChangeArrowheads="1"/>
            </p:cNvSpPr>
            <p:nvPr/>
          </p:nvSpPr>
          <p:spPr bwMode="auto">
            <a:xfrm>
              <a:off x="1499320" y="1488392"/>
              <a:ext cx="5144382" cy="41446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36000" tIns="36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baseline="-30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  </a:t>
              </a: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baseline="-30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  </a:t>
              </a: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baseline="-30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  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+mn-ea"/>
                  <a:cs typeface="Consolas" pitchFamily="49" charset="0"/>
                </a:rPr>
                <a:t>…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  </a:t>
              </a: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i="1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n</a:t>
              </a:r>
              <a:r>
                <a:rPr kumimoji="0" lang="en-US" altLang="zh-CN" sz="1600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-1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   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+mn-ea"/>
                  <a:cs typeface="Consolas" pitchFamily="49" charset="0"/>
                </a:rPr>
                <a:t>……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   </a:t>
              </a: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b</a:t>
              </a:r>
              <a:r>
                <a:rPr kumimoji="0" lang="en-US" altLang="zh-CN" sz="1600" i="1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m</a:t>
              </a:r>
              <a:r>
                <a:rPr kumimoji="0" lang="en-US" altLang="zh-CN" sz="1600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-1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  </a:t>
              </a: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b</a:t>
              </a:r>
              <a:r>
                <a:rPr kumimoji="0" lang="en-US" altLang="zh-CN" sz="1600" i="1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m</a:t>
              </a:r>
              <a:r>
                <a:rPr kumimoji="0" lang="en-US" altLang="zh-CN" sz="1600" i="0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-2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 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+mn-ea"/>
                  <a:cs typeface="Consolas" pitchFamily="49" charset="0"/>
                </a:rPr>
                <a:t>…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 </a:t>
              </a: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b</a:t>
              </a:r>
              <a:r>
                <a:rPr kumimoji="0" lang="en-US" altLang="zh-CN" sz="1600" baseline="-30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  </a:t>
              </a: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b</a:t>
              </a:r>
              <a:r>
                <a:rPr kumimoji="0" lang="en-US" altLang="zh-CN" sz="1600" baseline="-30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  <a:endParaRPr kumimoji="0" lang="en-US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00364" name="Rectangle 12"/>
            <p:cNvSpPr>
              <a:spLocks noChangeArrowheads="1"/>
            </p:cNvSpPr>
            <p:nvPr/>
          </p:nvSpPr>
          <p:spPr bwMode="auto">
            <a:xfrm>
              <a:off x="1532716" y="1109428"/>
              <a:ext cx="1467647" cy="29544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rgbClr val="00B0F0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0   1   2  </a:t>
              </a: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rgbClr val="00B0F0"/>
                  </a:solidFill>
                  <a:effectLst/>
                  <a:latin typeface="+mn-ea"/>
                  <a:ea typeface="+mn-ea"/>
                  <a:cs typeface="Consolas" pitchFamily="49" charset="0"/>
                </a:rPr>
                <a:t>…</a:t>
              </a:r>
            </a:p>
          </p:txBody>
        </p:sp>
        <p:sp>
          <p:nvSpPr>
            <p:cNvPr id="100363" name="Rectangle 11"/>
            <p:cNvSpPr>
              <a:spLocks noChangeArrowheads="1"/>
            </p:cNvSpPr>
            <p:nvPr/>
          </p:nvSpPr>
          <p:spPr bwMode="auto">
            <a:xfrm>
              <a:off x="6348260" y="1112559"/>
              <a:ext cx="438318" cy="29544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rgbClr val="00B0F0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M-1</a:t>
              </a:r>
            </a:p>
          </p:txBody>
        </p:sp>
        <p:sp>
          <p:nvSpPr>
            <p:cNvPr id="100362" name="Rectangle 10"/>
            <p:cNvSpPr>
              <a:spLocks noChangeArrowheads="1"/>
            </p:cNvSpPr>
            <p:nvPr/>
          </p:nvSpPr>
          <p:spPr bwMode="auto">
            <a:xfrm>
              <a:off x="1303121" y="1981150"/>
              <a:ext cx="751403" cy="29544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栈</a:t>
              </a: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r>
                <a:rPr kumimoji="0" lang="zh-CN" altLang="en-US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底</a:t>
              </a:r>
            </a:p>
          </p:txBody>
        </p:sp>
        <p:sp>
          <p:nvSpPr>
            <p:cNvPr id="100361" name="Rectangle 9"/>
            <p:cNvSpPr>
              <a:spLocks noChangeArrowheads="1"/>
            </p:cNvSpPr>
            <p:nvPr/>
          </p:nvSpPr>
          <p:spPr bwMode="auto">
            <a:xfrm>
              <a:off x="3000364" y="1981150"/>
              <a:ext cx="751403" cy="29544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栈</a:t>
              </a: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r>
                <a:rPr kumimoji="0" lang="zh-CN" altLang="en-US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顶</a:t>
              </a:r>
            </a:p>
          </p:txBody>
        </p:sp>
        <p:sp>
          <p:nvSpPr>
            <p:cNvPr id="100360" name="Line 8"/>
            <p:cNvSpPr>
              <a:spLocks noChangeShapeType="1"/>
            </p:cNvSpPr>
            <p:nvPr/>
          </p:nvSpPr>
          <p:spPr bwMode="auto">
            <a:xfrm>
              <a:off x="3412791" y="1145967"/>
              <a:ext cx="1044" cy="325721"/>
            </a:xfrm>
            <a:prstGeom prst="line">
              <a:avLst/>
            </a:prstGeom>
            <a:ln w="19050"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00359" name="Rectangle 7"/>
            <p:cNvSpPr>
              <a:spLocks noChangeArrowheads="1"/>
            </p:cNvSpPr>
            <p:nvPr/>
          </p:nvSpPr>
          <p:spPr bwMode="auto">
            <a:xfrm>
              <a:off x="4391057" y="1990546"/>
              <a:ext cx="752447" cy="29544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栈</a:t>
              </a: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  <a:r>
                <a:rPr kumimoji="0" lang="zh-CN" altLang="en-US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顶</a:t>
              </a:r>
            </a:p>
          </p:txBody>
        </p:sp>
        <p:sp>
          <p:nvSpPr>
            <p:cNvPr id="100358" name="Rectangle 6"/>
            <p:cNvSpPr>
              <a:spLocks noChangeArrowheads="1"/>
            </p:cNvSpPr>
            <p:nvPr/>
          </p:nvSpPr>
          <p:spPr bwMode="auto">
            <a:xfrm>
              <a:off x="6036219" y="1990546"/>
              <a:ext cx="750359" cy="29544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栈</a:t>
              </a: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  <a:r>
                <a:rPr kumimoji="0" lang="zh-CN" altLang="en-US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底</a:t>
              </a:r>
            </a:p>
          </p:txBody>
        </p:sp>
        <p:sp>
          <p:nvSpPr>
            <p:cNvPr id="100357" name="Rectangle 5"/>
            <p:cNvSpPr>
              <a:spLocks noChangeArrowheads="1"/>
            </p:cNvSpPr>
            <p:nvPr/>
          </p:nvSpPr>
          <p:spPr bwMode="auto">
            <a:xfrm>
              <a:off x="2714612" y="785794"/>
              <a:ext cx="1318386" cy="29544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栈顶指针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top1</a:t>
              </a:r>
            </a:p>
          </p:txBody>
        </p:sp>
        <p:sp>
          <p:nvSpPr>
            <p:cNvPr id="100356" name="Line 4"/>
            <p:cNvSpPr>
              <a:spLocks noChangeShapeType="1"/>
            </p:cNvSpPr>
            <p:nvPr/>
          </p:nvSpPr>
          <p:spPr bwMode="auto">
            <a:xfrm>
              <a:off x="4760420" y="1145967"/>
              <a:ext cx="1044" cy="325721"/>
            </a:xfrm>
            <a:prstGeom prst="line">
              <a:avLst/>
            </a:prstGeom>
            <a:ln w="19050"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00355" name="Rectangle 3"/>
            <p:cNvSpPr>
              <a:spLocks noChangeArrowheads="1"/>
            </p:cNvSpPr>
            <p:nvPr/>
          </p:nvSpPr>
          <p:spPr bwMode="auto">
            <a:xfrm>
              <a:off x="4286619" y="785794"/>
              <a:ext cx="1428389" cy="29544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栈顶指针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top2</a:t>
              </a:r>
            </a:p>
          </p:txBody>
        </p:sp>
        <p:sp>
          <p:nvSpPr>
            <p:cNvPr id="100354" name="Rectangle 2"/>
            <p:cNvSpPr>
              <a:spLocks noChangeArrowheads="1"/>
            </p:cNvSpPr>
            <p:nvPr/>
          </p:nvSpPr>
          <p:spPr bwMode="auto">
            <a:xfrm>
              <a:off x="1214414" y="1539547"/>
              <a:ext cx="187851" cy="29544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s</a:t>
              </a:r>
              <a:r>
                <a:rPr kumimoji="0" lang="zh-CN" altLang="en-US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：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1000100" y="2571744"/>
            <a:ext cx="7286676" cy="16568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 algn="l">
              <a:lnSpc>
                <a:spcPts val="26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S1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空的条件是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top1=-1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lang="en-US" altLang="zh-CN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342900" indent="-342900" algn="l">
              <a:lnSpc>
                <a:spcPts val="26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S1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满的条件是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top1=top2-1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；</a:t>
            </a:r>
            <a:endParaRPr lang="en-US" altLang="zh-CN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342900" indent="-342900" algn="l">
              <a:lnSpc>
                <a:spcPts val="26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元素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进栈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S1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（栈不满时）的操作是：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top1++;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[top1]=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  <a:r>
              <a:rPr lang="zh-CN" altLang="en-US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lang="en-US" altLang="zh-CN" sz="2000" i="1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342900" indent="-342900" algn="l">
              <a:lnSpc>
                <a:spcPts val="26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元素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出栈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S1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（栈不空时）的操作是：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[top1];top1--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0100" y="4500570"/>
            <a:ext cx="7286676" cy="16568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 algn="l">
              <a:lnSpc>
                <a:spcPts val="26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S2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空的条件是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top2=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zh-CN" altLang="en-US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lang="en-US" altLang="zh-CN" sz="2000" i="1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342900" indent="-342900" algn="l">
              <a:lnSpc>
                <a:spcPts val="26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S2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满的条件是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top2=top1+1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lang="en-US" altLang="zh-CN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342900" indent="-342900" algn="l">
              <a:lnSpc>
                <a:spcPts val="26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元素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进栈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S2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（栈不满时）的操作是：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top2--;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[top2]=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lang="en-US" altLang="zh-CN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342900" indent="-342900" algn="l">
              <a:lnSpc>
                <a:spcPts val="26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元素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出栈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S2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（栈不空时）的操作是：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[top2];top2++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</a:p>
        </p:txBody>
      </p:sp>
      <p:sp>
        <p:nvSpPr>
          <p:cNvPr id="24" name="灯片编号占位符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25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890561" y="1928802"/>
            <a:ext cx="2000264" cy="430887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200" smtClean="0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栈的实现方式</a:t>
            </a:r>
          </a:p>
        </p:txBody>
      </p:sp>
      <p:grpSp>
        <p:nvGrpSpPr>
          <p:cNvPr id="2" name="组合 33"/>
          <p:cNvGrpSpPr/>
          <p:nvPr/>
        </p:nvGrpSpPr>
        <p:grpSpPr>
          <a:xfrm>
            <a:off x="890561" y="2857496"/>
            <a:ext cx="7039025" cy="1785950"/>
            <a:chOff x="500034" y="2786058"/>
            <a:chExt cx="7039025" cy="1785950"/>
          </a:xfrm>
        </p:grpSpPr>
        <p:sp>
          <p:nvSpPr>
            <p:cNvPr id="8" name="TextBox 7"/>
            <p:cNvSpPr txBox="1"/>
            <p:nvPr/>
          </p:nvSpPr>
          <p:spPr>
            <a:xfrm>
              <a:off x="2824151" y="2786058"/>
              <a:ext cx="1143008" cy="453183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tIns="72000" bIns="7200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2000" smtClean="0">
                  <a:solidFill>
                    <a:srgbClr val="0000FF"/>
                  </a:solidFill>
                  <a:latin typeface="仿宋" pitchFamily="49" charset="-122"/>
                  <a:ea typeface="仿宋" pitchFamily="49" charset="-122"/>
                </a:rPr>
                <a:t>线性表</a:t>
              </a:r>
            </a:p>
          </p:txBody>
        </p:sp>
        <p:sp>
          <p:nvSpPr>
            <p:cNvPr id="11" name="流程图: 卡片 10"/>
            <p:cNvSpPr/>
            <p:nvPr/>
          </p:nvSpPr>
          <p:spPr>
            <a:xfrm>
              <a:off x="2214546" y="4000504"/>
              <a:ext cx="1000132" cy="571504"/>
            </a:xfrm>
            <a:prstGeom prst="flowChartPunchedCard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bIns="108000" rtlCol="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2000" smtClean="0">
                  <a:solidFill>
                    <a:srgbClr val="0000FF"/>
                  </a:solidFill>
                  <a:latin typeface="仿宋" pitchFamily="49" charset="-122"/>
                  <a:ea typeface="仿宋" pitchFamily="49" charset="-122"/>
                </a:rPr>
                <a:t>顺序表</a:t>
              </a:r>
              <a:endParaRPr lang="zh-CN" altLang="en-US" sz="2000">
                <a:solidFill>
                  <a:srgbClr val="0000FF"/>
                </a:solidFill>
                <a:latin typeface="仿宋" pitchFamily="49" charset="-122"/>
                <a:ea typeface="仿宋" pitchFamily="49" charset="-122"/>
              </a:endParaRPr>
            </a:p>
          </p:txBody>
        </p:sp>
        <p:sp>
          <p:nvSpPr>
            <p:cNvPr id="12" name="流程图: 卡片 11"/>
            <p:cNvSpPr/>
            <p:nvPr/>
          </p:nvSpPr>
          <p:spPr>
            <a:xfrm>
              <a:off x="3681407" y="4000504"/>
              <a:ext cx="1000132" cy="571504"/>
            </a:xfrm>
            <a:prstGeom prst="flowChartPunchedCard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bIns="108000" rtlCol="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2000" smtClean="0">
                  <a:solidFill>
                    <a:srgbClr val="0000FF"/>
                  </a:solidFill>
                  <a:latin typeface="仿宋" pitchFamily="49" charset="-122"/>
                  <a:ea typeface="仿宋" pitchFamily="49" charset="-122"/>
                </a:rPr>
                <a:t>链表</a:t>
              </a:r>
              <a:endParaRPr lang="zh-CN" altLang="en-US" sz="2000">
                <a:solidFill>
                  <a:srgbClr val="0000FF"/>
                </a:solidFill>
                <a:latin typeface="仿宋" pitchFamily="49" charset="-122"/>
                <a:ea typeface="仿宋" pitchFamily="49" charset="-122"/>
              </a:endParaRPr>
            </a:p>
          </p:txBody>
        </p:sp>
        <p:cxnSp>
          <p:nvCxnSpPr>
            <p:cNvPr id="14" name="直接箭头连接符 13"/>
            <p:cNvCxnSpPr>
              <a:endCxn id="11" idx="0"/>
            </p:cNvCxnSpPr>
            <p:nvPr/>
          </p:nvCxnSpPr>
          <p:spPr>
            <a:xfrm rot="5400000">
              <a:off x="2593168" y="3393281"/>
              <a:ext cx="728668" cy="485779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>
              <a:endCxn id="12" idx="0"/>
            </p:cNvCxnSpPr>
            <p:nvPr/>
          </p:nvCxnSpPr>
          <p:spPr>
            <a:xfrm rot="16200000" flipH="1">
              <a:off x="3555200" y="3374231"/>
              <a:ext cx="752480" cy="500066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5681671" y="2786058"/>
              <a:ext cx="1143008" cy="453183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tIns="72000" bIns="7200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2000" smtClean="0">
                  <a:solidFill>
                    <a:srgbClr val="0000FF"/>
                  </a:solidFill>
                  <a:latin typeface="仿宋" pitchFamily="49" charset="-122"/>
                  <a:ea typeface="仿宋" pitchFamily="49" charset="-122"/>
                </a:rPr>
                <a:t>栈</a:t>
              </a:r>
            </a:p>
          </p:txBody>
        </p:sp>
        <p:sp>
          <p:nvSpPr>
            <p:cNvPr id="24" name="流程图: 卡片 23"/>
            <p:cNvSpPr/>
            <p:nvPr/>
          </p:nvSpPr>
          <p:spPr>
            <a:xfrm>
              <a:off x="5072066" y="4000504"/>
              <a:ext cx="1000132" cy="571504"/>
            </a:xfrm>
            <a:prstGeom prst="flowChartPunchedCard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bIns="108000" rtlCol="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2000" smtClean="0">
                  <a:solidFill>
                    <a:srgbClr val="0000FF"/>
                  </a:solidFill>
                  <a:latin typeface="仿宋" pitchFamily="49" charset="-122"/>
                  <a:ea typeface="仿宋" pitchFamily="49" charset="-122"/>
                </a:rPr>
                <a:t>顺序栈</a:t>
              </a:r>
              <a:endParaRPr lang="zh-CN" altLang="en-US" sz="2000">
                <a:solidFill>
                  <a:srgbClr val="0000FF"/>
                </a:solidFill>
                <a:latin typeface="仿宋" pitchFamily="49" charset="-122"/>
                <a:ea typeface="仿宋" pitchFamily="49" charset="-122"/>
              </a:endParaRPr>
            </a:p>
          </p:txBody>
        </p:sp>
        <p:sp>
          <p:nvSpPr>
            <p:cNvPr id="25" name="流程图: 卡片 24"/>
            <p:cNvSpPr/>
            <p:nvPr/>
          </p:nvSpPr>
          <p:spPr>
            <a:xfrm>
              <a:off x="6538927" y="4000504"/>
              <a:ext cx="1000132" cy="571504"/>
            </a:xfrm>
            <a:prstGeom prst="flowChartPunchedCard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bIns="108000" rtlCol="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2000" smtClean="0">
                  <a:solidFill>
                    <a:schemeClr val="bg1"/>
                  </a:solidFill>
                  <a:latin typeface="仿宋" pitchFamily="49" charset="-122"/>
                  <a:ea typeface="仿宋" pitchFamily="49" charset="-122"/>
                </a:rPr>
                <a:t>链栈</a:t>
              </a:r>
              <a:endParaRPr lang="zh-CN" altLang="en-US" sz="2000">
                <a:solidFill>
                  <a:schemeClr val="bg1"/>
                </a:solidFill>
                <a:latin typeface="仿宋" pitchFamily="49" charset="-122"/>
                <a:ea typeface="仿宋" pitchFamily="49" charset="-122"/>
              </a:endParaRPr>
            </a:p>
          </p:txBody>
        </p:sp>
        <p:cxnSp>
          <p:nvCxnSpPr>
            <p:cNvPr id="26" name="直接箭头连接符 25"/>
            <p:cNvCxnSpPr>
              <a:endCxn id="24" idx="0"/>
            </p:cNvCxnSpPr>
            <p:nvPr/>
          </p:nvCxnSpPr>
          <p:spPr>
            <a:xfrm rot="5400000">
              <a:off x="5450688" y="3393281"/>
              <a:ext cx="728668" cy="485779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>
              <a:endCxn id="25" idx="0"/>
            </p:cNvCxnSpPr>
            <p:nvPr/>
          </p:nvCxnSpPr>
          <p:spPr>
            <a:xfrm rot="16200000" flipH="1">
              <a:off x="6412720" y="3374231"/>
              <a:ext cx="752480" cy="500066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500034" y="2786058"/>
              <a:ext cx="12858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2000" smtClean="0">
                  <a:solidFill>
                    <a:srgbClr val="0000FF"/>
                  </a:solidFill>
                  <a:latin typeface="仿宋" pitchFamily="49" charset="-122"/>
                  <a:ea typeface="仿宋" pitchFamily="49" charset="-122"/>
                </a:rPr>
                <a:t>逻辑结构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00034" y="4143380"/>
              <a:ext cx="12858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2000" smtClean="0">
                  <a:solidFill>
                    <a:srgbClr val="0000FF"/>
                  </a:solidFill>
                  <a:latin typeface="仿宋" pitchFamily="49" charset="-122"/>
                  <a:ea typeface="仿宋" pitchFamily="49" charset="-122"/>
                </a:rPr>
                <a:t>存储结构</a:t>
              </a:r>
            </a:p>
          </p:txBody>
        </p:sp>
        <p:cxnSp>
          <p:nvCxnSpPr>
            <p:cNvPr id="31" name="直接箭头连接符 30"/>
            <p:cNvCxnSpPr>
              <a:stCxn id="28" idx="2"/>
            </p:cNvCxnSpPr>
            <p:nvPr/>
          </p:nvCxnSpPr>
          <p:spPr>
            <a:xfrm rot="5400000">
              <a:off x="699295" y="3629055"/>
              <a:ext cx="886568" cy="794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>
              <a:off x="1142976" y="3429000"/>
              <a:ext cx="7858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2000" smtClean="0">
                  <a:solidFill>
                    <a:srgbClr val="FF00FF"/>
                  </a:solidFill>
                  <a:latin typeface="仿宋" pitchFamily="49" charset="-122"/>
                  <a:ea typeface="仿宋" pitchFamily="49" charset="-122"/>
                </a:rPr>
                <a:t>映射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 rot="5400000">
              <a:off x="4624789" y="2790420"/>
              <a:ext cx="428628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ts val="3000"/>
                </a:lnSpc>
                <a:spcBef>
                  <a:spcPts val="0"/>
                </a:spcBef>
              </a:pPr>
              <a:r>
                <a:rPr lang="zh-CN" altLang="en-US" sz="2000" smtClean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∩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714348" y="642918"/>
            <a:ext cx="7000924" cy="46166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mtClean="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3.1.4 </a:t>
            </a:r>
            <a:r>
              <a:rPr lang="zh-CN" altLang="zh-CN" smtClean="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栈的</a:t>
            </a:r>
            <a:r>
              <a:rPr lang="zh-CN" altLang="en-US" smtClean="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链式</a:t>
            </a:r>
            <a:r>
              <a:rPr lang="zh-CN" altLang="zh-CN" smtClean="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存储结构及其基本运算算法实现</a:t>
            </a:r>
          </a:p>
        </p:txBody>
      </p:sp>
      <p:sp>
        <p:nvSpPr>
          <p:cNvPr id="22" name="燕尾形 21"/>
          <p:cNvSpPr/>
          <p:nvPr/>
        </p:nvSpPr>
        <p:spPr bwMode="auto">
          <a:xfrm rot="16200000">
            <a:off x="7036611" y="4893479"/>
            <a:ext cx="714380" cy="357190"/>
          </a:xfrm>
          <a:prstGeom prst="chevron">
            <a:avLst/>
          </a:prstGeom>
          <a:ln>
            <a:headEnd/>
            <a:tailEnd type="arrow" w="sm" len="sm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6" name="灯片编号占位符 3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26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2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0" name="Rectangle 6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1" name="TextBox 70"/>
          <p:cNvSpPr txBox="1"/>
          <p:nvPr/>
        </p:nvSpPr>
        <p:spPr>
          <a:xfrm>
            <a:off x="571472" y="2500306"/>
            <a:ext cx="7572428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初始时只含有一个头结点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head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并置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head-&gt;next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为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NULL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。这样链栈的四要素如下：</a:t>
            </a:r>
            <a:endParaRPr lang="zh-CN" altLang="en-US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714348" y="3500438"/>
            <a:ext cx="7429552" cy="191088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rIns="180000" bIns="108000" rtlCol="0">
            <a:spAutoFit/>
          </a:bodyPr>
          <a:lstStyle/>
          <a:p>
            <a:pPr marL="342900" indent="-342900" algn="l">
              <a:lnSpc>
                <a:spcPct val="10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栈空的条件：</a:t>
            </a:r>
            <a:r>
              <a:rPr lang="en-US" altLang="zh-CN" sz="2000" smtClean="0">
                <a:solidFill>
                  <a:srgbClr val="0099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head-&gt;next==NULL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</a:p>
          <a:p>
            <a:pPr marL="342900" indent="-342900" algn="l">
              <a:lnSpc>
                <a:spcPct val="10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由于只有在内存溢出才会出现栈满，通常不考虑这种情况。</a:t>
            </a:r>
          </a:p>
          <a:p>
            <a:pPr marL="342900" indent="-342900" algn="l">
              <a:lnSpc>
                <a:spcPct val="10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元素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进栈操作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将包含该元素的结点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插入作为首结点。</a:t>
            </a:r>
          </a:p>
          <a:p>
            <a:pPr marL="342900" indent="-342900" algn="l">
              <a:lnSpc>
                <a:spcPct val="10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出栈操作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返回首结点值并且删除该结点。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821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88" name="组合 87"/>
          <p:cNvGrpSpPr/>
          <p:nvPr/>
        </p:nvGrpSpPr>
        <p:grpSpPr>
          <a:xfrm>
            <a:off x="3047448" y="847358"/>
            <a:ext cx="4167758" cy="330086"/>
            <a:chOff x="3047448" y="847358"/>
            <a:chExt cx="4167758" cy="330086"/>
          </a:xfrm>
        </p:grpSpPr>
        <p:sp>
          <p:nvSpPr>
            <p:cNvPr id="8196" name="Rectangle 4"/>
            <p:cNvSpPr>
              <a:spLocks noChangeArrowheads="1"/>
            </p:cNvSpPr>
            <p:nvPr/>
          </p:nvSpPr>
          <p:spPr bwMode="auto">
            <a:xfrm>
              <a:off x="6221667" y="847358"/>
              <a:ext cx="993539" cy="33008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i="0" u="none" strike="noStrike" cap="none" normalizeH="0" baseline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栈底</a:t>
              </a:r>
            </a:p>
          </p:txBody>
        </p:sp>
        <p:sp>
          <p:nvSpPr>
            <p:cNvPr id="8195" name="Rectangle 3"/>
            <p:cNvSpPr>
              <a:spLocks noChangeArrowheads="1"/>
            </p:cNvSpPr>
            <p:nvPr/>
          </p:nvSpPr>
          <p:spPr bwMode="auto">
            <a:xfrm>
              <a:off x="3047448" y="847358"/>
              <a:ext cx="830245" cy="33008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i="0" u="none" strike="noStrike" cap="none" normalizeH="0" baseline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栈顶</a:t>
              </a:r>
            </a:p>
          </p:txBody>
        </p:sp>
      </p:grpSp>
      <p:grpSp>
        <p:nvGrpSpPr>
          <p:cNvPr id="87" name="组合 86"/>
          <p:cNvGrpSpPr/>
          <p:nvPr/>
        </p:nvGrpSpPr>
        <p:grpSpPr>
          <a:xfrm>
            <a:off x="1033438" y="714356"/>
            <a:ext cx="6093933" cy="857256"/>
            <a:chOff x="1033438" y="714356"/>
            <a:chExt cx="6093933" cy="857256"/>
          </a:xfrm>
        </p:grpSpPr>
        <p:sp>
          <p:nvSpPr>
            <p:cNvPr id="8211" name="Rectangle 19"/>
            <p:cNvSpPr>
              <a:spLocks noChangeArrowheads="1"/>
            </p:cNvSpPr>
            <p:nvPr/>
          </p:nvSpPr>
          <p:spPr bwMode="auto">
            <a:xfrm>
              <a:off x="5258110" y="1241526"/>
              <a:ext cx="449565" cy="33008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+mn-ea"/>
                  <a:ea typeface="+mn-ea"/>
                  <a:cs typeface="Consolas" pitchFamily="49" charset="0"/>
                </a:rPr>
                <a:t>…</a:t>
              </a:r>
            </a:p>
          </p:txBody>
        </p:sp>
        <p:sp>
          <p:nvSpPr>
            <p:cNvPr id="8210" name="Rectangle 18" descr="浅色上对角线"/>
            <p:cNvSpPr>
              <a:spLocks noChangeArrowheads="1"/>
            </p:cNvSpPr>
            <p:nvPr/>
          </p:nvSpPr>
          <p:spPr bwMode="auto">
            <a:xfrm>
              <a:off x="1835315" y="1210089"/>
              <a:ext cx="379231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900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8209" name="Rectangle 17"/>
            <p:cNvSpPr>
              <a:spLocks noChangeArrowheads="1"/>
            </p:cNvSpPr>
            <p:nvPr/>
          </p:nvSpPr>
          <p:spPr bwMode="auto">
            <a:xfrm>
              <a:off x="2215995" y="1210089"/>
              <a:ext cx="450773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900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8208" name="Rectangle 16"/>
            <p:cNvSpPr>
              <a:spLocks noChangeArrowheads="1"/>
            </p:cNvSpPr>
            <p:nvPr/>
          </p:nvSpPr>
          <p:spPr bwMode="auto">
            <a:xfrm>
              <a:off x="1033438" y="714356"/>
              <a:ext cx="555914" cy="33492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head</a:t>
              </a:r>
            </a:p>
          </p:txBody>
        </p:sp>
        <p:sp>
          <p:nvSpPr>
            <p:cNvPr id="8207" name="Arc 15"/>
            <p:cNvSpPr>
              <a:spLocks/>
            </p:cNvSpPr>
            <p:nvPr/>
          </p:nvSpPr>
          <p:spPr bwMode="auto">
            <a:xfrm>
              <a:off x="1570652" y="878794"/>
              <a:ext cx="380680" cy="33129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8206" name="Rectangle 14"/>
            <p:cNvSpPr>
              <a:spLocks noChangeArrowheads="1"/>
            </p:cNvSpPr>
            <p:nvPr/>
          </p:nvSpPr>
          <p:spPr bwMode="auto">
            <a:xfrm>
              <a:off x="3047448" y="1210089"/>
              <a:ext cx="378000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baseline="-30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  <a:endParaRPr kumimoji="0" lang="en-US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8205" name="Rectangle 13"/>
            <p:cNvSpPr>
              <a:spLocks noChangeArrowheads="1"/>
            </p:cNvSpPr>
            <p:nvPr/>
          </p:nvSpPr>
          <p:spPr bwMode="auto">
            <a:xfrm>
              <a:off x="3428128" y="1210089"/>
              <a:ext cx="449565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00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8204" name="Line 12"/>
            <p:cNvSpPr>
              <a:spLocks noChangeShapeType="1"/>
            </p:cNvSpPr>
            <p:nvPr/>
          </p:nvSpPr>
          <p:spPr bwMode="auto">
            <a:xfrm>
              <a:off x="2475824" y="1374528"/>
              <a:ext cx="571624" cy="0"/>
            </a:xfrm>
            <a:prstGeom prst="line">
              <a:avLst/>
            </a:prstGeom>
            <a:ln w="19050"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8203" name="Rectangle 11"/>
            <p:cNvSpPr>
              <a:spLocks noChangeArrowheads="1"/>
            </p:cNvSpPr>
            <p:nvPr/>
          </p:nvSpPr>
          <p:spPr bwMode="auto">
            <a:xfrm>
              <a:off x="6243649" y="1210089"/>
              <a:ext cx="432000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i="1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n</a:t>
              </a:r>
              <a:r>
                <a:rPr kumimoji="0" lang="en-US" altLang="zh-CN" sz="1600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-1</a:t>
              </a:r>
              <a:endParaRPr kumimoji="0" lang="en-US" altLang="zh-CN" sz="160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8202" name="Rectangle 10"/>
            <p:cNvSpPr>
              <a:spLocks noChangeArrowheads="1"/>
            </p:cNvSpPr>
            <p:nvPr/>
          </p:nvSpPr>
          <p:spPr bwMode="auto">
            <a:xfrm>
              <a:off x="6677806" y="1210089"/>
              <a:ext cx="449565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∧</a:t>
              </a:r>
            </a:p>
            <a:p>
              <a:pPr marL="0" marR="0" lvl="0" indent="0" algn="l" defTabSz="914400" rtl="0" eaLnBrk="0" fontAlgn="base" latinLnBrk="0" hangingPunct="0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8201" name="Line 9"/>
            <p:cNvSpPr>
              <a:spLocks noChangeShapeType="1"/>
            </p:cNvSpPr>
            <p:nvPr/>
          </p:nvSpPr>
          <p:spPr bwMode="auto">
            <a:xfrm>
              <a:off x="5643570" y="1374528"/>
              <a:ext cx="571624" cy="0"/>
            </a:xfrm>
            <a:prstGeom prst="line">
              <a:avLst/>
            </a:prstGeom>
            <a:ln w="19050"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8200" name="Line 8"/>
            <p:cNvSpPr>
              <a:spLocks noChangeShapeType="1"/>
            </p:cNvSpPr>
            <p:nvPr/>
          </p:nvSpPr>
          <p:spPr bwMode="auto">
            <a:xfrm>
              <a:off x="3619072" y="1374528"/>
              <a:ext cx="571624" cy="0"/>
            </a:xfrm>
            <a:prstGeom prst="line">
              <a:avLst/>
            </a:prstGeom>
            <a:ln w="19050"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8199" name="Rectangle 7"/>
            <p:cNvSpPr>
              <a:spLocks noChangeArrowheads="1"/>
            </p:cNvSpPr>
            <p:nvPr/>
          </p:nvSpPr>
          <p:spPr bwMode="auto">
            <a:xfrm>
              <a:off x="4190697" y="1210089"/>
              <a:ext cx="378000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baseline="-30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endParaRPr kumimoji="0" lang="en-US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8198" name="Rectangle 6"/>
            <p:cNvSpPr>
              <a:spLocks noChangeArrowheads="1"/>
            </p:cNvSpPr>
            <p:nvPr/>
          </p:nvSpPr>
          <p:spPr bwMode="auto">
            <a:xfrm>
              <a:off x="4571377" y="1210089"/>
              <a:ext cx="449565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00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8197" name="Line 5"/>
            <p:cNvSpPr>
              <a:spLocks noChangeShapeType="1"/>
            </p:cNvSpPr>
            <p:nvPr/>
          </p:nvSpPr>
          <p:spPr bwMode="auto">
            <a:xfrm>
              <a:off x="4762321" y="1374528"/>
              <a:ext cx="571624" cy="0"/>
            </a:xfrm>
            <a:prstGeom prst="line">
              <a:avLst/>
            </a:prstGeom>
            <a:ln w="19050"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8194" name="Rectangle 2"/>
            <p:cNvSpPr>
              <a:spLocks noChangeArrowheads="1"/>
            </p:cNvSpPr>
            <p:nvPr/>
          </p:nvSpPr>
          <p:spPr bwMode="auto">
            <a:xfrm>
              <a:off x="2031093" y="837685"/>
              <a:ext cx="762568" cy="33008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头结点</a:t>
              </a:r>
            </a:p>
          </p:txBody>
        </p:sp>
      </p:grpSp>
      <p:sp>
        <p:nvSpPr>
          <p:cNvPr id="30" name="灯片编号占位符 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27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7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71472" y="428604"/>
            <a:ext cx="6858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和单链表一样，链栈中每个结点的类型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LinkNode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如下</a:t>
            </a:r>
            <a:endParaRPr lang="zh-CN" altLang="en-US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2910" y="1070855"/>
            <a:ext cx="7715304" cy="26008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44000" bIns="144000" rtlCol="0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template &lt;typename T&gt;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struct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LinkNode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链栈结点类型</a:t>
            </a: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T data;	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数据域</a:t>
            </a: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LinkNode* next;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指针域</a:t>
            </a: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LinkNode():next(NULL) {} 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构造函数</a:t>
            </a: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LinkNode(T d):data(d),next(NULL) {} 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重载构造函数</a:t>
            </a: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};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28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Rectangle 2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3" name="TextBox 32"/>
          <p:cNvSpPr txBox="1"/>
          <p:nvPr/>
        </p:nvSpPr>
        <p:spPr>
          <a:xfrm>
            <a:off x="500034" y="1122862"/>
            <a:ext cx="7572428" cy="22657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44000" bIns="144000" rtlCol="0">
            <a:sp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template &lt;typename T&gt;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class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LinkStack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链栈类模板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public: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LinkNode&lt;T&gt;* head;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链栈头结点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#</a:t>
            </a:r>
            <a:r>
              <a:rPr lang="zh-CN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栈的基本运算算法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}: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00034" y="551358"/>
            <a:ext cx="46434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链栈类</a:t>
            </a:r>
            <a:r>
              <a:rPr lang="zh-CN" altLang="en-US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模板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LinkStack</a:t>
            </a:r>
            <a:endParaRPr lang="zh-CN" altLang="en-US" sz="2000" smtClean="0">
              <a:solidFill>
                <a:srgbClr val="FF00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29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85786" y="487900"/>
            <a:ext cx="27146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00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链</a:t>
            </a:r>
            <a:r>
              <a:rPr lang="zh-CN" altLang="zh-CN" sz="200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栈的基本运算算法</a:t>
            </a:r>
            <a:endParaRPr lang="zh-CN" altLang="en-US" sz="2000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4348" y="1071546"/>
            <a:ext cx="4071966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（</a:t>
            </a:r>
            <a:r>
              <a:rPr lang="en-US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1</a:t>
            </a: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）链栈的初始化和销毁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5786" y="1714488"/>
            <a:ext cx="5136480" cy="1295327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LinkStack()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</a:t>
            </a:r>
            <a:r>
              <a:rPr lang="en-US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构造函数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	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head=new LinkNode&lt;T&gt;();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6286512" y="1888801"/>
            <a:ext cx="1633330" cy="825819"/>
            <a:chOff x="2460749" y="3790523"/>
            <a:chExt cx="1633330" cy="825819"/>
          </a:xfrm>
        </p:grpSpPr>
        <p:sp>
          <p:nvSpPr>
            <p:cNvPr id="28" name="Rectangle 18" descr="浅色上对角线"/>
            <p:cNvSpPr>
              <a:spLocks noChangeArrowheads="1"/>
            </p:cNvSpPr>
            <p:nvPr/>
          </p:nvSpPr>
          <p:spPr bwMode="auto">
            <a:xfrm>
              <a:off x="3262626" y="4286256"/>
              <a:ext cx="379231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900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31" name="Rectangle 17"/>
            <p:cNvSpPr>
              <a:spLocks noChangeArrowheads="1"/>
            </p:cNvSpPr>
            <p:nvPr/>
          </p:nvSpPr>
          <p:spPr bwMode="auto">
            <a:xfrm>
              <a:off x="3643306" y="4286256"/>
              <a:ext cx="450773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90000" tIns="0" rIns="0" bIns="0" numCol="1" anchor="t" anchorCtr="0" compatLnSpc="1">
              <a:prstTxWarp prst="textNoShape">
                <a:avLst/>
              </a:prstTxWarp>
            </a:bodyPr>
            <a:lstStyle/>
            <a:p>
              <a:pPr lvl="0" algn="l">
                <a:lnSpc>
                  <a:spcPts val="2300"/>
                </a:lnSpc>
                <a:spcBef>
                  <a:spcPct val="0"/>
                </a:spcBef>
              </a:pPr>
              <a:r>
                <a:rPr kumimoji="0" lang="zh-CN" altLang="zh-CN" sz="16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∧</a:t>
              </a:r>
              <a:endParaRPr kumimoji="0" lang="zh-CN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32" name="Rectangle 16"/>
            <p:cNvSpPr>
              <a:spLocks noChangeArrowheads="1"/>
            </p:cNvSpPr>
            <p:nvPr/>
          </p:nvSpPr>
          <p:spPr bwMode="auto">
            <a:xfrm>
              <a:off x="2460749" y="3790523"/>
              <a:ext cx="555914" cy="33492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head</a:t>
              </a:r>
            </a:p>
          </p:txBody>
        </p:sp>
        <p:sp>
          <p:nvSpPr>
            <p:cNvPr id="33" name="Arc 15"/>
            <p:cNvSpPr>
              <a:spLocks/>
            </p:cNvSpPr>
            <p:nvPr/>
          </p:nvSpPr>
          <p:spPr bwMode="auto">
            <a:xfrm>
              <a:off x="2997963" y="3954961"/>
              <a:ext cx="380680" cy="33129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11" name="右箭头 10"/>
          <p:cNvSpPr/>
          <p:nvPr/>
        </p:nvSpPr>
        <p:spPr bwMode="auto">
          <a:xfrm>
            <a:off x="5643570" y="2214554"/>
            <a:ext cx="285752" cy="214314"/>
          </a:xfrm>
          <a:prstGeom prst="rightArrow">
            <a:avLst/>
          </a:prstGeom>
          <a:ln>
            <a:headEnd/>
            <a:tailEnd type="arrow" w="sm" len="sm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4348" y="3500438"/>
            <a:ext cx="6500858" cy="237254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~LinkStack()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</a:t>
            </a:r>
            <a:r>
              <a:rPr lang="en-US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析构函数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LinkNode&lt;T&gt;* pre=head,*p=pre-&gt;next;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while (p!=NULL)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delete pre;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pre=p; p=p-&gt;next;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//pre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、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同步后移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delete pre;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30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714348" y="1071546"/>
            <a:ext cx="4071966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（</a:t>
            </a:r>
            <a:r>
              <a:rPr lang="en-US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2</a:t>
            </a: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）判断栈是否为空</a:t>
            </a:r>
            <a:r>
              <a:rPr lang="en-US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empty()</a:t>
            </a:r>
            <a:endParaRPr lang="zh-CN" altLang="zh-CN" sz="2000" smtClean="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57224" y="1857364"/>
            <a:ext cx="6143668" cy="139792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empty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()    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判断栈是否为空</a:t>
            </a:r>
          </a:p>
          <a:p>
            <a:pPr algn="l">
              <a:lnSpc>
                <a:spcPts val="23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</a:t>
            </a:r>
          </a:p>
          <a:p>
            <a:pPr algn="l">
              <a:lnSpc>
                <a:spcPts val="23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return head-&gt;next==NULL;</a:t>
            </a:r>
          </a:p>
          <a:p>
            <a:pPr algn="l">
              <a:lnSpc>
                <a:spcPts val="23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</a:p>
        </p:txBody>
      </p:sp>
      <p:grpSp>
        <p:nvGrpSpPr>
          <p:cNvPr id="2" name="组合 34"/>
          <p:cNvGrpSpPr/>
          <p:nvPr/>
        </p:nvGrpSpPr>
        <p:grpSpPr>
          <a:xfrm>
            <a:off x="2460749" y="3790523"/>
            <a:ext cx="1633330" cy="825819"/>
            <a:chOff x="2460749" y="3790523"/>
            <a:chExt cx="1633330" cy="825819"/>
          </a:xfrm>
        </p:grpSpPr>
        <p:sp>
          <p:nvSpPr>
            <p:cNvPr id="28" name="Rectangle 18" descr="浅色上对角线"/>
            <p:cNvSpPr>
              <a:spLocks noChangeArrowheads="1"/>
            </p:cNvSpPr>
            <p:nvPr/>
          </p:nvSpPr>
          <p:spPr bwMode="auto">
            <a:xfrm>
              <a:off x="3262626" y="4286256"/>
              <a:ext cx="379231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900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31" name="Rectangle 17"/>
            <p:cNvSpPr>
              <a:spLocks noChangeArrowheads="1"/>
            </p:cNvSpPr>
            <p:nvPr/>
          </p:nvSpPr>
          <p:spPr bwMode="auto">
            <a:xfrm>
              <a:off x="3643306" y="4286256"/>
              <a:ext cx="450773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90000" tIns="0" rIns="0" bIns="0" numCol="1" anchor="t" anchorCtr="0" compatLnSpc="1">
              <a:prstTxWarp prst="textNoShape">
                <a:avLst/>
              </a:prstTxWarp>
            </a:bodyPr>
            <a:lstStyle/>
            <a:p>
              <a:pPr lvl="0" algn="l">
                <a:lnSpc>
                  <a:spcPts val="2300"/>
                </a:lnSpc>
                <a:spcBef>
                  <a:spcPct val="0"/>
                </a:spcBef>
              </a:pPr>
              <a:r>
                <a:rPr kumimoji="0" lang="zh-CN" altLang="zh-CN" sz="16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∧</a:t>
              </a:r>
              <a:endParaRPr kumimoji="0" lang="zh-CN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32" name="Rectangle 16"/>
            <p:cNvSpPr>
              <a:spLocks noChangeArrowheads="1"/>
            </p:cNvSpPr>
            <p:nvPr/>
          </p:nvSpPr>
          <p:spPr bwMode="auto">
            <a:xfrm>
              <a:off x="2460749" y="3790523"/>
              <a:ext cx="555914" cy="33492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head</a:t>
              </a:r>
            </a:p>
          </p:txBody>
        </p:sp>
        <p:sp>
          <p:nvSpPr>
            <p:cNvPr id="33" name="Arc 15"/>
            <p:cNvSpPr>
              <a:spLocks/>
            </p:cNvSpPr>
            <p:nvPr/>
          </p:nvSpPr>
          <p:spPr bwMode="auto">
            <a:xfrm>
              <a:off x="2997963" y="3954961"/>
              <a:ext cx="380680" cy="33129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31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4348" y="500042"/>
            <a:ext cx="2643206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l">
              <a:lnSpc>
                <a:spcPct val="100000"/>
              </a:lnSpc>
            </a:pP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（</a:t>
            </a:r>
            <a:r>
              <a:rPr lang="en-US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3</a:t>
            </a: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）进栈</a:t>
            </a:r>
            <a:r>
              <a:rPr lang="en-US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push(e)</a:t>
            </a:r>
            <a:endParaRPr lang="zh-CN" altLang="zh-CN" sz="200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8596" y="1285860"/>
            <a:ext cx="8429684" cy="204720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push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(T e)					</a:t>
            </a:r>
            <a:r>
              <a:rPr lang="en-US" altLang="zh-CN" sz="180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进栈算法</a:t>
            </a:r>
          </a:p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LinkNode&lt;T&gt;* p=new LinkNode&lt;T&gt;(e);	</a:t>
            </a:r>
            <a:r>
              <a:rPr lang="en-US" altLang="zh-CN" sz="180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新建结点</a:t>
            </a:r>
            <a:r>
              <a:rPr lang="en-US" altLang="zh-CN" sz="180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</a:t>
            </a:r>
            <a:endParaRPr lang="zh-CN" altLang="zh-CN" sz="1800" smtClean="0">
              <a:solidFill>
                <a:schemeClr val="bg1">
                  <a:lumMod val="65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p-&gt;next=head-&gt;next;			</a:t>
            </a:r>
            <a:r>
              <a:rPr lang="en-US" altLang="zh-CN" sz="180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插入结点</a:t>
            </a:r>
            <a:r>
              <a:rPr lang="en-US" altLang="zh-CN" sz="180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</a:t>
            </a:r>
            <a:r>
              <a:rPr lang="zh-CN" altLang="zh-CN" sz="180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作为首结点</a:t>
            </a:r>
          </a:p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head-&gt;next=p;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return true;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1121273" y="3571876"/>
            <a:ext cx="6093933" cy="1500198"/>
            <a:chOff x="785786" y="3571876"/>
            <a:chExt cx="6093933" cy="1500198"/>
          </a:xfrm>
        </p:grpSpPr>
        <p:sp>
          <p:nvSpPr>
            <p:cNvPr id="6" name="Rectangle 19"/>
            <p:cNvSpPr>
              <a:spLocks noChangeArrowheads="1"/>
            </p:cNvSpPr>
            <p:nvPr/>
          </p:nvSpPr>
          <p:spPr bwMode="auto">
            <a:xfrm>
              <a:off x="5077133" y="4741988"/>
              <a:ext cx="449565" cy="33008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+mn-ea"/>
                  <a:ea typeface="+mn-ea"/>
                  <a:cs typeface="Consolas" pitchFamily="49" charset="0"/>
                </a:rPr>
                <a:t>…</a:t>
              </a:r>
            </a:p>
          </p:txBody>
        </p:sp>
        <p:sp>
          <p:nvSpPr>
            <p:cNvPr id="7" name="Rectangle 18" descr="浅色上对角线"/>
            <p:cNvSpPr>
              <a:spLocks noChangeArrowheads="1"/>
            </p:cNvSpPr>
            <p:nvPr/>
          </p:nvSpPr>
          <p:spPr bwMode="auto">
            <a:xfrm>
              <a:off x="1587663" y="4710551"/>
              <a:ext cx="379231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900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8" name="Rectangle 17"/>
            <p:cNvSpPr>
              <a:spLocks noChangeArrowheads="1"/>
            </p:cNvSpPr>
            <p:nvPr/>
          </p:nvSpPr>
          <p:spPr bwMode="auto">
            <a:xfrm>
              <a:off x="1968343" y="4710551"/>
              <a:ext cx="450773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900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9" name="Rectangle 16"/>
            <p:cNvSpPr>
              <a:spLocks noChangeArrowheads="1"/>
            </p:cNvSpPr>
            <p:nvPr/>
          </p:nvSpPr>
          <p:spPr bwMode="auto">
            <a:xfrm>
              <a:off x="785786" y="4214818"/>
              <a:ext cx="555914" cy="33492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head</a:t>
              </a:r>
            </a:p>
          </p:txBody>
        </p:sp>
        <p:sp>
          <p:nvSpPr>
            <p:cNvPr id="10" name="Arc 15"/>
            <p:cNvSpPr>
              <a:spLocks/>
            </p:cNvSpPr>
            <p:nvPr/>
          </p:nvSpPr>
          <p:spPr bwMode="auto">
            <a:xfrm>
              <a:off x="1323000" y="4379256"/>
              <a:ext cx="380680" cy="33129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1" name="Rectangle 14"/>
            <p:cNvSpPr>
              <a:spLocks noChangeArrowheads="1"/>
            </p:cNvSpPr>
            <p:nvPr/>
          </p:nvSpPr>
          <p:spPr bwMode="auto">
            <a:xfrm>
              <a:off x="2799796" y="4710551"/>
              <a:ext cx="378000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3180476" y="4710551"/>
              <a:ext cx="449565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00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4" name="Line 12"/>
            <p:cNvSpPr>
              <a:spLocks noChangeShapeType="1"/>
            </p:cNvSpPr>
            <p:nvPr/>
          </p:nvSpPr>
          <p:spPr bwMode="auto">
            <a:xfrm>
              <a:off x="2228172" y="4874990"/>
              <a:ext cx="571624" cy="0"/>
            </a:xfrm>
            <a:prstGeom prst="line">
              <a:avLst/>
            </a:prstGeom>
            <a:ln w="19050"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5" name="Rectangle 11"/>
            <p:cNvSpPr>
              <a:spLocks noChangeArrowheads="1"/>
            </p:cNvSpPr>
            <p:nvPr/>
          </p:nvSpPr>
          <p:spPr bwMode="auto">
            <a:xfrm>
              <a:off x="6049474" y="4710551"/>
              <a:ext cx="378000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6430154" y="4710551"/>
              <a:ext cx="449565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∧</a:t>
              </a:r>
            </a:p>
            <a:p>
              <a:pPr marL="0" marR="0" lvl="0" indent="0" algn="l" defTabSz="914400" rtl="0" eaLnBrk="0" fontAlgn="base" latinLnBrk="0" hangingPunct="0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7" name="Line 9"/>
            <p:cNvSpPr>
              <a:spLocks noChangeShapeType="1"/>
            </p:cNvSpPr>
            <p:nvPr/>
          </p:nvSpPr>
          <p:spPr bwMode="auto">
            <a:xfrm>
              <a:off x="5477849" y="4874990"/>
              <a:ext cx="571624" cy="0"/>
            </a:xfrm>
            <a:prstGeom prst="line">
              <a:avLst/>
            </a:prstGeom>
            <a:ln w="19050"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8" name="Line 8"/>
            <p:cNvSpPr>
              <a:spLocks noChangeShapeType="1"/>
            </p:cNvSpPr>
            <p:nvPr/>
          </p:nvSpPr>
          <p:spPr bwMode="auto">
            <a:xfrm>
              <a:off x="3371420" y="4874990"/>
              <a:ext cx="571624" cy="0"/>
            </a:xfrm>
            <a:prstGeom prst="line">
              <a:avLst/>
            </a:prstGeom>
            <a:ln w="19050"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9" name="Rectangle 7"/>
            <p:cNvSpPr>
              <a:spLocks noChangeArrowheads="1"/>
            </p:cNvSpPr>
            <p:nvPr/>
          </p:nvSpPr>
          <p:spPr bwMode="auto">
            <a:xfrm>
              <a:off x="3943045" y="4710551"/>
              <a:ext cx="378000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0" name="Rectangle 6"/>
            <p:cNvSpPr>
              <a:spLocks noChangeArrowheads="1"/>
            </p:cNvSpPr>
            <p:nvPr/>
          </p:nvSpPr>
          <p:spPr bwMode="auto">
            <a:xfrm>
              <a:off x="4323725" y="4710551"/>
              <a:ext cx="449565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00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1" name="Line 5"/>
            <p:cNvSpPr>
              <a:spLocks noChangeShapeType="1"/>
            </p:cNvSpPr>
            <p:nvPr/>
          </p:nvSpPr>
          <p:spPr bwMode="auto">
            <a:xfrm>
              <a:off x="4514669" y="4874990"/>
              <a:ext cx="571624" cy="0"/>
            </a:xfrm>
            <a:prstGeom prst="line">
              <a:avLst/>
            </a:prstGeom>
            <a:ln w="19050"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2" name="Rectangle 2"/>
            <p:cNvSpPr>
              <a:spLocks noChangeArrowheads="1"/>
            </p:cNvSpPr>
            <p:nvPr/>
          </p:nvSpPr>
          <p:spPr bwMode="auto">
            <a:xfrm>
              <a:off x="1783441" y="4338147"/>
              <a:ext cx="762568" cy="33008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头结点</a:t>
              </a:r>
            </a:p>
          </p:txBody>
        </p:sp>
        <p:sp>
          <p:nvSpPr>
            <p:cNvPr id="23" name="Rectangle 14"/>
            <p:cNvSpPr>
              <a:spLocks noChangeArrowheads="1"/>
            </p:cNvSpPr>
            <p:nvPr/>
          </p:nvSpPr>
          <p:spPr bwMode="auto">
            <a:xfrm>
              <a:off x="3170251" y="3956170"/>
              <a:ext cx="378000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1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e</a:t>
              </a:r>
              <a:endParaRPr kumimoji="0" lang="en-US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4" name="Rectangle 13"/>
            <p:cNvSpPr>
              <a:spLocks noChangeArrowheads="1"/>
            </p:cNvSpPr>
            <p:nvPr/>
          </p:nvSpPr>
          <p:spPr bwMode="auto">
            <a:xfrm>
              <a:off x="3550931" y="3956170"/>
              <a:ext cx="449565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00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5" name="任意多边形 24"/>
            <p:cNvSpPr/>
            <p:nvPr/>
          </p:nvSpPr>
          <p:spPr>
            <a:xfrm>
              <a:off x="2619375" y="4102102"/>
              <a:ext cx="438150" cy="531812"/>
            </a:xfrm>
            <a:custGeom>
              <a:avLst/>
              <a:gdLst>
                <a:gd name="connsiteX0" fmla="*/ 438150 w 438150"/>
                <a:gd name="connsiteY0" fmla="*/ 26987 h 531812"/>
                <a:gd name="connsiteX1" fmla="*/ 209550 w 438150"/>
                <a:gd name="connsiteY1" fmla="*/ 84137 h 531812"/>
                <a:gd name="connsiteX2" fmla="*/ 0 w 438150"/>
                <a:gd name="connsiteY2" fmla="*/ 531812 h 531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8150" h="531812">
                  <a:moveTo>
                    <a:pt x="438150" y="26987"/>
                  </a:moveTo>
                  <a:cubicBezTo>
                    <a:pt x="360362" y="13493"/>
                    <a:pt x="282575" y="0"/>
                    <a:pt x="209550" y="84137"/>
                  </a:cubicBezTo>
                  <a:cubicBezTo>
                    <a:pt x="136525" y="168275"/>
                    <a:pt x="68262" y="350043"/>
                    <a:pt x="0" y="531812"/>
                  </a:cubicBezTo>
                </a:path>
              </a:pathLst>
            </a:cu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7" name="直接箭头连接符 26"/>
            <p:cNvCxnSpPr>
              <a:endCxn id="23" idx="0"/>
            </p:cNvCxnSpPr>
            <p:nvPr/>
          </p:nvCxnSpPr>
          <p:spPr>
            <a:xfrm rot="16200000" flipH="1">
              <a:off x="3166255" y="3763174"/>
              <a:ext cx="241418" cy="144573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Rectangle 2"/>
            <p:cNvSpPr>
              <a:spLocks noChangeArrowheads="1"/>
            </p:cNvSpPr>
            <p:nvPr/>
          </p:nvSpPr>
          <p:spPr bwMode="auto">
            <a:xfrm>
              <a:off x="2952176" y="3571876"/>
              <a:ext cx="262502" cy="33008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1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p</a:t>
              </a:r>
              <a:endParaRPr kumimoji="0" lang="zh-CN" sz="1600" i="1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33" name="灯片编号占位符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32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8596" y="500042"/>
            <a:ext cx="2428892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l">
              <a:lnSpc>
                <a:spcPct val="100000"/>
              </a:lnSpc>
            </a:pP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（</a:t>
            </a:r>
            <a:r>
              <a:rPr lang="en-US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4</a:t>
            </a: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）出栈</a:t>
            </a:r>
            <a:r>
              <a:rPr lang="en-US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pop()</a:t>
            </a:r>
            <a:endParaRPr lang="zh-CN" altLang="zh-CN" sz="200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1472" y="1142984"/>
            <a:ext cx="7929618" cy="2911154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pop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(T&amp; e)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出栈算法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LinkNode&lt;T&gt;* p;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if (head-&gt;next==NULL)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栈空的情况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return false;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p=head-&gt;next;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//p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指向开始结点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e=p-&gt;data;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head-&gt;next=p-&gt;next;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删除结点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delete p;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释放结点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return true;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1000100" y="4500570"/>
            <a:ext cx="6093933" cy="1767314"/>
            <a:chOff x="857224" y="4143380"/>
            <a:chExt cx="6093933" cy="1767314"/>
          </a:xfrm>
        </p:grpSpPr>
        <p:grpSp>
          <p:nvGrpSpPr>
            <p:cNvPr id="29" name="组合 28"/>
            <p:cNvGrpSpPr/>
            <p:nvPr/>
          </p:nvGrpSpPr>
          <p:grpSpPr>
            <a:xfrm>
              <a:off x="857224" y="4357694"/>
              <a:ext cx="6093933" cy="1185871"/>
              <a:chOff x="857224" y="4357694"/>
              <a:chExt cx="6093933" cy="1185871"/>
            </a:xfrm>
          </p:grpSpPr>
          <p:sp>
            <p:nvSpPr>
              <p:cNvPr id="6" name="Rectangle 19"/>
              <p:cNvSpPr>
                <a:spLocks noChangeArrowheads="1"/>
              </p:cNvSpPr>
              <p:nvPr/>
            </p:nvSpPr>
            <p:spPr bwMode="auto">
              <a:xfrm>
                <a:off x="5148571" y="4884864"/>
                <a:ext cx="449565" cy="33008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 type="none" w="sm" len="sm"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i="0" u="none" strike="noStrike" cap="none" normalizeH="0" baseline="0" smtClean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+mn-ea"/>
                    <a:ea typeface="+mn-ea"/>
                    <a:cs typeface="Consolas" pitchFamily="49" charset="0"/>
                  </a:rPr>
                  <a:t>…</a:t>
                </a:r>
              </a:p>
            </p:txBody>
          </p:sp>
          <p:sp>
            <p:nvSpPr>
              <p:cNvPr id="7" name="Rectangle 18" descr="浅色上对角线"/>
              <p:cNvSpPr>
                <a:spLocks noChangeArrowheads="1"/>
              </p:cNvSpPr>
              <p:nvPr/>
            </p:nvSpPr>
            <p:spPr bwMode="auto">
              <a:xfrm>
                <a:off x="1659101" y="4853427"/>
                <a:ext cx="379231" cy="330086"/>
              </a:xfrm>
              <a:prstGeom prst="rect">
                <a:avLst/>
              </a:prstGeom>
              <a:ln>
                <a:headEnd/>
                <a:tailEnd type="none" w="sm" len="sm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square" lIns="9000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8" name="Rectangle 17"/>
              <p:cNvSpPr>
                <a:spLocks noChangeArrowheads="1"/>
              </p:cNvSpPr>
              <p:nvPr/>
            </p:nvSpPr>
            <p:spPr bwMode="auto">
              <a:xfrm>
                <a:off x="2039781" y="4853427"/>
                <a:ext cx="450773" cy="330086"/>
              </a:xfrm>
              <a:prstGeom prst="rect">
                <a:avLst/>
              </a:prstGeom>
              <a:ln>
                <a:headEnd/>
                <a:tailEnd type="none" w="sm" len="sm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square" lIns="9000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9" name="Rectangle 16"/>
              <p:cNvSpPr>
                <a:spLocks noChangeArrowheads="1"/>
              </p:cNvSpPr>
              <p:nvPr/>
            </p:nvSpPr>
            <p:spPr bwMode="auto">
              <a:xfrm>
                <a:off x="857224" y="4357694"/>
                <a:ext cx="555914" cy="334922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 type="none" w="sm" len="sm"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600" i="0" u="none" strike="noStrike" cap="none" normalizeH="0" baseline="0" smtClean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head</a:t>
                </a:r>
              </a:p>
            </p:txBody>
          </p:sp>
          <p:sp>
            <p:nvSpPr>
              <p:cNvPr id="10" name="Arc 15"/>
              <p:cNvSpPr>
                <a:spLocks/>
              </p:cNvSpPr>
              <p:nvPr/>
            </p:nvSpPr>
            <p:spPr bwMode="auto">
              <a:xfrm>
                <a:off x="1394438" y="4522132"/>
                <a:ext cx="380680" cy="331295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 type="none" w="med" len="med"/>
                <a:tailEnd type="arrow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6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11" name="Rectangle 14"/>
              <p:cNvSpPr>
                <a:spLocks noChangeArrowheads="1"/>
              </p:cNvSpPr>
              <p:nvPr/>
            </p:nvSpPr>
            <p:spPr bwMode="auto">
              <a:xfrm>
                <a:off x="2871234" y="4853427"/>
                <a:ext cx="378000" cy="330086"/>
              </a:xfrm>
              <a:prstGeom prst="rect">
                <a:avLst/>
              </a:prstGeom>
              <a:ln>
                <a:headEnd/>
                <a:tailEnd type="none" w="sm" len="sm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ts val="23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600" i="1" smtClean="0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e</a:t>
                </a:r>
                <a:endPara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13" name="Rectangle 13"/>
              <p:cNvSpPr>
                <a:spLocks noChangeArrowheads="1"/>
              </p:cNvSpPr>
              <p:nvPr/>
            </p:nvSpPr>
            <p:spPr bwMode="auto">
              <a:xfrm>
                <a:off x="3251914" y="4853427"/>
                <a:ext cx="449565" cy="330086"/>
              </a:xfrm>
              <a:prstGeom prst="rect">
                <a:avLst/>
              </a:prstGeom>
              <a:ln>
                <a:headEnd/>
                <a:tailEnd type="none" w="sm" len="sm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9000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ts val="23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14" name="Line 12"/>
              <p:cNvSpPr>
                <a:spLocks noChangeShapeType="1"/>
              </p:cNvSpPr>
              <p:nvPr/>
            </p:nvSpPr>
            <p:spPr bwMode="auto">
              <a:xfrm>
                <a:off x="2299610" y="5017866"/>
                <a:ext cx="571624" cy="0"/>
              </a:xfrm>
              <a:prstGeom prst="line">
                <a:avLst/>
              </a:prstGeom>
              <a:ln w="19050">
                <a:headEnd type="none" w="med" len="med"/>
                <a:tailEnd type="arrow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6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15" name="Rectangle 11"/>
              <p:cNvSpPr>
                <a:spLocks noChangeArrowheads="1"/>
              </p:cNvSpPr>
              <p:nvPr/>
            </p:nvSpPr>
            <p:spPr bwMode="auto">
              <a:xfrm>
                <a:off x="6120912" y="4853427"/>
                <a:ext cx="378000" cy="330086"/>
              </a:xfrm>
              <a:prstGeom prst="rect">
                <a:avLst/>
              </a:prstGeom>
              <a:ln>
                <a:headEnd/>
                <a:tailEnd type="none" w="sm" len="sm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ts val="23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16" name="Rectangle 10"/>
              <p:cNvSpPr>
                <a:spLocks noChangeArrowheads="1"/>
              </p:cNvSpPr>
              <p:nvPr/>
            </p:nvSpPr>
            <p:spPr bwMode="auto">
              <a:xfrm>
                <a:off x="6501592" y="4853427"/>
                <a:ext cx="449565" cy="330086"/>
              </a:xfrm>
              <a:prstGeom prst="rect">
                <a:avLst/>
              </a:prstGeom>
              <a:ln>
                <a:headEnd/>
                <a:tailEnd type="none" w="sm" len="sm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ts val="23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i="0" u="none" strike="noStrike" cap="none" normalizeH="0" baseline="0" smtClean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∧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ts val="23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17" name="Line 9"/>
              <p:cNvSpPr>
                <a:spLocks noChangeShapeType="1"/>
              </p:cNvSpPr>
              <p:nvPr/>
            </p:nvSpPr>
            <p:spPr bwMode="auto">
              <a:xfrm>
                <a:off x="5549287" y="5017866"/>
                <a:ext cx="571624" cy="0"/>
              </a:xfrm>
              <a:prstGeom prst="line">
                <a:avLst/>
              </a:prstGeom>
              <a:ln w="19050">
                <a:headEnd type="none" w="med" len="med"/>
                <a:tailEnd type="arrow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6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18" name="Line 8"/>
              <p:cNvSpPr>
                <a:spLocks noChangeShapeType="1"/>
              </p:cNvSpPr>
              <p:nvPr/>
            </p:nvSpPr>
            <p:spPr bwMode="auto">
              <a:xfrm>
                <a:off x="3442858" y="5017866"/>
                <a:ext cx="571624" cy="0"/>
              </a:xfrm>
              <a:prstGeom prst="line">
                <a:avLst/>
              </a:prstGeom>
              <a:ln w="19050">
                <a:headEnd type="none" w="med" len="med"/>
                <a:tailEnd type="arrow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6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19" name="Rectangle 7"/>
              <p:cNvSpPr>
                <a:spLocks noChangeArrowheads="1"/>
              </p:cNvSpPr>
              <p:nvPr/>
            </p:nvSpPr>
            <p:spPr bwMode="auto">
              <a:xfrm>
                <a:off x="4014483" y="4853427"/>
                <a:ext cx="378000" cy="330086"/>
              </a:xfrm>
              <a:prstGeom prst="rect">
                <a:avLst/>
              </a:prstGeom>
              <a:ln>
                <a:headEnd/>
                <a:tailEnd type="none" w="sm" len="sm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ts val="23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20" name="Rectangle 6"/>
              <p:cNvSpPr>
                <a:spLocks noChangeArrowheads="1"/>
              </p:cNvSpPr>
              <p:nvPr/>
            </p:nvSpPr>
            <p:spPr bwMode="auto">
              <a:xfrm>
                <a:off x="4395163" y="4853427"/>
                <a:ext cx="449565" cy="330086"/>
              </a:xfrm>
              <a:prstGeom prst="rect">
                <a:avLst/>
              </a:prstGeom>
              <a:ln>
                <a:headEnd/>
                <a:tailEnd type="none" w="sm" len="sm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9000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ts val="23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21" name="Line 5"/>
              <p:cNvSpPr>
                <a:spLocks noChangeShapeType="1"/>
              </p:cNvSpPr>
              <p:nvPr/>
            </p:nvSpPr>
            <p:spPr bwMode="auto">
              <a:xfrm>
                <a:off x="4586107" y="5017866"/>
                <a:ext cx="571624" cy="0"/>
              </a:xfrm>
              <a:prstGeom prst="line">
                <a:avLst/>
              </a:prstGeom>
              <a:ln w="19050">
                <a:headEnd type="none" w="med" len="med"/>
                <a:tailEnd type="arrow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6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22" name="Rectangle 2"/>
              <p:cNvSpPr>
                <a:spLocks noChangeArrowheads="1"/>
              </p:cNvSpPr>
              <p:nvPr/>
            </p:nvSpPr>
            <p:spPr bwMode="auto">
              <a:xfrm>
                <a:off x="1854879" y="4481023"/>
                <a:ext cx="762568" cy="33008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 type="none" w="sm" len="sm"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sz="1600" i="0" u="none" strike="noStrike" cap="none" normalizeH="0" baseline="0" smtClean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头结点</a:t>
                </a:r>
              </a:p>
            </p:txBody>
          </p:sp>
          <p:sp>
            <p:nvSpPr>
              <p:cNvPr id="28" name="椭圆 27"/>
              <p:cNvSpPr/>
              <p:nvPr/>
            </p:nvSpPr>
            <p:spPr bwMode="auto">
              <a:xfrm>
                <a:off x="2714612" y="4543433"/>
                <a:ext cx="1143008" cy="1000132"/>
              </a:xfrm>
              <a:prstGeom prst="ellipse">
                <a:avLst/>
              </a:prstGeom>
              <a:solidFill>
                <a:srgbClr val="009900">
                  <a:alpha val="20000"/>
                </a:srgbClr>
              </a:solidFill>
              <a:ln w="19050">
                <a:solidFill>
                  <a:srgbClr val="FF00FF">
                    <a:alpha val="54000"/>
                  </a:srgbClr>
                </a:solidFill>
                <a:headEnd/>
                <a:tailEnd type="arrow" w="sm" len="sm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endParaRPr>
              </a:p>
            </p:txBody>
          </p:sp>
        </p:grpSp>
        <p:sp>
          <p:nvSpPr>
            <p:cNvPr id="24" name="TextBox 23"/>
            <p:cNvSpPr txBox="1"/>
            <p:nvPr/>
          </p:nvSpPr>
          <p:spPr>
            <a:xfrm>
              <a:off x="3000364" y="5572140"/>
              <a:ext cx="64294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1600" smtClean="0">
                  <a:solidFill>
                    <a:srgbClr val="FF0000"/>
                  </a:solidFill>
                  <a:latin typeface="仿宋" pitchFamily="49" charset="-122"/>
                  <a:ea typeface="仿宋" pitchFamily="49" charset="-122"/>
                </a:rPr>
                <a:t>删除</a:t>
              </a:r>
            </a:p>
          </p:txBody>
        </p:sp>
        <p:cxnSp>
          <p:nvCxnSpPr>
            <p:cNvPr id="26" name="直接箭头连接符 25"/>
            <p:cNvCxnSpPr/>
            <p:nvPr/>
          </p:nvCxnSpPr>
          <p:spPr>
            <a:xfrm rot="16200000" flipH="1">
              <a:off x="2821769" y="4536289"/>
              <a:ext cx="500066" cy="142876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2714612" y="4143380"/>
              <a:ext cx="2857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800" i="1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p</a:t>
              </a:r>
              <a:endParaRPr lang="zh-CN" altLang="en-US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34" name="灯片编号占位符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33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57224" y="571480"/>
            <a:ext cx="3143272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l">
              <a:lnSpc>
                <a:spcPct val="100000"/>
              </a:lnSpc>
            </a:pP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（</a:t>
            </a:r>
            <a:r>
              <a:rPr lang="en-US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5</a:t>
            </a: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）取栈顶元素</a:t>
            </a:r>
            <a:r>
              <a:rPr lang="en-US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gettop()</a:t>
            </a:r>
            <a:endParaRPr lang="zh-CN" altLang="zh-CN" sz="200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28662" y="1177306"/>
            <a:ext cx="6786610" cy="237254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gettop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(T&amp; e)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取栈顶元素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LinkNode&lt;T&gt;* p;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if (head-&gt;next==NULL)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栈空的情况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return false;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p=head-&gt;next;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//p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指向开始结点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e=p-&gt;data;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return true;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928662" y="4357694"/>
            <a:ext cx="6093933" cy="1185871"/>
            <a:chOff x="857224" y="4357694"/>
            <a:chExt cx="6093933" cy="1185871"/>
          </a:xfrm>
        </p:grpSpPr>
        <p:sp>
          <p:nvSpPr>
            <p:cNvPr id="6" name="Rectangle 19"/>
            <p:cNvSpPr>
              <a:spLocks noChangeArrowheads="1"/>
            </p:cNvSpPr>
            <p:nvPr/>
          </p:nvSpPr>
          <p:spPr bwMode="auto">
            <a:xfrm>
              <a:off x="5148571" y="4884864"/>
              <a:ext cx="449565" cy="33008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+mn-ea"/>
                  <a:ea typeface="+mn-ea"/>
                  <a:cs typeface="Consolas" pitchFamily="49" charset="0"/>
                </a:rPr>
                <a:t>…</a:t>
              </a:r>
            </a:p>
          </p:txBody>
        </p:sp>
        <p:sp>
          <p:nvSpPr>
            <p:cNvPr id="7" name="Rectangle 18" descr="浅色上对角线"/>
            <p:cNvSpPr>
              <a:spLocks noChangeArrowheads="1"/>
            </p:cNvSpPr>
            <p:nvPr/>
          </p:nvSpPr>
          <p:spPr bwMode="auto">
            <a:xfrm>
              <a:off x="1659101" y="4853427"/>
              <a:ext cx="379231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900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8" name="Rectangle 17"/>
            <p:cNvSpPr>
              <a:spLocks noChangeArrowheads="1"/>
            </p:cNvSpPr>
            <p:nvPr/>
          </p:nvSpPr>
          <p:spPr bwMode="auto">
            <a:xfrm>
              <a:off x="2039781" y="4853427"/>
              <a:ext cx="450773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900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9" name="Rectangle 16"/>
            <p:cNvSpPr>
              <a:spLocks noChangeArrowheads="1"/>
            </p:cNvSpPr>
            <p:nvPr/>
          </p:nvSpPr>
          <p:spPr bwMode="auto">
            <a:xfrm>
              <a:off x="857224" y="4357694"/>
              <a:ext cx="555914" cy="33492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head</a:t>
              </a:r>
            </a:p>
          </p:txBody>
        </p:sp>
        <p:sp>
          <p:nvSpPr>
            <p:cNvPr id="10" name="Arc 15"/>
            <p:cNvSpPr>
              <a:spLocks/>
            </p:cNvSpPr>
            <p:nvPr/>
          </p:nvSpPr>
          <p:spPr bwMode="auto">
            <a:xfrm>
              <a:off x="1394438" y="4522132"/>
              <a:ext cx="380680" cy="33129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1" name="Rectangle 14"/>
            <p:cNvSpPr>
              <a:spLocks noChangeArrowheads="1"/>
            </p:cNvSpPr>
            <p:nvPr/>
          </p:nvSpPr>
          <p:spPr bwMode="auto">
            <a:xfrm>
              <a:off x="2871234" y="4853427"/>
              <a:ext cx="378000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1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e</a:t>
              </a:r>
              <a:endParaRPr kumimoji="0" lang="en-US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3251914" y="4853427"/>
              <a:ext cx="449565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00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4" name="Line 12"/>
            <p:cNvSpPr>
              <a:spLocks noChangeShapeType="1"/>
            </p:cNvSpPr>
            <p:nvPr/>
          </p:nvSpPr>
          <p:spPr bwMode="auto">
            <a:xfrm>
              <a:off x="2299610" y="5017866"/>
              <a:ext cx="571624" cy="0"/>
            </a:xfrm>
            <a:prstGeom prst="line">
              <a:avLst/>
            </a:prstGeom>
            <a:ln w="19050"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5" name="Rectangle 11"/>
            <p:cNvSpPr>
              <a:spLocks noChangeArrowheads="1"/>
            </p:cNvSpPr>
            <p:nvPr/>
          </p:nvSpPr>
          <p:spPr bwMode="auto">
            <a:xfrm>
              <a:off x="6120912" y="4853427"/>
              <a:ext cx="378000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6501592" y="4853427"/>
              <a:ext cx="449565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∧</a:t>
              </a:r>
            </a:p>
            <a:p>
              <a:pPr marL="0" marR="0" lvl="0" indent="0" algn="l" defTabSz="914400" rtl="0" eaLnBrk="0" fontAlgn="base" latinLnBrk="0" hangingPunct="0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7" name="Line 9"/>
            <p:cNvSpPr>
              <a:spLocks noChangeShapeType="1"/>
            </p:cNvSpPr>
            <p:nvPr/>
          </p:nvSpPr>
          <p:spPr bwMode="auto">
            <a:xfrm>
              <a:off x="5549287" y="5017866"/>
              <a:ext cx="571624" cy="0"/>
            </a:xfrm>
            <a:prstGeom prst="line">
              <a:avLst/>
            </a:prstGeom>
            <a:ln w="19050"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8" name="Line 8"/>
            <p:cNvSpPr>
              <a:spLocks noChangeShapeType="1"/>
            </p:cNvSpPr>
            <p:nvPr/>
          </p:nvSpPr>
          <p:spPr bwMode="auto">
            <a:xfrm>
              <a:off x="3442858" y="5017866"/>
              <a:ext cx="571624" cy="0"/>
            </a:xfrm>
            <a:prstGeom prst="line">
              <a:avLst/>
            </a:prstGeom>
            <a:ln w="19050"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9" name="Rectangle 7"/>
            <p:cNvSpPr>
              <a:spLocks noChangeArrowheads="1"/>
            </p:cNvSpPr>
            <p:nvPr/>
          </p:nvSpPr>
          <p:spPr bwMode="auto">
            <a:xfrm>
              <a:off x="4014483" y="4853427"/>
              <a:ext cx="378000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0" name="Rectangle 6"/>
            <p:cNvSpPr>
              <a:spLocks noChangeArrowheads="1"/>
            </p:cNvSpPr>
            <p:nvPr/>
          </p:nvSpPr>
          <p:spPr bwMode="auto">
            <a:xfrm>
              <a:off x="4395163" y="4853427"/>
              <a:ext cx="449565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00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1" name="Line 5"/>
            <p:cNvSpPr>
              <a:spLocks noChangeShapeType="1"/>
            </p:cNvSpPr>
            <p:nvPr/>
          </p:nvSpPr>
          <p:spPr bwMode="auto">
            <a:xfrm>
              <a:off x="4586107" y="5017866"/>
              <a:ext cx="571624" cy="0"/>
            </a:xfrm>
            <a:prstGeom prst="line">
              <a:avLst/>
            </a:prstGeom>
            <a:ln w="19050"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2" name="Rectangle 2"/>
            <p:cNvSpPr>
              <a:spLocks noChangeArrowheads="1"/>
            </p:cNvSpPr>
            <p:nvPr/>
          </p:nvSpPr>
          <p:spPr bwMode="auto">
            <a:xfrm>
              <a:off x="1854879" y="4481023"/>
              <a:ext cx="762568" cy="33008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头结点</a:t>
              </a:r>
            </a:p>
          </p:txBody>
        </p:sp>
        <p:sp>
          <p:nvSpPr>
            <p:cNvPr id="23" name="椭圆 22"/>
            <p:cNvSpPr/>
            <p:nvPr/>
          </p:nvSpPr>
          <p:spPr bwMode="auto">
            <a:xfrm>
              <a:off x="2714612" y="4543433"/>
              <a:ext cx="1143008" cy="1000132"/>
            </a:xfrm>
            <a:prstGeom prst="ellipse">
              <a:avLst/>
            </a:prstGeom>
            <a:ln w="19050">
              <a:solidFill>
                <a:srgbClr val="FF00FF"/>
              </a:solidFill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</p:grp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34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14348" y="1643050"/>
            <a:ext cx="7643866" cy="1246495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</a:pP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  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【例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3.9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】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定义一个栈数据结构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STACK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，添加一个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Getbottom()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运算用于直接返回栈底元素（假设栈不空时）。要求采用链表实现并且函数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Getbottom()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、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push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以及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pop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的时间复杂度都是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O(1)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4348" y="642918"/>
            <a:ext cx="4786346" cy="46166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mtClean="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3.1.5 </a:t>
            </a:r>
            <a:r>
              <a:rPr lang="zh-CN" altLang="zh-CN" smtClean="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链栈的应用算法设计示例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35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85852" y="621197"/>
            <a:ext cx="7358114" cy="1880991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44000" tIns="144000" rIns="144000" bIns="144000" rtlCol="0">
            <a:spAutoFit/>
          </a:bodyPr>
          <a:lstStyle/>
          <a:p>
            <a:pPr marL="342900" indent="-342900" algn="l">
              <a:lnSpc>
                <a:spcPts val="28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如果采用普通单链表实现，以前端为栈顶后端为栈底，那么找到尾结点（存放栈底元素）的时间复杂度为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O(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，不满足题目要求。</a:t>
            </a:r>
            <a:endParaRPr lang="en-US" altLang="zh-CN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342900" indent="-342900" algn="l">
              <a:lnSpc>
                <a:spcPts val="28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改为不带头结点仅有尾结点指针的循环单链表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rear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作为链栈。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1664302" y="2865645"/>
            <a:ext cx="5122276" cy="1134859"/>
            <a:chOff x="1296482" y="1714488"/>
            <a:chExt cx="5122276" cy="1134859"/>
          </a:xfrm>
        </p:grpSpPr>
        <p:sp>
          <p:nvSpPr>
            <p:cNvPr id="7" name="Rectangle 16"/>
            <p:cNvSpPr>
              <a:spLocks noChangeArrowheads="1"/>
            </p:cNvSpPr>
            <p:nvPr/>
          </p:nvSpPr>
          <p:spPr bwMode="auto">
            <a:xfrm>
              <a:off x="4157937" y="2152539"/>
              <a:ext cx="428351" cy="31784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+mn-ea"/>
                  <a:ea typeface="+mn-ea"/>
                  <a:cs typeface="Consolas" pitchFamily="49" charset="0"/>
                </a:rPr>
                <a:t>…</a:t>
              </a:r>
            </a:p>
          </p:txBody>
        </p:sp>
        <p:sp>
          <p:nvSpPr>
            <p:cNvPr id="8" name="Rectangle 15"/>
            <p:cNvSpPr>
              <a:spLocks noChangeArrowheads="1"/>
            </p:cNvSpPr>
            <p:nvPr/>
          </p:nvSpPr>
          <p:spPr bwMode="auto">
            <a:xfrm>
              <a:off x="4539926" y="1714488"/>
              <a:ext cx="615205" cy="32191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rear</a:t>
              </a:r>
            </a:p>
          </p:txBody>
        </p:sp>
        <p:sp>
          <p:nvSpPr>
            <p:cNvPr id="9" name="Arc 14"/>
            <p:cNvSpPr>
              <a:spLocks/>
            </p:cNvSpPr>
            <p:nvPr/>
          </p:nvSpPr>
          <p:spPr bwMode="auto">
            <a:xfrm>
              <a:off x="5092680" y="1865259"/>
              <a:ext cx="324212" cy="25977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0" name="Rectangle 13"/>
            <p:cNvSpPr>
              <a:spLocks noChangeArrowheads="1"/>
            </p:cNvSpPr>
            <p:nvPr/>
          </p:nvSpPr>
          <p:spPr bwMode="auto">
            <a:xfrm>
              <a:off x="1296482" y="2131146"/>
              <a:ext cx="564713" cy="317842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b="0" i="0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  <a:endParaRPr kumimoji="0" lang="en-US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1" name="Rectangle 12"/>
            <p:cNvSpPr>
              <a:spLocks noChangeArrowheads="1"/>
            </p:cNvSpPr>
            <p:nvPr/>
          </p:nvSpPr>
          <p:spPr bwMode="auto">
            <a:xfrm>
              <a:off x="1774827" y="2131146"/>
              <a:ext cx="563384" cy="317842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00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5281360" y="2131146"/>
              <a:ext cx="640451" cy="317842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b="0" i="1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n</a:t>
              </a:r>
              <a:r>
                <a:rPr kumimoji="0" lang="en-US" altLang="zh-CN" sz="1600" b="0" i="0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-1</a:t>
              </a:r>
              <a:endParaRPr kumimoji="0" lang="en-US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3" name="Rectangle 10"/>
            <p:cNvSpPr>
              <a:spLocks noChangeArrowheads="1"/>
            </p:cNvSpPr>
            <p:nvPr/>
          </p:nvSpPr>
          <p:spPr bwMode="auto">
            <a:xfrm>
              <a:off x="5854045" y="2131146"/>
              <a:ext cx="564713" cy="317842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4" name="Line 9"/>
            <p:cNvSpPr>
              <a:spLocks noChangeShapeType="1"/>
            </p:cNvSpPr>
            <p:nvPr/>
          </p:nvSpPr>
          <p:spPr bwMode="auto">
            <a:xfrm>
              <a:off x="4562514" y="2290067"/>
              <a:ext cx="718846" cy="10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5" name="Line 8"/>
            <p:cNvSpPr>
              <a:spLocks noChangeShapeType="1"/>
            </p:cNvSpPr>
            <p:nvPr/>
          </p:nvSpPr>
          <p:spPr bwMode="auto">
            <a:xfrm>
              <a:off x="2013999" y="2290067"/>
              <a:ext cx="71751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6" name="Rectangle 7"/>
            <p:cNvSpPr>
              <a:spLocks noChangeArrowheads="1"/>
            </p:cNvSpPr>
            <p:nvPr/>
          </p:nvSpPr>
          <p:spPr bwMode="auto">
            <a:xfrm>
              <a:off x="2731516" y="2131146"/>
              <a:ext cx="564713" cy="317842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b="0" i="0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endParaRPr kumimoji="0" lang="en-US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7" name="Rectangle 6"/>
            <p:cNvSpPr>
              <a:spLocks noChangeArrowheads="1"/>
            </p:cNvSpPr>
            <p:nvPr/>
          </p:nvSpPr>
          <p:spPr bwMode="auto">
            <a:xfrm>
              <a:off x="3209861" y="2131146"/>
              <a:ext cx="564713" cy="317842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00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8" name="Line 5"/>
            <p:cNvSpPr>
              <a:spLocks noChangeShapeType="1"/>
            </p:cNvSpPr>
            <p:nvPr/>
          </p:nvSpPr>
          <p:spPr bwMode="auto">
            <a:xfrm>
              <a:off x="3449034" y="2290067"/>
              <a:ext cx="71751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9" name="Rectangle 4"/>
            <p:cNvSpPr>
              <a:spLocks noChangeArrowheads="1"/>
            </p:cNvSpPr>
            <p:nvPr/>
          </p:nvSpPr>
          <p:spPr bwMode="auto">
            <a:xfrm>
              <a:off x="5427521" y="1791911"/>
              <a:ext cx="979278" cy="26079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栈底结点</a:t>
              </a:r>
            </a:p>
          </p:txBody>
        </p:sp>
        <p:sp>
          <p:nvSpPr>
            <p:cNvPr id="20" name="Rectangle 3"/>
            <p:cNvSpPr>
              <a:spLocks noChangeArrowheads="1"/>
            </p:cNvSpPr>
            <p:nvPr/>
          </p:nvSpPr>
          <p:spPr bwMode="auto">
            <a:xfrm>
              <a:off x="1358932" y="1791911"/>
              <a:ext cx="1041729" cy="25468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栈顶结点</a:t>
              </a:r>
            </a:p>
          </p:txBody>
        </p:sp>
        <p:sp>
          <p:nvSpPr>
            <p:cNvPr id="21" name="Freeform 2"/>
            <p:cNvSpPr>
              <a:spLocks/>
            </p:cNvSpPr>
            <p:nvPr/>
          </p:nvSpPr>
          <p:spPr bwMode="auto">
            <a:xfrm>
              <a:off x="1679158" y="2291086"/>
              <a:ext cx="4485812" cy="558261"/>
            </a:xfrm>
            <a:custGeom>
              <a:avLst/>
              <a:gdLst/>
              <a:ahLst/>
              <a:cxnLst>
                <a:cxn ang="0">
                  <a:pos x="3319" y="0"/>
                </a:cxn>
                <a:cxn ang="0">
                  <a:pos x="3245" y="363"/>
                </a:cxn>
                <a:cxn ang="0">
                  <a:pos x="2534" y="503"/>
                </a:cxn>
                <a:cxn ang="0">
                  <a:pos x="1253" y="540"/>
                </a:cxn>
                <a:cxn ang="0">
                  <a:pos x="252" y="456"/>
                </a:cxn>
                <a:cxn ang="0">
                  <a:pos x="0" y="148"/>
                </a:cxn>
              </a:cxnLst>
              <a:rect l="0" t="0" r="r" b="b"/>
              <a:pathLst>
                <a:path w="3376" h="548">
                  <a:moveTo>
                    <a:pt x="3319" y="0"/>
                  </a:moveTo>
                  <a:cubicBezTo>
                    <a:pt x="3312" y="141"/>
                    <a:pt x="3376" y="279"/>
                    <a:pt x="3245" y="363"/>
                  </a:cubicBezTo>
                  <a:cubicBezTo>
                    <a:pt x="3114" y="447"/>
                    <a:pt x="2866" y="473"/>
                    <a:pt x="2534" y="503"/>
                  </a:cubicBezTo>
                  <a:cubicBezTo>
                    <a:pt x="2202" y="533"/>
                    <a:pt x="1633" y="548"/>
                    <a:pt x="1253" y="540"/>
                  </a:cubicBezTo>
                  <a:cubicBezTo>
                    <a:pt x="873" y="532"/>
                    <a:pt x="461" y="521"/>
                    <a:pt x="252" y="456"/>
                  </a:cubicBezTo>
                  <a:cubicBezTo>
                    <a:pt x="43" y="391"/>
                    <a:pt x="52" y="212"/>
                    <a:pt x="0" y="148"/>
                  </a:cubicBezTo>
                </a:path>
              </a:pathLst>
            </a:custGeom>
            <a:noFill/>
            <a:ln w="19050">
              <a:solidFill>
                <a:srgbClr val="FF3399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2844" y="928670"/>
            <a:ext cx="1071538" cy="1273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" name="灯片编号占位符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36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57224" y="1928802"/>
            <a:ext cx="56436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初始时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rear=NULL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，栈的四要素如下：</a:t>
            </a:r>
            <a:endParaRPr lang="zh-CN" altLang="en-US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162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22" name="组合 21"/>
          <p:cNvGrpSpPr/>
          <p:nvPr/>
        </p:nvGrpSpPr>
        <p:grpSpPr>
          <a:xfrm>
            <a:off x="1000100" y="357166"/>
            <a:ext cx="5122276" cy="1134859"/>
            <a:chOff x="1296482" y="1714488"/>
            <a:chExt cx="5122276" cy="1134859"/>
          </a:xfrm>
        </p:grpSpPr>
        <p:sp>
          <p:nvSpPr>
            <p:cNvPr id="6160" name="Rectangle 16"/>
            <p:cNvSpPr>
              <a:spLocks noChangeArrowheads="1"/>
            </p:cNvSpPr>
            <p:nvPr/>
          </p:nvSpPr>
          <p:spPr bwMode="auto">
            <a:xfrm>
              <a:off x="4157937" y="2152539"/>
              <a:ext cx="428351" cy="31784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+mn-ea"/>
                  <a:ea typeface="+mn-ea"/>
                  <a:cs typeface="Consolas" pitchFamily="49" charset="0"/>
                </a:rPr>
                <a:t>…</a:t>
              </a:r>
            </a:p>
          </p:txBody>
        </p:sp>
        <p:sp>
          <p:nvSpPr>
            <p:cNvPr id="6159" name="Rectangle 15"/>
            <p:cNvSpPr>
              <a:spLocks noChangeArrowheads="1"/>
            </p:cNvSpPr>
            <p:nvPr/>
          </p:nvSpPr>
          <p:spPr bwMode="auto">
            <a:xfrm>
              <a:off x="4539926" y="1714488"/>
              <a:ext cx="615205" cy="32191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rear</a:t>
              </a:r>
            </a:p>
          </p:txBody>
        </p:sp>
        <p:sp>
          <p:nvSpPr>
            <p:cNvPr id="6158" name="Arc 14"/>
            <p:cNvSpPr>
              <a:spLocks/>
            </p:cNvSpPr>
            <p:nvPr/>
          </p:nvSpPr>
          <p:spPr bwMode="auto">
            <a:xfrm>
              <a:off x="5092680" y="1865259"/>
              <a:ext cx="324212" cy="25977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6157" name="Rectangle 13"/>
            <p:cNvSpPr>
              <a:spLocks noChangeArrowheads="1"/>
            </p:cNvSpPr>
            <p:nvPr/>
          </p:nvSpPr>
          <p:spPr bwMode="auto">
            <a:xfrm>
              <a:off x="1296482" y="2131146"/>
              <a:ext cx="564713" cy="317842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b="0" i="0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  <a:endParaRPr kumimoji="0" lang="en-US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6156" name="Rectangle 12"/>
            <p:cNvSpPr>
              <a:spLocks noChangeArrowheads="1"/>
            </p:cNvSpPr>
            <p:nvPr/>
          </p:nvSpPr>
          <p:spPr bwMode="auto">
            <a:xfrm>
              <a:off x="1774827" y="2131146"/>
              <a:ext cx="563384" cy="317842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00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6155" name="Rectangle 11"/>
            <p:cNvSpPr>
              <a:spLocks noChangeArrowheads="1"/>
            </p:cNvSpPr>
            <p:nvPr/>
          </p:nvSpPr>
          <p:spPr bwMode="auto">
            <a:xfrm>
              <a:off x="5281360" y="2131146"/>
              <a:ext cx="576000" cy="317842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1" u="none" strike="noStrike" cap="none" normalizeH="0" baseline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b="0" i="1" u="none" strike="noStrike" cap="none" normalizeH="0" baseline="-3000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n</a:t>
              </a:r>
              <a:r>
                <a:rPr kumimoji="0" lang="en-US" altLang="zh-CN" sz="1600" b="0" i="0" u="none" strike="noStrike" cap="none" normalizeH="0" baseline="-3000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-1</a:t>
              </a:r>
              <a:endParaRPr kumimoji="0" lang="en-US" altLang="zh-CN" sz="16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6154" name="Rectangle 10"/>
            <p:cNvSpPr>
              <a:spLocks noChangeArrowheads="1"/>
            </p:cNvSpPr>
            <p:nvPr/>
          </p:nvSpPr>
          <p:spPr bwMode="auto">
            <a:xfrm>
              <a:off x="5854045" y="2131146"/>
              <a:ext cx="564713" cy="317842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6153" name="Line 9"/>
            <p:cNvSpPr>
              <a:spLocks noChangeShapeType="1"/>
            </p:cNvSpPr>
            <p:nvPr/>
          </p:nvSpPr>
          <p:spPr bwMode="auto">
            <a:xfrm>
              <a:off x="4562514" y="2290067"/>
              <a:ext cx="718846" cy="10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6152" name="Line 8"/>
            <p:cNvSpPr>
              <a:spLocks noChangeShapeType="1"/>
            </p:cNvSpPr>
            <p:nvPr/>
          </p:nvSpPr>
          <p:spPr bwMode="auto">
            <a:xfrm>
              <a:off x="2013999" y="2290067"/>
              <a:ext cx="71751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6151" name="Rectangle 7"/>
            <p:cNvSpPr>
              <a:spLocks noChangeArrowheads="1"/>
            </p:cNvSpPr>
            <p:nvPr/>
          </p:nvSpPr>
          <p:spPr bwMode="auto">
            <a:xfrm>
              <a:off x="2731516" y="2131146"/>
              <a:ext cx="564713" cy="317842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b="0" i="0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endParaRPr kumimoji="0" lang="en-US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6150" name="Rectangle 6"/>
            <p:cNvSpPr>
              <a:spLocks noChangeArrowheads="1"/>
            </p:cNvSpPr>
            <p:nvPr/>
          </p:nvSpPr>
          <p:spPr bwMode="auto">
            <a:xfrm>
              <a:off x="3209861" y="2131146"/>
              <a:ext cx="564713" cy="317842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00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6149" name="Line 5"/>
            <p:cNvSpPr>
              <a:spLocks noChangeShapeType="1"/>
            </p:cNvSpPr>
            <p:nvPr/>
          </p:nvSpPr>
          <p:spPr bwMode="auto">
            <a:xfrm>
              <a:off x="3449034" y="2290067"/>
              <a:ext cx="71751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6148" name="Rectangle 4"/>
            <p:cNvSpPr>
              <a:spLocks noChangeArrowheads="1"/>
            </p:cNvSpPr>
            <p:nvPr/>
          </p:nvSpPr>
          <p:spPr bwMode="auto">
            <a:xfrm>
              <a:off x="5427521" y="1791911"/>
              <a:ext cx="979278" cy="26079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栈底结点</a:t>
              </a:r>
            </a:p>
          </p:txBody>
        </p:sp>
        <p:sp>
          <p:nvSpPr>
            <p:cNvPr id="6147" name="Rectangle 3"/>
            <p:cNvSpPr>
              <a:spLocks noChangeArrowheads="1"/>
            </p:cNvSpPr>
            <p:nvPr/>
          </p:nvSpPr>
          <p:spPr bwMode="auto">
            <a:xfrm>
              <a:off x="1358932" y="1791911"/>
              <a:ext cx="1041729" cy="25468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栈顶结点</a:t>
              </a:r>
            </a:p>
          </p:txBody>
        </p:sp>
        <p:sp>
          <p:nvSpPr>
            <p:cNvPr id="6146" name="Freeform 2"/>
            <p:cNvSpPr>
              <a:spLocks/>
            </p:cNvSpPr>
            <p:nvPr/>
          </p:nvSpPr>
          <p:spPr bwMode="auto">
            <a:xfrm>
              <a:off x="1679158" y="2291086"/>
              <a:ext cx="4485812" cy="558261"/>
            </a:xfrm>
            <a:custGeom>
              <a:avLst/>
              <a:gdLst/>
              <a:ahLst/>
              <a:cxnLst>
                <a:cxn ang="0">
                  <a:pos x="3319" y="0"/>
                </a:cxn>
                <a:cxn ang="0">
                  <a:pos x="3245" y="363"/>
                </a:cxn>
                <a:cxn ang="0">
                  <a:pos x="2534" y="503"/>
                </a:cxn>
                <a:cxn ang="0">
                  <a:pos x="1253" y="540"/>
                </a:cxn>
                <a:cxn ang="0">
                  <a:pos x="252" y="456"/>
                </a:cxn>
                <a:cxn ang="0">
                  <a:pos x="0" y="148"/>
                </a:cxn>
              </a:cxnLst>
              <a:rect l="0" t="0" r="r" b="b"/>
              <a:pathLst>
                <a:path w="3376" h="548">
                  <a:moveTo>
                    <a:pt x="3319" y="0"/>
                  </a:moveTo>
                  <a:cubicBezTo>
                    <a:pt x="3312" y="141"/>
                    <a:pt x="3376" y="279"/>
                    <a:pt x="3245" y="363"/>
                  </a:cubicBezTo>
                  <a:cubicBezTo>
                    <a:pt x="3114" y="447"/>
                    <a:pt x="2866" y="473"/>
                    <a:pt x="2534" y="503"/>
                  </a:cubicBezTo>
                  <a:cubicBezTo>
                    <a:pt x="2202" y="533"/>
                    <a:pt x="1633" y="548"/>
                    <a:pt x="1253" y="540"/>
                  </a:cubicBezTo>
                  <a:cubicBezTo>
                    <a:pt x="873" y="532"/>
                    <a:pt x="461" y="521"/>
                    <a:pt x="252" y="456"/>
                  </a:cubicBezTo>
                  <a:cubicBezTo>
                    <a:pt x="43" y="391"/>
                    <a:pt x="52" y="212"/>
                    <a:pt x="0" y="148"/>
                  </a:cubicBezTo>
                </a:path>
              </a:pathLst>
            </a:custGeom>
            <a:noFill/>
            <a:ln w="19050">
              <a:solidFill>
                <a:srgbClr val="FF3399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1071538" y="2428868"/>
            <a:ext cx="7358114" cy="2317008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44000" tIns="144000" rIns="144000" bIns="144000" rtlCol="0">
            <a:spAutoFit/>
          </a:bodyPr>
          <a:lstStyle/>
          <a:p>
            <a:pPr marL="342900" indent="-342900" algn="l">
              <a:lnSpc>
                <a:spcPts val="2800"/>
              </a:lnSpc>
              <a:spcBef>
                <a:spcPts val="600"/>
              </a:spcBef>
              <a:buFont typeface="+mj-ea"/>
              <a:buAutoNum type="circleNumDbPlain"/>
            </a:pP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栈空条件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rear=NULL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</a:p>
          <a:p>
            <a:pPr marL="342900" indent="-342900" algn="l">
              <a:lnSpc>
                <a:spcPts val="2800"/>
              </a:lnSpc>
              <a:spcBef>
                <a:spcPts val="600"/>
              </a:spcBef>
              <a:buFont typeface="+mj-ea"/>
              <a:buAutoNum type="circleNumDbPlain"/>
            </a:pP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栈满条件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：不考虑。</a:t>
            </a:r>
          </a:p>
          <a:p>
            <a:pPr marL="342900" indent="-342900" algn="l">
              <a:lnSpc>
                <a:spcPts val="2800"/>
              </a:lnSpc>
              <a:spcBef>
                <a:spcPts val="600"/>
              </a:spcBef>
              <a:buFont typeface="+mj-ea"/>
              <a:buAutoNum type="circleNumDbPlain"/>
            </a:pP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元素</a:t>
            </a:r>
            <a:r>
              <a:rPr lang="en-US" altLang="zh-CN" sz="2000" i="1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进栈操作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：建立含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元素的结点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，将结点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插入到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rear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结点的后面。</a:t>
            </a:r>
          </a:p>
          <a:p>
            <a:pPr marL="342900" indent="-342900" algn="l">
              <a:lnSpc>
                <a:spcPts val="2800"/>
              </a:lnSpc>
              <a:spcBef>
                <a:spcPts val="600"/>
              </a:spcBef>
              <a:buFont typeface="+mj-ea"/>
              <a:buAutoNum type="circleNumDbPlain"/>
            </a:pP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元素</a:t>
            </a:r>
            <a:r>
              <a:rPr lang="en-US" altLang="zh-CN" sz="2000" i="1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出栈操作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：取结点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rear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之后的结点值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，删除该结点。</a:t>
            </a:r>
            <a:endParaRPr lang="zh-CN" altLang="en-US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2910" y="5072074"/>
            <a:ext cx="7715304" cy="42575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ts val="2600"/>
              </a:lnSpc>
              <a:spcBef>
                <a:spcPts val="0"/>
              </a:spcBef>
            </a:pPr>
            <a:r>
              <a:rPr lang="en-US" altLang="zh-CN" sz="2000" smtClean="0">
                <a:latin typeface="Consolas" pitchFamily="49" charset="0"/>
                <a:ea typeface="华文中宋" pitchFamily="2" charset="-122"/>
                <a:cs typeface="Consolas" pitchFamily="49" charset="0"/>
              </a:rPr>
              <a:t>Getbottom()</a:t>
            </a:r>
            <a:r>
              <a:rPr lang="zh-CN" altLang="zh-CN" sz="2000" smtClean="0">
                <a:latin typeface="Consolas" pitchFamily="49" charset="0"/>
                <a:ea typeface="华文中宋" pitchFamily="2" charset="-122"/>
                <a:cs typeface="Consolas" pitchFamily="49" charset="0"/>
              </a:rPr>
              <a:t>函数就是返回</a:t>
            </a:r>
            <a:r>
              <a:rPr lang="en-US" altLang="zh-CN" sz="2000" smtClean="0">
                <a:latin typeface="Consolas" pitchFamily="49" charset="0"/>
                <a:ea typeface="华文中宋" pitchFamily="2" charset="-122"/>
                <a:cs typeface="Consolas" pitchFamily="49" charset="0"/>
              </a:rPr>
              <a:t>rear</a:t>
            </a:r>
            <a:r>
              <a:rPr lang="zh-CN" altLang="zh-CN" sz="2000" smtClean="0">
                <a:latin typeface="Consolas" pitchFamily="49" charset="0"/>
                <a:ea typeface="华文中宋" pitchFamily="2" charset="-122"/>
                <a:cs typeface="Consolas" pitchFamily="49" charset="0"/>
              </a:rPr>
              <a:t>结点值即</a:t>
            </a:r>
            <a:r>
              <a:rPr lang="en-US" altLang="zh-CN" sz="2000" smtClean="0">
                <a:latin typeface="Consolas" pitchFamily="49" charset="0"/>
                <a:ea typeface="华文中宋" pitchFamily="2" charset="-122"/>
                <a:cs typeface="Consolas" pitchFamily="49" charset="0"/>
              </a:rPr>
              <a:t>rear-&gt;data</a:t>
            </a:r>
            <a:r>
              <a:rPr lang="zh-CN" altLang="zh-CN" sz="2000" smtClean="0">
                <a:latin typeface="Consolas" pitchFamily="49" charset="0"/>
                <a:ea typeface="华文中宋" pitchFamily="2" charset="-122"/>
                <a:cs typeface="Consolas" pitchFamily="49" charset="0"/>
              </a:rPr>
              <a:t>（栈不空时）</a:t>
            </a:r>
            <a:endParaRPr lang="zh-CN" altLang="en-US" sz="2000" smtClean="0">
              <a:solidFill>
                <a:srgbClr val="0000FF"/>
              </a:solidFill>
              <a:latin typeface="Consolas" pitchFamily="49" charset="0"/>
              <a:ea typeface="华文中宋" pitchFamily="2" charset="-122"/>
              <a:cs typeface="Consolas" pitchFamily="49" charset="0"/>
            </a:endParaRPr>
          </a:p>
        </p:txBody>
      </p:sp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37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42910" y="857232"/>
            <a:ext cx="8001056" cy="270597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template &lt;typename T&gt;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struct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LinkNode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链栈结点类型</a:t>
            </a: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</a:t>
            </a:r>
            <a:r>
              <a:rPr lang="en-US" altLang="zh-CN" sz="1800" smtClean="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 data;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数据域</a:t>
            </a: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800" smtClean="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LinkNode* next;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指针域</a:t>
            </a:r>
          </a:p>
          <a:p>
            <a:pPr algn="l">
              <a:lnSpc>
                <a:spcPts val="2600"/>
              </a:lnSpc>
              <a:spcBef>
                <a:spcPts val="120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LinkNode():next(NULL) {} 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构造函数</a:t>
            </a: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LinkNode(T d):data(d),next(NULL) {} 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重载构造函数</a:t>
            </a: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};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428728" y="3857628"/>
            <a:ext cx="5122276" cy="1134859"/>
            <a:chOff x="1296482" y="1714488"/>
            <a:chExt cx="5122276" cy="1134859"/>
          </a:xfrm>
        </p:grpSpPr>
        <p:sp>
          <p:nvSpPr>
            <p:cNvPr id="7" name="Rectangle 16"/>
            <p:cNvSpPr>
              <a:spLocks noChangeArrowheads="1"/>
            </p:cNvSpPr>
            <p:nvPr/>
          </p:nvSpPr>
          <p:spPr bwMode="auto">
            <a:xfrm>
              <a:off x="4157937" y="2152539"/>
              <a:ext cx="428351" cy="31784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+mn-ea"/>
                  <a:ea typeface="+mn-ea"/>
                  <a:cs typeface="Consolas" pitchFamily="49" charset="0"/>
                </a:rPr>
                <a:t>…</a:t>
              </a:r>
            </a:p>
          </p:txBody>
        </p:sp>
        <p:sp>
          <p:nvSpPr>
            <p:cNvPr id="8" name="Rectangle 15"/>
            <p:cNvSpPr>
              <a:spLocks noChangeArrowheads="1"/>
            </p:cNvSpPr>
            <p:nvPr/>
          </p:nvSpPr>
          <p:spPr bwMode="auto">
            <a:xfrm>
              <a:off x="4539926" y="1714488"/>
              <a:ext cx="615205" cy="32191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rear</a:t>
              </a:r>
            </a:p>
          </p:txBody>
        </p:sp>
        <p:sp>
          <p:nvSpPr>
            <p:cNvPr id="9" name="Arc 14"/>
            <p:cNvSpPr>
              <a:spLocks/>
            </p:cNvSpPr>
            <p:nvPr/>
          </p:nvSpPr>
          <p:spPr bwMode="auto">
            <a:xfrm>
              <a:off x="5092680" y="1865259"/>
              <a:ext cx="324212" cy="25977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0" name="Rectangle 13"/>
            <p:cNvSpPr>
              <a:spLocks noChangeArrowheads="1"/>
            </p:cNvSpPr>
            <p:nvPr/>
          </p:nvSpPr>
          <p:spPr bwMode="auto">
            <a:xfrm>
              <a:off x="1296482" y="2131146"/>
              <a:ext cx="564713" cy="317842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b="0" i="0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  <a:endParaRPr kumimoji="0" lang="en-US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1" name="Rectangle 12"/>
            <p:cNvSpPr>
              <a:spLocks noChangeArrowheads="1"/>
            </p:cNvSpPr>
            <p:nvPr/>
          </p:nvSpPr>
          <p:spPr bwMode="auto">
            <a:xfrm>
              <a:off x="1774827" y="2131146"/>
              <a:ext cx="563384" cy="317842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00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5281360" y="2131146"/>
              <a:ext cx="640451" cy="317842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b="0" i="1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n</a:t>
              </a:r>
              <a:r>
                <a:rPr kumimoji="0" lang="en-US" altLang="zh-CN" sz="1600" b="0" i="0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-1</a:t>
              </a:r>
              <a:endParaRPr kumimoji="0" lang="en-US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3" name="Rectangle 10"/>
            <p:cNvSpPr>
              <a:spLocks noChangeArrowheads="1"/>
            </p:cNvSpPr>
            <p:nvPr/>
          </p:nvSpPr>
          <p:spPr bwMode="auto">
            <a:xfrm>
              <a:off x="5854045" y="2131146"/>
              <a:ext cx="564713" cy="317842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4" name="Line 9"/>
            <p:cNvSpPr>
              <a:spLocks noChangeShapeType="1"/>
            </p:cNvSpPr>
            <p:nvPr/>
          </p:nvSpPr>
          <p:spPr bwMode="auto">
            <a:xfrm>
              <a:off x="4562514" y="2290067"/>
              <a:ext cx="718846" cy="10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5" name="Line 8"/>
            <p:cNvSpPr>
              <a:spLocks noChangeShapeType="1"/>
            </p:cNvSpPr>
            <p:nvPr/>
          </p:nvSpPr>
          <p:spPr bwMode="auto">
            <a:xfrm>
              <a:off x="2013999" y="2290067"/>
              <a:ext cx="71751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6" name="Rectangle 7"/>
            <p:cNvSpPr>
              <a:spLocks noChangeArrowheads="1"/>
            </p:cNvSpPr>
            <p:nvPr/>
          </p:nvSpPr>
          <p:spPr bwMode="auto">
            <a:xfrm>
              <a:off x="2731516" y="2131146"/>
              <a:ext cx="564713" cy="317842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b="0" i="0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endParaRPr kumimoji="0" lang="en-US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7" name="Rectangle 6"/>
            <p:cNvSpPr>
              <a:spLocks noChangeArrowheads="1"/>
            </p:cNvSpPr>
            <p:nvPr/>
          </p:nvSpPr>
          <p:spPr bwMode="auto">
            <a:xfrm>
              <a:off x="3209861" y="2131146"/>
              <a:ext cx="564713" cy="317842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00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8" name="Line 5"/>
            <p:cNvSpPr>
              <a:spLocks noChangeShapeType="1"/>
            </p:cNvSpPr>
            <p:nvPr/>
          </p:nvSpPr>
          <p:spPr bwMode="auto">
            <a:xfrm>
              <a:off x="3449034" y="2290067"/>
              <a:ext cx="71751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9" name="Rectangle 4"/>
            <p:cNvSpPr>
              <a:spLocks noChangeArrowheads="1"/>
            </p:cNvSpPr>
            <p:nvPr/>
          </p:nvSpPr>
          <p:spPr bwMode="auto">
            <a:xfrm>
              <a:off x="5427521" y="1791911"/>
              <a:ext cx="979278" cy="26079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栈底结点</a:t>
              </a:r>
            </a:p>
          </p:txBody>
        </p:sp>
        <p:sp>
          <p:nvSpPr>
            <p:cNvPr id="20" name="Rectangle 3"/>
            <p:cNvSpPr>
              <a:spLocks noChangeArrowheads="1"/>
            </p:cNvSpPr>
            <p:nvPr/>
          </p:nvSpPr>
          <p:spPr bwMode="auto">
            <a:xfrm>
              <a:off x="1358932" y="1791911"/>
              <a:ext cx="1041729" cy="25468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栈顶结点</a:t>
              </a:r>
            </a:p>
          </p:txBody>
        </p:sp>
        <p:sp>
          <p:nvSpPr>
            <p:cNvPr id="21" name="Freeform 2"/>
            <p:cNvSpPr>
              <a:spLocks/>
            </p:cNvSpPr>
            <p:nvPr/>
          </p:nvSpPr>
          <p:spPr bwMode="auto">
            <a:xfrm>
              <a:off x="1679158" y="2291086"/>
              <a:ext cx="4485812" cy="558261"/>
            </a:xfrm>
            <a:custGeom>
              <a:avLst/>
              <a:gdLst/>
              <a:ahLst/>
              <a:cxnLst>
                <a:cxn ang="0">
                  <a:pos x="3319" y="0"/>
                </a:cxn>
                <a:cxn ang="0">
                  <a:pos x="3245" y="363"/>
                </a:cxn>
                <a:cxn ang="0">
                  <a:pos x="2534" y="503"/>
                </a:cxn>
                <a:cxn ang="0">
                  <a:pos x="1253" y="540"/>
                </a:cxn>
                <a:cxn ang="0">
                  <a:pos x="252" y="456"/>
                </a:cxn>
                <a:cxn ang="0">
                  <a:pos x="0" y="148"/>
                </a:cxn>
              </a:cxnLst>
              <a:rect l="0" t="0" r="r" b="b"/>
              <a:pathLst>
                <a:path w="3376" h="548">
                  <a:moveTo>
                    <a:pt x="3319" y="0"/>
                  </a:moveTo>
                  <a:cubicBezTo>
                    <a:pt x="3312" y="141"/>
                    <a:pt x="3376" y="279"/>
                    <a:pt x="3245" y="363"/>
                  </a:cubicBezTo>
                  <a:cubicBezTo>
                    <a:pt x="3114" y="447"/>
                    <a:pt x="2866" y="473"/>
                    <a:pt x="2534" y="503"/>
                  </a:cubicBezTo>
                  <a:cubicBezTo>
                    <a:pt x="2202" y="533"/>
                    <a:pt x="1633" y="548"/>
                    <a:pt x="1253" y="540"/>
                  </a:cubicBezTo>
                  <a:cubicBezTo>
                    <a:pt x="873" y="532"/>
                    <a:pt x="461" y="521"/>
                    <a:pt x="252" y="456"/>
                  </a:cubicBezTo>
                  <a:cubicBezTo>
                    <a:pt x="43" y="391"/>
                    <a:pt x="52" y="212"/>
                    <a:pt x="0" y="148"/>
                  </a:cubicBezTo>
                </a:path>
              </a:pathLst>
            </a:custGeom>
            <a:noFill/>
            <a:ln w="19050">
              <a:solidFill>
                <a:srgbClr val="FF3399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24" name="灯片编号占位符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38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57158" y="357166"/>
            <a:ext cx="8001056" cy="6212058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template &lt;typename T&gt;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class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STACK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链栈类模板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public: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LinkNode&lt;T&gt;* rear;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链栈尾结点指针</a:t>
            </a:r>
          </a:p>
          <a:p>
            <a:pPr algn="l">
              <a:lnSpc>
                <a:spcPts val="2100"/>
              </a:lnSpc>
              <a:spcBef>
                <a:spcPts val="120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STACK()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:rear(NULL) {}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构造函数</a:t>
            </a:r>
          </a:p>
          <a:p>
            <a:pPr algn="l">
              <a:lnSpc>
                <a:spcPts val="2100"/>
              </a:lnSpc>
              <a:spcBef>
                <a:spcPts val="1200"/>
              </a:spcBef>
            </a:pP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~STACK()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析构函数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if (rear==NULL) return;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空链表直接返回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LinkNode&lt;T&gt;* pre=rear,*p=pre-&gt;next;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while (p!=rear)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{  delete pre;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pre=p; p=p-&gt;next;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//pre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、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同步后移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delete pre;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bool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empty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()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判栈空算法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return rear==NULL; 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39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57158" y="1754174"/>
            <a:ext cx="8429684" cy="3743177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push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(T e)				  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进栈算法</a:t>
            </a:r>
          </a:p>
          <a:p>
            <a:pPr algn="l">
              <a:lnSpc>
                <a:spcPts val="23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LinkNode&lt;T&gt;* p=new LinkNode&lt;T&gt;(e); 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新建结点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3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if (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empty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())			  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栈为空的情况</a:t>
            </a:r>
          </a:p>
          <a:p>
            <a:pPr algn="l">
              <a:lnSpc>
                <a:spcPts val="23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rear=p;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3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rear-&gt;next=rear;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3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3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else					  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栈不空的情况</a:t>
            </a:r>
          </a:p>
          <a:p>
            <a:pPr algn="l">
              <a:lnSpc>
                <a:spcPts val="23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p-&gt;next=rear-&gt;next;		  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将结点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插入到结点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rear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之后</a:t>
            </a:r>
            <a:endParaRPr lang="en-US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3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rear-&gt;next=p;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3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3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return true;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3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142976" y="293877"/>
            <a:ext cx="5122276" cy="1134859"/>
            <a:chOff x="1296482" y="1714488"/>
            <a:chExt cx="5122276" cy="1134859"/>
          </a:xfrm>
        </p:grpSpPr>
        <p:sp>
          <p:nvSpPr>
            <p:cNvPr id="7" name="Rectangle 16"/>
            <p:cNvSpPr>
              <a:spLocks noChangeArrowheads="1"/>
            </p:cNvSpPr>
            <p:nvPr/>
          </p:nvSpPr>
          <p:spPr bwMode="auto">
            <a:xfrm>
              <a:off x="4157937" y="2152539"/>
              <a:ext cx="428351" cy="31784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+mn-ea"/>
                  <a:ea typeface="+mn-ea"/>
                  <a:cs typeface="Consolas" pitchFamily="49" charset="0"/>
                </a:rPr>
                <a:t>…</a:t>
              </a:r>
            </a:p>
          </p:txBody>
        </p:sp>
        <p:sp>
          <p:nvSpPr>
            <p:cNvPr id="8" name="Rectangle 15"/>
            <p:cNvSpPr>
              <a:spLocks noChangeArrowheads="1"/>
            </p:cNvSpPr>
            <p:nvPr/>
          </p:nvSpPr>
          <p:spPr bwMode="auto">
            <a:xfrm>
              <a:off x="4539926" y="1714488"/>
              <a:ext cx="615205" cy="32191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rear</a:t>
              </a:r>
            </a:p>
          </p:txBody>
        </p:sp>
        <p:sp>
          <p:nvSpPr>
            <p:cNvPr id="9" name="Arc 14"/>
            <p:cNvSpPr>
              <a:spLocks/>
            </p:cNvSpPr>
            <p:nvPr/>
          </p:nvSpPr>
          <p:spPr bwMode="auto">
            <a:xfrm>
              <a:off x="5092680" y="1865259"/>
              <a:ext cx="324212" cy="25977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0" name="Rectangle 13"/>
            <p:cNvSpPr>
              <a:spLocks noChangeArrowheads="1"/>
            </p:cNvSpPr>
            <p:nvPr/>
          </p:nvSpPr>
          <p:spPr bwMode="auto">
            <a:xfrm>
              <a:off x="1296482" y="2131146"/>
              <a:ext cx="564713" cy="317842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b="0" i="0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  <a:endParaRPr kumimoji="0" lang="en-US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1" name="Rectangle 12"/>
            <p:cNvSpPr>
              <a:spLocks noChangeArrowheads="1"/>
            </p:cNvSpPr>
            <p:nvPr/>
          </p:nvSpPr>
          <p:spPr bwMode="auto">
            <a:xfrm>
              <a:off x="1774827" y="2131146"/>
              <a:ext cx="563384" cy="317842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00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5281360" y="2131146"/>
              <a:ext cx="640451" cy="317842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b="0" i="1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n</a:t>
              </a:r>
              <a:r>
                <a:rPr kumimoji="0" lang="en-US" altLang="zh-CN" sz="1600" b="0" i="0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-1</a:t>
              </a:r>
              <a:endParaRPr kumimoji="0" lang="en-US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3" name="Rectangle 10"/>
            <p:cNvSpPr>
              <a:spLocks noChangeArrowheads="1"/>
            </p:cNvSpPr>
            <p:nvPr/>
          </p:nvSpPr>
          <p:spPr bwMode="auto">
            <a:xfrm>
              <a:off x="5854045" y="2131146"/>
              <a:ext cx="564713" cy="317842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4" name="Line 9"/>
            <p:cNvSpPr>
              <a:spLocks noChangeShapeType="1"/>
            </p:cNvSpPr>
            <p:nvPr/>
          </p:nvSpPr>
          <p:spPr bwMode="auto">
            <a:xfrm>
              <a:off x="4562514" y="2290067"/>
              <a:ext cx="718846" cy="10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5" name="Line 8"/>
            <p:cNvSpPr>
              <a:spLocks noChangeShapeType="1"/>
            </p:cNvSpPr>
            <p:nvPr/>
          </p:nvSpPr>
          <p:spPr bwMode="auto">
            <a:xfrm>
              <a:off x="2013999" y="2290067"/>
              <a:ext cx="71751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6" name="Rectangle 7"/>
            <p:cNvSpPr>
              <a:spLocks noChangeArrowheads="1"/>
            </p:cNvSpPr>
            <p:nvPr/>
          </p:nvSpPr>
          <p:spPr bwMode="auto">
            <a:xfrm>
              <a:off x="2731516" y="2131146"/>
              <a:ext cx="564713" cy="317842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b="0" i="0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endParaRPr kumimoji="0" lang="en-US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7" name="Rectangle 6"/>
            <p:cNvSpPr>
              <a:spLocks noChangeArrowheads="1"/>
            </p:cNvSpPr>
            <p:nvPr/>
          </p:nvSpPr>
          <p:spPr bwMode="auto">
            <a:xfrm>
              <a:off x="3209861" y="2131146"/>
              <a:ext cx="564713" cy="317842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00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8" name="Line 5"/>
            <p:cNvSpPr>
              <a:spLocks noChangeShapeType="1"/>
            </p:cNvSpPr>
            <p:nvPr/>
          </p:nvSpPr>
          <p:spPr bwMode="auto">
            <a:xfrm>
              <a:off x="3449034" y="2290067"/>
              <a:ext cx="71751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9" name="Rectangle 4"/>
            <p:cNvSpPr>
              <a:spLocks noChangeArrowheads="1"/>
            </p:cNvSpPr>
            <p:nvPr/>
          </p:nvSpPr>
          <p:spPr bwMode="auto">
            <a:xfrm>
              <a:off x="5427521" y="1791911"/>
              <a:ext cx="979278" cy="26079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栈底结点</a:t>
              </a:r>
            </a:p>
          </p:txBody>
        </p:sp>
        <p:sp>
          <p:nvSpPr>
            <p:cNvPr id="20" name="Rectangle 3"/>
            <p:cNvSpPr>
              <a:spLocks noChangeArrowheads="1"/>
            </p:cNvSpPr>
            <p:nvPr/>
          </p:nvSpPr>
          <p:spPr bwMode="auto">
            <a:xfrm>
              <a:off x="1358932" y="1791911"/>
              <a:ext cx="1041729" cy="25468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栈顶结点</a:t>
              </a:r>
            </a:p>
          </p:txBody>
        </p:sp>
        <p:sp>
          <p:nvSpPr>
            <p:cNvPr id="21" name="Freeform 2"/>
            <p:cNvSpPr>
              <a:spLocks/>
            </p:cNvSpPr>
            <p:nvPr/>
          </p:nvSpPr>
          <p:spPr bwMode="auto">
            <a:xfrm>
              <a:off x="1679158" y="2291086"/>
              <a:ext cx="4485812" cy="558261"/>
            </a:xfrm>
            <a:custGeom>
              <a:avLst/>
              <a:gdLst/>
              <a:ahLst/>
              <a:cxnLst>
                <a:cxn ang="0">
                  <a:pos x="3319" y="0"/>
                </a:cxn>
                <a:cxn ang="0">
                  <a:pos x="3245" y="363"/>
                </a:cxn>
                <a:cxn ang="0">
                  <a:pos x="2534" y="503"/>
                </a:cxn>
                <a:cxn ang="0">
                  <a:pos x="1253" y="540"/>
                </a:cxn>
                <a:cxn ang="0">
                  <a:pos x="252" y="456"/>
                </a:cxn>
                <a:cxn ang="0">
                  <a:pos x="0" y="148"/>
                </a:cxn>
              </a:cxnLst>
              <a:rect l="0" t="0" r="r" b="b"/>
              <a:pathLst>
                <a:path w="3376" h="548">
                  <a:moveTo>
                    <a:pt x="3319" y="0"/>
                  </a:moveTo>
                  <a:cubicBezTo>
                    <a:pt x="3312" y="141"/>
                    <a:pt x="3376" y="279"/>
                    <a:pt x="3245" y="363"/>
                  </a:cubicBezTo>
                  <a:cubicBezTo>
                    <a:pt x="3114" y="447"/>
                    <a:pt x="2866" y="473"/>
                    <a:pt x="2534" y="503"/>
                  </a:cubicBezTo>
                  <a:cubicBezTo>
                    <a:pt x="2202" y="533"/>
                    <a:pt x="1633" y="548"/>
                    <a:pt x="1253" y="540"/>
                  </a:cubicBezTo>
                  <a:cubicBezTo>
                    <a:pt x="873" y="532"/>
                    <a:pt x="461" y="521"/>
                    <a:pt x="252" y="456"/>
                  </a:cubicBezTo>
                  <a:cubicBezTo>
                    <a:pt x="43" y="391"/>
                    <a:pt x="52" y="212"/>
                    <a:pt x="0" y="148"/>
                  </a:cubicBezTo>
                </a:path>
              </a:pathLst>
            </a:custGeom>
            <a:noFill/>
            <a:ln w="19050">
              <a:solidFill>
                <a:srgbClr val="FF3399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25" name="灯片编号占位符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40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85720" y="1857364"/>
            <a:ext cx="8001056" cy="443888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pop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(T&amp; e)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出栈算法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LinkNode&lt;T&gt;* p;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if (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empty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()) return false; 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栈空的情况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if (rear-&gt;next==rear)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栈中只有一个结点的情况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p=rear; 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rear=NULL;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else	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栈中有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个及以上结点的情况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p=rear-&gt;next;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rear-&gt;next=p-&gt;next;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e=p-&gt;data;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delete p;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释放结点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return true;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214414" y="428604"/>
            <a:ext cx="5122276" cy="1134859"/>
            <a:chOff x="1296482" y="1714488"/>
            <a:chExt cx="5122276" cy="1134859"/>
          </a:xfrm>
        </p:grpSpPr>
        <p:sp>
          <p:nvSpPr>
            <p:cNvPr id="7" name="Rectangle 16"/>
            <p:cNvSpPr>
              <a:spLocks noChangeArrowheads="1"/>
            </p:cNvSpPr>
            <p:nvPr/>
          </p:nvSpPr>
          <p:spPr bwMode="auto">
            <a:xfrm>
              <a:off x="4157937" y="2152539"/>
              <a:ext cx="428351" cy="31784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+mn-ea"/>
                  <a:ea typeface="+mn-ea"/>
                  <a:cs typeface="Consolas" pitchFamily="49" charset="0"/>
                </a:rPr>
                <a:t>…</a:t>
              </a:r>
            </a:p>
          </p:txBody>
        </p:sp>
        <p:sp>
          <p:nvSpPr>
            <p:cNvPr id="8" name="Rectangle 15"/>
            <p:cNvSpPr>
              <a:spLocks noChangeArrowheads="1"/>
            </p:cNvSpPr>
            <p:nvPr/>
          </p:nvSpPr>
          <p:spPr bwMode="auto">
            <a:xfrm>
              <a:off x="4539926" y="1714488"/>
              <a:ext cx="615205" cy="32191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rear</a:t>
              </a:r>
            </a:p>
          </p:txBody>
        </p:sp>
        <p:sp>
          <p:nvSpPr>
            <p:cNvPr id="9" name="Arc 14"/>
            <p:cNvSpPr>
              <a:spLocks/>
            </p:cNvSpPr>
            <p:nvPr/>
          </p:nvSpPr>
          <p:spPr bwMode="auto">
            <a:xfrm>
              <a:off x="5092680" y="1865259"/>
              <a:ext cx="324212" cy="25977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0" name="Rectangle 13"/>
            <p:cNvSpPr>
              <a:spLocks noChangeArrowheads="1"/>
            </p:cNvSpPr>
            <p:nvPr/>
          </p:nvSpPr>
          <p:spPr bwMode="auto">
            <a:xfrm>
              <a:off x="1296482" y="2131146"/>
              <a:ext cx="564713" cy="317842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b="0" i="0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  <a:endParaRPr kumimoji="0" lang="en-US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1" name="Rectangle 12"/>
            <p:cNvSpPr>
              <a:spLocks noChangeArrowheads="1"/>
            </p:cNvSpPr>
            <p:nvPr/>
          </p:nvSpPr>
          <p:spPr bwMode="auto">
            <a:xfrm>
              <a:off x="1774827" y="2131146"/>
              <a:ext cx="563384" cy="317842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00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5281360" y="2131146"/>
              <a:ext cx="640451" cy="317842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b="0" i="1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n</a:t>
              </a:r>
              <a:r>
                <a:rPr kumimoji="0" lang="en-US" altLang="zh-CN" sz="1600" b="0" i="0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-1</a:t>
              </a:r>
              <a:endParaRPr kumimoji="0" lang="en-US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3" name="Rectangle 10"/>
            <p:cNvSpPr>
              <a:spLocks noChangeArrowheads="1"/>
            </p:cNvSpPr>
            <p:nvPr/>
          </p:nvSpPr>
          <p:spPr bwMode="auto">
            <a:xfrm>
              <a:off x="5854045" y="2131146"/>
              <a:ext cx="564713" cy="317842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4" name="Line 9"/>
            <p:cNvSpPr>
              <a:spLocks noChangeShapeType="1"/>
            </p:cNvSpPr>
            <p:nvPr/>
          </p:nvSpPr>
          <p:spPr bwMode="auto">
            <a:xfrm>
              <a:off x="4562514" y="2290067"/>
              <a:ext cx="718846" cy="10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5" name="Line 8"/>
            <p:cNvSpPr>
              <a:spLocks noChangeShapeType="1"/>
            </p:cNvSpPr>
            <p:nvPr/>
          </p:nvSpPr>
          <p:spPr bwMode="auto">
            <a:xfrm>
              <a:off x="2013999" y="2290067"/>
              <a:ext cx="71751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6" name="Rectangle 7"/>
            <p:cNvSpPr>
              <a:spLocks noChangeArrowheads="1"/>
            </p:cNvSpPr>
            <p:nvPr/>
          </p:nvSpPr>
          <p:spPr bwMode="auto">
            <a:xfrm>
              <a:off x="2731516" y="2131146"/>
              <a:ext cx="564713" cy="317842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b="0" i="0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endParaRPr kumimoji="0" lang="en-US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7" name="Rectangle 6"/>
            <p:cNvSpPr>
              <a:spLocks noChangeArrowheads="1"/>
            </p:cNvSpPr>
            <p:nvPr/>
          </p:nvSpPr>
          <p:spPr bwMode="auto">
            <a:xfrm>
              <a:off x="3209861" y="2131146"/>
              <a:ext cx="564713" cy="317842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00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8" name="Line 5"/>
            <p:cNvSpPr>
              <a:spLocks noChangeShapeType="1"/>
            </p:cNvSpPr>
            <p:nvPr/>
          </p:nvSpPr>
          <p:spPr bwMode="auto">
            <a:xfrm>
              <a:off x="3449034" y="2290067"/>
              <a:ext cx="71751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9" name="Rectangle 4"/>
            <p:cNvSpPr>
              <a:spLocks noChangeArrowheads="1"/>
            </p:cNvSpPr>
            <p:nvPr/>
          </p:nvSpPr>
          <p:spPr bwMode="auto">
            <a:xfrm>
              <a:off x="5427521" y="1791911"/>
              <a:ext cx="979278" cy="26079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栈底结点</a:t>
              </a:r>
            </a:p>
          </p:txBody>
        </p:sp>
        <p:sp>
          <p:nvSpPr>
            <p:cNvPr id="20" name="Rectangle 3"/>
            <p:cNvSpPr>
              <a:spLocks noChangeArrowheads="1"/>
            </p:cNvSpPr>
            <p:nvPr/>
          </p:nvSpPr>
          <p:spPr bwMode="auto">
            <a:xfrm>
              <a:off x="1358932" y="1791911"/>
              <a:ext cx="1041729" cy="25468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栈顶结点</a:t>
              </a:r>
            </a:p>
          </p:txBody>
        </p:sp>
        <p:sp>
          <p:nvSpPr>
            <p:cNvPr id="21" name="Freeform 2"/>
            <p:cNvSpPr>
              <a:spLocks/>
            </p:cNvSpPr>
            <p:nvPr/>
          </p:nvSpPr>
          <p:spPr bwMode="auto">
            <a:xfrm>
              <a:off x="1679158" y="2291086"/>
              <a:ext cx="4485812" cy="558261"/>
            </a:xfrm>
            <a:custGeom>
              <a:avLst/>
              <a:gdLst/>
              <a:ahLst/>
              <a:cxnLst>
                <a:cxn ang="0">
                  <a:pos x="3319" y="0"/>
                </a:cxn>
                <a:cxn ang="0">
                  <a:pos x="3245" y="363"/>
                </a:cxn>
                <a:cxn ang="0">
                  <a:pos x="2534" y="503"/>
                </a:cxn>
                <a:cxn ang="0">
                  <a:pos x="1253" y="540"/>
                </a:cxn>
                <a:cxn ang="0">
                  <a:pos x="252" y="456"/>
                </a:cxn>
                <a:cxn ang="0">
                  <a:pos x="0" y="148"/>
                </a:cxn>
              </a:cxnLst>
              <a:rect l="0" t="0" r="r" b="b"/>
              <a:pathLst>
                <a:path w="3376" h="548">
                  <a:moveTo>
                    <a:pt x="3319" y="0"/>
                  </a:moveTo>
                  <a:cubicBezTo>
                    <a:pt x="3312" y="141"/>
                    <a:pt x="3376" y="279"/>
                    <a:pt x="3245" y="363"/>
                  </a:cubicBezTo>
                  <a:cubicBezTo>
                    <a:pt x="3114" y="447"/>
                    <a:pt x="2866" y="473"/>
                    <a:pt x="2534" y="503"/>
                  </a:cubicBezTo>
                  <a:cubicBezTo>
                    <a:pt x="2202" y="533"/>
                    <a:pt x="1633" y="548"/>
                    <a:pt x="1253" y="540"/>
                  </a:cubicBezTo>
                  <a:cubicBezTo>
                    <a:pt x="873" y="532"/>
                    <a:pt x="461" y="521"/>
                    <a:pt x="252" y="456"/>
                  </a:cubicBezTo>
                  <a:cubicBezTo>
                    <a:pt x="43" y="391"/>
                    <a:pt x="52" y="212"/>
                    <a:pt x="0" y="148"/>
                  </a:cubicBezTo>
                </a:path>
              </a:pathLst>
            </a:custGeom>
            <a:noFill/>
            <a:ln w="19050">
              <a:solidFill>
                <a:srgbClr val="FF3399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25" name="灯片编号占位符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41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28596" y="327226"/>
            <a:ext cx="8001056" cy="3744716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bool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gettop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(T&amp; e)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取栈顶元素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if (empty()) return false;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栈空的情况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e=rear-&gt;next-&gt;data;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return true;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endParaRPr lang="en-US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T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Getbottom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()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取栈底元素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return rear-&gt;data;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};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949922" y="4222967"/>
            <a:ext cx="5122276" cy="1134859"/>
            <a:chOff x="1296482" y="1714488"/>
            <a:chExt cx="5122276" cy="1134859"/>
          </a:xfrm>
        </p:grpSpPr>
        <p:sp>
          <p:nvSpPr>
            <p:cNvPr id="7" name="Rectangle 16"/>
            <p:cNvSpPr>
              <a:spLocks noChangeArrowheads="1"/>
            </p:cNvSpPr>
            <p:nvPr/>
          </p:nvSpPr>
          <p:spPr bwMode="auto">
            <a:xfrm>
              <a:off x="4157937" y="2152539"/>
              <a:ext cx="428351" cy="31784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+mn-ea"/>
                  <a:ea typeface="+mn-ea"/>
                  <a:cs typeface="Consolas" pitchFamily="49" charset="0"/>
                </a:rPr>
                <a:t>…</a:t>
              </a:r>
            </a:p>
          </p:txBody>
        </p:sp>
        <p:sp>
          <p:nvSpPr>
            <p:cNvPr id="8" name="Rectangle 15"/>
            <p:cNvSpPr>
              <a:spLocks noChangeArrowheads="1"/>
            </p:cNvSpPr>
            <p:nvPr/>
          </p:nvSpPr>
          <p:spPr bwMode="auto">
            <a:xfrm>
              <a:off x="4539926" y="1714488"/>
              <a:ext cx="615205" cy="32191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rear</a:t>
              </a:r>
            </a:p>
          </p:txBody>
        </p:sp>
        <p:sp>
          <p:nvSpPr>
            <p:cNvPr id="9" name="Arc 14"/>
            <p:cNvSpPr>
              <a:spLocks/>
            </p:cNvSpPr>
            <p:nvPr/>
          </p:nvSpPr>
          <p:spPr bwMode="auto">
            <a:xfrm>
              <a:off x="5092680" y="1865259"/>
              <a:ext cx="324212" cy="25977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0" name="Rectangle 13"/>
            <p:cNvSpPr>
              <a:spLocks noChangeArrowheads="1"/>
            </p:cNvSpPr>
            <p:nvPr/>
          </p:nvSpPr>
          <p:spPr bwMode="auto">
            <a:xfrm>
              <a:off x="1296482" y="2131146"/>
              <a:ext cx="564713" cy="317842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b="0" i="0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  <a:endParaRPr kumimoji="0" lang="en-US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1" name="Rectangle 12"/>
            <p:cNvSpPr>
              <a:spLocks noChangeArrowheads="1"/>
            </p:cNvSpPr>
            <p:nvPr/>
          </p:nvSpPr>
          <p:spPr bwMode="auto">
            <a:xfrm>
              <a:off x="1774827" y="2131146"/>
              <a:ext cx="563384" cy="317842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00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5281360" y="2131146"/>
              <a:ext cx="576000" cy="317842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1" u="none" strike="noStrike" cap="none" normalizeH="0" baseline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b="0" i="1" u="none" strike="noStrike" cap="none" normalizeH="0" baseline="-3000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n</a:t>
              </a:r>
              <a:r>
                <a:rPr kumimoji="0" lang="en-US" altLang="zh-CN" sz="1600" b="0" i="0" u="none" strike="noStrike" cap="none" normalizeH="0" baseline="-3000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-1</a:t>
              </a:r>
              <a:endParaRPr kumimoji="0" lang="en-US" altLang="zh-CN" sz="16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3" name="Rectangle 10"/>
            <p:cNvSpPr>
              <a:spLocks noChangeArrowheads="1"/>
            </p:cNvSpPr>
            <p:nvPr/>
          </p:nvSpPr>
          <p:spPr bwMode="auto">
            <a:xfrm>
              <a:off x="5854045" y="2131146"/>
              <a:ext cx="564713" cy="317842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4" name="Line 9"/>
            <p:cNvSpPr>
              <a:spLocks noChangeShapeType="1"/>
            </p:cNvSpPr>
            <p:nvPr/>
          </p:nvSpPr>
          <p:spPr bwMode="auto">
            <a:xfrm>
              <a:off x="4562514" y="2290067"/>
              <a:ext cx="718846" cy="10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5" name="Line 8"/>
            <p:cNvSpPr>
              <a:spLocks noChangeShapeType="1"/>
            </p:cNvSpPr>
            <p:nvPr/>
          </p:nvSpPr>
          <p:spPr bwMode="auto">
            <a:xfrm>
              <a:off x="2013999" y="2290067"/>
              <a:ext cx="71751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6" name="Rectangle 7"/>
            <p:cNvSpPr>
              <a:spLocks noChangeArrowheads="1"/>
            </p:cNvSpPr>
            <p:nvPr/>
          </p:nvSpPr>
          <p:spPr bwMode="auto">
            <a:xfrm>
              <a:off x="2731516" y="2131146"/>
              <a:ext cx="564713" cy="317842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b="0" i="0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endParaRPr kumimoji="0" lang="en-US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7" name="Rectangle 6"/>
            <p:cNvSpPr>
              <a:spLocks noChangeArrowheads="1"/>
            </p:cNvSpPr>
            <p:nvPr/>
          </p:nvSpPr>
          <p:spPr bwMode="auto">
            <a:xfrm>
              <a:off x="3209861" y="2131146"/>
              <a:ext cx="564713" cy="317842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00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8" name="Line 5"/>
            <p:cNvSpPr>
              <a:spLocks noChangeShapeType="1"/>
            </p:cNvSpPr>
            <p:nvPr/>
          </p:nvSpPr>
          <p:spPr bwMode="auto">
            <a:xfrm>
              <a:off x="3449034" y="2290067"/>
              <a:ext cx="71751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9" name="Rectangle 4"/>
            <p:cNvSpPr>
              <a:spLocks noChangeArrowheads="1"/>
            </p:cNvSpPr>
            <p:nvPr/>
          </p:nvSpPr>
          <p:spPr bwMode="auto">
            <a:xfrm>
              <a:off x="5427521" y="1791911"/>
              <a:ext cx="979278" cy="26079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栈底结点</a:t>
              </a:r>
            </a:p>
          </p:txBody>
        </p:sp>
        <p:sp>
          <p:nvSpPr>
            <p:cNvPr id="20" name="Rectangle 3"/>
            <p:cNvSpPr>
              <a:spLocks noChangeArrowheads="1"/>
            </p:cNvSpPr>
            <p:nvPr/>
          </p:nvSpPr>
          <p:spPr bwMode="auto">
            <a:xfrm>
              <a:off x="1358932" y="1791911"/>
              <a:ext cx="1041729" cy="25468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栈顶结点</a:t>
              </a:r>
            </a:p>
          </p:txBody>
        </p:sp>
        <p:sp>
          <p:nvSpPr>
            <p:cNvPr id="21" name="Freeform 2"/>
            <p:cNvSpPr>
              <a:spLocks/>
            </p:cNvSpPr>
            <p:nvPr/>
          </p:nvSpPr>
          <p:spPr bwMode="auto">
            <a:xfrm>
              <a:off x="1679158" y="2291086"/>
              <a:ext cx="4485812" cy="558261"/>
            </a:xfrm>
            <a:custGeom>
              <a:avLst/>
              <a:gdLst/>
              <a:ahLst/>
              <a:cxnLst>
                <a:cxn ang="0">
                  <a:pos x="3319" y="0"/>
                </a:cxn>
                <a:cxn ang="0">
                  <a:pos x="3245" y="363"/>
                </a:cxn>
                <a:cxn ang="0">
                  <a:pos x="2534" y="503"/>
                </a:cxn>
                <a:cxn ang="0">
                  <a:pos x="1253" y="540"/>
                </a:cxn>
                <a:cxn ang="0">
                  <a:pos x="252" y="456"/>
                </a:cxn>
                <a:cxn ang="0">
                  <a:pos x="0" y="148"/>
                </a:cxn>
              </a:cxnLst>
              <a:rect l="0" t="0" r="r" b="b"/>
              <a:pathLst>
                <a:path w="3376" h="548">
                  <a:moveTo>
                    <a:pt x="3319" y="0"/>
                  </a:moveTo>
                  <a:cubicBezTo>
                    <a:pt x="3312" y="141"/>
                    <a:pt x="3376" y="279"/>
                    <a:pt x="3245" y="363"/>
                  </a:cubicBezTo>
                  <a:cubicBezTo>
                    <a:pt x="3114" y="447"/>
                    <a:pt x="2866" y="473"/>
                    <a:pt x="2534" y="503"/>
                  </a:cubicBezTo>
                  <a:cubicBezTo>
                    <a:pt x="2202" y="533"/>
                    <a:pt x="1633" y="548"/>
                    <a:pt x="1253" y="540"/>
                  </a:cubicBezTo>
                  <a:cubicBezTo>
                    <a:pt x="873" y="532"/>
                    <a:pt x="461" y="521"/>
                    <a:pt x="252" y="456"/>
                  </a:cubicBezTo>
                  <a:cubicBezTo>
                    <a:pt x="43" y="391"/>
                    <a:pt x="52" y="212"/>
                    <a:pt x="0" y="148"/>
                  </a:cubicBezTo>
                </a:path>
              </a:pathLst>
            </a:custGeom>
            <a:noFill/>
            <a:ln w="19050">
              <a:solidFill>
                <a:srgbClr val="FF3399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25" name="灯片编号占位符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42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85720" y="1206701"/>
            <a:ext cx="6643734" cy="512099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main()</a:t>
            </a: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int e;</a:t>
            </a: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800" smtClean="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STACK&lt;int&gt; st;</a:t>
            </a: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cout &lt;&lt; "1</a:t>
            </a:r>
            <a:r>
              <a:rPr lang="zh-CN" altLang="en-US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到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5</a:t>
            </a:r>
            <a:r>
              <a:rPr lang="zh-CN" altLang="en-US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进栈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" &lt;&lt; endl;</a:t>
            </a: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for (int i=1;i&lt;=5;i++)</a:t>
            </a: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st.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push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(i);</a:t>
            </a: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cout &lt;&lt; "</a:t>
            </a:r>
            <a:r>
              <a:rPr lang="zh-CN" altLang="en-US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栈底元素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: " &lt;&lt; st.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Getbottom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() &lt;&lt; endl;</a:t>
            </a: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st.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pop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(e);</a:t>
            </a: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cout &lt;&lt; "</a:t>
            </a:r>
            <a:r>
              <a:rPr lang="zh-CN" altLang="en-US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出栈元素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" &lt;&lt;  e &lt;&lt; endl;</a:t>
            </a: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st.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pop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(e);</a:t>
            </a: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cout &lt;&lt; "</a:t>
            </a:r>
            <a:r>
              <a:rPr lang="zh-CN" altLang="en-US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出栈元素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" &lt;&lt;  e &lt;&lt; endl;</a:t>
            </a: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cout &lt;&lt; "</a:t>
            </a:r>
            <a:r>
              <a:rPr lang="zh-CN" altLang="en-US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栈底元素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: " &lt;&lt; st.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Getbottom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() &lt;&lt; endl;</a:t>
            </a: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return 0;</a:t>
            </a: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pic>
        <p:nvPicPr>
          <p:cNvPr id="1034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24719" y="2778337"/>
            <a:ext cx="2047875" cy="158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右箭头 6"/>
          <p:cNvSpPr/>
          <p:nvPr/>
        </p:nvSpPr>
        <p:spPr bwMode="auto">
          <a:xfrm>
            <a:off x="6786578" y="3421279"/>
            <a:ext cx="214314" cy="285752"/>
          </a:xfrm>
          <a:prstGeom prst="rightArrow">
            <a:avLst/>
          </a:prstGeom>
          <a:ln>
            <a:headEnd/>
            <a:tailEnd type="arrow" w="sm" len="sm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8596" y="285728"/>
            <a:ext cx="714380" cy="646331"/>
          </a:xfrm>
          <a:prstGeom prst="rect">
            <a:avLst/>
          </a:prstGeom>
          <a:blipFill>
            <a:blip r:embed="rId3" cstate="print"/>
            <a:tile tx="0" ty="0" sx="100000" sy="100000" flip="none" algn="tl"/>
          </a:blip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800" b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程序验证</a:t>
            </a: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43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2910" y="1334458"/>
            <a:ext cx="3286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stack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容器主要的成员函数</a:t>
            </a:r>
            <a:endParaRPr lang="zh-CN" altLang="en-US" sz="2000" smtClean="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714348" y="1977400"/>
          <a:ext cx="6786610" cy="2679842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480092"/>
                <a:gridCol w="5306518"/>
              </a:tblGrid>
              <a:tr h="381003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成员函数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说明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1003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empty()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判断栈是否为空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1003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size()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返回栈中的实际元素个数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1003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push(e)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即元素</a:t>
                      </a: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e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进栈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1003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top()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返回栈顶元素，当</a:t>
                      </a:r>
                      <a:r>
                        <a:rPr lang="zh-CN" sz="1800" kern="100" smtClean="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栈</a:t>
                      </a:r>
                      <a:r>
                        <a:rPr lang="zh-CN" altLang="en-US" sz="1800" kern="100" smtClean="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空</a:t>
                      </a:r>
                      <a:r>
                        <a:rPr lang="zh-CN" sz="1800" kern="100" smtClean="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时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抛出异常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1003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pop()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出栈一个元素，并不返回出栈的元素，当</a:t>
                      </a:r>
                      <a:r>
                        <a:rPr lang="zh-CN" sz="1800" kern="100" smtClean="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栈</a:t>
                      </a:r>
                      <a:r>
                        <a:rPr lang="zh-CN" altLang="en-US" sz="1800" kern="100" smtClean="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空</a:t>
                      </a:r>
                      <a:r>
                        <a:rPr lang="zh-CN" sz="1800" kern="100" smtClean="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时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抛出异常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71472" y="571480"/>
            <a:ext cx="3500462" cy="46166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mtClean="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3.1.6 STL</a:t>
            </a:r>
            <a:r>
              <a:rPr lang="zh-CN" altLang="en-US" smtClean="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中的</a:t>
            </a:r>
            <a:r>
              <a:rPr lang="zh-CN" altLang="zh-CN" smtClean="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栈</a:t>
            </a:r>
            <a:r>
              <a:rPr lang="zh-CN" altLang="en-US" smtClean="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容器</a:t>
            </a:r>
            <a:endParaRPr lang="zh-CN" altLang="zh-CN" smtClean="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44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14348" y="1785926"/>
            <a:ext cx="7572428" cy="208989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44000" tIns="144000" rIns="144000" bIns="144000" rtlCol="0">
            <a:spAutoFit/>
          </a:bodyPr>
          <a:lstStyle/>
          <a:p>
            <a:pPr marL="342900" indent="-342900" algn="l">
              <a:lnSpc>
                <a:spcPts val="26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与前面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自己实现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的栈运算相比，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stack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容器的成员函数使用更加简单方便。</a:t>
            </a:r>
            <a:endParaRPr lang="en-US" altLang="zh-CN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342900" indent="-342900" algn="l">
              <a:lnSpc>
                <a:spcPts val="26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需要注意的是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stack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容器具有空间动态扩展功能，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push()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不会出现上溢出的情况，另外在使用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top()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和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pop()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之前应保证栈不空。</a:t>
            </a:r>
            <a:endParaRPr lang="zh-CN" altLang="en-US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830246" y="822312"/>
            <a:ext cx="1384300" cy="677862"/>
            <a:chOff x="830246" y="822312"/>
            <a:chExt cx="1384300" cy="677862"/>
          </a:xfrm>
        </p:grpSpPr>
        <p:sp>
          <p:nvSpPr>
            <p:cNvPr id="6" name="AutoShape 26"/>
            <p:cNvSpPr>
              <a:spLocks noChangeArrowheads="1"/>
            </p:cNvSpPr>
            <p:nvPr/>
          </p:nvSpPr>
          <p:spPr bwMode="gray">
            <a:xfrm>
              <a:off x="830246" y="822312"/>
              <a:ext cx="1384300" cy="677862"/>
            </a:xfrm>
            <a:prstGeom prst="roundRect">
              <a:avLst>
                <a:gd name="adj" fmla="val 50000"/>
              </a:avLst>
            </a:prstGeom>
            <a:solidFill>
              <a:srgbClr val="C0C0C0"/>
            </a:solidFill>
            <a:ln w="57150" algn="ctr">
              <a:noFill/>
              <a:round/>
              <a:headEnd/>
              <a:tailEnd/>
            </a:ln>
            <a:effectLst>
              <a:outerShdw dist="63500" dir="3187806" algn="ctr" rotWithShape="0">
                <a:srgbClr val="1C1C1C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7" name="AutoShape 27"/>
            <p:cNvSpPr>
              <a:spLocks noChangeArrowheads="1"/>
            </p:cNvSpPr>
            <p:nvPr/>
          </p:nvSpPr>
          <p:spPr bwMode="gray">
            <a:xfrm>
              <a:off x="863584" y="861999"/>
              <a:ext cx="1301750" cy="587375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 w="19050" algn="ctr">
              <a:solidFill>
                <a:srgbClr val="F8F8F8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8" name="Rectangle 30"/>
            <p:cNvSpPr>
              <a:spLocks noChangeArrowheads="1"/>
            </p:cNvSpPr>
            <p:nvPr/>
          </p:nvSpPr>
          <p:spPr bwMode="auto">
            <a:xfrm>
              <a:off x="1161789" y="1008446"/>
              <a:ext cx="697627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2000" b="1" smtClean="0">
                  <a:solidFill>
                    <a:srgbClr val="FF0000"/>
                  </a:solidFill>
                  <a:latin typeface="华文中宋" pitchFamily="2" charset="-122"/>
                  <a:ea typeface="华文中宋" pitchFamily="2" charset="-122"/>
                </a:rPr>
                <a:t>提示</a:t>
              </a:r>
              <a:endParaRPr lang="en-US" altLang="zh-CN" sz="2000" b="1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endParaRPr>
            </a:p>
          </p:txBody>
        </p:sp>
      </p:grp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45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2910" y="428604"/>
            <a:ext cx="8072494" cy="4257677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#include&lt;iostream&gt;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#include &lt;stack&gt;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using namespace std;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main()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</a:t>
            </a:r>
            <a:r>
              <a:rPr lang="en-US" altLang="zh-CN" sz="1800" smtClean="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stack&lt;int&gt; st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st.push(1); st.push(2); st.push(3);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printf("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栈顶元素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: %d\n",st.top());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printf("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出栈顺序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: ");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while (!st.empty()) 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栈不空时出栈所有元素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printf("%d ",st.top());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st.pop() 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printf("\n");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return 0;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28794" y="5143512"/>
            <a:ext cx="2714644" cy="972606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44000" tIns="108000" rIns="144000" bIns="108000" rtlCol="0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栈顶元素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: 3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出栈顺序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: 3 2 1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下箭头 5"/>
          <p:cNvSpPr/>
          <p:nvPr/>
        </p:nvSpPr>
        <p:spPr bwMode="auto">
          <a:xfrm>
            <a:off x="3000364" y="4786322"/>
            <a:ext cx="214314" cy="357190"/>
          </a:xfrm>
          <a:prstGeom prst="downArrow">
            <a:avLst/>
          </a:prstGeom>
          <a:ln>
            <a:headEnd/>
            <a:tailEnd type="arrow" w="sm" len="sm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46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85786" y="1643050"/>
            <a:ext cx="514353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</a:pPr>
            <a:r>
              <a:rPr lang="zh-CN" altLang="en-US" sz="2000" smtClean="0">
                <a:solidFill>
                  <a:srgbClr val="0000FF"/>
                </a:solidFill>
                <a:latin typeface="仿宋" pitchFamily="49" charset="-122"/>
                <a:ea typeface="仿宋" pitchFamily="49" charset="-122"/>
              </a:rPr>
              <a:t>求解问题中需要临时保存一些数据元素：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4348" y="642918"/>
            <a:ext cx="3500462" cy="46166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mtClean="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3.1.7 </a:t>
            </a:r>
            <a:r>
              <a:rPr lang="zh-CN" altLang="zh-CN" smtClean="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栈的综合应用</a:t>
            </a:r>
          </a:p>
        </p:txBody>
      </p:sp>
      <p:grpSp>
        <p:nvGrpSpPr>
          <p:cNvPr id="6" name="Group 4"/>
          <p:cNvGrpSpPr>
            <a:grpSpLocks/>
          </p:cNvGrpSpPr>
          <p:nvPr/>
        </p:nvGrpSpPr>
        <p:grpSpPr bwMode="auto">
          <a:xfrm>
            <a:off x="1066800" y="2293938"/>
            <a:ext cx="3719514" cy="1706566"/>
            <a:chOff x="294" y="1536"/>
            <a:chExt cx="1722" cy="1387"/>
          </a:xfrm>
        </p:grpSpPr>
        <p:pic>
          <p:nvPicPr>
            <p:cNvPr id="8" name="Picture 5" descr="pan_0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gray">
            <a:xfrm flipH="1">
              <a:off x="298" y="1536"/>
              <a:ext cx="1711" cy="13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" name="Freeform 6"/>
            <p:cNvSpPr>
              <a:spLocks/>
            </p:cNvSpPr>
            <p:nvPr/>
          </p:nvSpPr>
          <p:spPr bwMode="gray">
            <a:xfrm>
              <a:off x="294" y="1538"/>
              <a:ext cx="1722" cy="1382"/>
            </a:xfrm>
            <a:custGeom>
              <a:avLst/>
              <a:gdLst/>
              <a:ahLst/>
              <a:cxnLst>
                <a:cxn ang="0">
                  <a:pos x="6" y="79"/>
                </a:cxn>
                <a:cxn ang="0">
                  <a:pos x="6" y="1300"/>
                </a:cxn>
                <a:cxn ang="0">
                  <a:pos x="46" y="1367"/>
                </a:cxn>
                <a:cxn ang="0">
                  <a:pos x="121" y="1381"/>
                </a:cxn>
                <a:cxn ang="0">
                  <a:pos x="1658" y="1312"/>
                </a:cxn>
                <a:cxn ang="0">
                  <a:pos x="1696" y="1286"/>
                </a:cxn>
                <a:cxn ang="0">
                  <a:pos x="1714" y="1247"/>
                </a:cxn>
                <a:cxn ang="0">
                  <a:pos x="1715" y="157"/>
                </a:cxn>
                <a:cxn ang="0">
                  <a:pos x="1689" y="87"/>
                </a:cxn>
                <a:cxn ang="0">
                  <a:pos x="1637" y="67"/>
                </a:cxn>
                <a:cxn ang="0">
                  <a:pos x="95" y="0"/>
                </a:cxn>
                <a:cxn ang="0">
                  <a:pos x="29" y="31"/>
                </a:cxn>
                <a:cxn ang="0">
                  <a:pos x="6" y="79"/>
                </a:cxn>
              </a:cxnLst>
              <a:rect l="0" t="0" r="r" b="b"/>
              <a:pathLst>
                <a:path w="1722" h="1382">
                  <a:moveTo>
                    <a:pt x="6" y="79"/>
                  </a:moveTo>
                  <a:cubicBezTo>
                    <a:pt x="0" y="294"/>
                    <a:pt x="3" y="1087"/>
                    <a:pt x="6" y="1300"/>
                  </a:cubicBezTo>
                  <a:cubicBezTo>
                    <a:pt x="8" y="1336"/>
                    <a:pt x="36" y="1359"/>
                    <a:pt x="46" y="1367"/>
                  </a:cubicBezTo>
                  <a:cubicBezTo>
                    <a:pt x="60" y="1381"/>
                    <a:pt x="109" y="1382"/>
                    <a:pt x="121" y="1381"/>
                  </a:cubicBezTo>
                  <a:cubicBezTo>
                    <a:pt x="368" y="1362"/>
                    <a:pt x="1388" y="1336"/>
                    <a:pt x="1658" y="1312"/>
                  </a:cubicBezTo>
                  <a:cubicBezTo>
                    <a:pt x="1658" y="1315"/>
                    <a:pt x="1684" y="1300"/>
                    <a:pt x="1696" y="1286"/>
                  </a:cubicBezTo>
                  <a:cubicBezTo>
                    <a:pt x="1708" y="1272"/>
                    <a:pt x="1714" y="1250"/>
                    <a:pt x="1714" y="1247"/>
                  </a:cubicBezTo>
                  <a:cubicBezTo>
                    <a:pt x="1714" y="1065"/>
                    <a:pt x="1722" y="347"/>
                    <a:pt x="1715" y="157"/>
                  </a:cubicBezTo>
                  <a:cubicBezTo>
                    <a:pt x="1715" y="124"/>
                    <a:pt x="1711" y="104"/>
                    <a:pt x="1689" y="87"/>
                  </a:cubicBezTo>
                  <a:cubicBezTo>
                    <a:pt x="1667" y="70"/>
                    <a:pt x="1659" y="73"/>
                    <a:pt x="1637" y="67"/>
                  </a:cubicBezTo>
                  <a:cubicBezTo>
                    <a:pt x="1375" y="49"/>
                    <a:pt x="360" y="16"/>
                    <a:pt x="95" y="0"/>
                  </a:cubicBezTo>
                  <a:cubicBezTo>
                    <a:pt x="72" y="0"/>
                    <a:pt x="41" y="14"/>
                    <a:pt x="29" y="31"/>
                  </a:cubicBezTo>
                  <a:cubicBezTo>
                    <a:pt x="17" y="48"/>
                    <a:pt x="13" y="49"/>
                    <a:pt x="6" y="79"/>
                  </a:cubicBezTo>
                  <a:close/>
                </a:path>
              </a:pathLst>
            </a:custGeom>
            <a:gradFill rotWithShape="1">
              <a:gsLst>
                <a:gs pos="0">
                  <a:srgbClr val="03D4A8">
                    <a:alpha val="50000"/>
                  </a:srgbClr>
                </a:gs>
                <a:gs pos="25000">
                  <a:srgbClr val="21D6E0">
                    <a:alpha val="45000"/>
                  </a:srgbClr>
                </a:gs>
                <a:gs pos="75000">
                  <a:srgbClr val="0087E6">
                    <a:alpha val="35000"/>
                  </a:srgbClr>
                </a:gs>
                <a:gs pos="100000">
                  <a:srgbClr val="005CBF">
                    <a:alpha val="30000"/>
                  </a:srgbClr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1142976" y="2633657"/>
            <a:ext cx="3429024" cy="934652"/>
          </a:xfrm>
          <a:prstGeom prst="rect">
            <a:avLst/>
          </a:prstGeom>
          <a:solidFill>
            <a:schemeClr val="lt1">
              <a:alpha val="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marL="457200" indent="-457200" algn="l">
              <a:lnSpc>
                <a:spcPts val="3000"/>
              </a:lnSpc>
              <a:spcBef>
                <a:spcPts val="0"/>
              </a:spcBef>
              <a:buBlip>
                <a:blip r:embed="rId3"/>
              </a:buBlip>
            </a:pPr>
            <a:r>
              <a:rPr lang="zh-CN" altLang="en-US" sz="2000" b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先保存的后处理：栈</a:t>
            </a:r>
            <a:endParaRPr lang="en-US" altLang="zh-CN" sz="2000" b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仿宋" pitchFamily="49" charset="-122"/>
              <a:ea typeface="仿宋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0"/>
              </a:spcBef>
              <a:buBlip>
                <a:blip r:embed="rId3"/>
              </a:buBlip>
            </a:pPr>
            <a:r>
              <a:rPr lang="zh-CN" altLang="en-US" sz="2000" b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先保存的先处理：队列</a:t>
            </a:r>
            <a:endParaRPr lang="en-US" altLang="zh-CN" sz="2000" b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仿宋" pitchFamily="49" charset="-122"/>
              <a:ea typeface="仿宋" pitchFamily="49" charset="-122"/>
            </a:endParaRPr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47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85786" y="1465126"/>
            <a:ext cx="5572164" cy="820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</a:pP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exp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仅包含“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+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”、“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”、“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*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”、“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”、正整数和小括号的合法数学表达式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—</a:t>
            </a:r>
            <a:r>
              <a:rPr lang="zh-CN" altLang="zh-CN" sz="200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中缀表达式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48" y="2643182"/>
            <a:ext cx="5715040" cy="1141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zh-CN" altLang="zh-CN" sz="200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后缀表达式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就是运算符在操作数的后面，已经考虑了运算符的优先级，不包含括号，只含操作数和运算符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29454" y="2774437"/>
            <a:ext cx="1000132" cy="440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123*+</a:t>
            </a:r>
            <a:endParaRPr lang="zh-CN" altLang="en-US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29454" y="1500174"/>
            <a:ext cx="1143008" cy="440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1+2*3</a:t>
            </a:r>
            <a:endParaRPr lang="zh-CN" altLang="en-US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 rot="16200000" flipH="1">
            <a:off x="6859065" y="2361144"/>
            <a:ext cx="845635" cy="0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642910" y="571480"/>
            <a:ext cx="2357454" cy="642942"/>
            <a:chOff x="428596" y="428604"/>
            <a:chExt cx="2357454" cy="642942"/>
          </a:xfrm>
        </p:grpSpPr>
        <p:sp>
          <p:nvSpPr>
            <p:cNvPr id="15" name="AutoShape 10"/>
            <p:cNvSpPr>
              <a:spLocks noChangeArrowheads="1"/>
            </p:cNvSpPr>
            <p:nvPr/>
          </p:nvSpPr>
          <p:spPr bwMode="gray">
            <a:xfrm>
              <a:off x="428596" y="428604"/>
              <a:ext cx="2357454" cy="64294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4EA7EA"/>
                </a:gs>
                <a:gs pos="50000">
                  <a:srgbClr val="4EA7EA">
                    <a:gamma/>
                    <a:tint val="42353"/>
                    <a:invGamma/>
                  </a:srgbClr>
                </a:gs>
                <a:gs pos="100000">
                  <a:srgbClr val="4EA7EA"/>
                </a:gs>
              </a:gsLst>
              <a:lin ang="5400000" scaled="1"/>
            </a:gradFill>
            <a:ln w="28575" algn="ctr">
              <a:solidFill>
                <a:schemeClr val="bg1"/>
              </a:solidFill>
              <a:round/>
              <a:headEnd/>
              <a:tailEnd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6" name="Rectangle 16"/>
            <p:cNvSpPr>
              <a:spLocks noChangeArrowheads="1"/>
            </p:cNvSpPr>
            <p:nvPr/>
          </p:nvSpPr>
          <p:spPr bwMode="gray">
            <a:xfrm>
              <a:off x="633384" y="538085"/>
              <a:ext cx="206217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defTabSz="865188" latinLnBrk="1">
                <a:lnSpc>
                  <a:spcPct val="100000"/>
                </a:lnSpc>
              </a:pPr>
              <a:r>
                <a:rPr lang="zh-CN" altLang="en-US" sz="200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简单表达式求值</a:t>
              </a:r>
            </a:p>
          </p:txBody>
        </p:sp>
      </p:grp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48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85786" y="928670"/>
            <a:ext cx="2000264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000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exp</a:t>
            </a:r>
            <a:r>
              <a:rPr lang="zh-CN" altLang="zh-CN" sz="2000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求值过程</a:t>
            </a:r>
            <a:endParaRPr lang="en-US" altLang="zh-CN" sz="2000" spc="50" smtClean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4348" y="1500174"/>
            <a:ext cx="6215106" cy="116015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44000" bIns="144000" rtlCol="0">
            <a:spAutoFit/>
          </a:bodyPr>
          <a:lstStyle/>
          <a:p>
            <a:pPr marL="457200" indent="-457200" algn="l">
              <a:lnSpc>
                <a:spcPct val="150000"/>
              </a:lnSpc>
              <a:spcBef>
                <a:spcPts val="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将表达式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exp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转换成后缀表达式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postexp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lang="en-US" altLang="zh-CN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对该后缀表达式求值。</a:t>
            </a:r>
            <a:endParaRPr lang="zh-CN" altLang="en-US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49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42910" y="428604"/>
            <a:ext cx="6072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设计求表达式值的类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Express</a:t>
            </a:r>
            <a:endParaRPr lang="zh-CN" altLang="en-US" sz="2000" smtClean="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7158" y="1000108"/>
            <a:ext cx="8286808" cy="4880567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class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Express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求表达式值类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string exp;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存放中缀表达式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string postexp;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存放后缀表达式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public: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Express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(string str)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构造函数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exp=str; 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postexp="";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string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getpostexp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()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返回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postexp 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return postexp;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void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Trans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()	{ </a:t>
            </a:r>
            <a:r>
              <a:rPr lang="zh-CN" altLang="zh-CN" sz="1800" smtClean="0">
                <a:solidFill>
                  <a:srgbClr val="0000FF"/>
                </a:solidFill>
                <a:latin typeface="+mn-ea"/>
                <a:cs typeface="Consolas" pitchFamily="49" charset="0"/>
              </a:rPr>
              <a:t>…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}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exp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转换成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postexp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double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GetValue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() { </a:t>
            </a:r>
            <a:r>
              <a:rPr lang="zh-CN" altLang="zh-CN" sz="1800" smtClean="0">
                <a:solidFill>
                  <a:srgbClr val="0000FF"/>
                </a:solidFill>
                <a:latin typeface="+mj-ea"/>
                <a:ea typeface="+mj-ea"/>
                <a:cs typeface="Consolas" pitchFamily="49" charset="0"/>
              </a:rPr>
              <a:t>…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}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计算后缀表达式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postexp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的值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};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50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4348" y="357166"/>
            <a:ext cx="2357454" cy="52588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72000" bIns="144000" rtlCol="0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exp 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Wingdings"/>
              </a:rPr>
              <a:t> 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postexp</a:t>
            </a:r>
            <a:endParaRPr lang="zh-CN" altLang="en-US" sz="2000" smtClean="0">
              <a:solidFill>
                <a:srgbClr val="FF0000"/>
              </a:solidFill>
              <a:latin typeface="仿宋" pitchFamily="49" charset="-122"/>
              <a:ea typeface="仿宋" pitchFamily="49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1472" y="1130842"/>
            <a:ext cx="58579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使用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运算符栈</a:t>
            </a:r>
            <a:r>
              <a:rPr lang="en-US" altLang="zh-CN" sz="2000" smtClean="0">
                <a:solidFill>
                  <a:srgbClr val="339933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opor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：先出栈的运算符先做运算！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5786" y="2071678"/>
            <a:ext cx="350046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exp</a:t>
            </a:r>
            <a:r>
              <a:rPr lang="zh-CN" altLang="en-US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 </a:t>
            </a:r>
            <a:r>
              <a:rPr lang="en-US" altLang="zh-CN" sz="1800" smtClean="0">
                <a:solidFill>
                  <a:srgbClr val="0000FF"/>
                </a:solidFill>
                <a:latin typeface="+mj-ea"/>
                <a:ea typeface="+mj-ea"/>
                <a:cs typeface="Consolas" pitchFamily="49" charset="0"/>
              </a:rPr>
              <a:t>…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op</a:t>
            </a:r>
            <a:r>
              <a:rPr lang="en-US" altLang="zh-CN" sz="1800" baseline="-25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</a:t>
            </a:r>
            <a:r>
              <a:rPr lang="en-US" altLang="zh-CN" sz="1800" smtClean="0">
                <a:solidFill>
                  <a:srgbClr val="0000FF"/>
                </a:solidFill>
                <a:latin typeface="+mj-ea"/>
                <a:ea typeface="+mj-ea"/>
                <a:cs typeface="Consolas" pitchFamily="49" charset="0"/>
              </a:rPr>
              <a:t>…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</a:t>
            </a:r>
            <a:r>
              <a:rPr lang="en-US" altLang="zh-CN" sz="1800" smtClean="0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op</a:t>
            </a:r>
            <a:r>
              <a:rPr lang="en-US" altLang="zh-CN" sz="1800" baseline="-25000" smtClean="0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</a:t>
            </a:r>
            <a:r>
              <a:rPr lang="en-US" altLang="zh-CN" sz="1800" smtClean="0">
                <a:solidFill>
                  <a:srgbClr val="0000FF"/>
                </a:solidFill>
                <a:latin typeface="+mj-ea"/>
                <a:ea typeface="+mj-ea"/>
                <a:cs typeface="Consolas" pitchFamily="49" charset="0"/>
              </a:rPr>
              <a:t>…</a:t>
            </a:r>
            <a:endParaRPr lang="zh-CN" altLang="en-US" sz="1800" smtClean="0">
              <a:solidFill>
                <a:srgbClr val="0000FF"/>
              </a:solidFill>
              <a:latin typeface="+mj-ea"/>
              <a:ea typeface="+mj-ea"/>
              <a:cs typeface="Consolas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552686" y="3429000"/>
            <a:ext cx="785818" cy="171451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op</a:t>
            </a:r>
            <a:r>
              <a:rPr lang="en-US" altLang="zh-CN" sz="1800" baseline="-25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</a:p>
          <a:p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┊</a:t>
            </a:r>
            <a:endParaRPr lang="en-US" altLang="zh-CN" sz="1800" smtClean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┊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81248" y="5186375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opor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</a:t>
            </a:r>
            <a:endParaRPr lang="zh-CN" altLang="en-US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 rot="5400000">
            <a:off x="2716993" y="1964521"/>
            <a:ext cx="357190" cy="1588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rot="5400000">
            <a:off x="2315876" y="3151457"/>
            <a:ext cx="1188000" cy="1588"/>
          </a:xfrm>
          <a:prstGeom prst="straightConnector1">
            <a:avLst/>
          </a:prstGeom>
          <a:ln w="19050"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000364" y="2571744"/>
            <a:ext cx="56436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zh-CN" altLang="en-US" sz="20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比较优先级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P(op</a:t>
            </a:r>
            <a:r>
              <a:rPr lang="en-US" altLang="zh-CN" sz="2000" baseline="-25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)&gt;P(op</a:t>
            </a:r>
            <a:r>
              <a:rPr lang="en-US" altLang="zh-CN" sz="2000" baseline="-25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，才能将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op</a:t>
            </a:r>
            <a:r>
              <a:rPr lang="en-US" altLang="zh-CN" sz="2000" baseline="-25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直接进栈，否则出栈直到满足该条件后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op2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再进栈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71670" y="5786454"/>
            <a:ext cx="20717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0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括号的特殊性！</a:t>
            </a: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51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0034" y="1285860"/>
            <a:ext cx="8001056" cy="413802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16000" tIns="144000" bIns="144000" rtlCol="0">
            <a:spAutoFit/>
          </a:bodyPr>
          <a:lstStyle/>
          <a:p>
            <a:pPr algn="l">
              <a:lnSpc>
                <a:spcPct val="100000"/>
              </a:lnSpc>
              <a:spcBef>
                <a:spcPts val="120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while (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若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exp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未读完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ct val="100000"/>
              </a:lnSpc>
              <a:spcBef>
                <a:spcPts val="120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从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exp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读取字符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ch;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ct val="100000"/>
              </a:lnSpc>
              <a:spcBef>
                <a:spcPts val="120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ch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为数字：将后续的所有数字均依次存放到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postexp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中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ct val="100000"/>
              </a:lnSpc>
              <a:spcBef>
                <a:spcPts val="120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ch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为左括号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'('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：将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'('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进栈到</a:t>
            </a:r>
            <a:r>
              <a:rPr lang="en-US" altLang="zh-CN" sz="1800" smtClean="0">
                <a:solidFill>
                  <a:srgbClr val="339933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opor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ct val="100000"/>
              </a:lnSpc>
              <a:spcBef>
                <a:spcPts val="120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ch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为右括号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')'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：将</a:t>
            </a:r>
            <a:r>
              <a:rPr lang="en-US" altLang="zh-CN" sz="1800" smtClean="0">
                <a:solidFill>
                  <a:srgbClr val="339933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opor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栈中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'('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以前的运算符依次出栈并存放到</a:t>
            </a:r>
            <a:endParaRPr lang="en-US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postexp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中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,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再将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'('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退栈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ct val="100000"/>
              </a:lnSpc>
              <a:spcBef>
                <a:spcPts val="120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若</a:t>
            </a:r>
            <a:r>
              <a:rPr lang="en-US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ch</a:t>
            </a:r>
            <a:r>
              <a:rPr lang="zh-CN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的优先级高于栈顶运算符优先级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，则将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ch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进栈；否则</a:t>
            </a:r>
            <a:r>
              <a:rPr lang="zh-CN" altLang="en-US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出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栈并存</a:t>
            </a:r>
            <a:r>
              <a:rPr lang="zh-CN" altLang="en-US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放到</a:t>
            </a:r>
            <a:endParaRPr lang="en-US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postexp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中</a:t>
            </a:r>
            <a:r>
              <a:rPr lang="zh-CN" altLang="en-US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直到该条件成立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,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再将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ch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进</a:t>
            </a:r>
            <a:r>
              <a:rPr lang="en-US" altLang="zh-CN" sz="1800" smtClean="0">
                <a:solidFill>
                  <a:srgbClr val="339933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oper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ct val="100000"/>
              </a:lnSpc>
              <a:spcBef>
                <a:spcPts val="120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</a:pP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字符串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exp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扫描完毕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,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则退栈</a:t>
            </a:r>
            <a:r>
              <a:rPr lang="en-US" altLang="zh-CN" sz="1800" smtClean="0">
                <a:solidFill>
                  <a:srgbClr val="339933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opor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的所有运算符并存放到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postexp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2910" y="642918"/>
            <a:ext cx="1571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0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转换过程</a:t>
            </a: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52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57158" y="71414"/>
            <a:ext cx="6572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表达式“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(56-20)/(4+2)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”转换成后缀表达式的过程</a:t>
            </a:r>
            <a:endParaRPr lang="zh-CN" altLang="en-US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85720" y="571480"/>
          <a:ext cx="8286809" cy="592765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40445"/>
                <a:gridCol w="4674529"/>
                <a:gridCol w="2211577"/>
                <a:gridCol w="860258"/>
              </a:tblGrid>
              <a:tr h="401152">
                <a:tc>
                  <a:txBody>
                    <a:bodyPr/>
                    <a:lstStyle/>
                    <a:p>
                      <a:pPr indent="0" algn="ctr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FF0000"/>
                          </a:solidFill>
                        </a:rPr>
                        <a:t>ch</a:t>
                      </a:r>
                      <a:endParaRPr lang="zh-CN" sz="1800" b="1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solidFill>
                            <a:srgbClr val="FF0000"/>
                          </a:solidFill>
                        </a:rPr>
                        <a:t>操</a:t>
                      </a:r>
                      <a:r>
                        <a:rPr lang="en-US" sz="1800" b="1" kern="100">
                          <a:solidFill>
                            <a:srgbClr val="FF0000"/>
                          </a:solidFill>
                        </a:rPr>
                        <a:t>   </a:t>
                      </a:r>
                      <a:r>
                        <a:rPr lang="zh-CN" sz="1800" b="1" kern="100">
                          <a:solidFill>
                            <a:srgbClr val="FF0000"/>
                          </a:solidFill>
                        </a:rPr>
                        <a:t>作</a:t>
                      </a:r>
                      <a:endParaRPr lang="zh-CN" sz="1800" b="1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FF0000"/>
                          </a:solidFill>
                        </a:rPr>
                        <a:t>postexp</a:t>
                      </a:r>
                      <a:endParaRPr lang="zh-CN" sz="1800" b="1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FF0000"/>
                          </a:solidFill>
                        </a:rPr>
                        <a:t>opor</a:t>
                      </a:r>
                      <a:r>
                        <a:rPr lang="zh-CN" sz="1800" b="1" kern="100">
                          <a:solidFill>
                            <a:srgbClr val="FF0000"/>
                          </a:solidFill>
                        </a:rPr>
                        <a:t>栈</a:t>
                      </a:r>
                      <a:endParaRPr lang="zh-CN" sz="1800" b="1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401152">
                <a:tc>
                  <a:txBody>
                    <a:bodyPr/>
                    <a:lstStyle/>
                    <a:p>
                      <a:pPr indent="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(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将</a:t>
                      </a: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'('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进</a:t>
                      </a: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opor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栈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endParaRPr lang="en-US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(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01152">
                <a:tc>
                  <a:txBody>
                    <a:bodyPr/>
                    <a:lstStyle/>
                    <a:p>
                      <a:pPr indent="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56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将</a:t>
                      </a: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56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存入</a:t>
                      </a: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postexp</a:t>
                      </a:r>
                      <a:r>
                        <a:rPr lang="zh-CN" sz="1800" kern="100" smtClean="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中，并插入一个字符</a:t>
                      </a:r>
                      <a:r>
                        <a:rPr lang="en-US" sz="1800" kern="100" smtClean="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'#'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smtClean="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"56#"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(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01152">
                <a:tc>
                  <a:txBody>
                    <a:bodyPr/>
                    <a:lstStyle/>
                    <a:p>
                      <a:pPr indent="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-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由于</a:t>
                      </a: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opor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中</a:t>
                      </a: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'('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以前没有字符，则直接将</a:t>
                      </a: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'-'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进</a:t>
                      </a: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opor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栈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smtClean="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"56#"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(-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01152">
                <a:tc>
                  <a:txBody>
                    <a:bodyPr/>
                    <a:lstStyle/>
                    <a:p>
                      <a:pPr indent="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20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将</a:t>
                      </a:r>
                      <a:r>
                        <a:rPr lang="en-US" sz="1800" kern="100" smtClean="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20#</a:t>
                      </a:r>
                      <a:r>
                        <a:rPr lang="zh-CN" sz="1800" kern="100" smtClean="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存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入</a:t>
                      </a: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postexp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中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smtClean="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"56#20#"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(-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01152">
                <a:tc>
                  <a:txBody>
                    <a:bodyPr/>
                    <a:lstStyle/>
                    <a:p>
                      <a:pPr indent="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)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将栈</a:t>
                      </a: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opor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中</a:t>
                      </a: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'('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以前的运算符依次出栈并存入</a:t>
                      </a: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postexp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，然后将</a:t>
                      </a: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'('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出栈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smtClean="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"56#20#-"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endParaRPr lang="en-US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01152">
                <a:tc>
                  <a:txBody>
                    <a:bodyPr/>
                    <a:lstStyle/>
                    <a:p>
                      <a:pPr indent="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/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将</a:t>
                      </a: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'/'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进</a:t>
                      </a: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opor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栈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smtClean="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"56#20#-"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/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01152">
                <a:tc>
                  <a:txBody>
                    <a:bodyPr/>
                    <a:lstStyle/>
                    <a:p>
                      <a:pPr indent="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(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将</a:t>
                      </a: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'('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进</a:t>
                      </a: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opor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栈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kern="100" smtClean="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"56#20#-"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/(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01152">
                <a:tc>
                  <a:txBody>
                    <a:bodyPr/>
                    <a:lstStyle/>
                    <a:p>
                      <a:pPr indent="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4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将</a:t>
                      </a:r>
                      <a:r>
                        <a:rPr lang="en-US" sz="1800" kern="100" smtClean="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4#</a:t>
                      </a:r>
                      <a:r>
                        <a:rPr lang="zh-CN" sz="1800" kern="100" smtClean="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存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入</a:t>
                      </a: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postexp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kern="100" smtClean="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"56#20#-4#"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/(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01152">
                <a:tc>
                  <a:txBody>
                    <a:bodyPr/>
                    <a:lstStyle/>
                    <a:p>
                      <a:pPr indent="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+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由于</a:t>
                      </a: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opor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中</a:t>
                      </a: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'('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以前没有运算符，则直接将</a:t>
                      </a: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'+'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进</a:t>
                      </a: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opor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栈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kern="100" smtClean="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"56#20#-4#"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/(+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01152">
                <a:tc>
                  <a:txBody>
                    <a:bodyPr/>
                    <a:lstStyle/>
                    <a:p>
                      <a:pPr indent="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2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将</a:t>
                      </a:r>
                      <a:r>
                        <a:rPr lang="en-US" sz="1800" kern="100" smtClean="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2#</a:t>
                      </a:r>
                      <a:r>
                        <a:rPr lang="zh-CN" sz="1800" kern="100" smtClean="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存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入</a:t>
                      </a: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postexp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kern="100" smtClean="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"56#20#-4#2#"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/(+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01152">
                <a:tc>
                  <a:txBody>
                    <a:bodyPr/>
                    <a:lstStyle/>
                    <a:p>
                      <a:pPr indent="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)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将</a:t>
                      </a: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opor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栈中</a:t>
                      </a: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'('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以前的运算符依次出栈并存入</a:t>
                      </a: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postexp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，然后将</a:t>
                      </a: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'('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出栈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kern="100" smtClean="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"56#20#-4#2#+"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/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01152">
                <a:tc>
                  <a:txBody>
                    <a:bodyPr/>
                    <a:lstStyle/>
                    <a:p>
                      <a:pPr indent="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endParaRPr lang="en-US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smtClean="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exp</a:t>
                      </a:r>
                      <a:r>
                        <a:rPr lang="zh-CN" sz="1800" kern="100" smtClean="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扫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描完毕，将</a:t>
                      </a: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opor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栈中所有运算</a:t>
                      </a:r>
                      <a:r>
                        <a:rPr lang="zh-CN" sz="1800" kern="100" smtClean="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符出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栈并存入</a:t>
                      </a: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postexp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，得到最后的后缀表达式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kern="100" smtClean="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"56#20#-4#2#+/"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endParaRPr lang="en-US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53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14282" y="475803"/>
            <a:ext cx="8715436" cy="49989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16000" tIns="108000" bIns="108000" rtlCol="0">
            <a:sp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void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Trans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()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将算术表达式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exp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转换成后缀表达式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postexp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stack&lt;char&gt; opor;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定义</a:t>
            </a:r>
            <a:r>
              <a:rPr lang="zh-CN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运算符栈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opor</a:t>
            </a:r>
            <a:endParaRPr lang="zh-CN" altLang="zh-CN" sz="1800" smtClean="0">
              <a:solidFill>
                <a:srgbClr val="FF00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int i=0;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//i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为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exp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的下标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char ch,e;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while (i&lt;exp.length())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//exp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表达式未扫描完时循环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ch=exp[i];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if (</a:t>
            </a:r>
            <a:r>
              <a:rPr lang="en-US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ch=='('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遇到左括号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opor.push(ch);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将左括号直接进栈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else if (</a:t>
            </a:r>
            <a:r>
              <a:rPr lang="en-US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ch==')'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遇到右括号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{  while (!opor.empty() &amp;&amp; opor.top()!='(')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{  e=opor.top();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将栈中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'('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之前的运算符退栈并存入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postexp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   opor.pop();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   postexp+=e;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opor.pop();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退栈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54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14282" y="285728"/>
            <a:ext cx="8715404" cy="51476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16000" tIns="108000" bIns="108000" rtlCol="0">
            <a:sp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else if (</a:t>
            </a:r>
            <a:r>
              <a:rPr lang="en-US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ch=='+' || ch=='-'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遇到加或减号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while (!opor.empty() &amp;&amp; opor.top()!='(')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{  e=opor.top();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将栈中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之前的所有运算符退栈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opor.pop();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并存入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postexp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postexp+=e;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opor.push(ch);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再将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'+'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或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'-'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进栈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else if (</a:t>
            </a:r>
            <a:r>
              <a:rPr lang="en-US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ch=='*' || ch=='/'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遇到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'*'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或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'/'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号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while (!opor.empty() &amp;&amp; opor.top()!='(' &amp;&amp; 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(opor.top()=='*' || opor.top()=='/'))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{  e=opor.top();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将栈中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之前的所有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*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或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依次出栈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opor.pop();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并存入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postexp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postexp+=e;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opor.push(ch);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再将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'*'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或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'/'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进栈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55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14282" y="545093"/>
            <a:ext cx="8643998" cy="45269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16000" tIns="108000" bIns="108000" rtlCol="0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else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遇到数字字符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{  string d="";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while (</a:t>
            </a:r>
            <a:r>
              <a:rPr lang="en-US" altLang="zh-CN" sz="1800" smtClean="0">
                <a:solidFill>
                  <a:srgbClr val="FF3399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ch&gt;='0' &amp;&amp; ch&lt;='9'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   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遇到数字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{  d+=ch;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提取所有连续的数字字符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 i++;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 if (i&lt;exp.length())	   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//exp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没有遍历完时取下一个字符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ch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    ch=exp[i];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 else			   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//exp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遍历完毕时退出数字判断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    break;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i--;			   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退一个字符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postexp+=d;		   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将数字串存入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postexp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postexp+="</a:t>
            </a:r>
            <a:r>
              <a:rPr lang="en-US" altLang="zh-CN" sz="1800" smtClean="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#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";		   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用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#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标识一个数字串结束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i++;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继续处理其他字符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56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57158" y="1214422"/>
            <a:ext cx="8501122" cy="20647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16000" tIns="108000" bIns="108000" rtlCol="0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while (!opor.empty())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此时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exp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扫描完毕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,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栈不空时循环</a:t>
            </a:r>
          </a:p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{  e=opor.top();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opor.pop();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将栈中所有运算符退栈并放入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postexp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postexp+=e;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57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71472" y="500042"/>
            <a:ext cx="3500462" cy="52588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tIns="72000" bIns="144000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后缀表达式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postexp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求值</a:t>
            </a:r>
            <a:endParaRPr lang="zh-CN" altLang="en-US" sz="2000" smtClean="0">
              <a:solidFill>
                <a:srgbClr val="FF0000"/>
              </a:solidFill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2910" y="1214422"/>
            <a:ext cx="25717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使用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运算数栈</a:t>
            </a:r>
            <a:r>
              <a:rPr lang="en-US" altLang="zh-CN" sz="2000" smtClean="0">
                <a:solidFill>
                  <a:srgbClr val="339933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opand</a:t>
            </a:r>
            <a:endParaRPr lang="zh-CN" altLang="en-US" sz="2000" smtClean="0">
              <a:solidFill>
                <a:srgbClr val="339933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1472" y="1714488"/>
            <a:ext cx="8001056" cy="4087493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16000" tIns="144000" bIns="144000" rtlCol="0">
            <a:spAutoFit/>
          </a:bodyPr>
          <a:lstStyle/>
          <a:p>
            <a:pPr algn="l">
              <a:lnSpc>
                <a:spcPts val="2500"/>
              </a:lnSpc>
              <a:spcBef>
                <a:spcPts val="60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while (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若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postexp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未读完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60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从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postexp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读取字符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ch;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60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ch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为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'+'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：从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opand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栈出栈两个数值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和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b,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计算</a:t>
            </a:r>
            <a:r>
              <a:rPr lang="en-US" altLang="zh-CN" sz="1800" smtClean="0">
                <a:solidFill>
                  <a:srgbClr val="339933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c=b+a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进栈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opand;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60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ch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为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'-'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：从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opand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栈出栈两个数值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和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b,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计算</a:t>
            </a:r>
            <a:r>
              <a:rPr lang="en-US" altLang="zh-CN" sz="1800" smtClean="0">
                <a:solidFill>
                  <a:srgbClr val="339933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c=b-a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进栈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opand;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60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ch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为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'*'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：从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opand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栈出栈两个数值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和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b,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计算</a:t>
            </a:r>
            <a:r>
              <a:rPr lang="en-US" altLang="zh-CN" sz="1800" smtClean="0">
                <a:solidFill>
                  <a:srgbClr val="339933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c=b*a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进栈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opand;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60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ch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为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'/'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：从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opand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栈出栈两个数值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和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b,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若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不零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,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计算</a:t>
            </a:r>
            <a:r>
              <a:rPr lang="en-US" altLang="zh-CN" sz="1800" smtClean="0">
                <a:solidFill>
                  <a:srgbClr val="339933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c=b/a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进栈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opand;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60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ch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为数字字符：将连续的数字串转换成数值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d,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进栈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opand;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60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60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opand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栈中唯一的数值即为表达式值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58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85786" y="559338"/>
            <a:ext cx="5786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后缀表达式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"56#20#-4#2#+/"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的求值过程</a:t>
            </a:r>
            <a:endParaRPr lang="zh-CN" altLang="en-US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714348" y="1214424"/>
          <a:ext cx="7500989" cy="3972711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214446"/>
                <a:gridCol w="4929222"/>
                <a:gridCol w="1357321"/>
              </a:tblGrid>
              <a:tr h="428628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ch</a:t>
                      </a:r>
                      <a:r>
                        <a:rPr lang="zh-CN" sz="18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序列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说明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st</a:t>
                      </a:r>
                      <a:r>
                        <a:rPr lang="zh-CN" sz="18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栈</a:t>
                      </a:r>
                    </a:p>
                  </a:txBody>
                  <a:tcPr marL="68580" marR="68580" marT="0" marB="0" anchor="ctr"/>
                </a:tc>
              </a:tr>
              <a:tr h="428628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smtClean="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56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遇到</a:t>
                      </a:r>
                      <a:r>
                        <a:rPr lang="en-US" sz="1800" kern="100" smtClean="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56</a:t>
                      </a:r>
                      <a:r>
                        <a:rPr lang="zh-CN" sz="1800" kern="100" smtClean="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，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将</a:t>
                      </a: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56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进栈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56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28628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smtClean="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20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遇到</a:t>
                      </a:r>
                      <a:r>
                        <a:rPr lang="en-US" sz="1800" kern="100" smtClean="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20</a:t>
                      </a:r>
                      <a:r>
                        <a:rPr lang="zh-CN" sz="1800" kern="100" smtClean="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，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将</a:t>
                      </a: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20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进栈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56,20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28628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smtClean="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'-'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遇</a:t>
                      </a:r>
                      <a:r>
                        <a:rPr lang="zh-CN" sz="1800" kern="100" smtClean="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到</a:t>
                      </a:r>
                      <a:r>
                        <a:rPr lang="en-US" altLang="zh-CN" sz="1800" kern="100" smtClean="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'</a:t>
                      </a:r>
                      <a:r>
                        <a:rPr lang="en-US" sz="1800" kern="100" smtClean="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-'</a:t>
                      </a:r>
                      <a:r>
                        <a:rPr lang="zh-CN" sz="1800" kern="100" smtClean="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，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出栈两次，将</a:t>
                      </a: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56-20=36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进栈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36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28628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smtClean="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4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遇到</a:t>
                      </a:r>
                      <a:r>
                        <a:rPr lang="en-US" sz="1800" kern="100" smtClean="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4</a:t>
                      </a:r>
                      <a:r>
                        <a:rPr lang="zh-CN" sz="1800" kern="100" smtClean="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，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将</a:t>
                      </a: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4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进栈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36,4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28628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smtClean="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2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遇到</a:t>
                      </a:r>
                      <a:r>
                        <a:rPr lang="en-US" sz="1800" kern="100" smtClean="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2</a:t>
                      </a:r>
                      <a:r>
                        <a:rPr lang="zh-CN" sz="1800" kern="100" smtClean="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，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将</a:t>
                      </a: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2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进栈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36,4,2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28628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smtClean="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'+'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遇</a:t>
                      </a:r>
                      <a:r>
                        <a:rPr lang="zh-CN" sz="1800" kern="100" smtClean="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到</a:t>
                      </a:r>
                      <a:r>
                        <a:rPr lang="en-US" altLang="zh-CN" sz="1800" kern="100" smtClean="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'</a:t>
                      </a:r>
                      <a:r>
                        <a:rPr lang="en-US" sz="1800" kern="100" smtClean="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+'</a:t>
                      </a:r>
                      <a:r>
                        <a:rPr lang="zh-CN" sz="1800" kern="100" smtClean="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，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出栈两次，将</a:t>
                      </a: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4+2=6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进栈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36,6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28628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smtClean="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'/'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遇</a:t>
                      </a:r>
                      <a:r>
                        <a:rPr lang="zh-CN" sz="1800" kern="100" smtClean="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到</a:t>
                      </a:r>
                      <a:r>
                        <a:rPr lang="en-US" altLang="zh-CN" sz="1800" kern="100" smtClean="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'</a:t>
                      </a:r>
                      <a:r>
                        <a:rPr lang="en-US" sz="1800" kern="100" smtClean="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/'</a:t>
                      </a:r>
                      <a:r>
                        <a:rPr lang="zh-CN" sz="1800" kern="100" smtClean="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，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出栈两次，将</a:t>
                      </a: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36/6=6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进栈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6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28628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endParaRPr lang="en-US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postexp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扫描完毕，算法结束，栈顶数值</a:t>
                      </a: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6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即为所求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endParaRPr lang="en-US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59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85720" y="572401"/>
            <a:ext cx="8501122" cy="44322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16000" tIns="108000" bIns="108000" rtlCol="0">
            <a:sp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double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GetValue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()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计算后缀表达式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postexp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的值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stack&lt;double&gt; opand;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定义</a:t>
            </a:r>
            <a:r>
              <a:rPr lang="zh-CN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运算数栈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opand</a:t>
            </a:r>
            <a:endParaRPr lang="zh-CN" altLang="zh-CN" sz="1800" smtClean="0">
              <a:solidFill>
                <a:srgbClr val="FF00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double a,b,c,d;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char ch;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int i=0;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while (i&lt;postexp.length())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//postexp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字符串未扫描完时循环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ch=postexp[i];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switch (ch)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{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case '+':	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遇到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+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a=opand.top(); opand.pop();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退栈运算数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b=opand.top(); opand.pop();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退栈运算数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 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c=b+a;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计算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opand.push(c);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将计算结果进栈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break;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60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71472" y="214290"/>
            <a:ext cx="7786742" cy="56349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16000" tIns="108000" bIns="108000" rtlCol="0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case '-':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遇到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a=opand.top(); opand.pop();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退栈运算数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b=opand.top(); opand.pop();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退栈运算数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 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c=b-a;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计算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opand.push(c);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将计算结果进栈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break;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ct val="2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case '*':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遇到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*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a=opand.top(); opand.pop();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退栈运算数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b=opand.top(); opand.pop();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退栈运算数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 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c=b*a;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计算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opand.push(c);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将计算结果进栈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break;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ct val="2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case '/':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遇到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a=opand.top(); opand.pop();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退栈运算数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b=opand.top(); opand.pop();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退栈运算数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 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c=b/a;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计算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opand.push(c);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将计算结果进栈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break;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61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0034" y="571480"/>
            <a:ext cx="8143932" cy="41679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16000" tIns="108000" bIns="108000" rtlCol="0">
            <a:sp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default: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遇到数字字符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d=0;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将连续的数字符转换成数值存放到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中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while (</a:t>
            </a:r>
            <a:r>
              <a:rPr lang="en-US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ch&gt;='0' &amp;&amp; ch&lt;='9'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{  d=10*d+(ch-'0');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  i++;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  ch=postexp[i];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opand.push(d);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将数值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进栈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break;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i++;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继续处理其他字符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return opand.top();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栈顶元素即为求值结果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62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 flipH="1">
            <a:off x="571472" y="1571612"/>
            <a:ext cx="3571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1800" smtClean="0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主</a:t>
            </a:r>
            <a:endParaRPr lang="en-US" altLang="zh-CN" sz="1800" smtClean="0">
              <a:solidFill>
                <a:srgbClr val="FF0000"/>
              </a:solidFill>
              <a:latin typeface="Consolas" pitchFamily="49" charset="0"/>
              <a:ea typeface="微软雅黑" pitchFamily="34" charset="-122"/>
              <a:cs typeface="Consolas" pitchFamily="49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1800" smtClean="0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程</a:t>
            </a:r>
            <a:endParaRPr lang="en-US" altLang="zh-CN" sz="1800" smtClean="0">
              <a:solidFill>
                <a:srgbClr val="FF0000"/>
              </a:solidFill>
              <a:latin typeface="Consolas" pitchFamily="49" charset="0"/>
              <a:ea typeface="微软雅黑" pitchFamily="34" charset="-122"/>
              <a:cs typeface="Consolas" pitchFamily="49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1800" smtClean="0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序</a:t>
            </a:r>
            <a:endParaRPr lang="en-US" altLang="zh-CN" sz="1800" smtClean="0">
              <a:solidFill>
                <a:srgbClr val="FF0000"/>
              </a:solidFill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1538" y="500042"/>
            <a:ext cx="7286676" cy="3238607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44000" bIns="144000" rtlCol="0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main()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string str="(56-20)/(4+2)";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Express obj(str);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cout &lt;&lt; "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中缀表达式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: " &lt;&lt; str &lt;&lt; endl;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cout &lt;&lt; "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中缀转换为后缀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" &lt;&lt; endl;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obj.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Trans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cout &lt;&lt; "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后缀表达式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: " &lt;&lt; obj.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getpostex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p() &lt;&lt; endl;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cout &lt;&lt; "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求后缀表达式值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" &lt;&lt; endl;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cout &lt;&lt; "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求值结果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:   " &lt;&lt; obj.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GetValue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() &lt;&lt; endl;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return 0;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8" name="下箭头 7"/>
          <p:cNvSpPr/>
          <p:nvPr/>
        </p:nvSpPr>
        <p:spPr bwMode="auto">
          <a:xfrm>
            <a:off x="3571868" y="3857628"/>
            <a:ext cx="214314" cy="357190"/>
          </a:xfrm>
          <a:prstGeom prst="downArrow">
            <a:avLst/>
          </a:prstGeom>
          <a:ln>
            <a:headEnd/>
            <a:tailEnd type="arrow" w="sm" len="sm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30721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14546" y="4286256"/>
            <a:ext cx="3374679" cy="17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5"/>
          <p:cNvSpPr txBox="1"/>
          <p:nvPr/>
        </p:nvSpPr>
        <p:spPr>
          <a:xfrm>
            <a:off x="214282" y="496653"/>
            <a:ext cx="714380" cy="646331"/>
          </a:xfrm>
          <a:prstGeom prst="rect">
            <a:avLst/>
          </a:prstGeom>
          <a:blipFill>
            <a:blip r:embed="rId3" cstate="print"/>
            <a:tile tx="0" ty="0" sx="100000" sy="100000" flip="none" algn="tl"/>
          </a:blip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800" b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程序验证</a:t>
            </a: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63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42910" y="845090"/>
            <a:ext cx="7143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000" smtClean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求表达式值的两个步骤可以合并起来，不必产生后缀表达式：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5786" y="1500174"/>
            <a:ext cx="6786610" cy="1372271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44000" tIns="108000" bIns="108000" rtlCol="0">
            <a:spAutoFit/>
          </a:bodyPr>
          <a:lstStyle/>
          <a:p>
            <a:pPr marL="342900" indent="-342900" algn="l">
              <a:lnSpc>
                <a:spcPts val="28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将所有遇到的运算数进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opand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栈。</a:t>
            </a:r>
            <a:endParaRPr lang="en-US" altLang="zh-CN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342900" indent="-342900" algn="l">
              <a:lnSpc>
                <a:spcPts val="28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在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opor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出栈一个运算符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op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时，从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opand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中依次出栈两个运算数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、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，执行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 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 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op 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运算，将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进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opand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栈。</a:t>
            </a: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64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5" name="Rectangle 5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72" name="组合 71"/>
          <p:cNvGrpSpPr/>
          <p:nvPr/>
        </p:nvGrpSpPr>
        <p:grpSpPr>
          <a:xfrm>
            <a:off x="1285852" y="2071678"/>
            <a:ext cx="3557166" cy="1571636"/>
            <a:chOff x="1285852" y="2071678"/>
            <a:chExt cx="3557166" cy="1571636"/>
          </a:xfrm>
        </p:grpSpPr>
        <p:sp>
          <p:nvSpPr>
            <p:cNvPr id="20533" name="Rectangle 53"/>
            <p:cNvSpPr>
              <a:spLocks noChangeArrowheads="1"/>
            </p:cNvSpPr>
            <p:nvPr/>
          </p:nvSpPr>
          <p:spPr bwMode="auto">
            <a:xfrm>
              <a:off x="2494157" y="3312745"/>
              <a:ext cx="298126" cy="2971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0531" name="Rectangle 51"/>
            <p:cNvSpPr>
              <a:spLocks noChangeArrowheads="1"/>
            </p:cNvSpPr>
            <p:nvPr/>
          </p:nvSpPr>
          <p:spPr bwMode="auto">
            <a:xfrm>
              <a:off x="3069339" y="3312745"/>
              <a:ext cx="298126" cy="2971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0530" name="Rectangle 50"/>
            <p:cNvSpPr>
              <a:spLocks noChangeArrowheads="1"/>
            </p:cNvSpPr>
            <p:nvPr/>
          </p:nvSpPr>
          <p:spPr bwMode="auto">
            <a:xfrm>
              <a:off x="2781748" y="3312745"/>
              <a:ext cx="298126" cy="2971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0529" name="Rectangle 49"/>
            <p:cNvSpPr>
              <a:spLocks noChangeArrowheads="1"/>
            </p:cNvSpPr>
            <p:nvPr/>
          </p:nvSpPr>
          <p:spPr bwMode="auto">
            <a:xfrm>
              <a:off x="3350610" y="3312745"/>
              <a:ext cx="298126" cy="2971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0528" name="Rectangle 48"/>
            <p:cNvSpPr>
              <a:spLocks noChangeArrowheads="1"/>
            </p:cNvSpPr>
            <p:nvPr/>
          </p:nvSpPr>
          <p:spPr bwMode="auto">
            <a:xfrm>
              <a:off x="2494157" y="3006131"/>
              <a:ext cx="298126" cy="29818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0526" name="Rectangle 46"/>
            <p:cNvSpPr>
              <a:spLocks noChangeArrowheads="1"/>
            </p:cNvSpPr>
            <p:nvPr/>
          </p:nvSpPr>
          <p:spPr bwMode="auto">
            <a:xfrm>
              <a:off x="3069339" y="3006131"/>
              <a:ext cx="298126" cy="29818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0525" name="Rectangle 45"/>
            <p:cNvSpPr>
              <a:spLocks noChangeArrowheads="1"/>
            </p:cNvSpPr>
            <p:nvPr/>
          </p:nvSpPr>
          <p:spPr bwMode="auto">
            <a:xfrm>
              <a:off x="2781748" y="3006131"/>
              <a:ext cx="298126" cy="29818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0524" name="Rectangle 44"/>
            <p:cNvSpPr>
              <a:spLocks noChangeArrowheads="1"/>
            </p:cNvSpPr>
            <p:nvPr/>
          </p:nvSpPr>
          <p:spPr bwMode="auto">
            <a:xfrm>
              <a:off x="3350610" y="3006131"/>
              <a:ext cx="298126" cy="29818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0523" name="Rectangle 43"/>
            <p:cNvSpPr>
              <a:spLocks noChangeArrowheads="1"/>
            </p:cNvSpPr>
            <p:nvPr/>
          </p:nvSpPr>
          <p:spPr bwMode="auto">
            <a:xfrm>
              <a:off x="2494157" y="2693195"/>
              <a:ext cx="298126" cy="2971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0521" name="Rectangle 41"/>
            <p:cNvSpPr>
              <a:spLocks noChangeArrowheads="1"/>
            </p:cNvSpPr>
            <p:nvPr/>
          </p:nvSpPr>
          <p:spPr bwMode="auto">
            <a:xfrm>
              <a:off x="3069339" y="2693195"/>
              <a:ext cx="298126" cy="29713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0520" name="Rectangle 40"/>
            <p:cNvSpPr>
              <a:spLocks noChangeArrowheads="1"/>
            </p:cNvSpPr>
            <p:nvPr/>
          </p:nvSpPr>
          <p:spPr bwMode="auto">
            <a:xfrm>
              <a:off x="2781748" y="2693195"/>
              <a:ext cx="298126" cy="2971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0519" name="Rectangle 39"/>
            <p:cNvSpPr>
              <a:spLocks noChangeArrowheads="1"/>
            </p:cNvSpPr>
            <p:nvPr/>
          </p:nvSpPr>
          <p:spPr bwMode="auto">
            <a:xfrm>
              <a:off x="3350610" y="2693195"/>
              <a:ext cx="298126" cy="29713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0518" name="Rectangle 38"/>
            <p:cNvSpPr>
              <a:spLocks noChangeArrowheads="1"/>
            </p:cNvSpPr>
            <p:nvPr/>
          </p:nvSpPr>
          <p:spPr bwMode="auto">
            <a:xfrm>
              <a:off x="2494157" y="2386580"/>
              <a:ext cx="298126" cy="29818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0516" name="Rectangle 36"/>
            <p:cNvSpPr>
              <a:spLocks noChangeArrowheads="1"/>
            </p:cNvSpPr>
            <p:nvPr/>
          </p:nvSpPr>
          <p:spPr bwMode="auto">
            <a:xfrm>
              <a:off x="3069339" y="2386580"/>
              <a:ext cx="298126" cy="29818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0515" name="Rectangle 35"/>
            <p:cNvSpPr>
              <a:spLocks noChangeArrowheads="1"/>
            </p:cNvSpPr>
            <p:nvPr/>
          </p:nvSpPr>
          <p:spPr bwMode="auto">
            <a:xfrm>
              <a:off x="2781748" y="2386580"/>
              <a:ext cx="298126" cy="29818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0514" name="Rectangle 34"/>
            <p:cNvSpPr>
              <a:spLocks noChangeArrowheads="1"/>
            </p:cNvSpPr>
            <p:nvPr/>
          </p:nvSpPr>
          <p:spPr bwMode="auto">
            <a:xfrm>
              <a:off x="3350610" y="2386580"/>
              <a:ext cx="298126" cy="29818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0508" name="Rectangle 28"/>
            <p:cNvSpPr>
              <a:spLocks noChangeArrowheads="1"/>
            </p:cNvSpPr>
            <p:nvPr/>
          </p:nvSpPr>
          <p:spPr bwMode="auto">
            <a:xfrm>
              <a:off x="2769998" y="2071678"/>
              <a:ext cx="298126" cy="29713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宋体" pitchFamily="2" charset="-122"/>
                  <a:cs typeface="Consolas" pitchFamily="49" charset="0"/>
                </a:rPr>
                <a:t>1</a:t>
              </a:r>
            </a:p>
          </p:txBody>
        </p:sp>
        <p:sp>
          <p:nvSpPr>
            <p:cNvPr id="20507" name="Rectangle 27"/>
            <p:cNvSpPr>
              <a:spLocks noChangeArrowheads="1"/>
            </p:cNvSpPr>
            <p:nvPr/>
          </p:nvSpPr>
          <p:spPr bwMode="auto">
            <a:xfrm>
              <a:off x="2485567" y="2071678"/>
              <a:ext cx="298126" cy="29713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宋体" pitchFamily="2" charset="-122"/>
                  <a:cs typeface="Consolas" pitchFamily="49" charset="0"/>
                </a:rPr>
                <a:t>0</a:t>
              </a:r>
            </a:p>
          </p:txBody>
        </p:sp>
        <p:sp>
          <p:nvSpPr>
            <p:cNvPr id="20506" name="Rectangle 26"/>
            <p:cNvSpPr>
              <a:spLocks noChangeArrowheads="1"/>
            </p:cNvSpPr>
            <p:nvPr/>
          </p:nvSpPr>
          <p:spPr bwMode="auto">
            <a:xfrm>
              <a:off x="3345180" y="2071678"/>
              <a:ext cx="298126" cy="29713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宋体" pitchFamily="2" charset="-122"/>
                  <a:cs typeface="Consolas" pitchFamily="49" charset="0"/>
                </a:rPr>
                <a:t>3</a:t>
              </a:r>
            </a:p>
          </p:txBody>
        </p:sp>
        <p:sp>
          <p:nvSpPr>
            <p:cNvPr id="20505" name="Rectangle 25"/>
            <p:cNvSpPr>
              <a:spLocks noChangeArrowheads="1"/>
            </p:cNvSpPr>
            <p:nvPr/>
          </p:nvSpPr>
          <p:spPr bwMode="auto">
            <a:xfrm>
              <a:off x="3057589" y="2071678"/>
              <a:ext cx="298126" cy="29713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宋体" pitchFamily="2" charset="-122"/>
                  <a:cs typeface="Consolas" pitchFamily="49" charset="0"/>
                </a:rPr>
                <a:t>2</a:t>
              </a:r>
            </a:p>
          </p:txBody>
        </p:sp>
        <p:sp>
          <p:nvSpPr>
            <p:cNvPr id="20502" name="Rectangle 22"/>
            <p:cNvSpPr>
              <a:spLocks noChangeArrowheads="1"/>
            </p:cNvSpPr>
            <p:nvPr/>
          </p:nvSpPr>
          <p:spPr bwMode="auto">
            <a:xfrm>
              <a:off x="2143108" y="3345129"/>
              <a:ext cx="298126" cy="298185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宋体" pitchFamily="2" charset="-122"/>
                  <a:cs typeface="Consolas" pitchFamily="49" charset="0"/>
                </a:rPr>
                <a:t>3</a:t>
              </a:r>
            </a:p>
          </p:txBody>
        </p:sp>
        <p:sp>
          <p:nvSpPr>
            <p:cNvPr id="20501" name="Rectangle 21"/>
            <p:cNvSpPr>
              <a:spLocks noChangeArrowheads="1"/>
            </p:cNvSpPr>
            <p:nvPr/>
          </p:nvSpPr>
          <p:spPr bwMode="auto">
            <a:xfrm>
              <a:off x="2143108" y="3032193"/>
              <a:ext cx="298126" cy="298185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宋体" pitchFamily="2" charset="-122"/>
                  <a:cs typeface="Consolas" pitchFamily="49" charset="0"/>
                </a:rPr>
                <a:t>2</a:t>
              </a:r>
            </a:p>
          </p:txBody>
        </p:sp>
        <p:sp>
          <p:nvSpPr>
            <p:cNvPr id="20500" name="Rectangle 20"/>
            <p:cNvSpPr>
              <a:spLocks noChangeArrowheads="1"/>
            </p:cNvSpPr>
            <p:nvPr/>
          </p:nvSpPr>
          <p:spPr bwMode="auto">
            <a:xfrm>
              <a:off x="2143108" y="2741719"/>
              <a:ext cx="298126" cy="298185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宋体" pitchFamily="2" charset="-122"/>
                  <a:cs typeface="Consolas" pitchFamily="49" charset="0"/>
                </a:rPr>
                <a:t>1</a:t>
              </a:r>
            </a:p>
          </p:txBody>
        </p:sp>
        <p:sp>
          <p:nvSpPr>
            <p:cNvPr id="20499" name="Rectangle 19"/>
            <p:cNvSpPr>
              <a:spLocks noChangeArrowheads="1"/>
            </p:cNvSpPr>
            <p:nvPr/>
          </p:nvSpPr>
          <p:spPr bwMode="auto">
            <a:xfrm>
              <a:off x="2143108" y="2500306"/>
              <a:ext cx="298126" cy="299239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宋体" pitchFamily="2" charset="-122"/>
                  <a:cs typeface="Consolas" pitchFamily="49" charset="0"/>
                </a:rPr>
                <a:t>0</a:t>
              </a:r>
            </a:p>
          </p:txBody>
        </p:sp>
        <p:sp>
          <p:nvSpPr>
            <p:cNvPr id="20498" name="Rectangle 18"/>
            <p:cNvSpPr>
              <a:spLocks noChangeArrowheads="1"/>
            </p:cNvSpPr>
            <p:nvPr/>
          </p:nvSpPr>
          <p:spPr bwMode="auto">
            <a:xfrm>
              <a:off x="4291011" y="3320205"/>
              <a:ext cx="552007" cy="298185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仿宋" pitchFamily="49" charset="-122"/>
                  <a:ea typeface="仿宋" pitchFamily="49" charset="-122"/>
                  <a:cs typeface="Times New Roman" pitchFamily="18" charset="0"/>
                </a:rPr>
                <a:t>出口</a:t>
              </a:r>
              <a:endParaRPr kumimoji="0" lang="zh-CN" sz="160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仿宋" pitchFamily="49" charset="-122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20484" name="Rectangle 4"/>
            <p:cNvSpPr>
              <a:spLocks noChangeArrowheads="1"/>
            </p:cNvSpPr>
            <p:nvPr/>
          </p:nvSpPr>
          <p:spPr bwMode="auto">
            <a:xfrm>
              <a:off x="1285852" y="2336005"/>
              <a:ext cx="553060" cy="29713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仿宋" pitchFamily="49" charset="-122"/>
                  <a:ea typeface="仿宋" pitchFamily="49" charset="-122"/>
                  <a:cs typeface="Times New Roman" pitchFamily="18" charset="0"/>
                </a:rPr>
                <a:t>入口</a:t>
              </a:r>
              <a:endParaRPr kumimoji="0" lang="zh-CN" sz="160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仿宋" pitchFamily="49" charset="-122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20483" name="AutoShape 3"/>
            <p:cNvSpPr>
              <a:spLocks noChangeShapeType="1"/>
            </p:cNvSpPr>
            <p:nvPr/>
          </p:nvSpPr>
          <p:spPr bwMode="auto">
            <a:xfrm flipV="1">
              <a:off x="1800988" y="2474034"/>
              <a:ext cx="895431" cy="1054"/>
            </a:xfrm>
            <a:prstGeom prst="straightConnector1">
              <a:avLst/>
            </a:prstGeom>
            <a:ln w="19050"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482" name="AutoShape 2"/>
            <p:cNvSpPr>
              <a:spLocks noChangeShapeType="1"/>
            </p:cNvSpPr>
            <p:nvPr/>
          </p:nvSpPr>
          <p:spPr bwMode="auto">
            <a:xfrm flipH="1">
              <a:off x="3462255" y="3466579"/>
              <a:ext cx="895431" cy="1054"/>
            </a:xfrm>
            <a:prstGeom prst="straightConnector1">
              <a:avLst/>
            </a:prstGeom>
            <a:ln w="19050"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63" name="TextBox 62"/>
          <p:cNvSpPr txBox="1"/>
          <p:nvPr/>
        </p:nvSpPr>
        <p:spPr>
          <a:xfrm>
            <a:off x="2357422" y="4100460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1800" smtClean="0">
                <a:solidFill>
                  <a:srgbClr val="0000FF"/>
                </a:solidFill>
                <a:latin typeface="仿宋" pitchFamily="49" charset="-122"/>
                <a:ea typeface="仿宋" pitchFamily="49" charset="-122"/>
              </a:rPr>
              <a:t>一个迷宫图</a:t>
            </a:r>
          </a:p>
        </p:txBody>
      </p:sp>
      <p:sp>
        <p:nvSpPr>
          <p:cNvPr id="64" name="下箭头 63"/>
          <p:cNvSpPr/>
          <p:nvPr/>
        </p:nvSpPr>
        <p:spPr bwMode="auto">
          <a:xfrm>
            <a:off x="3000364" y="4671964"/>
            <a:ext cx="214314" cy="357190"/>
          </a:xfrm>
          <a:prstGeom prst="downArrow">
            <a:avLst/>
          </a:prstGeom>
          <a:ln>
            <a:headEnd/>
            <a:tailEnd type="arrow" w="sm" len="sm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285852" y="5172030"/>
            <a:ext cx="3857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华文中宋" pitchFamily="2" charset="-122"/>
                <a:cs typeface="Consolas" pitchFamily="49" charset="0"/>
              </a:rPr>
              <a:t>求从入口到出口的一条简单路径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57818" y="1571612"/>
            <a:ext cx="2786082" cy="246231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rIns="180000" bIns="108000" rtlCol="0">
            <a:sp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mg[MAX][MAX]=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{{0,1,0,0},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{0,0,1,1},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{0,1,0,0},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{0,0,0,0}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m=4,n=4;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cxnSp>
        <p:nvCxnSpPr>
          <p:cNvPr id="68" name="直接箭头连接符 67"/>
          <p:cNvCxnSpPr/>
          <p:nvPr/>
        </p:nvCxnSpPr>
        <p:spPr>
          <a:xfrm>
            <a:off x="4357686" y="2714620"/>
            <a:ext cx="642942" cy="1588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69" name="组合 68"/>
          <p:cNvGrpSpPr/>
          <p:nvPr/>
        </p:nvGrpSpPr>
        <p:grpSpPr>
          <a:xfrm>
            <a:off x="571472" y="642918"/>
            <a:ext cx="2357454" cy="642942"/>
            <a:chOff x="428596" y="428604"/>
            <a:chExt cx="2357454" cy="642942"/>
          </a:xfrm>
        </p:grpSpPr>
        <p:sp>
          <p:nvSpPr>
            <p:cNvPr id="70" name="AutoShape 10"/>
            <p:cNvSpPr>
              <a:spLocks noChangeArrowheads="1"/>
            </p:cNvSpPr>
            <p:nvPr/>
          </p:nvSpPr>
          <p:spPr bwMode="gray">
            <a:xfrm>
              <a:off x="428596" y="428604"/>
              <a:ext cx="2357454" cy="64294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4EA7EA"/>
                </a:gs>
                <a:gs pos="50000">
                  <a:srgbClr val="4EA7EA">
                    <a:gamma/>
                    <a:tint val="42353"/>
                    <a:invGamma/>
                  </a:srgbClr>
                </a:gs>
                <a:gs pos="100000">
                  <a:srgbClr val="4EA7EA"/>
                </a:gs>
              </a:gsLst>
              <a:lin ang="5400000" scaled="1"/>
            </a:gradFill>
            <a:ln w="28575" algn="ctr">
              <a:solidFill>
                <a:schemeClr val="bg1"/>
              </a:solidFill>
              <a:round/>
              <a:headEnd/>
              <a:tailEnd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71" name="Rectangle 16"/>
            <p:cNvSpPr>
              <a:spLocks noChangeArrowheads="1"/>
            </p:cNvSpPr>
            <p:nvPr/>
          </p:nvSpPr>
          <p:spPr bwMode="gray">
            <a:xfrm>
              <a:off x="633384" y="538085"/>
              <a:ext cx="206217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defTabSz="865188" latinLnBrk="1">
                <a:lnSpc>
                  <a:spcPct val="100000"/>
                </a:lnSpc>
              </a:pPr>
              <a:r>
                <a:rPr lang="zh-CN" altLang="en-US" sz="200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求迷宫问题</a:t>
              </a:r>
            </a:p>
          </p:txBody>
        </p:sp>
      </p:grpSp>
      <p:sp>
        <p:nvSpPr>
          <p:cNvPr id="43" name="灯片编号占位符 4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65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3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23" name="组合 22"/>
          <p:cNvGrpSpPr/>
          <p:nvPr/>
        </p:nvGrpSpPr>
        <p:grpSpPr>
          <a:xfrm>
            <a:off x="1714480" y="1071546"/>
            <a:ext cx="4326444" cy="2707408"/>
            <a:chOff x="1714480" y="1071546"/>
            <a:chExt cx="4326444" cy="2707408"/>
          </a:xfrm>
        </p:grpSpPr>
        <p:sp>
          <p:nvSpPr>
            <p:cNvPr id="19471" name="Text Box 15"/>
            <p:cNvSpPr txBox="1">
              <a:spLocks noChangeArrowheads="1"/>
            </p:cNvSpPr>
            <p:nvPr/>
          </p:nvSpPr>
          <p:spPr bwMode="auto">
            <a:xfrm>
              <a:off x="1714480" y="2221790"/>
              <a:ext cx="591586" cy="27851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方位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3</a:t>
              </a:r>
            </a:p>
          </p:txBody>
        </p:sp>
        <p:sp>
          <p:nvSpPr>
            <p:cNvPr id="19470" name="Text Box 14"/>
            <p:cNvSpPr txBox="1">
              <a:spLocks noChangeArrowheads="1"/>
            </p:cNvSpPr>
            <p:nvPr/>
          </p:nvSpPr>
          <p:spPr bwMode="auto">
            <a:xfrm>
              <a:off x="3715903" y="1428736"/>
              <a:ext cx="693870" cy="27851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(</a:t>
              </a: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i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-1,</a:t>
              </a: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j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)</a:t>
              </a:r>
            </a:p>
          </p:txBody>
        </p:sp>
        <p:sp>
          <p:nvSpPr>
            <p:cNvPr id="19469" name="Line 13"/>
            <p:cNvSpPr>
              <a:spLocks noChangeShapeType="1"/>
            </p:cNvSpPr>
            <p:nvPr/>
          </p:nvSpPr>
          <p:spPr bwMode="auto">
            <a:xfrm flipV="1">
              <a:off x="4036566" y="1725697"/>
              <a:ext cx="0" cy="522909"/>
            </a:xfrm>
            <a:prstGeom prst="line">
              <a:avLst/>
            </a:prstGeom>
            <a:ln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9468" name="Text Box 12"/>
            <p:cNvSpPr txBox="1">
              <a:spLocks noChangeArrowheads="1"/>
            </p:cNvSpPr>
            <p:nvPr/>
          </p:nvSpPr>
          <p:spPr bwMode="auto">
            <a:xfrm>
              <a:off x="3643306" y="3107621"/>
              <a:ext cx="692948" cy="27851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(</a:t>
              </a: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i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+1,</a:t>
              </a: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j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)</a:t>
              </a:r>
            </a:p>
          </p:txBody>
        </p:sp>
        <p:sp>
          <p:nvSpPr>
            <p:cNvPr id="19467" name="Text Box 11"/>
            <p:cNvSpPr txBox="1">
              <a:spLocks noChangeArrowheads="1"/>
            </p:cNvSpPr>
            <p:nvPr/>
          </p:nvSpPr>
          <p:spPr bwMode="auto">
            <a:xfrm>
              <a:off x="2454709" y="2236617"/>
              <a:ext cx="694791" cy="27851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(</a:t>
              </a: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i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,</a:t>
              </a: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j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-1)</a:t>
              </a:r>
            </a:p>
          </p:txBody>
        </p:sp>
        <p:sp>
          <p:nvSpPr>
            <p:cNvPr id="19466" name="Line 10"/>
            <p:cNvSpPr>
              <a:spLocks noChangeShapeType="1"/>
            </p:cNvSpPr>
            <p:nvPr/>
          </p:nvSpPr>
          <p:spPr bwMode="auto">
            <a:xfrm>
              <a:off x="4036566" y="2505910"/>
              <a:ext cx="0" cy="522909"/>
            </a:xfrm>
            <a:prstGeom prst="line">
              <a:avLst/>
            </a:prstGeom>
            <a:ln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9465" name="Line 9"/>
            <p:cNvSpPr>
              <a:spLocks noChangeShapeType="1"/>
            </p:cNvSpPr>
            <p:nvPr/>
          </p:nvSpPr>
          <p:spPr bwMode="auto">
            <a:xfrm>
              <a:off x="4076313" y="2362041"/>
              <a:ext cx="521554" cy="0"/>
            </a:xfrm>
            <a:prstGeom prst="line">
              <a:avLst/>
            </a:prstGeom>
            <a:ln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9464" name="Line 8"/>
            <p:cNvSpPr>
              <a:spLocks noChangeShapeType="1"/>
            </p:cNvSpPr>
            <p:nvPr/>
          </p:nvSpPr>
          <p:spPr bwMode="auto">
            <a:xfrm flipH="1">
              <a:off x="3249750" y="2362041"/>
              <a:ext cx="523397" cy="0"/>
            </a:xfrm>
            <a:prstGeom prst="line">
              <a:avLst/>
            </a:prstGeom>
            <a:ln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9463" name="Text Box 7"/>
            <p:cNvSpPr txBox="1">
              <a:spLocks noChangeArrowheads="1"/>
            </p:cNvSpPr>
            <p:nvPr/>
          </p:nvSpPr>
          <p:spPr bwMode="auto">
            <a:xfrm>
              <a:off x="3696505" y="1071546"/>
              <a:ext cx="589743" cy="27943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方位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</a:p>
          </p:txBody>
        </p:sp>
        <p:sp>
          <p:nvSpPr>
            <p:cNvPr id="19462" name="Text Box 6"/>
            <p:cNvSpPr txBox="1">
              <a:spLocks noChangeArrowheads="1"/>
            </p:cNvSpPr>
            <p:nvPr/>
          </p:nvSpPr>
          <p:spPr bwMode="auto">
            <a:xfrm>
              <a:off x="5449338" y="2222712"/>
              <a:ext cx="591586" cy="27759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方位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</a:p>
          </p:txBody>
        </p:sp>
        <p:sp>
          <p:nvSpPr>
            <p:cNvPr id="19461" name="Text Box 5"/>
            <p:cNvSpPr txBox="1">
              <a:spLocks noChangeArrowheads="1"/>
            </p:cNvSpPr>
            <p:nvPr/>
          </p:nvSpPr>
          <p:spPr bwMode="auto">
            <a:xfrm>
              <a:off x="3695583" y="3500438"/>
              <a:ext cx="590665" cy="27851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方位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</a:p>
          </p:txBody>
        </p:sp>
        <p:sp>
          <p:nvSpPr>
            <p:cNvPr id="19460" name="Text Box 4"/>
            <p:cNvSpPr txBox="1">
              <a:spLocks noChangeArrowheads="1"/>
            </p:cNvSpPr>
            <p:nvPr/>
          </p:nvSpPr>
          <p:spPr bwMode="auto">
            <a:xfrm>
              <a:off x="3734826" y="2214554"/>
              <a:ext cx="576453" cy="28773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(</a:t>
              </a: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i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,</a:t>
              </a: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j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)</a:t>
              </a:r>
            </a:p>
          </p:txBody>
        </p:sp>
        <p:sp>
          <p:nvSpPr>
            <p:cNvPr id="19459" name="Text Box 3"/>
            <p:cNvSpPr txBox="1">
              <a:spLocks noChangeArrowheads="1"/>
            </p:cNvSpPr>
            <p:nvPr/>
          </p:nvSpPr>
          <p:spPr bwMode="auto">
            <a:xfrm>
              <a:off x="4663520" y="2236617"/>
              <a:ext cx="693870" cy="27851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(</a:t>
              </a: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i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,</a:t>
              </a: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j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+1)</a:t>
              </a:r>
            </a:p>
          </p:txBody>
        </p:sp>
        <p:sp>
          <p:nvSpPr>
            <p:cNvPr id="19458" name="Freeform 2"/>
            <p:cNvSpPr>
              <a:spLocks/>
            </p:cNvSpPr>
            <p:nvPr/>
          </p:nvSpPr>
          <p:spPr bwMode="auto">
            <a:xfrm>
              <a:off x="3531418" y="1884322"/>
              <a:ext cx="917788" cy="925927"/>
            </a:xfrm>
            <a:custGeom>
              <a:avLst/>
              <a:gdLst/>
              <a:ahLst/>
              <a:cxnLst>
                <a:cxn ang="0">
                  <a:pos x="739" y="0"/>
                </a:cxn>
                <a:cxn ang="0">
                  <a:pos x="894" y="155"/>
                </a:cxn>
                <a:cxn ang="0">
                  <a:pos x="970" y="518"/>
                </a:cxn>
                <a:cxn ang="0">
                  <a:pos x="735" y="917"/>
                </a:cxn>
                <a:cxn ang="0">
                  <a:pos x="270" y="973"/>
                </a:cxn>
                <a:cxn ang="0">
                  <a:pos x="43" y="730"/>
                </a:cxn>
                <a:cxn ang="0">
                  <a:pos x="15" y="328"/>
                </a:cxn>
              </a:cxnLst>
              <a:rect l="0" t="0" r="r" b="b"/>
              <a:pathLst>
                <a:path w="996" h="1004">
                  <a:moveTo>
                    <a:pt x="739" y="0"/>
                  </a:moveTo>
                  <a:cubicBezTo>
                    <a:pt x="797" y="34"/>
                    <a:pt x="855" y="69"/>
                    <a:pt x="894" y="155"/>
                  </a:cubicBezTo>
                  <a:cubicBezTo>
                    <a:pt x="933" y="241"/>
                    <a:pt x="996" y="391"/>
                    <a:pt x="970" y="518"/>
                  </a:cubicBezTo>
                  <a:cubicBezTo>
                    <a:pt x="944" y="645"/>
                    <a:pt x="852" y="841"/>
                    <a:pt x="735" y="917"/>
                  </a:cubicBezTo>
                  <a:cubicBezTo>
                    <a:pt x="618" y="993"/>
                    <a:pt x="385" y="1004"/>
                    <a:pt x="270" y="973"/>
                  </a:cubicBezTo>
                  <a:cubicBezTo>
                    <a:pt x="155" y="942"/>
                    <a:pt x="86" y="838"/>
                    <a:pt x="43" y="730"/>
                  </a:cubicBezTo>
                  <a:cubicBezTo>
                    <a:pt x="0" y="622"/>
                    <a:pt x="21" y="412"/>
                    <a:pt x="15" y="328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  <a:prstDash val="dash"/>
              <a:round/>
              <a:headEnd/>
              <a:tailEnd type="arrow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785786" y="500042"/>
            <a:ext cx="1571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000" smtClean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试探顺序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3042" y="4643446"/>
            <a:ext cx="5786478" cy="1008958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44000" bIns="144000" rtlCol="0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dx[]={-1,0,1,0};   	</a:t>
            </a:r>
            <a:r>
              <a:rPr lang="en-US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//x</a:t>
            </a:r>
            <a:r>
              <a:rPr lang="zh-CN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方向的偏移量</a:t>
            </a:r>
          </a:p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dy[]={0,1,0,-1};   	</a:t>
            </a:r>
            <a:r>
              <a:rPr lang="en-US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//y</a:t>
            </a:r>
            <a:r>
              <a:rPr lang="zh-CN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方向的偏移量</a:t>
            </a:r>
          </a:p>
        </p:txBody>
      </p:sp>
      <p:sp>
        <p:nvSpPr>
          <p:cNvPr id="22" name="下箭头 21"/>
          <p:cNvSpPr/>
          <p:nvPr/>
        </p:nvSpPr>
        <p:spPr bwMode="auto">
          <a:xfrm>
            <a:off x="3857620" y="4143380"/>
            <a:ext cx="285752" cy="428628"/>
          </a:xfrm>
          <a:prstGeom prst="downArrow">
            <a:avLst/>
          </a:prstGeom>
          <a:ln>
            <a:headEnd/>
            <a:tailEnd type="arrow" w="sm" len="sm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66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2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2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8450" name="Text Box 18"/>
          <p:cNvSpPr txBox="1">
            <a:spLocks noChangeArrowheads="1"/>
          </p:cNvSpPr>
          <p:nvPr/>
        </p:nvSpPr>
        <p:spPr bwMode="auto">
          <a:xfrm>
            <a:off x="5098425" y="2401975"/>
            <a:ext cx="563355" cy="369729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rPr>
              <a:t>回溯</a:t>
            </a:r>
          </a:p>
        </p:txBody>
      </p:sp>
      <p:sp>
        <p:nvSpPr>
          <p:cNvPr id="18449" name="Text Box 17"/>
          <p:cNvSpPr txBox="1">
            <a:spLocks noChangeArrowheads="1"/>
          </p:cNvSpPr>
          <p:nvPr/>
        </p:nvSpPr>
        <p:spPr bwMode="auto">
          <a:xfrm>
            <a:off x="3357554" y="2562849"/>
            <a:ext cx="511255" cy="32027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rPr>
              <a:t>回溯</a:t>
            </a:r>
          </a:p>
        </p:txBody>
      </p:sp>
      <p:sp>
        <p:nvSpPr>
          <p:cNvPr id="18448" name="Text Box 16"/>
          <p:cNvSpPr txBox="1">
            <a:spLocks noChangeArrowheads="1"/>
          </p:cNvSpPr>
          <p:nvPr/>
        </p:nvSpPr>
        <p:spPr bwMode="auto">
          <a:xfrm>
            <a:off x="5098425" y="1027107"/>
            <a:ext cx="553797" cy="321296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rPr>
              <a:t>回溯</a:t>
            </a:r>
          </a:p>
        </p:txBody>
      </p:sp>
      <p:sp>
        <p:nvSpPr>
          <p:cNvPr id="18447" name="Rectangle 15"/>
          <p:cNvSpPr>
            <a:spLocks noChangeArrowheads="1"/>
          </p:cNvSpPr>
          <p:nvPr/>
        </p:nvSpPr>
        <p:spPr bwMode="auto">
          <a:xfrm>
            <a:off x="3820465" y="1644974"/>
            <a:ext cx="1081825" cy="47937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0" tIns="1080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rPr>
              <a:t>当前方块</a:t>
            </a:r>
          </a:p>
        </p:txBody>
      </p:sp>
      <p:sp>
        <p:nvSpPr>
          <p:cNvPr id="18446" name="Text Box 14"/>
          <p:cNvSpPr txBox="1">
            <a:spLocks noChangeArrowheads="1"/>
          </p:cNvSpPr>
          <p:nvPr/>
        </p:nvSpPr>
        <p:spPr bwMode="auto">
          <a:xfrm>
            <a:off x="3987260" y="1226160"/>
            <a:ext cx="744956" cy="32027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kumimoji="0" lang="en-US" altLang="zh-CN" sz="1600" i="1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kumimoji="0" lang="zh-CN" altLang="en-US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kumimoji="0" lang="en-US" altLang="zh-CN" sz="1600" i="1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rPr>
              <a:t>j</a:t>
            </a:r>
            <a:r>
              <a:rPr kumimoji="0" lang="en-US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</a:p>
        </p:txBody>
      </p:sp>
      <p:sp>
        <p:nvSpPr>
          <p:cNvPr id="18445" name="Rectangle 13"/>
          <p:cNvSpPr>
            <a:spLocks noChangeArrowheads="1"/>
          </p:cNvSpPr>
          <p:nvPr/>
        </p:nvSpPr>
        <p:spPr bwMode="auto">
          <a:xfrm>
            <a:off x="5916471" y="998276"/>
            <a:ext cx="370041" cy="32027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8444" name="Rectangle 12"/>
          <p:cNvSpPr>
            <a:spLocks noChangeArrowheads="1"/>
          </p:cNvSpPr>
          <p:nvPr/>
        </p:nvSpPr>
        <p:spPr bwMode="auto">
          <a:xfrm>
            <a:off x="5916471" y="2279354"/>
            <a:ext cx="370041" cy="32027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8443" name="Rectangle 11"/>
          <p:cNvSpPr>
            <a:spLocks noChangeArrowheads="1"/>
          </p:cNvSpPr>
          <p:nvPr/>
        </p:nvSpPr>
        <p:spPr bwMode="auto">
          <a:xfrm>
            <a:off x="2086922" y="1632656"/>
            <a:ext cx="1176935" cy="48040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0" tIns="1080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rPr>
              <a:t>前一方块</a:t>
            </a:r>
          </a:p>
        </p:txBody>
      </p:sp>
      <p:sp>
        <p:nvSpPr>
          <p:cNvPr id="18442" name="Line 10"/>
          <p:cNvSpPr>
            <a:spLocks noChangeShapeType="1"/>
          </p:cNvSpPr>
          <p:nvPr/>
        </p:nvSpPr>
        <p:spPr bwMode="auto">
          <a:xfrm>
            <a:off x="3263857" y="1868752"/>
            <a:ext cx="556608" cy="0"/>
          </a:xfrm>
          <a:prstGeom prst="line">
            <a:avLst/>
          </a:prstGeom>
          <a:ln>
            <a:headEnd/>
            <a:tailEnd type="arrow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8441" name="Line 9"/>
          <p:cNvSpPr>
            <a:spLocks noChangeShapeType="1"/>
          </p:cNvSpPr>
          <p:nvPr/>
        </p:nvSpPr>
        <p:spPr bwMode="auto">
          <a:xfrm flipV="1">
            <a:off x="4929190" y="1126755"/>
            <a:ext cx="987281" cy="621700"/>
          </a:xfrm>
          <a:prstGeom prst="line">
            <a:avLst/>
          </a:prstGeom>
          <a:ln>
            <a:headEnd/>
            <a:tailEnd type="arrow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8440" name="Text Box 8"/>
          <p:cNvSpPr txBox="1">
            <a:spLocks noChangeArrowheads="1"/>
          </p:cNvSpPr>
          <p:nvPr/>
        </p:nvSpPr>
        <p:spPr bwMode="auto">
          <a:xfrm>
            <a:off x="5905847" y="1742513"/>
            <a:ext cx="372103" cy="32027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+mj-ea"/>
                <a:ea typeface="+mj-ea"/>
                <a:cs typeface="Consolas" pitchFamily="49" charset="0"/>
              </a:rPr>
              <a:t>…</a:t>
            </a:r>
          </a:p>
        </p:txBody>
      </p:sp>
      <p:sp>
        <p:nvSpPr>
          <p:cNvPr id="18439" name="Line 7"/>
          <p:cNvSpPr>
            <a:spLocks noChangeShapeType="1"/>
          </p:cNvSpPr>
          <p:nvPr/>
        </p:nvSpPr>
        <p:spPr bwMode="auto">
          <a:xfrm flipH="1">
            <a:off x="4929189" y="1254902"/>
            <a:ext cx="987281" cy="593567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 type="arrow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8438" name="Line 6"/>
          <p:cNvSpPr>
            <a:spLocks noChangeShapeType="1"/>
          </p:cNvSpPr>
          <p:nvPr/>
        </p:nvSpPr>
        <p:spPr bwMode="auto">
          <a:xfrm>
            <a:off x="4929190" y="1991345"/>
            <a:ext cx="987281" cy="347547"/>
          </a:xfrm>
          <a:prstGeom prst="line">
            <a:avLst/>
          </a:prstGeom>
          <a:ln>
            <a:headEnd/>
            <a:tailEnd type="arrow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8437" name="Line 5"/>
          <p:cNvSpPr>
            <a:spLocks noChangeShapeType="1"/>
          </p:cNvSpPr>
          <p:nvPr/>
        </p:nvSpPr>
        <p:spPr bwMode="auto">
          <a:xfrm flipH="1" flipV="1">
            <a:off x="4929189" y="2062783"/>
            <a:ext cx="987281" cy="370547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 type="arrow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8436" name="Freeform 4"/>
          <p:cNvSpPr>
            <a:spLocks/>
          </p:cNvSpPr>
          <p:nvPr/>
        </p:nvSpPr>
        <p:spPr bwMode="auto">
          <a:xfrm>
            <a:off x="3142789" y="2158227"/>
            <a:ext cx="919434" cy="284342"/>
          </a:xfrm>
          <a:custGeom>
            <a:avLst/>
            <a:gdLst/>
            <a:ahLst/>
            <a:cxnLst>
              <a:cxn ang="0">
                <a:pos x="892" y="30"/>
              </a:cxn>
              <a:cxn ang="0">
                <a:pos x="765" y="157"/>
              </a:cxn>
              <a:cxn ang="0">
                <a:pos x="660" y="225"/>
              </a:cxn>
              <a:cxn ang="0">
                <a:pos x="540" y="270"/>
              </a:cxn>
              <a:cxn ang="0">
                <a:pos x="352" y="270"/>
              </a:cxn>
              <a:cxn ang="0">
                <a:pos x="277" y="232"/>
              </a:cxn>
              <a:cxn ang="0">
                <a:pos x="0" y="0"/>
              </a:cxn>
            </a:cxnLst>
            <a:rect l="0" t="0" r="r" b="b"/>
            <a:pathLst>
              <a:path w="892" h="277">
                <a:moveTo>
                  <a:pt x="892" y="30"/>
                </a:moveTo>
                <a:cubicBezTo>
                  <a:pt x="871" y="51"/>
                  <a:pt x="804" y="125"/>
                  <a:pt x="765" y="157"/>
                </a:cubicBezTo>
                <a:cubicBezTo>
                  <a:pt x="726" y="189"/>
                  <a:pt x="698" y="206"/>
                  <a:pt x="660" y="225"/>
                </a:cubicBezTo>
                <a:cubicBezTo>
                  <a:pt x="622" y="244"/>
                  <a:pt x="591" y="263"/>
                  <a:pt x="540" y="270"/>
                </a:cubicBezTo>
                <a:cubicBezTo>
                  <a:pt x="489" y="277"/>
                  <a:pt x="396" y="276"/>
                  <a:pt x="352" y="270"/>
                </a:cubicBezTo>
                <a:cubicBezTo>
                  <a:pt x="308" y="264"/>
                  <a:pt x="336" y="277"/>
                  <a:pt x="277" y="232"/>
                </a:cubicBezTo>
                <a:cubicBezTo>
                  <a:pt x="218" y="187"/>
                  <a:pt x="58" y="48"/>
                  <a:pt x="0" y="0"/>
                </a:cubicBezTo>
              </a:path>
            </a:pathLst>
          </a:custGeom>
          <a:noFill/>
          <a:ln w="28575">
            <a:solidFill>
              <a:srgbClr val="FF0000"/>
            </a:solidFill>
            <a:prstDash val="dash"/>
            <a:round/>
            <a:headEnd/>
            <a:tailEnd type="arrow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8435" name="Freeform 3"/>
          <p:cNvSpPr>
            <a:spLocks/>
          </p:cNvSpPr>
          <p:nvPr/>
        </p:nvSpPr>
        <p:spPr bwMode="auto">
          <a:xfrm>
            <a:off x="2684572" y="2113060"/>
            <a:ext cx="1031" cy="1799700"/>
          </a:xfrm>
          <a:custGeom>
            <a:avLst/>
            <a:gdLst/>
            <a:ahLst/>
            <a:cxnLst>
              <a:cxn ang="0">
                <a:pos x="22" y="0"/>
              </a:cxn>
              <a:cxn ang="0">
                <a:pos x="0" y="1421"/>
              </a:cxn>
            </a:cxnLst>
            <a:rect l="0" t="0" r="r" b="b"/>
            <a:pathLst>
              <a:path w="22" h="1421">
                <a:moveTo>
                  <a:pt x="22" y="0"/>
                </a:moveTo>
                <a:lnTo>
                  <a:pt x="0" y="1421"/>
                </a:lnTo>
              </a:path>
            </a:pathLst>
          </a:custGeom>
          <a:ln>
            <a:headEnd/>
            <a:tailEnd type="arrow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2214546" y="2137087"/>
            <a:ext cx="371072" cy="185452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eaVert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800" i="0" u="none" strike="noStrike" kern="1400" cap="none" spc="20" normalizeH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rPr>
              <a:t>继续找其他路径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8596" y="571480"/>
            <a:ext cx="30718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000" smtClean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迷宫问题的搜索过程</a:t>
            </a:r>
          </a:p>
        </p:txBody>
      </p:sp>
      <p:grpSp>
        <p:nvGrpSpPr>
          <p:cNvPr id="29" name="组合 28"/>
          <p:cNvGrpSpPr/>
          <p:nvPr/>
        </p:nvGrpSpPr>
        <p:grpSpPr>
          <a:xfrm>
            <a:off x="1928794" y="4277361"/>
            <a:ext cx="5857916" cy="1561895"/>
            <a:chOff x="1928794" y="4277361"/>
            <a:chExt cx="5857916" cy="1561895"/>
          </a:xfrm>
        </p:grpSpPr>
        <p:sp>
          <p:nvSpPr>
            <p:cNvPr id="25" name="TextBox 24"/>
            <p:cNvSpPr txBox="1"/>
            <p:nvPr/>
          </p:nvSpPr>
          <p:spPr>
            <a:xfrm>
              <a:off x="1928794" y="4277361"/>
              <a:ext cx="5857916" cy="910607"/>
            </a:xfrm>
            <a:prstGeom prst="rect">
              <a:avLst/>
            </a:prstGeom>
            <a:ln>
              <a:noFill/>
            </a:ln>
            <a:effectLst/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lIns="144000" tIns="108000" bIns="108000" rtlCol="0">
              <a:spAutoFit/>
            </a:bodyPr>
            <a:lstStyle/>
            <a:p>
              <a:pPr marL="342900" indent="-342900" algn="l">
                <a:lnSpc>
                  <a:spcPct val="100000"/>
                </a:lnSpc>
                <a:spcBef>
                  <a:spcPts val="600"/>
                </a:spcBef>
                <a:buBlip>
                  <a:blip r:embed="rId2"/>
                </a:buBlip>
              </a:pPr>
              <a:r>
                <a:rPr lang="zh-CN" altLang="en-US" sz="2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用栈记录走过的</a:t>
              </a:r>
              <a:r>
                <a:rPr lang="zh-CN" altLang="en-US" sz="2000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路径</a:t>
              </a:r>
              <a:endParaRPr lang="en-US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  <a:p>
              <a:pPr marL="342900" indent="-342900" algn="l">
                <a:lnSpc>
                  <a:spcPct val="100000"/>
                </a:lnSpc>
                <a:spcBef>
                  <a:spcPts val="600"/>
                </a:spcBef>
                <a:buBlip>
                  <a:blip r:embed="rId2"/>
                </a:buBlip>
              </a:pPr>
              <a:r>
                <a:rPr lang="zh-CN" altLang="en-US" sz="2000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路径：</a:t>
              </a:r>
              <a:r>
                <a:rPr lang="zh-CN" altLang="en-US" sz="2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由方块和方块之间的走向（方位）构成</a:t>
              </a:r>
            </a:p>
          </p:txBody>
        </p:sp>
        <p:sp>
          <p:nvSpPr>
            <p:cNvPr id="23" name="Rectangle 15"/>
            <p:cNvSpPr>
              <a:spLocks noChangeArrowheads="1"/>
            </p:cNvSpPr>
            <p:nvPr/>
          </p:nvSpPr>
          <p:spPr bwMode="auto">
            <a:xfrm>
              <a:off x="4918935" y="5359878"/>
              <a:ext cx="1081825" cy="47937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10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8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相邻</a:t>
              </a:r>
              <a:r>
                <a:rPr kumimoji="0" lang="zh-CN" sz="18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方块</a:t>
              </a:r>
            </a:p>
          </p:txBody>
        </p:sp>
        <p:sp>
          <p:nvSpPr>
            <p:cNvPr id="26" name="Rectangle 11"/>
            <p:cNvSpPr>
              <a:spLocks noChangeArrowheads="1"/>
            </p:cNvSpPr>
            <p:nvPr/>
          </p:nvSpPr>
          <p:spPr bwMode="auto">
            <a:xfrm>
              <a:off x="2256698" y="5347560"/>
              <a:ext cx="1176935" cy="48040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10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8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方块</a:t>
              </a:r>
            </a:p>
          </p:txBody>
        </p:sp>
        <p:sp>
          <p:nvSpPr>
            <p:cNvPr id="27" name="Line 10"/>
            <p:cNvSpPr>
              <a:spLocks noChangeShapeType="1"/>
            </p:cNvSpPr>
            <p:nvPr/>
          </p:nvSpPr>
          <p:spPr bwMode="auto">
            <a:xfrm>
              <a:off x="3433632" y="5583656"/>
              <a:ext cx="1476000" cy="0"/>
            </a:xfrm>
            <a:prstGeom prst="line">
              <a:avLst/>
            </a:prstGeom>
            <a:ln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929058" y="5214950"/>
              <a:ext cx="5000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800" smtClean="0">
                  <a:solidFill>
                    <a:srgbClr val="C0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di</a:t>
              </a:r>
              <a:endParaRPr lang="zh-CN" altLang="en-US" sz="1800" smtClean="0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33" name="灯片编号占位符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67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57158" y="1630908"/>
            <a:ext cx="8643998" cy="2475138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struct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Box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方块类型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int i;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方块的行号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int j;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方块的列号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int di;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//di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是下一个相邻可走方位的方位号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Box() {}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构造函数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Box(int i1,int j1,int d1):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i(i1),j(j1),di(d1) {}  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重载构造函数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};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" name="Rectangle 15"/>
          <p:cNvSpPr>
            <a:spLocks noChangeArrowheads="1"/>
          </p:cNvSpPr>
          <p:nvPr/>
        </p:nvSpPr>
        <p:spPr bwMode="auto">
          <a:xfrm>
            <a:off x="3990241" y="663606"/>
            <a:ext cx="1081825" cy="47937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0" tIns="1080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rPr>
              <a:t>相邻</a:t>
            </a:r>
            <a:r>
              <a:rPr kumimoji="0" lang="zh-CN" sz="18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rPr>
              <a:t>方块</a:t>
            </a: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1328004" y="651288"/>
            <a:ext cx="1176935" cy="48040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0" tIns="1080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rPr>
              <a:t>当前</a:t>
            </a:r>
            <a:r>
              <a:rPr kumimoji="0" lang="zh-CN" sz="18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rPr>
              <a:t>方块</a:t>
            </a:r>
          </a:p>
        </p:txBody>
      </p:sp>
      <p:sp>
        <p:nvSpPr>
          <p:cNvPr id="9" name="Line 10"/>
          <p:cNvSpPr>
            <a:spLocks noChangeShapeType="1"/>
          </p:cNvSpPr>
          <p:nvPr/>
        </p:nvSpPr>
        <p:spPr bwMode="auto">
          <a:xfrm>
            <a:off x="2504938" y="887384"/>
            <a:ext cx="1476000" cy="0"/>
          </a:xfrm>
          <a:prstGeom prst="line">
            <a:avLst/>
          </a:prstGeom>
          <a:ln>
            <a:headEnd/>
            <a:tailEnd type="arrow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000364" y="518678"/>
            <a:ext cx="500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di</a:t>
            </a:r>
            <a:endParaRPr lang="zh-CN" altLang="en-US" sz="1800" smtClean="0">
              <a:solidFill>
                <a:srgbClr val="C000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68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40" name="Rectangle 3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93" name="组合 192"/>
          <p:cNvGrpSpPr/>
          <p:nvPr/>
        </p:nvGrpSpPr>
        <p:grpSpPr>
          <a:xfrm>
            <a:off x="3357554" y="292872"/>
            <a:ext cx="2357454" cy="5823536"/>
            <a:chOff x="4429124" y="292872"/>
            <a:chExt cx="2357454" cy="5823536"/>
          </a:xfrm>
        </p:grpSpPr>
        <p:sp>
          <p:nvSpPr>
            <p:cNvPr id="17438" name="Rectangle 30"/>
            <p:cNvSpPr>
              <a:spLocks noChangeArrowheads="1"/>
            </p:cNvSpPr>
            <p:nvPr/>
          </p:nvSpPr>
          <p:spPr bwMode="auto">
            <a:xfrm>
              <a:off x="5943961" y="1359166"/>
              <a:ext cx="467724" cy="252731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di=2</a:t>
              </a:r>
            </a:p>
          </p:txBody>
        </p:sp>
        <p:sp>
          <p:nvSpPr>
            <p:cNvPr id="17437" name="Rectangle 29"/>
            <p:cNvSpPr>
              <a:spLocks noChangeArrowheads="1"/>
            </p:cNvSpPr>
            <p:nvPr/>
          </p:nvSpPr>
          <p:spPr bwMode="auto">
            <a:xfrm>
              <a:off x="4714876" y="1381492"/>
              <a:ext cx="467724" cy="252731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di=1</a:t>
              </a:r>
            </a:p>
          </p:txBody>
        </p:sp>
        <p:sp>
          <p:nvSpPr>
            <p:cNvPr id="17436" name="Rectangle 28"/>
            <p:cNvSpPr>
              <a:spLocks noChangeArrowheads="1"/>
            </p:cNvSpPr>
            <p:nvPr/>
          </p:nvSpPr>
          <p:spPr bwMode="auto">
            <a:xfrm>
              <a:off x="5592275" y="700993"/>
              <a:ext cx="467724" cy="252731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di=2</a:t>
              </a:r>
            </a:p>
          </p:txBody>
        </p:sp>
        <p:sp>
          <p:nvSpPr>
            <p:cNvPr id="17435" name="Rectangle 27"/>
            <p:cNvSpPr>
              <a:spLocks noChangeArrowheads="1"/>
            </p:cNvSpPr>
            <p:nvPr/>
          </p:nvSpPr>
          <p:spPr bwMode="auto">
            <a:xfrm>
              <a:off x="6318854" y="2171836"/>
              <a:ext cx="467724" cy="252731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di=2</a:t>
              </a:r>
            </a:p>
          </p:txBody>
        </p:sp>
        <p:sp>
          <p:nvSpPr>
            <p:cNvPr id="17434" name="Rectangle 26"/>
            <p:cNvSpPr>
              <a:spLocks noChangeArrowheads="1"/>
            </p:cNvSpPr>
            <p:nvPr/>
          </p:nvSpPr>
          <p:spPr bwMode="auto">
            <a:xfrm>
              <a:off x="6286720" y="2826437"/>
              <a:ext cx="467724" cy="252731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di=1</a:t>
              </a:r>
            </a:p>
          </p:txBody>
        </p:sp>
        <p:sp>
          <p:nvSpPr>
            <p:cNvPr id="17433" name="Rectangle 25"/>
            <p:cNvSpPr>
              <a:spLocks noChangeArrowheads="1"/>
            </p:cNvSpPr>
            <p:nvPr/>
          </p:nvSpPr>
          <p:spPr bwMode="auto">
            <a:xfrm>
              <a:off x="6284042" y="3482824"/>
              <a:ext cx="467724" cy="252731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di=1</a:t>
              </a:r>
            </a:p>
          </p:txBody>
        </p:sp>
        <p:sp>
          <p:nvSpPr>
            <p:cNvPr id="17432" name="Rectangle 24"/>
            <p:cNvSpPr>
              <a:spLocks noChangeArrowheads="1"/>
            </p:cNvSpPr>
            <p:nvPr/>
          </p:nvSpPr>
          <p:spPr bwMode="auto">
            <a:xfrm>
              <a:off x="6281365" y="4139210"/>
              <a:ext cx="467724" cy="252731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di=0</a:t>
              </a:r>
            </a:p>
          </p:txBody>
        </p:sp>
        <p:sp>
          <p:nvSpPr>
            <p:cNvPr id="17431" name="Rectangle 23"/>
            <p:cNvSpPr>
              <a:spLocks noChangeArrowheads="1"/>
            </p:cNvSpPr>
            <p:nvPr/>
          </p:nvSpPr>
          <p:spPr bwMode="auto">
            <a:xfrm>
              <a:off x="6286720" y="4803635"/>
              <a:ext cx="467724" cy="252731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di=1</a:t>
              </a:r>
            </a:p>
          </p:txBody>
        </p:sp>
        <p:sp>
          <p:nvSpPr>
            <p:cNvPr id="17430" name="Rectangle 22"/>
            <p:cNvSpPr>
              <a:spLocks noChangeArrowheads="1"/>
            </p:cNvSpPr>
            <p:nvPr/>
          </p:nvSpPr>
          <p:spPr bwMode="auto">
            <a:xfrm>
              <a:off x="6292076" y="5468059"/>
              <a:ext cx="467724" cy="252731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di=2</a:t>
              </a:r>
            </a:p>
          </p:txBody>
        </p:sp>
        <p:sp>
          <p:nvSpPr>
            <p:cNvPr id="17429" name="Rectangle 21"/>
            <p:cNvSpPr>
              <a:spLocks noChangeArrowheads="1"/>
            </p:cNvSpPr>
            <p:nvPr/>
          </p:nvSpPr>
          <p:spPr bwMode="auto">
            <a:xfrm>
              <a:off x="5277186" y="292872"/>
              <a:ext cx="556984" cy="35453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36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[0,0]</a:t>
              </a:r>
            </a:p>
          </p:txBody>
        </p:sp>
        <p:sp>
          <p:nvSpPr>
            <p:cNvPr id="17428" name="Rectangle 20"/>
            <p:cNvSpPr>
              <a:spLocks noChangeArrowheads="1"/>
            </p:cNvSpPr>
            <p:nvPr/>
          </p:nvSpPr>
          <p:spPr bwMode="auto">
            <a:xfrm>
              <a:off x="5281649" y="1026061"/>
              <a:ext cx="556984" cy="35543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36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[1,0]</a:t>
              </a:r>
            </a:p>
          </p:txBody>
        </p:sp>
        <p:sp>
          <p:nvSpPr>
            <p:cNvPr id="17427" name="Rectangle 19"/>
            <p:cNvSpPr>
              <a:spLocks noChangeArrowheads="1"/>
            </p:cNvSpPr>
            <p:nvPr/>
          </p:nvSpPr>
          <p:spPr bwMode="auto">
            <a:xfrm>
              <a:off x="4429124" y="1785926"/>
              <a:ext cx="1000132" cy="35543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36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[1,1]: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×</a:t>
              </a:r>
            </a:p>
          </p:txBody>
        </p:sp>
        <p:sp>
          <p:nvSpPr>
            <p:cNvPr id="17426" name="Rectangle 18"/>
            <p:cNvSpPr>
              <a:spLocks noChangeArrowheads="1"/>
            </p:cNvSpPr>
            <p:nvPr/>
          </p:nvSpPr>
          <p:spPr bwMode="auto">
            <a:xfrm>
              <a:off x="5944853" y="1805688"/>
              <a:ext cx="556984" cy="35543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36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[2,0]</a:t>
              </a:r>
            </a:p>
          </p:txBody>
        </p:sp>
        <p:sp>
          <p:nvSpPr>
            <p:cNvPr id="17425" name="Rectangle 17"/>
            <p:cNvSpPr>
              <a:spLocks noChangeArrowheads="1"/>
            </p:cNvSpPr>
            <p:nvPr/>
          </p:nvSpPr>
          <p:spPr bwMode="auto">
            <a:xfrm>
              <a:off x="5947531" y="2459396"/>
              <a:ext cx="556984" cy="35543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36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[3,0]</a:t>
              </a:r>
            </a:p>
          </p:txBody>
        </p:sp>
        <p:sp>
          <p:nvSpPr>
            <p:cNvPr id="17424" name="Rectangle 16"/>
            <p:cNvSpPr>
              <a:spLocks noChangeArrowheads="1"/>
            </p:cNvSpPr>
            <p:nvPr/>
          </p:nvSpPr>
          <p:spPr bwMode="auto">
            <a:xfrm>
              <a:off x="5947531" y="3119355"/>
              <a:ext cx="556984" cy="35543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36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[3,1]</a:t>
              </a:r>
            </a:p>
          </p:txBody>
        </p:sp>
        <p:sp>
          <p:nvSpPr>
            <p:cNvPr id="17423" name="AutoShape 15"/>
            <p:cNvSpPr>
              <a:spLocks noChangeShapeType="1"/>
            </p:cNvSpPr>
            <p:nvPr/>
          </p:nvSpPr>
          <p:spPr bwMode="auto">
            <a:xfrm>
              <a:off x="5555678" y="647411"/>
              <a:ext cx="4463" cy="3786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7422" name="AutoShape 14"/>
            <p:cNvSpPr>
              <a:spLocks noChangeShapeType="1"/>
            </p:cNvSpPr>
            <p:nvPr/>
          </p:nvSpPr>
          <p:spPr bwMode="auto">
            <a:xfrm flipH="1">
              <a:off x="4929071" y="1381492"/>
              <a:ext cx="462368" cy="424196"/>
            </a:xfrm>
            <a:prstGeom prst="straightConnector1">
              <a:avLst/>
            </a:prstGeom>
            <a:ln w="19050"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7421" name="AutoShape 13"/>
            <p:cNvSpPr>
              <a:spLocks noChangeShapeType="1"/>
            </p:cNvSpPr>
            <p:nvPr/>
          </p:nvSpPr>
          <p:spPr bwMode="auto">
            <a:xfrm>
              <a:off x="5744910" y="1381492"/>
              <a:ext cx="478435" cy="424196"/>
            </a:xfrm>
            <a:prstGeom prst="straightConnector1">
              <a:avLst/>
            </a:prstGeom>
            <a:ln w="19050"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7420" name="AutoShape 12"/>
            <p:cNvSpPr>
              <a:spLocks noChangeShapeType="1"/>
            </p:cNvSpPr>
            <p:nvPr/>
          </p:nvSpPr>
          <p:spPr bwMode="auto">
            <a:xfrm>
              <a:off x="6223345" y="2161119"/>
              <a:ext cx="2678" cy="298277"/>
            </a:xfrm>
            <a:prstGeom prst="straightConnector1">
              <a:avLst/>
            </a:prstGeom>
            <a:ln w="19050"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7419" name="AutoShape 11"/>
            <p:cNvSpPr>
              <a:spLocks noChangeShapeType="1"/>
            </p:cNvSpPr>
            <p:nvPr/>
          </p:nvSpPr>
          <p:spPr bwMode="auto">
            <a:xfrm>
              <a:off x="6226023" y="2814827"/>
              <a:ext cx="893" cy="304528"/>
            </a:xfrm>
            <a:prstGeom prst="straightConnector1">
              <a:avLst/>
            </a:prstGeom>
            <a:ln w="19050"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7418" name="Rectangle 10"/>
            <p:cNvSpPr>
              <a:spLocks noChangeArrowheads="1"/>
            </p:cNvSpPr>
            <p:nvPr/>
          </p:nvSpPr>
          <p:spPr bwMode="auto">
            <a:xfrm>
              <a:off x="5947531" y="3775742"/>
              <a:ext cx="556984" cy="35543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36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[3,2]</a:t>
              </a:r>
            </a:p>
          </p:txBody>
        </p:sp>
        <p:sp>
          <p:nvSpPr>
            <p:cNvPr id="17417" name="AutoShape 9"/>
            <p:cNvSpPr>
              <a:spLocks noChangeShapeType="1"/>
            </p:cNvSpPr>
            <p:nvPr/>
          </p:nvSpPr>
          <p:spPr bwMode="auto">
            <a:xfrm>
              <a:off x="6226023" y="3474786"/>
              <a:ext cx="893" cy="300956"/>
            </a:xfrm>
            <a:prstGeom prst="straightConnector1">
              <a:avLst/>
            </a:prstGeom>
            <a:ln w="19050"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7416" name="Rectangle 8"/>
            <p:cNvSpPr>
              <a:spLocks noChangeArrowheads="1"/>
            </p:cNvSpPr>
            <p:nvPr/>
          </p:nvSpPr>
          <p:spPr bwMode="auto">
            <a:xfrm>
              <a:off x="5947531" y="4432129"/>
              <a:ext cx="556984" cy="35543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36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[2,2]</a:t>
              </a:r>
            </a:p>
          </p:txBody>
        </p:sp>
        <p:sp>
          <p:nvSpPr>
            <p:cNvPr id="17415" name="AutoShape 7"/>
            <p:cNvSpPr>
              <a:spLocks noChangeShapeType="1"/>
            </p:cNvSpPr>
            <p:nvPr/>
          </p:nvSpPr>
          <p:spPr bwMode="auto">
            <a:xfrm>
              <a:off x="6226023" y="4131173"/>
              <a:ext cx="893" cy="300956"/>
            </a:xfrm>
            <a:prstGeom prst="straightConnector1">
              <a:avLst/>
            </a:prstGeom>
            <a:ln w="19050"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7414" name="Rectangle 6"/>
            <p:cNvSpPr>
              <a:spLocks noChangeArrowheads="1"/>
            </p:cNvSpPr>
            <p:nvPr/>
          </p:nvSpPr>
          <p:spPr bwMode="auto">
            <a:xfrm>
              <a:off x="5947531" y="5096553"/>
              <a:ext cx="556984" cy="35543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36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[2,3]</a:t>
              </a:r>
            </a:p>
          </p:txBody>
        </p:sp>
        <p:sp>
          <p:nvSpPr>
            <p:cNvPr id="17413" name="AutoShape 5"/>
            <p:cNvSpPr>
              <a:spLocks noChangeShapeType="1"/>
            </p:cNvSpPr>
            <p:nvPr/>
          </p:nvSpPr>
          <p:spPr bwMode="auto">
            <a:xfrm>
              <a:off x="6226023" y="4787560"/>
              <a:ext cx="893" cy="308993"/>
            </a:xfrm>
            <a:prstGeom prst="straightConnector1">
              <a:avLst/>
            </a:prstGeom>
            <a:ln w="19050"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7412" name="Rectangle 4"/>
            <p:cNvSpPr>
              <a:spLocks noChangeArrowheads="1"/>
            </p:cNvSpPr>
            <p:nvPr/>
          </p:nvSpPr>
          <p:spPr bwMode="auto">
            <a:xfrm>
              <a:off x="5947531" y="5760977"/>
              <a:ext cx="556984" cy="35543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36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[3,3]</a:t>
              </a:r>
            </a:p>
          </p:txBody>
        </p:sp>
        <p:sp>
          <p:nvSpPr>
            <p:cNvPr id="17411" name="AutoShape 3"/>
            <p:cNvSpPr>
              <a:spLocks noChangeShapeType="1"/>
            </p:cNvSpPr>
            <p:nvPr/>
          </p:nvSpPr>
          <p:spPr bwMode="auto">
            <a:xfrm>
              <a:off x="6217990" y="5468059"/>
              <a:ext cx="8033" cy="292918"/>
            </a:xfrm>
            <a:prstGeom prst="straightConnector1">
              <a:avLst/>
            </a:prstGeom>
            <a:ln w="19050"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7410" name="AutoShape 2"/>
            <p:cNvSpPr>
              <a:spLocks noChangeShapeType="1"/>
            </p:cNvSpPr>
            <p:nvPr/>
          </p:nvSpPr>
          <p:spPr bwMode="auto">
            <a:xfrm flipH="1">
              <a:off x="5038861" y="1378813"/>
              <a:ext cx="462368" cy="424196"/>
            </a:xfrm>
            <a:prstGeom prst="straightConnector1">
              <a:avLst/>
            </a:prstGeom>
            <a:noFill/>
            <a:ln w="19050">
              <a:solidFill>
                <a:srgbClr val="FF0000"/>
              </a:solidFill>
              <a:prstDash val="dash"/>
              <a:round/>
              <a:headEnd type="arrow" w="sm" len="sm"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grpSp>
        <p:nvGrpSpPr>
          <p:cNvPr id="125" name="组合 124"/>
          <p:cNvGrpSpPr/>
          <p:nvPr/>
        </p:nvGrpSpPr>
        <p:grpSpPr>
          <a:xfrm>
            <a:off x="489986" y="928670"/>
            <a:ext cx="2434177" cy="1652599"/>
            <a:chOff x="489986" y="928670"/>
            <a:chExt cx="2434177" cy="1652599"/>
          </a:xfrm>
        </p:grpSpPr>
        <p:sp>
          <p:nvSpPr>
            <p:cNvPr id="36" name="Rectangle 53"/>
            <p:cNvSpPr>
              <a:spLocks noChangeArrowheads="1"/>
            </p:cNvSpPr>
            <p:nvPr/>
          </p:nvSpPr>
          <p:spPr bwMode="auto">
            <a:xfrm>
              <a:off x="1179698" y="2187580"/>
              <a:ext cx="298126" cy="2971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38" name="Rectangle 51"/>
            <p:cNvSpPr>
              <a:spLocks noChangeArrowheads="1"/>
            </p:cNvSpPr>
            <p:nvPr/>
          </p:nvSpPr>
          <p:spPr bwMode="auto">
            <a:xfrm>
              <a:off x="1754880" y="2187580"/>
              <a:ext cx="298126" cy="2971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39" name="Rectangle 50"/>
            <p:cNvSpPr>
              <a:spLocks noChangeArrowheads="1"/>
            </p:cNvSpPr>
            <p:nvPr/>
          </p:nvSpPr>
          <p:spPr bwMode="auto">
            <a:xfrm>
              <a:off x="1467289" y="2187580"/>
              <a:ext cx="298126" cy="2971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40" name="Rectangle 49"/>
            <p:cNvSpPr>
              <a:spLocks noChangeArrowheads="1"/>
            </p:cNvSpPr>
            <p:nvPr/>
          </p:nvSpPr>
          <p:spPr bwMode="auto">
            <a:xfrm>
              <a:off x="2036151" y="2187580"/>
              <a:ext cx="298126" cy="2971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41" name="Rectangle 48"/>
            <p:cNvSpPr>
              <a:spLocks noChangeArrowheads="1"/>
            </p:cNvSpPr>
            <p:nvPr/>
          </p:nvSpPr>
          <p:spPr bwMode="auto">
            <a:xfrm>
              <a:off x="1179698" y="1880966"/>
              <a:ext cx="298126" cy="29818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43" name="Rectangle 46"/>
            <p:cNvSpPr>
              <a:spLocks noChangeArrowheads="1"/>
            </p:cNvSpPr>
            <p:nvPr/>
          </p:nvSpPr>
          <p:spPr bwMode="auto">
            <a:xfrm>
              <a:off x="1754880" y="1880966"/>
              <a:ext cx="298126" cy="29818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44" name="Rectangle 45"/>
            <p:cNvSpPr>
              <a:spLocks noChangeArrowheads="1"/>
            </p:cNvSpPr>
            <p:nvPr/>
          </p:nvSpPr>
          <p:spPr bwMode="auto">
            <a:xfrm>
              <a:off x="1467289" y="1880966"/>
              <a:ext cx="298126" cy="29818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45" name="Rectangle 44"/>
            <p:cNvSpPr>
              <a:spLocks noChangeArrowheads="1"/>
            </p:cNvSpPr>
            <p:nvPr/>
          </p:nvSpPr>
          <p:spPr bwMode="auto">
            <a:xfrm>
              <a:off x="2036151" y="1880966"/>
              <a:ext cx="298126" cy="29818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46" name="Rectangle 43"/>
            <p:cNvSpPr>
              <a:spLocks noChangeArrowheads="1"/>
            </p:cNvSpPr>
            <p:nvPr/>
          </p:nvSpPr>
          <p:spPr bwMode="auto">
            <a:xfrm>
              <a:off x="1179698" y="1568030"/>
              <a:ext cx="298126" cy="2971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48" name="Rectangle 41"/>
            <p:cNvSpPr>
              <a:spLocks noChangeArrowheads="1"/>
            </p:cNvSpPr>
            <p:nvPr/>
          </p:nvSpPr>
          <p:spPr bwMode="auto">
            <a:xfrm>
              <a:off x="1754880" y="1568030"/>
              <a:ext cx="298126" cy="29713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49" name="Rectangle 40"/>
            <p:cNvSpPr>
              <a:spLocks noChangeArrowheads="1"/>
            </p:cNvSpPr>
            <p:nvPr/>
          </p:nvSpPr>
          <p:spPr bwMode="auto">
            <a:xfrm>
              <a:off x="1467289" y="1568030"/>
              <a:ext cx="298126" cy="2971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50" name="Rectangle 39"/>
            <p:cNvSpPr>
              <a:spLocks noChangeArrowheads="1"/>
            </p:cNvSpPr>
            <p:nvPr/>
          </p:nvSpPr>
          <p:spPr bwMode="auto">
            <a:xfrm>
              <a:off x="2036151" y="1568030"/>
              <a:ext cx="298126" cy="29713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51" name="Rectangle 38"/>
            <p:cNvSpPr>
              <a:spLocks noChangeArrowheads="1"/>
            </p:cNvSpPr>
            <p:nvPr/>
          </p:nvSpPr>
          <p:spPr bwMode="auto">
            <a:xfrm>
              <a:off x="1179698" y="1261415"/>
              <a:ext cx="298126" cy="29818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53" name="Rectangle 36"/>
            <p:cNvSpPr>
              <a:spLocks noChangeArrowheads="1"/>
            </p:cNvSpPr>
            <p:nvPr/>
          </p:nvSpPr>
          <p:spPr bwMode="auto">
            <a:xfrm>
              <a:off x="1754880" y="1261415"/>
              <a:ext cx="298126" cy="29818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54" name="Rectangle 35"/>
            <p:cNvSpPr>
              <a:spLocks noChangeArrowheads="1"/>
            </p:cNvSpPr>
            <p:nvPr/>
          </p:nvSpPr>
          <p:spPr bwMode="auto">
            <a:xfrm>
              <a:off x="1467289" y="1261415"/>
              <a:ext cx="298126" cy="29818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55" name="Rectangle 34"/>
            <p:cNvSpPr>
              <a:spLocks noChangeArrowheads="1"/>
            </p:cNvSpPr>
            <p:nvPr/>
          </p:nvSpPr>
          <p:spPr bwMode="auto">
            <a:xfrm>
              <a:off x="2036151" y="1261415"/>
              <a:ext cx="298126" cy="29818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61" name="Rectangle 28"/>
            <p:cNvSpPr>
              <a:spLocks noChangeArrowheads="1"/>
            </p:cNvSpPr>
            <p:nvPr/>
          </p:nvSpPr>
          <p:spPr bwMode="auto">
            <a:xfrm>
              <a:off x="1484114" y="928670"/>
              <a:ext cx="298126" cy="29713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宋体" pitchFamily="2" charset="-122"/>
                  <a:cs typeface="Consolas" pitchFamily="49" charset="0"/>
                </a:rPr>
                <a:t>1</a:t>
              </a:r>
            </a:p>
          </p:txBody>
        </p:sp>
        <p:sp>
          <p:nvSpPr>
            <p:cNvPr id="62" name="Rectangle 27"/>
            <p:cNvSpPr>
              <a:spLocks noChangeArrowheads="1"/>
            </p:cNvSpPr>
            <p:nvPr/>
          </p:nvSpPr>
          <p:spPr bwMode="auto">
            <a:xfrm>
              <a:off x="1199683" y="928670"/>
              <a:ext cx="298126" cy="29713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宋体" pitchFamily="2" charset="-122"/>
                  <a:cs typeface="Consolas" pitchFamily="49" charset="0"/>
                </a:rPr>
                <a:t>0</a:t>
              </a:r>
            </a:p>
          </p:txBody>
        </p:sp>
        <p:sp>
          <p:nvSpPr>
            <p:cNvPr id="63" name="Rectangle 26"/>
            <p:cNvSpPr>
              <a:spLocks noChangeArrowheads="1"/>
            </p:cNvSpPr>
            <p:nvPr/>
          </p:nvSpPr>
          <p:spPr bwMode="auto">
            <a:xfrm>
              <a:off x="2059296" y="928670"/>
              <a:ext cx="298126" cy="29713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宋体" pitchFamily="2" charset="-122"/>
                  <a:cs typeface="Consolas" pitchFamily="49" charset="0"/>
                </a:rPr>
                <a:t>3</a:t>
              </a:r>
            </a:p>
          </p:txBody>
        </p:sp>
        <p:sp>
          <p:nvSpPr>
            <p:cNvPr id="64" name="Rectangle 25"/>
            <p:cNvSpPr>
              <a:spLocks noChangeArrowheads="1"/>
            </p:cNvSpPr>
            <p:nvPr/>
          </p:nvSpPr>
          <p:spPr bwMode="auto">
            <a:xfrm>
              <a:off x="1771705" y="928670"/>
              <a:ext cx="298126" cy="29713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宋体" pitchFamily="2" charset="-122"/>
                  <a:cs typeface="Consolas" pitchFamily="49" charset="0"/>
                </a:rPr>
                <a:t>2</a:t>
              </a:r>
            </a:p>
          </p:txBody>
        </p:sp>
        <p:sp>
          <p:nvSpPr>
            <p:cNvPr id="67" name="Rectangle 22"/>
            <p:cNvSpPr>
              <a:spLocks noChangeArrowheads="1"/>
            </p:cNvSpPr>
            <p:nvPr/>
          </p:nvSpPr>
          <p:spPr bwMode="auto">
            <a:xfrm>
              <a:off x="856000" y="2255943"/>
              <a:ext cx="298126" cy="298185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宋体" pitchFamily="2" charset="-122"/>
                  <a:cs typeface="Consolas" pitchFamily="49" charset="0"/>
                </a:rPr>
                <a:t>3</a:t>
              </a:r>
            </a:p>
          </p:txBody>
        </p:sp>
        <p:sp>
          <p:nvSpPr>
            <p:cNvPr id="68" name="Rectangle 21"/>
            <p:cNvSpPr>
              <a:spLocks noChangeArrowheads="1"/>
            </p:cNvSpPr>
            <p:nvPr/>
          </p:nvSpPr>
          <p:spPr bwMode="auto">
            <a:xfrm>
              <a:off x="856000" y="1943007"/>
              <a:ext cx="298126" cy="298185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宋体" pitchFamily="2" charset="-122"/>
                  <a:cs typeface="Consolas" pitchFamily="49" charset="0"/>
                </a:rPr>
                <a:t>2</a:t>
              </a:r>
            </a:p>
          </p:txBody>
        </p:sp>
        <p:sp>
          <p:nvSpPr>
            <p:cNvPr id="69" name="Rectangle 20"/>
            <p:cNvSpPr>
              <a:spLocks noChangeArrowheads="1"/>
            </p:cNvSpPr>
            <p:nvPr/>
          </p:nvSpPr>
          <p:spPr bwMode="auto">
            <a:xfrm>
              <a:off x="856000" y="1622389"/>
              <a:ext cx="298126" cy="298185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宋体" pitchFamily="2" charset="-122"/>
                  <a:cs typeface="Consolas" pitchFamily="49" charset="0"/>
                </a:rPr>
                <a:t>1</a:t>
              </a:r>
            </a:p>
          </p:txBody>
        </p:sp>
        <p:sp>
          <p:nvSpPr>
            <p:cNvPr id="70" name="Rectangle 19"/>
            <p:cNvSpPr>
              <a:spLocks noChangeArrowheads="1"/>
            </p:cNvSpPr>
            <p:nvPr/>
          </p:nvSpPr>
          <p:spPr bwMode="auto">
            <a:xfrm>
              <a:off x="856000" y="1346148"/>
              <a:ext cx="298126" cy="299239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宋体" pitchFamily="2" charset="-122"/>
                  <a:cs typeface="Consolas" pitchFamily="49" charset="0"/>
                </a:rPr>
                <a:t>0</a:t>
              </a:r>
            </a:p>
          </p:txBody>
        </p:sp>
        <p:sp>
          <p:nvSpPr>
            <p:cNvPr id="71" name="Rectangle 18"/>
            <p:cNvSpPr>
              <a:spLocks noChangeArrowheads="1"/>
            </p:cNvSpPr>
            <p:nvPr/>
          </p:nvSpPr>
          <p:spPr bwMode="auto">
            <a:xfrm>
              <a:off x="2571736" y="2061689"/>
              <a:ext cx="352427" cy="519580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仿宋" pitchFamily="49" charset="-122"/>
                  <a:ea typeface="仿宋" pitchFamily="49" charset="-122"/>
                  <a:cs typeface="Times New Roman" pitchFamily="18" charset="0"/>
                </a:rPr>
                <a:t>出</a:t>
              </a:r>
              <a:endParaRPr kumimoji="0" lang="en-US" altLang="zh-CN" sz="160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仿宋" pitchFamily="49" charset="-122"/>
                <a:ea typeface="仿宋" pitchFamily="49" charset="-122"/>
                <a:cs typeface="Times New Roman" pitchFamily="18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仿宋" pitchFamily="49" charset="-122"/>
                  <a:ea typeface="仿宋" pitchFamily="49" charset="-122"/>
                  <a:cs typeface="Times New Roman" pitchFamily="18" charset="0"/>
                </a:rPr>
                <a:t>口</a:t>
              </a:r>
              <a:endParaRPr kumimoji="0" lang="zh-CN" sz="160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仿宋" pitchFamily="49" charset="-122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85" name="Rectangle 4"/>
            <p:cNvSpPr>
              <a:spLocks noChangeArrowheads="1"/>
            </p:cNvSpPr>
            <p:nvPr/>
          </p:nvSpPr>
          <p:spPr bwMode="auto">
            <a:xfrm>
              <a:off x="489986" y="1091642"/>
              <a:ext cx="357190" cy="575086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仿宋" pitchFamily="49" charset="-122"/>
                  <a:ea typeface="仿宋" pitchFamily="49" charset="-122"/>
                  <a:cs typeface="Times New Roman" pitchFamily="18" charset="0"/>
                </a:rPr>
                <a:t>入</a:t>
              </a:r>
              <a:endParaRPr kumimoji="0" lang="en-US" altLang="zh-CN" sz="160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仿宋" pitchFamily="49" charset="-122"/>
                <a:ea typeface="仿宋" pitchFamily="49" charset="-122"/>
                <a:cs typeface="Times New Roman" pitchFamily="18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仿宋" pitchFamily="49" charset="-122"/>
                  <a:ea typeface="仿宋" pitchFamily="49" charset="-122"/>
                  <a:cs typeface="Times New Roman" pitchFamily="18" charset="0"/>
                </a:rPr>
                <a:t>口</a:t>
              </a:r>
              <a:endParaRPr kumimoji="0" lang="zh-CN" sz="160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仿宋" pitchFamily="49" charset="-122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86" name="AutoShape 3"/>
            <p:cNvSpPr>
              <a:spLocks noChangeShapeType="1"/>
            </p:cNvSpPr>
            <p:nvPr/>
          </p:nvSpPr>
          <p:spPr bwMode="auto">
            <a:xfrm flipV="1">
              <a:off x="745852" y="1356244"/>
              <a:ext cx="540000" cy="1054"/>
            </a:xfrm>
            <a:prstGeom prst="straightConnector1">
              <a:avLst/>
            </a:prstGeom>
            <a:ln w="19050"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7" name="AutoShape 2"/>
            <p:cNvSpPr>
              <a:spLocks noChangeShapeType="1"/>
            </p:cNvSpPr>
            <p:nvPr/>
          </p:nvSpPr>
          <p:spPr bwMode="auto">
            <a:xfrm flipH="1">
              <a:off x="2147796" y="2341414"/>
              <a:ext cx="540000" cy="1054"/>
            </a:xfrm>
            <a:prstGeom prst="straightConnector1">
              <a:avLst/>
            </a:prstGeom>
            <a:ln w="19050"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17511" name="Rectangle 10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39" name="组合 138"/>
          <p:cNvGrpSpPr/>
          <p:nvPr/>
        </p:nvGrpSpPr>
        <p:grpSpPr>
          <a:xfrm>
            <a:off x="6372139" y="3071810"/>
            <a:ext cx="1486009" cy="1571636"/>
            <a:chOff x="6529746" y="2143116"/>
            <a:chExt cx="1486009" cy="1571636"/>
          </a:xfrm>
        </p:grpSpPr>
        <p:sp>
          <p:nvSpPr>
            <p:cNvPr id="141" name="Rectangle 53"/>
            <p:cNvSpPr>
              <a:spLocks noChangeArrowheads="1"/>
            </p:cNvSpPr>
            <p:nvPr/>
          </p:nvSpPr>
          <p:spPr bwMode="auto">
            <a:xfrm>
              <a:off x="6839769" y="3391978"/>
              <a:ext cx="298126" cy="2971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lvl="0">
                <a:lnSpc>
                  <a:spcPct val="100000"/>
                </a:lnSpc>
                <a:spcBef>
                  <a:spcPct val="0"/>
                </a:spcBef>
              </a:pPr>
              <a:r>
                <a:rPr kumimoji="0" lang="zh-CN" altLang="en-US" sz="1800" smtClean="0">
                  <a:solidFill>
                    <a:srgbClr val="FF0000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rPr>
                <a:t>→</a:t>
              </a:r>
              <a:endParaRPr kumimoji="0" lang="zh-CN" altLang="zh-CN" sz="1800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43" name="Rectangle 51"/>
            <p:cNvSpPr>
              <a:spLocks noChangeArrowheads="1"/>
            </p:cNvSpPr>
            <p:nvPr/>
          </p:nvSpPr>
          <p:spPr bwMode="auto">
            <a:xfrm>
              <a:off x="7414951" y="3391978"/>
              <a:ext cx="298126" cy="2971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lvl="0">
                <a:lnSpc>
                  <a:spcPct val="100000"/>
                </a:lnSpc>
                <a:spcBef>
                  <a:spcPct val="0"/>
                </a:spcBef>
              </a:pPr>
              <a:r>
                <a:rPr kumimoji="0" lang="zh-CN" altLang="en-US" sz="1800" smtClean="0">
                  <a:solidFill>
                    <a:srgbClr val="FF0000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rPr>
                <a:t>↑</a:t>
              </a:r>
              <a:endParaRPr kumimoji="0" lang="zh-CN" altLang="zh-CN" sz="1800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44" name="Rectangle 50"/>
            <p:cNvSpPr>
              <a:spLocks noChangeArrowheads="1"/>
            </p:cNvSpPr>
            <p:nvPr/>
          </p:nvSpPr>
          <p:spPr bwMode="auto">
            <a:xfrm>
              <a:off x="7127360" y="3391978"/>
              <a:ext cx="298126" cy="2971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lvl="0" algn="l">
                <a:lnSpc>
                  <a:spcPct val="100000"/>
                </a:lnSpc>
                <a:spcBef>
                  <a:spcPct val="0"/>
                </a:spcBef>
              </a:pPr>
              <a:r>
                <a:rPr kumimoji="0" lang="zh-CN" altLang="en-US" sz="1800" smtClean="0">
                  <a:solidFill>
                    <a:srgbClr val="FF0000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rPr>
                <a:t>→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45" name="Rectangle 49"/>
            <p:cNvSpPr>
              <a:spLocks noChangeArrowheads="1"/>
            </p:cNvSpPr>
            <p:nvPr/>
          </p:nvSpPr>
          <p:spPr bwMode="auto">
            <a:xfrm>
              <a:off x="7696222" y="3391978"/>
              <a:ext cx="298126" cy="2971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000" b="0" i="0" u="none" strike="noStrike" cap="none" normalizeH="0" baseline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  <a:sym typeface="Webdings"/>
                </a:rPr>
                <a:t></a:t>
              </a:r>
              <a:endParaRPr kumimoji="0" lang="zh-CN" altLang="zh-CN" sz="2000" b="0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46" name="Rectangle 48"/>
            <p:cNvSpPr>
              <a:spLocks noChangeArrowheads="1"/>
            </p:cNvSpPr>
            <p:nvPr/>
          </p:nvSpPr>
          <p:spPr bwMode="auto">
            <a:xfrm>
              <a:off x="6839769" y="3085364"/>
              <a:ext cx="298126" cy="29818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kumimoji="0" lang="zh-CN" altLang="en-US" sz="1800" smtClean="0">
                  <a:solidFill>
                    <a:srgbClr val="FF0000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rPr>
                <a:t>↓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48" name="Rectangle 46"/>
            <p:cNvSpPr>
              <a:spLocks noChangeArrowheads="1"/>
            </p:cNvSpPr>
            <p:nvPr/>
          </p:nvSpPr>
          <p:spPr bwMode="auto">
            <a:xfrm>
              <a:off x="7414951" y="3085364"/>
              <a:ext cx="298126" cy="29818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lvl="0" algn="l">
                <a:lnSpc>
                  <a:spcPct val="100000"/>
                </a:lnSpc>
                <a:spcBef>
                  <a:spcPct val="0"/>
                </a:spcBef>
              </a:pPr>
              <a:r>
                <a:rPr kumimoji="0" lang="zh-CN" altLang="en-US" sz="1800" smtClean="0">
                  <a:solidFill>
                    <a:srgbClr val="FF0000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rPr>
                <a:t>→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49" name="Rectangle 45"/>
            <p:cNvSpPr>
              <a:spLocks noChangeArrowheads="1"/>
            </p:cNvSpPr>
            <p:nvPr/>
          </p:nvSpPr>
          <p:spPr bwMode="auto">
            <a:xfrm>
              <a:off x="7127360" y="3085364"/>
              <a:ext cx="298126" cy="29818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50" name="Rectangle 44"/>
            <p:cNvSpPr>
              <a:spLocks noChangeArrowheads="1"/>
            </p:cNvSpPr>
            <p:nvPr/>
          </p:nvSpPr>
          <p:spPr bwMode="auto">
            <a:xfrm>
              <a:off x="7696222" y="3085364"/>
              <a:ext cx="298126" cy="29818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kumimoji="0" lang="zh-CN" altLang="en-US" sz="1800" smtClean="0">
                  <a:solidFill>
                    <a:srgbClr val="FF0000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rPr>
                <a:t>↓</a:t>
              </a:r>
              <a:endParaRPr kumimoji="0" lang="zh-CN" altLang="zh-CN" sz="1800" smtClean="0">
                <a:solidFill>
                  <a:srgbClr val="FF0000"/>
                </a:solidFill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51" name="Rectangle 43"/>
            <p:cNvSpPr>
              <a:spLocks noChangeArrowheads="1"/>
            </p:cNvSpPr>
            <p:nvPr/>
          </p:nvSpPr>
          <p:spPr bwMode="auto">
            <a:xfrm>
              <a:off x="6839769" y="2782476"/>
              <a:ext cx="298126" cy="2971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kumimoji="0" lang="zh-CN" altLang="en-US" sz="1800" smtClean="0">
                  <a:solidFill>
                    <a:srgbClr val="FF0000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rPr>
                <a:t>↓</a:t>
              </a:r>
              <a:endParaRPr kumimoji="0" lang="zh-CN" altLang="zh-CN" sz="1800" smtClean="0">
                <a:solidFill>
                  <a:srgbClr val="FF0000"/>
                </a:solidFill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53" name="Rectangle 41"/>
            <p:cNvSpPr>
              <a:spLocks noChangeArrowheads="1"/>
            </p:cNvSpPr>
            <p:nvPr/>
          </p:nvSpPr>
          <p:spPr bwMode="auto">
            <a:xfrm>
              <a:off x="7414951" y="2782476"/>
              <a:ext cx="298126" cy="29713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54" name="Rectangle 40"/>
            <p:cNvSpPr>
              <a:spLocks noChangeArrowheads="1"/>
            </p:cNvSpPr>
            <p:nvPr/>
          </p:nvSpPr>
          <p:spPr bwMode="auto">
            <a:xfrm>
              <a:off x="7127360" y="2782476"/>
              <a:ext cx="298126" cy="2971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55" name="Rectangle 39"/>
            <p:cNvSpPr>
              <a:spLocks noChangeArrowheads="1"/>
            </p:cNvSpPr>
            <p:nvPr/>
          </p:nvSpPr>
          <p:spPr bwMode="auto">
            <a:xfrm>
              <a:off x="7696222" y="2782476"/>
              <a:ext cx="298126" cy="29713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56" name="Rectangle 38"/>
            <p:cNvSpPr>
              <a:spLocks noChangeArrowheads="1"/>
            </p:cNvSpPr>
            <p:nvPr/>
          </p:nvSpPr>
          <p:spPr bwMode="auto">
            <a:xfrm>
              <a:off x="6839769" y="2475861"/>
              <a:ext cx="298126" cy="29818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lvl="0">
                <a:lnSpc>
                  <a:spcPct val="100000"/>
                </a:lnSpc>
                <a:spcBef>
                  <a:spcPct val="0"/>
                </a:spcBef>
              </a:pPr>
              <a:r>
                <a:rPr kumimoji="0" lang="zh-CN" altLang="en-US" sz="1800" smtClean="0">
                  <a:solidFill>
                    <a:srgbClr val="FF0000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rPr>
                <a:t>↓</a:t>
              </a:r>
              <a:endParaRPr kumimoji="0" lang="zh-CN" altLang="zh-CN" sz="1800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58" name="Rectangle 36"/>
            <p:cNvSpPr>
              <a:spLocks noChangeArrowheads="1"/>
            </p:cNvSpPr>
            <p:nvPr/>
          </p:nvSpPr>
          <p:spPr bwMode="auto">
            <a:xfrm>
              <a:off x="7414951" y="2475861"/>
              <a:ext cx="298126" cy="29818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59" name="Rectangle 35"/>
            <p:cNvSpPr>
              <a:spLocks noChangeArrowheads="1"/>
            </p:cNvSpPr>
            <p:nvPr/>
          </p:nvSpPr>
          <p:spPr bwMode="auto">
            <a:xfrm>
              <a:off x="7127360" y="2475861"/>
              <a:ext cx="298126" cy="29818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60" name="Rectangle 34"/>
            <p:cNvSpPr>
              <a:spLocks noChangeArrowheads="1"/>
            </p:cNvSpPr>
            <p:nvPr/>
          </p:nvSpPr>
          <p:spPr bwMode="auto">
            <a:xfrm>
              <a:off x="7696222" y="2475861"/>
              <a:ext cx="298126" cy="29818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66" name="Rectangle 28"/>
            <p:cNvSpPr>
              <a:spLocks noChangeArrowheads="1"/>
            </p:cNvSpPr>
            <p:nvPr/>
          </p:nvSpPr>
          <p:spPr bwMode="auto">
            <a:xfrm>
              <a:off x="7142447" y="2143116"/>
              <a:ext cx="298126" cy="29713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宋体" pitchFamily="2" charset="-122"/>
                  <a:cs typeface="Consolas" pitchFamily="49" charset="0"/>
                </a:rPr>
                <a:t>1</a:t>
              </a:r>
            </a:p>
          </p:txBody>
        </p:sp>
        <p:sp>
          <p:nvSpPr>
            <p:cNvPr id="167" name="Rectangle 27"/>
            <p:cNvSpPr>
              <a:spLocks noChangeArrowheads="1"/>
            </p:cNvSpPr>
            <p:nvPr/>
          </p:nvSpPr>
          <p:spPr bwMode="auto">
            <a:xfrm>
              <a:off x="6858016" y="2143116"/>
              <a:ext cx="298126" cy="29713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宋体" pitchFamily="2" charset="-122"/>
                  <a:cs typeface="Consolas" pitchFamily="49" charset="0"/>
                </a:rPr>
                <a:t>0</a:t>
              </a:r>
            </a:p>
          </p:txBody>
        </p:sp>
        <p:sp>
          <p:nvSpPr>
            <p:cNvPr id="168" name="Rectangle 26"/>
            <p:cNvSpPr>
              <a:spLocks noChangeArrowheads="1"/>
            </p:cNvSpPr>
            <p:nvPr/>
          </p:nvSpPr>
          <p:spPr bwMode="auto">
            <a:xfrm>
              <a:off x="7717629" y="2143116"/>
              <a:ext cx="298126" cy="29713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宋体" pitchFamily="2" charset="-122"/>
                  <a:cs typeface="Consolas" pitchFamily="49" charset="0"/>
                </a:rPr>
                <a:t>3</a:t>
              </a:r>
            </a:p>
          </p:txBody>
        </p:sp>
        <p:sp>
          <p:nvSpPr>
            <p:cNvPr id="169" name="Rectangle 25"/>
            <p:cNvSpPr>
              <a:spLocks noChangeArrowheads="1"/>
            </p:cNvSpPr>
            <p:nvPr/>
          </p:nvSpPr>
          <p:spPr bwMode="auto">
            <a:xfrm>
              <a:off x="7430038" y="2143116"/>
              <a:ext cx="298126" cy="29713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宋体" pitchFamily="2" charset="-122"/>
                  <a:cs typeface="Consolas" pitchFamily="49" charset="0"/>
                </a:rPr>
                <a:t>2</a:t>
              </a:r>
            </a:p>
          </p:txBody>
        </p:sp>
        <p:sp>
          <p:nvSpPr>
            <p:cNvPr id="172" name="Rectangle 22"/>
            <p:cNvSpPr>
              <a:spLocks noChangeArrowheads="1"/>
            </p:cNvSpPr>
            <p:nvPr/>
          </p:nvSpPr>
          <p:spPr bwMode="auto">
            <a:xfrm>
              <a:off x="6529746" y="3416567"/>
              <a:ext cx="298126" cy="298185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宋体" pitchFamily="2" charset="-122"/>
                  <a:cs typeface="Consolas" pitchFamily="49" charset="0"/>
                </a:rPr>
                <a:t>3</a:t>
              </a:r>
            </a:p>
          </p:txBody>
        </p:sp>
        <p:sp>
          <p:nvSpPr>
            <p:cNvPr id="173" name="Rectangle 21"/>
            <p:cNvSpPr>
              <a:spLocks noChangeArrowheads="1"/>
            </p:cNvSpPr>
            <p:nvPr/>
          </p:nvSpPr>
          <p:spPr bwMode="auto">
            <a:xfrm>
              <a:off x="6529746" y="3103631"/>
              <a:ext cx="298126" cy="298185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宋体" pitchFamily="2" charset="-122"/>
                  <a:cs typeface="Consolas" pitchFamily="49" charset="0"/>
                </a:rPr>
                <a:t>2</a:t>
              </a:r>
            </a:p>
          </p:txBody>
        </p:sp>
        <p:sp>
          <p:nvSpPr>
            <p:cNvPr id="174" name="Rectangle 20"/>
            <p:cNvSpPr>
              <a:spLocks noChangeArrowheads="1"/>
            </p:cNvSpPr>
            <p:nvPr/>
          </p:nvSpPr>
          <p:spPr bwMode="auto">
            <a:xfrm>
              <a:off x="6529746" y="2793061"/>
              <a:ext cx="298126" cy="298185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宋体" pitchFamily="2" charset="-122"/>
                  <a:cs typeface="Consolas" pitchFamily="49" charset="0"/>
                </a:rPr>
                <a:t>1</a:t>
              </a:r>
            </a:p>
          </p:txBody>
        </p:sp>
        <p:sp>
          <p:nvSpPr>
            <p:cNvPr id="175" name="Rectangle 19"/>
            <p:cNvSpPr>
              <a:spLocks noChangeArrowheads="1"/>
            </p:cNvSpPr>
            <p:nvPr/>
          </p:nvSpPr>
          <p:spPr bwMode="auto">
            <a:xfrm>
              <a:off x="6529746" y="2496724"/>
              <a:ext cx="298126" cy="299239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宋体" pitchFamily="2" charset="-122"/>
                  <a:cs typeface="Consolas" pitchFamily="49" charset="0"/>
                </a:rPr>
                <a:t>0</a:t>
              </a:r>
            </a:p>
          </p:txBody>
        </p:sp>
      </p:grpSp>
      <p:sp>
        <p:nvSpPr>
          <p:cNvPr id="194" name="右箭头 193"/>
          <p:cNvSpPr/>
          <p:nvPr/>
        </p:nvSpPr>
        <p:spPr>
          <a:xfrm>
            <a:off x="6000760" y="3714752"/>
            <a:ext cx="285752" cy="214314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6" name="组合 175"/>
          <p:cNvGrpSpPr/>
          <p:nvPr/>
        </p:nvGrpSpPr>
        <p:grpSpPr>
          <a:xfrm>
            <a:off x="6000760" y="571480"/>
            <a:ext cx="2286016" cy="1643050"/>
            <a:chOff x="2623092" y="1435050"/>
            <a:chExt cx="2663288" cy="1915276"/>
          </a:xfrm>
        </p:grpSpPr>
        <p:sp>
          <p:nvSpPr>
            <p:cNvPr id="190" name="Text Box 15"/>
            <p:cNvSpPr txBox="1">
              <a:spLocks noChangeArrowheads="1"/>
            </p:cNvSpPr>
            <p:nvPr/>
          </p:nvSpPr>
          <p:spPr bwMode="auto">
            <a:xfrm>
              <a:off x="2623092" y="2221790"/>
              <a:ext cx="591586" cy="27851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4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方位</a:t>
              </a:r>
              <a:r>
                <a:rPr kumimoji="0" lang="en-US" altLang="zh-CN" sz="14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3</a:t>
              </a:r>
            </a:p>
          </p:txBody>
        </p:sp>
        <p:sp>
          <p:nvSpPr>
            <p:cNvPr id="191" name="Line 13"/>
            <p:cNvSpPr>
              <a:spLocks noChangeShapeType="1"/>
            </p:cNvSpPr>
            <p:nvPr/>
          </p:nvSpPr>
          <p:spPr bwMode="auto">
            <a:xfrm flipV="1">
              <a:off x="4036566" y="1725697"/>
              <a:ext cx="0" cy="522909"/>
            </a:xfrm>
            <a:prstGeom prst="line">
              <a:avLst/>
            </a:prstGeom>
            <a:ln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92" name="Line 10"/>
            <p:cNvSpPr>
              <a:spLocks noChangeShapeType="1"/>
            </p:cNvSpPr>
            <p:nvPr/>
          </p:nvSpPr>
          <p:spPr bwMode="auto">
            <a:xfrm>
              <a:off x="4036566" y="2505910"/>
              <a:ext cx="0" cy="522909"/>
            </a:xfrm>
            <a:prstGeom prst="line">
              <a:avLst/>
            </a:prstGeom>
            <a:ln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95" name="Line 9"/>
            <p:cNvSpPr>
              <a:spLocks noChangeShapeType="1"/>
            </p:cNvSpPr>
            <p:nvPr/>
          </p:nvSpPr>
          <p:spPr bwMode="auto">
            <a:xfrm>
              <a:off x="4076313" y="2362041"/>
              <a:ext cx="521554" cy="0"/>
            </a:xfrm>
            <a:prstGeom prst="line">
              <a:avLst/>
            </a:prstGeom>
            <a:ln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96" name="Line 8"/>
            <p:cNvSpPr>
              <a:spLocks noChangeShapeType="1"/>
            </p:cNvSpPr>
            <p:nvPr/>
          </p:nvSpPr>
          <p:spPr bwMode="auto">
            <a:xfrm flipH="1">
              <a:off x="3249750" y="2362041"/>
              <a:ext cx="523397" cy="0"/>
            </a:xfrm>
            <a:prstGeom prst="line">
              <a:avLst/>
            </a:prstGeom>
            <a:ln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97" name="Text Box 7"/>
            <p:cNvSpPr txBox="1">
              <a:spLocks noChangeArrowheads="1"/>
            </p:cNvSpPr>
            <p:nvPr/>
          </p:nvSpPr>
          <p:spPr bwMode="auto">
            <a:xfrm>
              <a:off x="3696505" y="1435050"/>
              <a:ext cx="589743" cy="27943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4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方位</a:t>
              </a:r>
              <a:r>
                <a:rPr kumimoji="0" lang="en-US" altLang="zh-CN" sz="14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</a:p>
          </p:txBody>
        </p:sp>
        <p:sp>
          <p:nvSpPr>
            <p:cNvPr id="198" name="Text Box 6"/>
            <p:cNvSpPr txBox="1">
              <a:spLocks noChangeArrowheads="1"/>
            </p:cNvSpPr>
            <p:nvPr/>
          </p:nvSpPr>
          <p:spPr bwMode="auto">
            <a:xfrm>
              <a:off x="4694794" y="2222712"/>
              <a:ext cx="591586" cy="27759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4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方位</a:t>
              </a:r>
              <a:r>
                <a:rPr kumimoji="0" lang="en-US" altLang="zh-CN" sz="14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</a:p>
          </p:txBody>
        </p:sp>
        <p:sp>
          <p:nvSpPr>
            <p:cNvPr id="199" name="Text Box 5"/>
            <p:cNvSpPr txBox="1">
              <a:spLocks noChangeArrowheads="1"/>
            </p:cNvSpPr>
            <p:nvPr/>
          </p:nvSpPr>
          <p:spPr bwMode="auto">
            <a:xfrm>
              <a:off x="3767021" y="3071810"/>
              <a:ext cx="590665" cy="27851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4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方位</a:t>
              </a:r>
              <a:r>
                <a:rPr kumimoji="0" lang="en-US" altLang="zh-CN" sz="14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</a:p>
          </p:txBody>
        </p:sp>
        <p:sp>
          <p:nvSpPr>
            <p:cNvPr id="200" name="Text Box 4"/>
            <p:cNvSpPr txBox="1">
              <a:spLocks noChangeArrowheads="1"/>
            </p:cNvSpPr>
            <p:nvPr/>
          </p:nvSpPr>
          <p:spPr bwMode="auto">
            <a:xfrm>
              <a:off x="3734826" y="2214554"/>
              <a:ext cx="576453" cy="28773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(</a:t>
              </a:r>
              <a:r>
                <a:rPr kumimoji="0" lang="en-US" altLang="zh-CN" sz="1400" b="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i</a:t>
              </a:r>
              <a:r>
                <a:rPr kumimoji="0" lang="en-US" altLang="zh-CN" sz="14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,</a:t>
              </a:r>
              <a:r>
                <a:rPr kumimoji="0" lang="en-US" altLang="zh-CN" sz="1400" b="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j</a:t>
              </a:r>
              <a:r>
                <a:rPr kumimoji="0" lang="en-US" altLang="zh-CN" sz="14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)</a:t>
              </a:r>
            </a:p>
          </p:txBody>
        </p:sp>
        <p:sp>
          <p:nvSpPr>
            <p:cNvPr id="201" name="Freeform 2"/>
            <p:cNvSpPr>
              <a:spLocks/>
            </p:cNvSpPr>
            <p:nvPr/>
          </p:nvSpPr>
          <p:spPr bwMode="auto">
            <a:xfrm>
              <a:off x="3531418" y="1884322"/>
              <a:ext cx="917788" cy="925927"/>
            </a:xfrm>
            <a:custGeom>
              <a:avLst/>
              <a:gdLst/>
              <a:ahLst/>
              <a:cxnLst>
                <a:cxn ang="0">
                  <a:pos x="739" y="0"/>
                </a:cxn>
                <a:cxn ang="0">
                  <a:pos x="894" y="155"/>
                </a:cxn>
                <a:cxn ang="0">
                  <a:pos x="970" y="518"/>
                </a:cxn>
                <a:cxn ang="0">
                  <a:pos x="735" y="917"/>
                </a:cxn>
                <a:cxn ang="0">
                  <a:pos x="270" y="973"/>
                </a:cxn>
                <a:cxn ang="0">
                  <a:pos x="43" y="730"/>
                </a:cxn>
                <a:cxn ang="0">
                  <a:pos x="15" y="328"/>
                </a:cxn>
              </a:cxnLst>
              <a:rect l="0" t="0" r="r" b="b"/>
              <a:pathLst>
                <a:path w="996" h="1004">
                  <a:moveTo>
                    <a:pt x="739" y="0"/>
                  </a:moveTo>
                  <a:cubicBezTo>
                    <a:pt x="797" y="34"/>
                    <a:pt x="855" y="69"/>
                    <a:pt x="894" y="155"/>
                  </a:cubicBezTo>
                  <a:cubicBezTo>
                    <a:pt x="933" y="241"/>
                    <a:pt x="996" y="391"/>
                    <a:pt x="970" y="518"/>
                  </a:cubicBezTo>
                  <a:cubicBezTo>
                    <a:pt x="944" y="645"/>
                    <a:pt x="852" y="841"/>
                    <a:pt x="735" y="917"/>
                  </a:cubicBezTo>
                  <a:cubicBezTo>
                    <a:pt x="618" y="993"/>
                    <a:pt x="385" y="1004"/>
                    <a:pt x="270" y="973"/>
                  </a:cubicBezTo>
                  <a:cubicBezTo>
                    <a:pt x="155" y="942"/>
                    <a:pt x="86" y="838"/>
                    <a:pt x="43" y="730"/>
                  </a:cubicBezTo>
                  <a:cubicBezTo>
                    <a:pt x="0" y="622"/>
                    <a:pt x="21" y="412"/>
                    <a:pt x="15" y="328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  <a:prstDash val="dash"/>
              <a:round/>
              <a:headEnd/>
              <a:tailEnd type="arrow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103" name="灯片编号占位符 10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69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2844" y="285728"/>
            <a:ext cx="8858280" cy="50809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16000" tIns="108000" bIns="108000" rtlCol="0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mgpath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(int xi,int yi,int xe,int ye)</a:t>
            </a:r>
          </a:p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求一条从</a:t>
            </a:r>
            <a:r>
              <a:rPr lang="en-US" altLang="zh-CN" sz="1800" smtClean="0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(xi,yi)</a:t>
            </a:r>
            <a:r>
              <a:rPr lang="zh-CN" altLang="zh-CN" sz="1800" smtClean="0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到</a:t>
            </a:r>
            <a:r>
              <a:rPr lang="en-US" altLang="zh-CN" sz="1800" smtClean="0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(xe,ye)</a:t>
            </a:r>
            <a:r>
              <a:rPr lang="zh-CN" altLang="zh-CN" sz="1800" smtClean="0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的迷宫路径</a:t>
            </a:r>
          </a:p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int i,j,di,i1,j1;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bool find;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Box b,b1;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800" smtClean="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stack&lt;Box&gt; st;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建立一个栈</a:t>
            </a:r>
          </a:p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b=Box(xi,yi,-1);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st.push(b);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入口方块进栈</a:t>
            </a:r>
          </a:p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mg[xi][yi]=-1;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为避免来回找相邻方块置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mg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值为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ct val="2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while (</a:t>
            </a:r>
            <a:r>
              <a:rPr lang="en-US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!st.empty()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栈不空时循环</a:t>
            </a:r>
          </a:p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b=st.top();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取栈顶方块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,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称为当前方块</a:t>
            </a:r>
          </a:p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if (</a:t>
            </a:r>
            <a:r>
              <a:rPr lang="en-US" altLang="zh-CN" sz="1800" smtClean="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b.i==xe &amp;&amp; b.j==ye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输出栈中所有方块构成一条路径</a:t>
            </a:r>
          </a:p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{ 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disppath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(st);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return true;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找到一条路径后返回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true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70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214290"/>
            <a:ext cx="8858312" cy="60145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16000" tIns="108000" bIns="108000" rtlCol="0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find=false;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否则继续找路径</a:t>
            </a: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di=b.di;</a:t>
            </a: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while (di&lt;3 &amp;&amp; find==false)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找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的一个相邻可走方块</a:t>
            </a: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{  di++;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找下一个方位的相邻方块</a:t>
            </a: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i=b.i+dx[di];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找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di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方位的相邻方块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(i,j)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j=b.j+dy[di];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if (</a:t>
            </a:r>
            <a:r>
              <a:rPr lang="en-US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i&gt;=0 &amp;&amp; i&lt;m &amp;&amp; j&gt;=0 &amp;&amp; j&lt;n &amp;&amp; mg[i][j]==0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  find=true;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//(i,j)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方块有效且可走</a:t>
            </a: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120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if (find)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找到一个相邻可走方块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(i,j)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{  st.top().di=di;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修改栈顶方块的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di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为新值</a:t>
            </a: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b1=Box(i,j,-1);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建立相邻可走方块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(i,j)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的对象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b1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st.push(b1);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//b1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进栈 </a:t>
            </a: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mg[i][j]=-1;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为避免来回找相邻方块置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mg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值为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else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栈顶方块没有找到任何相邻可走方块</a:t>
            </a: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{  mg[b.i][b.j]=0;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恢复栈顶方块的迷宫值</a:t>
            </a: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st.pop();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将栈顶方块退栈</a:t>
            </a: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return false;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没有找到迷宫路径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,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返回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false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71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2844" y="543352"/>
            <a:ext cx="8786874" cy="45286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16000" tIns="108000" bIns="108000" rtlCol="0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void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disppath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(stack&lt;Box&gt;&amp; st)	  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输出栈中所有方块构成一条迷宫路径</a:t>
            </a: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Box b;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vector&lt;Box&gt; apath;			  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存放一条迷宫路径</a:t>
            </a: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while (!st.empty())		  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出栈所有的方块</a:t>
            </a: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b=st.top(); st.pop();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apath.push_back(b);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reverse(apath.begin(),apath.end());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逆置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apath(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也可反向输出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apath)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cout &lt;&lt; "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一条迷宫路径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: ";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for (int i=0;i&lt;apath.size();i++)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cout &lt;&lt; "[" &lt;&lt; apath[i].i &lt;&lt; "," &lt;&lt; apath[i].j &lt;&lt; "]  "; 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cout &lt;&lt; endl;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72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8596" y="763162"/>
            <a:ext cx="7286676" cy="20134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16000" tIns="108000" bIns="108000" rtlCol="0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main()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int xi=0,yi=0,xe=3,ye=3;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printf("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求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(%d,%d)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到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(%d,%d)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的迷宫路径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\n",xi,yi,xe,ye);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if (!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mgpath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(xi,yi,xe,ye))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cout &lt;&lt; "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不存在迷宫路径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\n";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return 0;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8596" y="214290"/>
            <a:ext cx="1571636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2000" spc="5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楷体" pitchFamily="49" charset="-122"/>
                <a:ea typeface="楷体" pitchFamily="49" charset="-122"/>
                <a:cs typeface="Consolas" pitchFamily="49" charset="0"/>
              </a:rPr>
              <a:t>设计主</a:t>
            </a:r>
            <a:r>
              <a:rPr lang="zh-CN" altLang="en-US" sz="2000" spc="5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楷体" pitchFamily="49" charset="-122"/>
                <a:ea typeface="楷体" pitchFamily="49" charset="-122"/>
                <a:cs typeface="Consolas" pitchFamily="49" charset="0"/>
              </a:rPr>
              <a:t>程序</a:t>
            </a:r>
          </a:p>
        </p:txBody>
      </p:sp>
      <p:sp>
        <p:nvSpPr>
          <p:cNvPr id="149555" name="Rectangle 5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60" name="组合 59"/>
          <p:cNvGrpSpPr/>
          <p:nvPr/>
        </p:nvGrpSpPr>
        <p:grpSpPr>
          <a:xfrm>
            <a:off x="3071802" y="4572008"/>
            <a:ext cx="1857388" cy="1904174"/>
            <a:chOff x="3071802" y="4572008"/>
            <a:chExt cx="1857388" cy="1904174"/>
          </a:xfrm>
        </p:grpSpPr>
        <p:sp>
          <p:nvSpPr>
            <p:cNvPr id="149554" name="AutoShape 50"/>
            <p:cNvSpPr>
              <a:spLocks noChangeAspect="1" noChangeArrowheads="1" noTextEdit="1"/>
            </p:cNvSpPr>
            <p:nvPr/>
          </p:nvSpPr>
          <p:spPr bwMode="auto">
            <a:xfrm>
              <a:off x="3071802" y="4572008"/>
              <a:ext cx="1857388" cy="1904174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49553" name="Rectangle 49"/>
            <p:cNvSpPr>
              <a:spLocks noChangeArrowheads="1"/>
            </p:cNvSpPr>
            <p:nvPr/>
          </p:nvSpPr>
          <p:spPr bwMode="auto">
            <a:xfrm>
              <a:off x="3626959" y="5944436"/>
              <a:ext cx="264940" cy="264001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4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→</a:t>
              </a:r>
            </a:p>
          </p:txBody>
        </p:sp>
        <p:sp>
          <p:nvSpPr>
            <p:cNvPr id="149551" name="Rectangle 47"/>
            <p:cNvSpPr>
              <a:spLocks noChangeArrowheads="1"/>
            </p:cNvSpPr>
            <p:nvPr/>
          </p:nvSpPr>
          <p:spPr bwMode="auto">
            <a:xfrm>
              <a:off x="4138115" y="5944436"/>
              <a:ext cx="264940" cy="264001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4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↑</a:t>
              </a:r>
            </a:p>
          </p:txBody>
        </p:sp>
        <p:sp>
          <p:nvSpPr>
            <p:cNvPr id="149550" name="Rectangle 46"/>
            <p:cNvSpPr>
              <a:spLocks noChangeArrowheads="1"/>
            </p:cNvSpPr>
            <p:nvPr/>
          </p:nvSpPr>
          <p:spPr bwMode="auto">
            <a:xfrm>
              <a:off x="3882537" y="5944436"/>
              <a:ext cx="264940" cy="264001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4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→</a:t>
              </a:r>
            </a:p>
          </p:txBody>
        </p:sp>
        <p:sp>
          <p:nvSpPr>
            <p:cNvPr id="149549" name="Rectangle 45"/>
            <p:cNvSpPr>
              <a:spLocks noChangeArrowheads="1"/>
            </p:cNvSpPr>
            <p:nvPr/>
          </p:nvSpPr>
          <p:spPr bwMode="auto">
            <a:xfrm>
              <a:off x="4388076" y="5944436"/>
              <a:ext cx="264940" cy="264001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  <a:sym typeface="Wingdings" pitchFamily="2" charset="2"/>
                </a:rPr>
                <a:t></a:t>
              </a:r>
            </a:p>
          </p:txBody>
        </p:sp>
        <p:sp>
          <p:nvSpPr>
            <p:cNvPr id="149548" name="Rectangle 44"/>
            <p:cNvSpPr>
              <a:spLocks noChangeArrowheads="1"/>
            </p:cNvSpPr>
            <p:nvPr/>
          </p:nvSpPr>
          <p:spPr bwMode="auto">
            <a:xfrm>
              <a:off x="3626959" y="5672010"/>
              <a:ext cx="264940" cy="26493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4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↓</a:t>
              </a:r>
            </a:p>
          </p:txBody>
        </p:sp>
        <p:sp>
          <p:nvSpPr>
            <p:cNvPr id="149546" name="Rectangle 42"/>
            <p:cNvSpPr>
              <a:spLocks noChangeArrowheads="1"/>
            </p:cNvSpPr>
            <p:nvPr/>
          </p:nvSpPr>
          <p:spPr bwMode="auto">
            <a:xfrm>
              <a:off x="4138115" y="5672010"/>
              <a:ext cx="264940" cy="26493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4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→</a:t>
              </a:r>
            </a:p>
          </p:txBody>
        </p:sp>
        <p:sp>
          <p:nvSpPr>
            <p:cNvPr id="149545" name="Rectangle 41"/>
            <p:cNvSpPr>
              <a:spLocks noChangeArrowheads="1"/>
            </p:cNvSpPr>
            <p:nvPr/>
          </p:nvSpPr>
          <p:spPr bwMode="auto">
            <a:xfrm>
              <a:off x="3882537" y="5672010"/>
              <a:ext cx="264940" cy="26493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4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49544" name="Rectangle 40"/>
            <p:cNvSpPr>
              <a:spLocks noChangeArrowheads="1"/>
            </p:cNvSpPr>
            <p:nvPr/>
          </p:nvSpPr>
          <p:spPr bwMode="auto">
            <a:xfrm>
              <a:off x="4388076" y="5672010"/>
              <a:ext cx="264940" cy="26493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4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↓</a:t>
              </a:r>
            </a:p>
          </p:txBody>
        </p:sp>
        <p:sp>
          <p:nvSpPr>
            <p:cNvPr id="149543" name="Rectangle 39"/>
            <p:cNvSpPr>
              <a:spLocks noChangeArrowheads="1"/>
            </p:cNvSpPr>
            <p:nvPr/>
          </p:nvSpPr>
          <p:spPr bwMode="auto">
            <a:xfrm>
              <a:off x="3626959" y="5393967"/>
              <a:ext cx="264940" cy="264001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4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↓</a:t>
              </a:r>
            </a:p>
          </p:txBody>
        </p:sp>
        <p:sp>
          <p:nvSpPr>
            <p:cNvPr id="149541" name="Rectangle 37"/>
            <p:cNvSpPr>
              <a:spLocks noChangeArrowheads="1"/>
            </p:cNvSpPr>
            <p:nvPr/>
          </p:nvSpPr>
          <p:spPr bwMode="auto">
            <a:xfrm>
              <a:off x="4138115" y="5393967"/>
              <a:ext cx="264940" cy="26400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4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49540" name="Rectangle 36"/>
            <p:cNvSpPr>
              <a:spLocks noChangeArrowheads="1"/>
            </p:cNvSpPr>
            <p:nvPr/>
          </p:nvSpPr>
          <p:spPr bwMode="auto">
            <a:xfrm>
              <a:off x="3882537" y="5393967"/>
              <a:ext cx="264940" cy="264001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4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49539" name="Rectangle 35"/>
            <p:cNvSpPr>
              <a:spLocks noChangeArrowheads="1"/>
            </p:cNvSpPr>
            <p:nvPr/>
          </p:nvSpPr>
          <p:spPr bwMode="auto">
            <a:xfrm>
              <a:off x="4388076" y="5393967"/>
              <a:ext cx="264940" cy="26400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4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49538" name="Rectangle 34"/>
            <p:cNvSpPr>
              <a:spLocks noChangeArrowheads="1"/>
            </p:cNvSpPr>
            <p:nvPr/>
          </p:nvSpPr>
          <p:spPr bwMode="auto">
            <a:xfrm>
              <a:off x="3626959" y="5121541"/>
              <a:ext cx="264940" cy="26493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4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↓</a:t>
              </a:r>
            </a:p>
          </p:txBody>
        </p:sp>
        <p:sp>
          <p:nvSpPr>
            <p:cNvPr id="149536" name="Rectangle 32"/>
            <p:cNvSpPr>
              <a:spLocks noChangeArrowheads="1"/>
            </p:cNvSpPr>
            <p:nvPr/>
          </p:nvSpPr>
          <p:spPr bwMode="auto">
            <a:xfrm>
              <a:off x="4138115" y="5121541"/>
              <a:ext cx="264940" cy="26493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4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49535" name="Rectangle 31"/>
            <p:cNvSpPr>
              <a:spLocks noChangeArrowheads="1"/>
            </p:cNvSpPr>
            <p:nvPr/>
          </p:nvSpPr>
          <p:spPr bwMode="auto">
            <a:xfrm>
              <a:off x="3882537" y="5121541"/>
              <a:ext cx="264940" cy="26493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4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49534" name="Rectangle 30"/>
            <p:cNvSpPr>
              <a:spLocks noChangeArrowheads="1"/>
            </p:cNvSpPr>
            <p:nvPr/>
          </p:nvSpPr>
          <p:spPr bwMode="auto">
            <a:xfrm>
              <a:off x="4388076" y="5121541"/>
              <a:ext cx="264940" cy="26493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4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49528" name="Rectangle 24"/>
            <p:cNvSpPr>
              <a:spLocks noChangeArrowheads="1"/>
            </p:cNvSpPr>
            <p:nvPr/>
          </p:nvSpPr>
          <p:spPr bwMode="auto">
            <a:xfrm>
              <a:off x="3896076" y="4786322"/>
              <a:ext cx="264940" cy="264001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</a:p>
          </p:txBody>
        </p:sp>
        <p:sp>
          <p:nvSpPr>
            <p:cNvPr id="149527" name="Rectangle 23"/>
            <p:cNvSpPr>
              <a:spLocks noChangeArrowheads="1"/>
            </p:cNvSpPr>
            <p:nvPr/>
          </p:nvSpPr>
          <p:spPr bwMode="auto">
            <a:xfrm>
              <a:off x="3643306" y="4786322"/>
              <a:ext cx="264940" cy="264001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</a:p>
          </p:txBody>
        </p:sp>
        <p:sp>
          <p:nvSpPr>
            <p:cNvPr id="149526" name="Rectangle 22"/>
            <p:cNvSpPr>
              <a:spLocks noChangeArrowheads="1"/>
            </p:cNvSpPr>
            <p:nvPr/>
          </p:nvSpPr>
          <p:spPr bwMode="auto">
            <a:xfrm>
              <a:off x="4407232" y="4786322"/>
              <a:ext cx="264940" cy="264001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3</a:t>
              </a:r>
            </a:p>
          </p:txBody>
        </p:sp>
        <p:sp>
          <p:nvSpPr>
            <p:cNvPr id="149525" name="Rectangle 21"/>
            <p:cNvSpPr>
              <a:spLocks noChangeArrowheads="1"/>
            </p:cNvSpPr>
            <p:nvPr/>
          </p:nvSpPr>
          <p:spPr bwMode="auto">
            <a:xfrm>
              <a:off x="4151654" y="4786322"/>
              <a:ext cx="264940" cy="264001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</a:p>
          </p:txBody>
        </p:sp>
        <p:sp>
          <p:nvSpPr>
            <p:cNvPr id="149522" name="Rectangle 18"/>
            <p:cNvSpPr>
              <a:spLocks noChangeArrowheads="1"/>
            </p:cNvSpPr>
            <p:nvPr/>
          </p:nvSpPr>
          <p:spPr bwMode="auto">
            <a:xfrm>
              <a:off x="3358270" y="5960791"/>
              <a:ext cx="264940" cy="264937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3</a:t>
              </a:r>
            </a:p>
          </p:txBody>
        </p:sp>
        <p:sp>
          <p:nvSpPr>
            <p:cNvPr id="149521" name="Rectangle 17"/>
            <p:cNvSpPr>
              <a:spLocks noChangeArrowheads="1"/>
            </p:cNvSpPr>
            <p:nvPr/>
          </p:nvSpPr>
          <p:spPr bwMode="auto">
            <a:xfrm>
              <a:off x="3358270" y="5682747"/>
              <a:ext cx="264940" cy="264937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</a:p>
          </p:txBody>
        </p:sp>
        <p:sp>
          <p:nvSpPr>
            <p:cNvPr id="149520" name="Rectangle 16"/>
            <p:cNvSpPr>
              <a:spLocks noChangeArrowheads="1"/>
            </p:cNvSpPr>
            <p:nvPr/>
          </p:nvSpPr>
          <p:spPr bwMode="auto">
            <a:xfrm>
              <a:off x="3358270" y="5388916"/>
              <a:ext cx="264940" cy="264937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</a:p>
          </p:txBody>
        </p:sp>
        <p:sp>
          <p:nvSpPr>
            <p:cNvPr id="149519" name="Rectangle 15"/>
            <p:cNvSpPr>
              <a:spLocks noChangeArrowheads="1"/>
            </p:cNvSpPr>
            <p:nvPr/>
          </p:nvSpPr>
          <p:spPr bwMode="auto">
            <a:xfrm>
              <a:off x="3358270" y="5143512"/>
              <a:ext cx="264940" cy="265873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</a:p>
          </p:txBody>
        </p:sp>
      </p:grpSp>
      <p:sp>
        <p:nvSpPr>
          <p:cNvPr id="58" name="下箭头 57"/>
          <p:cNvSpPr/>
          <p:nvPr/>
        </p:nvSpPr>
        <p:spPr bwMode="auto">
          <a:xfrm>
            <a:off x="3428992" y="2857496"/>
            <a:ext cx="214314" cy="357190"/>
          </a:xfrm>
          <a:prstGeom prst="downArrow">
            <a:avLst/>
          </a:prstGeom>
          <a:ln>
            <a:headEnd/>
            <a:tailEnd type="arrow" w="sm" len="sm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1" name="右箭头 60"/>
          <p:cNvSpPr/>
          <p:nvPr/>
        </p:nvSpPr>
        <p:spPr bwMode="auto">
          <a:xfrm>
            <a:off x="6143636" y="3857628"/>
            <a:ext cx="357190" cy="285752"/>
          </a:xfrm>
          <a:prstGeom prst="rightArrow">
            <a:avLst/>
          </a:prstGeom>
          <a:ln>
            <a:headEnd/>
            <a:tailEnd type="arrow" w="sm" len="sm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1843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57" y="3286124"/>
            <a:ext cx="7679585" cy="1071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3" name="左弧形箭头 62"/>
          <p:cNvSpPr/>
          <p:nvPr/>
        </p:nvSpPr>
        <p:spPr bwMode="auto">
          <a:xfrm>
            <a:off x="2857488" y="4500570"/>
            <a:ext cx="428628" cy="928694"/>
          </a:xfrm>
          <a:prstGeom prst="curvedRightArrow">
            <a:avLst/>
          </a:prstGeom>
          <a:ln>
            <a:headEnd/>
            <a:tailEnd type="none" w="sm" len="sm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6" name="TextBox 5"/>
          <p:cNvSpPr txBox="1"/>
          <p:nvPr/>
        </p:nvSpPr>
        <p:spPr>
          <a:xfrm>
            <a:off x="7858148" y="1357298"/>
            <a:ext cx="714380" cy="646331"/>
          </a:xfrm>
          <a:prstGeom prst="rect">
            <a:avLst/>
          </a:prstGeom>
          <a:blipFill>
            <a:blip r:embed="rId3" cstate="print"/>
            <a:tile tx="0" ty="0" sx="100000" sy="100000" flip="none" algn="tl"/>
          </a:blip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800" b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程序验证</a:t>
            </a:r>
          </a:p>
        </p:txBody>
      </p:sp>
      <p:sp>
        <p:nvSpPr>
          <p:cNvPr id="39" name="灯片编号占位符 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73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6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48" y="571480"/>
            <a:ext cx="123825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1857356" y="1928802"/>
            <a:ext cx="5715040" cy="946958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44000" rtlCol="0">
            <a:spAutoFit/>
          </a:bodyPr>
          <a:lstStyle/>
          <a:p>
            <a:pPr marL="457200" indent="-457200" algn="l">
              <a:lnSpc>
                <a:spcPct val="1000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en-US" sz="2000" smtClean="0">
                <a:solidFill>
                  <a:srgbClr val="0000FF"/>
                </a:solidFill>
                <a:latin typeface="仿宋" pitchFamily="49" charset="-122"/>
                <a:ea typeface="仿宋" pitchFamily="49" charset="-122"/>
              </a:rPr>
              <a:t>为什么找到的路径不一定是最短路径？</a:t>
            </a:r>
            <a:endParaRPr lang="en-US" altLang="zh-CN" sz="2000" smtClean="0">
              <a:solidFill>
                <a:srgbClr val="0000FF"/>
              </a:solidFill>
              <a:latin typeface="仿宋" pitchFamily="49" charset="-122"/>
              <a:ea typeface="仿宋" pitchFamily="49" charset="-122"/>
            </a:endParaRPr>
          </a:p>
          <a:p>
            <a:pPr marL="457200" indent="-457200" algn="l">
              <a:lnSpc>
                <a:spcPct val="1000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en-US" sz="2000" smtClean="0">
                <a:solidFill>
                  <a:srgbClr val="0000FF"/>
                </a:solidFill>
                <a:latin typeface="仿宋" pitchFamily="49" charset="-122"/>
                <a:ea typeface="仿宋" pitchFamily="49" charset="-122"/>
              </a:rPr>
              <a:t>如何求所有的迷宫路径？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74</a:t>
            </a:fld>
            <a:r>
              <a:rPr lang="en-US" altLang="zh-CN" smtClean="0"/>
              <a:t>/74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 w="19050">
          <a:headEnd/>
          <a:tailEnd type="arrow" w="sm" len="sm"/>
        </a:ln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>
          <a:defRPr sz="1600">
            <a:solidFill>
              <a:srgbClr val="0000FF"/>
            </a:solidFill>
            <a:latin typeface="Consolas" pitchFamily="49" charset="0"/>
            <a:cs typeface="Consolas" pitchFamily="49" charset="0"/>
          </a:defRPr>
        </a:defPPr>
      </a:lstStyle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spDef>
    <a:lnDef>
      <a:spPr>
        <a:ln w="19050">
          <a:tailEnd type="arrow"/>
        </a:ln>
      </a:spPr>
      <a:bodyPr/>
      <a:lstStyle/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ts val="3000"/>
          </a:lnSpc>
          <a:spcBef>
            <a:spcPts val="0"/>
          </a:spcBef>
          <a:defRPr sz="2000" smtClean="0">
            <a:solidFill>
              <a:srgbClr val="0000FF"/>
            </a:solidFill>
            <a:latin typeface="仿宋" pitchFamily="49" charset="-122"/>
            <a:ea typeface="仿宋" pitchFamily="49" charset="-122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5085</TotalTime>
  <Words>4366</Words>
  <Application>Microsoft Office PowerPoint</Application>
  <PresentationFormat>全屏显示(4:3)</PresentationFormat>
  <Paragraphs>1069</Paragraphs>
  <Slides>74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74</vt:i4>
      </vt:variant>
    </vt:vector>
  </HeadingPairs>
  <TitlesOfParts>
    <vt:vector size="75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  <vt:lpstr>幻灯片 23</vt:lpstr>
      <vt:lpstr>幻灯片 24</vt:lpstr>
      <vt:lpstr>幻灯片 25</vt:lpstr>
      <vt:lpstr>幻灯片 26</vt:lpstr>
      <vt:lpstr>幻灯片 27</vt:lpstr>
      <vt:lpstr>幻灯片 28</vt:lpstr>
      <vt:lpstr>幻灯片 29</vt:lpstr>
      <vt:lpstr>幻灯片 30</vt:lpstr>
      <vt:lpstr>幻灯片 31</vt:lpstr>
      <vt:lpstr>幻灯片 32</vt:lpstr>
      <vt:lpstr>幻灯片 33</vt:lpstr>
      <vt:lpstr>幻灯片 34</vt:lpstr>
      <vt:lpstr>幻灯片 35</vt:lpstr>
      <vt:lpstr>幻灯片 36</vt:lpstr>
      <vt:lpstr>幻灯片 37</vt:lpstr>
      <vt:lpstr>幻灯片 38</vt:lpstr>
      <vt:lpstr>幻灯片 39</vt:lpstr>
      <vt:lpstr>幻灯片 40</vt:lpstr>
      <vt:lpstr>幻灯片 41</vt:lpstr>
      <vt:lpstr>幻灯片 42</vt:lpstr>
      <vt:lpstr>幻灯片 43</vt:lpstr>
      <vt:lpstr>幻灯片 44</vt:lpstr>
      <vt:lpstr>幻灯片 45</vt:lpstr>
      <vt:lpstr>幻灯片 46</vt:lpstr>
      <vt:lpstr>幻灯片 47</vt:lpstr>
      <vt:lpstr>幻灯片 48</vt:lpstr>
      <vt:lpstr>幻灯片 49</vt:lpstr>
      <vt:lpstr>幻灯片 50</vt:lpstr>
      <vt:lpstr>幻灯片 51</vt:lpstr>
      <vt:lpstr>幻灯片 52</vt:lpstr>
      <vt:lpstr>幻灯片 53</vt:lpstr>
      <vt:lpstr>幻灯片 54</vt:lpstr>
      <vt:lpstr>幻灯片 55</vt:lpstr>
      <vt:lpstr>幻灯片 56</vt:lpstr>
      <vt:lpstr>幻灯片 57</vt:lpstr>
      <vt:lpstr>幻灯片 58</vt:lpstr>
      <vt:lpstr>幻灯片 59</vt:lpstr>
      <vt:lpstr>幻灯片 60</vt:lpstr>
      <vt:lpstr>幻灯片 61</vt:lpstr>
      <vt:lpstr>幻灯片 62</vt:lpstr>
      <vt:lpstr>幻灯片 63</vt:lpstr>
      <vt:lpstr>幻灯片 64</vt:lpstr>
      <vt:lpstr>幻灯片 65</vt:lpstr>
      <vt:lpstr>幻灯片 66</vt:lpstr>
      <vt:lpstr>幻灯片 67</vt:lpstr>
      <vt:lpstr>幻灯片 68</vt:lpstr>
      <vt:lpstr>幻灯片 69</vt:lpstr>
      <vt:lpstr>幻灯片 70</vt:lpstr>
      <vt:lpstr>幻灯片 71</vt:lpstr>
      <vt:lpstr>幻灯片 72</vt:lpstr>
      <vt:lpstr>幻灯片 73</vt:lpstr>
      <vt:lpstr>幻灯片 74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lcb; wbh</dc:creator>
  <cp:lastModifiedBy>Administrator</cp:lastModifiedBy>
  <cp:revision>2521</cp:revision>
  <dcterms:created xsi:type="dcterms:W3CDTF">2004-03-31T23:50:14Z</dcterms:created>
  <dcterms:modified xsi:type="dcterms:W3CDTF">2022-06-06T01:46:53Z</dcterms:modified>
</cp:coreProperties>
</file>