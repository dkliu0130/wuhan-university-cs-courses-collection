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s/slide56.xml" ContentType="application/vnd.openxmlformats-officedocument.presentationml.slide+xml"/>
  <Override PartName="/ppt/slides/slide58.xml" ContentType="application/vnd.openxmlformats-officedocument.presentationml.slide+xml"/>
  <Override PartName="/ppt/slides/slide67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theme/theme1.xml" ContentType="application/vnd.openxmlformats-officedocument.them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slides/slide59.xml" ContentType="application/vnd.openxmlformats-officedocument.presentationml.slide+xml"/>
  <Override PartName="/ppt/slides/slide68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Default Extension="png" ContentType="image/png"/>
  <Default Extension="bin" ContentType="application/vnd.openxmlformats-officedocument.oleObject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Default Extension="gif" ContentType="image/gif"/>
  <Default Extension="vml" ContentType="application/vnd.openxmlformats-officedocument.vmlDrawi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3" r:id="rId1"/>
  </p:sldMasterIdLst>
  <p:notesMasterIdLst>
    <p:notesMasterId r:id="rId70"/>
  </p:notesMasterIdLst>
  <p:handoutMasterIdLst>
    <p:handoutMasterId r:id="rId71"/>
  </p:handoutMasterIdLst>
  <p:sldIdLst>
    <p:sldId id="670" r:id="rId2"/>
    <p:sldId id="835" r:id="rId3"/>
    <p:sldId id="836" r:id="rId4"/>
    <p:sldId id="837" r:id="rId5"/>
    <p:sldId id="838" r:id="rId6"/>
    <p:sldId id="839" r:id="rId7"/>
    <p:sldId id="856" r:id="rId8"/>
    <p:sldId id="844" r:id="rId9"/>
    <p:sldId id="845" r:id="rId10"/>
    <p:sldId id="846" r:id="rId11"/>
    <p:sldId id="847" r:id="rId12"/>
    <p:sldId id="848" r:id="rId13"/>
    <p:sldId id="849" r:id="rId14"/>
    <p:sldId id="851" r:id="rId15"/>
    <p:sldId id="857" r:id="rId16"/>
    <p:sldId id="858" r:id="rId17"/>
    <p:sldId id="859" r:id="rId18"/>
    <p:sldId id="862" r:id="rId19"/>
    <p:sldId id="863" r:id="rId20"/>
    <p:sldId id="864" r:id="rId21"/>
    <p:sldId id="865" r:id="rId22"/>
    <p:sldId id="866" r:id="rId23"/>
    <p:sldId id="868" r:id="rId24"/>
    <p:sldId id="869" r:id="rId25"/>
    <p:sldId id="870" r:id="rId26"/>
    <p:sldId id="871" r:id="rId27"/>
    <p:sldId id="872" r:id="rId28"/>
    <p:sldId id="873" r:id="rId29"/>
    <p:sldId id="874" r:id="rId30"/>
    <p:sldId id="875" r:id="rId31"/>
    <p:sldId id="876" r:id="rId32"/>
    <p:sldId id="877" r:id="rId33"/>
    <p:sldId id="878" r:id="rId34"/>
    <p:sldId id="886" r:id="rId35"/>
    <p:sldId id="887" r:id="rId36"/>
    <p:sldId id="888" r:id="rId37"/>
    <p:sldId id="889" r:id="rId38"/>
    <p:sldId id="890" r:id="rId39"/>
    <p:sldId id="891" r:id="rId40"/>
    <p:sldId id="892" r:id="rId41"/>
    <p:sldId id="893" r:id="rId42"/>
    <p:sldId id="894" r:id="rId43"/>
    <p:sldId id="895" r:id="rId44"/>
    <p:sldId id="896" r:id="rId45"/>
    <p:sldId id="897" r:id="rId46"/>
    <p:sldId id="898" r:id="rId47"/>
    <p:sldId id="899" r:id="rId48"/>
    <p:sldId id="900" r:id="rId49"/>
    <p:sldId id="901" r:id="rId50"/>
    <p:sldId id="902" r:id="rId51"/>
    <p:sldId id="906" r:id="rId52"/>
    <p:sldId id="907" r:id="rId53"/>
    <p:sldId id="908" r:id="rId54"/>
    <p:sldId id="909" r:id="rId55"/>
    <p:sldId id="910" r:id="rId56"/>
    <p:sldId id="911" r:id="rId57"/>
    <p:sldId id="912" r:id="rId58"/>
    <p:sldId id="913" r:id="rId59"/>
    <p:sldId id="914" r:id="rId60"/>
    <p:sldId id="915" r:id="rId61"/>
    <p:sldId id="916" r:id="rId62"/>
    <p:sldId id="917" r:id="rId63"/>
    <p:sldId id="918" r:id="rId64"/>
    <p:sldId id="919" r:id="rId65"/>
    <p:sldId id="920" r:id="rId66"/>
    <p:sldId id="921" r:id="rId67"/>
    <p:sldId id="922" r:id="rId68"/>
    <p:sldId id="923" r:id="rId69"/>
  </p:sldIdLst>
  <p:sldSz cx="9144000" cy="6858000" type="screen4x3"/>
  <p:notesSz cx="6858000" cy="9144000"/>
  <p:defaultTextStyle>
    <a:defPPr>
      <a:defRPr lang="zh-CN"/>
    </a:defPPr>
    <a:lvl1pPr algn="ctr" rtl="0" fontAlgn="base">
      <a:lnSpc>
        <a:spcPct val="80000"/>
      </a:lnSpc>
      <a:spcBef>
        <a:spcPct val="50000"/>
      </a:spcBef>
      <a:spcAft>
        <a:spcPct val="0"/>
      </a:spcAft>
      <a:defRPr kumimoji="1" sz="2400" b="1" kern="1200">
        <a:solidFill>
          <a:srgbClr val="0033CC"/>
        </a:solidFill>
        <a:latin typeface="Times New Roman" pitchFamily="18" charset="0"/>
        <a:ea typeface="楷体_GB2312" pitchFamily="49" charset="-122"/>
        <a:cs typeface="+mn-cs"/>
      </a:defRPr>
    </a:lvl1pPr>
    <a:lvl2pPr marL="457200" algn="ctr" rtl="0" fontAlgn="base">
      <a:lnSpc>
        <a:spcPct val="80000"/>
      </a:lnSpc>
      <a:spcBef>
        <a:spcPct val="50000"/>
      </a:spcBef>
      <a:spcAft>
        <a:spcPct val="0"/>
      </a:spcAft>
      <a:defRPr kumimoji="1" sz="2400" b="1" kern="1200">
        <a:solidFill>
          <a:srgbClr val="0033CC"/>
        </a:solidFill>
        <a:latin typeface="Times New Roman" pitchFamily="18" charset="0"/>
        <a:ea typeface="楷体_GB2312" pitchFamily="49" charset="-122"/>
        <a:cs typeface="+mn-cs"/>
      </a:defRPr>
    </a:lvl2pPr>
    <a:lvl3pPr marL="914400" algn="ctr" rtl="0" fontAlgn="base">
      <a:lnSpc>
        <a:spcPct val="80000"/>
      </a:lnSpc>
      <a:spcBef>
        <a:spcPct val="50000"/>
      </a:spcBef>
      <a:spcAft>
        <a:spcPct val="0"/>
      </a:spcAft>
      <a:defRPr kumimoji="1" sz="2400" b="1" kern="1200">
        <a:solidFill>
          <a:srgbClr val="0033CC"/>
        </a:solidFill>
        <a:latin typeface="Times New Roman" pitchFamily="18" charset="0"/>
        <a:ea typeface="楷体_GB2312" pitchFamily="49" charset="-122"/>
        <a:cs typeface="+mn-cs"/>
      </a:defRPr>
    </a:lvl3pPr>
    <a:lvl4pPr marL="1371600" algn="ctr" rtl="0" fontAlgn="base">
      <a:lnSpc>
        <a:spcPct val="80000"/>
      </a:lnSpc>
      <a:spcBef>
        <a:spcPct val="50000"/>
      </a:spcBef>
      <a:spcAft>
        <a:spcPct val="0"/>
      </a:spcAft>
      <a:defRPr kumimoji="1" sz="2400" b="1" kern="1200">
        <a:solidFill>
          <a:srgbClr val="0033CC"/>
        </a:solidFill>
        <a:latin typeface="Times New Roman" pitchFamily="18" charset="0"/>
        <a:ea typeface="楷体_GB2312" pitchFamily="49" charset="-122"/>
        <a:cs typeface="+mn-cs"/>
      </a:defRPr>
    </a:lvl4pPr>
    <a:lvl5pPr marL="1828800" algn="ctr" rtl="0" fontAlgn="base">
      <a:lnSpc>
        <a:spcPct val="80000"/>
      </a:lnSpc>
      <a:spcBef>
        <a:spcPct val="50000"/>
      </a:spcBef>
      <a:spcAft>
        <a:spcPct val="0"/>
      </a:spcAft>
      <a:defRPr kumimoji="1" sz="2400" b="1" kern="1200">
        <a:solidFill>
          <a:srgbClr val="0033CC"/>
        </a:solidFill>
        <a:latin typeface="Times New Roman" pitchFamily="18" charset="0"/>
        <a:ea typeface="楷体_GB2312" pitchFamily="49" charset="-122"/>
        <a:cs typeface="+mn-cs"/>
      </a:defRPr>
    </a:lvl5pPr>
    <a:lvl6pPr marL="2286000" algn="l" defTabSz="914400" rtl="0" eaLnBrk="1" latinLnBrk="0" hangingPunct="1">
      <a:defRPr kumimoji="1" sz="2400" b="1" kern="1200">
        <a:solidFill>
          <a:srgbClr val="0033CC"/>
        </a:solidFill>
        <a:latin typeface="Times New Roman" pitchFamily="18" charset="0"/>
        <a:ea typeface="楷体_GB2312" pitchFamily="49" charset="-122"/>
        <a:cs typeface="+mn-cs"/>
      </a:defRPr>
    </a:lvl6pPr>
    <a:lvl7pPr marL="2743200" algn="l" defTabSz="914400" rtl="0" eaLnBrk="1" latinLnBrk="0" hangingPunct="1">
      <a:defRPr kumimoji="1" sz="2400" b="1" kern="1200">
        <a:solidFill>
          <a:srgbClr val="0033CC"/>
        </a:solidFill>
        <a:latin typeface="Times New Roman" pitchFamily="18" charset="0"/>
        <a:ea typeface="楷体_GB2312" pitchFamily="49" charset="-122"/>
        <a:cs typeface="+mn-cs"/>
      </a:defRPr>
    </a:lvl7pPr>
    <a:lvl8pPr marL="3200400" algn="l" defTabSz="914400" rtl="0" eaLnBrk="1" latinLnBrk="0" hangingPunct="1">
      <a:defRPr kumimoji="1" sz="2400" b="1" kern="1200">
        <a:solidFill>
          <a:srgbClr val="0033CC"/>
        </a:solidFill>
        <a:latin typeface="Times New Roman" pitchFamily="18" charset="0"/>
        <a:ea typeface="楷体_GB2312" pitchFamily="49" charset="-122"/>
        <a:cs typeface="+mn-cs"/>
      </a:defRPr>
    </a:lvl8pPr>
    <a:lvl9pPr marL="3657600" algn="l" defTabSz="914400" rtl="0" eaLnBrk="1" latinLnBrk="0" hangingPunct="1">
      <a:defRPr kumimoji="1" sz="2400" b="1" kern="1200">
        <a:solidFill>
          <a:srgbClr val="0033CC"/>
        </a:solidFill>
        <a:latin typeface="Times New Roman" pitchFamily="18" charset="0"/>
        <a:ea typeface="楷体_GB2312" pitchFamily="49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</p:showPr>
  <p:clrMru>
    <a:srgbClr val="009900"/>
    <a:srgbClr val="0000FF"/>
    <a:srgbClr val="FF00FF"/>
    <a:srgbClr val="FF3399"/>
    <a:srgbClr val="006600"/>
    <a:srgbClr val="339933"/>
    <a:srgbClr val="3333FF"/>
    <a:srgbClr val="6600CC"/>
    <a:srgbClr val="000000"/>
    <a:srgbClr val="0033CC"/>
  </p:clrMru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主题样式 1 - 强调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1" autoAdjust="0"/>
  </p:normalViewPr>
  <p:slideViewPr>
    <p:cSldViewPr>
      <p:cViewPr varScale="1">
        <p:scale>
          <a:sx n="100" d="100"/>
          <a:sy n="100" d="100"/>
        </p:scale>
        <p:origin x="-498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7" d="100"/>
          <a:sy n="67" d="100"/>
        </p:scale>
        <p:origin x="-3360" y="-108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348C81-2EE0-4ADC-AD51-9DC87E0EF387}" type="datetimeFigureOut">
              <a:rPr lang="zh-CN" altLang="en-US" smtClean="0"/>
              <a:pPr/>
              <a:t>2022/6/6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F0761C-5A44-4BA0-B4C5-00F13EA65E0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ct val="0"/>
              </a:spcBef>
              <a:defRPr sz="1200" b="0">
                <a:solidFill>
                  <a:schemeClr val="tx1"/>
                </a:solidFill>
                <a:ea typeface="宋体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150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defRPr sz="1200" b="0">
                <a:solidFill>
                  <a:schemeClr val="tx1"/>
                </a:solidFill>
                <a:ea typeface="宋体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150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2150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2150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ct val="0"/>
              </a:spcBef>
              <a:defRPr sz="1200" b="0">
                <a:solidFill>
                  <a:schemeClr val="tx1"/>
                </a:solidFill>
                <a:ea typeface="宋体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150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defRPr sz="1200" b="0">
                <a:solidFill>
                  <a:schemeClr val="tx1"/>
                </a:solidFill>
                <a:ea typeface="宋体" pitchFamily="2" charset="-122"/>
              </a:defRPr>
            </a:lvl1pPr>
          </a:lstStyle>
          <a:p>
            <a:fld id="{0D1E2EF4-146E-47B5-A412-FFD548A1AB6A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16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072462" y="6356350"/>
            <a:ext cx="900090" cy="365125"/>
          </a:xfrm>
        </p:spPr>
        <p:txBody>
          <a:bodyPr/>
          <a:lstStyle>
            <a:lvl1pPr>
              <a:defRPr sz="1400" b="0">
                <a:solidFill>
                  <a:srgbClr val="FF0000"/>
                </a:solidFill>
                <a:latin typeface="Consolas" pitchFamily="49" charset="0"/>
                <a:cs typeface="Consolas" pitchFamily="49" charset="0"/>
              </a:defRPr>
            </a:lvl1pPr>
          </a:lstStyle>
          <a:p>
            <a:fld id="{67864EE2-EAB3-4814-A7EB-820BD7610F1E}" type="slidenum">
              <a:rPr lang="en-US" altLang="zh-CN" smtClean="0"/>
              <a:pPr/>
              <a:t>‹#›</a:t>
            </a:fld>
            <a:r>
              <a:rPr lang="en-US" altLang="zh-CN" smtClean="0"/>
              <a:t>/68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D3DD41-1E0E-46B0-ABE7-D5048A3DF737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2357422" y="428604"/>
            <a:ext cx="4929222" cy="756718"/>
          </a:xfrm>
          <a:prstGeom prst="rect">
            <a:avLst/>
          </a:prstGeom>
          <a:ln>
            <a:noFill/>
          </a:ln>
          <a:effectLst>
            <a:outerShdw blurRad="76200" dist="12700" dir="8100000" sy="-23000" kx="800400" algn="br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tIns="216000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zh-CN" altLang="zh-CN" sz="320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方正启体简体" pitchFamily="65" charset="-122"/>
                <a:ea typeface="方正启体简体" pitchFamily="65" charset="-122"/>
              </a:rPr>
              <a:t>第</a:t>
            </a:r>
            <a:r>
              <a:rPr lang="en-US" altLang="zh-CN" sz="320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方正启体简体" pitchFamily="65" charset="-122"/>
                <a:ea typeface="方正启体简体" pitchFamily="65" charset="-122"/>
              </a:rPr>
              <a:t>5</a:t>
            </a:r>
            <a:r>
              <a:rPr lang="zh-CN" altLang="zh-CN" sz="320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方正启体简体" pitchFamily="65" charset="-122"/>
                <a:ea typeface="方正启体简体" pitchFamily="65" charset="-122"/>
              </a:rPr>
              <a:t>章 </a:t>
            </a:r>
            <a:r>
              <a:rPr lang="en-US" altLang="zh-CN" sz="320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方正启体简体" pitchFamily="65" charset="-122"/>
                <a:ea typeface="方正启体简体" pitchFamily="65" charset="-122"/>
              </a:rPr>
              <a:t> </a:t>
            </a:r>
            <a:r>
              <a:rPr lang="zh-CN" altLang="en-US" sz="320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方正启体简体" pitchFamily="65" charset="-122"/>
                <a:ea typeface="方正启体简体" pitchFamily="65" charset="-122"/>
              </a:rPr>
              <a:t>数组和稀疏矩阵</a:t>
            </a:r>
            <a:endParaRPr lang="zh-CN" altLang="en-US" sz="320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方正启体简体" pitchFamily="65" charset="-122"/>
              <a:ea typeface="方正启体简体" pitchFamily="65" charset="-122"/>
            </a:endParaRPr>
          </a:p>
        </p:txBody>
      </p:sp>
      <p:sp>
        <p:nvSpPr>
          <p:cNvPr id="14" name="TextBox 13">
            <a:hlinkClick r:id="" action="ppaction://noaction"/>
          </p:cNvPr>
          <p:cNvSpPr txBox="1"/>
          <p:nvPr/>
        </p:nvSpPr>
        <p:spPr>
          <a:xfrm>
            <a:off x="3612396" y="2071678"/>
            <a:ext cx="3960000" cy="51473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tIns="72000" bIns="72000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pc="50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5.1  </a:t>
            </a:r>
            <a:r>
              <a:rPr lang="zh-CN" altLang="en-US" spc="50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数组</a:t>
            </a:r>
            <a:endParaRPr lang="zh-CN" altLang="en-US" spc="5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grpSp>
        <p:nvGrpSpPr>
          <p:cNvPr id="18" name="组合 79"/>
          <p:cNvGrpSpPr>
            <a:grpSpLocks/>
          </p:cNvGrpSpPr>
          <p:nvPr/>
        </p:nvGrpSpPr>
        <p:grpSpPr bwMode="auto">
          <a:xfrm>
            <a:off x="840364" y="2143116"/>
            <a:ext cx="2160000" cy="2177998"/>
            <a:chOff x="6379728" y="2488774"/>
            <a:chExt cx="2513016" cy="2533955"/>
          </a:xfrm>
        </p:grpSpPr>
        <p:sp>
          <p:nvSpPr>
            <p:cNvPr id="19" name="任意多边形 82"/>
            <p:cNvSpPr/>
            <p:nvPr/>
          </p:nvSpPr>
          <p:spPr>
            <a:xfrm rot="3738964">
              <a:off x="6379728" y="2488774"/>
              <a:ext cx="2513016" cy="2513016"/>
            </a:xfrm>
            <a:custGeom>
              <a:avLst/>
              <a:gdLst>
                <a:gd name="connsiteX0" fmla="*/ 0 w 1800200"/>
                <a:gd name="connsiteY0" fmla="*/ 900100 h 1800200"/>
                <a:gd name="connsiteX1" fmla="*/ 263634 w 1800200"/>
                <a:gd name="connsiteY1" fmla="*/ 263633 h 1800200"/>
                <a:gd name="connsiteX2" fmla="*/ 900101 w 1800200"/>
                <a:gd name="connsiteY2" fmla="*/ 1 h 1800200"/>
                <a:gd name="connsiteX3" fmla="*/ 1536568 w 1800200"/>
                <a:gd name="connsiteY3" fmla="*/ 263635 h 1800200"/>
                <a:gd name="connsiteX4" fmla="*/ 1800200 w 1800200"/>
                <a:gd name="connsiteY4" fmla="*/ 900102 h 1800200"/>
                <a:gd name="connsiteX5" fmla="*/ 1536567 w 1800200"/>
                <a:gd name="connsiteY5" fmla="*/ 1536569 h 1800200"/>
                <a:gd name="connsiteX6" fmla="*/ 900100 w 1800200"/>
                <a:gd name="connsiteY6" fmla="*/ 1800202 h 1800200"/>
                <a:gd name="connsiteX7" fmla="*/ 263633 w 1800200"/>
                <a:gd name="connsiteY7" fmla="*/ 1536568 h 1800200"/>
                <a:gd name="connsiteX8" fmla="*/ 0 w 1800200"/>
                <a:gd name="connsiteY8" fmla="*/ 900101 h 1800200"/>
                <a:gd name="connsiteX9" fmla="*/ 0 w 1800200"/>
                <a:gd name="connsiteY9" fmla="*/ 900100 h 1800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00200" h="1800200">
                  <a:moveTo>
                    <a:pt x="0" y="900100"/>
                  </a:moveTo>
                  <a:cubicBezTo>
                    <a:pt x="0" y="661379"/>
                    <a:pt x="94832" y="432435"/>
                    <a:pt x="263634" y="263633"/>
                  </a:cubicBezTo>
                  <a:cubicBezTo>
                    <a:pt x="432436" y="94832"/>
                    <a:pt x="661380" y="0"/>
                    <a:pt x="900101" y="1"/>
                  </a:cubicBezTo>
                  <a:cubicBezTo>
                    <a:pt x="1138822" y="1"/>
                    <a:pt x="1367766" y="94833"/>
                    <a:pt x="1536568" y="263635"/>
                  </a:cubicBezTo>
                  <a:cubicBezTo>
                    <a:pt x="1705369" y="432437"/>
                    <a:pt x="1800201" y="661381"/>
                    <a:pt x="1800200" y="900102"/>
                  </a:cubicBezTo>
                  <a:cubicBezTo>
                    <a:pt x="1800200" y="1138823"/>
                    <a:pt x="1705368" y="1367767"/>
                    <a:pt x="1536567" y="1536569"/>
                  </a:cubicBezTo>
                  <a:cubicBezTo>
                    <a:pt x="1367765" y="1705371"/>
                    <a:pt x="1138821" y="1800202"/>
                    <a:pt x="900100" y="1800202"/>
                  </a:cubicBezTo>
                  <a:cubicBezTo>
                    <a:pt x="661379" y="1800202"/>
                    <a:pt x="432435" y="1705370"/>
                    <a:pt x="263633" y="1536568"/>
                  </a:cubicBezTo>
                  <a:cubicBezTo>
                    <a:pt x="94832" y="1367766"/>
                    <a:pt x="0" y="1138822"/>
                    <a:pt x="0" y="900101"/>
                  </a:cubicBezTo>
                  <a:lnTo>
                    <a:pt x="0" y="900100"/>
                  </a:lnTo>
                  <a:close/>
                </a:path>
              </a:pathLst>
            </a:custGeom>
            <a:gradFill flip="none" rotWithShape="1">
              <a:gsLst>
                <a:gs pos="17000">
                  <a:srgbClr val="FFFFFF"/>
                </a:gs>
                <a:gs pos="88000">
                  <a:srgbClr val="FFFFFF">
                    <a:lumMod val="72000"/>
                  </a:srgbClr>
                </a:gs>
              </a:gsLst>
              <a:lin ang="2700000" scaled="1"/>
              <a:tileRect/>
            </a:gradFill>
            <a:ln w="25400" cap="flat" cmpd="sng" algn="ctr">
              <a:noFill/>
              <a:prstDash val="solid"/>
            </a:ln>
            <a:effectLst>
              <a:outerShdw blurRad="127000" dist="63500" dir="7380000" sx="102000" sy="102000" algn="tr" rotWithShape="0">
                <a:prstClr val="black">
                  <a:alpha val="39000"/>
                </a:prstClr>
              </a:outerShdw>
            </a:effectLst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 kern="0">
                <a:solidFill>
                  <a:srgbClr val="FFFFFF"/>
                </a:solidFill>
                <a:latin typeface="Arial"/>
                <a:ea typeface="宋体"/>
              </a:endParaRPr>
            </a:p>
          </p:txBody>
        </p:sp>
        <p:sp>
          <p:nvSpPr>
            <p:cNvPr id="20" name="任意多边形 83"/>
            <p:cNvSpPr/>
            <p:nvPr/>
          </p:nvSpPr>
          <p:spPr>
            <a:xfrm rot="16377237">
              <a:off x="6409519" y="2545928"/>
              <a:ext cx="2476803" cy="2476799"/>
            </a:xfrm>
            <a:custGeom>
              <a:avLst/>
              <a:gdLst>
                <a:gd name="connsiteX0" fmla="*/ 0 w 1800200"/>
                <a:gd name="connsiteY0" fmla="*/ 900100 h 1800200"/>
                <a:gd name="connsiteX1" fmla="*/ 263634 w 1800200"/>
                <a:gd name="connsiteY1" fmla="*/ 263633 h 1800200"/>
                <a:gd name="connsiteX2" fmla="*/ 900101 w 1800200"/>
                <a:gd name="connsiteY2" fmla="*/ 1 h 1800200"/>
                <a:gd name="connsiteX3" fmla="*/ 1536568 w 1800200"/>
                <a:gd name="connsiteY3" fmla="*/ 263635 h 1800200"/>
                <a:gd name="connsiteX4" fmla="*/ 1800200 w 1800200"/>
                <a:gd name="connsiteY4" fmla="*/ 900102 h 1800200"/>
                <a:gd name="connsiteX5" fmla="*/ 1536567 w 1800200"/>
                <a:gd name="connsiteY5" fmla="*/ 1536569 h 1800200"/>
                <a:gd name="connsiteX6" fmla="*/ 900100 w 1800200"/>
                <a:gd name="connsiteY6" fmla="*/ 1800202 h 1800200"/>
                <a:gd name="connsiteX7" fmla="*/ 263633 w 1800200"/>
                <a:gd name="connsiteY7" fmla="*/ 1536568 h 1800200"/>
                <a:gd name="connsiteX8" fmla="*/ 0 w 1800200"/>
                <a:gd name="connsiteY8" fmla="*/ 900101 h 1800200"/>
                <a:gd name="connsiteX9" fmla="*/ 0 w 1800200"/>
                <a:gd name="connsiteY9" fmla="*/ 900100 h 1800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00200" h="1800200">
                  <a:moveTo>
                    <a:pt x="0" y="900100"/>
                  </a:moveTo>
                  <a:cubicBezTo>
                    <a:pt x="0" y="661379"/>
                    <a:pt x="94832" y="432435"/>
                    <a:pt x="263634" y="263633"/>
                  </a:cubicBezTo>
                  <a:cubicBezTo>
                    <a:pt x="432436" y="94832"/>
                    <a:pt x="661380" y="0"/>
                    <a:pt x="900101" y="1"/>
                  </a:cubicBezTo>
                  <a:cubicBezTo>
                    <a:pt x="1138822" y="1"/>
                    <a:pt x="1367766" y="94833"/>
                    <a:pt x="1536568" y="263635"/>
                  </a:cubicBezTo>
                  <a:cubicBezTo>
                    <a:pt x="1705369" y="432437"/>
                    <a:pt x="1800201" y="661381"/>
                    <a:pt x="1800200" y="900102"/>
                  </a:cubicBezTo>
                  <a:cubicBezTo>
                    <a:pt x="1800200" y="1138823"/>
                    <a:pt x="1705368" y="1367767"/>
                    <a:pt x="1536567" y="1536569"/>
                  </a:cubicBezTo>
                  <a:cubicBezTo>
                    <a:pt x="1367765" y="1705371"/>
                    <a:pt x="1138821" y="1800202"/>
                    <a:pt x="900100" y="1800202"/>
                  </a:cubicBezTo>
                  <a:cubicBezTo>
                    <a:pt x="661379" y="1800202"/>
                    <a:pt x="432435" y="1705370"/>
                    <a:pt x="263633" y="1536568"/>
                  </a:cubicBezTo>
                  <a:cubicBezTo>
                    <a:pt x="94832" y="1367766"/>
                    <a:pt x="0" y="1138822"/>
                    <a:pt x="0" y="900101"/>
                  </a:cubicBezTo>
                  <a:lnTo>
                    <a:pt x="0" y="900100"/>
                  </a:lnTo>
                  <a:close/>
                </a:path>
              </a:pathLst>
            </a:custGeom>
            <a:gradFill flip="none" rotWithShape="1">
              <a:gsLst>
                <a:gs pos="29000">
                  <a:srgbClr val="FFFFFF"/>
                </a:gs>
                <a:gs pos="98000">
                  <a:srgbClr val="FFFFFF">
                    <a:lumMod val="75000"/>
                  </a:srgbClr>
                </a:gs>
              </a:gsLst>
              <a:lin ang="2700000" scaled="1"/>
              <a:tileRect/>
            </a:gradFill>
            <a:ln w="25400" cap="flat" cmpd="sng" algn="ctr">
              <a:noFill/>
              <a:prstDash val="solid"/>
            </a:ln>
            <a:effectLst>
              <a:softEdge rad="0"/>
            </a:effec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kern="0" smtClean="0">
                <a:solidFill>
                  <a:srgbClr val="FFFFFF"/>
                </a:solidFill>
              </a:endParaRPr>
            </a:p>
          </p:txBody>
        </p:sp>
      </p:grpSp>
      <p:sp>
        <p:nvSpPr>
          <p:cNvPr id="21" name="文本框 20"/>
          <p:cNvSpPr txBox="1">
            <a:spLocks noChangeArrowheads="1"/>
          </p:cNvSpPr>
          <p:nvPr/>
        </p:nvSpPr>
        <p:spPr bwMode="auto">
          <a:xfrm>
            <a:off x="1091886" y="3252893"/>
            <a:ext cx="167871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 eaLnBrk="1" hangingPunct="1">
              <a:lnSpc>
                <a:spcPct val="100000"/>
              </a:lnSpc>
            </a:pPr>
            <a:r>
              <a:rPr lang="en-US" altLang="zh-CN" sz="2000" b="1" dirty="0">
                <a:solidFill>
                  <a:srgbClr val="9900FF"/>
                </a:solidFill>
              </a:rPr>
              <a:t>CONTENTS</a:t>
            </a:r>
            <a:endParaRPr lang="zh-CN" altLang="en-US" sz="2000" b="1" dirty="0">
              <a:solidFill>
                <a:srgbClr val="9900FF"/>
              </a:solidFill>
            </a:endParaRPr>
          </a:p>
        </p:txBody>
      </p:sp>
      <p:sp>
        <p:nvSpPr>
          <p:cNvPr id="22" name="文本框 20"/>
          <p:cNvSpPr txBox="1">
            <a:spLocks noChangeArrowheads="1"/>
          </p:cNvSpPr>
          <p:nvPr/>
        </p:nvSpPr>
        <p:spPr bwMode="auto">
          <a:xfrm>
            <a:off x="1235902" y="2572883"/>
            <a:ext cx="141222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 eaLnBrk="1" hangingPunct="1">
              <a:lnSpc>
                <a:spcPct val="100000"/>
              </a:lnSpc>
            </a:pPr>
            <a:r>
              <a:rPr lang="zh-CN" altLang="en-US" sz="3200" b="1" dirty="0" smtClean="0">
                <a:solidFill>
                  <a:srgbClr val="008000"/>
                </a:solidFill>
              </a:rPr>
              <a:t>提纲</a:t>
            </a:r>
            <a:endParaRPr lang="zh-CN" altLang="en-US" sz="3200" b="1" dirty="0">
              <a:solidFill>
                <a:srgbClr val="008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612396" y="3071810"/>
            <a:ext cx="3960000" cy="46166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pc="50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5.2  </a:t>
            </a:r>
            <a:r>
              <a:rPr lang="zh-CN" altLang="en-US" spc="50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特殊矩阵的压缩存储</a:t>
            </a:r>
            <a:endParaRPr lang="zh-CN" altLang="en-US" spc="5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612396" y="4000504"/>
            <a:ext cx="3960000" cy="46166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pc="50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5.3  </a:t>
            </a:r>
            <a:r>
              <a:rPr lang="zh-CN" altLang="en-US" spc="50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稀疏矩阵</a:t>
            </a:r>
            <a:endParaRPr lang="zh-CN" altLang="en-US" spc="5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24" name="灯片编号占位符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1</a:t>
            </a:fld>
            <a:r>
              <a:rPr lang="en-US" altLang="zh-CN" smtClean="0"/>
              <a:t>/68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Box 3"/>
          <p:cNvSpPr txBox="1">
            <a:spLocks noChangeArrowheads="1"/>
          </p:cNvSpPr>
          <p:nvPr/>
        </p:nvSpPr>
        <p:spPr bwMode="auto">
          <a:xfrm>
            <a:off x="642911" y="2071678"/>
            <a:ext cx="8143932" cy="1708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>
              <a:lnSpc>
                <a:spcPts val="3000"/>
              </a:lnSpc>
              <a:spcBef>
                <a:spcPts val="600"/>
              </a:spcBef>
            </a:pPr>
            <a:r>
              <a:rPr kumimoji="1" lang="zh-CN" altLang="en-US" sz="20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　　一个阶数较大的矩阵中的非零元素个数</a:t>
            </a:r>
            <a:r>
              <a:rPr kumimoji="1" lang="en-US" altLang="zh-CN" sz="20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</a:t>
            </a:r>
            <a:r>
              <a:rPr kumimoji="1" lang="zh-CN" altLang="en-US" sz="20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相对于矩阵元素的总个数</a:t>
            </a:r>
            <a:r>
              <a:rPr kumimoji="1" lang="en-US" altLang="zh-CN" sz="20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</a:t>
            </a:r>
            <a:r>
              <a:rPr kumimoji="1" lang="zh-CN" altLang="en-US" sz="20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十分小时，即</a:t>
            </a:r>
            <a:r>
              <a:rPr kumimoji="1" lang="en-US" altLang="zh-CN" sz="20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s&lt;&lt;t</a:t>
            </a:r>
            <a:r>
              <a:rPr kumimoji="1" lang="zh-CN" altLang="en-US" sz="2000" dirty="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时，称</a:t>
            </a:r>
            <a:r>
              <a:rPr kumimoji="1" lang="zh-CN" altLang="en-US" sz="20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该矩阵为</a:t>
            </a:r>
            <a:r>
              <a:rPr kumimoji="1"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稀疏矩阵</a:t>
            </a:r>
            <a:r>
              <a:rPr kumimoji="1" lang="zh-CN" altLang="en-US" sz="2000" dirty="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。</a:t>
            </a:r>
            <a:endParaRPr kumimoji="1" lang="en-US" altLang="zh-CN" sz="2000" dirty="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just">
              <a:lnSpc>
                <a:spcPts val="3000"/>
              </a:lnSpc>
              <a:spcBef>
                <a:spcPts val="600"/>
              </a:spcBef>
            </a:pPr>
            <a:r>
              <a:rPr kumimoji="1"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</a:t>
            </a:r>
            <a:r>
              <a:rPr kumimoji="1"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例如</a:t>
            </a:r>
            <a:r>
              <a:rPr kumimoji="1" lang="zh-CN" altLang="en-US" sz="20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一个</a:t>
            </a:r>
            <a:r>
              <a:rPr kumimoji="1" lang="en-US" altLang="zh-CN" sz="20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100×100</a:t>
            </a:r>
            <a:r>
              <a:rPr kumimoji="1" lang="zh-CN" altLang="en-US" sz="20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的矩阵，若其中只有</a:t>
            </a:r>
            <a:r>
              <a:rPr kumimoji="1" lang="en-US" altLang="zh-CN" sz="20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100</a:t>
            </a:r>
            <a:r>
              <a:rPr kumimoji="1" lang="zh-CN" altLang="en-US" sz="20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个非零元素，就可称其为稀疏矩阵。</a:t>
            </a:r>
            <a:endParaRPr lang="zh-CN" altLang="en-US" sz="2000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grpSp>
        <p:nvGrpSpPr>
          <p:cNvPr id="2" name="组合 17"/>
          <p:cNvGrpSpPr/>
          <p:nvPr/>
        </p:nvGrpSpPr>
        <p:grpSpPr>
          <a:xfrm>
            <a:off x="4143372" y="2928934"/>
            <a:ext cx="2143140" cy="1766520"/>
            <a:chOff x="6429388" y="3144042"/>
            <a:chExt cx="2143140" cy="1766520"/>
          </a:xfrm>
        </p:grpSpPr>
        <p:sp>
          <p:nvSpPr>
            <p:cNvPr id="19" name="TextBox 18"/>
            <p:cNvSpPr txBox="1"/>
            <p:nvPr/>
          </p:nvSpPr>
          <p:spPr>
            <a:xfrm>
              <a:off x="6429388" y="4572008"/>
              <a:ext cx="214314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smtClean="0">
                  <a:solidFill>
                    <a:srgbClr val="0000FF"/>
                  </a:solidFill>
                  <a:latin typeface="华文中宋" pitchFamily="2" charset="-122"/>
                  <a:ea typeface="华文中宋" pitchFamily="2" charset="-122"/>
                  <a:cs typeface="hakuyoxingshu7000" pitchFamily="2" charset="-122"/>
                </a:rPr>
                <a:t>定性的描述</a:t>
              </a:r>
              <a:endParaRPr lang="zh-CN" altLang="en-US" sz="200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  <a:cs typeface="hakuyoxingshu7000" pitchFamily="2" charset="-122"/>
              </a:endParaRPr>
            </a:p>
          </p:txBody>
        </p:sp>
        <p:cxnSp>
          <p:nvCxnSpPr>
            <p:cNvPr id="20" name="直接箭头连接符 19"/>
            <p:cNvCxnSpPr/>
            <p:nvPr/>
          </p:nvCxnSpPr>
          <p:spPr>
            <a:xfrm rot="5400000" flipH="1" flipV="1">
              <a:off x="6786578" y="3857628"/>
              <a:ext cx="1428760" cy="1588"/>
            </a:xfrm>
            <a:prstGeom prst="straightConnector1">
              <a:avLst/>
            </a:prstGeom>
            <a:ln w="28575">
              <a:solidFill>
                <a:srgbClr val="FF0000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7"/>
          <p:cNvSpPr txBox="1"/>
          <p:nvPr/>
        </p:nvSpPr>
        <p:spPr>
          <a:xfrm>
            <a:off x="2500298" y="785794"/>
            <a:ext cx="3286148" cy="52322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2800" spc="50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5.3  </a:t>
            </a:r>
            <a:r>
              <a:rPr lang="zh-CN" altLang="en-US" sz="2800" spc="50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稀疏矩阵</a:t>
            </a:r>
            <a:endParaRPr lang="zh-CN" altLang="en-US" sz="2800" spc="5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2</a:t>
            </a:fld>
            <a:r>
              <a:rPr lang="en-US" altLang="zh-CN" smtClean="0"/>
              <a:t>/68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42910" y="571480"/>
            <a:ext cx="41434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kumimoji="1" lang="zh-CN" altLang="en-US" sz="2000" dirty="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稀疏矩阵和特殊矩阵的不同点：</a:t>
            </a:r>
            <a:endParaRPr lang="zh-CN" altLang="en-US" sz="2000" dirty="0">
              <a:solidFill>
                <a:srgbClr val="0000FF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14348" y="1285860"/>
            <a:ext cx="7643866" cy="1132957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tIns="180000" bIns="180000" rtlCol="0">
            <a:spAutoFit/>
          </a:bodyPr>
          <a:lstStyle/>
          <a:p>
            <a:pPr marL="457200" indent="-457200" algn="l">
              <a:lnSpc>
                <a:spcPct val="100000"/>
              </a:lnSpc>
              <a:buBlip>
                <a:blip r:embed="rId2"/>
              </a:buBlip>
            </a:pPr>
            <a:r>
              <a:rPr kumimoji="1" lang="zh-CN" altLang="en-US" sz="2000" dirty="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特殊矩阵的特殊元素（值相同元素、常量元素）分布有规律。</a:t>
            </a:r>
            <a:endParaRPr kumimoji="1" lang="en-US" altLang="zh-CN" sz="2000" dirty="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marL="457200" indent="-457200" algn="l">
              <a:lnSpc>
                <a:spcPct val="100000"/>
              </a:lnSpc>
              <a:buBlip>
                <a:blip r:embed="rId2"/>
              </a:buBlip>
            </a:pPr>
            <a:r>
              <a:rPr kumimoji="1" lang="zh-CN" altLang="en-US" sz="2000" dirty="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稀疏矩阵的特殊元素（非</a:t>
            </a:r>
            <a:r>
              <a:rPr kumimoji="1" lang="en-US" altLang="zh-CN" sz="2000" dirty="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0</a:t>
            </a:r>
            <a:r>
              <a:rPr kumimoji="1" lang="zh-CN" altLang="en-US" sz="2000" dirty="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元素）分布没有规律。</a:t>
            </a:r>
            <a:endParaRPr lang="zh-CN" altLang="en-US" sz="2000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3</a:t>
            </a:fld>
            <a:r>
              <a:rPr lang="en-US" altLang="zh-CN" smtClean="0"/>
              <a:t>/68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4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596" y="1571612"/>
            <a:ext cx="7686103" cy="3143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右箭头 4"/>
          <p:cNvSpPr/>
          <p:nvPr/>
        </p:nvSpPr>
        <p:spPr bwMode="auto">
          <a:xfrm>
            <a:off x="4214810" y="2786058"/>
            <a:ext cx="571504" cy="357190"/>
          </a:xfrm>
          <a:prstGeom prst="rightArrow">
            <a:avLst/>
          </a:prstGeom>
          <a:ln>
            <a:headEnd/>
            <a:tailEnd type="arrow" w="sm" len="sm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143504" y="5029154"/>
            <a:ext cx="28575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 sz="20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通常按行优先顺序排列</a:t>
            </a:r>
            <a:endParaRPr lang="zh-CN" altLang="en-US" sz="200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Consolas" pitchFamily="49" charset="0"/>
            </a:endParaRPr>
          </a:p>
        </p:txBody>
      </p:sp>
      <p:cxnSp>
        <p:nvCxnSpPr>
          <p:cNvPr id="8" name="直接箭头连接符 7"/>
          <p:cNvCxnSpPr>
            <a:stCxn id="6" idx="0"/>
          </p:cNvCxnSpPr>
          <p:nvPr/>
        </p:nvCxnSpPr>
        <p:spPr>
          <a:xfrm rot="16200000" flipV="1">
            <a:off x="6216265" y="4815237"/>
            <a:ext cx="427834" cy="0"/>
          </a:xfrm>
          <a:prstGeom prst="straightConnector1">
            <a:avLst/>
          </a:prstGeom>
          <a:ln w="1905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28596" y="714356"/>
            <a:ext cx="4357718" cy="461665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mtClean="0">
                <a:latin typeface="Consolas" pitchFamily="49" charset="0"/>
                <a:ea typeface="微软雅黑" pitchFamily="34" charset="-122"/>
                <a:cs typeface="Consolas" pitchFamily="49" charset="0"/>
              </a:rPr>
              <a:t>5.3.1 </a:t>
            </a:r>
            <a:r>
              <a:rPr lang="zh-CN" altLang="zh-CN" smtClean="0">
                <a:latin typeface="Consolas" pitchFamily="49" charset="0"/>
                <a:ea typeface="微软雅黑" pitchFamily="34" charset="-122"/>
                <a:cs typeface="Consolas" pitchFamily="49" charset="0"/>
              </a:rPr>
              <a:t>稀疏矩阵</a:t>
            </a:r>
            <a:r>
              <a:rPr lang="zh-CN" altLang="en-US" smtClean="0">
                <a:latin typeface="Consolas" pitchFamily="49" charset="0"/>
                <a:ea typeface="微软雅黑" pitchFamily="34" charset="-122"/>
                <a:cs typeface="Consolas" pitchFamily="49" charset="0"/>
              </a:rPr>
              <a:t>的三元组表示</a:t>
            </a:r>
            <a:endParaRPr lang="zh-CN" altLang="zh-CN" smtClean="0">
              <a:ln w="11430"/>
              <a:solidFill>
                <a:schemeClr val="bg1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4</a:t>
            </a:fld>
            <a:r>
              <a:rPr lang="en-US" altLang="zh-CN" smtClean="0"/>
              <a:t>/68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0034" y="1142984"/>
            <a:ext cx="7572396" cy="3326653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struct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TupElem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单个三元组元素的类型</a:t>
            </a: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</a:t>
            </a:r>
            <a:r>
              <a:rPr lang="en-US" altLang="zh-CN" sz="1800" smtClean="0">
                <a:solidFill>
                  <a:srgbClr val="0099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int r;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行号</a:t>
            </a: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99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int c;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列号</a:t>
            </a: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lang="en-US" altLang="zh-CN" sz="1800" smtClean="0">
                <a:solidFill>
                  <a:srgbClr val="0099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int d;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元素值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TupElem() {}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构造函数</a:t>
            </a: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TupElem(int r1,int c1,int d1)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重载构造函数</a:t>
            </a: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{  r=r1;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c=c1;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d=d1;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}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};</a:t>
            </a:r>
            <a:endParaRPr lang="zh-CN" altLang="zh-CN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1472" y="500042"/>
            <a:ext cx="46434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三元组表示中每个元素的类定义如下：</a:t>
            </a:r>
            <a:endParaRPr lang="zh-CN" altLang="en-US" sz="20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5</a:t>
            </a:fld>
            <a:r>
              <a:rPr lang="en-US" altLang="zh-CN" smtClean="0"/>
              <a:t>/68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71472" y="1468635"/>
            <a:ext cx="7572396" cy="2614663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44000" tIns="108000" bIns="108000" rtlCol="0">
            <a:sp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class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TupClass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三元组存储结构类</a:t>
            </a:r>
          </a:p>
          <a:p>
            <a:pPr algn="l">
              <a:lnSpc>
                <a:spcPts val="27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</a:t>
            </a:r>
            <a:r>
              <a:rPr lang="en-US" altLang="zh-CN" sz="1800" smtClean="0">
                <a:solidFill>
                  <a:srgbClr val="0099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int rows;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行数</a:t>
            </a:r>
          </a:p>
          <a:p>
            <a:pPr algn="l">
              <a:lnSpc>
                <a:spcPts val="27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lang="en-US" altLang="zh-CN" sz="1800" smtClean="0">
                <a:solidFill>
                  <a:srgbClr val="0099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int cols;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列数</a:t>
            </a:r>
          </a:p>
          <a:p>
            <a:pPr algn="l">
              <a:lnSpc>
                <a:spcPts val="27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lang="en-US" altLang="zh-CN" sz="1800" smtClean="0">
                <a:solidFill>
                  <a:srgbClr val="0099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int nums;	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非零元素个数</a:t>
            </a:r>
          </a:p>
          <a:p>
            <a:pPr algn="l">
              <a:lnSpc>
                <a:spcPts val="27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lang="en-US" altLang="zh-CN" sz="1800" smtClean="0">
                <a:solidFill>
                  <a:srgbClr val="0099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TupElem* data;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稀疏矩阵对应的三元组顺序表</a:t>
            </a:r>
          </a:p>
          <a:p>
            <a:pPr algn="l">
              <a:lnSpc>
                <a:spcPts val="27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lang="en-US" altLang="zh-CN" sz="1800" smtClean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基本运算算法</a:t>
            </a:r>
          </a:p>
          <a:p>
            <a:pPr algn="l">
              <a:lnSpc>
                <a:spcPts val="27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};</a:t>
            </a:r>
            <a:endParaRPr lang="zh-CN" altLang="zh-CN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1472" y="868951"/>
            <a:ext cx="5429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设计稀疏矩阵三元组存储结构类</a:t>
            </a:r>
            <a:r>
              <a:rPr lang="en-US" altLang="zh-CN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TupClass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如下：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6</a:t>
            </a:fld>
            <a:r>
              <a:rPr lang="en-US" altLang="zh-CN" smtClean="0"/>
              <a:t>/68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42910" y="1428736"/>
            <a:ext cx="8072494" cy="2647740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44000" bIns="144000" rtlCol="0">
            <a:spAutoFit/>
          </a:bodyPr>
          <a:lstStyle/>
          <a:p>
            <a:pPr marL="342900" indent="-342900" algn="l">
              <a:lnSpc>
                <a:spcPts val="2800"/>
              </a:lnSpc>
              <a:spcBef>
                <a:spcPts val="600"/>
              </a:spcBef>
              <a:buBlip>
                <a:blip r:embed="rId2"/>
              </a:buBlip>
            </a:pP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CreateTup(A,m,n)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：由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行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列的稀疏矩阵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A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创建其三元组表示。</a:t>
            </a:r>
          </a:p>
          <a:p>
            <a:pPr marL="342900" indent="-342900" algn="l">
              <a:lnSpc>
                <a:spcPts val="2800"/>
              </a:lnSpc>
              <a:spcBef>
                <a:spcPts val="600"/>
              </a:spcBef>
              <a:buBlip>
                <a:blip r:embed="rId2"/>
              </a:buBlip>
            </a:pP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Setvalue(i,j,x)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：利用三元组给稀疏矩阵的元素赋值即执行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A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[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][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j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]=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x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。</a:t>
            </a:r>
          </a:p>
          <a:p>
            <a:pPr marL="342900" indent="-342900" algn="l">
              <a:lnSpc>
                <a:spcPts val="2800"/>
              </a:lnSpc>
              <a:spcBef>
                <a:spcPts val="600"/>
              </a:spcBef>
              <a:buBlip>
                <a:blip r:embed="rId2"/>
              </a:buBlip>
            </a:pP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GetValue(i, j)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：利用三元组取稀疏矩阵的元素值即执行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x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A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[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][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j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]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。</a:t>
            </a:r>
          </a:p>
          <a:p>
            <a:pPr marL="342900" indent="-342900" algn="l">
              <a:lnSpc>
                <a:spcPts val="2800"/>
              </a:lnSpc>
              <a:spcBef>
                <a:spcPts val="600"/>
              </a:spcBef>
              <a:buBlip>
                <a:blip r:embed="rId2"/>
              </a:buBlip>
            </a:pP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DispTup()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：输出稀疏矩阵的三元组表示。</a:t>
            </a:r>
            <a:endParaRPr lang="zh-CN" altLang="en-US" sz="20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2910" y="785794"/>
            <a:ext cx="4500594" cy="423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2800"/>
              </a:lnSpc>
              <a:spcBef>
                <a:spcPts val="600"/>
              </a:spcBef>
            </a:pP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TupClass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类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中包含如下基本运算方法：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472" y="4429132"/>
            <a:ext cx="7786742" cy="810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2800"/>
              </a:lnSpc>
              <a:spcBef>
                <a:spcPts val="600"/>
              </a:spcBef>
            </a:pP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其中，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data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列表用于存放稀疏矩阵中所有非零元素，通常按行优先顺序排列。这种有序结构可简化大多数稀疏矩阵运算算法。</a:t>
            </a:r>
            <a:endParaRPr lang="zh-CN" altLang="en-US" sz="20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7</a:t>
            </a:fld>
            <a:r>
              <a:rPr lang="en-US" altLang="zh-CN" smtClean="0"/>
              <a:t>/68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6978" name="Object 2"/>
          <p:cNvGraphicFramePr>
            <a:graphicFrameLocks noChangeAspect="1"/>
          </p:cNvGraphicFramePr>
          <p:nvPr/>
        </p:nvGraphicFramePr>
        <p:xfrm>
          <a:off x="3049597" y="1539871"/>
          <a:ext cx="2808287" cy="1246187"/>
        </p:xfrm>
        <a:graphic>
          <a:graphicData uri="http://schemas.openxmlformats.org/presentationml/2006/ole">
            <p:oleObj spid="_x0000_s66562" r:id="rId3" imgW="1180588" imgH="520474" progId="">
              <p:embed/>
            </p:oleObj>
          </a:graphicData>
        </a:graphic>
      </p:graphicFrame>
      <p:sp>
        <p:nvSpPr>
          <p:cNvPr id="45058" name="Text Box 2"/>
          <p:cNvSpPr txBox="1">
            <a:spLocks noChangeArrowheads="1"/>
          </p:cNvSpPr>
          <p:nvPr/>
        </p:nvSpPr>
        <p:spPr bwMode="auto">
          <a:xfrm>
            <a:off x="285720" y="1047742"/>
            <a:ext cx="4071965" cy="492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457200" indent="-457200" algn="l">
              <a:lnSpc>
                <a:spcPct val="130000"/>
              </a:lnSpc>
              <a:spcBef>
                <a:spcPct val="50000"/>
              </a:spcBef>
              <a:buFontTx/>
              <a:buBlip>
                <a:blip r:embed="rId4"/>
              </a:buBlip>
            </a:pPr>
            <a:r>
              <a:rPr kumimoji="1" lang="zh-CN" altLang="en-US" sz="20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每个非零元素对应</a:t>
            </a:r>
            <a:r>
              <a:rPr kumimoji="1"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一</a:t>
            </a:r>
            <a:r>
              <a:rPr kumimoji="1"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个结点。</a:t>
            </a:r>
            <a:endParaRPr kumimoji="1" lang="zh-CN" altLang="en-US" sz="2000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grpSp>
        <p:nvGrpSpPr>
          <p:cNvPr id="2" name="组合 4"/>
          <p:cNvGrpSpPr/>
          <p:nvPr/>
        </p:nvGrpSpPr>
        <p:grpSpPr>
          <a:xfrm>
            <a:off x="908073" y="3565532"/>
            <a:ext cx="1620838" cy="863600"/>
            <a:chOff x="2051050" y="1866900"/>
            <a:chExt cx="1620838" cy="863600"/>
          </a:xfrm>
        </p:grpSpPr>
        <p:sp>
          <p:nvSpPr>
            <p:cNvPr id="6" name="Rectangle 49"/>
            <p:cNvSpPr>
              <a:spLocks noChangeArrowheads="1"/>
            </p:cNvSpPr>
            <p:nvPr/>
          </p:nvSpPr>
          <p:spPr bwMode="auto">
            <a:xfrm>
              <a:off x="2051050" y="1866900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2000" dirty="0"/>
                <a:t>0</a:t>
              </a:r>
            </a:p>
          </p:txBody>
        </p:sp>
        <p:sp>
          <p:nvSpPr>
            <p:cNvPr id="7" name="Rectangle 50"/>
            <p:cNvSpPr>
              <a:spLocks noChangeArrowheads="1"/>
            </p:cNvSpPr>
            <p:nvPr/>
          </p:nvSpPr>
          <p:spPr bwMode="auto">
            <a:xfrm>
              <a:off x="2592388" y="1866900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2000" dirty="0"/>
                <a:t>0</a:t>
              </a:r>
            </a:p>
          </p:txBody>
        </p:sp>
        <p:sp>
          <p:nvSpPr>
            <p:cNvPr id="8" name="Rectangle 51"/>
            <p:cNvSpPr>
              <a:spLocks noChangeArrowheads="1"/>
            </p:cNvSpPr>
            <p:nvPr/>
          </p:nvSpPr>
          <p:spPr bwMode="auto">
            <a:xfrm>
              <a:off x="3132138" y="1866900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2000" dirty="0"/>
                <a:t>1</a:t>
              </a:r>
            </a:p>
          </p:txBody>
        </p:sp>
        <p:sp>
          <p:nvSpPr>
            <p:cNvPr id="9" name="Rectangle 52"/>
            <p:cNvSpPr>
              <a:spLocks noChangeArrowheads="1"/>
            </p:cNvSpPr>
            <p:nvPr/>
          </p:nvSpPr>
          <p:spPr bwMode="auto">
            <a:xfrm>
              <a:off x="2051050" y="2298700"/>
              <a:ext cx="792162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  <p:sp>
          <p:nvSpPr>
            <p:cNvPr id="10" name="Rectangle 53"/>
            <p:cNvSpPr>
              <a:spLocks noChangeArrowheads="1"/>
            </p:cNvSpPr>
            <p:nvPr/>
          </p:nvSpPr>
          <p:spPr bwMode="auto">
            <a:xfrm>
              <a:off x="2844800" y="2298700"/>
              <a:ext cx="827087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</p:grpSp>
      <p:grpSp>
        <p:nvGrpSpPr>
          <p:cNvPr id="3" name="组合 10"/>
          <p:cNvGrpSpPr/>
          <p:nvPr/>
        </p:nvGrpSpPr>
        <p:grpSpPr>
          <a:xfrm>
            <a:off x="6308748" y="5643578"/>
            <a:ext cx="1620838" cy="863600"/>
            <a:chOff x="7451725" y="4408488"/>
            <a:chExt cx="1620838" cy="863600"/>
          </a:xfrm>
        </p:grpSpPr>
        <p:sp>
          <p:nvSpPr>
            <p:cNvPr id="12" name="Rectangle 54"/>
            <p:cNvSpPr>
              <a:spLocks noChangeArrowheads="1"/>
            </p:cNvSpPr>
            <p:nvPr/>
          </p:nvSpPr>
          <p:spPr bwMode="auto">
            <a:xfrm>
              <a:off x="7451725" y="4408488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2000" dirty="0"/>
                <a:t>2</a:t>
              </a:r>
            </a:p>
          </p:txBody>
        </p:sp>
        <p:sp>
          <p:nvSpPr>
            <p:cNvPr id="13" name="Rectangle 55"/>
            <p:cNvSpPr>
              <a:spLocks noChangeArrowheads="1"/>
            </p:cNvSpPr>
            <p:nvPr/>
          </p:nvSpPr>
          <p:spPr bwMode="auto">
            <a:xfrm>
              <a:off x="7993063" y="4408488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2000"/>
                <a:t>3</a:t>
              </a:r>
            </a:p>
          </p:txBody>
        </p:sp>
        <p:sp>
          <p:nvSpPr>
            <p:cNvPr id="14" name="Rectangle 56"/>
            <p:cNvSpPr>
              <a:spLocks noChangeArrowheads="1"/>
            </p:cNvSpPr>
            <p:nvPr/>
          </p:nvSpPr>
          <p:spPr bwMode="auto">
            <a:xfrm>
              <a:off x="8532813" y="4408488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2000"/>
                <a:t>4</a:t>
              </a:r>
            </a:p>
          </p:txBody>
        </p:sp>
        <p:sp>
          <p:nvSpPr>
            <p:cNvPr id="15" name="Rectangle 57"/>
            <p:cNvSpPr>
              <a:spLocks noChangeArrowheads="1"/>
            </p:cNvSpPr>
            <p:nvPr/>
          </p:nvSpPr>
          <p:spPr bwMode="auto">
            <a:xfrm>
              <a:off x="7451725" y="4840288"/>
              <a:ext cx="792162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  <p:sp>
          <p:nvSpPr>
            <p:cNvPr id="16" name="Rectangle 58"/>
            <p:cNvSpPr>
              <a:spLocks noChangeArrowheads="1"/>
            </p:cNvSpPr>
            <p:nvPr/>
          </p:nvSpPr>
          <p:spPr bwMode="auto">
            <a:xfrm>
              <a:off x="8245475" y="4840288"/>
              <a:ext cx="827087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</p:grpSp>
      <p:grpSp>
        <p:nvGrpSpPr>
          <p:cNvPr id="4" name="组合 16"/>
          <p:cNvGrpSpPr/>
          <p:nvPr/>
        </p:nvGrpSpPr>
        <p:grpSpPr>
          <a:xfrm>
            <a:off x="6308748" y="3543307"/>
            <a:ext cx="1620838" cy="863600"/>
            <a:chOff x="7451725" y="1844675"/>
            <a:chExt cx="1620838" cy="863600"/>
          </a:xfrm>
        </p:grpSpPr>
        <p:sp>
          <p:nvSpPr>
            <p:cNvPr id="18" name="Rectangle 59"/>
            <p:cNvSpPr>
              <a:spLocks noChangeArrowheads="1"/>
            </p:cNvSpPr>
            <p:nvPr/>
          </p:nvSpPr>
          <p:spPr bwMode="auto">
            <a:xfrm>
              <a:off x="7451725" y="1844675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2000" dirty="0"/>
                <a:t>0</a:t>
              </a:r>
            </a:p>
          </p:txBody>
        </p:sp>
        <p:sp>
          <p:nvSpPr>
            <p:cNvPr id="19" name="Rectangle 60"/>
            <p:cNvSpPr>
              <a:spLocks noChangeArrowheads="1"/>
            </p:cNvSpPr>
            <p:nvPr/>
          </p:nvSpPr>
          <p:spPr bwMode="auto">
            <a:xfrm>
              <a:off x="7993063" y="1844675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2000" dirty="0"/>
                <a:t>3</a:t>
              </a:r>
            </a:p>
          </p:txBody>
        </p:sp>
        <p:sp>
          <p:nvSpPr>
            <p:cNvPr id="20" name="Rectangle 61"/>
            <p:cNvSpPr>
              <a:spLocks noChangeArrowheads="1"/>
            </p:cNvSpPr>
            <p:nvPr/>
          </p:nvSpPr>
          <p:spPr bwMode="auto">
            <a:xfrm>
              <a:off x="8532813" y="1844675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2000"/>
                <a:t>2</a:t>
              </a:r>
            </a:p>
          </p:txBody>
        </p:sp>
        <p:sp>
          <p:nvSpPr>
            <p:cNvPr id="21" name="Rectangle 62"/>
            <p:cNvSpPr>
              <a:spLocks noChangeArrowheads="1"/>
            </p:cNvSpPr>
            <p:nvPr/>
          </p:nvSpPr>
          <p:spPr bwMode="auto">
            <a:xfrm>
              <a:off x="7451725" y="2276475"/>
              <a:ext cx="792162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  <p:sp>
          <p:nvSpPr>
            <p:cNvPr id="22" name="Rectangle 63"/>
            <p:cNvSpPr>
              <a:spLocks noChangeArrowheads="1"/>
            </p:cNvSpPr>
            <p:nvPr/>
          </p:nvSpPr>
          <p:spPr bwMode="auto">
            <a:xfrm>
              <a:off x="8245475" y="2276475"/>
              <a:ext cx="827087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</p:grpSp>
      <p:grpSp>
        <p:nvGrpSpPr>
          <p:cNvPr id="5" name="组合 22"/>
          <p:cNvGrpSpPr/>
          <p:nvPr/>
        </p:nvGrpSpPr>
        <p:grpSpPr>
          <a:xfrm>
            <a:off x="4489473" y="4656160"/>
            <a:ext cx="1620838" cy="863600"/>
            <a:chOff x="5632450" y="3213100"/>
            <a:chExt cx="1620838" cy="863600"/>
          </a:xfrm>
        </p:grpSpPr>
        <p:sp>
          <p:nvSpPr>
            <p:cNvPr id="24" name="Rectangle 64"/>
            <p:cNvSpPr>
              <a:spLocks noChangeArrowheads="1"/>
            </p:cNvSpPr>
            <p:nvPr/>
          </p:nvSpPr>
          <p:spPr bwMode="auto">
            <a:xfrm>
              <a:off x="5632450" y="3213100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2000" dirty="0"/>
                <a:t>1</a:t>
              </a:r>
            </a:p>
          </p:txBody>
        </p:sp>
        <p:sp>
          <p:nvSpPr>
            <p:cNvPr id="25" name="Rectangle 65"/>
            <p:cNvSpPr>
              <a:spLocks noChangeArrowheads="1"/>
            </p:cNvSpPr>
            <p:nvPr/>
          </p:nvSpPr>
          <p:spPr bwMode="auto">
            <a:xfrm>
              <a:off x="6173788" y="3213100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2000"/>
                <a:t>2</a:t>
              </a:r>
            </a:p>
          </p:txBody>
        </p:sp>
        <p:sp>
          <p:nvSpPr>
            <p:cNvPr id="26" name="Rectangle 66"/>
            <p:cNvSpPr>
              <a:spLocks noChangeArrowheads="1"/>
            </p:cNvSpPr>
            <p:nvPr/>
          </p:nvSpPr>
          <p:spPr bwMode="auto">
            <a:xfrm>
              <a:off x="6713538" y="3213100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2000"/>
                <a:t>3</a:t>
              </a:r>
            </a:p>
          </p:txBody>
        </p:sp>
        <p:sp>
          <p:nvSpPr>
            <p:cNvPr id="27" name="Rectangle 67"/>
            <p:cNvSpPr>
              <a:spLocks noChangeArrowheads="1"/>
            </p:cNvSpPr>
            <p:nvPr/>
          </p:nvSpPr>
          <p:spPr bwMode="auto">
            <a:xfrm>
              <a:off x="5632450" y="3644900"/>
              <a:ext cx="792162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  <p:sp>
          <p:nvSpPr>
            <p:cNvPr id="28" name="Rectangle 68"/>
            <p:cNvSpPr>
              <a:spLocks noChangeArrowheads="1"/>
            </p:cNvSpPr>
            <p:nvPr/>
          </p:nvSpPr>
          <p:spPr bwMode="auto">
            <a:xfrm>
              <a:off x="6426200" y="3644900"/>
              <a:ext cx="827087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</p:grpSp>
      <p:grpSp>
        <p:nvGrpSpPr>
          <p:cNvPr id="11" name="组合 51"/>
          <p:cNvGrpSpPr/>
          <p:nvPr/>
        </p:nvGrpSpPr>
        <p:grpSpPr>
          <a:xfrm>
            <a:off x="5441956" y="1597012"/>
            <a:ext cx="1678005" cy="1946295"/>
            <a:chOff x="5441956" y="1597012"/>
            <a:chExt cx="1678005" cy="1946295"/>
          </a:xfrm>
        </p:grpSpPr>
        <p:sp>
          <p:nvSpPr>
            <p:cNvPr id="31" name="椭圆 30"/>
            <p:cNvSpPr/>
            <p:nvPr/>
          </p:nvSpPr>
          <p:spPr>
            <a:xfrm>
              <a:off x="5441956" y="1597012"/>
              <a:ext cx="285752" cy="357190"/>
            </a:xfrm>
            <a:prstGeom prst="ellipse">
              <a:avLst/>
            </a:prstGeom>
            <a:solidFill>
              <a:schemeClr val="accent1">
                <a:alpha val="0"/>
              </a:schemeClr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3" name="直接箭头连接符 32"/>
            <p:cNvCxnSpPr>
              <a:stCxn id="31" idx="5"/>
              <a:endCxn id="19" idx="0"/>
            </p:cNvCxnSpPr>
            <p:nvPr/>
          </p:nvCxnSpPr>
          <p:spPr>
            <a:xfrm rot="16200000" flipH="1">
              <a:off x="5582204" y="2005550"/>
              <a:ext cx="1641414" cy="1434100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组合 49"/>
          <p:cNvGrpSpPr/>
          <p:nvPr/>
        </p:nvGrpSpPr>
        <p:grpSpPr>
          <a:xfrm>
            <a:off x="2259037" y="1597012"/>
            <a:ext cx="2111349" cy="1968520"/>
            <a:chOff x="2259037" y="1597012"/>
            <a:chExt cx="2111349" cy="1968520"/>
          </a:xfrm>
        </p:grpSpPr>
        <p:sp>
          <p:nvSpPr>
            <p:cNvPr id="35" name="椭圆 34"/>
            <p:cNvSpPr/>
            <p:nvPr/>
          </p:nvSpPr>
          <p:spPr>
            <a:xfrm>
              <a:off x="4084634" y="1597012"/>
              <a:ext cx="285752" cy="357190"/>
            </a:xfrm>
            <a:prstGeom prst="ellipse">
              <a:avLst/>
            </a:prstGeom>
            <a:solidFill>
              <a:schemeClr val="accent1">
                <a:alpha val="0"/>
              </a:schemeClr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7" name="直接箭头连接符 36"/>
            <p:cNvCxnSpPr>
              <a:stCxn id="35" idx="3"/>
              <a:endCxn id="8" idx="0"/>
            </p:cNvCxnSpPr>
            <p:nvPr/>
          </p:nvCxnSpPr>
          <p:spPr>
            <a:xfrm rot="5400000">
              <a:off x="2360940" y="1799990"/>
              <a:ext cx="1663639" cy="1867445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组合 50"/>
          <p:cNvGrpSpPr/>
          <p:nvPr/>
        </p:nvGrpSpPr>
        <p:grpSpPr>
          <a:xfrm>
            <a:off x="4987928" y="1962140"/>
            <a:ext cx="285752" cy="2681306"/>
            <a:chOff x="4987928" y="1962140"/>
            <a:chExt cx="285752" cy="2681306"/>
          </a:xfrm>
        </p:grpSpPr>
        <p:sp>
          <p:nvSpPr>
            <p:cNvPr id="38" name="椭圆 37"/>
            <p:cNvSpPr/>
            <p:nvPr/>
          </p:nvSpPr>
          <p:spPr>
            <a:xfrm>
              <a:off x="4987928" y="1962140"/>
              <a:ext cx="285752" cy="357190"/>
            </a:xfrm>
            <a:prstGeom prst="ellipse">
              <a:avLst/>
            </a:prstGeom>
            <a:solidFill>
              <a:schemeClr val="accent1">
                <a:alpha val="0"/>
              </a:schemeClr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7" name="直接箭头连接符 46"/>
            <p:cNvCxnSpPr>
              <a:stCxn id="38" idx="4"/>
            </p:cNvCxnSpPr>
            <p:nvPr/>
          </p:nvCxnSpPr>
          <p:spPr>
            <a:xfrm rot="16200000" flipH="1">
              <a:off x="3975096" y="3475038"/>
              <a:ext cx="2324116" cy="12700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组合 52"/>
          <p:cNvGrpSpPr/>
          <p:nvPr/>
        </p:nvGrpSpPr>
        <p:grpSpPr>
          <a:xfrm>
            <a:off x="5441956" y="2285992"/>
            <a:ext cx="1678006" cy="3357585"/>
            <a:chOff x="5441956" y="2285992"/>
            <a:chExt cx="1678006" cy="3357585"/>
          </a:xfrm>
        </p:grpSpPr>
        <p:sp>
          <p:nvSpPr>
            <p:cNvPr id="39" name="椭圆 38"/>
            <p:cNvSpPr/>
            <p:nvPr/>
          </p:nvSpPr>
          <p:spPr>
            <a:xfrm>
              <a:off x="5441956" y="2285992"/>
              <a:ext cx="285752" cy="357190"/>
            </a:xfrm>
            <a:prstGeom prst="ellipse">
              <a:avLst/>
            </a:prstGeom>
            <a:solidFill>
              <a:schemeClr val="accent1">
                <a:alpha val="0"/>
              </a:schemeClr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9" name="直接箭头连接符 48"/>
            <p:cNvCxnSpPr>
              <a:stCxn id="39" idx="5"/>
              <a:endCxn id="13" idx="0"/>
            </p:cNvCxnSpPr>
            <p:nvPr/>
          </p:nvCxnSpPr>
          <p:spPr>
            <a:xfrm rot="16200000" flipH="1">
              <a:off x="4876559" y="3400175"/>
              <a:ext cx="3052705" cy="1434100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TextBox 41"/>
          <p:cNvSpPr txBox="1"/>
          <p:nvPr/>
        </p:nvSpPr>
        <p:spPr>
          <a:xfrm>
            <a:off x="357158" y="357166"/>
            <a:ext cx="4929222" cy="461665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mtClean="0">
                <a:latin typeface="Consolas" pitchFamily="49" charset="0"/>
                <a:ea typeface="微软雅黑" pitchFamily="34" charset="-122"/>
                <a:cs typeface="Consolas" pitchFamily="49" charset="0"/>
              </a:rPr>
              <a:t>5.3.2 </a:t>
            </a:r>
            <a:r>
              <a:rPr lang="zh-CN" altLang="zh-CN" smtClean="0">
                <a:latin typeface="Consolas" pitchFamily="49" charset="0"/>
                <a:ea typeface="微软雅黑" pitchFamily="34" charset="-122"/>
                <a:cs typeface="Consolas" pitchFamily="49" charset="0"/>
              </a:rPr>
              <a:t>稀疏矩阵</a:t>
            </a:r>
            <a:r>
              <a:rPr lang="zh-CN" altLang="en-US" smtClean="0">
                <a:latin typeface="Consolas" pitchFamily="49" charset="0"/>
                <a:ea typeface="微软雅黑" pitchFamily="34" charset="-122"/>
                <a:cs typeface="Consolas" pitchFamily="49" charset="0"/>
              </a:rPr>
              <a:t>的十字链表表示</a:t>
            </a:r>
            <a:endParaRPr lang="zh-CN" altLang="zh-CN" smtClean="0">
              <a:ln w="11430"/>
              <a:solidFill>
                <a:schemeClr val="bg1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51" name="灯片编号占位符 5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8</a:t>
            </a:fld>
            <a:r>
              <a:rPr lang="en-US" altLang="zh-CN" smtClean="0"/>
              <a:t>/68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ext Box 2"/>
          <p:cNvSpPr txBox="1">
            <a:spLocks noChangeArrowheads="1"/>
          </p:cNvSpPr>
          <p:nvPr/>
        </p:nvSpPr>
        <p:spPr bwMode="auto">
          <a:xfrm>
            <a:off x="500034" y="293769"/>
            <a:ext cx="7715304" cy="8539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457200" indent="-457200" algn="l">
              <a:lnSpc>
                <a:spcPct val="130000"/>
              </a:lnSpc>
              <a:spcBef>
                <a:spcPct val="50000"/>
              </a:spcBef>
              <a:buFontTx/>
              <a:buBlip>
                <a:blip r:embed="rId2"/>
              </a:buBlip>
            </a:pPr>
            <a:r>
              <a:rPr kumimoji="1" lang="zh-CN" altLang="en-US" sz="2000" dirty="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每</a:t>
            </a:r>
            <a:r>
              <a:rPr kumimoji="1" lang="zh-CN" altLang="en-US" sz="20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行</a:t>
            </a:r>
            <a:r>
              <a:rPr kumimoji="1"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</a:t>
            </a:r>
            <a:r>
              <a:rPr kumimoji="1"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所有结点链</a:t>
            </a:r>
            <a:r>
              <a:rPr kumimoji="1" lang="zh-CN" altLang="en-US" sz="20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起来构成一个</a:t>
            </a:r>
            <a:r>
              <a:rPr kumimoji="1"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带</a:t>
            </a:r>
            <a:r>
              <a:rPr kumimoji="1"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行头结点的</a:t>
            </a:r>
            <a:r>
              <a:rPr kumimoji="1" lang="zh-CN" altLang="en-US" sz="20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循环单链表。以</a:t>
            </a:r>
            <a:r>
              <a:rPr kumimoji="1" lang="en-US" altLang="zh-CN" sz="2000" i="1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h</a:t>
            </a:r>
            <a:r>
              <a:rPr kumimoji="1" lang="en-US" altLang="zh-CN" sz="20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[</a:t>
            </a:r>
            <a:r>
              <a:rPr kumimoji="1" lang="en-US" altLang="zh-CN" sz="2000" i="1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kumimoji="1" lang="en-US" altLang="zh-CN" sz="20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]</a:t>
            </a:r>
            <a:r>
              <a:rPr kumimoji="1" lang="zh-CN" altLang="en-US" sz="20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（</a:t>
            </a:r>
            <a:r>
              <a:rPr kumimoji="1" lang="en-US" altLang="zh-CN" sz="20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0</a:t>
            </a:r>
            <a:r>
              <a:rPr kumimoji="1" lang="en-US" altLang="zh-CN" sz="2000" dirty="0" err="1">
                <a:solidFill>
                  <a:srgbClr val="0000FF"/>
                </a:solidFill>
                <a:latin typeface="+mn-ea"/>
                <a:ea typeface="+mn-ea"/>
                <a:cs typeface="Consolas" pitchFamily="49" charset="0"/>
              </a:rPr>
              <a:t>≤</a:t>
            </a:r>
            <a:r>
              <a:rPr kumimoji="1" lang="en-US" altLang="zh-CN" sz="2000" i="1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kumimoji="1" lang="en-US" altLang="zh-CN" sz="2000" dirty="0" err="1">
                <a:solidFill>
                  <a:srgbClr val="0000FF"/>
                </a:solidFill>
                <a:latin typeface="+mn-ea"/>
                <a:ea typeface="+mn-ea"/>
                <a:cs typeface="Consolas" pitchFamily="49" charset="0"/>
              </a:rPr>
              <a:t>≤</a:t>
            </a:r>
            <a:r>
              <a:rPr kumimoji="1" lang="en-US" altLang="zh-CN" sz="2000" i="1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</a:t>
            </a:r>
            <a:r>
              <a:rPr kumimoji="1" lang="en-US" altLang="zh-CN" sz="20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-1</a:t>
            </a:r>
            <a:r>
              <a:rPr kumimoji="1" lang="zh-CN" altLang="en-US" sz="20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）作为第</a:t>
            </a:r>
            <a:r>
              <a:rPr kumimoji="1" lang="en-US" altLang="zh-CN" sz="2000" i="1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kumimoji="1" lang="zh-CN" altLang="en-US" sz="20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行</a:t>
            </a:r>
            <a:r>
              <a:rPr kumimoji="1"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</a:t>
            </a:r>
            <a:r>
              <a:rPr kumimoji="1"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头结点。</a:t>
            </a:r>
            <a:endParaRPr kumimoji="1" lang="zh-CN" altLang="en-US" sz="2000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grpSp>
        <p:nvGrpSpPr>
          <p:cNvPr id="2" name="组合 4"/>
          <p:cNvGrpSpPr>
            <a:grpSpLocks noChangeAspect="1"/>
          </p:cNvGrpSpPr>
          <p:nvPr/>
        </p:nvGrpSpPr>
        <p:grpSpPr>
          <a:xfrm>
            <a:off x="2236782" y="1691971"/>
            <a:ext cx="1296670" cy="690880"/>
            <a:chOff x="2051050" y="1866900"/>
            <a:chExt cx="1620838" cy="863600"/>
          </a:xfrm>
        </p:grpSpPr>
        <p:sp>
          <p:nvSpPr>
            <p:cNvPr id="6" name="Rectangle 49"/>
            <p:cNvSpPr>
              <a:spLocks noChangeArrowheads="1"/>
            </p:cNvSpPr>
            <p:nvPr/>
          </p:nvSpPr>
          <p:spPr bwMode="auto">
            <a:xfrm>
              <a:off x="2051050" y="1866900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2000" dirty="0"/>
                <a:t>0</a:t>
              </a:r>
            </a:p>
          </p:txBody>
        </p:sp>
        <p:sp>
          <p:nvSpPr>
            <p:cNvPr id="7" name="Rectangle 50"/>
            <p:cNvSpPr>
              <a:spLocks noChangeArrowheads="1"/>
            </p:cNvSpPr>
            <p:nvPr/>
          </p:nvSpPr>
          <p:spPr bwMode="auto">
            <a:xfrm>
              <a:off x="2592388" y="1866900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2000" dirty="0"/>
                <a:t>0</a:t>
              </a:r>
            </a:p>
          </p:txBody>
        </p:sp>
        <p:sp>
          <p:nvSpPr>
            <p:cNvPr id="8" name="Rectangle 51"/>
            <p:cNvSpPr>
              <a:spLocks noChangeArrowheads="1"/>
            </p:cNvSpPr>
            <p:nvPr/>
          </p:nvSpPr>
          <p:spPr bwMode="auto">
            <a:xfrm>
              <a:off x="3132138" y="1866900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2000" dirty="0"/>
                <a:t>1</a:t>
              </a:r>
            </a:p>
          </p:txBody>
        </p:sp>
        <p:sp>
          <p:nvSpPr>
            <p:cNvPr id="9" name="Rectangle 52"/>
            <p:cNvSpPr>
              <a:spLocks noChangeArrowheads="1"/>
            </p:cNvSpPr>
            <p:nvPr/>
          </p:nvSpPr>
          <p:spPr bwMode="auto">
            <a:xfrm>
              <a:off x="2051050" y="2298700"/>
              <a:ext cx="792162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  <p:sp>
          <p:nvSpPr>
            <p:cNvPr id="10" name="Rectangle 53"/>
            <p:cNvSpPr>
              <a:spLocks noChangeArrowheads="1"/>
            </p:cNvSpPr>
            <p:nvPr/>
          </p:nvSpPr>
          <p:spPr bwMode="auto">
            <a:xfrm>
              <a:off x="2844800" y="2298700"/>
              <a:ext cx="827087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</p:grpSp>
      <p:grpSp>
        <p:nvGrpSpPr>
          <p:cNvPr id="3" name="组合 10"/>
          <p:cNvGrpSpPr>
            <a:grpSpLocks noChangeAspect="1"/>
          </p:cNvGrpSpPr>
          <p:nvPr/>
        </p:nvGrpSpPr>
        <p:grpSpPr>
          <a:xfrm>
            <a:off x="7275858" y="4106563"/>
            <a:ext cx="1296670" cy="690880"/>
            <a:chOff x="7451725" y="4408488"/>
            <a:chExt cx="1620838" cy="863600"/>
          </a:xfrm>
        </p:grpSpPr>
        <p:sp>
          <p:nvSpPr>
            <p:cNvPr id="12" name="Rectangle 54"/>
            <p:cNvSpPr>
              <a:spLocks noChangeArrowheads="1"/>
            </p:cNvSpPr>
            <p:nvPr/>
          </p:nvSpPr>
          <p:spPr bwMode="auto">
            <a:xfrm>
              <a:off x="7451725" y="4408488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2000" dirty="0"/>
                <a:t>2</a:t>
              </a:r>
            </a:p>
          </p:txBody>
        </p:sp>
        <p:sp>
          <p:nvSpPr>
            <p:cNvPr id="13" name="Rectangle 55"/>
            <p:cNvSpPr>
              <a:spLocks noChangeArrowheads="1"/>
            </p:cNvSpPr>
            <p:nvPr/>
          </p:nvSpPr>
          <p:spPr bwMode="auto">
            <a:xfrm>
              <a:off x="7993063" y="4408488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2000"/>
                <a:t>3</a:t>
              </a:r>
            </a:p>
          </p:txBody>
        </p:sp>
        <p:sp>
          <p:nvSpPr>
            <p:cNvPr id="14" name="Rectangle 56"/>
            <p:cNvSpPr>
              <a:spLocks noChangeArrowheads="1"/>
            </p:cNvSpPr>
            <p:nvPr/>
          </p:nvSpPr>
          <p:spPr bwMode="auto">
            <a:xfrm>
              <a:off x="8532813" y="4408488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2000"/>
                <a:t>4</a:t>
              </a:r>
            </a:p>
          </p:txBody>
        </p:sp>
        <p:sp>
          <p:nvSpPr>
            <p:cNvPr id="15" name="Rectangle 57"/>
            <p:cNvSpPr>
              <a:spLocks noChangeArrowheads="1"/>
            </p:cNvSpPr>
            <p:nvPr/>
          </p:nvSpPr>
          <p:spPr bwMode="auto">
            <a:xfrm>
              <a:off x="7451725" y="4840288"/>
              <a:ext cx="792162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  <p:sp>
          <p:nvSpPr>
            <p:cNvPr id="16" name="Rectangle 58"/>
            <p:cNvSpPr>
              <a:spLocks noChangeArrowheads="1"/>
            </p:cNvSpPr>
            <p:nvPr/>
          </p:nvSpPr>
          <p:spPr bwMode="auto">
            <a:xfrm>
              <a:off x="8245475" y="4840288"/>
              <a:ext cx="827087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</p:grpSp>
      <p:grpSp>
        <p:nvGrpSpPr>
          <p:cNvPr id="4" name="组合 16"/>
          <p:cNvGrpSpPr>
            <a:grpSpLocks noChangeAspect="1"/>
          </p:cNvGrpSpPr>
          <p:nvPr/>
        </p:nvGrpSpPr>
        <p:grpSpPr>
          <a:xfrm>
            <a:off x="7275858" y="1691971"/>
            <a:ext cx="1296670" cy="690880"/>
            <a:chOff x="7451725" y="1844675"/>
            <a:chExt cx="1620838" cy="863600"/>
          </a:xfrm>
        </p:grpSpPr>
        <p:sp>
          <p:nvSpPr>
            <p:cNvPr id="18" name="Rectangle 59"/>
            <p:cNvSpPr>
              <a:spLocks noChangeArrowheads="1"/>
            </p:cNvSpPr>
            <p:nvPr/>
          </p:nvSpPr>
          <p:spPr bwMode="auto">
            <a:xfrm>
              <a:off x="7451725" y="1844675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2000" dirty="0"/>
                <a:t>0</a:t>
              </a:r>
            </a:p>
          </p:txBody>
        </p:sp>
        <p:sp>
          <p:nvSpPr>
            <p:cNvPr id="19" name="Rectangle 60"/>
            <p:cNvSpPr>
              <a:spLocks noChangeArrowheads="1"/>
            </p:cNvSpPr>
            <p:nvPr/>
          </p:nvSpPr>
          <p:spPr bwMode="auto">
            <a:xfrm>
              <a:off x="7993063" y="1844675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2000" dirty="0"/>
                <a:t>3</a:t>
              </a:r>
            </a:p>
          </p:txBody>
        </p:sp>
        <p:sp>
          <p:nvSpPr>
            <p:cNvPr id="20" name="Rectangle 61"/>
            <p:cNvSpPr>
              <a:spLocks noChangeArrowheads="1"/>
            </p:cNvSpPr>
            <p:nvPr/>
          </p:nvSpPr>
          <p:spPr bwMode="auto">
            <a:xfrm>
              <a:off x="8532813" y="1844675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2000"/>
                <a:t>2</a:t>
              </a:r>
            </a:p>
          </p:txBody>
        </p:sp>
        <p:sp>
          <p:nvSpPr>
            <p:cNvPr id="21" name="Rectangle 62"/>
            <p:cNvSpPr>
              <a:spLocks noChangeArrowheads="1"/>
            </p:cNvSpPr>
            <p:nvPr/>
          </p:nvSpPr>
          <p:spPr bwMode="auto">
            <a:xfrm>
              <a:off x="7451725" y="2276475"/>
              <a:ext cx="792162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  <p:sp>
          <p:nvSpPr>
            <p:cNvPr id="22" name="Rectangle 63"/>
            <p:cNvSpPr>
              <a:spLocks noChangeArrowheads="1"/>
            </p:cNvSpPr>
            <p:nvPr/>
          </p:nvSpPr>
          <p:spPr bwMode="auto">
            <a:xfrm>
              <a:off x="8245475" y="2276475"/>
              <a:ext cx="827087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</p:grpSp>
      <p:grpSp>
        <p:nvGrpSpPr>
          <p:cNvPr id="5" name="组合 22"/>
          <p:cNvGrpSpPr>
            <a:grpSpLocks noChangeAspect="1"/>
          </p:cNvGrpSpPr>
          <p:nvPr/>
        </p:nvGrpSpPr>
        <p:grpSpPr>
          <a:xfrm>
            <a:off x="5418470" y="2928642"/>
            <a:ext cx="1296670" cy="690880"/>
            <a:chOff x="5632450" y="3213100"/>
            <a:chExt cx="1620838" cy="863600"/>
          </a:xfrm>
        </p:grpSpPr>
        <p:sp>
          <p:nvSpPr>
            <p:cNvPr id="24" name="Rectangle 64"/>
            <p:cNvSpPr>
              <a:spLocks noChangeArrowheads="1"/>
            </p:cNvSpPr>
            <p:nvPr/>
          </p:nvSpPr>
          <p:spPr bwMode="auto">
            <a:xfrm>
              <a:off x="5632450" y="3213100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2000" dirty="0"/>
                <a:t>1</a:t>
              </a:r>
            </a:p>
          </p:txBody>
        </p:sp>
        <p:sp>
          <p:nvSpPr>
            <p:cNvPr id="25" name="Rectangle 65"/>
            <p:cNvSpPr>
              <a:spLocks noChangeArrowheads="1"/>
            </p:cNvSpPr>
            <p:nvPr/>
          </p:nvSpPr>
          <p:spPr bwMode="auto">
            <a:xfrm>
              <a:off x="6173788" y="3213100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2000"/>
                <a:t>2</a:t>
              </a:r>
            </a:p>
          </p:txBody>
        </p:sp>
        <p:sp>
          <p:nvSpPr>
            <p:cNvPr id="26" name="Rectangle 66"/>
            <p:cNvSpPr>
              <a:spLocks noChangeArrowheads="1"/>
            </p:cNvSpPr>
            <p:nvPr/>
          </p:nvSpPr>
          <p:spPr bwMode="auto">
            <a:xfrm>
              <a:off x="6713538" y="3213100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2000"/>
                <a:t>3</a:t>
              </a:r>
            </a:p>
          </p:txBody>
        </p:sp>
        <p:sp>
          <p:nvSpPr>
            <p:cNvPr id="27" name="Rectangle 67"/>
            <p:cNvSpPr>
              <a:spLocks noChangeArrowheads="1"/>
            </p:cNvSpPr>
            <p:nvPr/>
          </p:nvSpPr>
          <p:spPr bwMode="auto">
            <a:xfrm>
              <a:off x="5632450" y="3644900"/>
              <a:ext cx="792162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  <p:sp>
          <p:nvSpPr>
            <p:cNvPr id="28" name="Rectangle 68"/>
            <p:cNvSpPr>
              <a:spLocks noChangeArrowheads="1"/>
            </p:cNvSpPr>
            <p:nvPr/>
          </p:nvSpPr>
          <p:spPr bwMode="auto">
            <a:xfrm>
              <a:off x="6426200" y="3644900"/>
              <a:ext cx="827087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</p:grpSp>
      <p:grpSp>
        <p:nvGrpSpPr>
          <p:cNvPr id="11" name="组合 28"/>
          <p:cNvGrpSpPr>
            <a:grpSpLocks noChangeAspect="1"/>
          </p:cNvGrpSpPr>
          <p:nvPr/>
        </p:nvGrpSpPr>
        <p:grpSpPr>
          <a:xfrm>
            <a:off x="342882" y="1691971"/>
            <a:ext cx="1296670" cy="690880"/>
            <a:chOff x="122238" y="1865313"/>
            <a:chExt cx="1620837" cy="863600"/>
          </a:xfrm>
        </p:grpSpPr>
        <p:sp>
          <p:nvSpPr>
            <p:cNvPr id="30" name="Rectangle 9"/>
            <p:cNvSpPr>
              <a:spLocks noChangeArrowheads="1"/>
            </p:cNvSpPr>
            <p:nvPr/>
          </p:nvSpPr>
          <p:spPr bwMode="auto">
            <a:xfrm>
              <a:off x="122238" y="1865313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 i="1"/>
            </a:p>
          </p:txBody>
        </p:sp>
        <p:sp>
          <p:nvSpPr>
            <p:cNvPr id="31" name="Rectangle 10"/>
            <p:cNvSpPr>
              <a:spLocks noChangeArrowheads="1"/>
            </p:cNvSpPr>
            <p:nvPr/>
          </p:nvSpPr>
          <p:spPr bwMode="auto">
            <a:xfrm>
              <a:off x="663575" y="1865313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 i="1"/>
            </a:p>
          </p:txBody>
        </p:sp>
        <p:sp>
          <p:nvSpPr>
            <p:cNvPr id="32" name="Rectangle 11"/>
            <p:cNvSpPr>
              <a:spLocks noChangeArrowheads="1"/>
            </p:cNvSpPr>
            <p:nvPr/>
          </p:nvSpPr>
          <p:spPr bwMode="auto">
            <a:xfrm>
              <a:off x="1203325" y="1865313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  <p:sp>
          <p:nvSpPr>
            <p:cNvPr id="33" name="Rectangle 12"/>
            <p:cNvSpPr>
              <a:spLocks noChangeArrowheads="1"/>
            </p:cNvSpPr>
            <p:nvPr/>
          </p:nvSpPr>
          <p:spPr bwMode="auto">
            <a:xfrm>
              <a:off x="122238" y="2297113"/>
              <a:ext cx="792162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  <p:sp>
          <p:nvSpPr>
            <p:cNvPr id="34" name="Rectangle 13"/>
            <p:cNvSpPr>
              <a:spLocks noChangeArrowheads="1"/>
            </p:cNvSpPr>
            <p:nvPr/>
          </p:nvSpPr>
          <p:spPr bwMode="auto">
            <a:xfrm>
              <a:off x="915988" y="2297113"/>
              <a:ext cx="827087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</p:grpSp>
      <p:grpSp>
        <p:nvGrpSpPr>
          <p:cNvPr id="17" name="组合 34"/>
          <p:cNvGrpSpPr>
            <a:grpSpLocks noChangeAspect="1"/>
          </p:cNvGrpSpPr>
          <p:nvPr/>
        </p:nvGrpSpPr>
        <p:grpSpPr>
          <a:xfrm>
            <a:off x="342882" y="2928642"/>
            <a:ext cx="1296670" cy="690880"/>
            <a:chOff x="122238" y="3213100"/>
            <a:chExt cx="1620837" cy="863600"/>
          </a:xfrm>
        </p:grpSpPr>
        <p:sp>
          <p:nvSpPr>
            <p:cNvPr id="36" name="Rectangle 14"/>
            <p:cNvSpPr>
              <a:spLocks noChangeArrowheads="1"/>
            </p:cNvSpPr>
            <p:nvPr/>
          </p:nvSpPr>
          <p:spPr bwMode="auto">
            <a:xfrm>
              <a:off x="122238" y="3213100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 i="1"/>
            </a:p>
          </p:txBody>
        </p:sp>
        <p:sp>
          <p:nvSpPr>
            <p:cNvPr id="37" name="Rectangle 15"/>
            <p:cNvSpPr>
              <a:spLocks noChangeArrowheads="1"/>
            </p:cNvSpPr>
            <p:nvPr/>
          </p:nvSpPr>
          <p:spPr bwMode="auto">
            <a:xfrm>
              <a:off x="663575" y="3213100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 i="1"/>
            </a:p>
          </p:txBody>
        </p:sp>
        <p:sp>
          <p:nvSpPr>
            <p:cNvPr id="38" name="Rectangle 16"/>
            <p:cNvSpPr>
              <a:spLocks noChangeArrowheads="1"/>
            </p:cNvSpPr>
            <p:nvPr/>
          </p:nvSpPr>
          <p:spPr bwMode="auto">
            <a:xfrm>
              <a:off x="1203325" y="3213100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  <p:sp>
          <p:nvSpPr>
            <p:cNvPr id="39" name="Rectangle 17"/>
            <p:cNvSpPr>
              <a:spLocks noChangeArrowheads="1"/>
            </p:cNvSpPr>
            <p:nvPr/>
          </p:nvSpPr>
          <p:spPr bwMode="auto">
            <a:xfrm>
              <a:off x="122238" y="3644900"/>
              <a:ext cx="792162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  <p:sp>
          <p:nvSpPr>
            <p:cNvPr id="40" name="Rectangle 18"/>
            <p:cNvSpPr>
              <a:spLocks noChangeArrowheads="1"/>
            </p:cNvSpPr>
            <p:nvPr/>
          </p:nvSpPr>
          <p:spPr bwMode="auto">
            <a:xfrm>
              <a:off x="915988" y="3644900"/>
              <a:ext cx="827087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</p:grpSp>
      <p:grpSp>
        <p:nvGrpSpPr>
          <p:cNvPr id="23" name="组合 40"/>
          <p:cNvGrpSpPr>
            <a:grpSpLocks noChangeAspect="1"/>
          </p:cNvGrpSpPr>
          <p:nvPr/>
        </p:nvGrpSpPr>
        <p:grpSpPr>
          <a:xfrm>
            <a:off x="379394" y="4106563"/>
            <a:ext cx="1296670" cy="690880"/>
            <a:chOff x="158750" y="4406900"/>
            <a:chExt cx="1620838" cy="863600"/>
          </a:xfrm>
        </p:grpSpPr>
        <p:sp>
          <p:nvSpPr>
            <p:cNvPr id="42" name="Rectangle 19"/>
            <p:cNvSpPr>
              <a:spLocks noChangeArrowheads="1"/>
            </p:cNvSpPr>
            <p:nvPr/>
          </p:nvSpPr>
          <p:spPr bwMode="auto">
            <a:xfrm>
              <a:off x="158750" y="4406900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 i="1"/>
            </a:p>
          </p:txBody>
        </p:sp>
        <p:sp>
          <p:nvSpPr>
            <p:cNvPr id="43" name="Rectangle 20"/>
            <p:cNvSpPr>
              <a:spLocks noChangeArrowheads="1"/>
            </p:cNvSpPr>
            <p:nvPr/>
          </p:nvSpPr>
          <p:spPr bwMode="auto">
            <a:xfrm>
              <a:off x="700088" y="4406900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 i="1"/>
            </a:p>
          </p:txBody>
        </p:sp>
        <p:sp>
          <p:nvSpPr>
            <p:cNvPr id="44" name="Rectangle 21"/>
            <p:cNvSpPr>
              <a:spLocks noChangeArrowheads="1"/>
            </p:cNvSpPr>
            <p:nvPr/>
          </p:nvSpPr>
          <p:spPr bwMode="auto">
            <a:xfrm>
              <a:off x="1239838" y="4406900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  <p:sp>
          <p:nvSpPr>
            <p:cNvPr id="45" name="Rectangle 22"/>
            <p:cNvSpPr>
              <a:spLocks noChangeArrowheads="1"/>
            </p:cNvSpPr>
            <p:nvPr/>
          </p:nvSpPr>
          <p:spPr bwMode="auto">
            <a:xfrm>
              <a:off x="158750" y="4838700"/>
              <a:ext cx="792162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  <p:sp>
          <p:nvSpPr>
            <p:cNvPr id="46" name="Rectangle 23"/>
            <p:cNvSpPr>
              <a:spLocks noChangeArrowheads="1"/>
            </p:cNvSpPr>
            <p:nvPr/>
          </p:nvSpPr>
          <p:spPr bwMode="auto">
            <a:xfrm>
              <a:off x="952500" y="4838700"/>
              <a:ext cx="827087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</p:grpSp>
      <p:cxnSp>
        <p:nvCxnSpPr>
          <p:cNvPr id="54" name="直接箭头连接符 53"/>
          <p:cNvCxnSpPr/>
          <p:nvPr/>
        </p:nvCxnSpPr>
        <p:spPr>
          <a:xfrm flipV="1">
            <a:off x="3214678" y="2210131"/>
            <a:ext cx="4061180" cy="0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/>
          <p:cNvCxnSpPr/>
          <p:nvPr/>
        </p:nvCxnSpPr>
        <p:spPr>
          <a:xfrm flipV="1">
            <a:off x="1285852" y="2210131"/>
            <a:ext cx="950930" cy="0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组合 62"/>
          <p:cNvGrpSpPr/>
          <p:nvPr/>
        </p:nvGrpSpPr>
        <p:grpSpPr>
          <a:xfrm>
            <a:off x="1071538" y="1498288"/>
            <a:ext cx="7716098" cy="723906"/>
            <a:chOff x="1071538" y="1498288"/>
            <a:chExt cx="7716098" cy="723906"/>
          </a:xfrm>
        </p:grpSpPr>
        <p:cxnSp>
          <p:nvCxnSpPr>
            <p:cNvPr id="62" name="直接连接符 61"/>
            <p:cNvCxnSpPr/>
            <p:nvPr/>
          </p:nvCxnSpPr>
          <p:spPr>
            <a:xfrm>
              <a:off x="8358214" y="2220606"/>
              <a:ext cx="428628" cy="1588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/>
            <p:cNvCxnSpPr/>
            <p:nvPr/>
          </p:nvCxnSpPr>
          <p:spPr>
            <a:xfrm rot="5400000">
              <a:off x="8429652" y="1863416"/>
              <a:ext cx="714380" cy="1588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/>
            <p:cNvCxnSpPr/>
            <p:nvPr/>
          </p:nvCxnSpPr>
          <p:spPr>
            <a:xfrm rot="10800000">
              <a:off x="1071538" y="1506226"/>
              <a:ext cx="7715304" cy="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箭头连接符 67"/>
            <p:cNvCxnSpPr/>
            <p:nvPr/>
          </p:nvCxnSpPr>
          <p:spPr>
            <a:xfrm rot="5400000">
              <a:off x="968300" y="1606288"/>
              <a:ext cx="216000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0" name="直接箭头连接符 69"/>
          <p:cNvCxnSpPr/>
          <p:nvPr/>
        </p:nvCxnSpPr>
        <p:spPr>
          <a:xfrm flipV="1">
            <a:off x="1285852" y="3446802"/>
            <a:ext cx="4132618" cy="0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056" name="组合 64"/>
          <p:cNvGrpSpPr/>
          <p:nvPr/>
        </p:nvGrpSpPr>
        <p:grpSpPr>
          <a:xfrm>
            <a:off x="1071538" y="2744386"/>
            <a:ext cx="5858710" cy="716066"/>
            <a:chOff x="1071538" y="2744386"/>
            <a:chExt cx="5858710" cy="716066"/>
          </a:xfrm>
        </p:grpSpPr>
        <p:cxnSp>
          <p:nvCxnSpPr>
            <p:cNvPr id="95" name="直接连接符 94"/>
            <p:cNvCxnSpPr/>
            <p:nvPr/>
          </p:nvCxnSpPr>
          <p:spPr>
            <a:xfrm>
              <a:off x="6500826" y="3458864"/>
              <a:ext cx="428628" cy="1588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/>
            <p:cNvCxnSpPr/>
            <p:nvPr/>
          </p:nvCxnSpPr>
          <p:spPr>
            <a:xfrm rot="5400000">
              <a:off x="6572264" y="3101674"/>
              <a:ext cx="714380" cy="1588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/>
            <p:cNvCxnSpPr/>
            <p:nvPr/>
          </p:nvCxnSpPr>
          <p:spPr>
            <a:xfrm rot="10800000" flipV="1">
              <a:off x="1071538" y="2754010"/>
              <a:ext cx="5857916" cy="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箭头连接符 98"/>
            <p:cNvCxnSpPr/>
            <p:nvPr/>
          </p:nvCxnSpPr>
          <p:spPr>
            <a:xfrm rot="5400000">
              <a:off x="976238" y="2852386"/>
              <a:ext cx="216000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057" name="组合 66"/>
          <p:cNvGrpSpPr/>
          <p:nvPr/>
        </p:nvGrpSpPr>
        <p:grpSpPr>
          <a:xfrm>
            <a:off x="1071538" y="3887492"/>
            <a:ext cx="7716098" cy="723906"/>
            <a:chOff x="1071538" y="3887492"/>
            <a:chExt cx="7716098" cy="723906"/>
          </a:xfrm>
        </p:grpSpPr>
        <p:cxnSp>
          <p:nvCxnSpPr>
            <p:cNvPr id="100" name="直接连接符 99"/>
            <p:cNvCxnSpPr/>
            <p:nvPr/>
          </p:nvCxnSpPr>
          <p:spPr>
            <a:xfrm>
              <a:off x="8358214" y="4609810"/>
              <a:ext cx="428628" cy="1588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/>
          </p:nvCxnSpPr>
          <p:spPr>
            <a:xfrm rot="5400000">
              <a:off x="8429652" y="4252620"/>
              <a:ext cx="714380" cy="1588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/>
            <p:cNvCxnSpPr/>
            <p:nvPr/>
          </p:nvCxnSpPr>
          <p:spPr>
            <a:xfrm rot="10800000">
              <a:off x="1071538" y="3895430"/>
              <a:ext cx="7715304" cy="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箭头连接符 102"/>
            <p:cNvCxnSpPr/>
            <p:nvPr/>
          </p:nvCxnSpPr>
          <p:spPr>
            <a:xfrm rot="5400000">
              <a:off x="968300" y="3995492"/>
              <a:ext cx="216000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5" name="直接箭头连接符 104"/>
          <p:cNvCxnSpPr/>
          <p:nvPr/>
        </p:nvCxnSpPr>
        <p:spPr>
          <a:xfrm flipV="1">
            <a:off x="1357290" y="4624723"/>
            <a:ext cx="5918568" cy="0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357158" y="5143512"/>
            <a:ext cx="1500198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800" dirty="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3</a:t>
            </a:r>
            <a:r>
              <a:rPr kumimoji="1" lang="zh-CN" altLang="en-US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个行头结点</a:t>
            </a:r>
            <a:endParaRPr lang="zh-CN" altLang="en-US" sz="1800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75" name="灯片编号占位符 7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9</a:t>
            </a:fld>
            <a:r>
              <a:rPr lang="en-US" altLang="zh-CN" smtClean="0"/>
              <a:t>/68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5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9" dur="1000"/>
                                        <p:tgtEl>
                                          <p:spTgt spid="45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1" dur="1000"/>
                                        <p:tgtEl>
                                          <p:spTgt spid="45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"/>
          <p:cNvGrpSpPr>
            <a:grpSpLocks noChangeAspect="1"/>
          </p:cNvGrpSpPr>
          <p:nvPr/>
        </p:nvGrpSpPr>
        <p:grpSpPr>
          <a:xfrm>
            <a:off x="2236782" y="2663923"/>
            <a:ext cx="1296670" cy="690880"/>
            <a:chOff x="2051050" y="1866900"/>
            <a:chExt cx="1620838" cy="863600"/>
          </a:xfrm>
        </p:grpSpPr>
        <p:sp>
          <p:nvSpPr>
            <p:cNvPr id="6" name="Rectangle 49"/>
            <p:cNvSpPr>
              <a:spLocks noChangeArrowheads="1"/>
            </p:cNvSpPr>
            <p:nvPr/>
          </p:nvSpPr>
          <p:spPr bwMode="auto">
            <a:xfrm>
              <a:off x="2051050" y="1866900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2000" dirty="0"/>
                <a:t>0</a:t>
              </a:r>
            </a:p>
          </p:txBody>
        </p:sp>
        <p:sp>
          <p:nvSpPr>
            <p:cNvPr id="7" name="Rectangle 50"/>
            <p:cNvSpPr>
              <a:spLocks noChangeArrowheads="1"/>
            </p:cNvSpPr>
            <p:nvPr/>
          </p:nvSpPr>
          <p:spPr bwMode="auto">
            <a:xfrm>
              <a:off x="2592388" y="1866900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2000" dirty="0"/>
                <a:t>0</a:t>
              </a:r>
            </a:p>
          </p:txBody>
        </p:sp>
        <p:sp>
          <p:nvSpPr>
            <p:cNvPr id="8" name="Rectangle 51"/>
            <p:cNvSpPr>
              <a:spLocks noChangeArrowheads="1"/>
            </p:cNvSpPr>
            <p:nvPr/>
          </p:nvSpPr>
          <p:spPr bwMode="auto">
            <a:xfrm>
              <a:off x="3132138" y="1866900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2000" dirty="0"/>
                <a:t>1</a:t>
              </a:r>
            </a:p>
          </p:txBody>
        </p:sp>
        <p:sp>
          <p:nvSpPr>
            <p:cNvPr id="9" name="Rectangle 52"/>
            <p:cNvSpPr>
              <a:spLocks noChangeArrowheads="1"/>
            </p:cNvSpPr>
            <p:nvPr/>
          </p:nvSpPr>
          <p:spPr bwMode="auto">
            <a:xfrm>
              <a:off x="2051050" y="2298700"/>
              <a:ext cx="792162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  <p:sp>
          <p:nvSpPr>
            <p:cNvPr id="10" name="Rectangle 53"/>
            <p:cNvSpPr>
              <a:spLocks noChangeArrowheads="1"/>
            </p:cNvSpPr>
            <p:nvPr/>
          </p:nvSpPr>
          <p:spPr bwMode="auto">
            <a:xfrm>
              <a:off x="2844800" y="2298700"/>
              <a:ext cx="827087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</p:grpSp>
      <p:grpSp>
        <p:nvGrpSpPr>
          <p:cNvPr id="3" name="组合 10"/>
          <p:cNvGrpSpPr>
            <a:grpSpLocks noChangeAspect="1"/>
          </p:cNvGrpSpPr>
          <p:nvPr/>
        </p:nvGrpSpPr>
        <p:grpSpPr>
          <a:xfrm>
            <a:off x="7275858" y="5078515"/>
            <a:ext cx="1296670" cy="690880"/>
            <a:chOff x="7451725" y="4408488"/>
            <a:chExt cx="1620838" cy="863600"/>
          </a:xfrm>
        </p:grpSpPr>
        <p:sp>
          <p:nvSpPr>
            <p:cNvPr id="12" name="Rectangle 54"/>
            <p:cNvSpPr>
              <a:spLocks noChangeArrowheads="1"/>
            </p:cNvSpPr>
            <p:nvPr/>
          </p:nvSpPr>
          <p:spPr bwMode="auto">
            <a:xfrm>
              <a:off x="7451725" y="4408488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2000" dirty="0"/>
                <a:t>2</a:t>
              </a:r>
            </a:p>
          </p:txBody>
        </p:sp>
        <p:sp>
          <p:nvSpPr>
            <p:cNvPr id="13" name="Rectangle 55"/>
            <p:cNvSpPr>
              <a:spLocks noChangeArrowheads="1"/>
            </p:cNvSpPr>
            <p:nvPr/>
          </p:nvSpPr>
          <p:spPr bwMode="auto">
            <a:xfrm>
              <a:off x="7993063" y="4408488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2000"/>
                <a:t>3</a:t>
              </a:r>
            </a:p>
          </p:txBody>
        </p:sp>
        <p:sp>
          <p:nvSpPr>
            <p:cNvPr id="14" name="Rectangle 56"/>
            <p:cNvSpPr>
              <a:spLocks noChangeArrowheads="1"/>
            </p:cNvSpPr>
            <p:nvPr/>
          </p:nvSpPr>
          <p:spPr bwMode="auto">
            <a:xfrm>
              <a:off x="8532813" y="4408488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2000"/>
                <a:t>4</a:t>
              </a:r>
            </a:p>
          </p:txBody>
        </p:sp>
        <p:sp>
          <p:nvSpPr>
            <p:cNvPr id="15" name="Rectangle 57"/>
            <p:cNvSpPr>
              <a:spLocks noChangeArrowheads="1"/>
            </p:cNvSpPr>
            <p:nvPr/>
          </p:nvSpPr>
          <p:spPr bwMode="auto">
            <a:xfrm>
              <a:off x="7451725" y="4840288"/>
              <a:ext cx="792162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  <p:sp>
          <p:nvSpPr>
            <p:cNvPr id="16" name="Rectangle 58"/>
            <p:cNvSpPr>
              <a:spLocks noChangeArrowheads="1"/>
            </p:cNvSpPr>
            <p:nvPr/>
          </p:nvSpPr>
          <p:spPr bwMode="auto">
            <a:xfrm>
              <a:off x="8245475" y="4840288"/>
              <a:ext cx="827087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</p:grpSp>
      <p:grpSp>
        <p:nvGrpSpPr>
          <p:cNvPr id="4" name="组合 16"/>
          <p:cNvGrpSpPr>
            <a:grpSpLocks noChangeAspect="1"/>
          </p:cNvGrpSpPr>
          <p:nvPr/>
        </p:nvGrpSpPr>
        <p:grpSpPr>
          <a:xfrm>
            <a:off x="7275858" y="2663923"/>
            <a:ext cx="1296670" cy="690880"/>
            <a:chOff x="7451725" y="1844675"/>
            <a:chExt cx="1620838" cy="863600"/>
          </a:xfrm>
        </p:grpSpPr>
        <p:sp>
          <p:nvSpPr>
            <p:cNvPr id="18" name="Rectangle 59"/>
            <p:cNvSpPr>
              <a:spLocks noChangeArrowheads="1"/>
            </p:cNvSpPr>
            <p:nvPr/>
          </p:nvSpPr>
          <p:spPr bwMode="auto">
            <a:xfrm>
              <a:off x="7451725" y="1844675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2000" dirty="0"/>
                <a:t>0</a:t>
              </a:r>
            </a:p>
          </p:txBody>
        </p:sp>
        <p:sp>
          <p:nvSpPr>
            <p:cNvPr id="19" name="Rectangle 60"/>
            <p:cNvSpPr>
              <a:spLocks noChangeArrowheads="1"/>
            </p:cNvSpPr>
            <p:nvPr/>
          </p:nvSpPr>
          <p:spPr bwMode="auto">
            <a:xfrm>
              <a:off x="7993063" y="1844675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2000" dirty="0"/>
                <a:t>3</a:t>
              </a:r>
            </a:p>
          </p:txBody>
        </p:sp>
        <p:sp>
          <p:nvSpPr>
            <p:cNvPr id="20" name="Rectangle 61"/>
            <p:cNvSpPr>
              <a:spLocks noChangeArrowheads="1"/>
            </p:cNvSpPr>
            <p:nvPr/>
          </p:nvSpPr>
          <p:spPr bwMode="auto">
            <a:xfrm>
              <a:off x="8532813" y="1844675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2000"/>
                <a:t>2</a:t>
              </a:r>
            </a:p>
          </p:txBody>
        </p:sp>
        <p:sp>
          <p:nvSpPr>
            <p:cNvPr id="21" name="Rectangle 62"/>
            <p:cNvSpPr>
              <a:spLocks noChangeArrowheads="1"/>
            </p:cNvSpPr>
            <p:nvPr/>
          </p:nvSpPr>
          <p:spPr bwMode="auto">
            <a:xfrm>
              <a:off x="7451725" y="2276475"/>
              <a:ext cx="792162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  <p:sp>
          <p:nvSpPr>
            <p:cNvPr id="22" name="Rectangle 63"/>
            <p:cNvSpPr>
              <a:spLocks noChangeArrowheads="1"/>
            </p:cNvSpPr>
            <p:nvPr/>
          </p:nvSpPr>
          <p:spPr bwMode="auto">
            <a:xfrm>
              <a:off x="8245475" y="2276475"/>
              <a:ext cx="827087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</p:grpSp>
      <p:grpSp>
        <p:nvGrpSpPr>
          <p:cNvPr id="5" name="组合 22"/>
          <p:cNvGrpSpPr>
            <a:grpSpLocks noChangeAspect="1"/>
          </p:cNvGrpSpPr>
          <p:nvPr/>
        </p:nvGrpSpPr>
        <p:grpSpPr>
          <a:xfrm>
            <a:off x="5418470" y="3900594"/>
            <a:ext cx="1296670" cy="690880"/>
            <a:chOff x="5632450" y="3213100"/>
            <a:chExt cx="1620838" cy="863600"/>
          </a:xfrm>
        </p:grpSpPr>
        <p:sp>
          <p:nvSpPr>
            <p:cNvPr id="24" name="Rectangle 64"/>
            <p:cNvSpPr>
              <a:spLocks noChangeArrowheads="1"/>
            </p:cNvSpPr>
            <p:nvPr/>
          </p:nvSpPr>
          <p:spPr bwMode="auto">
            <a:xfrm>
              <a:off x="5632450" y="3213100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2000" dirty="0"/>
                <a:t>1</a:t>
              </a:r>
            </a:p>
          </p:txBody>
        </p:sp>
        <p:sp>
          <p:nvSpPr>
            <p:cNvPr id="25" name="Rectangle 65"/>
            <p:cNvSpPr>
              <a:spLocks noChangeArrowheads="1"/>
            </p:cNvSpPr>
            <p:nvPr/>
          </p:nvSpPr>
          <p:spPr bwMode="auto">
            <a:xfrm>
              <a:off x="6173788" y="3213100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2000"/>
                <a:t>2</a:t>
              </a:r>
            </a:p>
          </p:txBody>
        </p:sp>
        <p:sp>
          <p:nvSpPr>
            <p:cNvPr id="26" name="Rectangle 66"/>
            <p:cNvSpPr>
              <a:spLocks noChangeArrowheads="1"/>
            </p:cNvSpPr>
            <p:nvPr/>
          </p:nvSpPr>
          <p:spPr bwMode="auto">
            <a:xfrm>
              <a:off x="6713538" y="3213100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2000"/>
                <a:t>3</a:t>
              </a:r>
            </a:p>
          </p:txBody>
        </p:sp>
        <p:sp>
          <p:nvSpPr>
            <p:cNvPr id="27" name="Rectangle 67"/>
            <p:cNvSpPr>
              <a:spLocks noChangeArrowheads="1"/>
            </p:cNvSpPr>
            <p:nvPr/>
          </p:nvSpPr>
          <p:spPr bwMode="auto">
            <a:xfrm>
              <a:off x="5632450" y="3644900"/>
              <a:ext cx="792162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  <p:sp>
          <p:nvSpPr>
            <p:cNvPr id="28" name="Rectangle 68"/>
            <p:cNvSpPr>
              <a:spLocks noChangeArrowheads="1"/>
            </p:cNvSpPr>
            <p:nvPr/>
          </p:nvSpPr>
          <p:spPr bwMode="auto">
            <a:xfrm>
              <a:off x="6426200" y="3644900"/>
              <a:ext cx="827087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</p:grpSp>
      <p:grpSp>
        <p:nvGrpSpPr>
          <p:cNvPr id="11" name="组合 28"/>
          <p:cNvGrpSpPr>
            <a:grpSpLocks noChangeAspect="1"/>
          </p:cNvGrpSpPr>
          <p:nvPr/>
        </p:nvGrpSpPr>
        <p:grpSpPr>
          <a:xfrm>
            <a:off x="342882" y="2663923"/>
            <a:ext cx="1296670" cy="690880"/>
            <a:chOff x="122238" y="1865313"/>
            <a:chExt cx="1620837" cy="863600"/>
          </a:xfrm>
        </p:grpSpPr>
        <p:sp>
          <p:nvSpPr>
            <p:cNvPr id="30" name="Rectangle 9"/>
            <p:cNvSpPr>
              <a:spLocks noChangeArrowheads="1"/>
            </p:cNvSpPr>
            <p:nvPr/>
          </p:nvSpPr>
          <p:spPr bwMode="auto">
            <a:xfrm>
              <a:off x="122238" y="1865313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 i="1"/>
            </a:p>
          </p:txBody>
        </p:sp>
        <p:sp>
          <p:nvSpPr>
            <p:cNvPr id="31" name="Rectangle 10"/>
            <p:cNvSpPr>
              <a:spLocks noChangeArrowheads="1"/>
            </p:cNvSpPr>
            <p:nvPr/>
          </p:nvSpPr>
          <p:spPr bwMode="auto">
            <a:xfrm>
              <a:off x="663575" y="1865313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 i="1"/>
            </a:p>
          </p:txBody>
        </p:sp>
        <p:sp>
          <p:nvSpPr>
            <p:cNvPr id="32" name="Rectangle 11"/>
            <p:cNvSpPr>
              <a:spLocks noChangeArrowheads="1"/>
            </p:cNvSpPr>
            <p:nvPr/>
          </p:nvSpPr>
          <p:spPr bwMode="auto">
            <a:xfrm>
              <a:off x="1203325" y="1865313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  <p:sp>
          <p:nvSpPr>
            <p:cNvPr id="33" name="Rectangle 12"/>
            <p:cNvSpPr>
              <a:spLocks noChangeArrowheads="1"/>
            </p:cNvSpPr>
            <p:nvPr/>
          </p:nvSpPr>
          <p:spPr bwMode="auto">
            <a:xfrm>
              <a:off x="122238" y="2297113"/>
              <a:ext cx="792162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  <p:sp>
          <p:nvSpPr>
            <p:cNvPr id="34" name="Rectangle 13"/>
            <p:cNvSpPr>
              <a:spLocks noChangeArrowheads="1"/>
            </p:cNvSpPr>
            <p:nvPr/>
          </p:nvSpPr>
          <p:spPr bwMode="auto">
            <a:xfrm>
              <a:off x="915988" y="2297113"/>
              <a:ext cx="827087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</p:grpSp>
      <p:grpSp>
        <p:nvGrpSpPr>
          <p:cNvPr id="17" name="组合 34"/>
          <p:cNvGrpSpPr>
            <a:grpSpLocks noChangeAspect="1"/>
          </p:cNvGrpSpPr>
          <p:nvPr/>
        </p:nvGrpSpPr>
        <p:grpSpPr>
          <a:xfrm>
            <a:off x="342882" y="3900594"/>
            <a:ext cx="1296670" cy="690880"/>
            <a:chOff x="122238" y="3213100"/>
            <a:chExt cx="1620837" cy="863600"/>
          </a:xfrm>
        </p:grpSpPr>
        <p:sp>
          <p:nvSpPr>
            <p:cNvPr id="36" name="Rectangle 14"/>
            <p:cNvSpPr>
              <a:spLocks noChangeArrowheads="1"/>
            </p:cNvSpPr>
            <p:nvPr/>
          </p:nvSpPr>
          <p:spPr bwMode="auto">
            <a:xfrm>
              <a:off x="122238" y="3213100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 i="1"/>
            </a:p>
          </p:txBody>
        </p:sp>
        <p:sp>
          <p:nvSpPr>
            <p:cNvPr id="37" name="Rectangle 15"/>
            <p:cNvSpPr>
              <a:spLocks noChangeArrowheads="1"/>
            </p:cNvSpPr>
            <p:nvPr/>
          </p:nvSpPr>
          <p:spPr bwMode="auto">
            <a:xfrm>
              <a:off x="663575" y="3213100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 i="1"/>
            </a:p>
          </p:txBody>
        </p:sp>
        <p:sp>
          <p:nvSpPr>
            <p:cNvPr id="38" name="Rectangle 16"/>
            <p:cNvSpPr>
              <a:spLocks noChangeArrowheads="1"/>
            </p:cNvSpPr>
            <p:nvPr/>
          </p:nvSpPr>
          <p:spPr bwMode="auto">
            <a:xfrm>
              <a:off x="1203325" y="3213100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  <p:sp>
          <p:nvSpPr>
            <p:cNvPr id="39" name="Rectangle 17"/>
            <p:cNvSpPr>
              <a:spLocks noChangeArrowheads="1"/>
            </p:cNvSpPr>
            <p:nvPr/>
          </p:nvSpPr>
          <p:spPr bwMode="auto">
            <a:xfrm>
              <a:off x="122238" y="3644900"/>
              <a:ext cx="792162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  <p:sp>
          <p:nvSpPr>
            <p:cNvPr id="40" name="Rectangle 18"/>
            <p:cNvSpPr>
              <a:spLocks noChangeArrowheads="1"/>
            </p:cNvSpPr>
            <p:nvPr/>
          </p:nvSpPr>
          <p:spPr bwMode="auto">
            <a:xfrm>
              <a:off x="915988" y="3644900"/>
              <a:ext cx="827087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</p:grpSp>
      <p:grpSp>
        <p:nvGrpSpPr>
          <p:cNvPr id="23" name="组合 40"/>
          <p:cNvGrpSpPr>
            <a:grpSpLocks noChangeAspect="1"/>
          </p:cNvGrpSpPr>
          <p:nvPr/>
        </p:nvGrpSpPr>
        <p:grpSpPr>
          <a:xfrm>
            <a:off x="379394" y="5078515"/>
            <a:ext cx="1296670" cy="690880"/>
            <a:chOff x="158750" y="4406900"/>
            <a:chExt cx="1620838" cy="863600"/>
          </a:xfrm>
        </p:grpSpPr>
        <p:sp>
          <p:nvSpPr>
            <p:cNvPr id="42" name="Rectangle 19"/>
            <p:cNvSpPr>
              <a:spLocks noChangeArrowheads="1"/>
            </p:cNvSpPr>
            <p:nvPr/>
          </p:nvSpPr>
          <p:spPr bwMode="auto">
            <a:xfrm>
              <a:off x="158750" y="4406900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 i="1"/>
            </a:p>
          </p:txBody>
        </p:sp>
        <p:sp>
          <p:nvSpPr>
            <p:cNvPr id="43" name="Rectangle 20"/>
            <p:cNvSpPr>
              <a:spLocks noChangeArrowheads="1"/>
            </p:cNvSpPr>
            <p:nvPr/>
          </p:nvSpPr>
          <p:spPr bwMode="auto">
            <a:xfrm>
              <a:off x="700088" y="4406900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 i="1"/>
            </a:p>
          </p:txBody>
        </p:sp>
        <p:sp>
          <p:nvSpPr>
            <p:cNvPr id="44" name="Rectangle 21"/>
            <p:cNvSpPr>
              <a:spLocks noChangeArrowheads="1"/>
            </p:cNvSpPr>
            <p:nvPr/>
          </p:nvSpPr>
          <p:spPr bwMode="auto">
            <a:xfrm>
              <a:off x="1239838" y="4406900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  <p:sp>
          <p:nvSpPr>
            <p:cNvPr id="45" name="Rectangle 22"/>
            <p:cNvSpPr>
              <a:spLocks noChangeArrowheads="1"/>
            </p:cNvSpPr>
            <p:nvPr/>
          </p:nvSpPr>
          <p:spPr bwMode="auto">
            <a:xfrm>
              <a:off x="158750" y="4838700"/>
              <a:ext cx="792162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  <p:sp>
          <p:nvSpPr>
            <p:cNvPr id="46" name="Rectangle 23"/>
            <p:cNvSpPr>
              <a:spLocks noChangeArrowheads="1"/>
            </p:cNvSpPr>
            <p:nvPr/>
          </p:nvSpPr>
          <p:spPr bwMode="auto">
            <a:xfrm>
              <a:off x="952500" y="4838700"/>
              <a:ext cx="827087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</p:grpSp>
      <p:cxnSp>
        <p:nvCxnSpPr>
          <p:cNvPr id="54" name="直接箭头连接符 53"/>
          <p:cNvCxnSpPr/>
          <p:nvPr/>
        </p:nvCxnSpPr>
        <p:spPr>
          <a:xfrm flipV="1">
            <a:off x="3214678" y="3182083"/>
            <a:ext cx="4061180" cy="0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/>
          <p:cNvCxnSpPr/>
          <p:nvPr/>
        </p:nvCxnSpPr>
        <p:spPr>
          <a:xfrm flipV="1">
            <a:off x="1285852" y="3182083"/>
            <a:ext cx="950930" cy="0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/>
          <p:cNvCxnSpPr/>
          <p:nvPr/>
        </p:nvCxnSpPr>
        <p:spPr>
          <a:xfrm>
            <a:off x="8358214" y="3192558"/>
            <a:ext cx="428628" cy="158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/>
          <p:cNvCxnSpPr/>
          <p:nvPr/>
        </p:nvCxnSpPr>
        <p:spPr>
          <a:xfrm rot="5400000">
            <a:off x="8429652" y="2835368"/>
            <a:ext cx="714380" cy="158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>
          <a:xfrm rot="10800000">
            <a:off x="1071538" y="2478178"/>
            <a:ext cx="7715304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67"/>
          <p:cNvCxnSpPr/>
          <p:nvPr/>
        </p:nvCxnSpPr>
        <p:spPr>
          <a:xfrm rot="5400000">
            <a:off x="968300" y="2578240"/>
            <a:ext cx="216000" cy="0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箭头连接符 69"/>
          <p:cNvCxnSpPr/>
          <p:nvPr/>
        </p:nvCxnSpPr>
        <p:spPr>
          <a:xfrm flipV="1">
            <a:off x="1285852" y="4418754"/>
            <a:ext cx="4132618" cy="0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连接符 94"/>
          <p:cNvCxnSpPr/>
          <p:nvPr/>
        </p:nvCxnSpPr>
        <p:spPr>
          <a:xfrm>
            <a:off x="6500826" y="4430816"/>
            <a:ext cx="428628" cy="158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接连接符 95"/>
          <p:cNvCxnSpPr/>
          <p:nvPr/>
        </p:nvCxnSpPr>
        <p:spPr>
          <a:xfrm rot="5400000">
            <a:off x="6572264" y="4073626"/>
            <a:ext cx="714380" cy="158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连接符 96"/>
          <p:cNvCxnSpPr/>
          <p:nvPr/>
        </p:nvCxnSpPr>
        <p:spPr>
          <a:xfrm rot="10800000" flipV="1">
            <a:off x="1071538" y="3725962"/>
            <a:ext cx="5857916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箭头连接符 98"/>
          <p:cNvCxnSpPr/>
          <p:nvPr/>
        </p:nvCxnSpPr>
        <p:spPr>
          <a:xfrm rot="5400000">
            <a:off x="976238" y="3824338"/>
            <a:ext cx="216000" cy="0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连接符 99"/>
          <p:cNvCxnSpPr/>
          <p:nvPr/>
        </p:nvCxnSpPr>
        <p:spPr>
          <a:xfrm>
            <a:off x="8358214" y="5581762"/>
            <a:ext cx="428628" cy="158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接连接符 100"/>
          <p:cNvCxnSpPr/>
          <p:nvPr/>
        </p:nvCxnSpPr>
        <p:spPr>
          <a:xfrm rot="5400000">
            <a:off x="8429652" y="5224572"/>
            <a:ext cx="714380" cy="158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接连接符 101"/>
          <p:cNvCxnSpPr/>
          <p:nvPr/>
        </p:nvCxnSpPr>
        <p:spPr>
          <a:xfrm rot="10800000">
            <a:off x="1071538" y="4867382"/>
            <a:ext cx="7715304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箭头连接符 102"/>
          <p:cNvCxnSpPr/>
          <p:nvPr/>
        </p:nvCxnSpPr>
        <p:spPr>
          <a:xfrm rot="5400000">
            <a:off x="968300" y="4967444"/>
            <a:ext cx="216000" cy="0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箭头连接符 104"/>
          <p:cNvCxnSpPr/>
          <p:nvPr/>
        </p:nvCxnSpPr>
        <p:spPr>
          <a:xfrm flipV="1">
            <a:off x="1357290" y="5596675"/>
            <a:ext cx="5918568" cy="0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285720" y="6044026"/>
            <a:ext cx="1928826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800" dirty="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3</a:t>
            </a:r>
            <a:r>
              <a:rPr kumimoji="1" lang="zh-CN" altLang="en-US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个行头结点</a:t>
            </a:r>
            <a:endParaRPr lang="zh-CN" altLang="en-US" sz="1800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grpSp>
        <p:nvGrpSpPr>
          <p:cNvPr id="29" name="组合 28"/>
          <p:cNvGrpSpPr>
            <a:grpSpLocks noChangeAspect="1"/>
          </p:cNvGrpSpPr>
          <p:nvPr/>
        </p:nvGrpSpPr>
        <p:grpSpPr>
          <a:xfrm>
            <a:off x="2214546" y="1329118"/>
            <a:ext cx="1296670" cy="690880"/>
            <a:chOff x="122238" y="1865313"/>
            <a:chExt cx="1620837" cy="863600"/>
          </a:xfrm>
        </p:grpSpPr>
        <p:sp>
          <p:nvSpPr>
            <p:cNvPr id="73" name="Rectangle 9"/>
            <p:cNvSpPr>
              <a:spLocks noChangeArrowheads="1"/>
            </p:cNvSpPr>
            <p:nvPr/>
          </p:nvSpPr>
          <p:spPr bwMode="auto">
            <a:xfrm>
              <a:off x="122238" y="1865313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 i="1"/>
            </a:p>
          </p:txBody>
        </p:sp>
        <p:sp>
          <p:nvSpPr>
            <p:cNvPr id="74" name="Rectangle 10"/>
            <p:cNvSpPr>
              <a:spLocks noChangeArrowheads="1"/>
            </p:cNvSpPr>
            <p:nvPr/>
          </p:nvSpPr>
          <p:spPr bwMode="auto">
            <a:xfrm>
              <a:off x="663575" y="1865313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 i="1"/>
            </a:p>
          </p:txBody>
        </p:sp>
        <p:sp>
          <p:nvSpPr>
            <p:cNvPr id="75" name="Rectangle 11"/>
            <p:cNvSpPr>
              <a:spLocks noChangeArrowheads="1"/>
            </p:cNvSpPr>
            <p:nvPr/>
          </p:nvSpPr>
          <p:spPr bwMode="auto">
            <a:xfrm>
              <a:off x="1203325" y="1865313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  <p:sp>
          <p:nvSpPr>
            <p:cNvPr id="76" name="Rectangle 12"/>
            <p:cNvSpPr>
              <a:spLocks noChangeArrowheads="1"/>
            </p:cNvSpPr>
            <p:nvPr/>
          </p:nvSpPr>
          <p:spPr bwMode="auto">
            <a:xfrm>
              <a:off x="122238" y="2297113"/>
              <a:ext cx="792162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  <p:sp>
          <p:nvSpPr>
            <p:cNvPr id="77" name="Rectangle 13"/>
            <p:cNvSpPr>
              <a:spLocks noChangeArrowheads="1"/>
            </p:cNvSpPr>
            <p:nvPr/>
          </p:nvSpPr>
          <p:spPr bwMode="auto">
            <a:xfrm>
              <a:off x="915988" y="2297113"/>
              <a:ext cx="827087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</p:grpSp>
      <p:grpSp>
        <p:nvGrpSpPr>
          <p:cNvPr id="35" name="组合 28"/>
          <p:cNvGrpSpPr>
            <a:grpSpLocks noChangeAspect="1"/>
          </p:cNvGrpSpPr>
          <p:nvPr/>
        </p:nvGrpSpPr>
        <p:grpSpPr>
          <a:xfrm>
            <a:off x="3838896" y="1329118"/>
            <a:ext cx="1296670" cy="690880"/>
            <a:chOff x="122238" y="1865313"/>
            <a:chExt cx="1620837" cy="863600"/>
          </a:xfrm>
        </p:grpSpPr>
        <p:sp>
          <p:nvSpPr>
            <p:cNvPr id="79" name="Rectangle 9"/>
            <p:cNvSpPr>
              <a:spLocks noChangeArrowheads="1"/>
            </p:cNvSpPr>
            <p:nvPr/>
          </p:nvSpPr>
          <p:spPr bwMode="auto">
            <a:xfrm>
              <a:off x="122238" y="1865313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 i="1"/>
            </a:p>
          </p:txBody>
        </p:sp>
        <p:sp>
          <p:nvSpPr>
            <p:cNvPr id="80" name="Rectangle 10"/>
            <p:cNvSpPr>
              <a:spLocks noChangeArrowheads="1"/>
            </p:cNvSpPr>
            <p:nvPr/>
          </p:nvSpPr>
          <p:spPr bwMode="auto">
            <a:xfrm>
              <a:off x="663575" y="1865313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 i="1"/>
            </a:p>
          </p:txBody>
        </p:sp>
        <p:sp>
          <p:nvSpPr>
            <p:cNvPr id="81" name="Rectangle 11"/>
            <p:cNvSpPr>
              <a:spLocks noChangeArrowheads="1"/>
            </p:cNvSpPr>
            <p:nvPr/>
          </p:nvSpPr>
          <p:spPr bwMode="auto">
            <a:xfrm>
              <a:off x="1203325" y="1865313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  <p:sp>
          <p:nvSpPr>
            <p:cNvPr id="82" name="Rectangle 12"/>
            <p:cNvSpPr>
              <a:spLocks noChangeArrowheads="1"/>
            </p:cNvSpPr>
            <p:nvPr/>
          </p:nvSpPr>
          <p:spPr bwMode="auto">
            <a:xfrm>
              <a:off x="122238" y="2297113"/>
              <a:ext cx="792162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  <p:sp>
          <p:nvSpPr>
            <p:cNvPr id="83" name="Rectangle 13"/>
            <p:cNvSpPr>
              <a:spLocks noChangeArrowheads="1"/>
            </p:cNvSpPr>
            <p:nvPr/>
          </p:nvSpPr>
          <p:spPr bwMode="auto">
            <a:xfrm>
              <a:off x="915988" y="2297113"/>
              <a:ext cx="827087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</p:grpSp>
      <p:grpSp>
        <p:nvGrpSpPr>
          <p:cNvPr id="41" name="组合 28"/>
          <p:cNvGrpSpPr>
            <a:grpSpLocks noChangeAspect="1"/>
          </p:cNvGrpSpPr>
          <p:nvPr/>
        </p:nvGrpSpPr>
        <p:grpSpPr>
          <a:xfrm>
            <a:off x="5429256" y="1329118"/>
            <a:ext cx="1296670" cy="690880"/>
            <a:chOff x="122238" y="1865313"/>
            <a:chExt cx="1620837" cy="863600"/>
          </a:xfrm>
        </p:grpSpPr>
        <p:sp>
          <p:nvSpPr>
            <p:cNvPr id="85" name="Rectangle 9"/>
            <p:cNvSpPr>
              <a:spLocks noChangeArrowheads="1"/>
            </p:cNvSpPr>
            <p:nvPr/>
          </p:nvSpPr>
          <p:spPr bwMode="auto">
            <a:xfrm>
              <a:off x="122238" y="1865313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 i="1"/>
            </a:p>
          </p:txBody>
        </p:sp>
        <p:sp>
          <p:nvSpPr>
            <p:cNvPr id="86" name="Rectangle 10"/>
            <p:cNvSpPr>
              <a:spLocks noChangeArrowheads="1"/>
            </p:cNvSpPr>
            <p:nvPr/>
          </p:nvSpPr>
          <p:spPr bwMode="auto">
            <a:xfrm>
              <a:off x="663575" y="1865313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 i="1"/>
            </a:p>
          </p:txBody>
        </p:sp>
        <p:sp>
          <p:nvSpPr>
            <p:cNvPr id="87" name="Rectangle 11"/>
            <p:cNvSpPr>
              <a:spLocks noChangeArrowheads="1"/>
            </p:cNvSpPr>
            <p:nvPr/>
          </p:nvSpPr>
          <p:spPr bwMode="auto">
            <a:xfrm>
              <a:off x="1203325" y="1865313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  <p:sp>
          <p:nvSpPr>
            <p:cNvPr id="88" name="Rectangle 12"/>
            <p:cNvSpPr>
              <a:spLocks noChangeArrowheads="1"/>
            </p:cNvSpPr>
            <p:nvPr/>
          </p:nvSpPr>
          <p:spPr bwMode="auto">
            <a:xfrm>
              <a:off x="122238" y="2297113"/>
              <a:ext cx="792162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  <p:sp>
          <p:nvSpPr>
            <p:cNvPr id="89" name="Rectangle 13"/>
            <p:cNvSpPr>
              <a:spLocks noChangeArrowheads="1"/>
            </p:cNvSpPr>
            <p:nvPr/>
          </p:nvSpPr>
          <p:spPr bwMode="auto">
            <a:xfrm>
              <a:off x="915988" y="2297113"/>
              <a:ext cx="827087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</p:grpSp>
      <p:grpSp>
        <p:nvGrpSpPr>
          <p:cNvPr id="47" name="组合 28"/>
          <p:cNvGrpSpPr>
            <a:grpSpLocks noChangeAspect="1"/>
          </p:cNvGrpSpPr>
          <p:nvPr/>
        </p:nvGrpSpPr>
        <p:grpSpPr>
          <a:xfrm>
            <a:off x="7275858" y="1329118"/>
            <a:ext cx="1296670" cy="690880"/>
            <a:chOff x="122238" y="1865313"/>
            <a:chExt cx="1620837" cy="863600"/>
          </a:xfrm>
        </p:grpSpPr>
        <p:sp>
          <p:nvSpPr>
            <p:cNvPr id="91" name="Rectangle 9"/>
            <p:cNvSpPr>
              <a:spLocks noChangeArrowheads="1"/>
            </p:cNvSpPr>
            <p:nvPr/>
          </p:nvSpPr>
          <p:spPr bwMode="auto">
            <a:xfrm>
              <a:off x="122238" y="1865313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 i="1"/>
            </a:p>
          </p:txBody>
        </p:sp>
        <p:sp>
          <p:nvSpPr>
            <p:cNvPr id="92" name="Rectangle 10"/>
            <p:cNvSpPr>
              <a:spLocks noChangeArrowheads="1"/>
            </p:cNvSpPr>
            <p:nvPr/>
          </p:nvSpPr>
          <p:spPr bwMode="auto">
            <a:xfrm>
              <a:off x="663575" y="1865313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 i="1"/>
            </a:p>
          </p:txBody>
        </p:sp>
        <p:sp>
          <p:nvSpPr>
            <p:cNvPr id="93" name="Rectangle 11"/>
            <p:cNvSpPr>
              <a:spLocks noChangeArrowheads="1"/>
            </p:cNvSpPr>
            <p:nvPr/>
          </p:nvSpPr>
          <p:spPr bwMode="auto">
            <a:xfrm>
              <a:off x="1203325" y="1865313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  <p:sp>
          <p:nvSpPr>
            <p:cNvPr id="94" name="Rectangle 12"/>
            <p:cNvSpPr>
              <a:spLocks noChangeArrowheads="1"/>
            </p:cNvSpPr>
            <p:nvPr/>
          </p:nvSpPr>
          <p:spPr bwMode="auto">
            <a:xfrm>
              <a:off x="122238" y="2297113"/>
              <a:ext cx="792162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  <p:sp>
          <p:nvSpPr>
            <p:cNvPr id="98" name="Rectangle 13"/>
            <p:cNvSpPr>
              <a:spLocks noChangeArrowheads="1"/>
            </p:cNvSpPr>
            <p:nvPr/>
          </p:nvSpPr>
          <p:spPr bwMode="auto">
            <a:xfrm>
              <a:off x="915988" y="2297113"/>
              <a:ext cx="827087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</p:grpSp>
      <p:cxnSp>
        <p:nvCxnSpPr>
          <p:cNvPr id="108" name="直接箭头连接符 107"/>
          <p:cNvCxnSpPr/>
          <p:nvPr/>
        </p:nvCxnSpPr>
        <p:spPr>
          <a:xfrm rot="5400000">
            <a:off x="7179487" y="2247493"/>
            <a:ext cx="785818" cy="1588"/>
          </a:xfrm>
          <a:prstGeom prst="straightConnector1">
            <a:avLst/>
          </a:prstGeom>
          <a:ln w="28575">
            <a:solidFill>
              <a:srgbClr val="0A0A0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接箭头连接符 112"/>
          <p:cNvCxnSpPr/>
          <p:nvPr/>
        </p:nvCxnSpPr>
        <p:spPr>
          <a:xfrm rot="5400000">
            <a:off x="6643702" y="4140600"/>
            <a:ext cx="1857388" cy="1588"/>
          </a:xfrm>
          <a:prstGeom prst="straightConnector1">
            <a:avLst/>
          </a:prstGeom>
          <a:ln w="28575">
            <a:solidFill>
              <a:srgbClr val="0A0A0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接箭头连接符 124"/>
          <p:cNvCxnSpPr/>
          <p:nvPr/>
        </p:nvCxnSpPr>
        <p:spPr>
          <a:xfrm rot="5400000">
            <a:off x="4630970" y="2904022"/>
            <a:ext cx="2016000" cy="9200"/>
          </a:xfrm>
          <a:prstGeom prst="straightConnector1">
            <a:avLst/>
          </a:prstGeom>
          <a:ln w="28575">
            <a:solidFill>
              <a:srgbClr val="0A0A0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直接箭头连接符 126"/>
          <p:cNvCxnSpPr/>
          <p:nvPr/>
        </p:nvCxnSpPr>
        <p:spPr>
          <a:xfrm rot="16200000" flipH="1">
            <a:off x="2011491" y="2246553"/>
            <a:ext cx="834739" cy="0"/>
          </a:xfrm>
          <a:prstGeom prst="straightConnector1">
            <a:avLst/>
          </a:prstGeom>
          <a:ln w="28575">
            <a:solidFill>
              <a:srgbClr val="0A0A0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组合 109"/>
          <p:cNvGrpSpPr/>
          <p:nvPr/>
        </p:nvGrpSpPr>
        <p:grpSpPr>
          <a:xfrm>
            <a:off x="7072330" y="1614870"/>
            <a:ext cx="500860" cy="4359306"/>
            <a:chOff x="7072330" y="642918"/>
            <a:chExt cx="500860" cy="4359306"/>
          </a:xfrm>
        </p:grpSpPr>
        <p:cxnSp>
          <p:nvCxnSpPr>
            <p:cNvPr id="117" name="直接连接符 116"/>
            <p:cNvCxnSpPr/>
            <p:nvPr/>
          </p:nvCxnSpPr>
          <p:spPr>
            <a:xfrm rot="5400000">
              <a:off x="7393801" y="4822041"/>
              <a:ext cx="357190" cy="1588"/>
            </a:xfrm>
            <a:prstGeom prst="line">
              <a:avLst/>
            </a:prstGeom>
            <a:ln w="28575">
              <a:solidFill>
                <a:srgbClr val="0A0A0E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/>
            <p:cNvCxnSpPr/>
            <p:nvPr/>
          </p:nvCxnSpPr>
          <p:spPr>
            <a:xfrm rot="16200000" flipH="1">
              <a:off x="4894330" y="2822636"/>
              <a:ext cx="4356000" cy="0"/>
            </a:xfrm>
            <a:prstGeom prst="line">
              <a:avLst/>
            </a:prstGeom>
            <a:ln w="28575">
              <a:solidFill>
                <a:srgbClr val="0A0A0E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直接连接符 128"/>
            <p:cNvCxnSpPr/>
            <p:nvPr/>
          </p:nvCxnSpPr>
          <p:spPr>
            <a:xfrm>
              <a:off x="7072330" y="5000636"/>
              <a:ext cx="500066" cy="1588"/>
            </a:xfrm>
            <a:prstGeom prst="line">
              <a:avLst/>
            </a:prstGeom>
            <a:ln w="28575">
              <a:solidFill>
                <a:srgbClr val="0A0A0E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箭头连接符 130"/>
            <p:cNvCxnSpPr/>
            <p:nvPr/>
          </p:nvCxnSpPr>
          <p:spPr>
            <a:xfrm>
              <a:off x="7072330" y="642918"/>
              <a:ext cx="203528" cy="0"/>
            </a:xfrm>
            <a:prstGeom prst="straightConnector1">
              <a:avLst/>
            </a:prstGeom>
            <a:ln w="28575">
              <a:solidFill>
                <a:srgbClr val="0A0A0E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组合 108"/>
          <p:cNvGrpSpPr/>
          <p:nvPr/>
        </p:nvGrpSpPr>
        <p:grpSpPr>
          <a:xfrm>
            <a:off x="5226848" y="1610902"/>
            <a:ext cx="432794" cy="3156766"/>
            <a:chOff x="5226848" y="638950"/>
            <a:chExt cx="432794" cy="3156766"/>
          </a:xfrm>
        </p:grpSpPr>
        <p:cxnSp>
          <p:nvCxnSpPr>
            <p:cNvPr id="133" name="直接连接符 132"/>
            <p:cNvCxnSpPr/>
            <p:nvPr/>
          </p:nvCxnSpPr>
          <p:spPr>
            <a:xfrm rot="5400000">
              <a:off x="3652642" y="2213156"/>
              <a:ext cx="3150000" cy="1588"/>
            </a:xfrm>
            <a:prstGeom prst="line">
              <a:avLst/>
            </a:prstGeom>
            <a:ln w="28575">
              <a:solidFill>
                <a:srgbClr val="0A0A0E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/>
            <p:cNvCxnSpPr/>
            <p:nvPr/>
          </p:nvCxnSpPr>
          <p:spPr>
            <a:xfrm>
              <a:off x="5227642" y="3794128"/>
              <a:ext cx="432000" cy="1588"/>
            </a:xfrm>
            <a:prstGeom prst="line">
              <a:avLst/>
            </a:prstGeom>
            <a:ln w="28575">
              <a:solidFill>
                <a:srgbClr val="0A0A0E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直接连接符 136"/>
            <p:cNvCxnSpPr/>
            <p:nvPr/>
          </p:nvCxnSpPr>
          <p:spPr>
            <a:xfrm rot="5400000">
              <a:off x="5477675" y="3607595"/>
              <a:ext cx="357190" cy="1588"/>
            </a:xfrm>
            <a:prstGeom prst="line">
              <a:avLst/>
            </a:prstGeom>
            <a:ln w="28575">
              <a:solidFill>
                <a:srgbClr val="0A0A0E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直接箭头连接符 137"/>
            <p:cNvCxnSpPr/>
            <p:nvPr/>
          </p:nvCxnSpPr>
          <p:spPr>
            <a:xfrm>
              <a:off x="5233666" y="642918"/>
              <a:ext cx="203528" cy="0"/>
            </a:xfrm>
            <a:prstGeom prst="straightConnector1">
              <a:avLst/>
            </a:prstGeom>
            <a:ln w="28575">
              <a:solidFill>
                <a:srgbClr val="0A0A0E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组合 106"/>
          <p:cNvGrpSpPr/>
          <p:nvPr/>
        </p:nvGrpSpPr>
        <p:grpSpPr>
          <a:xfrm>
            <a:off x="3630606" y="1614870"/>
            <a:ext cx="449462" cy="573092"/>
            <a:chOff x="3630606" y="642918"/>
            <a:chExt cx="449462" cy="573092"/>
          </a:xfrm>
        </p:grpSpPr>
        <p:cxnSp>
          <p:nvCxnSpPr>
            <p:cNvPr id="139" name="直接箭头连接符 138"/>
            <p:cNvCxnSpPr/>
            <p:nvPr/>
          </p:nvCxnSpPr>
          <p:spPr>
            <a:xfrm>
              <a:off x="3630606" y="642918"/>
              <a:ext cx="203528" cy="0"/>
            </a:xfrm>
            <a:prstGeom prst="straightConnector1">
              <a:avLst/>
            </a:prstGeom>
            <a:ln w="28575">
              <a:solidFill>
                <a:srgbClr val="0A0A0E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接连接符 140"/>
            <p:cNvCxnSpPr/>
            <p:nvPr/>
          </p:nvCxnSpPr>
          <p:spPr>
            <a:xfrm rot="5400000">
              <a:off x="3357554" y="928670"/>
              <a:ext cx="571504" cy="1588"/>
            </a:xfrm>
            <a:prstGeom prst="line">
              <a:avLst/>
            </a:prstGeom>
            <a:ln w="28575">
              <a:solidFill>
                <a:srgbClr val="0A0A0E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直接连接符 142"/>
            <p:cNvCxnSpPr/>
            <p:nvPr/>
          </p:nvCxnSpPr>
          <p:spPr>
            <a:xfrm>
              <a:off x="3648068" y="1214422"/>
              <a:ext cx="432000" cy="1588"/>
            </a:xfrm>
            <a:prstGeom prst="line">
              <a:avLst/>
            </a:prstGeom>
            <a:ln w="28575">
              <a:solidFill>
                <a:srgbClr val="0A0A0E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直接连接符 144"/>
            <p:cNvCxnSpPr/>
            <p:nvPr/>
          </p:nvCxnSpPr>
          <p:spPr>
            <a:xfrm rot="5400000">
              <a:off x="3893339" y="1035827"/>
              <a:ext cx="357190" cy="1588"/>
            </a:xfrm>
            <a:prstGeom prst="line">
              <a:avLst/>
            </a:prstGeom>
            <a:ln w="28575">
              <a:solidFill>
                <a:srgbClr val="0A0A0E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组合 105"/>
          <p:cNvGrpSpPr/>
          <p:nvPr/>
        </p:nvGrpSpPr>
        <p:grpSpPr>
          <a:xfrm>
            <a:off x="1998318" y="1627570"/>
            <a:ext cx="446614" cy="1933938"/>
            <a:chOff x="1998318" y="655618"/>
            <a:chExt cx="446614" cy="1933938"/>
          </a:xfrm>
        </p:grpSpPr>
        <p:cxnSp>
          <p:nvCxnSpPr>
            <p:cNvPr id="146" name="直接箭头连接符 145"/>
            <p:cNvCxnSpPr/>
            <p:nvPr/>
          </p:nvCxnSpPr>
          <p:spPr>
            <a:xfrm>
              <a:off x="1998318" y="655618"/>
              <a:ext cx="203528" cy="0"/>
            </a:xfrm>
            <a:prstGeom prst="straightConnector1">
              <a:avLst/>
            </a:prstGeom>
            <a:ln w="28575">
              <a:solidFill>
                <a:srgbClr val="0A0A0E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直接连接符 146"/>
            <p:cNvCxnSpPr/>
            <p:nvPr/>
          </p:nvCxnSpPr>
          <p:spPr>
            <a:xfrm>
              <a:off x="2012932" y="2578888"/>
              <a:ext cx="432000" cy="1588"/>
            </a:xfrm>
            <a:prstGeom prst="line">
              <a:avLst/>
            </a:prstGeom>
            <a:ln w="28575">
              <a:solidFill>
                <a:srgbClr val="0A0A0E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接连接符 147"/>
            <p:cNvCxnSpPr/>
            <p:nvPr/>
          </p:nvCxnSpPr>
          <p:spPr>
            <a:xfrm rot="5400000">
              <a:off x="2250265" y="2392355"/>
              <a:ext cx="357190" cy="1588"/>
            </a:xfrm>
            <a:prstGeom prst="line">
              <a:avLst/>
            </a:prstGeom>
            <a:ln w="28575">
              <a:solidFill>
                <a:srgbClr val="0A0A0E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直接连接符 149"/>
            <p:cNvCxnSpPr/>
            <p:nvPr/>
          </p:nvCxnSpPr>
          <p:spPr>
            <a:xfrm rot="5400000">
              <a:off x="1041994" y="1625762"/>
              <a:ext cx="1926000" cy="1588"/>
            </a:xfrm>
            <a:prstGeom prst="line">
              <a:avLst/>
            </a:prstGeom>
            <a:ln w="28575">
              <a:solidFill>
                <a:srgbClr val="0A0A0E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1" name="TextBox 150"/>
          <p:cNvSpPr txBox="1"/>
          <p:nvPr/>
        </p:nvSpPr>
        <p:spPr>
          <a:xfrm>
            <a:off x="357158" y="1571612"/>
            <a:ext cx="1500198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800" dirty="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4</a:t>
            </a:r>
            <a:r>
              <a:rPr kumimoji="1" lang="zh-CN" altLang="en-US" sz="1800" dirty="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个</a:t>
            </a:r>
            <a:r>
              <a:rPr kumimoji="1" lang="zh-CN" altLang="en-US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列头结点</a:t>
            </a:r>
            <a:endParaRPr lang="zh-CN" altLang="en-US" sz="1800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12" name="Text Box 2"/>
          <p:cNvSpPr txBox="1">
            <a:spLocks noChangeArrowheads="1"/>
          </p:cNvSpPr>
          <p:nvPr/>
        </p:nvSpPr>
        <p:spPr bwMode="auto">
          <a:xfrm>
            <a:off x="500034" y="214290"/>
            <a:ext cx="7572428" cy="8539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457200" indent="-457200" algn="l">
              <a:lnSpc>
                <a:spcPct val="130000"/>
              </a:lnSpc>
              <a:spcBef>
                <a:spcPct val="50000"/>
              </a:spcBef>
              <a:buFontTx/>
              <a:buBlip>
                <a:blip r:embed="rId2"/>
              </a:buBlip>
            </a:pPr>
            <a:r>
              <a:rPr kumimoji="1" lang="zh-CN" altLang="en-US" sz="2000" dirty="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每列</a:t>
            </a:r>
            <a:r>
              <a:rPr kumimoji="1"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的所有结点链</a:t>
            </a:r>
            <a:r>
              <a:rPr kumimoji="1" lang="zh-CN" altLang="en-US" sz="2000" dirty="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起来构成一个带</a:t>
            </a:r>
            <a:r>
              <a:rPr kumimoji="1"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列头结点的</a:t>
            </a:r>
            <a:r>
              <a:rPr kumimoji="1" lang="zh-CN" altLang="en-US" sz="2000" dirty="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循环单链表。 以</a:t>
            </a:r>
            <a:r>
              <a:rPr kumimoji="1" lang="en-US" altLang="zh-CN" sz="2000" i="1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h</a:t>
            </a:r>
            <a:r>
              <a:rPr kumimoji="1" lang="en-US" altLang="zh-CN" sz="20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[</a:t>
            </a:r>
            <a:r>
              <a:rPr kumimoji="1" lang="en-US" altLang="zh-CN" sz="2000" i="1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kumimoji="1" lang="en-US" altLang="zh-CN" sz="20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]</a:t>
            </a:r>
            <a:r>
              <a:rPr kumimoji="1" lang="zh-CN" altLang="en-US" sz="20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（</a:t>
            </a:r>
            <a:r>
              <a:rPr kumimoji="1" lang="en-US" altLang="zh-CN" sz="20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0</a:t>
            </a:r>
            <a:r>
              <a:rPr kumimoji="1" lang="en-US" altLang="zh-CN" sz="2000" dirty="0" err="1">
                <a:solidFill>
                  <a:srgbClr val="0000FF"/>
                </a:solidFill>
                <a:latin typeface="仿宋" pitchFamily="49" charset="-122"/>
                <a:ea typeface="仿宋" pitchFamily="49" charset="-122"/>
                <a:cs typeface="Consolas" pitchFamily="49" charset="0"/>
              </a:rPr>
              <a:t>≤</a:t>
            </a:r>
            <a:r>
              <a:rPr kumimoji="1" lang="en-US" altLang="zh-CN" sz="2000" i="1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kumimoji="1" lang="en-US" altLang="zh-CN" sz="2000" dirty="0" err="1">
                <a:solidFill>
                  <a:srgbClr val="0000FF"/>
                </a:solidFill>
                <a:latin typeface="+mn-ea"/>
                <a:ea typeface="+mn-ea"/>
                <a:cs typeface="Consolas" pitchFamily="49" charset="0"/>
              </a:rPr>
              <a:t>≤</a:t>
            </a:r>
            <a:r>
              <a:rPr kumimoji="1" lang="en-US" altLang="zh-CN" sz="2000" i="1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</a:t>
            </a:r>
            <a:r>
              <a:rPr kumimoji="1" lang="en-US" altLang="zh-CN" sz="20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-1</a:t>
            </a:r>
            <a:r>
              <a:rPr kumimoji="1" lang="zh-CN" altLang="en-US" sz="20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）作为第</a:t>
            </a:r>
            <a:r>
              <a:rPr kumimoji="1" lang="en-US" altLang="zh-CN" sz="2000" i="1" dirty="0" err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kumimoji="1" lang="zh-CN" altLang="en-US" sz="2000" dirty="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列</a:t>
            </a:r>
            <a:r>
              <a:rPr kumimoji="1"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的头结点。</a:t>
            </a:r>
            <a:endParaRPr kumimoji="1" lang="zh-CN" altLang="en-US" sz="2000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22" name="灯片编号占位符 1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10</a:t>
            </a:fld>
            <a:r>
              <a:rPr lang="en-US" altLang="zh-CN" smtClean="0"/>
              <a:t>/68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1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4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2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0"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4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2"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6"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0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"/>
          <p:cNvGrpSpPr>
            <a:grpSpLocks noChangeAspect="1"/>
          </p:cNvGrpSpPr>
          <p:nvPr/>
        </p:nvGrpSpPr>
        <p:grpSpPr>
          <a:xfrm>
            <a:off x="2236782" y="2120599"/>
            <a:ext cx="1296670" cy="690880"/>
            <a:chOff x="2051050" y="1866900"/>
            <a:chExt cx="1620838" cy="863600"/>
          </a:xfrm>
        </p:grpSpPr>
        <p:sp>
          <p:nvSpPr>
            <p:cNvPr id="6" name="Rectangle 49"/>
            <p:cNvSpPr>
              <a:spLocks noChangeArrowheads="1"/>
            </p:cNvSpPr>
            <p:nvPr/>
          </p:nvSpPr>
          <p:spPr bwMode="auto">
            <a:xfrm>
              <a:off x="2051050" y="1866900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2000" dirty="0"/>
                <a:t>0</a:t>
              </a:r>
            </a:p>
          </p:txBody>
        </p:sp>
        <p:sp>
          <p:nvSpPr>
            <p:cNvPr id="7" name="Rectangle 50"/>
            <p:cNvSpPr>
              <a:spLocks noChangeArrowheads="1"/>
            </p:cNvSpPr>
            <p:nvPr/>
          </p:nvSpPr>
          <p:spPr bwMode="auto">
            <a:xfrm>
              <a:off x="2592388" y="1866900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2000" dirty="0"/>
                <a:t>0</a:t>
              </a:r>
            </a:p>
          </p:txBody>
        </p:sp>
        <p:sp>
          <p:nvSpPr>
            <p:cNvPr id="8" name="Rectangle 51"/>
            <p:cNvSpPr>
              <a:spLocks noChangeArrowheads="1"/>
            </p:cNvSpPr>
            <p:nvPr/>
          </p:nvSpPr>
          <p:spPr bwMode="auto">
            <a:xfrm>
              <a:off x="3132138" y="1866900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2000" dirty="0"/>
                <a:t>1</a:t>
              </a:r>
            </a:p>
          </p:txBody>
        </p:sp>
        <p:sp>
          <p:nvSpPr>
            <p:cNvPr id="9" name="Rectangle 52"/>
            <p:cNvSpPr>
              <a:spLocks noChangeArrowheads="1"/>
            </p:cNvSpPr>
            <p:nvPr/>
          </p:nvSpPr>
          <p:spPr bwMode="auto">
            <a:xfrm>
              <a:off x="2051050" y="2298700"/>
              <a:ext cx="792162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  <p:sp>
          <p:nvSpPr>
            <p:cNvPr id="10" name="Rectangle 53"/>
            <p:cNvSpPr>
              <a:spLocks noChangeArrowheads="1"/>
            </p:cNvSpPr>
            <p:nvPr/>
          </p:nvSpPr>
          <p:spPr bwMode="auto">
            <a:xfrm>
              <a:off x="2844800" y="2298700"/>
              <a:ext cx="827087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</p:grpSp>
      <p:grpSp>
        <p:nvGrpSpPr>
          <p:cNvPr id="3" name="组合 10"/>
          <p:cNvGrpSpPr>
            <a:grpSpLocks noChangeAspect="1"/>
          </p:cNvGrpSpPr>
          <p:nvPr/>
        </p:nvGrpSpPr>
        <p:grpSpPr>
          <a:xfrm>
            <a:off x="7275858" y="4535191"/>
            <a:ext cx="1296670" cy="690880"/>
            <a:chOff x="7451725" y="4408488"/>
            <a:chExt cx="1620838" cy="863600"/>
          </a:xfrm>
        </p:grpSpPr>
        <p:sp>
          <p:nvSpPr>
            <p:cNvPr id="12" name="Rectangle 54"/>
            <p:cNvSpPr>
              <a:spLocks noChangeArrowheads="1"/>
            </p:cNvSpPr>
            <p:nvPr/>
          </p:nvSpPr>
          <p:spPr bwMode="auto">
            <a:xfrm>
              <a:off x="7451725" y="4408488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2000" dirty="0"/>
                <a:t>2</a:t>
              </a:r>
            </a:p>
          </p:txBody>
        </p:sp>
        <p:sp>
          <p:nvSpPr>
            <p:cNvPr id="13" name="Rectangle 55"/>
            <p:cNvSpPr>
              <a:spLocks noChangeArrowheads="1"/>
            </p:cNvSpPr>
            <p:nvPr/>
          </p:nvSpPr>
          <p:spPr bwMode="auto">
            <a:xfrm>
              <a:off x="7993063" y="4408488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2000"/>
                <a:t>3</a:t>
              </a:r>
            </a:p>
          </p:txBody>
        </p:sp>
        <p:sp>
          <p:nvSpPr>
            <p:cNvPr id="14" name="Rectangle 56"/>
            <p:cNvSpPr>
              <a:spLocks noChangeArrowheads="1"/>
            </p:cNvSpPr>
            <p:nvPr/>
          </p:nvSpPr>
          <p:spPr bwMode="auto">
            <a:xfrm>
              <a:off x="8532813" y="4408488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2000"/>
                <a:t>4</a:t>
              </a:r>
            </a:p>
          </p:txBody>
        </p:sp>
        <p:sp>
          <p:nvSpPr>
            <p:cNvPr id="15" name="Rectangle 57"/>
            <p:cNvSpPr>
              <a:spLocks noChangeArrowheads="1"/>
            </p:cNvSpPr>
            <p:nvPr/>
          </p:nvSpPr>
          <p:spPr bwMode="auto">
            <a:xfrm>
              <a:off x="7451725" y="4840288"/>
              <a:ext cx="792162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  <p:sp>
          <p:nvSpPr>
            <p:cNvPr id="16" name="Rectangle 58"/>
            <p:cNvSpPr>
              <a:spLocks noChangeArrowheads="1"/>
            </p:cNvSpPr>
            <p:nvPr/>
          </p:nvSpPr>
          <p:spPr bwMode="auto">
            <a:xfrm>
              <a:off x="8245475" y="4840288"/>
              <a:ext cx="827087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</p:grpSp>
      <p:grpSp>
        <p:nvGrpSpPr>
          <p:cNvPr id="4" name="组合 16"/>
          <p:cNvGrpSpPr>
            <a:grpSpLocks noChangeAspect="1"/>
          </p:cNvGrpSpPr>
          <p:nvPr/>
        </p:nvGrpSpPr>
        <p:grpSpPr>
          <a:xfrm>
            <a:off x="7275858" y="2120599"/>
            <a:ext cx="1296670" cy="690880"/>
            <a:chOff x="7451725" y="1844675"/>
            <a:chExt cx="1620838" cy="863600"/>
          </a:xfrm>
        </p:grpSpPr>
        <p:sp>
          <p:nvSpPr>
            <p:cNvPr id="18" name="Rectangle 59"/>
            <p:cNvSpPr>
              <a:spLocks noChangeArrowheads="1"/>
            </p:cNvSpPr>
            <p:nvPr/>
          </p:nvSpPr>
          <p:spPr bwMode="auto">
            <a:xfrm>
              <a:off x="7451725" y="1844675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2000" dirty="0"/>
                <a:t>0</a:t>
              </a:r>
            </a:p>
          </p:txBody>
        </p:sp>
        <p:sp>
          <p:nvSpPr>
            <p:cNvPr id="19" name="Rectangle 60"/>
            <p:cNvSpPr>
              <a:spLocks noChangeArrowheads="1"/>
            </p:cNvSpPr>
            <p:nvPr/>
          </p:nvSpPr>
          <p:spPr bwMode="auto">
            <a:xfrm>
              <a:off x="7993063" y="1844675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2000" dirty="0"/>
                <a:t>3</a:t>
              </a:r>
            </a:p>
          </p:txBody>
        </p:sp>
        <p:sp>
          <p:nvSpPr>
            <p:cNvPr id="20" name="Rectangle 61"/>
            <p:cNvSpPr>
              <a:spLocks noChangeArrowheads="1"/>
            </p:cNvSpPr>
            <p:nvPr/>
          </p:nvSpPr>
          <p:spPr bwMode="auto">
            <a:xfrm>
              <a:off x="8532813" y="1844675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2000"/>
                <a:t>2</a:t>
              </a:r>
            </a:p>
          </p:txBody>
        </p:sp>
        <p:sp>
          <p:nvSpPr>
            <p:cNvPr id="21" name="Rectangle 62"/>
            <p:cNvSpPr>
              <a:spLocks noChangeArrowheads="1"/>
            </p:cNvSpPr>
            <p:nvPr/>
          </p:nvSpPr>
          <p:spPr bwMode="auto">
            <a:xfrm>
              <a:off x="7451725" y="2276475"/>
              <a:ext cx="792162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  <p:sp>
          <p:nvSpPr>
            <p:cNvPr id="22" name="Rectangle 63"/>
            <p:cNvSpPr>
              <a:spLocks noChangeArrowheads="1"/>
            </p:cNvSpPr>
            <p:nvPr/>
          </p:nvSpPr>
          <p:spPr bwMode="auto">
            <a:xfrm>
              <a:off x="8245475" y="2276475"/>
              <a:ext cx="827087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</p:grpSp>
      <p:grpSp>
        <p:nvGrpSpPr>
          <p:cNvPr id="5" name="组合 22"/>
          <p:cNvGrpSpPr>
            <a:grpSpLocks noChangeAspect="1"/>
          </p:cNvGrpSpPr>
          <p:nvPr/>
        </p:nvGrpSpPr>
        <p:grpSpPr>
          <a:xfrm>
            <a:off x="5418470" y="3357270"/>
            <a:ext cx="1296670" cy="690880"/>
            <a:chOff x="5632450" y="3213100"/>
            <a:chExt cx="1620838" cy="863600"/>
          </a:xfrm>
        </p:grpSpPr>
        <p:sp>
          <p:nvSpPr>
            <p:cNvPr id="24" name="Rectangle 64"/>
            <p:cNvSpPr>
              <a:spLocks noChangeArrowheads="1"/>
            </p:cNvSpPr>
            <p:nvPr/>
          </p:nvSpPr>
          <p:spPr bwMode="auto">
            <a:xfrm>
              <a:off x="5632450" y="3213100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2000" dirty="0"/>
                <a:t>1</a:t>
              </a:r>
            </a:p>
          </p:txBody>
        </p:sp>
        <p:sp>
          <p:nvSpPr>
            <p:cNvPr id="25" name="Rectangle 65"/>
            <p:cNvSpPr>
              <a:spLocks noChangeArrowheads="1"/>
            </p:cNvSpPr>
            <p:nvPr/>
          </p:nvSpPr>
          <p:spPr bwMode="auto">
            <a:xfrm>
              <a:off x="6173788" y="3213100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2000"/>
                <a:t>2</a:t>
              </a:r>
            </a:p>
          </p:txBody>
        </p:sp>
        <p:sp>
          <p:nvSpPr>
            <p:cNvPr id="26" name="Rectangle 66"/>
            <p:cNvSpPr>
              <a:spLocks noChangeArrowheads="1"/>
            </p:cNvSpPr>
            <p:nvPr/>
          </p:nvSpPr>
          <p:spPr bwMode="auto">
            <a:xfrm>
              <a:off x="6713538" y="3213100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2000"/>
                <a:t>3</a:t>
              </a:r>
            </a:p>
          </p:txBody>
        </p:sp>
        <p:sp>
          <p:nvSpPr>
            <p:cNvPr id="27" name="Rectangle 67"/>
            <p:cNvSpPr>
              <a:spLocks noChangeArrowheads="1"/>
            </p:cNvSpPr>
            <p:nvPr/>
          </p:nvSpPr>
          <p:spPr bwMode="auto">
            <a:xfrm>
              <a:off x="5632450" y="3644900"/>
              <a:ext cx="792162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  <p:sp>
          <p:nvSpPr>
            <p:cNvPr id="28" name="Rectangle 68"/>
            <p:cNvSpPr>
              <a:spLocks noChangeArrowheads="1"/>
            </p:cNvSpPr>
            <p:nvPr/>
          </p:nvSpPr>
          <p:spPr bwMode="auto">
            <a:xfrm>
              <a:off x="6426200" y="3644900"/>
              <a:ext cx="827087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</p:grpSp>
      <p:grpSp>
        <p:nvGrpSpPr>
          <p:cNvPr id="11" name="组合 28"/>
          <p:cNvGrpSpPr>
            <a:grpSpLocks noChangeAspect="1"/>
          </p:cNvGrpSpPr>
          <p:nvPr/>
        </p:nvGrpSpPr>
        <p:grpSpPr>
          <a:xfrm>
            <a:off x="342882" y="2120599"/>
            <a:ext cx="1296670" cy="690880"/>
            <a:chOff x="122238" y="1865313"/>
            <a:chExt cx="1620837" cy="863600"/>
          </a:xfrm>
        </p:grpSpPr>
        <p:sp>
          <p:nvSpPr>
            <p:cNvPr id="30" name="Rectangle 9"/>
            <p:cNvSpPr>
              <a:spLocks noChangeArrowheads="1"/>
            </p:cNvSpPr>
            <p:nvPr/>
          </p:nvSpPr>
          <p:spPr bwMode="auto">
            <a:xfrm>
              <a:off x="122238" y="1865313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 i="1"/>
            </a:p>
          </p:txBody>
        </p:sp>
        <p:sp>
          <p:nvSpPr>
            <p:cNvPr id="31" name="Rectangle 10"/>
            <p:cNvSpPr>
              <a:spLocks noChangeArrowheads="1"/>
            </p:cNvSpPr>
            <p:nvPr/>
          </p:nvSpPr>
          <p:spPr bwMode="auto">
            <a:xfrm>
              <a:off x="663575" y="1865313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 i="1"/>
            </a:p>
          </p:txBody>
        </p:sp>
        <p:sp>
          <p:nvSpPr>
            <p:cNvPr id="32" name="Rectangle 11"/>
            <p:cNvSpPr>
              <a:spLocks noChangeArrowheads="1"/>
            </p:cNvSpPr>
            <p:nvPr/>
          </p:nvSpPr>
          <p:spPr bwMode="auto">
            <a:xfrm>
              <a:off x="1203325" y="1865313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  <p:sp>
          <p:nvSpPr>
            <p:cNvPr id="33" name="Rectangle 12"/>
            <p:cNvSpPr>
              <a:spLocks noChangeArrowheads="1"/>
            </p:cNvSpPr>
            <p:nvPr/>
          </p:nvSpPr>
          <p:spPr bwMode="auto">
            <a:xfrm>
              <a:off x="122238" y="2297113"/>
              <a:ext cx="792162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  <p:sp>
          <p:nvSpPr>
            <p:cNvPr id="34" name="Rectangle 13"/>
            <p:cNvSpPr>
              <a:spLocks noChangeArrowheads="1"/>
            </p:cNvSpPr>
            <p:nvPr/>
          </p:nvSpPr>
          <p:spPr bwMode="auto">
            <a:xfrm>
              <a:off x="915988" y="2297113"/>
              <a:ext cx="827087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</p:grpSp>
      <p:grpSp>
        <p:nvGrpSpPr>
          <p:cNvPr id="17" name="组合 34"/>
          <p:cNvGrpSpPr>
            <a:grpSpLocks noChangeAspect="1"/>
          </p:cNvGrpSpPr>
          <p:nvPr/>
        </p:nvGrpSpPr>
        <p:grpSpPr>
          <a:xfrm>
            <a:off x="342882" y="3357270"/>
            <a:ext cx="1296670" cy="690880"/>
            <a:chOff x="122238" y="3213100"/>
            <a:chExt cx="1620837" cy="863600"/>
          </a:xfrm>
        </p:grpSpPr>
        <p:sp>
          <p:nvSpPr>
            <p:cNvPr id="36" name="Rectangle 14"/>
            <p:cNvSpPr>
              <a:spLocks noChangeArrowheads="1"/>
            </p:cNvSpPr>
            <p:nvPr/>
          </p:nvSpPr>
          <p:spPr bwMode="auto">
            <a:xfrm>
              <a:off x="122238" y="3213100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 i="1"/>
            </a:p>
          </p:txBody>
        </p:sp>
        <p:sp>
          <p:nvSpPr>
            <p:cNvPr id="37" name="Rectangle 15"/>
            <p:cNvSpPr>
              <a:spLocks noChangeArrowheads="1"/>
            </p:cNvSpPr>
            <p:nvPr/>
          </p:nvSpPr>
          <p:spPr bwMode="auto">
            <a:xfrm>
              <a:off x="663575" y="3213100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 i="1"/>
            </a:p>
          </p:txBody>
        </p:sp>
        <p:sp>
          <p:nvSpPr>
            <p:cNvPr id="38" name="Rectangle 16"/>
            <p:cNvSpPr>
              <a:spLocks noChangeArrowheads="1"/>
            </p:cNvSpPr>
            <p:nvPr/>
          </p:nvSpPr>
          <p:spPr bwMode="auto">
            <a:xfrm>
              <a:off x="1203325" y="3213100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  <p:sp>
          <p:nvSpPr>
            <p:cNvPr id="39" name="Rectangle 17"/>
            <p:cNvSpPr>
              <a:spLocks noChangeArrowheads="1"/>
            </p:cNvSpPr>
            <p:nvPr/>
          </p:nvSpPr>
          <p:spPr bwMode="auto">
            <a:xfrm>
              <a:off x="122238" y="3644900"/>
              <a:ext cx="792162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  <p:sp>
          <p:nvSpPr>
            <p:cNvPr id="40" name="Rectangle 18"/>
            <p:cNvSpPr>
              <a:spLocks noChangeArrowheads="1"/>
            </p:cNvSpPr>
            <p:nvPr/>
          </p:nvSpPr>
          <p:spPr bwMode="auto">
            <a:xfrm>
              <a:off x="915988" y="3644900"/>
              <a:ext cx="827087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</p:grpSp>
      <p:grpSp>
        <p:nvGrpSpPr>
          <p:cNvPr id="23" name="组合 40"/>
          <p:cNvGrpSpPr>
            <a:grpSpLocks noChangeAspect="1"/>
          </p:cNvGrpSpPr>
          <p:nvPr/>
        </p:nvGrpSpPr>
        <p:grpSpPr>
          <a:xfrm>
            <a:off x="379394" y="4535191"/>
            <a:ext cx="1296670" cy="690880"/>
            <a:chOff x="158750" y="4406900"/>
            <a:chExt cx="1620838" cy="863600"/>
          </a:xfrm>
        </p:grpSpPr>
        <p:sp>
          <p:nvSpPr>
            <p:cNvPr id="42" name="Rectangle 19"/>
            <p:cNvSpPr>
              <a:spLocks noChangeArrowheads="1"/>
            </p:cNvSpPr>
            <p:nvPr/>
          </p:nvSpPr>
          <p:spPr bwMode="auto">
            <a:xfrm>
              <a:off x="158750" y="4406900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 i="1"/>
            </a:p>
          </p:txBody>
        </p:sp>
        <p:sp>
          <p:nvSpPr>
            <p:cNvPr id="43" name="Rectangle 20"/>
            <p:cNvSpPr>
              <a:spLocks noChangeArrowheads="1"/>
            </p:cNvSpPr>
            <p:nvPr/>
          </p:nvSpPr>
          <p:spPr bwMode="auto">
            <a:xfrm>
              <a:off x="700088" y="4406900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 i="1"/>
            </a:p>
          </p:txBody>
        </p:sp>
        <p:sp>
          <p:nvSpPr>
            <p:cNvPr id="44" name="Rectangle 21"/>
            <p:cNvSpPr>
              <a:spLocks noChangeArrowheads="1"/>
            </p:cNvSpPr>
            <p:nvPr/>
          </p:nvSpPr>
          <p:spPr bwMode="auto">
            <a:xfrm>
              <a:off x="1239838" y="4406900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  <p:sp>
          <p:nvSpPr>
            <p:cNvPr id="45" name="Rectangle 22"/>
            <p:cNvSpPr>
              <a:spLocks noChangeArrowheads="1"/>
            </p:cNvSpPr>
            <p:nvPr/>
          </p:nvSpPr>
          <p:spPr bwMode="auto">
            <a:xfrm>
              <a:off x="158750" y="4838700"/>
              <a:ext cx="792162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  <p:sp>
          <p:nvSpPr>
            <p:cNvPr id="46" name="Rectangle 23"/>
            <p:cNvSpPr>
              <a:spLocks noChangeArrowheads="1"/>
            </p:cNvSpPr>
            <p:nvPr/>
          </p:nvSpPr>
          <p:spPr bwMode="auto">
            <a:xfrm>
              <a:off x="952500" y="4838700"/>
              <a:ext cx="827087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</p:grpSp>
      <p:cxnSp>
        <p:nvCxnSpPr>
          <p:cNvPr id="54" name="直接箭头连接符 53"/>
          <p:cNvCxnSpPr/>
          <p:nvPr/>
        </p:nvCxnSpPr>
        <p:spPr>
          <a:xfrm flipV="1">
            <a:off x="3214678" y="2638759"/>
            <a:ext cx="4061180" cy="0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/>
          <p:cNvCxnSpPr/>
          <p:nvPr/>
        </p:nvCxnSpPr>
        <p:spPr>
          <a:xfrm flipV="1">
            <a:off x="1285852" y="2638759"/>
            <a:ext cx="950930" cy="0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/>
          <p:cNvCxnSpPr/>
          <p:nvPr/>
        </p:nvCxnSpPr>
        <p:spPr>
          <a:xfrm>
            <a:off x="8358214" y="2649234"/>
            <a:ext cx="428628" cy="158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/>
          <p:cNvCxnSpPr/>
          <p:nvPr/>
        </p:nvCxnSpPr>
        <p:spPr>
          <a:xfrm rot="5400000">
            <a:off x="8429652" y="2292044"/>
            <a:ext cx="714380" cy="158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>
          <a:xfrm rot="10800000">
            <a:off x="1071538" y="1934854"/>
            <a:ext cx="7715304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67"/>
          <p:cNvCxnSpPr/>
          <p:nvPr/>
        </p:nvCxnSpPr>
        <p:spPr>
          <a:xfrm rot="5400000">
            <a:off x="968300" y="2034916"/>
            <a:ext cx="216000" cy="0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箭头连接符 69"/>
          <p:cNvCxnSpPr/>
          <p:nvPr/>
        </p:nvCxnSpPr>
        <p:spPr>
          <a:xfrm flipV="1">
            <a:off x="1285852" y="3875430"/>
            <a:ext cx="4132618" cy="0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连接符 94"/>
          <p:cNvCxnSpPr/>
          <p:nvPr/>
        </p:nvCxnSpPr>
        <p:spPr>
          <a:xfrm>
            <a:off x="6500826" y="3887492"/>
            <a:ext cx="428628" cy="158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接连接符 95"/>
          <p:cNvCxnSpPr/>
          <p:nvPr/>
        </p:nvCxnSpPr>
        <p:spPr>
          <a:xfrm rot="5400000">
            <a:off x="6572264" y="3530302"/>
            <a:ext cx="714380" cy="158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连接符 96"/>
          <p:cNvCxnSpPr/>
          <p:nvPr/>
        </p:nvCxnSpPr>
        <p:spPr>
          <a:xfrm rot="10800000" flipV="1">
            <a:off x="1071538" y="3182638"/>
            <a:ext cx="5857916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箭头连接符 98"/>
          <p:cNvCxnSpPr/>
          <p:nvPr/>
        </p:nvCxnSpPr>
        <p:spPr>
          <a:xfrm rot="5400000">
            <a:off x="976238" y="3281014"/>
            <a:ext cx="216000" cy="0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连接符 99"/>
          <p:cNvCxnSpPr/>
          <p:nvPr/>
        </p:nvCxnSpPr>
        <p:spPr>
          <a:xfrm>
            <a:off x="8358214" y="5038438"/>
            <a:ext cx="428628" cy="158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接连接符 100"/>
          <p:cNvCxnSpPr/>
          <p:nvPr/>
        </p:nvCxnSpPr>
        <p:spPr>
          <a:xfrm rot="5400000">
            <a:off x="8429652" y="4681248"/>
            <a:ext cx="714380" cy="158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接连接符 101"/>
          <p:cNvCxnSpPr/>
          <p:nvPr/>
        </p:nvCxnSpPr>
        <p:spPr>
          <a:xfrm rot="10800000">
            <a:off x="1071538" y="4324058"/>
            <a:ext cx="7715304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箭头连接符 102"/>
          <p:cNvCxnSpPr/>
          <p:nvPr/>
        </p:nvCxnSpPr>
        <p:spPr>
          <a:xfrm rot="5400000">
            <a:off x="968300" y="4424120"/>
            <a:ext cx="216000" cy="0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箭头连接符 104"/>
          <p:cNvCxnSpPr/>
          <p:nvPr/>
        </p:nvCxnSpPr>
        <p:spPr>
          <a:xfrm flipV="1">
            <a:off x="1357290" y="5053351"/>
            <a:ext cx="5918568" cy="0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285720" y="142852"/>
            <a:ext cx="30003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2000" dirty="0" smtClean="0">
                <a:solidFill>
                  <a:srgbClr val="0000FF"/>
                </a:solidFill>
                <a:latin typeface="Consolas" pitchFamily="49" charset="0"/>
                <a:ea typeface="华文中宋" pitchFamily="2" charset="-122"/>
                <a:cs typeface="Consolas" pitchFamily="49" charset="0"/>
              </a:rPr>
              <a:t>行、</a:t>
            </a:r>
            <a:r>
              <a:rPr kumimoji="1" lang="zh-CN" altLang="en-US" sz="2000" smtClean="0">
                <a:solidFill>
                  <a:srgbClr val="0000FF"/>
                </a:solidFill>
                <a:latin typeface="Consolas" pitchFamily="49" charset="0"/>
                <a:ea typeface="华文中宋" pitchFamily="2" charset="-122"/>
                <a:cs typeface="Consolas" pitchFamily="49" charset="0"/>
              </a:rPr>
              <a:t>列头结点可以</a:t>
            </a:r>
            <a:r>
              <a:rPr kumimoji="1" lang="zh-CN" altLang="en-US" sz="2000" dirty="0" smtClean="0">
                <a:solidFill>
                  <a:srgbClr val="0000FF"/>
                </a:solidFill>
                <a:latin typeface="Consolas" pitchFamily="49" charset="0"/>
                <a:ea typeface="华文中宋" pitchFamily="2" charset="-122"/>
                <a:cs typeface="Consolas" pitchFamily="49" charset="0"/>
              </a:rPr>
              <a:t>共享</a:t>
            </a:r>
            <a:endParaRPr lang="zh-CN" altLang="en-US" sz="2000" dirty="0">
              <a:solidFill>
                <a:srgbClr val="0000FF"/>
              </a:solidFill>
              <a:latin typeface="Consolas" pitchFamily="49" charset="0"/>
              <a:ea typeface="华文中宋" pitchFamily="2" charset="-122"/>
              <a:cs typeface="Consolas" pitchFamily="49" charset="0"/>
            </a:endParaRPr>
          </a:p>
        </p:txBody>
      </p:sp>
      <p:grpSp>
        <p:nvGrpSpPr>
          <p:cNvPr id="29" name="组合 28"/>
          <p:cNvGrpSpPr>
            <a:grpSpLocks noChangeAspect="1"/>
          </p:cNvGrpSpPr>
          <p:nvPr/>
        </p:nvGrpSpPr>
        <p:grpSpPr>
          <a:xfrm>
            <a:off x="2214546" y="785794"/>
            <a:ext cx="1296670" cy="690880"/>
            <a:chOff x="122238" y="1865313"/>
            <a:chExt cx="1620837" cy="863600"/>
          </a:xfrm>
        </p:grpSpPr>
        <p:sp>
          <p:nvSpPr>
            <p:cNvPr id="73" name="Rectangle 9"/>
            <p:cNvSpPr>
              <a:spLocks noChangeArrowheads="1"/>
            </p:cNvSpPr>
            <p:nvPr/>
          </p:nvSpPr>
          <p:spPr bwMode="auto">
            <a:xfrm>
              <a:off x="122238" y="1865313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 i="1"/>
            </a:p>
          </p:txBody>
        </p:sp>
        <p:sp>
          <p:nvSpPr>
            <p:cNvPr id="74" name="Rectangle 10"/>
            <p:cNvSpPr>
              <a:spLocks noChangeArrowheads="1"/>
            </p:cNvSpPr>
            <p:nvPr/>
          </p:nvSpPr>
          <p:spPr bwMode="auto">
            <a:xfrm>
              <a:off x="663575" y="1865313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 i="1"/>
            </a:p>
          </p:txBody>
        </p:sp>
        <p:sp>
          <p:nvSpPr>
            <p:cNvPr id="75" name="Rectangle 11"/>
            <p:cNvSpPr>
              <a:spLocks noChangeArrowheads="1"/>
            </p:cNvSpPr>
            <p:nvPr/>
          </p:nvSpPr>
          <p:spPr bwMode="auto">
            <a:xfrm>
              <a:off x="1203325" y="1865313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  <p:sp>
          <p:nvSpPr>
            <p:cNvPr id="76" name="Rectangle 12"/>
            <p:cNvSpPr>
              <a:spLocks noChangeArrowheads="1"/>
            </p:cNvSpPr>
            <p:nvPr/>
          </p:nvSpPr>
          <p:spPr bwMode="auto">
            <a:xfrm>
              <a:off x="122238" y="2297113"/>
              <a:ext cx="792162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  <p:sp>
          <p:nvSpPr>
            <p:cNvPr id="77" name="Rectangle 13"/>
            <p:cNvSpPr>
              <a:spLocks noChangeArrowheads="1"/>
            </p:cNvSpPr>
            <p:nvPr/>
          </p:nvSpPr>
          <p:spPr bwMode="auto">
            <a:xfrm>
              <a:off x="915988" y="2297113"/>
              <a:ext cx="827087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</p:grpSp>
      <p:grpSp>
        <p:nvGrpSpPr>
          <p:cNvPr id="35" name="组合 28"/>
          <p:cNvGrpSpPr>
            <a:grpSpLocks noChangeAspect="1"/>
          </p:cNvGrpSpPr>
          <p:nvPr/>
        </p:nvGrpSpPr>
        <p:grpSpPr>
          <a:xfrm>
            <a:off x="3838896" y="785794"/>
            <a:ext cx="1296670" cy="690880"/>
            <a:chOff x="122238" y="1865313"/>
            <a:chExt cx="1620837" cy="863600"/>
          </a:xfrm>
        </p:grpSpPr>
        <p:sp>
          <p:nvSpPr>
            <p:cNvPr id="79" name="Rectangle 9"/>
            <p:cNvSpPr>
              <a:spLocks noChangeArrowheads="1"/>
            </p:cNvSpPr>
            <p:nvPr/>
          </p:nvSpPr>
          <p:spPr bwMode="auto">
            <a:xfrm>
              <a:off x="122238" y="1865313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 i="1"/>
            </a:p>
          </p:txBody>
        </p:sp>
        <p:sp>
          <p:nvSpPr>
            <p:cNvPr id="80" name="Rectangle 10"/>
            <p:cNvSpPr>
              <a:spLocks noChangeArrowheads="1"/>
            </p:cNvSpPr>
            <p:nvPr/>
          </p:nvSpPr>
          <p:spPr bwMode="auto">
            <a:xfrm>
              <a:off x="663575" y="1865313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 i="1"/>
            </a:p>
          </p:txBody>
        </p:sp>
        <p:sp>
          <p:nvSpPr>
            <p:cNvPr id="81" name="Rectangle 11"/>
            <p:cNvSpPr>
              <a:spLocks noChangeArrowheads="1"/>
            </p:cNvSpPr>
            <p:nvPr/>
          </p:nvSpPr>
          <p:spPr bwMode="auto">
            <a:xfrm>
              <a:off x="1203325" y="1865313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  <p:sp>
          <p:nvSpPr>
            <p:cNvPr id="82" name="Rectangle 12"/>
            <p:cNvSpPr>
              <a:spLocks noChangeArrowheads="1"/>
            </p:cNvSpPr>
            <p:nvPr/>
          </p:nvSpPr>
          <p:spPr bwMode="auto">
            <a:xfrm>
              <a:off x="122238" y="2297113"/>
              <a:ext cx="792162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  <p:sp>
          <p:nvSpPr>
            <p:cNvPr id="83" name="Rectangle 13"/>
            <p:cNvSpPr>
              <a:spLocks noChangeArrowheads="1"/>
            </p:cNvSpPr>
            <p:nvPr/>
          </p:nvSpPr>
          <p:spPr bwMode="auto">
            <a:xfrm>
              <a:off x="915988" y="2297113"/>
              <a:ext cx="827087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</p:grpSp>
      <p:grpSp>
        <p:nvGrpSpPr>
          <p:cNvPr id="41" name="组合 28"/>
          <p:cNvGrpSpPr>
            <a:grpSpLocks noChangeAspect="1"/>
          </p:cNvGrpSpPr>
          <p:nvPr/>
        </p:nvGrpSpPr>
        <p:grpSpPr>
          <a:xfrm>
            <a:off x="5429256" y="785794"/>
            <a:ext cx="1296670" cy="690880"/>
            <a:chOff x="122238" y="1865313"/>
            <a:chExt cx="1620837" cy="863600"/>
          </a:xfrm>
        </p:grpSpPr>
        <p:sp>
          <p:nvSpPr>
            <p:cNvPr id="85" name="Rectangle 9"/>
            <p:cNvSpPr>
              <a:spLocks noChangeArrowheads="1"/>
            </p:cNvSpPr>
            <p:nvPr/>
          </p:nvSpPr>
          <p:spPr bwMode="auto">
            <a:xfrm>
              <a:off x="122238" y="1865313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 i="1"/>
            </a:p>
          </p:txBody>
        </p:sp>
        <p:sp>
          <p:nvSpPr>
            <p:cNvPr id="86" name="Rectangle 10"/>
            <p:cNvSpPr>
              <a:spLocks noChangeArrowheads="1"/>
            </p:cNvSpPr>
            <p:nvPr/>
          </p:nvSpPr>
          <p:spPr bwMode="auto">
            <a:xfrm>
              <a:off x="663575" y="1865313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 i="1"/>
            </a:p>
          </p:txBody>
        </p:sp>
        <p:sp>
          <p:nvSpPr>
            <p:cNvPr id="87" name="Rectangle 11"/>
            <p:cNvSpPr>
              <a:spLocks noChangeArrowheads="1"/>
            </p:cNvSpPr>
            <p:nvPr/>
          </p:nvSpPr>
          <p:spPr bwMode="auto">
            <a:xfrm>
              <a:off x="1203325" y="1865313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  <p:sp>
          <p:nvSpPr>
            <p:cNvPr id="88" name="Rectangle 12"/>
            <p:cNvSpPr>
              <a:spLocks noChangeArrowheads="1"/>
            </p:cNvSpPr>
            <p:nvPr/>
          </p:nvSpPr>
          <p:spPr bwMode="auto">
            <a:xfrm>
              <a:off x="122238" y="2297113"/>
              <a:ext cx="792162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  <p:sp>
          <p:nvSpPr>
            <p:cNvPr id="89" name="Rectangle 13"/>
            <p:cNvSpPr>
              <a:spLocks noChangeArrowheads="1"/>
            </p:cNvSpPr>
            <p:nvPr/>
          </p:nvSpPr>
          <p:spPr bwMode="auto">
            <a:xfrm>
              <a:off x="915988" y="2297113"/>
              <a:ext cx="827087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</p:grpSp>
      <p:grpSp>
        <p:nvGrpSpPr>
          <p:cNvPr id="47" name="组合 28"/>
          <p:cNvGrpSpPr>
            <a:grpSpLocks noChangeAspect="1"/>
          </p:cNvGrpSpPr>
          <p:nvPr/>
        </p:nvGrpSpPr>
        <p:grpSpPr>
          <a:xfrm>
            <a:off x="7275858" y="785794"/>
            <a:ext cx="1296670" cy="690880"/>
            <a:chOff x="122238" y="1865313"/>
            <a:chExt cx="1620837" cy="863600"/>
          </a:xfrm>
        </p:grpSpPr>
        <p:sp>
          <p:nvSpPr>
            <p:cNvPr id="91" name="Rectangle 9"/>
            <p:cNvSpPr>
              <a:spLocks noChangeArrowheads="1"/>
            </p:cNvSpPr>
            <p:nvPr/>
          </p:nvSpPr>
          <p:spPr bwMode="auto">
            <a:xfrm>
              <a:off x="122238" y="1865313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 i="1"/>
            </a:p>
          </p:txBody>
        </p:sp>
        <p:sp>
          <p:nvSpPr>
            <p:cNvPr id="92" name="Rectangle 10"/>
            <p:cNvSpPr>
              <a:spLocks noChangeArrowheads="1"/>
            </p:cNvSpPr>
            <p:nvPr/>
          </p:nvSpPr>
          <p:spPr bwMode="auto">
            <a:xfrm>
              <a:off x="663575" y="1865313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 i="1"/>
            </a:p>
          </p:txBody>
        </p:sp>
        <p:sp>
          <p:nvSpPr>
            <p:cNvPr id="93" name="Rectangle 11"/>
            <p:cNvSpPr>
              <a:spLocks noChangeArrowheads="1"/>
            </p:cNvSpPr>
            <p:nvPr/>
          </p:nvSpPr>
          <p:spPr bwMode="auto">
            <a:xfrm>
              <a:off x="1203325" y="1865313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  <p:sp>
          <p:nvSpPr>
            <p:cNvPr id="94" name="Rectangle 12"/>
            <p:cNvSpPr>
              <a:spLocks noChangeArrowheads="1"/>
            </p:cNvSpPr>
            <p:nvPr/>
          </p:nvSpPr>
          <p:spPr bwMode="auto">
            <a:xfrm>
              <a:off x="122238" y="2297113"/>
              <a:ext cx="792162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  <p:sp>
          <p:nvSpPr>
            <p:cNvPr id="98" name="Rectangle 13"/>
            <p:cNvSpPr>
              <a:spLocks noChangeArrowheads="1"/>
            </p:cNvSpPr>
            <p:nvPr/>
          </p:nvSpPr>
          <p:spPr bwMode="auto">
            <a:xfrm>
              <a:off x="915988" y="2297113"/>
              <a:ext cx="827087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</p:grpSp>
      <p:cxnSp>
        <p:nvCxnSpPr>
          <p:cNvPr id="108" name="直接箭头连接符 107"/>
          <p:cNvCxnSpPr/>
          <p:nvPr/>
        </p:nvCxnSpPr>
        <p:spPr>
          <a:xfrm rot="5400000">
            <a:off x="7179487" y="1704169"/>
            <a:ext cx="785818" cy="1588"/>
          </a:xfrm>
          <a:prstGeom prst="straightConnector1">
            <a:avLst/>
          </a:prstGeom>
          <a:ln w="28575">
            <a:solidFill>
              <a:srgbClr val="0A0A0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接箭头连接符 112"/>
          <p:cNvCxnSpPr/>
          <p:nvPr/>
        </p:nvCxnSpPr>
        <p:spPr>
          <a:xfrm rot="5400000">
            <a:off x="6643702" y="3597276"/>
            <a:ext cx="1857388" cy="1588"/>
          </a:xfrm>
          <a:prstGeom prst="straightConnector1">
            <a:avLst/>
          </a:prstGeom>
          <a:ln w="28575">
            <a:solidFill>
              <a:srgbClr val="0A0A0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接连接符 116"/>
          <p:cNvCxnSpPr/>
          <p:nvPr/>
        </p:nvCxnSpPr>
        <p:spPr>
          <a:xfrm rot="5400000">
            <a:off x="7393801" y="5250669"/>
            <a:ext cx="357190" cy="1588"/>
          </a:xfrm>
          <a:prstGeom prst="line">
            <a:avLst/>
          </a:prstGeom>
          <a:ln w="28575">
            <a:solidFill>
              <a:srgbClr val="0A0A0E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接连接符 120"/>
          <p:cNvCxnSpPr/>
          <p:nvPr/>
        </p:nvCxnSpPr>
        <p:spPr>
          <a:xfrm rot="16200000" flipH="1">
            <a:off x="4894330" y="3251264"/>
            <a:ext cx="4356000" cy="0"/>
          </a:xfrm>
          <a:prstGeom prst="line">
            <a:avLst/>
          </a:prstGeom>
          <a:ln w="28575">
            <a:solidFill>
              <a:srgbClr val="0A0A0E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接箭头连接符 124"/>
          <p:cNvCxnSpPr/>
          <p:nvPr/>
        </p:nvCxnSpPr>
        <p:spPr>
          <a:xfrm rot="5400000">
            <a:off x="4630970" y="2360698"/>
            <a:ext cx="2016000" cy="9200"/>
          </a:xfrm>
          <a:prstGeom prst="straightConnector1">
            <a:avLst/>
          </a:prstGeom>
          <a:ln w="28575">
            <a:solidFill>
              <a:srgbClr val="0A0A0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直接箭头连接符 126"/>
          <p:cNvCxnSpPr/>
          <p:nvPr/>
        </p:nvCxnSpPr>
        <p:spPr>
          <a:xfrm rot="16200000" flipH="1">
            <a:off x="2011491" y="1703229"/>
            <a:ext cx="834739" cy="0"/>
          </a:xfrm>
          <a:prstGeom prst="straightConnector1">
            <a:avLst/>
          </a:prstGeom>
          <a:ln w="28575">
            <a:solidFill>
              <a:srgbClr val="0A0A0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接连接符 128"/>
          <p:cNvCxnSpPr/>
          <p:nvPr/>
        </p:nvCxnSpPr>
        <p:spPr>
          <a:xfrm>
            <a:off x="7072330" y="5429264"/>
            <a:ext cx="500066" cy="1588"/>
          </a:xfrm>
          <a:prstGeom prst="line">
            <a:avLst/>
          </a:prstGeom>
          <a:ln w="28575">
            <a:solidFill>
              <a:srgbClr val="0A0A0E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接箭头连接符 130"/>
          <p:cNvCxnSpPr/>
          <p:nvPr/>
        </p:nvCxnSpPr>
        <p:spPr>
          <a:xfrm>
            <a:off x="7072330" y="1071546"/>
            <a:ext cx="203528" cy="0"/>
          </a:xfrm>
          <a:prstGeom prst="straightConnector1">
            <a:avLst/>
          </a:prstGeom>
          <a:ln w="28575">
            <a:solidFill>
              <a:srgbClr val="0A0A0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接连接符 132"/>
          <p:cNvCxnSpPr/>
          <p:nvPr/>
        </p:nvCxnSpPr>
        <p:spPr>
          <a:xfrm rot="5400000">
            <a:off x="3652642" y="2641784"/>
            <a:ext cx="3150000" cy="1588"/>
          </a:xfrm>
          <a:prstGeom prst="line">
            <a:avLst/>
          </a:prstGeom>
          <a:ln w="28575">
            <a:solidFill>
              <a:srgbClr val="0A0A0E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直接连接符 134"/>
          <p:cNvCxnSpPr/>
          <p:nvPr/>
        </p:nvCxnSpPr>
        <p:spPr>
          <a:xfrm>
            <a:off x="5214942" y="4222756"/>
            <a:ext cx="432000" cy="1588"/>
          </a:xfrm>
          <a:prstGeom prst="line">
            <a:avLst/>
          </a:prstGeom>
          <a:ln w="28575">
            <a:solidFill>
              <a:srgbClr val="0A0A0E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直接连接符 136"/>
          <p:cNvCxnSpPr/>
          <p:nvPr/>
        </p:nvCxnSpPr>
        <p:spPr>
          <a:xfrm rot="5400000">
            <a:off x="5464975" y="4036223"/>
            <a:ext cx="357190" cy="1588"/>
          </a:xfrm>
          <a:prstGeom prst="line">
            <a:avLst/>
          </a:prstGeom>
          <a:ln w="28575">
            <a:solidFill>
              <a:srgbClr val="0A0A0E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直接箭头连接符 137"/>
          <p:cNvCxnSpPr/>
          <p:nvPr/>
        </p:nvCxnSpPr>
        <p:spPr>
          <a:xfrm>
            <a:off x="5233666" y="1071546"/>
            <a:ext cx="203528" cy="0"/>
          </a:xfrm>
          <a:prstGeom prst="straightConnector1">
            <a:avLst/>
          </a:prstGeom>
          <a:ln w="28575">
            <a:solidFill>
              <a:srgbClr val="0A0A0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直接箭头连接符 138"/>
          <p:cNvCxnSpPr/>
          <p:nvPr/>
        </p:nvCxnSpPr>
        <p:spPr>
          <a:xfrm>
            <a:off x="3630606" y="1071546"/>
            <a:ext cx="203528" cy="0"/>
          </a:xfrm>
          <a:prstGeom prst="straightConnector1">
            <a:avLst/>
          </a:prstGeom>
          <a:ln w="28575">
            <a:solidFill>
              <a:srgbClr val="0A0A0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接连接符 140"/>
          <p:cNvCxnSpPr/>
          <p:nvPr/>
        </p:nvCxnSpPr>
        <p:spPr>
          <a:xfrm rot="5400000">
            <a:off x="3357554" y="1357298"/>
            <a:ext cx="571504" cy="1588"/>
          </a:xfrm>
          <a:prstGeom prst="line">
            <a:avLst/>
          </a:prstGeom>
          <a:ln w="28575">
            <a:solidFill>
              <a:srgbClr val="0A0A0E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接连接符 142"/>
          <p:cNvCxnSpPr/>
          <p:nvPr/>
        </p:nvCxnSpPr>
        <p:spPr>
          <a:xfrm>
            <a:off x="3648068" y="1643050"/>
            <a:ext cx="432000" cy="1588"/>
          </a:xfrm>
          <a:prstGeom prst="line">
            <a:avLst/>
          </a:prstGeom>
          <a:ln w="28575">
            <a:solidFill>
              <a:srgbClr val="0A0A0E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接连接符 144"/>
          <p:cNvCxnSpPr/>
          <p:nvPr/>
        </p:nvCxnSpPr>
        <p:spPr>
          <a:xfrm rot="5400000">
            <a:off x="3893339" y="1464455"/>
            <a:ext cx="357190" cy="1588"/>
          </a:xfrm>
          <a:prstGeom prst="line">
            <a:avLst/>
          </a:prstGeom>
          <a:ln w="28575">
            <a:solidFill>
              <a:srgbClr val="0A0A0E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接箭头连接符 145"/>
          <p:cNvCxnSpPr/>
          <p:nvPr/>
        </p:nvCxnSpPr>
        <p:spPr>
          <a:xfrm>
            <a:off x="1998318" y="1084246"/>
            <a:ext cx="203528" cy="0"/>
          </a:xfrm>
          <a:prstGeom prst="straightConnector1">
            <a:avLst/>
          </a:prstGeom>
          <a:ln w="28575">
            <a:solidFill>
              <a:srgbClr val="0A0A0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接连接符 146"/>
          <p:cNvCxnSpPr/>
          <p:nvPr/>
        </p:nvCxnSpPr>
        <p:spPr>
          <a:xfrm>
            <a:off x="2012932" y="3007516"/>
            <a:ext cx="432000" cy="1588"/>
          </a:xfrm>
          <a:prstGeom prst="line">
            <a:avLst/>
          </a:prstGeom>
          <a:ln w="28575">
            <a:solidFill>
              <a:srgbClr val="0A0A0E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直接连接符 147"/>
          <p:cNvCxnSpPr/>
          <p:nvPr/>
        </p:nvCxnSpPr>
        <p:spPr>
          <a:xfrm rot="5400000">
            <a:off x="2250265" y="2820983"/>
            <a:ext cx="357190" cy="1588"/>
          </a:xfrm>
          <a:prstGeom prst="line">
            <a:avLst/>
          </a:prstGeom>
          <a:ln w="28575">
            <a:solidFill>
              <a:srgbClr val="0A0A0E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直接连接符 149"/>
          <p:cNvCxnSpPr/>
          <p:nvPr/>
        </p:nvCxnSpPr>
        <p:spPr>
          <a:xfrm rot="5400000">
            <a:off x="1041994" y="2054390"/>
            <a:ext cx="1926000" cy="1588"/>
          </a:xfrm>
          <a:prstGeom prst="line">
            <a:avLst/>
          </a:prstGeom>
          <a:ln w="28575">
            <a:solidFill>
              <a:srgbClr val="0A0A0E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组合 123"/>
          <p:cNvGrpSpPr/>
          <p:nvPr/>
        </p:nvGrpSpPr>
        <p:grpSpPr>
          <a:xfrm>
            <a:off x="214282" y="785794"/>
            <a:ext cx="1928826" cy="1214446"/>
            <a:chOff x="214282" y="785794"/>
            <a:chExt cx="1928826" cy="1214446"/>
          </a:xfrm>
        </p:grpSpPr>
        <p:sp>
          <p:nvSpPr>
            <p:cNvPr id="116" name="TextBox 115"/>
            <p:cNvSpPr txBox="1"/>
            <p:nvPr/>
          </p:nvSpPr>
          <p:spPr>
            <a:xfrm>
              <a:off x="214282" y="857232"/>
              <a:ext cx="1500198" cy="535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00" dirty="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第</a:t>
              </a:r>
              <a:r>
                <a:rPr lang="en-US" altLang="zh-CN" sz="1800" dirty="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1</a:t>
              </a:r>
              <a:r>
                <a:rPr lang="zh-CN" altLang="en-US" sz="1800" dirty="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行、第</a:t>
              </a:r>
              <a:r>
                <a:rPr lang="en-US" altLang="zh-CN" sz="1800" dirty="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1</a:t>
              </a:r>
              <a:r>
                <a:rPr lang="zh-CN" altLang="en-US" sz="1800" dirty="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列</a:t>
              </a:r>
              <a:r>
                <a:rPr lang="zh-CN" altLang="en-US" sz="18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的头结点</a:t>
              </a:r>
              <a:endParaRPr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cxnSp>
          <p:nvCxnSpPr>
            <p:cNvPr id="119" name="直接箭头连接符 118"/>
            <p:cNvCxnSpPr/>
            <p:nvPr/>
          </p:nvCxnSpPr>
          <p:spPr>
            <a:xfrm rot="5400000">
              <a:off x="500034" y="1785132"/>
              <a:ext cx="428628" cy="158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箭头连接符 121"/>
            <p:cNvCxnSpPr/>
            <p:nvPr/>
          </p:nvCxnSpPr>
          <p:spPr>
            <a:xfrm flipV="1">
              <a:off x="1714480" y="785794"/>
              <a:ext cx="428628" cy="142876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组合 155"/>
          <p:cNvGrpSpPr/>
          <p:nvPr/>
        </p:nvGrpSpPr>
        <p:grpSpPr>
          <a:xfrm>
            <a:off x="1643042" y="1571615"/>
            <a:ext cx="2786081" cy="4250304"/>
            <a:chOff x="1643042" y="1571615"/>
            <a:chExt cx="2786081" cy="4250304"/>
          </a:xfrm>
        </p:grpSpPr>
        <p:sp>
          <p:nvSpPr>
            <p:cNvPr id="123" name="TextBox 122"/>
            <p:cNvSpPr txBox="1"/>
            <p:nvPr/>
          </p:nvSpPr>
          <p:spPr>
            <a:xfrm>
              <a:off x="2857488" y="5286388"/>
              <a:ext cx="1500198" cy="535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00" dirty="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第</a:t>
              </a:r>
              <a:r>
                <a:rPr lang="en-US" altLang="zh-CN" sz="1800" dirty="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2</a:t>
              </a:r>
              <a:r>
                <a:rPr lang="zh-CN" altLang="en-US" sz="1800" dirty="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行、第</a:t>
              </a:r>
              <a:r>
                <a:rPr lang="en-US" altLang="zh-CN" sz="1800" dirty="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2</a:t>
              </a:r>
              <a:r>
                <a:rPr lang="zh-CN" altLang="en-US" sz="1800" dirty="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列</a:t>
              </a:r>
              <a:r>
                <a:rPr lang="zh-CN" altLang="en-US" sz="18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的头结点</a:t>
              </a:r>
              <a:endParaRPr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cxnSp>
          <p:nvCxnSpPr>
            <p:cNvPr id="128" name="直接箭头连接符 127"/>
            <p:cNvCxnSpPr>
              <a:stCxn id="123" idx="0"/>
            </p:cNvCxnSpPr>
            <p:nvPr/>
          </p:nvCxnSpPr>
          <p:spPr>
            <a:xfrm rot="5400000" flipH="1" flipV="1">
              <a:off x="2160968" y="3018233"/>
              <a:ext cx="3714774" cy="82153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箭头连接符 131"/>
            <p:cNvCxnSpPr/>
            <p:nvPr/>
          </p:nvCxnSpPr>
          <p:spPr>
            <a:xfrm rot="10800000">
              <a:off x="1643042" y="4000504"/>
              <a:ext cx="1428760" cy="135732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组合 156"/>
          <p:cNvGrpSpPr/>
          <p:nvPr/>
        </p:nvGrpSpPr>
        <p:grpSpPr>
          <a:xfrm>
            <a:off x="1714481" y="1571619"/>
            <a:ext cx="4143403" cy="4250300"/>
            <a:chOff x="1714481" y="1571619"/>
            <a:chExt cx="4143403" cy="4250300"/>
          </a:xfrm>
        </p:grpSpPr>
        <p:sp>
          <p:nvSpPr>
            <p:cNvPr id="134" name="TextBox 133"/>
            <p:cNvSpPr txBox="1"/>
            <p:nvPr/>
          </p:nvSpPr>
          <p:spPr>
            <a:xfrm>
              <a:off x="4286249" y="5286388"/>
              <a:ext cx="1500198" cy="535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00" dirty="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第</a:t>
              </a:r>
              <a:r>
                <a:rPr lang="en-US" altLang="zh-CN" sz="1800" dirty="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3</a:t>
              </a:r>
              <a:r>
                <a:rPr lang="zh-CN" altLang="en-US" sz="1800" dirty="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行、第</a:t>
              </a:r>
              <a:r>
                <a:rPr lang="en-US" altLang="zh-CN" sz="1800" dirty="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3</a:t>
              </a:r>
              <a:r>
                <a:rPr lang="zh-CN" altLang="en-US" sz="1800" dirty="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列</a:t>
              </a:r>
              <a:r>
                <a:rPr lang="zh-CN" altLang="en-US" sz="18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的头结点</a:t>
              </a:r>
              <a:endParaRPr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cxnSp>
          <p:nvCxnSpPr>
            <p:cNvPr id="136" name="直接箭头连接符 135"/>
            <p:cNvCxnSpPr>
              <a:stCxn id="134" idx="0"/>
            </p:cNvCxnSpPr>
            <p:nvPr/>
          </p:nvCxnSpPr>
          <p:spPr>
            <a:xfrm rot="5400000" flipH="1" flipV="1">
              <a:off x="3589731" y="3018235"/>
              <a:ext cx="3714770" cy="82153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直接箭头连接符 139"/>
            <p:cNvCxnSpPr/>
            <p:nvPr/>
          </p:nvCxnSpPr>
          <p:spPr>
            <a:xfrm rot="10800000">
              <a:off x="1714481" y="4857760"/>
              <a:ext cx="2786083" cy="500066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组合 158"/>
          <p:cNvGrpSpPr/>
          <p:nvPr/>
        </p:nvGrpSpPr>
        <p:grpSpPr>
          <a:xfrm>
            <a:off x="5786446" y="1500174"/>
            <a:ext cx="2286019" cy="4613991"/>
            <a:chOff x="5786446" y="1500174"/>
            <a:chExt cx="2286019" cy="4613991"/>
          </a:xfrm>
        </p:grpSpPr>
        <p:sp>
          <p:nvSpPr>
            <p:cNvPr id="144" name="TextBox 143"/>
            <p:cNvSpPr txBox="1"/>
            <p:nvPr/>
          </p:nvSpPr>
          <p:spPr>
            <a:xfrm>
              <a:off x="5786446" y="5578634"/>
              <a:ext cx="1500198" cy="535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00" dirty="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第</a:t>
              </a:r>
              <a:r>
                <a:rPr lang="en-US" altLang="zh-CN" sz="1800" dirty="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4</a:t>
              </a:r>
              <a:r>
                <a:rPr lang="zh-CN" altLang="en-US" sz="1800" dirty="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行、第</a:t>
              </a:r>
              <a:r>
                <a:rPr lang="en-US" altLang="zh-CN" sz="1800" dirty="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4</a:t>
              </a:r>
              <a:r>
                <a:rPr lang="zh-CN" altLang="en-US" sz="1800" dirty="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列</a:t>
              </a:r>
              <a:r>
                <a:rPr lang="zh-CN" altLang="en-US" sz="18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的头结点</a:t>
              </a:r>
              <a:endParaRPr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cxnSp>
          <p:nvCxnSpPr>
            <p:cNvPr id="149" name="直接箭头连接符 148"/>
            <p:cNvCxnSpPr/>
            <p:nvPr/>
          </p:nvCxnSpPr>
          <p:spPr>
            <a:xfrm rot="5400000" flipH="1" flipV="1">
              <a:off x="5408150" y="2914321"/>
              <a:ext cx="4078461" cy="125016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8" name="TextBox 157"/>
          <p:cNvSpPr txBox="1"/>
          <p:nvPr/>
        </p:nvSpPr>
        <p:spPr>
          <a:xfrm>
            <a:off x="1142976" y="6000768"/>
            <a:ext cx="39290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2000" dirty="0" smtClean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行、</a:t>
            </a:r>
            <a:r>
              <a:rPr lang="zh-CN" altLang="en-US" sz="2000" smtClean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列头结点个数</a:t>
            </a:r>
            <a:r>
              <a:rPr lang="en-US" altLang="zh-CN" sz="2000" smtClean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=MAX(</a:t>
            </a:r>
            <a:r>
              <a:rPr lang="en-US" altLang="zh-CN" sz="2000" i="1" smtClean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m</a:t>
            </a:r>
            <a:r>
              <a:rPr lang="zh-CN" altLang="en-US" sz="2000" smtClean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，</a:t>
            </a:r>
            <a:r>
              <a:rPr lang="en-US" altLang="zh-CN" sz="2000" i="1" smtClean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n</a:t>
            </a:r>
            <a:r>
              <a:rPr lang="en-US" altLang="zh-CN" sz="2000" dirty="0" smtClean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)</a:t>
            </a:r>
            <a:endParaRPr lang="zh-CN" altLang="en-US" sz="2000" dirty="0">
              <a:solidFill>
                <a:srgbClr val="FF0000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sp>
        <p:nvSpPr>
          <p:cNvPr id="153" name="灯片编号占位符 15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11</a:t>
            </a:fld>
            <a:r>
              <a:rPr lang="en-US" altLang="zh-CN" smtClean="0"/>
              <a:t>/68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4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 tmFilter="0, 0; .2, .5; .8, .5; 1, 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250" autoRev="1" fill="hold"/>
                                        <p:tgtEl>
                                          <p:spTgt spid="4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 tmFilter="0, 0; .2, .5; .8, .5; 1, 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" dur="250" autoRev="1" fill="hold"/>
                                        <p:tgtEl>
                                          <p:spTgt spid="5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 tmFilter="0, 0; .2, .5; .8, .5; 1, 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9" dur="250" autoRev="1" fill="hold"/>
                                        <p:tgtEl>
                                          <p:spTgt spid="5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"/>
          <p:cNvGrpSpPr>
            <a:grpSpLocks noChangeAspect="1"/>
          </p:cNvGrpSpPr>
          <p:nvPr/>
        </p:nvGrpSpPr>
        <p:grpSpPr>
          <a:xfrm>
            <a:off x="2307426" y="2620665"/>
            <a:ext cx="1296670" cy="690880"/>
            <a:chOff x="2051050" y="1866900"/>
            <a:chExt cx="1620838" cy="863600"/>
          </a:xfrm>
        </p:grpSpPr>
        <p:sp>
          <p:nvSpPr>
            <p:cNvPr id="6" name="Rectangle 49"/>
            <p:cNvSpPr>
              <a:spLocks noChangeArrowheads="1"/>
            </p:cNvSpPr>
            <p:nvPr/>
          </p:nvSpPr>
          <p:spPr bwMode="auto">
            <a:xfrm>
              <a:off x="2051050" y="1866900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2000" dirty="0"/>
                <a:t>0</a:t>
              </a:r>
            </a:p>
          </p:txBody>
        </p:sp>
        <p:sp>
          <p:nvSpPr>
            <p:cNvPr id="7" name="Rectangle 50"/>
            <p:cNvSpPr>
              <a:spLocks noChangeArrowheads="1"/>
            </p:cNvSpPr>
            <p:nvPr/>
          </p:nvSpPr>
          <p:spPr bwMode="auto">
            <a:xfrm>
              <a:off x="2592388" y="1866900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2000" dirty="0"/>
                <a:t>0</a:t>
              </a:r>
            </a:p>
          </p:txBody>
        </p:sp>
        <p:sp>
          <p:nvSpPr>
            <p:cNvPr id="8" name="Rectangle 51"/>
            <p:cNvSpPr>
              <a:spLocks noChangeArrowheads="1"/>
            </p:cNvSpPr>
            <p:nvPr/>
          </p:nvSpPr>
          <p:spPr bwMode="auto">
            <a:xfrm>
              <a:off x="3132138" y="1866900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2000" dirty="0"/>
                <a:t>1</a:t>
              </a:r>
            </a:p>
          </p:txBody>
        </p:sp>
        <p:sp>
          <p:nvSpPr>
            <p:cNvPr id="9" name="Rectangle 52"/>
            <p:cNvSpPr>
              <a:spLocks noChangeArrowheads="1"/>
            </p:cNvSpPr>
            <p:nvPr/>
          </p:nvSpPr>
          <p:spPr bwMode="auto">
            <a:xfrm>
              <a:off x="2051050" y="2298700"/>
              <a:ext cx="792162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  <p:sp>
          <p:nvSpPr>
            <p:cNvPr id="10" name="Rectangle 53"/>
            <p:cNvSpPr>
              <a:spLocks noChangeArrowheads="1"/>
            </p:cNvSpPr>
            <p:nvPr/>
          </p:nvSpPr>
          <p:spPr bwMode="auto">
            <a:xfrm>
              <a:off x="2844800" y="2298700"/>
              <a:ext cx="827087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</p:grpSp>
      <p:grpSp>
        <p:nvGrpSpPr>
          <p:cNvPr id="3" name="组合 10"/>
          <p:cNvGrpSpPr>
            <a:grpSpLocks noChangeAspect="1"/>
          </p:cNvGrpSpPr>
          <p:nvPr/>
        </p:nvGrpSpPr>
        <p:grpSpPr>
          <a:xfrm>
            <a:off x="7346502" y="5035257"/>
            <a:ext cx="1296670" cy="690880"/>
            <a:chOff x="7451725" y="4408488"/>
            <a:chExt cx="1620838" cy="863600"/>
          </a:xfrm>
        </p:grpSpPr>
        <p:sp>
          <p:nvSpPr>
            <p:cNvPr id="12" name="Rectangle 54"/>
            <p:cNvSpPr>
              <a:spLocks noChangeArrowheads="1"/>
            </p:cNvSpPr>
            <p:nvPr/>
          </p:nvSpPr>
          <p:spPr bwMode="auto">
            <a:xfrm>
              <a:off x="7451725" y="4408488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2000" dirty="0"/>
                <a:t>2</a:t>
              </a:r>
            </a:p>
          </p:txBody>
        </p:sp>
        <p:sp>
          <p:nvSpPr>
            <p:cNvPr id="13" name="Rectangle 55"/>
            <p:cNvSpPr>
              <a:spLocks noChangeArrowheads="1"/>
            </p:cNvSpPr>
            <p:nvPr/>
          </p:nvSpPr>
          <p:spPr bwMode="auto">
            <a:xfrm>
              <a:off x="7993063" y="4408488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2000"/>
                <a:t>3</a:t>
              </a:r>
            </a:p>
          </p:txBody>
        </p:sp>
        <p:sp>
          <p:nvSpPr>
            <p:cNvPr id="14" name="Rectangle 56"/>
            <p:cNvSpPr>
              <a:spLocks noChangeArrowheads="1"/>
            </p:cNvSpPr>
            <p:nvPr/>
          </p:nvSpPr>
          <p:spPr bwMode="auto">
            <a:xfrm>
              <a:off x="8532813" y="4408488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2000"/>
                <a:t>4</a:t>
              </a:r>
            </a:p>
          </p:txBody>
        </p:sp>
        <p:sp>
          <p:nvSpPr>
            <p:cNvPr id="15" name="Rectangle 57"/>
            <p:cNvSpPr>
              <a:spLocks noChangeArrowheads="1"/>
            </p:cNvSpPr>
            <p:nvPr/>
          </p:nvSpPr>
          <p:spPr bwMode="auto">
            <a:xfrm>
              <a:off x="7451725" y="4840288"/>
              <a:ext cx="792162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  <p:sp>
          <p:nvSpPr>
            <p:cNvPr id="16" name="Rectangle 58"/>
            <p:cNvSpPr>
              <a:spLocks noChangeArrowheads="1"/>
            </p:cNvSpPr>
            <p:nvPr/>
          </p:nvSpPr>
          <p:spPr bwMode="auto">
            <a:xfrm>
              <a:off x="8245475" y="4840288"/>
              <a:ext cx="827087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</p:grpSp>
      <p:grpSp>
        <p:nvGrpSpPr>
          <p:cNvPr id="4" name="组合 16"/>
          <p:cNvGrpSpPr>
            <a:grpSpLocks noChangeAspect="1"/>
          </p:cNvGrpSpPr>
          <p:nvPr/>
        </p:nvGrpSpPr>
        <p:grpSpPr>
          <a:xfrm>
            <a:off x="7346502" y="2620665"/>
            <a:ext cx="1296670" cy="690880"/>
            <a:chOff x="7451725" y="1844675"/>
            <a:chExt cx="1620838" cy="863600"/>
          </a:xfrm>
        </p:grpSpPr>
        <p:sp>
          <p:nvSpPr>
            <p:cNvPr id="18" name="Rectangle 59"/>
            <p:cNvSpPr>
              <a:spLocks noChangeArrowheads="1"/>
            </p:cNvSpPr>
            <p:nvPr/>
          </p:nvSpPr>
          <p:spPr bwMode="auto">
            <a:xfrm>
              <a:off x="7451725" y="1844675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2000" dirty="0"/>
                <a:t>0</a:t>
              </a:r>
            </a:p>
          </p:txBody>
        </p:sp>
        <p:sp>
          <p:nvSpPr>
            <p:cNvPr id="19" name="Rectangle 60"/>
            <p:cNvSpPr>
              <a:spLocks noChangeArrowheads="1"/>
            </p:cNvSpPr>
            <p:nvPr/>
          </p:nvSpPr>
          <p:spPr bwMode="auto">
            <a:xfrm>
              <a:off x="7993063" y="1844675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2000" dirty="0"/>
                <a:t>3</a:t>
              </a:r>
            </a:p>
          </p:txBody>
        </p:sp>
        <p:sp>
          <p:nvSpPr>
            <p:cNvPr id="20" name="Rectangle 61"/>
            <p:cNvSpPr>
              <a:spLocks noChangeArrowheads="1"/>
            </p:cNvSpPr>
            <p:nvPr/>
          </p:nvSpPr>
          <p:spPr bwMode="auto">
            <a:xfrm>
              <a:off x="8532813" y="1844675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2000"/>
                <a:t>2</a:t>
              </a:r>
            </a:p>
          </p:txBody>
        </p:sp>
        <p:sp>
          <p:nvSpPr>
            <p:cNvPr id="21" name="Rectangle 62"/>
            <p:cNvSpPr>
              <a:spLocks noChangeArrowheads="1"/>
            </p:cNvSpPr>
            <p:nvPr/>
          </p:nvSpPr>
          <p:spPr bwMode="auto">
            <a:xfrm>
              <a:off x="7451725" y="2276475"/>
              <a:ext cx="792162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  <p:sp>
          <p:nvSpPr>
            <p:cNvPr id="22" name="Rectangle 63"/>
            <p:cNvSpPr>
              <a:spLocks noChangeArrowheads="1"/>
            </p:cNvSpPr>
            <p:nvPr/>
          </p:nvSpPr>
          <p:spPr bwMode="auto">
            <a:xfrm>
              <a:off x="8245475" y="2276475"/>
              <a:ext cx="827087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</p:grpSp>
      <p:grpSp>
        <p:nvGrpSpPr>
          <p:cNvPr id="5" name="组合 22"/>
          <p:cNvGrpSpPr>
            <a:grpSpLocks noChangeAspect="1"/>
          </p:cNvGrpSpPr>
          <p:nvPr/>
        </p:nvGrpSpPr>
        <p:grpSpPr>
          <a:xfrm>
            <a:off x="5489114" y="3857336"/>
            <a:ext cx="1296670" cy="690880"/>
            <a:chOff x="5632450" y="3213100"/>
            <a:chExt cx="1620838" cy="863600"/>
          </a:xfrm>
        </p:grpSpPr>
        <p:sp>
          <p:nvSpPr>
            <p:cNvPr id="24" name="Rectangle 64"/>
            <p:cNvSpPr>
              <a:spLocks noChangeArrowheads="1"/>
            </p:cNvSpPr>
            <p:nvPr/>
          </p:nvSpPr>
          <p:spPr bwMode="auto">
            <a:xfrm>
              <a:off x="5632450" y="3213100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2000" dirty="0"/>
                <a:t>1</a:t>
              </a:r>
            </a:p>
          </p:txBody>
        </p:sp>
        <p:sp>
          <p:nvSpPr>
            <p:cNvPr id="25" name="Rectangle 65"/>
            <p:cNvSpPr>
              <a:spLocks noChangeArrowheads="1"/>
            </p:cNvSpPr>
            <p:nvPr/>
          </p:nvSpPr>
          <p:spPr bwMode="auto">
            <a:xfrm>
              <a:off x="6173788" y="3213100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2000"/>
                <a:t>2</a:t>
              </a:r>
            </a:p>
          </p:txBody>
        </p:sp>
        <p:sp>
          <p:nvSpPr>
            <p:cNvPr id="26" name="Rectangle 66"/>
            <p:cNvSpPr>
              <a:spLocks noChangeArrowheads="1"/>
            </p:cNvSpPr>
            <p:nvPr/>
          </p:nvSpPr>
          <p:spPr bwMode="auto">
            <a:xfrm>
              <a:off x="6713538" y="3213100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2000"/>
                <a:t>3</a:t>
              </a:r>
            </a:p>
          </p:txBody>
        </p:sp>
        <p:sp>
          <p:nvSpPr>
            <p:cNvPr id="27" name="Rectangle 67"/>
            <p:cNvSpPr>
              <a:spLocks noChangeArrowheads="1"/>
            </p:cNvSpPr>
            <p:nvPr/>
          </p:nvSpPr>
          <p:spPr bwMode="auto">
            <a:xfrm>
              <a:off x="5632450" y="3644900"/>
              <a:ext cx="792162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  <p:sp>
          <p:nvSpPr>
            <p:cNvPr id="28" name="Rectangle 68"/>
            <p:cNvSpPr>
              <a:spLocks noChangeArrowheads="1"/>
            </p:cNvSpPr>
            <p:nvPr/>
          </p:nvSpPr>
          <p:spPr bwMode="auto">
            <a:xfrm>
              <a:off x="6426200" y="3644900"/>
              <a:ext cx="827087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</p:grpSp>
      <p:grpSp>
        <p:nvGrpSpPr>
          <p:cNvPr id="11" name="组合 28"/>
          <p:cNvGrpSpPr>
            <a:grpSpLocks noChangeAspect="1"/>
          </p:cNvGrpSpPr>
          <p:nvPr/>
        </p:nvGrpSpPr>
        <p:grpSpPr>
          <a:xfrm>
            <a:off x="413526" y="2620665"/>
            <a:ext cx="1296670" cy="690880"/>
            <a:chOff x="122238" y="1865313"/>
            <a:chExt cx="1620837" cy="863600"/>
          </a:xfrm>
        </p:grpSpPr>
        <p:sp>
          <p:nvSpPr>
            <p:cNvPr id="30" name="Rectangle 9"/>
            <p:cNvSpPr>
              <a:spLocks noChangeArrowheads="1"/>
            </p:cNvSpPr>
            <p:nvPr/>
          </p:nvSpPr>
          <p:spPr bwMode="auto">
            <a:xfrm>
              <a:off x="122238" y="1865313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 i="1"/>
            </a:p>
          </p:txBody>
        </p:sp>
        <p:sp>
          <p:nvSpPr>
            <p:cNvPr id="31" name="Rectangle 10"/>
            <p:cNvSpPr>
              <a:spLocks noChangeArrowheads="1"/>
            </p:cNvSpPr>
            <p:nvPr/>
          </p:nvSpPr>
          <p:spPr bwMode="auto">
            <a:xfrm>
              <a:off x="663575" y="1865313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 i="1"/>
            </a:p>
          </p:txBody>
        </p:sp>
        <p:sp>
          <p:nvSpPr>
            <p:cNvPr id="32" name="Rectangle 11"/>
            <p:cNvSpPr>
              <a:spLocks noChangeArrowheads="1"/>
            </p:cNvSpPr>
            <p:nvPr/>
          </p:nvSpPr>
          <p:spPr bwMode="auto">
            <a:xfrm>
              <a:off x="1203325" y="1865313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  <p:sp>
          <p:nvSpPr>
            <p:cNvPr id="33" name="Rectangle 12"/>
            <p:cNvSpPr>
              <a:spLocks noChangeArrowheads="1"/>
            </p:cNvSpPr>
            <p:nvPr/>
          </p:nvSpPr>
          <p:spPr bwMode="auto">
            <a:xfrm>
              <a:off x="122238" y="2297113"/>
              <a:ext cx="792162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  <p:sp>
          <p:nvSpPr>
            <p:cNvPr id="34" name="Rectangle 13"/>
            <p:cNvSpPr>
              <a:spLocks noChangeArrowheads="1"/>
            </p:cNvSpPr>
            <p:nvPr/>
          </p:nvSpPr>
          <p:spPr bwMode="auto">
            <a:xfrm>
              <a:off x="915988" y="2297113"/>
              <a:ext cx="827087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</p:grpSp>
      <p:grpSp>
        <p:nvGrpSpPr>
          <p:cNvPr id="17" name="组合 34"/>
          <p:cNvGrpSpPr>
            <a:grpSpLocks noChangeAspect="1"/>
          </p:cNvGrpSpPr>
          <p:nvPr/>
        </p:nvGrpSpPr>
        <p:grpSpPr>
          <a:xfrm>
            <a:off x="413526" y="3857336"/>
            <a:ext cx="1296670" cy="690880"/>
            <a:chOff x="122238" y="3213100"/>
            <a:chExt cx="1620837" cy="863600"/>
          </a:xfrm>
        </p:grpSpPr>
        <p:sp>
          <p:nvSpPr>
            <p:cNvPr id="36" name="Rectangle 14"/>
            <p:cNvSpPr>
              <a:spLocks noChangeArrowheads="1"/>
            </p:cNvSpPr>
            <p:nvPr/>
          </p:nvSpPr>
          <p:spPr bwMode="auto">
            <a:xfrm>
              <a:off x="122238" y="3213100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 i="1"/>
            </a:p>
          </p:txBody>
        </p:sp>
        <p:sp>
          <p:nvSpPr>
            <p:cNvPr id="37" name="Rectangle 15"/>
            <p:cNvSpPr>
              <a:spLocks noChangeArrowheads="1"/>
            </p:cNvSpPr>
            <p:nvPr/>
          </p:nvSpPr>
          <p:spPr bwMode="auto">
            <a:xfrm>
              <a:off x="663575" y="3213100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 i="1"/>
            </a:p>
          </p:txBody>
        </p:sp>
        <p:sp>
          <p:nvSpPr>
            <p:cNvPr id="38" name="Rectangle 16"/>
            <p:cNvSpPr>
              <a:spLocks noChangeArrowheads="1"/>
            </p:cNvSpPr>
            <p:nvPr/>
          </p:nvSpPr>
          <p:spPr bwMode="auto">
            <a:xfrm>
              <a:off x="1203325" y="3213100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  <p:sp>
          <p:nvSpPr>
            <p:cNvPr id="39" name="Rectangle 17"/>
            <p:cNvSpPr>
              <a:spLocks noChangeArrowheads="1"/>
            </p:cNvSpPr>
            <p:nvPr/>
          </p:nvSpPr>
          <p:spPr bwMode="auto">
            <a:xfrm>
              <a:off x="122238" y="3644900"/>
              <a:ext cx="792162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  <p:sp>
          <p:nvSpPr>
            <p:cNvPr id="40" name="Rectangle 18"/>
            <p:cNvSpPr>
              <a:spLocks noChangeArrowheads="1"/>
            </p:cNvSpPr>
            <p:nvPr/>
          </p:nvSpPr>
          <p:spPr bwMode="auto">
            <a:xfrm>
              <a:off x="915988" y="3644900"/>
              <a:ext cx="827087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</p:grpSp>
      <p:grpSp>
        <p:nvGrpSpPr>
          <p:cNvPr id="23" name="组合 40"/>
          <p:cNvGrpSpPr>
            <a:grpSpLocks noChangeAspect="1"/>
          </p:cNvGrpSpPr>
          <p:nvPr/>
        </p:nvGrpSpPr>
        <p:grpSpPr>
          <a:xfrm>
            <a:off x="450038" y="5035257"/>
            <a:ext cx="1296670" cy="690880"/>
            <a:chOff x="158750" y="4406900"/>
            <a:chExt cx="1620838" cy="863600"/>
          </a:xfrm>
        </p:grpSpPr>
        <p:sp>
          <p:nvSpPr>
            <p:cNvPr id="42" name="Rectangle 19"/>
            <p:cNvSpPr>
              <a:spLocks noChangeArrowheads="1"/>
            </p:cNvSpPr>
            <p:nvPr/>
          </p:nvSpPr>
          <p:spPr bwMode="auto">
            <a:xfrm>
              <a:off x="158750" y="4406900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 i="1"/>
            </a:p>
          </p:txBody>
        </p:sp>
        <p:sp>
          <p:nvSpPr>
            <p:cNvPr id="43" name="Rectangle 20"/>
            <p:cNvSpPr>
              <a:spLocks noChangeArrowheads="1"/>
            </p:cNvSpPr>
            <p:nvPr/>
          </p:nvSpPr>
          <p:spPr bwMode="auto">
            <a:xfrm>
              <a:off x="700088" y="4406900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 i="1"/>
            </a:p>
          </p:txBody>
        </p:sp>
        <p:sp>
          <p:nvSpPr>
            <p:cNvPr id="44" name="Rectangle 21"/>
            <p:cNvSpPr>
              <a:spLocks noChangeArrowheads="1"/>
            </p:cNvSpPr>
            <p:nvPr/>
          </p:nvSpPr>
          <p:spPr bwMode="auto">
            <a:xfrm>
              <a:off x="1239838" y="4406900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  <p:sp>
          <p:nvSpPr>
            <p:cNvPr id="45" name="Rectangle 22"/>
            <p:cNvSpPr>
              <a:spLocks noChangeArrowheads="1"/>
            </p:cNvSpPr>
            <p:nvPr/>
          </p:nvSpPr>
          <p:spPr bwMode="auto">
            <a:xfrm>
              <a:off x="158750" y="4838700"/>
              <a:ext cx="792162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  <p:sp>
          <p:nvSpPr>
            <p:cNvPr id="46" name="Rectangle 23"/>
            <p:cNvSpPr>
              <a:spLocks noChangeArrowheads="1"/>
            </p:cNvSpPr>
            <p:nvPr/>
          </p:nvSpPr>
          <p:spPr bwMode="auto">
            <a:xfrm>
              <a:off x="952500" y="4838700"/>
              <a:ext cx="827087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</p:grpSp>
      <p:cxnSp>
        <p:nvCxnSpPr>
          <p:cNvPr id="54" name="直接箭头连接符 53"/>
          <p:cNvCxnSpPr/>
          <p:nvPr/>
        </p:nvCxnSpPr>
        <p:spPr>
          <a:xfrm flipV="1">
            <a:off x="3285322" y="3138825"/>
            <a:ext cx="4061180" cy="0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/>
          <p:cNvCxnSpPr/>
          <p:nvPr/>
        </p:nvCxnSpPr>
        <p:spPr>
          <a:xfrm flipV="1">
            <a:off x="1356496" y="3138825"/>
            <a:ext cx="950930" cy="0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/>
          <p:cNvCxnSpPr/>
          <p:nvPr/>
        </p:nvCxnSpPr>
        <p:spPr>
          <a:xfrm>
            <a:off x="8428858" y="3149300"/>
            <a:ext cx="428628" cy="158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/>
          <p:cNvCxnSpPr/>
          <p:nvPr/>
        </p:nvCxnSpPr>
        <p:spPr>
          <a:xfrm rot="5400000">
            <a:off x="8500296" y="2792110"/>
            <a:ext cx="714380" cy="158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>
          <a:xfrm rot="10800000">
            <a:off x="1142182" y="2434920"/>
            <a:ext cx="7715304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67"/>
          <p:cNvCxnSpPr/>
          <p:nvPr/>
        </p:nvCxnSpPr>
        <p:spPr>
          <a:xfrm rot="5400000">
            <a:off x="1038944" y="2534982"/>
            <a:ext cx="216000" cy="0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箭头连接符 69"/>
          <p:cNvCxnSpPr/>
          <p:nvPr/>
        </p:nvCxnSpPr>
        <p:spPr>
          <a:xfrm flipV="1">
            <a:off x="1356496" y="4375496"/>
            <a:ext cx="4132618" cy="0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连接符 94"/>
          <p:cNvCxnSpPr/>
          <p:nvPr/>
        </p:nvCxnSpPr>
        <p:spPr>
          <a:xfrm>
            <a:off x="6571470" y="4387558"/>
            <a:ext cx="428628" cy="158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接连接符 95"/>
          <p:cNvCxnSpPr/>
          <p:nvPr/>
        </p:nvCxnSpPr>
        <p:spPr>
          <a:xfrm rot="5400000">
            <a:off x="6642908" y="4030368"/>
            <a:ext cx="714380" cy="158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连接符 96"/>
          <p:cNvCxnSpPr/>
          <p:nvPr/>
        </p:nvCxnSpPr>
        <p:spPr>
          <a:xfrm rot="10800000" flipV="1">
            <a:off x="1142182" y="3682704"/>
            <a:ext cx="5857916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箭头连接符 98"/>
          <p:cNvCxnSpPr/>
          <p:nvPr/>
        </p:nvCxnSpPr>
        <p:spPr>
          <a:xfrm rot="5400000">
            <a:off x="1046882" y="3781080"/>
            <a:ext cx="216000" cy="0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连接符 99"/>
          <p:cNvCxnSpPr/>
          <p:nvPr/>
        </p:nvCxnSpPr>
        <p:spPr>
          <a:xfrm>
            <a:off x="8428858" y="5538504"/>
            <a:ext cx="428628" cy="158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接连接符 100"/>
          <p:cNvCxnSpPr/>
          <p:nvPr/>
        </p:nvCxnSpPr>
        <p:spPr>
          <a:xfrm rot="5400000">
            <a:off x="8500296" y="5181314"/>
            <a:ext cx="714380" cy="158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接连接符 101"/>
          <p:cNvCxnSpPr/>
          <p:nvPr/>
        </p:nvCxnSpPr>
        <p:spPr>
          <a:xfrm rot="10800000">
            <a:off x="1142182" y="4824124"/>
            <a:ext cx="7715304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箭头连接符 102"/>
          <p:cNvCxnSpPr/>
          <p:nvPr/>
        </p:nvCxnSpPr>
        <p:spPr>
          <a:xfrm rot="5400000">
            <a:off x="1038944" y="4924186"/>
            <a:ext cx="216000" cy="0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箭头连接符 104"/>
          <p:cNvCxnSpPr/>
          <p:nvPr/>
        </p:nvCxnSpPr>
        <p:spPr>
          <a:xfrm flipV="1">
            <a:off x="1427934" y="5553417"/>
            <a:ext cx="5918568" cy="0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组合 28"/>
          <p:cNvGrpSpPr>
            <a:grpSpLocks noChangeAspect="1"/>
          </p:cNvGrpSpPr>
          <p:nvPr/>
        </p:nvGrpSpPr>
        <p:grpSpPr>
          <a:xfrm>
            <a:off x="2285190" y="1285860"/>
            <a:ext cx="1296670" cy="690880"/>
            <a:chOff x="122238" y="1865313"/>
            <a:chExt cx="1620837" cy="863600"/>
          </a:xfrm>
        </p:grpSpPr>
        <p:sp>
          <p:nvSpPr>
            <p:cNvPr id="73" name="Rectangle 9"/>
            <p:cNvSpPr>
              <a:spLocks noChangeArrowheads="1"/>
            </p:cNvSpPr>
            <p:nvPr/>
          </p:nvSpPr>
          <p:spPr bwMode="auto">
            <a:xfrm>
              <a:off x="122238" y="1865313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 i="1"/>
            </a:p>
          </p:txBody>
        </p:sp>
        <p:sp>
          <p:nvSpPr>
            <p:cNvPr id="74" name="Rectangle 10"/>
            <p:cNvSpPr>
              <a:spLocks noChangeArrowheads="1"/>
            </p:cNvSpPr>
            <p:nvPr/>
          </p:nvSpPr>
          <p:spPr bwMode="auto">
            <a:xfrm>
              <a:off x="663575" y="1865313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 i="1"/>
            </a:p>
          </p:txBody>
        </p:sp>
        <p:sp>
          <p:nvSpPr>
            <p:cNvPr id="75" name="Rectangle 11"/>
            <p:cNvSpPr>
              <a:spLocks noChangeArrowheads="1"/>
            </p:cNvSpPr>
            <p:nvPr/>
          </p:nvSpPr>
          <p:spPr bwMode="auto">
            <a:xfrm>
              <a:off x="1203325" y="1865313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  <p:sp>
          <p:nvSpPr>
            <p:cNvPr id="76" name="Rectangle 12"/>
            <p:cNvSpPr>
              <a:spLocks noChangeArrowheads="1"/>
            </p:cNvSpPr>
            <p:nvPr/>
          </p:nvSpPr>
          <p:spPr bwMode="auto">
            <a:xfrm>
              <a:off x="122238" y="2297113"/>
              <a:ext cx="792162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  <p:sp>
          <p:nvSpPr>
            <p:cNvPr id="77" name="Rectangle 13"/>
            <p:cNvSpPr>
              <a:spLocks noChangeArrowheads="1"/>
            </p:cNvSpPr>
            <p:nvPr/>
          </p:nvSpPr>
          <p:spPr bwMode="auto">
            <a:xfrm>
              <a:off x="915988" y="2297113"/>
              <a:ext cx="827087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</p:grpSp>
      <p:grpSp>
        <p:nvGrpSpPr>
          <p:cNvPr id="35" name="组合 28"/>
          <p:cNvGrpSpPr>
            <a:grpSpLocks noChangeAspect="1"/>
          </p:cNvGrpSpPr>
          <p:nvPr/>
        </p:nvGrpSpPr>
        <p:grpSpPr>
          <a:xfrm>
            <a:off x="3909540" y="1285860"/>
            <a:ext cx="1296670" cy="690880"/>
            <a:chOff x="122238" y="1865313"/>
            <a:chExt cx="1620837" cy="863600"/>
          </a:xfrm>
        </p:grpSpPr>
        <p:sp>
          <p:nvSpPr>
            <p:cNvPr id="79" name="Rectangle 9"/>
            <p:cNvSpPr>
              <a:spLocks noChangeArrowheads="1"/>
            </p:cNvSpPr>
            <p:nvPr/>
          </p:nvSpPr>
          <p:spPr bwMode="auto">
            <a:xfrm>
              <a:off x="122238" y="1865313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 i="1"/>
            </a:p>
          </p:txBody>
        </p:sp>
        <p:sp>
          <p:nvSpPr>
            <p:cNvPr id="80" name="Rectangle 10"/>
            <p:cNvSpPr>
              <a:spLocks noChangeArrowheads="1"/>
            </p:cNvSpPr>
            <p:nvPr/>
          </p:nvSpPr>
          <p:spPr bwMode="auto">
            <a:xfrm>
              <a:off x="663575" y="1865313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 i="1"/>
            </a:p>
          </p:txBody>
        </p:sp>
        <p:sp>
          <p:nvSpPr>
            <p:cNvPr id="81" name="Rectangle 11"/>
            <p:cNvSpPr>
              <a:spLocks noChangeArrowheads="1"/>
            </p:cNvSpPr>
            <p:nvPr/>
          </p:nvSpPr>
          <p:spPr bwMode="auto">
            <a:xfrm>
              <a:off x="1203325" y="1865313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  <p:sp>
          <p:nvSpPr>
            <p:cNvPr id="82" name="Rectangle 12"/>
            <p:cNvSpPr>
              <a:spLocks noChangeArrowheads="1"/>
            </p:cNvSpPr>
            <p:nvPr/>
          </p:nvSpPr>
          <p:spPr bwMode="auto">
            <a:xfrm>
              <a:off x="122238" y="2297113"/>
              <a:ext cx="792162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  <p:sp>
          <p:nvSpPr>
            <p:cNvPr id="83" name="Rectangle 13"/>
            <p:cNvSpPr>
              <a:spLocks noChangeArrowheads="1"/>
            </p:cNvSpPr>
            <p:nvPr/>
          </p:nvSpPr>
          <p:spPr bwMode="auto">
            <a:xfrm>
              <a:off x="915988" y="2297113"/>
              <a:ext cx="827087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</p:grpSp>
      <p:grpSp>
        <p:nvGrpSpPr>
          <p:cNvPr id="41" name="组合 28"/>
          <p:cNvGrpSpPr>
            <a:grpSpLocks noChangeAspect="1"/>
          </p:cNvGrpSpPr>
          <p:nvPr/>
        </p:nvGrpSpPr>
        <p:grpSpPr>
          <a:xfrm>
            <a:off x="5499900" y="1285860"/>
            <a:ext cx="1296670" cy="690880"/>
            <a:chOff x="122238" y="1865313"/>
            <a:chExt cx="1620837" cy="863600"/>
          </a:xfrm>
        </p:grpSpPr>
        <p:sp>
          <p:nvSpPr>
            <p:cNvPr id="85" name="Rectangle 9"/>
            <p:cNvSpPr>
              <a:spLocks noChangeArrowheads="1"/>
            </p:cNvSpPr>
            <p:nvPr/>
          </p:nvSpPr>
          <p:spPr bwMode="auto">
            <a:xfrm>
              <a:off x="122238" y="1865313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 i="1"/>
            </a:p>
          </p:txBody>
        </p:sp>
        <p:sp>
          <p:nvSpPr>
            <p:cNvPr id="86" name="Rectangle 10"/>
            <p:cNvSpPr>
              <a:spLocks noChangeArrowheads="1"/>
            </p:cNvSpPr>
            <p:nvPr/>
          </p:nvSpPr>
          <p:spPr bwMode="auto">
            <a:xfrm>
              <a:off x="663575" y="1865313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 i="1"/>
            </a:p>
          </p:txBody>
        </p:sp>
        <p:sp>
          <p:nvSpPr>
            <p:cNvPr id="87" name="Rectangle 11"/>
            <p:cNvSpPr>
              <a:spLocks noChangeArrowheads="1"/>
            </p:cNvSpPr>
            <p:nvPr/>
          </p:nvSpPr>
          <p:spPr bwMode="auto">
            <a:xfrm>
              <a:off x="1203325" y="1865313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  <p:sp>
          <p:nvSpPr>
            <p:cNvPr id="88" name="Rectangle 12"/>
            <p:cNvSpPr>
              <a:spLocks noChangeArrowheads="1"/>
            </p:cNvSpPr>
            <p:nvPr/>
          </p:nvSpPr>
          <p:spPr bwMode="auto">
            <a:xfrm>
              <a:off x="122238" y="2297113"/>
              <a:ext cx="792162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  <p:sp>
          <p:nvSpPr>
            <p:cNvPr id="89" name="Rectangle 13"/>
            <p:cNvSpPr>
              <a:spLocks noChangeArrowheads="1"/>
            </p:cNvSpPr>
            <p:nvPr/>
          </p:nvSpPr>
          <p:spPr bwMode="auto">
            <a:xfrm>
              <a:off x="915988" y="2297113"/>
              <a:ext cx="827087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</p:grpSp>
      <p:grpSp>
        <p:nvGrpSpPr>
          <p:cNvPr id="47" name="组合 28"/>
          <p:cNvGrpSpPr>
            <a:grpSpLocks noChangeAspect="1"/>
          </p:cNvGrpSpPr>
          <p:nvPr/>
        </p:nvGrpSpPr>
        <p:grpSpPr>
          <a:xfrm>
            <a:off x="7346502" y="1285860"/>
            <a:ext cx="1296670" cy="690880"/>
            <a:chOff x="122238" y="1865313"/>
            <a:chExt cx="1620837" cy="863600"/>
          </a:xfrm>
        </p:grpSpPr>
        <p:sp>
          <p:nvSpPr>
            <p:cNvPr id="91" name="Rectangle 9"/>
            <p:cNvSpPr>
              <a:spLocks noChangeArrowheads="1"/>
            </p:cNvSpPr>
            <p:nvPr/>
          </p:nvSpPr>
          <p:spPr bwMode="auto">
            <a:xfrm>
              <a:off x="122238" y="1865313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 i="1"/>
            </a:p>
          </p:txBody>
        </p:sp>
        <p:sp>
          <p:nvSpPr>
            <p:cNvPr id="92" name="Rectangle 10"/>
            <p:cNvSpPr>
              <a:spLocks noChangeArrowheads="1"/>
            </p:cNvSpPr>
            <p:nvPr/>
          </p:nvSpPr>
          <p:spPr bwMode="auto">
            <a:xfrm>
              <a:off x="663575" y="1865313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 i="1"/>
            </a:p>
          </p:txBody>
        </p:sp>
        <p:sp>
          <p:nvSpPr>
            <p:cNvPr id="93" name="Rectangle 11"/>
            <p:cNvSpPr>
              <a:spLocks noChangeArrowheads="1"/>
            </p:cNvSpPr>
            <p:nvPr/>
          </p:nvSpPr>
          <p:spPr bwMode="auto">
            <a:xfrm>
              <a:off x="1203325" y="1865313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  <p:sp>
          <p:nvSpPr>
            <p:cNvPr id="94" name="Rectangle 12"/>
            <p:cNvSpPr>
              <a:spLocks noChangeArrowheads="1"/>
            </p:cNvSpPr>
            <p:nvPr/>
          </p:nvSpPr>
          <p:spPr bwMode="auto">
            <a:xfrm>
              <a:off x="122238" y="2297113"/>
              <a:ext cx="792162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  <p:sp>
          <p:nvSpPr>
            <p:cNvPr id="98" name="Rectangle 13"/>
            <p:cNvSpPr>
              <a:spLocks noChangeArrowheads="1"/>
            </p:cNvSpPr>
            <p:nvPr/>
          </p:nvSpPr>
          <p:spPr bwMode="auto">
            <a:xfrm>
              <a:off x="915988" y="2297113"/>
              <a:ext cx="827087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/>
            </a:p>
          </p:txBody>
        </p:sp>
      </p:grpSp>
      <p:cxnSp>
        <p:nvCxnSpPr>
          <p:cNvPr id="108" name="直接箭头连接符 107"/>
          <p:cNvCxnSpPr/>
          <p:nvPr/>
        </p:nvCxnSpPr>
        <p:spPr>
          <a:xfrm rot="5400000">
            <a:off x="7250131" y="2204235"/>
            <a:ext cx="785818" cy="1588"/>
          </a:xfrm>
          <a:prstGeom prst="straightConnector1">
            <a:avLst/>
          </a:prstGeom>
          <a:ln w="28575">
            <a:solidFill>
              <a:srgbClr val="0A0A0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接箭头连接符 112"/>
          <p:cNvCxnSpPr/>
          <p:nvPr/>
        </p:nvCxnSpPr>
        <p:spPr>
          <a:xfrm rot="5400000">
            <a:off x="6714346" y="4097342"/>
            <a:ext cx="1857388" cy="1588"/>
          </a:xfrm>
          <a:prstGeom prst="straightConnector1">
            <a:avLst/>
          </a:prstGeom>
          <a:ln w="28575">
            <a:solidFill>
              <a:srgbClr val="0A0A0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接连接符 116"/>
          <p:cNvCxnSpPr/>
          <p:nvPr/>
        </p:nvCxnSpPr>
        <p:spPr>
          <a:xfrm rot="5400000">
            <a:off x="7464445" y="5750735"/>
            <a:ext cx="357190" cy="1588"/>
          </a:xfrm>
          <a:prstGeom prst="line">
            <a:avLst/>
          </a:prstGeom>
          <a:ln w="28575">
            <a:solidFill>
              <a:srgbClr val="0A0A0E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接连接符 120"/>
          <p:cNvCxnSpPr/>
          <p:nvPr/>
        </p:nvCxnSpPr>
        <p:spPr>
          <a:xfrm rot="16200000" flipH="1">
            <a:off x="4964974" y="3751330"/>
            <a:ext cx="4356000" cy="0"/>
          </a:xfrm>
          <a:prstGeom prst="line">
            <a:avLst/>
          </a:prstGeom>
          <a:ln w="28575">
            <a:solidFill>
              <a:srgbClr val="0A0A0E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接箭头连接符 124"/>
          <p:cNvCxnSpPr/>
          <p:nvPr/>
        </p:nvCxnSpPr>
        <p:spPr>
          <a:xfrm rot="5400000">
            <a:off x="4701614" y="2860764"/>
            <a:ext cx="2016000" cy="9200"/>
          </a:xfrm>
          <a:prstGeom prst="straightConnector1">
            <a:avLst/>
          </a:prstGeom>
          <a:ln w="28575">
            <a:solidFill>
              <a:srgbClr val="0A0A0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直接箭头连接符 126"/>
          <p:cNvCxnSpPr/>
          <p:nvPr/>
        </p:nvCxnSpPr>
        <p:spPr>
          <a:xfrm rot="16200000" flipH="1">
            <a:off x="2082135" y="2203295"/>
            <a:ext cx="834739" cy="0"/>
          </a:xfrm>
          <a:prstGeom prst="straightConnector1">
            <a:avLst/>
          </a:prstGeom>
          <a:ln w="28575">
            <a:solidFill>
              <a:srgbClr val="0A0A0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接连接符 128"/>
          <p:cNvCxnSpPr/>
          <p:nvPr/>
        </p:nvCxnSpPr>
        <p:spPr>
          <a:xfrm>
            <a:off x="7142974" y="5929330"/>
            <a:ext cx="500066" cy="1588"/>
          </a:xfrm>
          <a:prstGeom prst="line">
            <a:avLst/>
          </a:prstGeom>
          <a:ln w="28575">
            <a:solidFill>
              <a:srgbClr val="0A0A0E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接箭头连接符 130"/>
          <p:cNvCxnSpPr/>
          <p:nvPr/>
        </p:nvCxnSpPr>
        <p:spPr>
          <a:xfrm>
            <a:off x="7142974" y="1571612"/>
            <a:ext cx="203528" cy="0"/>
          </a:xfrm>
          <a:prstGeom prst="straightConnector1">
            <a:avLst/>
          </a:prstGeom>
          <a:ln w="28575">
            <a:solidFill>
              <a:srgbClr val="0A0A0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接连接符 132"/>
          <p:cNvCxnSpPr/>
          <p:nvPr/>
        </p:nvCxnSpPr>
        <p:spPr>
          <a:xfrm rot="5400000">
            <a:off x="3723286" y="3141850"/>
            <a:ext cx="3150000" cy="1588"/>
          </a:xfrm>
          <a:prstGeom prst="line">
            <a:avLst/>
          </a:prstGeom>
          <a:ln w="28575">
            <a:solidFill>
              <a:srgbClr val="0A0A0E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直接连接符 134"/>
          <p:cNvCxnSpPr/>
          <p:nvPr/>
        </p:nvCxnSpPr>
        <p:spPr>
          <a:xfrm>
            <a:off x="5298286" y="4722822"/>
            <a:ext cx="432000" cy="1588"/>
          </a:xfrm>
          <a:prstGeom prst="line">
            <a:avLst/>
          </a:prstGeom>
          <a:ln w="28575">
            <a:solidFill>
              <a:srgbClr val="0A0A0E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直接连接符 136"/>
          <p:cNvCxnSpPr/>
          <p:nvPr/>
        </p:nvCxnSpPr>
        <p:spPr>
          <a:xfrm rot="5400000">
            <a:off x="5535619" y="4536289"/>
            <a:ext cx="357190" cy="1588"/>
          </a:xfrm>
          <a:prstGeom prst="line">
            <a:avLst/>
          </a:prstGeom>
          <a:ln w="28575">
            <a:solidFill>
              <a:srgbClr val="0A0A0E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直接箭头连接符 137"/>
          <p:cNvCxnSpPr/>
          <p:nvPr/>
        </p:nvCxnSpPr>
        <p:spPr>
          <a:xfrm>
            <a:off x="5304310" y="1571612"/>
            <a:ext cx="203528" cy="0"/>
          </a:xfrm>
          <a:prstGeom prst="straightConnector1">
            <a:avLst/>
          </a:prstGeom>
          <a:ln w="28575">
            <a:solidFill>
              <a:srgbClr val="0A0A0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直接箭头连接符 138"/>
          <p:cNvCxnSpPr/>
          <p:nvPr/>
        </p:nvCxnSpPr>
        <p:spPr>
          <a:xfrm>
            <a:off x="3701250" y="1571612"/>
            <a:ext cx="203528" cy="0"/>
          </a:xfrm>
          <a:prstGeom prst="straightConnector1">
            <a:avLst/>
          </a:prstGeom>
          <a:ln w="28575">
            <a:solidFill>
              <a:srgbClr val="0A0A0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接连接符 140"/>
          <p:cNvCxnSpPr/>
          <p:nvPr/>
        </p:nvCxnSpPr>
        <p:spPr>
          <a:xfrm rot="5400000">
            <a:off x="3428198" y="1857364"/>
            <a:ext cx="571504" cy="1588"/>
          </a:xfrm>
          <a:prstGeom prst="line">
            <a:avLst/>
          </a:prstGeom>
          <a:ln w="28575">
            <a:solidFill>
              <a:srgbClr val="0A0A0E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接连接符 142"/>
          <p:cNvCxnSpPr/>
          <p:nvPr/>
        </p:nvCxnSpPr>
        <p:spPr>
          <a:xfrm>
            <a:off x="3718712" y="2143116"/>
            <a:ext cx="432000" cy="1588"/>
          </a:xfrm>
          <a:prstGeom prst="line">
            <a:avLst/>
          </a:prstGeom>
          <a:ln w="28575">
            <a:solidFill>
              <a:srgbClr val="0A0A0E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接连接符 144"/>
          <p:cNvCxnSpPr/>
          <p:nvPr/>
        </p:nvCxnSpPr>
        <p:spPr>
          <a:xfrm rot="5400000">
            <a:off x="3963983" y="1964521"/>
            <a:ext cx="357190" cy="1588"/>
          </a:xfrm>
          <a:prstGeom prst="line">
            <a:avLst/>
          </a:prstGeom>
          <a:ln w="28575">
            <a:solidFill>
              <a:srgbClr val="0A0A0E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接箭头连接符 145"/>
          <p:cNvCxnSpPr/>
          <p:nvPr/>
        </p:nvCxnSpPr>
        <p:spPr>
          <a:xfrm>
            <a:off x="2068962" y="1584312"/>
            <a:ext cx="203528" cy="0"/>
          </a:xfrm>
          <a:prstGeom prst="straightConnector1">
            <a:avLst/>
          </a:prstGeom>
          <a:ln w="28575">
            <a:solidFill>
              <a:srgbClr val="0A0A0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接连接符 146"/>
          <p:cNvCxnSpPr/>
          <p:nvPr/>
        </p:nvCxnSpPr>
        <p:spPr>
          <a:xfrm>
            <a:off x="2083576" y="3507582"/>
            <a:ext cx="432000" cy="1588"/>
          </a:xfrm>
          <a:prstGeom prst="line">
            <a:avLst/>
          </a:prstGeom>
          <a:ln w="28575">
            <a:solidFill>
              <a:srgbClr val="0A0A0E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直接连接符 147"/>
          <p:cNvCxnSpPr/>
          <p:nvPr/>
        </p:nvCxnSpPr>
        <p:spPr>
          <a:xfrm rot="5400000">
            <a:off x="2320909" y="3321049"/>
            <a:ext cx="357190" cy="1588"/>
          </a:xfrm>
          <a:prstGeom prst="line">
            <a:avLst/>
          </a:prstGeom>
          <a:ln w="28575">
            <a:solidFill>
              <a:srgbClr val="0A0A0E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直接连接符 149"/>
          <p:cNvCxnSpPr/>
          <p:nvPr/>
        </p:nvCxnSpPr>
        <p:spPr>
          <a:xfrm rot="5400000">
            <a:off x="1112638" y="2554456"/>
            <a:ext cx="1926000" cy="1588"/>
          </a:xfrm>
          <a:prstGeom prst="line">
            <a:avLst/>
          </a:prstGeom>
          <a:ln w="28575">
            <a:solidFill>
              <a:srgbClr val="0A0A0E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TextBox 150"/>
          <p:cNvSpPr txBox="1"/>
          <p:nvPr/>
        </p:nvSpPr>
        <p:spPr>
          <a:xfrm>
            <a:off x="642910" y="328986"/>
            <a:ext cx="82868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2000" dirty="0" smtClean="0">
                <a:solidFill>
                  <a:srgbClr val="0000FF"/>
                </a:solidFill>
                <a:latin typeface="Consolas" pitchFamily="49" charset="0"/>
                <a:ea typeface="华文中宋" pitchFamily="2" charset="-122"/>
                <a:cs typeface="Consolas" pitchFamily="49" charset="0"/>
              </a:rPr>
              <a:t>增加一个</a:t>
            </a:r>
            <a:r>
              <a:rPr kumimoji="1" lang="zh-CN" altLang="en-US" sz="2000" smtClean="0">
                <a:solidFill>
                  <a:srgbClr val="0000FF"/>
                </a:solidFill>
                <a:latin typeface="Consolas" pitchFamily="49" charset="0"/>
                <a:ea typeface="华文中宋" pitchFamily="2" charset="-122"/>
                <a:cs typeface="Consolas" pitchFamily="49" charset="0"/>
              </a:rPr>
              <a:t>总头结点，</a:t>
            </a:r>
            <a:r>
              <a:rPr kumimoji="1" lang="zh-CN" altLang="en-US" sz="2000" dirty="0" smtClean="0">
                <a:solidFill>
                  <a:srgbClr val="0000FF"/>
                </a:solidFill>
                <a:latin typeface="Consolas" pitchFamily="49" charset="0"/>
                <a:ea typeface="华文中宋" pitchFamily="2" charset="-122"/>
                <a:cs typeface="Consolas" pitchFamily="49" charset="0"/>
              </a:rPr>
              <a:t>并把所有行、</a:t>
            </a:r>
            <a:r>
              <a:rPr kumimoji="1" lang="zh-CN" altLang="en-US" sz="2000" smtClean="0">
                <a:solidFill>
                  <a:srgbClr val="0000FF"/>
                </a:solidFill>
                <a:latin typeface="Consolas" pitchFamily="49" charset="0"/>
                <a:ea typeface="华文中宋" pitchFamily="2" charset="-122"/>
                <a:cs typeface="Consolas" pitchFamily="49" charset="0"/>
              </a:rPr>
              <a:t>列头结点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华文中宋" pitchFamily="2" charset="-122"/>
                <a:cs typeface="Consolas" pitchFamily="49" charset="0"/>
              </a:rPr>
              <a:t>链</a:t>
            </a:r>
            <a:r>
              <a:rPr lang="zh-CN" altLang="en-US" sz="2000" dirty="0" smtClean="0">
                <a:solidFill>
                  <a:srgbClr val="0000FF"/>
                </a:solidFill>
                <a:latin typeface="Consolas" pitchFamily="49" charset="0"/>
                <a:ea typeface="华文中宋" pitchFamily="2" charset="-122"/>
                <a:cs typeface="Consolas" pitchFamily="49" charset="0"/>
              </a:rPr>
              <a:t>起来构成一个循环单链表</a:t>
            </a:r>
            <a:endParaRPr lang="zh-CN" altLang="en-US" sz="2000" dirty="0">
              <a:solidFill>
                <a:srgbClr val="0000FF"/>
              </a:solidFill>
              <a:latin typeface="Consolas" pitchFamily="49" charset="0"/>
              <a:ea typeface="华文中宋" pitchFamily="2" charset="-122"/>
              <a:cs typeface="Consolas" pitchFamily="49" charset="0"/>
            </a:endParaRPr>
          </a:p>
        </p:txBody>
      </p:sp>
      <p:cxnSp>
        <p:nvCxnSpPr>
          <p:cNvPr id="126" name="直接箭头连接符 125"/>
          <p:cNvCxnSpPr/>
          <p:nvPr/>
        </p:nvCxnSpPr>
        <p:spPr>
          <a:xfrm>
            <a:off x="1571604" y="1428736"/>
            <a:ext cx="713586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接箭头连接符 129"/>
          <p:cNvCxnSpPr/>
          <p:nvPr/>
        </p:nvCxnSpPr>
        <p:spPr>
          <a:xfrm>
            <a:off x="3357554" y="1428736"/>
            <a:ext cx="551986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接箭头连接符 133"/>
          <p:cNvCxnSpPr/>
          <p:nvPr/>
        </p:nvCxnSpPr>
        <p:spPr>
          <a:xfrm>
            <a:off x="4929190" y="1428736"/>
            <a:ext cx="570710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直接箭头连接符 139"/>
          <p:cNvCxnSpPr/>
          <p:nvPr/>
        </p:nvCxnSpPr>
        <p:spPr>
          <a:xfrm flipV="1">
            <a:off x="6500826" y="1428736"/>
            <a:ext cx="845676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组合 123"/>
          <p:cNvGrpSpPr/>
          <p:nvPr/>
        </p:nvGrpSpPr>
        <p:grpSpPr>
          <a:xfrm>
            <a:off x="1000100" y="1000108"/>
            <a:ext cx="7858974" cy="429422"/>
            <a:chOff x="1000100" y="1000108"/>
            <a:chExt cx="7858974" cy="429422"/>
          </a:xfrm>
        </p:grpSpPr>
        <p:cxnSp>
          <p:nvCxnSpPr>
            <p:cNvPr id="144" name="直接连接符 143"/>
            <p:cNvCxnSpPr/>
            <p:nvPr/>
          </p:nvCxnSpPr>
          <p:spPr>
            <a:xfrm>
              <a:off x="8429652" y="1423974"/>
              <a:ext cx="428628" cy="1588"/>
            </a:xfrm>
            <a:prstGeom prst="line">
              <a:avLst/>
            </a:prstGeom>
            <a:ln w="28575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直接连接符 151"/>
            <p:cNvCxnSpPr/>
            <p:nvPr/>
          </p:nvCxnSpPr>
          <p:spPr>
            <a:xfrm rot="5400000" flipH="1" flipV="1">
              <a:off x="8643966" y="1214422"/>
              <a:ext cx="428628" cy="1588"/>
            </a:xfrm>
            <a:prstGeom prst="line">
              <a:avLst/>
            </a:prstGeom>
            <a:ln w="28575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直接连接符 153"/>
            <p:cNvCxnSpPr/>
            <p:nvPr/>
          </p:nvCxnSpPr>
          <p:spPr>
            <a:xfrm>
              <a:off x="1000100" y="1000108"/>
              <a:ext cx="7858180" cy="1588"/>
            </a:xfrm>
            <a:prstGeom prst="line">
              <a:avLst/>
            </a:prstGeom>
            <a:ln w="28575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直接箭头连接符 155"/>
            <p:cNvCxnSpPr/>
            <p:nvPr/>
          </p:nvCxnSpPr>
          <p:spPr>
            <a:xfrm rot="5400000">
              <a:off x="861986" y="1142984"/>
              <a:ext cx="285752" cy="158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组合 127"/>
          <p:cNvGrpSpPr/>
          <p:nvPr/>
        </p:nvGrpSpPr>
        <p:grpSpPr>
          <a:xfrm>
            <a:off x="-32" y="681319"/>
            <a:ext cx="1724504" cy="1318921"/>
            <a:chOff x="-32" y="681319"/>
            <a:chExt cx="1724504" cy="1318921"/>
          </a:xfrm>
        </p:grpSpPr>
        <p:grpSp>
          <p:nvGrpSpPr>
            <p:cNvPr id="50" name="组合 28"/>
            <p:cNvGrpSpPr>
              <a:grpSpLocks noChangeAspect="1"/>
            </p:cNvGrpSpPr>
            <p:nvPr/>
          </p:nvGrpSpPr>
          <p:grpSpPr>
            <a:xfrm>
              <a:off x="427802" y="1309360"/>
              <a:ext cx="1296670" cy="690880"/>
              <a:chOff x="122238" y="1865313"/>
              <a:chExt cx="1620837" cy="863600"/>
            </a:xfrm>
          </p:grpSpPr>
          <p:sp>
            <p:nvSpPr>
              <p:cNvPr id="118" name="Rectangle 9"/>
              <p:cNvSpPr>
                <a:spLocks noChangeArrowheads="1"/>
              </p:cNvSpPr>
              <p:nvPr/>
            </p:nvSpPr>
            <p:spPr bwMode="auto">
              <a:xfrm>
                <a:off x="122238" y="1865313"/>
                <a:ext cx="539750" cy="431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r>
                  <a:rPr lang="en-US" altLang="zh-CN" sz="1800" dirty="0" smtClean="0">
                    <a:solidFill>
                      <a:srgbClr val="0000FF"/>
                    </a:solidFill>
                    <a:latin typeface="Consolas" pitchFamily="49" charset="0"/>
                    <a:cs typeface="Consolas" pitchFamily="49" charset="0"/>
                  </a:rPr>
                  <a:t>3</a:t>
                </a:r>
                <a:endParaRPr lang="zh-CN" altLang="zh-CN" sz="1800" dirty="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endParaRPr>
              </a:p>
            </p:txBody>
          </p:sp>
          <p:sp>
            <p:nvSpPr>
              <p:cNvPr id="119" name="Rectangle 10"/>
              <p:cNvSpPr>
                <a:spLocks noChangeArrowheads="1"/>
              </p:cNvSpPr>
              <p:nvPr/>
            </p:nvSpPr>
            <p:spPr bwMode="auto">
              <a:xfrm>
                <a:off x="663575" y="1865313"/>
                <a:ext cx="539750" cy="431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r>
                  <a:rPr lang="en-US" altLang="zh-CN" sz="1800" dirty="0" smtClean="0">
                    <a:solidFill>
                      <a:srgbClr val="0000FF"/>
                    </a:solidFill>
                    <a:latin typeface="Consolas" pitchFamily="49" charset="0"/>
                    <a:cs typeface="Consolas" pitchFamily="49" charset="0"/>
                  </a:rPr>
                  <a:t>4</a:t>
                </a:r>
                <a:endParaRPr lang="zh-CN" altLang="zh-CN" sz="1800" dirty="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endParaRPr>
              </a:p>
            </p:txBody>
          </p:sp>
          <p:sp>
            <p:nvSpPr>
              <p:cNvPr id="120" name="Rectangle 11"/>
              <p:cNvSpPr>
                <a:spLocks noChangeArrowheads="1"/>
              </p:cNvSpPr>
              <p:nvPr/>
            </p:nvSpPr>
            <p:spPr bwMode="auto">
              <a:xfrm>
                <a:off x="1203325" y="1865313"/>
                <a:ext cx="539750" cy="431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endParaRPr lang="zh-CN" altLang="zh-CN"/>
              </a:p>
            </p:txBody>
          </p:sp>
          <p:sp>
            <p:nvSpPr>
              <p:cNvPr id="122" name="Rectangle 12"/>
              <p:cNvSpPr>
                <a:spLocks noChangeArrowheads="1"/>
              </p:cNvSpPr>
              <p:nvPr/>
            </p:nvSpPr>
            <p:spPr bwMode="auto">
              <a:xfrm>
                <a:off x="122238" y="2297113"/>
                <a:ext cx="792162" cy="431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endParaRPr lang="zh-CN" altLang="zh-CN"/>
              </a:p>
            </p:txBody>
          </p:sp>
          <p:sp>
            <p:nvSpPr>
              <p:cNvPr id="123" name="Rectangle 13"/>
              <p:cNvSpPr>
                <a:spLocks noChangeArrowheads="1"/>
              </p:cNvSpPr>
              <p:nvPr/>
            </p:nvSpPr>
            <p:spPr bwMode="auto">
              <a:xfrm>
                <a:off x="915988" y="2297113"/>
                <a:ext cx="827087" cy="431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endParaRPr lang="zh-CN" altLang="zh-CN"/>
              </a:p>
            </p:txBody>
          </p:sp>
        </p:grpSp>
        <p:cxnSp>
          <p:nvCxnSpPr>
            <p:cNvPr id="158" name="直接箭头连接符 157"/>
            <p:cNvCxnSpPr>
              <a:endCxn id="118" idx="0"/>
            </p:cNvCxnSpPr>
            <p:nvPr/>
          </p:nvCxnSpPr>
          <p:spPr>
            <a:xfrm rot="16200000" flipH="1">
              <a:off x="381523" y="1047181"/>
              <a:ext cx="309252" cy="215106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9" name="TextBox 158"/>
            <p:cNvSpPr txBox="1"/>
            <p:nvPr/>
          </p:nvSpPr>
          <p:spPr>
            <a:xfrm>
              <a:off x="-32" y="681319"/>
              <a:ext cx="50003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200" i="1" dirty="0" smtClean="0">
                  <a:latin typeface="Consolas" pitchFamily="49" charset="0"/>
                  <a:cs typeface="Consolas" pitchFamily="49" charset="0"/>
                </a:rPr>
                <a:t>h</a:t>
              </a:r>
              <a:endParaRPr lang="zh-CN" altLang="en-US" sz="2200" i="1" dirty="0">
                <a:latin typeface="Consolas" pitchFamily="49" charset="0"/>
                <a:cs typeface="Consolas" pitchFamily="49" charset="0"/>
              </a:endParaRPr>
            </a:p>
          </p:txBody>
        </p:sp>
      </p:grpSp>
      <p:sp>
        <p:nvSpPr>
          <p:cNvPr id="132" name="TextBox 131"/>
          <p:cNvSpPr txBox="1"/>
          <p:nvPr/>
        </p:nvSpPr>
        <p:spPr>
          <a:xfrm>
            <a:off x="2357422" y="6072206"/>
            <a:ext cx="37862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2000" smtClean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总的头结点个数</a:t>
            </a:r>
            <a:r>
              <a:rPr lang="en-US" altLang="zh-CN" sz="2000" dirty="0" smtClean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=</a:t>
            </a:r>
            <a:r>
              <a:rPr lang="en-US" altLang="zh-CN" sz="2000" smtClean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MAX(</a:t>
            </a:r>
            <a:r>
              <a:rPr lang="en-US" altLang="zh-CN" sz="2000" i="1" err="1" smtClean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m</a:t>
            </a:r>
            <a:r>
              <a:rPr lang="en-US" altLang="zh-CN" sz="2000" err="1" smtClean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,</a:t>
            </a:r>
            <a:r>
              <a:rPr lang="en-US" altLang="zh-CN" sz="2000" i="1" err="1" smtClean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n</a:t>
            </a:r>
            <a:r>
              <a:rPr lang="en-US" altLang="zh-CN" sz="2000" smtClean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)+1</a:t>
            </a:r>
            <a:endParaRPr lang="zh-CN" altLang="en-US" sz="2000" dirty="0">
              <a:solidFill>
                <a:srgbClr val="FF0000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sp>
        <p:nvSpPr>
          <p:cNvPr id="157" name="灯片编号占位符 15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12</a:t>
            </a:fld>
            <a:r>
              <a:rPr lang="en-US" altLang="zh-CN" smtClean="0"/>
              <a:t>/68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1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4"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" dur="10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0"/>
                            </p:stCondLst>
                            <p:childTnLst>
                              <p:par>
                                <p:cTn id="24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6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65" name="Rectangle 13"/>
          <p:cNvSpPr>
            <a:spLocks noChangeArrowheads="1"/>
          </p:cNvSpPr>
          <p:nvPr/>
        </p:nvSpPr>
        <p:spPr bwMode="auto">
          <a:xfrm>
            <a:off x="0" y="2962275"/>
            <a:ext cx="91440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/>
            <a:r>
              <a:rPr kumimoji="1" lang="en-US" altLang="zh-CN" sz="1000" b="0">
                <a:solidFill>
                  <a:schemeClr val="tx1"/>
                </a:solidFill>
                <a:ea typeface="宋体" pitchFamily="2" charset="-122"/>
              </a:rPr>
              <a:t> </a:t>
            </a:r>
          </a:p>
          <a:p>
            <a:pPr algn="l" eaLnBrk="0" hangingPunct="0"/>
            <a:endParaRPr kumimoji="1" lang="en-US" altLang="zh-CN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49166" name="Rectangle 14"/>
          <p:cNvSpPr>
            <a:spLocks noChangeArrowheads="1"/>
          </p:cNvSpPr>
          <p:nvPr/>
        </p:nvSpPr>
        <p:spPr bwMode="auto">
          <a:xfrm>
            <a:off x="1214414" y="3429000"/>
            <a:ext cx="6215106" cy="3139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kumimoji="1" lang="en-US" altLang="zh-CN" sz="1800" b="0" dirty="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(a</a:t>
            </a: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 </a:t>
            </a:r>
            <a:r>
              <a:rPr kumimoji="1" lang="zh-CN" altLang="en-US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非</a:t>
            </a:r>
            <a:r>
              <a:rPr kumimoji="1"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0</a:t>
            </a:r>
            <a:r>
              <a:rPr kumimoji="1" lang="zh-CN" altLang="en-US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元素结点结构              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(b</a:t>
            </a: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 </a:t>
            </a:r>
            <a:r>
              <a:rPr kumimoji="1" lang="zh-CN" altLang="en-US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头结点结构</a:t>
            </a:r>
            <a:endParaRPr kumimoji="1" lang="zh-CN" altLang="en-US" sz="1800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49168" name="Text Box 16"/>
          <p:cNvSpPr txBox="1">
            <a:spLocks noChangeArrowheads="1"/>
          </p:cNvSpPr>
          <p:nvPr/>
        </p:nvSpPr>
        <p:spPr bwMode="auto">
          <a:xfrm>
            <a:off x="457200" y="838200"/>
            <a:ext cx="7543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endParaRPr kumimoji="1" lang="zh-CN" altLang="zh-CN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49170" name="Rectangle 18"/>
          <p:cNvSpPr>
            <a:spLocks noChangeArrowheads="1"/>
          </p:cNvSpPr>
          <p:nvPr/>
        </p:nvSpPr>
        <p:spPr bwMode="auto">
          <a:xfrm>
            <a:off x="684213" y="2349500"/>
            <a:ext cx="1081087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en-US" altLang="zh-CN" sz="1600" i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i</a:t>
            </a:r>
            <a:endParaRPr lang="en-US" altLang="zh-CN" sz="1600" i="1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9171" name="Rectangle 19"/>
          <p:cNvSpPr>
            <a:spLocks noChangeArrowheads="1"/>
          </p:cNvSpPr>
          <p:nvPr/>
        </p:nvSpPr>
        <p:spPr bwMode="auto">
          <a:xfrm>
            <a:off x="1765300" y="2349500"/>
            <a:ext cx="1081088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en-US" altLang="zh-CN" sz="1600" i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j</a:t>
            </a:r>
            <a:endParaRPr lang="en-US" altLang="zh-CN" sz="1600" i="1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9172" name="Rectangle 20"/>
          <p:cNvSpPr>
            <a:spLocks noChangeArrowheads="1"/>
          </p:cNvSpPr>
          <p:nvPr/>
        </p:nvSpPr>
        <p:spPr bwMode="auto">
          <a:xfrm>
            <a:off x="2844800" y="2349500"/>
            <a:ext cx="1081088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en-US" altLang="zh-CN" sz="160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value</a:t>
            </a:r>
          </a:p>
        </p:txBody>
      </p:sp>
      <p:sp>
        <p:nvSpPr>
          <p:cNvPr id="49173" name="Rectangle 21"/>
          <p:cNvSpPr>
            <a:spLocks noChangeArrowheads="1"/>
          </p:cNvSpPr>
          <p:nvPr/>
        </p:nvSpPr>
        <p:spPr bwMode="auto">
          <a:xfrm>
            <a:off x="684213" y="2781300"/>
            <a:ext cx="1657350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en-US" altLang="zh-CN" sz="160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down</a:t>
            </a:r>
          </a:p>
        </p:txBody>
      </p:sp>
      <p:sp>
        <p:nvSpPr>
          <p:cNvPr id="49174" name="Rectangle 22"/>
          <p:cNvSpPr>
            <a:spLocks noChangeArrowheads="1"/>
          </p:cNvSpPr>
          <p:nvPr/>
        </p:nvSpPr>
        <p:spPr bwMode="auto">
          <a:xfrm>
            <a:off x="2341563" y="2781300"/>
            <a:ext cx="1584325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en-US" altLang="zh-CN" sz="160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right</a:t>
            </a:r>
          </a:p>
        </p:txBody>
      </p:sp>
      <p:sp>
        <p:nvSpPr>
          <p:cNvPr id="49175" name="Rectangle 23"/>
          <p:cNvSpPr>
            <a:spLocks noChangeArrowheads="1"/>
          </p:cNvSpPr>
          <p:nvPr/>
        </p:nvSpPr>
        <p:spPr bwMode="auto">
          <a:xfrm>
            <a:off x="4786313" y="2349500"/>
            <a:ext cx="1081087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en-US" altLang="zh-CN" sz="1600" i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i</a:t>
            </a:r>
            <a:endParaRPr lang="en-US" altLang="zh-CN" sz="1600" i="1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9176" name="Rectangle 24"/>
          <p:cNvSpPr>
            <a:spLocks noChangeArrowheads="1"/>
          </p:cNvSpPr>
          <p:nvPr/>
        </p:nvSpPr>
        <p:spPr bwMode="auto">
          <a:xfrm>
            <a:off x="5867400" y="2349500"/>
            <a:ext cx="1081088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en-US" altLang="zh-CN" sz="1600" i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j</a:t>
            </a:r>
            <a:endParaRPr lang="en-US" altLang="zh-CN" sz="1600" i="1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9177" name="Rectangle 25"/>
          <p:cNvSpPr>
            <a:spLocks noChangeArrowheads="1"/>
          </p:cNvSpPr>
          <p:nvPr/>
        </p:nvSpPr>
        <p:spPr bwMode="auto">
          <a:xfrm>
            <a:off x="6946900" y="2349500"/>
            <a:ext cx="1081088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en-US" altLang="zh-CN" sz="16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link</a:t>
            </a:r>
            <a:endParaRPr lang="en-US" altLang="zh-CN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9178" name="Rectangle 26"/>
          <p:cNvSpPr>
            <a:spLocks noChangeArrowheads="1"/>
          </p:cNvSpPr>
          <p:nvPr/>
        </p:nvSpPr>
        <p:spPr bwMode="auto">
          <a:xfrm>
            <a:off x="4786313" y="2781300"/>
            <a:ext cx="1657350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en-US" altLang="zh-CN" sz="160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down</a:t>
            </a:r>
          </a:p>
        </p:txBody>
      </p:sp>
      <p:sp>
        <p:nvSpPr>
          <p:cNvPr id="49179" name="Rectangle 27"/>
          <p:cNvSpPr>
            <a:spLocks noChangeArrowheads="1"/>
          </p:cNvSpPr>
          <p:nvPr/>
        </p:nvSpPr>
        <p:spPr bwMode="auto">
          <a:xfrm>
            <a:off x="6443663" y="2781300"/>
            <a:ext cx="1584325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en-US" altLang="zh-CN" sz="160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right</a:t>
            </a:r>
          </a:p>
        </p:txBody>
      </p:sp>
      <p:sp>
        <p:nvSpPr>
          <p:cNvPr id="49180" name="Text Box 28"/>
          <p:cNvSpPr txBox="1">
            <a:spLocks noChangeArrowheads="1"/>
          </p:cNvSpPr>
          <p:nvPr/>
        </p:nvSpPr>
        <p:spPr bwMode="auto">
          <a:xfrm>
            <a:off x="539751" y="1052513"/>
            <a:ext cx="3532184" cy="338554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0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为了统一</a:t>
            </a:r>
            <a:r>
              <a: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设计结点类型</a:t>
            </a:r>
            <a:r>
              <a:rPr lang="zh-CN" altLang="en-US" sz="20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如下：</a:t>
            </a:r>
          </a:p>
        </p:txBody>
      </p:sp>
      <p:grpSp>
        <p:nvGrpSpPr>
          <p:cNvPr id="2" name="组合 20"/>
          <p:cNvGrpSpPr/>
          <p:nvPr/>
        </p:nvGrpSpPr>
        <p:grpSpPr>
          <a:xfrm>
            <a:off x="3500430" y="2643182"/>
            <a:ext cx="3714776" cy="1742692"/>
            <a:chOff x="3500430" y="2643182"/>
            <a:chExt cx="3714776" cy="1742692"/>
          </a:xfrm>
        </p:grpSpPr>
        <p:cxnSp>
          <p:nvCxnSpPr>
            <p:cNvPr id="17" name="直接箭头连接符 16"/>
            <p:cNvCxnSpPr/>
            <p:nvPr/>
          </p:nvCxnSpPr>
          <p:spPr>
            <a:xfrm rot="16200000" flipV="1">
              <a:off x="3214678" y="3000372"/>
              <a:ext cx="1357322" cy="78581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箭头连接符 18"/>
            <p:cNvCxnSpPr/>
            <p:nvPr/>
          </p:nvCxnSpPr>
          <p:spPr>
            <a:xfrm flipV="1">
              <a:off x="4643438" y="2643182"/>
              <a:ext cx="2571768" cy="142876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3643306" y="4071942"/>
              <a:ext cx="2071702" cy="3139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00" smtClean="0">
                  <a:solidFill>
                    <a:srgbClr val="0000FF"/>
                  </a:solidFill>
                  <a:latin typeface="楷体" pitchFamily="49" charset="-122"/>
                  <a:ea typeface="楷体" pitchFamily="49" charset="-122"/>
                </a:rPr>
                <a:t>用标识</a:t>
              </a:r>
              <a:r>
                <a:rPr lang="en-US" altLang="zh-CN" sz="1800" smtClean="0">
                  <a:solidFill>
                    <a:srgbClr val="0000FF"/>
                  </a:solidFill>
                  <a:latin typeface="楷体" pitchFamily="49" charset="-122"/>
                  <a:ea typeface="楷体" pitchFamily="49" charset="-122"/>
                </a:rPr>
                <a:t>tag</a:t>
              </a:r>
              <a:r>
                <a:rPr lang="zh-CN" altLang="en-US" sz="1800" smtClean="0">
                  <a:solidFill>
                    <a:srgbClr val="0000FF"/>
                  </a:solidFill>
                  <a:latin typeface="楷体" pitchFamily="49" charset="-122"/>
                  <a:ea typeface="楷体" pitchFamily="49" charset="-122"/>
                </a:rPr>
                <a:t>区分</a:t>
              </a:r>
              <a:endParaRPr lang="zh-CN" altLang="en-US" sz="1800">
                <a:solidFill>
                  <a:srgbClr val="0000FF"/>
                </a:solidFill>
                <a:latin typeface="楷体" pitchFamily="49" charset="-122"/>
                <a:ea typeface="楷体" pitchFamily="49" charset="-122"/>
              </a:endParaRPr>
            </a:p>
          </p:txBody>
        </p:sp>
      </p:grpSp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13</a:t>
            </a:fld>
            <a:r>
              <a:rPr lang="en-US" altLang="zh-CN" smtClean="0"/>
              <a:t>/68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78"/>
          <p:cNvGrpSpPr/>
          <p:nvPr/>
        </p:nvGrpSpPr>
        <p:grpSpPr>
          <a:xfrm>
            <a:off x="3000364" y="2571744"/>
            <a:ext cx="5286412" cy="357190"/>
            <a:chOff x="3000364" y="2143116"/>
            <a:chExt cx="5286412" cy="357190"/>
          </a:xfrm>
        </p:grpSpPr>
        <p:grpSp>
          <p:nvGrpSpPr>
            <p:cNvPr id="6" name="组合 4"/>
            <p:cNvGrpSpPr/>
            <p:nvPr/>
          </p:nvGrpSpPr>
          <p:grpSpPr>
            <a:xfrm>
              <a:off x="3000364" y="2143116"/>
              <a:ext cx="2000264" cy="357190"/>
              <a:chOff x="2357422" y="1571612"/>
              <a:chExt cx="2000264" cy="357190"/>
            </a:xfrm>
          </p:grpSpPr>
          <p:sp>
            <p:nvSpPr>
              <p:cNvPr id="2" name="矩形 1"/>
              <p:cNvSpPr/>
              <p:nvPr/>
            </p:nvSpPr>
            <p:spPr>
              <a:xfrm>
                <a:off x="2357422" y="1571612"/>
                <a:ext cx="785818" cy="357190"/>
              </a:xfrm>
              <a:prstGeom prst="rect">
                <a:avLst/>
              </a:prstGeom>
              <a:ln/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smtClean="0">
                    <a:solidFill>
                      <a:srgbClr val="0000FF"/>
                    </a:solidFill>
                    <a:latin typeface="Consolas" pitchFamily="49" charset="0"/>
                    <a:ea typeface="仿宋" pitchFamily="49" charset="-122"/>
                    <a:cs typeface="Consolas" pitchFamily="49" charset="0"/>
                  </a:rPr>
                  <a:t>1011</a:t>
                </a:r>
                <a:endParaRPr lang="zh-CN" altLang="en-US" sz="16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endParaRPr>
              </a:p>
            </p:txBody>
          </p:sp>
          <p:sp>
            <p:nvSpPr>
              <p:cNvPr id="3" name="矩形 2"/>
              <p:cNvSpPr/>
              <p:nvPr/>
            </p:nvSpPr>
            <p:spPr>
              <a:xfrm>
                <a:off x="3143240" y="1571612"/>
                <a:ext cx="785818" cy="357190"/>
              </a:xfrm>
              <a:prstGeom prst="rect">
                <a:avLst/>
              </a:prstGeom>
              <a:ln/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600" smtClean="0">
                    <a:solidFill>
                      <a:srgbClr val="0000FF"/>
                    </a:solidFill>
                    <a:latin typeface="Consolas" pitchFamily="49" charset="0"/>
                    <a:ea typeface="仿宋" pitchFamily="49" charset="-122"/>
                    <a:cs typeface="Consolas" pitchFamily="49" charset="0"/>
                  </a:rPr>
                  <a:t>张三</a:t>
                </a:r>
                <a:endParaRPr lang="zh-CN" altLang="en-US" sz="16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endParaRPr>
              </a:p>
            </p:txBody>
          </p:sp>
          <p:sp>
            <p:nvSpPr>
              <p:cNvPr id="4" name="矩形 3"/>
              <p:cNvSpPr/>
              <p:nvPr/>
            </p:nvSpPr>
            <p:spPr>
              <a:xfrm>
                <a:off x="3929058" y="1571612"/>
                <a:ext cx="428628" cy="357190"/>
              </a:xfrm>
              <a:prstGeom prst="rect">
                <a:avLst/>
              </a:prstGeom>
              <a:ln/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endParaRPr>
              </a:p>
            </p:txBody>
          </p:sp>
        </p:grpSp>
        <p:grpSp>
          <p:nvGrpSpPr>
            <p:cNvPr id="10" name="组合 5"/>
            <p:cNvGrpSpPr/>
            <p:nvPr/>
          </p:nvGrpSpPr>
          <p:grpSpPr>
            <a:xfrm>
              <a:off x="5357818" y="2143116"/>
              <a:ext cx="2000264" cy="357190"/>
              <a:chOff x="2357422" y="1571612"/>
              <a:chExt cx="2000264" cy="357190"/>
            </a:xfrm>
          </p:grpSpPr>
          <p:sp>
            <p:nvSpPr>
              <p:cNvPr id="7" name="矩形 6"/>
              <p:cNvSpPr/>
              <p:nvPr/>
            </p:nvSpPr>
            <p:spPr>
              <a:xfrm>
                <a:off x="2357422" y="1571612"/>
                <a:ext cx="785818" cy="357190"/>
              </a:xfrm>
              <a:prstGeom prst="rect">
                <a:avLst/>
              </a:prstGeom>
              <a:ln/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smtClean="0">
                    <a:solidFill>
                      <a:srgbClr val="0000FF"/>
                    </a:solidFill>
                    <a:latin typeface="Consolas" pitchFamily="49" charset="0"/>
                    <a:ea typeface="仿宋" pitchFamily="49" charset="-122"/>
                    <a:cs typeface="Consolas" pitchFamily="49" charset="0"/>
                  </a:rPr>
                  <a:t>1013</a:t>
                </a:r>
                <a:endParaRPr lang="zh-CN" altLang="en-US" sz="16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endParaRPr>
              </a:p>
            </p:txBody>
          </p:sp>
          <p:sp>
            <p:nvSpPr>
              <p:cNvPr id="8" name="矩形 7"/>
              <p:cNvSpPr/>
              <p:nvPr/>
            </p:nvSpPr>
            <p:spPr>
              <a:xfrm>
                <a:off x="3143240" y="1571612"/>
                <a:ext cx="785818" cy="357190"/>
              </a:xfrm>
              <a:prstGeom prst="rect">
                <a:avLst/>
              </a:prstGeom>
              <a:ln/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600" smtClean="0">
                    <a:solidFill>
                      <a:srgbClr val="0000FF"/>
                    </a:solidFill>
                    <a:latin typeface="Consolas" pitchFamily="49" charset="0"/>
                    <a:ea typeface="仿宋" pitchFamily="49" charset="-122"/>
                    <a:cs typeface="Consolas" pitchFamily="49" charset="0"/>
                  </a:rPr>
                  <a:t>李四</a:t>
                </a:r>
                <a:endParaRPr lang="zh-CN" altLang="en-US" sz="16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endParaRPr>
              </a:p>
            </p:txBody>
          </p:sp>
          <p:sp>
            <p:nvSpPr>
              <p:cNvPr id="9" name="矩形 8"/>
              <p:cNvSpPr/>
              <p:nvPr/>
            </p:nvSpPr>
            <p:spPr>
              <a:xfrm>
                <a:off x="3929058" y="1571612"/>
                <a:ext cx="428628" cy="357190"/>
              </a:xfrm>
              <a:prstGeom prst="rect">
                <a:avLst/>
              </a:prstGeom>
              <a:ln/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endParaRPr>
              </a:p>
            </p:txBody>
          </p:sp>
        </p:grpSp>
        <p:cxnSp>
          <p:nvCxnSpPr>
            <p:cNvPr id="11" name="直接箭头连接符 10"/>
            <p:cNvCxnSpPr/>
            <p:nvPr/>
          </p:nvCxnSpPr>
          <p:spPr>
            <a:xfrm flipV="1">
              <a:off x="4786314" y="2321711"/>
              <a:ext cx="571504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箭头连接符 11"/>
            <p:cNvCxnSpPr/>
            <p:nvPr/>
          </p:nvCxnSpPr>
          <p:spPr>
            <a:xfrm flipV="1">
              <a:off x="7143768" y="2324092"/>
              <a:ext cx="571504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>
              <a:off x="7715272" y="2186374"/>
              <a:ext cx="571504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+mj-ea"/>
                  <a:ea typeface="+mj-ea"/>
                  <a:cs typeface="Consolas" pitchFamily="49" charset="0"/>
                </a:rPr>
                <a:t>…</a:t>
              </a:r>
              <a:endParaRPr lang="zh-CN" altLang="en-US" sz="1600">
                <a:solidFill>
                  <a:srgbClr val="0000FF"/>
                </a:solidFill>
                <a:latin typeface="+mj-ea"/>
                <a:ea typeface="+mj-ea"/>
                <a:cs typeface="Consolas" pitchFamily="49" charset="0"/>
              </a:endParaRPr>
            </a:p>
          </p:txBody>
        </p:sp>
      </p:grpSp>
      <p:grpSp>
        <p:nvGrpSpPr>
          <p:cNvPr id="14" name="组合 79"/>
          <p:cNvGrpSpPr/>
          <p:nvPr/>
        </p:nvGrpSpPr>
        <p:grpSpPr>
          <a:xfrm>
            <a:off x="785786" y="2571744"/>
            <a:ext cx="2214578" cy="357190"/>
            <a:chOff x="785786" y="2143116"/>
            <a:chExt cx="2214578" cy="357190"/>
          </a:xfrm>
        </p:grpSpPr>
        <p:grpSp>
          <p:nvGrpSpPr>
            <p:cNvPr id="19" name="组合 13"/>
            <p:cNvGrpSpPr/>
            <p:nvPr/>
          </p:nvGrpSpPr>
          <p:grpSpPr>
            <a:xfrm>
              <a:off x="785786" y="2143116"/>
              <a:ext cx="2000264" cy="357190"/>
              <a:chOff x="2357422" y="1571612"/>
              <a:chExt cx="2000264" cy="357190"/>
            </a:xfrm>
          </p:grpSpPr>
          <p:sp>
            <p:nvSpPr>
              <p:cNvPr id="15" name="矩形 14"/>
              <p:cNvSpPr/>
              <p:nvPr/>
            </p:nvSpPr>
            <p:spPr>
              <a:xfrm>
                <a:off x="2357422" y="1571612"/>
                <a:ext cx="785818" cy="357190"/>
              </a:xfrm>
              <a:prstGeom prst="rect">
                <a:avLst/>
              </a:prstGeom>
              <a:ln/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smtClean="0">
                    <a:solidFill>
                      <a:srgbClr val="0000FF"/>
                    </a:solidFill>
                    <a:latin typeface="Consolas" pitchFamily="49" charset="0"/>
                    <a:ea typeface="仿宋" pitchFamily="49" charset="-122"/>
                    <a:cs typeface="Consolas" pitchFamily="49" charset="0"/>
                  </a:rPr>
                  <a:t>1</a:t>
                </a:r>
                <a:r>
                  <a:rPr lang="zh-CN" altLang="en-US" sz="1600" smtClean="0">
                    <a:solidFill>
                      <a:srgbClr val="0000FF"/>
                    </a:solidFill>
                    <a:latin typeface="Consolas" pitchFamily="49" charset="0"/>
                    <a:ea typeface="仿宋" pitchFamily="49" charset="-122"/>
                    <a:cs typeface="Consolas" pitchFamily="49" charset="0"/>
                  </a:rPr>
                  <a:t>班</a:t>
                </a:r>
                <a:endParaRPr lang="zh-CN" altLang="en-US" sz="16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endParaRPr>
              </a:p>
            </p:txBody>
          </p:sp>
          <p:sp>
            <p:nvSpPr>
              <p:cNvPr id="16" name="矩形 15"/>
              <p:cNvSpPr/>
              <p:nvPr/>
            </p:nvSpPr>
            <p:spPr>
              <a:xfrm>
                <a:off x="3143240" y="1571612"/>
                <a:ext cx="785818" cy="357190"/>
              </a:xfrm>
              <a:prstGeom prst="rect">
                <a:avLst/>
              </a:prstGeom>
              <a:ln/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endParaRPr>
              </a:p>
            </p:txBody>
          </p:sp>
          <p:sp>
            <p:nvSpPr>
              <p:cNvPr id="17" name="矩形 16"/>
              <p:cNvSpPr/>
              <p:nvPr/>
            </p:nvSpPr>
            <p:spPr>
              <a:xfrm>
                <a:off x="3929058" y="1571612"/>
                <a:ext cx="428628" cy="357190"/>
              </a:xfrm>
              <a:prstGeom prst="rect">
                <a:avLst/>
              </a:prstGeom>
              <a:ln/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endParaRPr>
              </a:p>
            </p:txBody>
          </p:sp>
        </p:grpSp>
        <p:cxnSp>
          <p:nvCxnSpPr>
            <p:cNvPr id="18" name="直接箭头连接符 17"/>
            <p:cNvCxnSpPr/>
            <p:nvPr/>
          </p:nvCxnSpPr>
          <p:spPr>
            <a:xfrm flipV="1">
              <a:off x="2428860" y="2311392"/>
              <a:ext cx="571504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组合 80"/>
          <p:cNvGrpSpPr/>
          <p:nvPr/>
        </p:nvGrpSpPr>
        <p:grpSpPr>
          <a:xfrm>
            <a:off x="785786" y="3286124"/>
            <a:ext cx="7500990" cy="357190"/>
            <a:chOff x="785786" y="2857496"/>
            <a:chExt cx="7500990" cy="357190"/>
          </a:xfrm>
        </p:grpSpPr>
        <p:grpSp>
          <p:nvGrpSpPr>
            <p:cNvPr id="30" name="组合 18"/>
            <p:cNvGrpSpPr/>
            <p:nvPr/>
          </p:nvGrpSpPr>
          <p:grpSpPr>
            <a:xfrm>
              <a:off x="3000364" y="2857496"/>
              <a:ext cx="2000264" cy="357190"/>
              <a:chOff x="2357422" y="1571612"/>
              <a:chExt cx="2000264" cy="357190"/>
            </a:xfrm>
          </p:grpSpPr>
          <p:sp>
            <p:nvSpPr>
              <p:cNvPr id="20" name="矩形 19"/>
              <p:cNvSpPr/>
              <p:nvPr/>
            </p:nvSpPr>
            <p:spPr>
              <a:xfrm>
                <a:off x="2357422" y="1571612"/>
                <a:ext cx="785818" cy="357190"/>
              </a:xfrm>
              <a:prstGeom prst="rect">
                <a:avLst/>
              </a:prstGeom>
              <a:ln/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smtClean="0">
                    <a:solidFill>
                      <a:srgbClr val="0000FF"/>
                    </a:solidFill>
                    <a:latin typeface="Consolas" pitchFamily="49" charset="0"/>
                    <a:ea typeface="仿宋" pitchFamily="49" charset="-122"/>
                    <a:cs typeface="Consolas" pitchFamily="49" charset="0"/>
                  </a:rPr>
                  <a:t>1028</a:t>
                </a:r>
                <a:endParaRPr lang="zh-CN" altLang="en-US" sz="16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endParaRPr>
              </a:p>
            </p:txBody>
          </p:sp>
          <p:sp>
            <p:nvSpPr>
              <p:cNvPr id="21" name="矩形 20"/>
              <p:cNvSpPr/>
              <p:nvPr/>
            </p:nvSpPr>
            <p:spPr>
              <a:xfrm>
                <a:off x="3143240" y="1571612"/>
                <a:ext cx="785818" cy="357190"/>
              </a:xfrm>
              <a:prstGeom prst="rect">
                <a:avLst/>
              </a:prstGeom>
              <a:ln/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600" smtClean="0">
                    <a:solidFill>
                      <a:srgbClr val="0000FF"/>
                    </a:solidFill>
                    <a:latin typeface="Consolas" pitchFamily="49" charset="0"/>
                    <a:ea typeface="仿宋" pitchFamily="49" charset="-122"/>
                    <a:cs typeface="Consolas" pitchFamily="49" charset="0"/>
                  </a:rPr>
                  <a:t>王五</a:t>
                </a:r>
                <a:endParaRPr lang="zh-CN" altLang="en-US" sz="16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endParaRPr>
              </a:p>
            </p:txBody>
          </p:sp>
          <p:sp>
            <p:nvSpPr>
              <p:cNvPr id="22" name="矩形 21"/>
              <p:cNvSpPr/>
              <p:nvPr/>
            </p:nvSpPr>
            <p:spPr>
              <a:xfrm>
                <a:off x="3929058" y="1571612"/>
                <a:ext cx="428628" cy="357190"/>
              </a:xfrm>
              <a:prstGeom prst="rect">
                <a:avLst/>
              </a:prstGeom>
              <a:ln/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endParaRPr>
              </a:p>
            </p:txBody>
          </p:sp>
        </p:grpSp>
        <p:grpSp>
          <p:nvGrpSpPr>
            <p:cNvPr id="35" name="组合 22"/>
            <p:cNvGrpSpPr/>
            <p:nvPr/>
          </p:nvGrpSpPr>
          <p:grpSpPr>
            <a:xfrm>
              <a:off x="5357818" y="2857496"/>
              <a:ext cx="2000264" cy="357190"/>
              <a:chOff x="2357422" y="1571612"/>
              <a:chExt cx="2000264" cy="357190"/>
            </a:xfrm>
          </p:grpSpPr>
          <p:sp>
            <p:nvSpPr>
              <p:cNvPr id="24" name="矩形 23"/>
              <p:cNvSpPr/>
              <p:nvPr/>
            </p:nvSpPr>
            <p:spPr>
              <a:xfrm>
                <a:off x="2357422" y="1571612"/>
                <a:ext cx="785818" cy="357190"/>
              </a:xfrm>
              <a:prstGeom prst="rect">
                <a:avLst/>
              </a:prstGeom>
              <a:ln/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smtClean="0">
                    <a:solidFill>
                      <a:srgbClr val="0000FF"/>
                    </a:solidFill>
                    <a:latin typeface="Consolas" pitchFamily="49" charset="0"/>
                    <a:ea typeface="仿宋" pitchFamily="49" charset="-122"/>
                    <a:cs typeface="Consolas" pitchFamily="49" charset="0"/>
                  </a:rPr>
                  <a:t>1029</a:t>
                </a:r>
                <a:endParaRPr lang="zh-CN" altLang="en-US" sz="16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endParaRPr>
              </a:p>
            </p:txBody>
          </p:sp>
          <p:sp>
            <p:nvSpPr>
              <p:cNvPr id="25" name="矩形 24"/>
              <p:cNvSpPr/>
              <p:nvPr/>
            </p:nvSpPr>
            <p:spPr>
              <a:xfrm>
                <a:off x="3143240" y="1571612"/>
                <a:ext cx="785818" cy="357190"/>
              </a:xfrm>
              <a:prstGeom prst="rect">
                <a:avLst/>
              </a:prstGeom>
              <a:ln/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600" smtClean="0">
                    <a:solidFill>
                      <a:srgbClr val="0000FF"/>
                    </a:solidFill>
                    <a:latin typeface="Consolas" pitchFamily="49" charset="0"/>
                    <a:ea typeface="仿宋" pitchFamily="49" charset="-122"/>
                    <a:cs typeface="Consolas" pitchFamily="49" charset="0"/>
                  </a:rPr>
                  <a:t>刘六</a:t>
                </a:r>
                <a:endParaRPr lang="zh-CN" altLang="en-US" sz="16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endParaRPr>
              </a:p>
            </p:txBody>
          </p:sp>
          <p:sp>
            <p:nvSpPr>
              <p:cNvPr id="26" name="矩形 25"/>
              <p:cNvSpPr/>
              <p:nvPr/>
            </p:nvSpPr>
            <p:spPr>
              <a:xfrm>
                <a:off x="3929058" y="1571612"/>
                <a:ext cx="428628" cy="357190"/>
              </a:xfrm>
              <a:prstGeom prst="rect">
                <a:avLst/>
              </a:prstGeom>
              <a:ln/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endParaRPr>
              </a:p>
            </p:txBody>
          </p:sp>
        </p:grpSp>
        <p:cxnSp>
          <p:nvCxnSpPr>
            <p:cNvPr id="27" name="直接箭头连接符 26"/>
            <p:cNvCxnSpPr/>
            <p:nvPr/>
          </p:nvCxnSpPr>
          <p:spPr>
            <a:xfrm flipV="1">
              <a:off x="4786314" y="3036091"/>
              <a:ext cx="571504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箭头连接符 27"/>
            <p:cNvCxnSpPr/>
            <p:nvPr/>
          </p:nvCxnSpPr>
          <p:spPr>
            <a:xfrm flipV="1">
              <a:off x="7143768" y="3038472"/>
              <a:ext cx="571504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/>
            <p:cNvSpPr txBox="1"/>
            <p:nvPr/>
          </p:nvSpPr>
          <p:spPr>
            <a:xfrm>
              <a:off x="7715272" y="2900754"/>
              <a:ext cx="571504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+mj-ea"/>
                  <a:ea typeface="+mj-ea"/>
                  <a:cs typeface="Consolas" pitchFamily="49" charset="0"/>
                </a:rPr>
                <a:t>…</a:t>
              </a:r>
              <a:endParaRPr lang="zh-CN" altLang="en-US" sz="1600">
                <a:solidFill>
                  <a:srgbClr val="0000FF"/>
                </a:solidFill>
                <a:latin typeface="+mj-ea"/>
                <a:ea typeface="+mj-ea"/>
                <a:cs typeface="Consolas" pitchFamily="49" charset="0"/>
              </a:endParaRPr>
            </a:p>
          </p:txBody>
        </p:sp>
        <p:grpSp>
          <p:nvGrpSpPr>
            <p:cNvPr id="39" name="组合 29"/>
            <p:cNvGrpSpPr/>
            <p:nvPr/>
          </p:nvGrpSpPr>
          <p:grpSpPr>
            <a:xfrm>
              <a:off x="785786" y="2857496"/>
              <a:ext cx="2000264" cy="357190"/>
              <a:chOff x="2357422" y="1571612"/>
              <a:chExt cx="2000264" cy="357190"/>
            </a:xfrm>
          </p:grpSpPr>
          <p:sp>
            <p:nvSpPr>
              <p:cNvPr id="31" name="矩形 30"/>
              <p:cNvSpPr/>
              <p:nvPr/>
            </p:nvSpPr>
            <p:spPr>
              <a:xfrm>
                <a:off x="2357422" y="1571612"/>
                <a:ext cx="785818" cy="357190"/>
              </a:xfrm>
              <a:prstGeom prst="rect">
                <a:avLst/>
              </a:prstGeom>
              <a:ln/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smtClean="0">
                    <a:solidFill>
                      <a:srgbClr val="0000FF"/>
                    </a:solidFill>
                    <a:latin typeface="Consolas" pitchFamily="49" charset="0"/>
                    <a:ea typeface="仿宋" pitchFamily="49" charset="-122"/>
                    <a:cs typeface="Consolas" pitchFamily="49" charset="0"/>
                  </a:rPr>
                  <a:t>2</a:t>
                </a:r>
                <a:r>
                  <a:rPr lang="zh-CN" altLang="en-US" sz="1600" smtClean="0">
                    <a:solidFill>
                      <a:srgbClr val="0000FF"/>
                    </a:solidFill>
                    <a:latin typeface="Consolas" pitchFamily="49" charset="0"/>
                    <a:ea typeface="仿宋" pitchFamily="49" charset="-122"/>
                    <a:cs typeface="Consolas" pitchFamily="49" charset="0"/>
                  </a:rPr>
                  <a:t>班</a:t>
                </a:r>
                <a:endParaRPr lang="zh-CN" altLang="en-US" sz="16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endParaRPr>
              </a:p>
            </p:txBody>
          </p:sp>
          <p:sp>
            <p:nvSpPr>
              <p:cNvPr id="32" name="矩形 31"/>
              <p:cNvSpPr/>
              <p:nvPr/>
            </p:nvSpPr>
            <p:spPr>
              <a:xfrm>
                <a:off x="3143240" y="1571612"/>
                <a:ext cx="785818" cy="357190"/>
              </a:xfrm>
              <a:prstGeom prst="rect">
                <a:avLst/>
              </a:prstGeom>
              <a:ln/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endParaRPr>
              </a:p>
            </p:txBody>
          </p:sp>
          <p:sp>
            <p:nvSpPr>
              <p:cNvPr id="33" name="矩形 32"/>
              <p:cNvSpPr/>
              <p:nvPr/>
            </p:nvSpPr>
            <p:spPr>
              <a:xfrm>
                <a:off x="3929058" y="1571612"/>
                <a:ext cx="428628" cy="357190"/>
              </a:xfrm>
              <a:prstGeom prst="rect">
                <a:avLst/>
              </a:prstGeom>
              <a:ln/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endParaRPr>
              </a:p>
            </p:txBody>
          </p:sp>
        </p:grpSp>
        <p:cxnSp>
          <p:nvCxnSpPr>
            <p:cNvPr id="34" name="直接箭头连接符 33"/>
            <p:cNvCxnSpPr/>
            <p:nvPr/>
          </p:nvCxnSpPr>
          <p:spPr>
            <a:xfrm flipV="1">
              <a:off x="2428860" y="3025772"/>
              <a:ext cx="571504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组合 81"/>
          <p:cNvGrpSpPr/>
          <p:nvPr/>
        </p:nvGrpSpPr>
        <p:grpSpPr>
          <a:xfrm>
            <a:off x="785786" y="5143512"/>
            <a:ext cx="7500990" cy="357190"/>
            <a:chOff x="785786" y="4714884"/>
            <a:chExt cx="7500990" cy="357190"/>
          </a:xfrm>
        </p:grpSpPr>
        <p:grpSp>
          <p:nvGrpSpPr>
            <p:cNvPr id="51" name="组合 34"/>
            <p:cNvGrpSpPr/>
            <p:nvPr/>
          </p:nvGrpSpPr>
          <p:grpSpPr>
            <a:xfrm>
              <a:off x="3000364" y="4714884"/>
              <a:ext cx="2000264" cy="357190"/>
              <a:chOff x="2357422" y="1571612"/>
              <a:chExt cx="2000264" cy="357190"/>
            </a:xfrm>
          </p:grpSpPr>
          <p:sp>
            <p:nvSpPr>
              <p:cNvPr id="36" name="矩形 35"/>
              <p:cNvSpPr/>
              <p:nvPr/>
            </p:nvSpPr>
            <p:spPr>
              <a:xfrm>
                <a:off x="2357422" y="1571612"/>
                <a:ext cx="785818" cy="357190"/>
              </a:xfrm>
              <a:prstGeom prst="rect">
                <a:avLst/>
              </a:prstGeom>
              <a:ln/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smtClean="0">
                    <a:solidFill>
                      <a:srgbClr val="0000FF"/>
                    </a:solidFill>
                    <a:latin typeface="Consolas" pitchFamily="49" charset="0"/>
                    <a:ea typeface="仿宋" pitchFamily="49" charset="-122"/>
                    <a:cs typeface="Consolas" pitchFamily="49" charset="0"/>
                  </a:rPr>
                  <a:t>1082</a:t>
                </a:r>
                <a:endParaRPr lang="zh-CN" altLang="en-US" sz="16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endParaRPr>
              </a:p>
            </p:txBody>
          </p:sp>
          <p:sp>
            <p:nvSpPr>
              <p:cNvPr id="37" name="矩形 36"/>
              <p:cNvSpPr/>
              <p:nvPr/>
            </p:nvSpPr>
            <p:spPr>
              <a:xfrm>
                <a:off x="3143240" y="1571612"/>
                <a:ext cx="785818" cy="357190"/>
              </a:xfrm>
              <a:prstGeom prst="rect">
                <a:avLst/>
              </a:prstGeom>
              <a:ln/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600" smtClean="0">
                    <a:solidFill>
                      <a:srgbClr val="0000FF"/>
                    </a:solidFill>
                    <a:latin typeface="Consolas" pitchFamily="49" charset="0"/>
                    <a:ea typeface="仿宋" pitchFamily="49" charset="-122"/>
                    <a:cs typeface="Consolas" pitchFamily="49" charset="0"/>
                  </a:rPr>
                  <a:t>陈功</a:t>
                </a:r>
                <a:endParaRPr lang="zh-CN" altLang="en-US" sz="16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endParaRPr>
              </a:p>
            </p:txBody>
          </p:sp>
          <p:sp>
            <p:nvSpPr>
              <p:cNvPr id="38" name="矩形 37"/>
              <p:cNvSpPr/>
              <p:nvPr/>
            </p:nvSpPr>
            <p:spPr>
              <a:xfrm>
                <a:off x="3929058" y="1571612"/>
                <a:ext cx="428628" cy="357190"/>
              </a:xfrm>
              <a:prstGeom prst="rect">
                <a:avLst/>
              </a:prstGeom>
              <a:ln/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endParaRPr>
              </a:p>
            </p:txBody>
          </p:sp>
        </p:grpSp>
        <p:grpSp>
          <p:nvGrpSpPr>
            <p:cNvPr id="55" name="组合 38"/>
            <p:cNvGrpSpPr/>
            <p:nvPr/>
          </p:nvGrpSpPr>
          <p:grpSpPr>
            <a:xfrm>
              <a:off x="5357818" y="4714884"/>
              <a:ext cx="2000264" cy="357190"/>
              <a:chOff x="2357422" y="1571612"/>
              <a:chExt cx="2000264" cy="357190"/>
            </a:xfrm>
          </p:grpSpPr>
          <p:sp>
            <p:nvSpPr>
              <p:cNvPr id="40" name="矩形 39"/>
              <p:cNvSpPr/>
              <p:nvPr/>
            </p:nvSpPr>
            <p:spPr>
              <a:xfrm>
                <a:off x="2357422" y="1571612"/>
                <a:ext cx="785818" cy="357190"/>
              </a:xfrm>
              <a:prstGeom prst="rect">
                <a:avLst/>
              </a:prstGeom>
              <a:ln/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smtClean="0">
                    <a:solidFill>
                      <a:srgbClr val="0000FF"/>
                    </a:solidFill>
                    <a:latin typeface="Consolas" pitchFamily="49" charset="0"/>
                    <a:ea typeface="仿宋" pitchFamily="49" charset="-122"/>
                    <a:cs typeface="Consolas" pitchFamily="49" charset="0"/>
                  </a:rPr>
                  <a:t>1085</a:t>
                </a:r>
                <a:endParaRPr lang="zh-CN" altLang="en-US" sz="16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endParaRPr>
              </a:p>
            </p:txBody>
          </p:sp>
          <p:sp>
            <p:nvSpPr>
              <p:cNvPr id="41" name="矩形 40"/>
              <p:cNvSpPr/>
              <p:nvPr/>
            </p:nvSpPr>
            <p:spPr>
              <a:xfrm>
                <a:off x="3143240" y="1571612"/>
                <a:ext cx="785818" cy="357190"/>
              </a:xfrm>
              <a:prstGeom prst="rect">
                <a:avLst/>
              </a:prstGeom>
              <a:ln/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600" smtClean="0">
                    <a:solidFill>
                      <a:srgbClr val="0000FF"/>
                    </a:solidFill>
                    <a:latin typeface="Consolas" pitchFamily="49" charset="0"/>
                    <a:ea typeface="仿宋" pitchFamily="49" charset="-122"/>
                    <a:cs typeface="Consolas" pitchFamily="49" charset="0"/>
                  </a:rPr>
                  <a:t>许斌</a:t>
                </a:r>
                <a:endParaRPr lang="zh-CN" altLang="en-US" sz="16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endParaRPr>
              </a:p>
            </p:txBody>
          </p:sp>
          <p:sp>
            <p:nvSpPr>
              <p:cNvPr id="42" name="矩形 41"/>
              <p:cNvSpPr/>
              <p:nvPr/>
            </p:nvSpPr>
            <p:spPr>
              <a:xfrm>
                <a:off x="3929058" y="1571612"/>
                <a:ext cx="428628" cy="357190"/>
              </a:xfrm>
              <a:prstGeom prst="rect">
                <a:avLst/>
              </a:prstGeom>
              <a:ln/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endParaRPr>
              </a:p>
            </p:txBody>
          </p:sp>
        </p:grpSp>
        <p:cxnSp>
          <p:nvCxnSpPr>
            <p:cNvPr id="43" name="直接箭头连接符 42"/>
            <p:cNvCxnSpPr/>
            <p:nvPr/>
          </p:nvCxnSpPr>
          <p:spPr>
            <a:xfrm flipV="1">
              <a:off x="4786314" y="4893479"/>
              <a:ext cx="571504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箭头连接符 43"/>
            <p:cNvCxnSpPr/>
            <p:nvPr/>
          </p:nvCxnSpPr>
          <p:spPr>
            <a:xfrm flipV="1">
              <a:off x="7143768" y="4895860"/>
              <a:ext cx="571504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/>
            <p:cNvSpPr txBox="1"/>
            <p:nvPr/>
          </p:nvSpPr>
          <p:spPr>
            <a:xfrm>
              <a:off x="7715272" y="4744641"/>
              <a:ext cx="571504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+mj-ea"/>
                  <a:ea typeface="+mj-ea"/>
                  <a:cs typeface="Consolas" pitchFamily="49" charset="0"/>
                </a:rPr>
                <a:t>…</a:t>
              </a:r>
              <a:endParaRPr lang="zh-CN" altLang="en-US" sz="1600">
                <a:solidFill>
                  <a:srgbClr val="0000FF"/>
                </a:solidFill>
                <a:latin typeface="+mj-ea"/>
                <a:ea typeface="+mj-ea"/>
                <a:cs typeface="Consolas" pitchFamily="49" charset="0"/>
              </a:endParaRPr>
            </a:p>
          </p:txBody>
        </p:sp>
        <p:grpSp>
          <p:nvGrpSpPr>
            <p:cNvPr id="57" name="组合 45"/>
            <p:cNvGrpSpPr/>
            <p:nvPr/>
          </p:nvGrpSpPr>
          <p:grpSpPr>
            <a:xfrm>
              <a:off x="785786" y="4714884"/>
              <a:ext cx="2000264" cy="357190"/>
              <a:chOff x="2357422" y="1571612"/>
              <a:chExt cx="2000264" cy="357190"/>
            </a:xfrm>
          </p:grpSpPr>
          <p:sp>
            <p:nvSpPr>
              <p:cNvPr id="47" name="矩形 46"/>
              <p:cNvSpPr/>
              <p:nvPr/>
            </p:nvSpPr>
            <p:spPr>
              <a:xfrm>
                <a:off x="2357422" y="1571612"/>
                <a:ext cx="785818" cy="357190"/>
              </a:xfrm>
              <a:prstGeom prst="rect">
                <a:avLst/>
              </a:prstGeom>
              <a:ln/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smtClean="0">
                    <a:solidFill>
                      <a:srgbClr val="0000FF"/>
                    </a:solidFill>
                    <a:latin typeface="Consolas" pitchFamily="49" charset="0"/>
                    <a:ea typeface="仿宋" pitchFamily="49" charset="-122"/>
                    <a:cs typeface="Consolas" pitchFamily="49" charset="0"/>
                  </a:rPr>
                  <a:t>8</a:t>
                </a:r>
                <a:r>
                  <a:rPr lang="zh-CN" altLang="en-US" sz="1600" smtClean="0">
                    <a:solidFill>
                      <a:srgbClr val="0000FF"/>
                    </a:solidFill>
                    <a:latin typeface="Consolas" pitchFamily="49" charset="0"/>
                    <a:ea typeface="仿宋" pitchFamily="49" charset="-122"/>
                    <a:cs typeface="Consolas" pitchFamily="49" charset="0"/>
                  </a:rPr>
                  <a:t>班</a:t>
                </a:r>
                <a:endParaRPr lang="zh-CN" altLang="en-US" sz="16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endParaRPr>
              </a:p>
            </p:txBody>
          </p:sp>
          <p:sp>
            <p:nvSpPr>
              <p:cNvPr id="48" name="矩形 47"/>
              <p:cNvSpPr/>
              <p:nvPr/>
            </p:nvSpPr>
            <p:spPr>
              <a:xfrm>
                <a:off x="3143240" y="1571612"/>
                <a:ext cx="785818" cy="357190"/>
              </a:xfrm>
              <a:prstGeom prst="rect">
                <a:avLst/>
              </a:prstGeom>
              <a:ln/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zh-CN" altLang="en-US" sz="1600" smtClean="0">
                    <a:solidFill>
                      <a:srgbClr val="0000FF"/>
                    </a:solidFill>
                    <a:latin typeface="Consolas" pitchFamily="49" charset="0"/>
                    <a:ea typeface="仿宋" pitchFamily="49" charset="-122"/>
                    <a:cs typeface="Consolas" pitchFamily="49" charset="0"/>
                  </a:rPr>
                  <a:t>∧</a:t>
                </a:r>
              </a:p>
            </p:txBody>
          </p:sp>
          <p:sp>
            <p:nvSpPr>
              <p:cNvPr id="49" name="矩形 48"/>
              <p:cNvSpPr/>
              <p:nvPr/>
            </p:nvSpPr>
            <p:spPr>
              <a:xfrm>
                <a:off x="3929058" y="1571612"/>
                <a:ext cx="428628" cy="357190"/>
              </a:xfrm>
              <a:prstGeom prst="rect">
                <a:avLst/>
              </a:prstGeom>
              <a:ln/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endParaRPr>
              </a:p>
            </p:txBody>
          </p:sp>
        </p:grpSp>
        <p:cxnSp>
          <p:nvCxnSpPr>
            <p:cNvPr id="50" name="直接箭头连接符 49"/>
            <p:cNvCxnSpPr/>
            <p:nvPr/>
          </p:nvCxnSpPr>
          <p:spPr>
            <a:xfrm flipV="1">
              <a:off x="2428860" y="4883160"/>
              <a:ext cx="571504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" name="组合 50"/>
          <p:cNvGrpSpPr/>
          <p:nvPr/>
        </p:nvGrpSpPr>
        <p:grpSpPr>
          <a:xfrm>
            <a:off x="785786" y="1857364"/>
            <a:ext cx="2000264" cy="357190"/>
            <a:chOff x="2357422" y="1571612"/>
            <a:chExt cx="2000264" cy="357190"/>
          </a:xfrm>
        </p:grpSpPr>
        <p:sp>
          <p:nvSpPr>
            <p:cNvPr id="52" name="矩形 51"/>
            <p:cNvSpPr/>
            <p:nvPr/>
          </p:nvSpPr>
          <p:spPr>
            <a:xfrm>
              <a:off x="2357422" y="1571612"/>
              <a:ext cx="785818" cy="357190"/>
            </a:xfrm>
            <a:prstGeom prst="rect">
              <a:avLst/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15</a:t>
              </a:r>
              <a:r>
                <a:rPr lang="zh-CN" altLang="en-US" sz="16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届</a:t>
              </a:r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53" name="矩形 52"/>
            <p:cNvSpPr/>
            <p:nvPr/>
          </p:nvSpPr>
          <p:spPr>
            <a:xfrm>
              <a:off x="3143240" y="1571612"/>
              <a:ext cx="785818" cy="357190"/>
            </a:xfrm>
            <a:prstGeom prst="rect">
              <a:avLst/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54" name="矩形 53"/>
            <p:cNvSpPr/>
            <p:nvPr/>
          </p:nvSpPr>
          <p:spPr>
            <a:xfrm>
              <a:off x="3929058" y="1571612"/>
              <a:ext cx="428628" cy="357190"/>
            </a:xfrm>
            <a:prstGeom prst="rect">
              <a:avLst/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zh-CN" altLang="en-US" sz="16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∧</a:t>
              </a:r>
            </a:p>
          </p:txBody>
        </p:sp>
      </p:grpSp>
      <p:sp>
        <p:nvSpPr>
          <p:cNvPr id="56" name="TextBox 55"/>
          <p:cNvSpPr txBox="1"/>
          <p:nvPr/>
        </p:nvSpPr>
        <p:spPr>
          <a:xfrm>
            <a:off x="1500166" y="500042"/>
            <a:ext cx="67151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kumimoji="1" lang="zh-CN" altLang="en-US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十字链表的启示：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设计存储某年级所有学生的存储结构。</a:t>
            </a:r>
            <a:endParaRPr lang="zh-CN" altLang="en-US" sz="2000">
              <a:solidFill>
                <a:srgbClr val="0000FF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cxnSp>
        <p:nvCxnSpPr>
          <p:cNvPr id="58" name="直接箭头连接符 57"/>
          <p:cNvCxnSpPr/>
          <p:nvPr/>
        </p:nvCxnSpPr>
        <p:spPr>
          <a:xfrm rot="16200000" flipH="1">
            <a:off x="1678761" y="2321710"/>
            <a:ext cx="500066" cy="0"/>
          </a:xfrm>
          <a:prstGeom prst="straightConnector1">
            <a:avLst/>
          </a:prstGeom>
          <a:ln w="1905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直接箭头连接符 58"/>
          <p:cNvCxnSpPr/>
          <p:nvPr/>
        </p:nvCxnSpPr>
        <p:spPr>
          <a:xfrm rot="16200000" flipH="1">
            <a:off x="1678761" y="3036092"/>
            <a:ext cx="500066" cy="0"/>
          </a:xfrm>
          <a:prstGeom prst="straightConnector1">
            <a:avLst/>
          </a:prstGeom>
          <a:ln w="1905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直接箭头连接符 75"/>
          <p:cNvCxnSpPr/>
          <p:nvPr/>
        </p:nvCxnSpPr>
        <p:spPr>
          <a:xfrm rot="16200000" flipH="1">
            <a:off x="1678761" y="3750470"/>
            <a:ext cx="500066" cy="0"/>
          </a:xfrm>
          <a:prstGeom prst="straightConnector1">
            <a:avLst/>
          </a:prstGeom>
          <a:ln w="1905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7" name="直接箭头连接符 76"/>
          <p:cNvCxnSpPr/>
          <p:nvPr/>
        </p:nvCxnSpPr>
        <p:spPr>
          <a:xfrm rot="16200000" flipH="1">
            <a:off x="1678762" y="4893479"/>
            <a:ext cx="500066" cy="0"/>
          </a:xfrm>
          <a:prstGeom prst="straightConnector1">
            <a:avLst/>
          </a:prstGeom>
          <a:ln w="1905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1643042" y="4182662"/>
            <a:ext cx="571504" cy="28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smtClean="0">
                <a:solidFill>
                  <a:srgbClr val="0000FF"/>
                </a:solidFill>
                <a:latin typeface="+mn-ea"/>
                <a:ea typeface="+mn-ea"/>
                <a:cs typeface="Consolas" pitchFamily="49" charset="0"/>
              </a:rPr>
              <a:t>…</a:t>
            </a:r>
            <a:endParaRPr lang="zh-CN" altLang="en-US" sz="1600">
              <a:solidFill>
                <a:srgbClr val="0000FF"/>
              </a:solidFill>
              <a:latin typeface="+mn-ea"/>
              <a:ea typeface="+mn-ea"/>
              <a:cs typeface="Consolas" pitchFamily="49" charset="0"/>
            </a:endParaRPr>
          </a:p>
        </p:txBody>
      </p:sp>
      <p:grpSp>
        <p:nvGrpSpPr>
          <p:cNvPr id="61" name="组合 85"/>
          <p:cNvGrpSpPr/>
          <p:nvPr/>
        </p:nvGrpSpPr>
        <p:grpSpPr>
          <a:xfrm>
            <a:off x="785786" y="1415630"/>
            <a:ext cx="785818" cy="441734"/>
            <a:chOff x="785786" y="987002"/>
            <a:chExt cx="785818" cy="441734"/>
          </a:xfrm>
        </p:grpSpPr>
        <p:cxnSp>
          <p:nvCxnSpPr>
            <p:cNvPr id="84" name="直接箭头连接符 83"/>
            <p:cNvCxnSpPr/>
            <p:nvPr/>
          </p:nvCxnSpPr>
          <p:spPr>
            <a:xfrm>
              <a:off x="1142976" y="1142984"/>
              <a:ext cx="428628" cy="28575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Box 84"/>
            <p:cNvSpPr txBox="1"/>
            <p:nvPr/>
          </p:nvSpPr>
          <p:spPr>
            <a:xfrm>
              <a:off x="785786" y="987002"/>
              <a:ext cx="571504" cy="3179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i="1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h</a:t>
              </a:r>
              <a:endParaRPr lang="zh-CN" altLang="en-US" sz="18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</p:grpSp>
      <p:sp>
        <p:nvSpPr>
          <p:cNvPr id="69" name="TextBox 68"/>
          <p:cNvSpPr txBox="1"/>
          <p:nvPr/>
        </p:nvSpPr>
        <p:spPr>
          <a:xfrm>
            <a:off x="928662" y="5929330"/>
            <a:ext cx="62151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通过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h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来唯一标识学生存储结构。</a:t>
            </a:r>
            <a:endParaRPr lang="zh-CN" altLang="en-US" sz="20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grpSp>
        <p:nvGrpSpPr>
          <p:cNvPr id="62" name="组合 69"/>
          <p:cNvGrpSpPr/>
          <p:nvPr/>
        </p:nvGrpSpPr>
        <p:grpSpPr>
          <a:xfrm>
            <a:off x="500034" y="142853"/>
            <a:ext cx="1000100" cy="1071569"/>
            <a:chOff x="214282" y="142852"/>
            <a:chExt cx="1000100" cy="1071569"/>
          </a:xfrm>
        </p:grpSpPr>
        <p:sp>
          <p:nvSpPr>
            <p:cNvPr id="71" name="Oval 20"/>
            <p:cNvSpPr>
              <a:spLocks noChangeArrowheads="1"/>
            </p:cNvSpPr>
            <p:nvPr/>
          </p:nvSpPr>
          <p:spPr bwMode="gray">
            <a:xfrm>
              <a:off x="214282" y="142852"/>
              <a:ext cx="1000100" cy="1071569"/>
            </a:xfrm>
            <a:prstGeom prst="ellipse">
              <a:avLst/>
            </a:prstGeom>
            <a:solidFill>
              <a:srgbClr val="F8F8F8"/>
            </a:solidFill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zh-CN">
                <a:latin typeface="Calibri" pitchFamily="34" charset="0"/>
                <a:cs typeface="Arial" pitchFamily="34" charset="0"/>
              </a:endParaRPr>
            </a:p>
          </p:txBody>
        </p:sp>
        <p:sp>
          <p:nvSpPr>
            <p:cNvPr id="72" name="Oval 21"/>
            <p:cNvSpPr>
              <a:spLocks noChangeArrowheads="1"/>
            </p:cNvSpPr>
            <p:nvPr/>
          </p:nvSpPr>
          <p:spPr bwMode="gray">
            <a:xfrm>
              <a:off x="255399" y="186960"/>
              <a:ext cx="916658" cy="98335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38100">
              <a:solidFill>
                <a:srgbClr val="FF0000">
                  <a:alpha val="70195"/>
                </a:srgb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zh-CN">
                <a:latin typeface="Calibri" pitchFamily="34" charset="0"/>
                <a:cs typeface="Arial" pitchFamily="34" charset="0"/>
              </a:endParaRPr>
            </a:p>
          </p:txBody>
        </p:sp>
        <p:sp>
          <p:nvSpPr>
            <p:cNvPr id="73" name="Oval 22"/>
            <p:cNvSpPr>
              <a:spLocks noChangeArrowheads="1"/>
            </p:cNvSpPr>
            <p:nvPr/>
          </p:nvSpPr>
          <p:spPr bwMode="gray">
            <a:xfrm>
              <a:off x="296515" y="233663"/>
              <a:ext cx="834424" cy="895136"/>
            </a:xfrm>
            <a:prstGeom prst="ellipse">
              <a:avLst/>
            </a:prstGeom>
            <a:noFill/>
            <a:ln w="38100">
              <a:solidFill>
                <a:srgbClr val="FF0000">
                  <a:alpha val="30196"/>
                </a:srgb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zh-CN">
                <a:latin typeface="Calibri" pitchFamily="34" charset="0"/>
                <a:cs typeface="Arial" pitchFamily="34" charset="0"/>
              </a:endParaRPr>
            </a:p>
          </p:txBody>
        </p:sp>
        <p:sp>
          <p:nvSpPr>
            <p:cNvPr id="74" name="Text Box 23"/>
            <p:cNvSpPr txBox="1">
              <a:spLocks noChangeArrowheads="1"/>
            </p:cNvSpPr>
            <p:nvPr/>
          </p:nvSpPr>
          <p:spPr bwMode="gray">
            <a:xfrm>
              <a:off x="364012" y="538608"/>
              <a:ext cx="728120" cy="3139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1800" b="1" smtClean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  <a:cs typeface="Consolas" pitchFamily="49" charset="0"/>
                </a:rPr>
                <a:t>示例</a:t>
              </a:r>
              <a:endParaRPr lang="zh-CN" altLang="en-US" sz="18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Consolas" pitchFamily="49" charset="0"/>
              </a:endParaRPr>
            </a:p>
          </p:txBody>
        </p:sp>
      </p:grpSp>
      <p:sp>
        <p:nvSpPr>
          <p:cNvPr id="86" name="灯片编号占位符 8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14</a:t>
            </a:fld>
            <a:r>
              <a:rPr lang="en-US" altLang="zh-CN" smtClean="0"/>
              <a:t>/68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000"/>
                            </p:stCondLst>
                            <p:childTnLst>
                              <p:par>
                                <p:cTn id="4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 tmFilter="0, 0; .2, .5; .8, .5; 1, 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0" dur="250" autoRev="1" fill="hold"/>
                                        <p:tgtEl>
                                          <p:spTgt spid="6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/>
      <p:bldP spid="6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2357422" y="428604"/>
            <a:ext cx="3643338" cy="756718"/>
          </a:xfrm>
          <a:prstGeom prst="rect">
            <a:avLst/>
          </a:prstGeom>
          <a:ln>
            <a:noFill/>
          </a:ln>
          <a:effectLst>
            <a:outerShdw blurRad="76200" dist="12700" dir="8100000" sy="-23000" kx="800400" algn="br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tIns="216000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zh-CN" altLang="zh-CN" sz="320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方正启体简体" pitchFamily="65" charset="-122"/>
                <a:ea typeface="方正启体简体" pitchFamily="65" charset="-122"/>
              </a:rPr>
              <a:t>第</a:t>
            </a:r>
            <a:r>
              <a:rPr lang="en-US" altLang="zh-CN" sz="320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方正启体简体" pitchFamily="65" charset="-122"/>
                <a:ea typeface="方正启体简体" pitchFamily="65" charset="-122"/>
              </a:rPr>
              <a:t>6</a:t>
            </a:r>
            <a:r>
              <a:rPr lang="zh-CN" altLang="zh-CN" sz="320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方正启体简体" pitchFamily="65" charset="-122"/>
                <a:ea typeface="方正启体简体" pitchFamily="65" charset="-122"/>
              </a:rPr>
              <a:t>章 </a:t>
            </a:r>
            <a:r>
              <a:rPr lang="en-US" altLang="zh-CN" sz="320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方正启体简体" pitchFamily="65" charset="-122"/>
                <a:ea typeface="方正启体简体" pitchFamily="65" charset="-122"/>
              </a:rPr>
              <a:t> </a:t>
            </a:r>
            <a:r>
              <a:rPr lang="zh-CN" altLang="en-US" sz="320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方正启体简体" pitchFamily="65" charset="-122"/>
                <a:ea typeface="方正启体简体" pitchFamily="65" charset="-122"/>
              </a:rPr>
              <a:t>递 归</a:t>
            </a:r>
            <a:endParaRPr lang="zh-CN" altLang="en-US" sz="320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方正启体简体" pitchFamily="65" charset="-122"/>
              <a:ea typeface="方正启体简体" pitchFamily="65" charset="-122"/>
            </a:endParaRPr>
          </a:p>
        </p:txBody>
      </p:sp>
      <p:sp>
        <p:nvSpPr>
          <p:cNvPr id="12" name="TextBox 11">
            <a:hlinkClick r:id="rId2" action="ppaction://hlinksldjump"/>
          </p:cNvPr>
          <p:cNvSpPr txBox="1"/>
          <p:nvPr/>
        </p:nvSpPr>
        <p:spPr>
          <a:xfrm>
            <a:off x="3357554" y="2000240"/>
            <a:ext cx="4788000" cy="4608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tIns="36000" bIns="72000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pc="50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6.1 </a:t>
            </a:r>
            <a:r>
              <a:rPr lang="zh-CN" altLang="zh-CN" spc="50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什么是递归</a:t>
            </a:r>
            <a:endParaRPr lang="zh-CN" altLang="en-US" spc="5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14" name="TextBox 13">
            <a:hlinkClick r:id="" action="ppaction://noaction"/>
          </p:cNvPr>
          <p:cNvSpPr txBox="1"/>
          <p:nvPr/>
        </p:nvSpPr>
        <p:spPr>
          <a:xfrm>
            <a:off x="3357554" y="2714620"/>
            <a:ext cx="4788000" cy="4608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tIns="72000" bIns="72000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pc="50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6.2 </a:t>
            </a:r>
            <a:r>
              <a:rPr lang="zh-CN" altLang="zh-CN" spc="50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递归算法的设计</a:t>
            </a:r>
            <a:endParaRPr lang="zh-CN" altLang="en-US" spc="5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grpSp>
        <p:nvGrpSpPr>
          <p:cNvPr id="2" name="组合 79"/>
          <p:cNvGrpSpPr>
            <a:grpSpLocks/>
          </p:cNvGrpSpPr>
          <p:nvPr/>
        </p:nvGrpSpPr>
        <p:grpSpPr bwMode="auto">
          <a:xfrm>
            <a:off x="911802" y="1928802"/>
            <a:ext cx="2160000" cy="2177998"/>
            <a:chOff x="6379728" y="2488774"/>
            <a:chExt cx="2513016" cy="2533955"/>
          </a:xfrm>
        </p:grpSpPr>
        <p:sp>
          <p:nvSpPr>
            <p:cNvPr id="19" name="任意多边形 82"/>
            <p:cNvSpPr/>
            <p:nvPr/>
          </p:nvSpPr>
          <p:spPr>
            <a:xfrm rot="3738964">
              <a:off x="6379728" y="2488774"/>
              <a:ext cx="2513016" cy="2513016"/>
            </a:xfrm>
            <a:custGeom>
              <a:avLst/>
              <a:gdLst>
                <a:gd name="connsiteX0" fmla="*/ 0 w 1800200"/>
                <a:gd name="connsiteY0" fmla="*/ 900100 h 1800200"/>
                <a:gd name="connsiteX1" fmla="*/ 263634 w 1800200"/>
                <a:gd name="connsiteY1" fmla="*/ 263633 h 1800200"/>
                <a:gd name="connsiteX2" fmla="*/ 900101 w 1800200"/>
                <a:gd name="connsiteY2" fmla="*/ 1 h 1800200"/>
                <a:gd name="connsiteX3" fmla="*/ 1536568 w 1800200"/>
                <a:gd name="connsiteY3" fmla="*/ 263635 h 1800200"/>
                <a:gd name="connsiteX4" fmla="*/ 1800200 w 1800200"/>
                <a:gd name="connsiteY4" fmla="*/ 900102 h 1800200"/>
                <a:gd name="connsiteX5" fmla="*/ 1536567 w 1800200"/>
                <a:gd name="connsiteY5" fmla="*/ 1536569 h 1800200"/>
                <a:gd name="connsiteX6" fmla="*/ 900100 w 1800200"/>
                <a:gd name="connsiteY6" fmla="*/ 1800202 h 1800200"/>
                <a:gd name="connsiteX7" fmla="*/ 263633 w 1800200"/>
                <a:gd name="connsiteY7" fmla="*/ 1536568 h 1800200"/>
                <a:gd name="connsiteX8" fmla="*/ 0 w 1800200"/>
                <a:gd name="connsiteY8" fmla="*/ 900101 h 1800200"/>
                <a:gd name="connsiteX9" fmla="*/ 0 w 1800200"/>
                <a:gd name="connsiteY9" fmla="*/ 900100 h 1800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00200" h="1800200">
                  <a:moveTo>
                    <a:pt x="0" y="900100"/>
                  </a:moveTo>
                  <a:cubicBezTo>
                    <a:pt x="0" y="661379"/>
                    <a:pt x="94832" y="432435"/>
                    <a:pt x="263634" y="263633"/>
                  </a:cubicBezTo>
                  <a:cubicBezTo>
                    <a:pt x="432436" y="94832"/>
                    <a:pt x="661380" y="0"/>
                    <a:pt x="900101" y="1"/>
                  </a:cubicBezTo>
                  <a:cubicBezTo>
                    <a:pt x="1138822" y="1"/>
                    <a:pt x="1367766" y="94833"/>
                    <a:pt x="1536568" y="263635"/>
                  </a:cubicBezTo>
                  <a:cubicBezTo>
                    <a:pt x="1705369" y="432437"/>
                    <a:pt x="1800201" y="661381"/>
                    <a:pt x="1800200" y="900102"/>
                  </a:cubicBezTo>
                  <a:cubicBezTo>
                    <a:pt x="1800200" y="1138823"/>
                    <a:pt x="1705368" y="1367767"/>
                    <a:pt x="1536567" y="1536569"/>
                  </a:cubicBezTo>
                  <a:cubicBezTo>
                    <a:pt x="1367765" y="1705371"/>
                    <a:pt x="1138821" y="1800202"/>
                    <a:pt x="900100" y="1800202"/>
                  </a:cubicBezTo>
                  <a:cubicBezTo>
                    <a:pt x="661379" y="1800202"/>
                    <a:pt x="432435" y="1705370"/>
                    <a:pt x="263633" y="1536568"/>
                  </a:cubicBezTo>
                  <a:cubicBezTo>
                    <a:pt x="94832" y="1367766"/>
                    <a:pt x="0" y="1138822"/>
                    <a:pt x="0" y="900101"/>
                  </a:cubicBezTo>
                  <a:lnTo>
                    <a:pt x="0" y="900100"/>
                  </a:lnTo>
                  <a:close/>
                </a:path>
              </a:pathLst>
            </a:custGeom>
            <a:gradFill flip="none" rotWithShape="1">
              <a:gsLst>
                <a:gs pos="17000">
                  <a:srgbClr val="FFFFFF"/>
                </a:gs>
                <a:gs pos="88000">
                  <a:srgbClr val="FFFFFF">
                    <a:lumMod val="72000"/>
                  </a:srgbClr>
                </a:gs>
              </a:gsLst>
              <a:lin ang="2700000" scaled="1"/>
              <a:tileRect/>
            </a:gradFill>
            <a:ln w="25400" cap="flat" cmpd="sng" algn="ctr">
              <a:noFill/>
              <a:prstDash val="solid"/>
            </a:ln>
            <a:effectLst>
              <a:outerShdw blurRad="127000" dist="63500" dir="7380000" sx="102000" sy="102000" algn="tr" rotWithShape="0">
                <a:prstClr val="black">
                  <a:alpha val="39000"/>
                </a:prstClr>
              </a:outerShdw>
            </a:effectLst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 kern="0">
                <a:solidFill>
                  <a:srgbClr val="FFFFFF"/>
                </a:solidFill>
                <a:latin typeface="Arial"/>
                <a:ea typeface="宋体"/>
              </a:endParaRPr>
            </a:p>
          </p:txBody>
        </p:sp>
        <p:sp>
          <p:nvSpPr>
            <p:cNvPr id="20" name="任意多边形 83"/>
            <p:cNvSpPr/>
            <p:nvPr/>
          </p:nvSpPr>
          <p:spPr>
            <a:xfrm rot="16377237">
              <a:off x="6409519" y="2545928"/>
              <a:ext cx="2476803" cy="2476799"/>
            </a:xfrm>
            <a:custGeom>
              <a:avLst/>
              <a:gdLst>
                <a:gd name="connsiteX0" fmla="*/ 0 w 1800200"/>
                <a:gd name="connsiteY0" fmla="*/ 900100 h 1800200"/>
                <a:gd name="connsiteX1" fmla="*/ 263634 w 1800200"/>
                <a:gd name="connsiteY1" fmla="*/ 263633 h 1800200"/>
                <a:gd name="connsiteX2" fmla="*/ 900101 w 1800200"/>
                <a:gd name="connsiteY2" fmla="*/ 1 h 1800200"/>
                <a:gd name="connsiteX3" fmla="*/ 1536568 w 1800200"/>
                <a:gd name="connsiteY3" fmla="*/ 263635 h 1800200"/>
                <a:gd name="connsiteX4" fmla="*/ 1800200 w 1800200"/>
                <a:gd name="connsiteY4" fmla="*/ 900102 h 1800200"/>
                <a:gd name="connsiteX5" fmla="*/ 1536567 w 1800200"/>
                <a:gd name="connsiteY5" fmla="*/ 1536569 h 1800200"/>
                <a:gd name="connsiteX6" fmla="*/ 900100 w 1800200"/>
                <a:gd name="connsiteY6" fmla="*/ 1800202 h 1800200"/>
                <a:gd name="connsiteX7" fmla="*/ 263633 w 1800200"/>
                <a:gd name="connsiteY7" fmla="*/ 1536568 h 1800200"/>
                <a:gd name="connsiteX8" fmla="*/ 0 w 1800200"/>
                <a:gd name="connsiteY8" fmla="*/ 900101 h 1800200"/>
                <a:gd name="connsiteX9" fmla="*/ 0 w 1800200"/>
                <a:gd name="connsiteY9" fmla="*/ 900100 h 1800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00200" h="1800200">
                  <a:moveTo>
                    <a:pt x="0" y="900100"/>
                  </a:moveTo>
                  <a:cubicBezTo>
                    <a:pt x="0" y="661379"/>
                    <a:pt x="94832" y="432435"/>
                    <a:pt x="263634" y="263633"/>
                  </a:cubicBezTo>
                  <a:cubicBezTo>
                    <a:pt x="432436" y="94832"/>
                    <a:pt x="661380" y="0"/>
                    <a:pt x="900101" y="1"/>
                  </a:cubicBezTo>
                  <a:cubicBezTo>
                    <a:pt x="1138822" y="1"/>
                    <a:pt x="1367766" y="94833"/>
                    <a:pt x="1536568" y="263635"/>
                  </a:cubicBezTo>
                  <a:cubicBezTo>
                    <a:pt x="1705369" y="432437"/>
                    <a:pt x="1800201" y="661381"/>
                    <a:pt x="1800200" y="900102"/>
                  </a:cubicBezTo>
                  <a:cubicBezTo>
                    <a:pt x="1800200" y="1138823"/>
                    <a:pt x="1705368" y="1367767"/>
                    <a:pt x="1536567" y="1536569"/>
                  </a:cubicBezTo>
                  <a:cubicBezTo>
                    <a:pt x="1367765" y="1705371"/>
                    <a:pt x="1138821" y="1800202"/>
                    <a:pt x="900100" y="1800202"/>
                  </a:cubicBezTo>
                  <a:cubicBezTo>
                    <a:pt x="661379" y="1800202"/>
                    <a:pt x="432435" y="1705370"/>
                    <a:pt x="263633" y="1536568"/>
                  </a:cubicBezTo>
                  <a:cubicBezTo>
                    <a:pt x="94832" y="1367766"/>
                    <a:pt x="0" y="1138822"/>
                    <a:pt x="0" y="900101"/>
                  </a:cubicBezTo>
                  <a:lnTo>
                    <a:pt x="0" y="900100"/>
                  </a:lnTo>
                  <a:close/>
                </a:path>
              </a:pathLst>
            </a:custGeom>
            <a:gradFill flip="none" rotWithShape="1">
              <a:gsLst>
                <a:gs pos="29000">
                  <a:srgbClr val="FFFFFF"/>
                </a:gs>
                <a:gs pos="98000">
                  <a:srgbClr val="FFFFFF">
                    <a:lumMod val="75000"/>
                  </a:srgbClr>
                </a:gs>
              </a:gsLst>
              <a:lin ang="2700000" scaled="1"/>
              <a:tileRect/>
            </a:gradFill>
            <a:ln w="25400" cap="flat" cmpd="sng" algn="ctr">
              <a:noFill/>
              <a:prstDash val="solid"/>
            </a:ln>
            <a:effectLst>
              <a:softEdge rad="0"/>
            </a:effec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kern="0" smtClean="0">
                <a:solidFill>
                  <a:srgbClr val="FFFFFF"/>
                </a:solidFill>
              </a:endParaRPr>
            </a:p>
          </p:txBody>
        </p:sp>
      </p:grpSp>
      <p:sp>
        <p:nvSpPr>
          <p:cNvPr id="21" name="文本框 20"/>
          <p:cNvSpPr txBox="1">
            <a:spLocks noChangeArrowheads="1"/>
          </p:cNvSpPr>
          <p:nvPr/>
        </p:nvSpPr>
        <p:spPr bwMode="auto">
          <a:xfrm>
            <a:off x="1163324" y="3038579"/>
            <a:ext cx="167871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 eaLnBrk="1" hangingPunct="1">
              <a:lnSpc>
                <a:spcPct val="100000"/>
              </a:lnSpc>
            </a:pPr>
            <a:r>
              <a:rPr lang="en-US" altLang="zh-CN" sz="2000" b="1" dirty="0">
                <a:solidFill>
                  <a:srgbClr val="9900FF"/>
                </a:solidFill>
              </a:rPr>
              <a:t>CONTENTS</a:t>
            </a:r>
            <a:endParaRPr lang="zh-CN" altLang="en-US" sz="2000" b="1" dirty="0">
              <a:solidFill>
                <a:srgbClr val="9900FF"/>
              </a:solidFill>
            </a:endParaRPr>
          </a:p>
        </p:txBody>
      </p:sp>
      <p:sp>
        <p:nvSpPr>
          <p:cNvPr id="22" name="文本框 20"/>
          <p:cNvSpPr txBox="1">
            <a:spLocks noChangeArrowheads="1"/>
          </p:cNvSpPr>
          <p:nvPr/>
        </p:nvSpPr>
        <p:spPr bwMode="auto">
          <a:xfrm>
            <a:off x="1307340" y="2358569"/>
            <a:ext cx="141222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 eaLnBrk="1" hangingPunct="1">
              <a:lnSpc>
                <a:spcPct val="100000"/>
              </a:lnSpc>
            </a:pPr>
            <a:r>
              <a:rPr lang="zh-CN" altLang="en-US" sz="3200" b="1" dirty="0" smtClean="0">
                <a:solidFill>
                  <a:srgbClr val="008000"/>
                </a:solidFill>
              </a:rPr>
              <a:t>提纲</a:t>
            </a:r>
            <a:endParaRPr lang="zh-CN" altLang="en-US" sz="3200" b="1" dirty="0">
              <a:solidFill>
                <a:srgbClr val="008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357554" y="3467401"/>
            <a:ext cx="4786346" cy="46166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pc="50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6.3 </a:t>
            </a:r>
            <a:r>
              <a:rPr lang="zh-CN" altLang="zh-CN" spc="50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递归算法</a:t>
            </a:r>
            <a:r>
              <a:rPr lang="zh-CN" altLang="en-US" spc="50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转换为非递归算法</a:t>
            </a:r>
            <a:endParaRPr lang="zh-CN" altLang="en-US" spc="5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15</a:t>
            </a:fld>
            <a:r>
              <a:rPr lang="en-US" altLang="zh-CN" smtClean="0"/>
              <a:t>/68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43"/>
          <p:cNvSpPr txBox="1"/>
          <p:nvPr/>
        </p:nvSpPr>
        <p:spPr>
          <a:xfrm>
            <a:off x="571472" y="2357430"/>
            <a:ext cx="7929618" cy="2495922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tIns="72000" bIns="72000" rtlCol="0">
            <a:spAutoFit/>
          </a:bodyPr>
          <a:lstStyle/>
          <a:p>
            <a:pPr marL="342900" indent="-342900" algn="l">
              <a:lnSpc>
                <a:spcPts val="3000"/>
              </a:lnSpc>
              <a:spcBef>
                <a:spcPts val="1200"/>
              </a:spcBef>
              <a:buBlip>
                <a:blip r:embed="rId3"/>
              </a:buBlip>
            </a:pP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在定义一个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算法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时出现调用本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算法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的成分，称之为</a:t>
            </a:r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递归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。</a:t>
            </a:r>
            <a:endParaRPr lang="en-US" altLang="zh-CN" sz="20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marL="342900" indent="-342900" algn="l">
              <a:lnSpc>
                <a:spcPts val="3000"/>
              </a:lnSpc>
              <a:spcBef>
                <a:spcPts val="1200"/>
              </a:spcBef>
              <a:buBlip>
                <a:blip r:embed="rId3"/>
              </a:buBlip>
            </a:pP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若调用自身，称之为</a:t>
            </a:r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直接递归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。</a:t>
            </a:r>
            <a:endParaRPr lang="en-US" altLang="zh-CN" sz="20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marL="342900" indent="-342900" algn="l">
              <a:lnSpc>
                <a:spcPts val="3000"/>
              </a:lnSpc>
              <a:spcBef>
                <a:spcPts val="1200"/>
              </a:spcBef>
              <a:buBlip>
                <a:blip r:embed="rId3"/>
              </a:buBlip>
            </a:pP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若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算法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A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调用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算法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，而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又调用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A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，称之为</a:t>
            </a:r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间接递归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。</a:t>
            </a:r>
            <a:endParaRPr lang="en-US" altLang="zh-CN" sz="20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marL="342900" indent="-342900" algn="l">
              <a:lnSpc>
                <a:spcPts val="3000"/>
              </a:lnSpc>
              <a:spcBef>
                <a:spcPts val="1200"/>
              </a:spcBef>
              <a:buBlip>
                <a:blip r:embed="rId3"/>
              </a:buBlip>
            </a:pP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在算法设计中，任何间接递归算法都可以转换为直接递归算法来实现，所以主要讨论直接递归。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8596" y="1500174"/>
            <a:ext cx="2928958" cy="461665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mtClean="0">
                <a:ln w="11430"/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6.1.1 </a:t>
            </a:r>
            <a:r>
              <a:rPr lang="zh-CN" altLang="zh-CN" smtClean="0">
                <a:ln w="11430"/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递归的定义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8860" y="428604"/>
            <a:ext cx="3786214" cy="52322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2800" spc="50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6.1 </a:t>
            </a:r>
            <a:r>
              <a:rPr lang="zh-CN" altLang="zh-CN" sz="2800" spc="50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什么是递归</a:t>
            </a:r>
            <a:endParaRPr lang="zh-CN" altLang="en-US" sz="2800" spc="5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16</a:t>
            </a:fld>
            <a:r>
              <a:rPr lang="en-US" altLang="zh-CN" smtClean="0"/>
              <a:t>/68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57158" y="571480"/>
            <a:ext cx="85725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【例</a:t>
            </a:r>
            <a:r>
              <a:rPr lang="en-US" altLang="zh-CN" sz="2000" smtClean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6.1</a:t>
            </a:r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】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以下是求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n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!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（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n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为正整数）的递归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算法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。它属于什么类型的递归。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214414" y="1271763"/>
            <a:ext cx="6286544" cy="19066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44000" bIns="144000" rtlCol="0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int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fun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(int n)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if (n==1)			</a:t>
            </a:r>
            <a:r>
              <a:rPr lang="en-US" altLang="zh-CN" sz="1800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语句</a:t>
            </a:r>
            <a:r>
              <a:rPr lang="en-US" altLang="zh-CN" sz="1800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  <a:endParaRPr lang="zh-CN" altLang="zh-CN" sz="1800" smtClean="0">
              <a:solidFill>
                <a:srgbClr val="00B0F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return 1;		</a:t>
            </a:r>
            <a:r>
              <a:rPr lang="en-US" altLang="zh-CN" sz="1800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语句</a:t>
            </a:r>
            <a:r>
              <a:rPr lang="en-US" altLang="zh-CN" sz="1800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2</a:t>
            </a:r>
            <a:endParaRPr lang="zh-CN" altLang="zh-CN" sz="1800" smtClean="0">
              <a:solidFill>
                <a:srgbClr val="00B0F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else				</a:t>
            </a:r>
            <a:r>
              <a:rPr lang="en-US" altLang="zh-CN" sz="1800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语句</a:t>
            </a:r>
            <a:r>
              <a:rPr lang="en-US" altLang="zh-CN" sz="1800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3</a:t>
            </a:r>
            <a:endParaRPr lang="zh-CN" altLang="zh-CN" sz="1800" smtClean="0">
              <a:solidFill>
                <a:srgbClr val="00B0F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return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fun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(n-1)*n;	</a:t>
            </a:r>
            <a:r>
              <a:rPr lang="en-US" altLang="zh-CN" sz="1800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语句</a:t>
            </a:r>
            <a:r>
              <a:rPr lang="en-US" altLang="zh-CN" sz="1800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4</a:t>
            </a:r>
            <a:endParaRPr lang="zh-CN" altLang="zh-CN" sz="1800" smtClean="0">
              <a:solidFill>
                <a:srgbClr val="00B0F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lang="zh-CN" altLang="zh-CN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857356" y="4714884"/>
            <a:ext cx="207170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</a:pP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直接递归函数。</a:t>
            </a:r>
            <a:endParaRPr lang="zh-CN" altLang="en-US" sz="20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1538" y="3786190"/>
            <a:ext cx="1643074" cy="7960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17</a:t>
            </a:fld>
            <a:r>
              <a:rPr lang="en-US" altLang="zh-CN" smtClean="0"/>
              <a:t>/68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85720" y="467005"/>
            <a:ext cx="3286148" cy="461665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mtClean="0">
                <a:latin typeface="Consolas" pitchFamily="49" charset="0"/>
                <a:ea typeface="微软雅黑" pitchFamily="34" charset="-122"/>
                <a:cs typeface="Consolas" pitchFamily="49" charset="0"/>
              </a:rPr>
              <a:t>6.1.2 </a:t>
            </a:r>
            <a:r>
              <a:rPr lang="zh-CN" altLang="zh-CN" smtClean="0">
                <a:latin typeface="Consolas" pitchFamily="49" charset="0"/>
                <a:ea typeface="微软雅黑" pitchFamily="34" charset="-122"/>
                <a:cs typeface="Consolas" pitchFamily="49" charset="0"/>
              </a:rPr>
              <a:t>何时使用递归</a:t>
            </a:r>
            <a:endParaRPr lang="zh-CN" altLang="zh-CN" smtClean="0">
              <a:ln w="11430"/>
              <a:solidFill>
                <a:schemeClr val="bg1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1472" y="1428736"/>
            <a:ext cx="2643206" cy="483960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tIns="72000" bIns="72000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2200" smtClean="0">
                <a:solidFill>
                  <a:schemeClr val="bg1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1. </a:t>
            </a:r>
            <a:r>
              <a:rPr lang="zh-CN" altLang="zh-CN" sz="2200" smtClean="0">
                <a:latin typeface="Consolas" pitchFamily="49" charset="0"/>
                <a:ea typeface="微软雅黑" pitchFamily="34" charset="-122"/>
                <a:cs typeface="Consolas" pitchFamily="49" charset="0"/>
              </a:rPr>
              <a:t>定义是递归的</a:t>
            </a:r>
            <a:endParaRPr lang="zh-CN" altLang="zh-CN" sz="2200" smtClean="0">
              <a:solidFill>
                <a:schemeClr val="bg1"/>
              </a:solidFill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28596" y="2214554"/>
            <a:ext cx="857256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</a:pP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有许多数学公式、数列等的定义是递归的。例如，求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!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和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Fibonacci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（斐波那契）数列等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100" y="3286124"/>
            <a:ext cx="7000924" cy="21936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44000" bIns="144000" rtlCol="0">
            <a:sp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int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Fib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(int n) 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求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Fibonacci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数列的第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项</a:t>
            </a: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if (n==1 || n==2)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return 1;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else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return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Fib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(n-1)+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Fib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(n-2);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lang="zh-CN" altLang="zh-CN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18</a:t>
            </a:fld>
            <a:r>
              <a:rPr lang="en-US" altLang="zh-CN" smtClean="0"/>
              <a:t>/68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28596" y="285728"/>
            <a:ext cx="3286148" cy="483960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tIns="72000" bIns="72000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2200" smtClean="0">
                <a:latin typeface="Consolas" pitchFamily="49" charset="0"/>
                <a:ea typeface="微软雅黑" pitchFamily="34" charset="-122"/>
                <a:cs typeface="Consolas" pitchFamily="49" charset="0"/>
              </a:rPr>
              <a:t>2. </a:t>
            </a:r>
            <a:r>
              <a:rPr lang="zh-CN" altLang="zh-CN" sz="2200" smtClean="0">
                <a:latin typeface="Consolas" pitchFamily="49" charset="0"/>
                <a:ea typeface="微软雅黑" pitchFamily="34" charset="-122"/>
                <a:cs typeface="Consolas" pitchFamily="49" charset="0"/>
              </a:rPr>
              <a:t>数据结构是递归的</a:t>
            </a:r>
            <a:endParaRPr lang="zh-CN" altLang="zh-CN" sz="2200" smtClean="0">
              <a:solidFill>
                <a:schemeClr val="bg1"/>
              </a:solidFill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7158" y="928670"/>
            <a:ext cx="692948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</a:pP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有些数据结构是递归的。如单链表就是一种递归数据结构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282" y="1571612"/>
            <a:ext cx="8715436" cy="29838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44000" bIns="144000" rtlCol="0">
            <a:sp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template &lt;typename T&gt;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class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LinkNode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	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单链表结点类</a:t>
            </a: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public: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99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T data;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	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存放数据元素</a:t>
            </a: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99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LinkNode&lt;T&gt;* next;		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指向下一个结点的指针域</a:t>
            </a:r>
          </a:p>
          <a:p>
            <a:pPr algn="l">
              <a:lnSpc>
                <a:spcPts val="2200"/>
              </a:lnSpc>
              <a:spcBef>
                <a:spcPts val="120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LinkNode():next(NULL) {}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构造函数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</a:t>
            </a: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LinkNode(T d):data(d),next(NULL) {}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重载构造函数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</a:t>
            </a: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};</a:t>
            </a:r>
            <a:endParaRPr lang="zh-CN" altLang="zh-CN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grpSp>
        <p:nvGrpSpPr>
          <p:cNvPr id="2" name="组合 37"/>
          <p:cNvGrpSpPr/>
          <p:nvPr/>
        </p:nvGrpSpPr>
        <p:grpSpPr>
          <a:xfrm>
            <a:off x="714348" y="4792259"/>
            <a:ext cx="7858180" cy="1422823"/>
            <a:chOff x="747686" y="5018715"/>
            <a:chExt cx="7858180" cy="1422823"/>
          </a:xfrm>
        </p:grpSpPr>
        <p:sp>
          <p:nvSpPr>
            <p:cNvPr id="33" name="TextBox 32"/>
            <p:cNvSpPr txBox="1"/>
            <p:nvPr/>
          </p:nvSpPr>
          <p:spPr>
            <a:xfrm>
              <a:off x="5429256" y="5286388"/>
              <a:ext cx="317661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 smtClean="0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head=</a:t>
              </a:r>
              <a:r>
                <a:rPr lang="zh-CN" altLang="en-US" sz="2000" smtClean="0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（</a:t>
              </a:r>
              <a:r>
                <a:rPr lang="en-US" altLang="zh-CN" sz="2000" i="1" smtClean="0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a</a:t>
              </a:r>
              <a:r>
                <a:rPr lang="en-US" altLang="zh-CN" sz="2000" baseline="-25000" smtClean="0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1</a:t>
              </a:r>
              <a:r>
                <a:rPr lang="en-US" altLang="zh-CN" sz="2000" smtClean="0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,head-&gt;next</a:t>
              </a:r>
              <a:r>
                <a:rPr lang="zh-CN" altLang="en-US" sz="2000" smtClean="0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）</a:t>
              </a:r>
            </a:p>
          </p:txBody>
        </p:sp>
        <p:sp>
          <p:nvSpPr>
            <p:cNvPr id="16" name="Text Box 42"/>
            <p:cNvSpPr txBox="1">
              <a:spLocks noChangeArrowheads="1"/>
            </p:cNvSpPr>
            <p:nvPr/>
          </p:nvSpPr>
          <p:spPr bwMode="auto">
            <a:xfrm>
              <a:off x="1575664" y="5617530"/>
              <a:ext cx="414000" cy="302275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91440" tIns="0" rIns="9144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1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a</a:t>
              </a:r>
              <a:r>
                <a:rPr kumimoji="0" lang="en-US" altLang="zh-CN" sz="1600" i="0" u="none" strike="noStrike" cap="none" normalizeH="0" baseline="-3000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1</a:t>
              </a:r>
              <a:endParaRPr kumimoji="0" lang="en-US" alt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7" name="Text Box 41"/>
            <p:cNvSpPr txBox="1">
              <a:spLocks noChangeArrowheads="1"/>
            </p:cNvSpPr>
            <p:nvPr/>
          </p:nvSpPr>
          <p:spPr bwMode="auto">
            <a:xfrm>
              <a:off x="2001050" y="5617530"/>
              <a:ext cx="303293" cy="302275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91440" tIns="0" rIns="9144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8" name="Text Box 40"/>
            <p:cNvSpPr txBox="1">
              <a:spLocks noChangeArrowheads="1"/>
            </p:cNvSpPr>
            <p:nvPr/>
          </p:nvSpPr>
          <p:spPr bwMode="auto">
            <a:xfrm>
              <a:off x="4209065" y="5617530"/>
              <a:ext cx="414000" cy="302275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91440" tIns="0" rIns="9144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1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a</a:t>
              </a:r>
              <a:r>
                <a:rPr kumimoji="0" lang="en-US" altLang="zh-CN" sz="1600" i="1" u="none" strike="noStrike" cap="none" normalizeH="0" baseline="-3000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n</a:t>
              </a:r>
              <a:endParaRPr kumimoji="0" lang="en-US" alt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9" name="Text Box 39"/>
            <p:cNvSpPr txBox="1">
              <a:spLocks noChangeArrowheads="1"/>
            </p:cNvSpPr>
            <p:nvPr/>
          </p:nvSpPr>
          <p:spPr bwMode="auto">
            <a:xfrm>
              <a:off x="4624925" y="5617530"/>
              <a:ext cx="304265" cy="302275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2520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1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∧</a:t>
              </a:r>
            </a:p>
          </p:txBody>
        </p:sp>
        <p:sp>
          <p:nvSpPr>
            <p:cNvPr id="21" name="Text Box 37"/>
            <p:cNvSpPr txBox="1">
              <a:spLocks noChangeArrowheads="1"/>
            </p:cNvSpPr>
            <p:nvPr/>
          </p:nvSpPr>
          <p:spPr bwMode="auto">
            <a:xfrm>
              <a:off x="2460270" y="5617530"/>
              <a:ext cx="414000" cy="302275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91440" tIns="0" rIns="9144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1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a</a:t>
              </a:r>
              <a:r>
                <a:rPr kumimoji="0" lang="en-US" altLang="zh-CN" sz="1600" i="0" u="none" strike="noStrike" cap="none" normalizeH="0" baseline="-3000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2</a:t>
              </a:r>
              <a:endParaRPr kumimoji="0" lang="en-US" alt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22" name="Text Box 36"/>
            <p:cNvSpPr txBox="1">
              <a:spLocks noChangeArrowheads="1"/>
            </p:cNvSpPr>
            <p:nvPr/>
          </p:nvSpPr>
          <p:spPr bwMode="auto">
            <a:xfrm>
              <a:off x="2876130" y="5617530"/>
              <a:ext cx="303293" cy="302275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91440" tIns="0" rIns="9144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23" name="Line 35"/>
            <p:cNvSpPr>
              <a:spLocks noChangeShapeType="1"/>
            </p:cNvSpPr>
            <p:nvPr/>
          </p:nvSpPr>
          <p:spPr bwMode="auto">
            <a:xfrm>
              <a:off x="2985200" y="5768182"/>
              <a:ext cx="524930" cy="0"/>
            </a:xfrm>
            <a:prstGeom prst="line">
              <a:avLst/>
            </a:prstGeom>
            <a:ln w="19050">
              <a:headEnd/>
              <a:tailEnd type="arrow" w="sm" len="sm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24" name="Line 34"/>
            <p:cNvSpPr>
              <a:spLocks noChangeShapeType="1"/>
            </p:cNvSpPr>
            <p:nvPr/>
          </p:nvSpPr>
          <p:spPr bwMode="auto">
            <a:xfrm>
              <a:off x="2110316" y="5768182"/>
              <a:ext cx="349953" cy="0"/>
            </a:xfrm>
            <a:prstGeom prst="line">
              <a:avLst/>
            </a:prstGeom>
            <a:ln w="19050">
              <a:headEnd/>
              <a:tailEnd type="arrow" w="sm" len="sm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25" name="Text Box 33"/>
            <p:cNvSpPr txBox="1">
              <a:spLocks noChangeArrowheads="1"/>
            </p:cNvSpPr>
            <p:nvPr/>
          </p:nvSpPr>
          <p:spPr bwMode="auto">
            <a:xfrm>
              <a:off x="3510130" y="5617530"/>
              <a:ext cx="468549" cy="30227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91440" tIns="0" rIns="9144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+mj-ea"/>
                  <a:ea typeface="+mj-ea"/>
                  <a:cs typeface="Consolas" pitchFamily="49" charset="0"/>
                </a:rPr>
                <a:t>…</a:t>
              </a:r>
            </a:p>
          </p:txBody>
        </p:sp>
        <p:sp>
          <p:nvSpPr>
            <p:cNvPr id="26" name="Line 32"/>
            <p:cNvSpPr>
              <a:spLocks noChangeShapeType="1"/>
            </p:cNvSpPr>
            <p:nvPr/>
          </p:nvSpPr>
          <p:spPr bwMode="auto">
            <a:xfrm>
              <a:off x="3923270" y="5768182"/>
              <a:ext cx="285795" cy="0"/>
            </a:xfrm>
            <a:prstGeom prst="line">
              <a:avLst/>
            </a:prstGeom>
            <a:ln w="19050">
              <a:headEnd/>
              <a:tailEnd type="arrow" w="sm" len="sm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27" name="Text Box 31"/>
            <p:cNvSpPr txBox="1">
              <a:spLocks noChangeArrowheads="1"/>
            </p:cNvSpPr>
            <p:nvPr/>
          </p:nvSpPr>
          <p:spPr bwMode="auto">
            <a:xfrm>
              <a:off x="747686" y="5588955"/>
              <a:ext cx="528818" cy="30227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7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head</a:t>
              </a:r>
            </a:p>
          </p:txBody>
        </p:sp>
        <p:sp>
          <p:nvSpPr>
            <p:cNvPr id="28" name="Line 30"/>
            <p:cNvSpPr>
              <a:spLocks noChangeShapeType="1"/>
            </p:cNvSpPr>
            <p:nvPr/>
          </p:nvSpPr>
          <p:spPr bwMode="auto">
            <a:xfrm>
              <a:off x="1284837" y="5777707"/>
              <a:ext cx="286767" cy="0"/>
            </a:xfrm>
            <a:prstGeom prst="line">
              <a:avLst/>
            </a:prstGeom>
            <a:ln w="19050">
              <a:headEnd/>
              <a:tailEnd type="arrow" w="sm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30" name="Text Box 31"/>
            <p:cNvSpPr txBox="1">
              <a:spLocks noChangeArrowheads="1"/>
            </p:cNvSpPr>
            <p:nvPr/>
          </p:nvSpPr>
          <p:spPr bwMode="auto">
            <a:xfrm>
              <a:off x="1614290" y="5018715"/>
              <a:ext cx="2957710" cy="30227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7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head-&gt;next</a:t>
              </a:r>
              <a:r>
                <a:rPr kumimoji="0" lang="zh-CN" altLang="en-US" sz="17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也是一个单链表</a:t>
              </a:r>
              <a:endParaRPr kumimoji="0" lang="en-US" altLang="zh-CN" sz="17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cxnSp>
          <p:nvCxnSpPr>
            <p:cNvPr id="32" name="直接箭头连接符 31"/>
            <p:cNvCxnSpPr/>
            <p:nvPr/>
          </p:nvCxnSpPr>
          <p:spPr>
            <a:xfrm rot="16200000" flipH="1">
              <a:off x="2678893" y="5428147"/>
              <a:ext cx="285752" cy="71438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4" name="右箭头 33"/>
            <p:cNvSpPr/>
            <p:nvPr/>
          </p:nvSpPr>
          <p:spPr bwMode="auto">
            <a:xfrm>
              <a:off x="5000628" y="5357826"/>
              <a:ext cx="428628" cy="214314"/>
            </a:xfrm>
            <a:prstGeom prst="rightArrow">
              <a:avLst/>
            </a:prstGeom>
            <a:ln>
              <a:headEnd/>
              <a:tailEnd type="arrow" w="sm" len="sm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2428860" y="6072206"/>
              <a:ext cx="235745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 sz="18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不带头结点单链表</a:t>
              </a:r>
            </a:p>
          </p:txBody>
        </p:sp>
      </p:grpSp>
      <p:sp>
        <p:nvSpPr>
          <p:cNvPr id="38" name="灯片编号占位符 3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19</a:t>
            </a:fld>
            <a:r>
              <a:rPr lang="en-US" altLang="zh-CN" smtClean="0"/>
              <a:t>/68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1285852" y="548702"/>
            <a:ext cx="7572428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2800"/>
              </a:lnSpc>
              <a:spcBef>
                <a:spcPts val="0"/>
              </a:spcBef>
            </a:pP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求一个不带头结点单链表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p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中所有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data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成员（假设为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int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型）之和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。</a:t>
            </a:r>
          </a:p>
        </p:txBody>
      </p:sp>
      <p:grpSp>
        <p:nvGrpSpPr>
          <p:cNvPr id="2" name="组合 18"/>
          <p:cNvGrpSpPr/>
          <p:nvPr/>
        </p:nvGrpSpPr>
        <p:grpSpPr>
          <a:xfrm>
            <a:off x="214282" y="285728"/>
            <a:ext cx="1000100" cy="1071569"/>
            <a:chOff x="214282" y="142852"/>
            <a:chExt cx="1000100" cy="1071569"/>
          </a:xfrm>
        </p:grpSpPr>
        <p:sp>
          <p:nvSpPr>
            <p:cNvPr id="20" name="Oval 20"/>
            <p:cNvSpPr>
              <a:spLocks noChangeArrowheads="1"/>
            </p:cNvSpPr>
            <p:nvPr/>
          </p:nvSpPr>
          <p:spPr bwMode="gray">
            <a:xfrm>
              <a:off x="214282" y="142852"/>
              <a:ext cx="1000100" cy="1071569"/>
            </a:xfrm>
            <a:prstGeom prst="ellipse">
              <a:avLst/>
            </a:prstGeom>
            <a:solidFill>
              <a:srgbClr val="F8F8F8"/>
            </a:solidFill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zh-CN">
                <a:latin typeface="Calibri" pitchFamily="34" charset="0"/>
                <a:cs typeface="Arial" pitchFamily="34" charset="0"/>
              </a:endParaRPr>
            </a:p>
          </p:txBody>
        </p:sp>
        <p:sp>
          <p:nvSpPr>
            <p:cNvPr id="21" name="Oval 21"/>
            <p:cNvSpPr>
              <a:spLocks noChangeArrowheads="1"/>
            </p:cNvSpPr>
            <p:nvPr/>
          </p:nvSpPr>
          <p:spPr bwMode="gray">
            <a:xfrm>
              <a:off x="255399" y="186960"/>
              <a:ext cx="916658" cy="98335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38100">
              <a:solidFill>
                <a:srgbClr val="FF0000">
                  <a:alpha val="70195"/>
                </a:srgb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zh-CN">
                <a:latin typeface="Calibri" pitchFamily="34" charset="0"/>
                <a:cs typeface="Arial" pitchFamily="34" charset="0"/>
              </a:endParaRPr>
            </a:p>
          </p:txBody>
        </p:sp>
        <p:sp>
          <p:nvSpPr>
            <p:cNvPr id="22" name="Oval 22"/>
            <p:cNvSpPr>
              <a:spLocks noChangeArrowheads="1"/>
            </p:cNvSpPr>
            <p:nvPr/>
          </p:nvSpPr>
          <p:spPr bwMode="gray">
            <a:xfrm>
              <a:off x="296515" y="233663"/>
              <a:ext cx="834424" cy="895136"/>
            </a:xfrm>
            <a:prstGeom prst="ellipse">
              <a:avLst/>
            </a:prstGeom>
            <a:noFill/>
            <a:ln w="38100">
              <a:solidFill>
                <a:srgbClr val="FF0000">
                  <a:alpha val="30196"/>
                </a:srgb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zh-CN">
                <a:latin typeface="Calibri" pitchFamily="34" charset="0"/>
                <a:cs typeface="Arial" pitchFamily="34" charset="0"/>
              </a:endParaRPr>
            </a:p>
          </p:txBody>
        </p:sp>
        <p:sp>
          <p:nvSpPr>
            <p:cNvPr id="23" name="Text Box 23"/>
            <p:cNvSpPr txBox="1">
              <a:spLocks noChangeArrowheads="1"/>
            </p:cNvSpPr>
            <p:nvPr/>
          </p:nvSpPr>
          <p:spPr bwMode="gray">
            <a:xfrm>
              <a:off x="364012" y="538608"/>
              <a:ext cx="728120" cy="3139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1800" b="1" smtClean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  <a:cs typeface="Consolas" pitchFamily="49" charset="0"/>
                </a:rPr>
                <a:t>示例</a:t>
              </a:r>
              <a:endParaRPr lang="zh-CN" altLang="en-US" sz="18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Consolas" pitchFamily="49" charset="0"/>
              </a:endParaRPr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428596" y="3071810"/>
            <a:ext cx="7929618" cy="21199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44000" bIns="144000" rtlCol="0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int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Sum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(LinkNode&lt;int&gt;* p)  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求不带头结点单链表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所有结点值之和</a:t>
            </a:r>
          </a:p>
          <a:p>
            <a:pPr algn="l">
              <a:lnSpc>
                <a:spcPts val="24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if (p==NULL)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4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return 0;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4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else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4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return p-&gt;data+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Sum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(p-&gt;next);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4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lang="zh-CN" altLang="zh-CN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grpSp>
        <p:nvGrpSpPr>
          <p:cNvPr id="3" name="组合 25"/>
          <p:cNvGrpSpPr/>
          <p:nvPr/>
        </p:nvGrpSpPr>
        <p:grpSpPr>
          <a:xfrm>
            <a:off x="2285984" y="1500174"/>
            <a:ext cx="4000528" cy="894092"/>
            <a:chOff x="2285984" y="1500174"/>
            <a:chExt cx="4000528" cy="894092"/>
          </a:xfrm>
        </p:grpSpPr>
        <p:sp>
          <p:nvSpPr>
            <p:cNvPr id="5" name="Text Box 42"/>
            <p:cNvSpPr txBox="1">
              <a:spLocks noChangeArrowheads="1"/>
            </p:cNvSpPr>
            <p:nvPr/>
          </p:nvSpPr>
          <p:spPr bwMode="auto">
            <a:xfrm>
              <a:off x="2932986" y="2082466"/>
              <a:ext cx="414000" cy="302275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91440" tIns="0" rIns="9144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1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a</a:t>
              </a:r>
              <a:r>
                <a:rPr kumimoji="0" lang="en-US" altLang="zh-CN" sz="1600" i="0" u="none" strike="noStrike" cap="none" normalizeH="0" baseline="-3000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1</a:t>
              </a:r>
              <a:endParaRPr kumimoji="0" lang="en-US" alt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6" name="Text Box 41"/>
            <p:cNvSpPr txBox="1">
              <a:spLocks noChangeArrowheads="1"/>
            </p:cNvSpPr>
            <p:nvPr/>
          </p:nvSpPr>
          <p:spPr bwMode="auto">
            <a:xfrm>
              <a:off x="3358372" y="2082466"/>
              <a:ext cx="303293" cy="302275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91440" tIns="0" rIns="9144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7" name="Text Box 40"/>
            <p:cNvSpPr txBox="1">
              <a:spLocks noChangeArrowheads="1"/>
            </p:cNvSpPr>
            <p:nvPr/>
          </p:nvSpPr>
          <p:spPr bwMode="auto">
            <a:xfrm>
              <a:off x="5566387" y="2082466"/>
              <a:ext cx="414000" cy="302275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91440" tIns="0" rIns="9144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1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a</a:t>
              </a:r>
              <a:r>
                <a:rPr kumimoji="0" lang="en-US" altLang="zh-CN" sz="1600" i="1" u="none" strike="noStrike" cap="none" normalizeH="0" baseline="-3000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n</a:t>
              </a:r>
              <a:endParaRPr kumimoji="0" lang="en-US" alt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8" name="Text Box 39"/>
            <p:cNvSpPr txBox="1">
              <a:spLocks noChangeArrowheads="1"/>
            </p:cNvSpPr>
            <p:nvPr/>
          </p:nvSpPr>
          <p:spPr bwMode="auto">
            <a:xfrm>
              <a:off x="5982247" y="2082466"/>
              <a:ext cx="304265" cy="302275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2520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1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∧</a:t>
              </a:r>
            </a:p>
          </p:txBody>
        </p:sp>
        <p:sp>
          <p:nvSpPr>
            <p:cNvPr id="9" name="Text Box 37"/>
            <p:cNvSpPr txBox="1">
              <a:spLocks noChangeArrowheads="1"/>
            </p:cNvSpPr>
            <p:nvPr/>
          </p:nvSpPr>
          <p:spPr bwMode="auto">
            <a:xfrm>
              <a:off x="3817592" y="2082466"/>
              <a:ext cx="414000" cy="302275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91440" tIns="0" rIns="9144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1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a</a:t>
              </a:r>
              <a:r>
                <a:rPr kumimoji="0" lang="en-US" altLang="zh-CN" sz="1600" i="0" u="none" strike="noStrike" cap="none" normalizeH="0" baseline="-3000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2</a:t>
              </a:r>
              <a:endParaRPr kumimoji="0" lang="en-US" alt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0" name="Text Box 36"/>
            <p:cNvSpPr txBox="1">
              <a:spLocks noChangeArrowheads="1"/>
            </p:cNvSpPr>
            <p:nvPr/>
          </p:nvSpPr>
          <p:spPr bwMode="auto">
            <a:xfrm>
              <a:off x="4233452" y="2082466"/>
              <a:ext cx="303293" cy="302275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91440" tIns="0" rIns="9144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1" name="Line 35"/>
            <p:cNvSpPr>
              <a:spLocks noChangeShapeType="1"/>
            </p:cNvSpPr>
            <p:nvPr/>
          </p:nvSpPr>
          <p:spPr bwMode="auto">
            <a:xfrm>
              <a:off x="4342522" y="2233118"/>
              <a:ext cx="524930" cy="0"/>
            </a:xfrm>
            <a:prstGeom prst="line">
              <a:avLst/>
            </a:prstGeom>
            <a:ln w="19050">
              <a:headEnd/>
              <a:tailEnd type="arrow" w="sm" len="sm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2" name="Line 34"/>
            <p:cNvSpPr>
              <a:spLocks noChangeShapeType="1"/>
            </p:cNvSpPr>
            <p:nvPr/>
          </p:nvSpPr>
          <p:spPr bwMode="auto">
            <a:xfrm>
              <a:off x="3467638" y="2233118"/>
              <a:ext cx="349953" cy="0"/>
            </a:xfrm>
            <a:prstGeom prst="line">
              <a:avLst/>
            </a:prstGeom>
            <a:ln w="19050">
              <a:headEnd/>
              <a:tailEnd type="arrow" w="sm" len="sm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3" name="Text Box 33"/>
            <p:cNvSpPr txBox="1">
              <a:spLocks noChangeArrowheads="1"/>
            </p:cNvSpPr>
            <p:nvPr/>
          </p:nvSpPr>
          <p:spPr bwMode="auto">
            <a:xfrm>
              <a:off x="4867452" y="2082466"/>
              <a:ext cx="468549" cy="30227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91440" tIns="0" rIns="9144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+mj-ea"/>
                  <a:ea typeface="+mj-ea"/>
                  <a:cs typeface="Consolas" pitchFamily="49" charset="0"/>
                </a:rPr>
                <a:t>…</a:t>
              </a:r>
            </a:p>
          </p:txBody>
        </p:sp>
        <p:sp>
          <p:nvSpPr>
            <p:cNvPr id="14" name="Line 32"/>
            <p:cNvSpPr>
              <a:spLocks noChangeShapeType="1"/>
            </p:cNvSpPr>
            <p:nvPr/>
          </p:nvSpPr>
          <p:spPr bwMode="auto">
            <a:xfrm>
              <a:off x="5280592" y="2233118"/>
              <a:ext cx="285795" cy="0"/>
            </a:xfrm>
            <a:prstGeom prst="line">
              <a:avLst/>
            </a:prstGeom>
            <a:ln w="19050">
              <a:headEnd/>
              <a:tailEnd type="arrow" w="sm" len="sm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5" name="Text Box 31"/>
            <p:cNvSpPr txBox="1">
              <a:spLocks noChangeArrowheads="1"/>
            </p:cNvSpPr>
            <p:nvPr/>
          </p:nvSpPr>
          <p:spPr bwMode="auto">
            <a:xfrm>
              <a:off x="2285984" y="2091991"/>
              <a:ext cx="357190" cy="30227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70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p</a:t>
              </a:r>
            </a:p>
          </p:txBody>
        </p:sp>
        <p:sp>
          <p:nvSpPr>
            <p:cNvPr id="16" name="Line 30"/>
            <p:cNvSpPr>
              <a:spLocks noChangeShapeType="1"/>
            </p:cNvSpPr>
            <p:nvPr/>
          </p:nvSpPr>
          <p:spPr bwMode="auto">
            <a:xfrm>
              <a:off x="2642159" y="2242643"/>
              <a:ext cx="286767" cy="0"/>
            </a:xfrm>
            <a:prstGeom prst="line">
              <a:avLst/>
            </a:prstGeom>
            <a:ln w="19050">
              <a:headEnd/>
              <a:tailEnd type="arrow" w="sm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cxnSp>
          <p:nvCxnSpPr>
            <p:cNvPr id="17" name="直接箭头连接符 16"/>
            <p:cNvCxnSpPr/>
            <p:nvPr/>
          </p:nvCxnSpPr>
          <p:spPr>
            <a:xfrm rot="16200000" flipH="1">
              <a:off x="4036215" y="1893083"/>
              <a:ext cx="285752" cy="71438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5" name="Text Box 31"/>
            <p:cNvSpPr txBox="1">
              <a:spLocks noChangeArrowheads="1"/>
            </p:cNvSpPr>
            <p:nvPr/>
          </p:nvSpPr>
          <p:spPr bwMode="auto">
            <a:xfrm>
              <a:off x="3571868" y="1500174"/>
              <a:ext cx="1143008" cy="30227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70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p</a:t>
              </a:r>
              <a:r>
                <a:rPr kumimoji="0" lang="en-US" altLang="zh-CN" sz="17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-&gt;</a:t>
              </a:r>
              <a:r>
                <a:rPr kumimoji="0" lang="en-US" altLang="zh-CN" sz="170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next</a:t>
              </a:r>
            </a:p>
          </p:txBody>
        </p:sp>
      </p:grpSp>
      <p:sp>
        <p:nvSpPr>
          <p:cNvPr id="30" name="灯片编号占位符 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20</a:t>
            </a:fld>
            <a:r>
              <a:rPr lang="en-US" altLang="zh-CN" smtClean="0"/>
              <a:t>/68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14348" y="500042"/>
            <a:ext cx="4286280" cy="483960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tIns="72000" bIns="72000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2200" smtClean="0">
                <a:latin typeface="Consolas" pitchFamily="49" charset="0"/>
                <a:ea typeface="微软雅黑" pitchFamily="34" charset="-122"/>
                <a:cs typeface="Consolas" pitchFamily="49" charset="0"/>
              </a:rPr>
              <a:t>3. </a:t>
            </a:r>
            <a:r>
              <a:rPr lang="zh-CN" altLang="zh-CN" sz="2200" smtClean="0">
                <a:latin typeface="Consolas" pitchFamily="49" charset="0"/>
                <a:ea typeface="微软雅黑" pitchFamily="34" charset="-122"/>
                <a:cs typeface="Consolas" pitchFamily="49" charset="0"/>
              </a:rPr>
              <a:t>问题的求解方法是递归的</a:t>
            </a:r>
            <a:endParaRPr lang="zh-CN" altLang="zh-CN" sz="2200" smtClean="0">
              <a:solidFill>
                <a:schemeClr val="bg1"/>
              </a:solidFill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pic>
        <p:nvPicPr>
          <p:cNvPr id="1026" name="Picture 2" descr="http://img2.imgtn.bdimg.com/it/u=2453346877,1101521077&amp;fm=15&amp;gp=0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00298" y="1428736"/>
            <a:ext cx="4214842" cy="1855592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1000100" y="1488032"/>
            <a:ext cx="14287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Hanoi</a:t>
            </a:r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问题</a:t>
            </a:r>
            <a:endParaRPr lang="zh-CN" altLang="en-US" sz="2000" smtClean="0">
              <a:solidFill>
                <a:srgbClr val="FF000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2" name="组合 15"/>
          <p:cNvGrpSpPr/>
          <p:nvPr/>
        </p:nvGrpSpPr>
        <p:grpSpPr>
          <a:xfrm>
            <a:off x="214282" y="3786190"/>
            <a:ext cx="8358246" cy="1873392"/>
            <a:chOff x="214282" y="3786190"/>
            <a:chExt cx="8358246" cy="1873392"/>
          </a:xfrm>
        </p:grpSpPr>
        <p:sp>
          <p:nvSpPr>
            <p:cNvPr id="8" name="TextBox 7"/>
            <p:cNvSpPr txBox="1"/>
            <p:nvPr/>
          </p:nvSpPr>
          <p:spPr>
            <a:xfrm>
              <a:off x="214282" y="3786190"/>
              <a:ext cx="835824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zh-CN" sz="20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设</a:t>
              </a:r>
              <a:r>
                <a:rPr lang="en-US" altLang="zh-CN" sz="20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Hanoi(</a:t>
              </a:r>
              <a:r>
                <a:rPr lang="en-US" altLang="zh-CN" sz="2000" i="1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n</a:t>
              </a:r>
              <a:r>
                <a:rPr lang="zh-CN" altLang="zh-CN" sz="20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，</a:t>
              </a:r>
              <a:r>
                <a:rPr lang="en-US" altLang="zh-CN" sz="2000" i="1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x</a:t>
              </a:r>
              <a:r>
                <a:rPr lang="zh-CN" altLang="zh-CN" sz="20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，</a:t>
              </a:r>
              <a:r>
                <a:rPr lang="en-US" altLang="zh-CN" sz="2000" i="1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y</a:t>
              </a:r>
              <a:r>
                <a:rPr lang="zh-CN" altLang="zh-CN" sz="20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，</a:t>
              </a:r>
              <a:r>
                <a:rPr lang="en-US" altLang="zh-CN" sz="2000" i="1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z</a:t>
              </a:r>
              <a:r>
                <a:rPr lang="en-US" altLang="zh-CN" sz="20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)</a:t>
              </a:r>
              <a:r>
                <a:rPr lang="zh-CN" altLang="zh-CN" sz="20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表示将</a:t>
              </a:r>
              <a:r>
                <a:rPr lang="en-US" altLang="zh-CN" sz="2000" i="1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n</a:t>
              </a:r>
              <a:r>
                <a:rPr lang="zh-CN" altLang="zh-CN" sz="20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个盘片从</a:t>
              </a:r>
              <a:r>
                <a:rPr lang="en-US" altLang="zh-CN" sz="2000" i="1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x</a:t>
              </a:r>
              <a:r>
                <a:rPr lang="zh-CN" altLang="zh-CN" sz="20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塔座借助</a:t>
              </a:r>
              <a:r>
                <a:rPr lang="en-US" altLang="zh-CN" sz="2000" i="1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y</a:t>
              </a:r>
              <a:r>
                <a:rPr lang="zh-CN" altLang="zh-CN" sz="20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塔座移动到</a:t>
              </a:r>
              <a:r>
                <a:rPr lang="en-US" altLang="zh-CN" sz="2000" i="1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z</a:t>
              </a:r>
              <a:r>
                <a:rPr lang="zh-CN" altLang="zh-CN" sz="20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塔座上</a:t>
              </a:r>
              <a:r>
                <a:rPr lang="en-US" altLang="zh-CN" sz="20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:</a:t>
              </a:r>
              <a:endPara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030" name="Rectangle 6"/>
            <p:cNvSpPr>
              <a:spLocks noChangeArrowheads="1"/>
            </p:cNvSpPr>
            <p:nvPr/>
          </p:nvSpPr>
          <p:spPr bwMode="auto">
            <a:xfrm>
              <a:off x="714348" y="4857760"/>
              <a:ext cx="2335568" cy="533506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Hanoi(n</a:t>
              </a:r>
              <a:r>
                <a:rPr kumimoji="0" lang="zh-CN" altLang="en-US" sz="18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，</a:t>
              </a:r>
              <a:r>
                <a:rPr kumimoji="0" lang="en-US" altLang="zh-CN" sz="18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x</a:t>
              </a:r>
              <a:r>
                <a:rPr kumimoji="0" lang="zh-CN" altLang="en-US" sz="18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，</a:t>
              </a:r>
              <a:r>
                <a:rPr kumimoji="0" lang="en-US" altLang="zh-CN" sz="18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y</a:t>
              </a:r>
              <a:r>
                <a:rPr kumimoji="0" lang="zh-CN" altLang="en-US" sz="18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，</a:t>
              </a:r>
              <a:r>
                <a:rPr kumimoji="0" lang="en-US" altLang="zh-CN" sz="18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z)</a:t>
              </a:r>
            </a:p>
          </p:txBody>
        </p:sp>
        <p:sp>
          <p:nvSpPr>
            <p:cNvPr id="1029" name="Rectangle 5"/>
            <p:cNvSpPr>
              <a:spLocks noChangeArrowheads="1"/>
            </p:cNvSpPr>
            <p:nvPr/>
          </p:nvSpPr>
          <p:spPr bwMode="auto">
            <a:xfrm>
              <a:off x="3714745" y="4572008"/>
              <a:ext cx="4643469" cy="108757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180000" tIns="10800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ts val="21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Hanoi(n-1</a:t>
              </a:r>
              <a:r>
                <a:rPr kumimoji="0" lang="zh-CN" altLang="en-US" sz="18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，</a:t>
              </a:r>
              <a:r>
                <a:rPr kumimoji="0" lang="en-US" altLang="zh-CN" sz="18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x</a:t>
              </a:r>
              <a:r>
                <a:rPr kumimoji="0" lang="zh-CN" altLang="en-US" sz="18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，</a:t>
              </a:r>
              <a:r>
                <a:rPr kumimoji="0" lang="en-US" altLang="zh-CN" sz="18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z</a:t>
              </a:r>
              <a:r>
                <a:rPr kumimoji="0" lang="zh-CN" altLang="en-US" sz="18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，</a:t>
              </a:r>
              <a:r>
                <a:rPr kumimoji="0" lang="en-US" altLang="zh-CN" sz="18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y)</a:t>
              </a:r>
              <a:r>
                <a:rPr kumimoji="0" lang="zh-CN" altLang="en-US" sz="18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；</a:t>
              </a:r>
            </a:p>
            <a:p>
              <a:pPr marL="0" marR="0" lvl="0" algn="l" defTabSz="914400" rtl="0" eaLnBrk="0" fontAlgn="base" latinLnBrk="0" hangingPunct="0">
                <a:lnSpc>
                  <a:spcPts val="21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move(n</a:t>
              </a:r>
              <a:r>
                <a:rPr kumimoji="0" lang="zh-CN" altLang="en-US" sz="18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，</a:t>
              </a:r>
              <a:r>
                <a:rPr kumimoji="0" lang="en-US" altLang="zh-CN" sz="18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x</a:t>
              </a:r>
              <a:r>
                <a:rPr kumimoji="0" lang="zh-CN" altLang="en-US" sz="18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，</a:t>
              </a:r>
              <a:r>
                <a:rPr kumimoji="0" lang="en-US" altLang="zh-CN" sz="18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z)</a:t>
              </a:r>
              <a:r>
                <a:rPr kumimoji="0" lang="zh-CN" altLang="en-US" sz="18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：将第</a:t>
              </a:r>
              <a:r>
                <a:rPr kumimoji="0" lang="en-US" altLang="zh-CN" sz="180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n</a:t>
              </a:r>
              <a:r>
                <a:rPr kumimoji="0" lang="zh-CN" altLang="en-US" sz="18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个圆盘从</a:t>
              </a:r>
              <a:r>
                <a:rPr kumimoji="0" lang="en-US" altLang="zh-CN" sz="180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x</a:t>
              </a:r>
              <a:r>
                <a:rPr kumimoji="0" lang="zh-CN" altLang="en-US" sz="18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移到</a:t>
              </a:r>
              <a:r>
                <a:rPr kumimoji="0" lang="en-US" altLang="zh-CN" sz="180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z</a:t>
              </a:r>
              <a:r>
                <a:rPr kumimoji="0" lang="zh-CN" altLang="en-US" sz="18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；</a:t>
              </a:r>
            </a:p>
            <a:p>
              <a:pPr marL="0" marR="0" lvl="0" algn="l" defTabSz="914400" rtl="0" eaLnBrk="0" fontAlgn="base" latinLnBrk="0" hangingPunct="0">
                <a:lnSpc>
                  <a:spcPts val="21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Hanoi(n-1</a:t>
              </a:r>
              <a:r>
                <a:rPr kumimoji="0" lang="zh-CN" altLang="en-US" sz="18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，</a:t>
              </a:r>
              <a:r>
                <a:rPr kumimoji="0" lang="en-US" altLang="zh-CN" sz="18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y</a:t>
              </a:r>
              <a:r>
                <a:rPr kumimoji="0" lang="zh-CN" altLang="en-US" sz="18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，</a:t>
              </a:r>
              <a:r>
                <a:rPr kumimoji="0" lang="en-US" altLang="zh-CN" sz="18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x</a:t>
              </a:r>
              <a:r>
                <a:rPr kumimoji="0" lang="zh-CN" altLang="en-US" sz="18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，</a:t>
              </a:r>
              <a:r>
                <a:rPr kumimoji="0" lang="en-US" altLang="zh-CN" sz="18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z)</a:t>
              </a:r>
            </a:p>
          </p:txBody>
        </p:sp>
        <p:sp>
          <p:nvSpPr>
            <p:cNvPr id="15" name="右箭头 14"/>
            <p:cNvSpPr/>
            <p:nvPr/>
          </p:nvSpPr>
          <p:spPr bwMode="auto">
            <a:xfrm>
              <a:off x="3214678" y="5000636"/>
              <a:ext cx="357190" cy="214314"/>
            </a:xfrm>
            <a:prstGeom prst="rightArrow">
              <a:avLst/>
            </a:prstGeom>
            <a:ln>
              <a:headEnd/>
              <a:tailEnd type="arrow" w="sm" len="sm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sz="18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</p:grpSp>
      <p:sp>
        <p:nvSpPr>
          <p:cNvPr id="17" name="灯片编号占位符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21</a:t>
            </a:fld>
            <a:r>
              <a:rPr lang="en-US" altLang="zh-CN" smtClean="0"/>
              <a:t>/68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14282" y="2885047"/>
            <a:ext cx="8715436" cy="29310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44000" bIns="144000" rtlCol="0">
            <a:sp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void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Hanoi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(int n,char x,char y,char z)   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//Hanoi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递归算法</a:t>
            </a:r>
          </a:p>
          <a:p>
            <a:pPr algn="l">
              <a:lnSpc>
                <a:spcPts val="23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if (n==1)		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只有一个盘片的情况</a:t>
            </a:r>
          </a:p>
          <a:p>
            <a:pPr algn="l">
              <a:lnSpc>
                <a:spcPts val="23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printf("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将第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%d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个盘片从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%c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移动到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%c\n",n,x,z);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3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else			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有两个或多个盘片的情况</a:t>
            </a:r>
          </a:p>
          <a:p>
            <a:pPr algn="l">
              <a:lnSpc>
                <a:spcPts val="23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{ 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Hanoi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(n-1,x,z,y);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3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printf("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将第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%d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个盘片从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%c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移动到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%c\n",n,x,z);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3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Hanoi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(n-1,y,x,z);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3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}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3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lang="zh-CN" altLang="zh-CN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pic>
        <p:nvPicPr>
          <p:cNvPr id="6" name="Picture 2" descr="http://img2.imgtn.bdimg.com/it/u=2453346877,1101521077&amp;fm=15&amp;gp=0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1538" y="428604"/>
            <a:ext cx="4214842" cy="1855592"/>
          </a:xfrm>
          <a:prstGeom prst="rect">
            <a:avLst/>
          </a:prstGeom>
          <a:noFill/>
        </p:spPr>
      </p:pic>
      <p:sp>
        <p:nvSpPr>
          <p:cNvPr id="7" name="下箭头 6"/>
          <p:cNvSpPr/>
          <p:nvPr/>
        </p:nvSpPr>
        <p:spPr bwMode="auto">
          <a:xfrm>
            <a:off x="3000364" y="2428868"/>
            <a:ext cx="214314" cy="285752"/>
          </a:xfrm>
          <a:prstGeom prst="downArrow">
            <a:avLst/>
          </a:prstGeom>
          <a:ln>
            <a:headEnd/>
            <a:tailEnd type="arrow" w="sm" len="sm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22</a:t>
            </a:fld>
            <a:r>
              <a:rPr lang="en-US" altLang="zh-CN" smtClean="0"/>
              <a:t>/68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/>
          <p:cNvSpPr txBox="1"/>
          <p:nvPr/>
        </p:nvSpPr>
        <p:spPr>
          <a:xfrm>
            <a:off x="285720" y="428604"/>
            <a:ext cx="2857520" cy="461665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mtClean="0">
                <a:latin typeface="Consolas" pitchFamily="49" charset="0"/>
                <a:ea typeface="微软雅黑" pitchFamily="34" charset="-122"/>
                <a:cs typeface="Consolas" pitchFamily="49" charset="0"/>
              </a:rPr>
              <a:t>6.1.3 </a:t>
            </a:r>
            <a:r>
              <a:rPr lang="zh-CN" altLang="zh-CN" smtClean="0">
                <a:latin typeface="Consolas" pitchFamily="49" charset="0"/>
                <a:ea typeface="微软雅黑" pitchFamily="34" charset="-122"/>
                <a:cs typeface="Consolas" pitchFamily="49" charset="0"/>
              </a:rPr>
              <a:t>递归模型</a:t>
            </a:r>
            <a:endParaRPr lang="zh-CN" altLang="zh-CN" smtClean="0">
              <a:ln w="11430"/>
              <a:solidFill>
                <a:srgbClr val="FF000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1472" y="1142984"/>
            <a:ext cx="75009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 sz="200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递归模型是递归算法的抽象，它反映一个递归问题的递归结构。</a:t>
            </a:r>
            <a:endParaRPr lang="zh-CN" altLang="en-US" sz="2000" smtClean="0">
              <a:solidFill>
                <a:srgbClr val="0000FF"/>
              </a:solidFill>
              <a:latin typeface="楷体" pitchFamily="49" charset="-122"/>
              <a:ea typeface="楷体" pitchFamily="49" charset="-122"/>
              <a:cs typeface="Consolas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14414" y="4882619"/>
            <a:ext cx="4786346" cy="760959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216000" tIns="72000" bIns="72000" rtlCol="0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</a:pP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f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)=1				</a:t>
            </a:r>
            <a:r>
              <a:rPr lang="en-US" altLang="zh-CN" sz="1800" i="1" smtClean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lang="en-US" altLang="zh-CN" sz="1800" smtClean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=1</a:t>
            </a:r>
            <a:endParaRPr lang="zh-CN" altLang="zh-CN" sz="1800" smtClean="0">
              <a:solidFill>
                <a:srgbClr val="00B0F0"/>
              </a:solidFill>
              <a:latin typeface="Consolas" pitchFamily="49" charset="0"/>
              <a:cs typeface="Consolas" pitchFamily="49" charset="0"/>
            </a:endParaRPr>
          </a:p>
          <a:p>
            <a:pPr algn="l">
              <a:lnSpc>
                <a:spcPts val="2400"/>
              </a:lnSpc>
              <a:spcBef>
                <a:spcPts val="0"/>
              </a:spcBef>
            </a:pP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f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)=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*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f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-1)			</a:t>
            </a:r>
            <a:r>
              <a:rPr lang="en-US" altLang="zh-CN" sz="1800" i="1" smtClean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lang="en-US" altLang="zh-CN" sz="1800" smtClean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&gt;1</a:t>
            </a:r>
            <a:endParaRPr lang="zh-CN" altLang="zh-CN" sz="1800" smtClean="0">
              <a:solidFill>
                <a:srgbClr val="00B0F0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" name="下箭头 7"/>
          <p:cNvSpPr/>
          <p:nvPr/>
        </p:nvSpPr>
        <p:spPr bwMode="auto">
          <a:xfrm>
            <a:off x="3071802" y="4214818"/>
            <a:ext cx="214314" cy="571504"/>
          </a:xfrm>
          <a:prstGeom prst="downArrow">
            <a:avLst/>
          </a:prstGeom>
          <a:ln>
            <a:headEnd/>
            <a:tailEnd type="arrow" w="sm" len="sm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357554" y="4286256"/>
            <a:ext cx="1428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 sz="1800" smtClean="0">
                <a:solidFill>
                  <a:srgbClr val="0000FF"/>
                </a:solidFill>
                <a:latin typeface="仿宋" pitchFamily="49" charset="-122"/>
                <a:ea typeface="仿宋" pitchFamily="49" charset="-122"/>
              </a:rPr>
              <a:t>递归模型</a:t>
            </a:r>
            <a:endParaRPr lang="zh-CN" altLang="en-US" sz="1800" smtClean="0">
              <a:solidFill>
                <a:srgbClr val="0000FF"/>
              </a:solidFill>
              <a:latin typeface="仿宋" pitchFamily="49" charset="-122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57224" y="2023477"/>
            <a:ext cx="6286544" cy="21199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44000" bIns="144000" rtlCol="0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int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fun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(int n)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4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if (n==1)			</a:t>
            </a:r>
            <a:r>
              <a:rPr lang="en-US" altLang="zh-CN" sz="1800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语句</a:t>
            </a:r>
            <a:r>
              <a:rPr lang="en-US" altLang="zh-CN" sz="1800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  <a:endParaRPr lang="zh-CN" altLang="zh-CN" sz="1800" smtClean="0">
              <a:solidFill>
                <a:srgbClr val="00B0F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4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return 1;		</a:t>
            </a:r>
            <a:r>
              <a:rPr lang="en-US" altLang="zh-CN" sz="1800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语句</a:t>
            </a:r>
            <a:r>
              <a:rPr lang="en-US" altLang="zh-CN" sz="1800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2</a:t>
            </a:r>
            <a:endParaRPr lang="zh-CN" altLang="zh-CN" sz="1800" smtClean="0">
              <a:solidFill>
                <a:srgbClr val="00B0F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4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else				</a:t>
            </a:r>
            <a:r>
              <a:rPr lang="en-US" altLang="zh-CN" sz="1800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语句</a:t>
            </a:r>
            <a:r>
              <a:rPr lang="en-US" altLang="zh-CN" sz="1800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3</a:t>
            </a:r>
            <a:endParaRPr lang="zh-CN" altLang="zh-CN" sz="1800" smtClean="0">
              <a:solidFill>
                <a:srgbClr val="00B0F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4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return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fun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(n-1)*n;	</a:t>
            </a:r>
            <a:r>
              <a:rPr lang="en-US" altLang="zh-CN" sz="1800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语句</a:t>
            </a:r>
            <a:r>
              <a:rPr lang="en-US" altLang="zh-CN" sz="1800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4</a:t>
            </a:r>
            <a:endParaRPr lang="zh-CN" altLang="zh-CN" sz="1800" smtClean="0">
              <a:solidFill>
                <a:srgbClr val="00B0F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4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lang="zh-CN" altLang="zh-CN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23</a:t>
            </a:fld>
            <a:r>
              <a:rPr lang="en-US" altLang="zh-CN" smtClean="0"/>
              <a:t>/68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85786" y="714356"/>
            <a:ext cx="4786346" cy="760959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216000" tIns="72000" bIns="72000" rtlCol="0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</a:pP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f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)=1				</a:t>
            </a:r>
            <a:r>
              <a:rPr lang="en-US" altLang="zh-CN" sz="1800" i="1" smtClean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lang="en-US" altLang="zh-CN" sz="1800" smtClean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=1</a:t>
            </a:r>
            <a:endParaRPr lang="zh-CN" altLang="zh-CN" sz="1800" smtClean="0">
              <a:solidFill>
                <a:srgbClr val="00B0F0"/>
              </a:solidFill>
              <a:latin typeface="Consolas" pitchFamily="49" charset="0"/>
              <a:cs typeface="Consolas" pitchFamily="49" charset="0"/>
            </a:endParaRPr>
          </a:p>
          <a:p>
            <a:pPr algn="l">
              <a:lnSpc>
                <a:spcPts val="2400"/>
              </a:lnSpc>
              <a:spcBef>
                <a:spcPts val="0"/>
              </a:spcBef>
            </a:pP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f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)=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*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f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-1)			</a:t>
            </a:r>
            <a:r>
              <a:rPr lang="en-US" altLang="zh-CN" sz="1800" i="1" smtClean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lang="en-US" altLang="zh-CN" sz="1800" smtClean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&gt;1</a:t>
            </a:r>
            <a:endParaRPr lang="zh-CN" altLang="zh-CN" sz="1800" smtClean="0">
              <a:solidFill>
                <a:srgbClr val="00B0F0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29322" y="681018"/>
            <a:ext cx="1214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en-US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递归出口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29322" y="1090596"/>
            <a:ext cx="1214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en-US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递归体</a:t>
            </a:r>
          </a:p>
        </p:txBody>
      </p:sp>
      <p:cxnSp>
        <p:nvCxnSpPr>
          <p:cNvPr id="9" name="直接箭头连接符 8"/>
          <p:cNvCxnSpPr/>
          <p:nvPr/>
        </p:nvCxnSpPr>
        <p:spPr>
          <a:xfrm rot="10800000" flipV="1">
            <a:off x="5214942" y="866757"/>
            <a:ext cx="714380" cy="0"/>
          </a:xfrm>
          <a:prstGeom prst="straightConnector1">
            <a:avLst/>
          </a:prstGeom>
          <a:ln w="1905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 rot="10800000" flipV="1">
            <a:off x="5214942" y="1271572"/>
            <a:ext cx="714380" cy="0"/>
          </a:xfrm>
          <a:prstGeom prst="straightConnector1">
            <a:avLst/>
          </a:prstGeom>
          <a:ln w="1905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2910" y="2071678"/>
            <a:ext cx="7429552" cy="1856891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marL="342900" indent="-342900" algn="l">
              <a:lnSpc>
                <a:spcPct val="15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一般地，一个递归模型是由递归出口和递归体两部分组成。</a:t>
            </a:r>
            <a:endParaRPr lang="en-US" altLang="zh-CN" sz="20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marL="342900" indent="-342900" algn="l">
              <a:lnSpc>
                <a:spcPct val="15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递归出口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确定递归到何时结束，即指出明确的递归结束条件。</a:t>
            </a:r>
            <a:endParaRPr lang="en-US" altLang="zh-CN" sz="20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marL="342900" indent="-342900" algn="l">
              <a:lnSpc>
                <a:spcPct val="15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递归体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确定递归求解时的递推关系。</a:t>
            </a:r>
            <a:endParaRPr lang="zh-CN" altLang="en-US" sz="20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24</a:t>
            </a:fld>
            <a:r>
              <a:rPr lang="en-US" altLang="zh-CN" smtClean="0"/>
              <a:t>/68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6" name="Rectangle 2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642910" y="571480"/>
            <a:ext cx="35719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递归出口的一般格式如下：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2910" y="1928802"/>
            <a:ext cx="35719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递归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体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的一般格式如下：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2976" y="1071546"/>
            <a:ext cx="1500198" cy="495108"/>
          </a:xfrm>
          <a:prstGeom prst="rect">
            <a:avLst/>
          </a:prstGeom>
          <a:solidFill>
            <a:schemeClr val="bg1"/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lIns="180000" tIns="108000" bIns="108000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1800" i="1" spc="5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仿宋" pitchFamily="49" charset="-122"/>
                <a:cs typeface="Consolas" pitchFamily="49" charset="0"/>
              </a:rPr>
              <a:t>f</a:t>
            </a:r>
            <a:r>
              <a:rPr lang="en-US" altLang="zh-CN" sz="1800" spc="5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仿宋" pitchFamily="49" charset="-122"/>
                <a:cs typeface="Consolas" pitchFamily="49" charset="0"/>
              </a:rPr>
              <a:t>(s</a:t>
            </a:r>
            <a:r>
              <a:rPr lang="en-US" altLang="zh-CN" sz="1800" spc="50" baseline="-2500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  <a:r>
              <a:rPr lang="en-US" altLang="zh-CN" sz="1800" spc="5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仿宋" pitchFamily="49" charset="-122"/>
                <a:cs typeface="Consolas" pitchFamily="49" charset="0"/>
              </a:rPr>
              <a:t>)=</a:t>
            </a:r>
            <a:r>
              <a:rPr lang="en-US" altLang="zh-CN" sz="1800" i="1" spc="5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仿宋" pitchFamily="49" charset="-122"/>
                <a:cs typeface="Consolas" pitchFamily="49" charset="0"/>
              </a:rPr>
              <a:t>m</a:t>
            </a:r>
            <a:r>
              <a:rPr lang="en-US" altLang="zh-CN" sz="1800" spc="50" baseline="-2500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  <a:endParaRPr lang="zh-CN" altLang="zh-CN" sz="1800" spc="50" smtClean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2976" y="2428868"/>
            <a:ext cx="6715172" cy="495108"/>
          </a:xfrm>
          <a:prstGeom prst="rect">
            <a:avLst/>
          </a:prstGeom>
          <a:solidFill>
            <a:schemeClr val="bg1"/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lIns="180000" tIns="108000" bIns="108000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1800" i="1" spc="5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仿宋" pitchFamily="49" charset="-122"/>
                <a:cs typeface="Consolas" pitchFamily="49" charset="0"/>
              </a:rPr>
              <a:t>f</a:t>
            </a:r>
            <a:r>
              <a:rPr lang="en-US" altLang="zh-CN" sz="1800" spc="5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sz="1800" i="1" spc="5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仿宋" pitchFamily="49" charset="-122"/>
                <a:cs typeface="Consolas" pitchFamily="49" charset="0"/>
              </a:rPr>
              <a:t>s</a:t>
            </a:r>
            <a:r>
              <a:rPr lang="en-US" altLang="zh-CN" sz="1800" i="1" spc="50" baseline="-2500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 sz="1800" spc="5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仿宋" pitchFamily="49" charset="-122"/>
                <a:cs typeface="Consolas" pitchFamily="49" charset="0"/>
              </a:rPr>
              <a:t>)=</a:t>
            </a:r>
            <a:r>
              <a:rPr lang="en-US" altLang="zh-CN" sz="1800" i="1" spc="5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仿宋" pitchFamily="49" charset="-122"/>
                <a:cs typeface="Consolas" pitchFamily="49" charset="0"/>
              </a:rPr>
              <a:t>g</a:t>
            </a:r>
            <a:r>
              <a:rPr lang="en-US" altLang="zh-CN" sz="1800" spc="5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sz="1800" i="1" spc="5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仿宋" pitchFamily="49" charset="-122"/>
                <a:cs typeface="Consolas" pitchFamily="49" charset="0"/>
              </a:rPr>
              <a:t>f</a:t>
            </a:r>
            <a:r>
              <a:rPr lang="en-US" altLang="zh-CN" sz="1800" spc="5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sz="1800" i="1" spc="5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仿宋" pitchFamily="49" charset="-122"/>
                <a:cs typeface="Consolas" pitchFamily="49" charset="0"/>
              </a:rPr>
              <a:t>s</a:t>
            </a:r>
            <a:r>
              <a:rPr lang="en-US" altLang="zh-CN" sz="1800" i="1" spc="50" baseline="-2500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 sz="1800" spc="5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仿宋" pitchFamily="49" charset="-122"/>
                <a:cs typeface="Consolas" pitchFamily="49" charset="0"/>
              </a:rPr>
              <a:t>)</a:t>
            </a:r>
            <a:r>
              <a:rPr lang="zh-CN" altLang="zh-CN" sz="1800" spc="5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1800" i="1" spc="5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仿宋" pitchFamily="49" charset="-122"/>
                <a:cs typeface="Consolas" pitchFamily="49" charset="0"/>
              </a:rPr>
              <a:t>f</a:t>
            </a:r>
            <a:r>
              <a:rPr lang="en-US" altLang="zh-CN" sz="1800" spc="5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sz="1800" i="1" spc="5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仿宋" pitchFamily="49" charset="-122"/>
                <a:cs typeface="Consolas" pitchFamily="49" charset="0"/>
              </a:rPr>
              <a:t>s</a:t>
            </a:r>
            <a:r>
              <a:rPr lang="en-US" altLang="zh-CN" sz="1800" i="1" spc="50" baseline="-2500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 sz="1800" spc="50" baseline="-2500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仿宋" pitchFamily="49" charset="-122"/>
                <a:cs typeface="Consolas" pitchFamily="49" charset="0"/>
              </a:rPr>
              <a:t>+1</a:t>
            </a:r>
            <a:r>
              <a:rPr lang="en-US" altLang="zh-CN" sz="1800" spc="5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仿宋" pitchFamily="49" charset="-122"/>
                <a:cs typeface="Consolas" pitchFamily="49" charset="0"/>
              </a:rPr>
              <a:t>)</a:t>
            </a:r>
            <a:r>
              <a:rPr lang="zh-CN" altLang="zh-CN" sz="1800" spc="5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zh-CN" altLang="zh-CN" sz="1800" spc="5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n-ea"/>
                <a:cs typeface="Consolas" pitchFamily="49" charset="0"/>
              </a:rPr>
              <a:t>…</a:t>
            </a:r>
            <a:r>
              <a:rPr lang="zh-CN" altLang="zh-CN" sz="1800" spc="5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1800" i="1" spc="5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仿宋" pitchFamily="49" charset="-122"/>
                <a:cs typeface="Consolas" pitchFamily="49" charset="0"/>
              </a:rPr>
              <a:t>f</a:t>
            </a:r>
            <a:r>
              <a:rPr lang="en-US" altLang="zh-CN" sz="1800" spc="5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sz="1800" i="1" spc="5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仿宋" pitchFamily="49" charset="-122"/>
                <a:cs typeface="Consolas" pitchFamily="49" charset="0"/>
              </a:rPr>
              <a:t>s</a:t>
            </a:r>
            <a:r>
              <a:rPr lang="en-US" altLang="zh-CN" sz="1800" i="1" spc="50" baseline="-2500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 sz="1800" spc="50" baseline="-2500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仿宋" pitchFamily="49" charset="-122"/>
                <a:cs typeface="Consolas" pitchFamily="49" charset="0"/>
              </a:rPr>
              <a:t>-1</a:t>
            </a:r>
            <a:r>
              <a:rPr lang="en-US" altLang="zh-CN" sz="1800" spc="5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仿宋" pitchFamily="49" charset="-122"/>
                <a:cs typeface="Consolas" pitchFamily="49" charset="0"/>
              </a:rPr>
              <a:t>)</a:t>
            </a:r>
            <a:r>
              <a:rPr lang="zh-CN" altLang="zh-CN" sz="1800" spc="5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1800" i="1" spc="5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仿宋" pitchFamily="49" charset="-122"/>
                <a:cs typeface="Consolas" pitchFamily="49" charset="0"/>
              </a:rPr>
              <a:t>c</a:t>
            </a:r>
            <a:r>
              <a:rPr lang="en-US" altLang="zh-CN" sz="1800" i="1" spc="50" baseline="-2500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仿宋" pitchFamily="49" charset="-122"/>
                <a:cs typeface="Consolas" pitchFamily="49" charset="0"/>
              </a:rPr>
              <a:t>j</a:t>
            </a:r>
            <a:r>
              <a:rPr lang="zh-CN" altLang="zh-CN" sz="1800" spc="5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1800" i="1" spc="5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仿宋" pitchFamily="49" charset="-122"/>
                <a:cs typeface="Consolas" pitchFamily="49" charset="0"/>
              </a:rPr>
              <a:t>c</a:t>
            </a:r>
            <a:r>
              <a:rPr lang="en-US" altLang="zh-CN" sz="1800" i="1" spc="50" baseline="-2500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仿宋" pitchFamily="49" charset="-122"/>
                <a:cs typeface="Consolas" pitchFamily="49" charset="0"/>
              </a:rPr>
              <a:t>j</a:t>
            </a:r>
            <a:r>
              <a:rPr lang="en-US" altLang="zh-CN" sz="1800" spc="50" baseline="-2500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仿宋" pitchFamily="49" charset="-122"/>
                <a:cs typeface="Consolas" pitchFamily="49" charset="0"/>
              </a:rPr>
              <a:t>+1</a:t>
            </a:r>
            <a:r>
              <a:rPr lang="zh-CN" altLang="zh-CN" sz="1800" spc="5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zh-CN" altLang="zh-CN" sz="1800" spc="5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j-ea"/>
                <a:ea typeface="+mj-ea"/>
                <a:cs typeface="Consolas" pitchFamily="49" charset="0"/>
              </a:rPr>
              <a:t>…</a:t>
            </a:r>
            <a:r>
              <a:rPr lang="zh-CN" altLang="zh-CN" sz="1800" spc="5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1800" i="1" spc="5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仿宋" pitchFamily="49" charset="-122"/>
                <a:cs typeface="Consolas" pitchFamily="49" charset="0"/>
              </a:rPr>
              <a:t>c</a:t>
            </a:r>
            <a:r>
              <a:rPr lang="en-US" altLang="zh-CN" sz="1800" i="1" spc="50" baseline="-2500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仿宋" pitchFamily="49" charset="-122"/>
                <a:cs typeface="Consolas" pitchFamily="49" charset="0"/>
              </a:rPr>
              <a:t>m</a:t>
            </a:r>
            <a:r>
              <a:rPr lang="en-US" altLang="zh-CN" sz="1800" spc="5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仿宋" pitchFamily="49" charset="-122"/>
                <a:cs typeface="Consolas" pitchFamily="49" charset="0"/>
              </a:rPr>
              <a:t>)</a:t>
            </a:r>
            <a:endParaRPr lang="zh-CN" altLang="zh-CN" sz="1800" spc="50" smtClean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grpSp>
        <p:nvGrpSpPr>
          <p:cNvPr id="2" name="组合 21"/>
          <p:cNvGrpSpPr/>
          <p:nvPr/>
        </p:nvGrpSpPr>
        <p:grpSpPr>
          <a:xfrm>
            <a:off x="642910" y="3916378"/>
            <a:ext cx="7715304" cy="1798638"/>
            <a:chOff x="500034" y="3502025"/>
            <a:chExt cx="7715304" cy="1798638"/>
          </a:xfrm>
        </p:grpSpPr>
        <p:sp>
          <p:nvSpPr>
            <p:cNvPr id="10" name="Oval 7"/>
            <p:cNvSpPr>
              <a:spLocks noChangeArrowheads="1"/>
            </p:cNvSpPr>
            <p:nvPr/>
          </p:nvSpPr>
          <p:spPr bwMode="auto">
            <a:xfrm>
              <a:off x="2228822" y="3502025"/>
              <a:ext cx="1008063" cy="647700"/>
            </a:xfrm>
            <a:prstGeom prst="ellipse">
              <a:avLst/>
            </a:prstGeom>
            <a:ln>
              <a:headEnd/>
              <a:tailEnd type="none" w="lg" len="lg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1800" i="1" smtClean="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f</a:t>
              </a:r>
              <a:r>
                <a:rPr lang="en-US" altLang="zh-CN" sz="1800" smtClean="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(</a:t>
              </a:r>
              <a:r>
                <a:rPr lang="en-US" altLang="zh-CN" sz="1800" i="1" smtClean="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s</a:t>
              </a:r>
              <a:r>
                <a:rPr lang="en-US" altLang="zh-CN" sz="1800" i="1" baseline="-25000" smtClean="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n</a:t>
              </a:r>
              <a:r>
                <a:rPr lang="en-US" altLang="zh-CN" sz="1800" smtClean="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)</a:t>
              </a:r>
              <a:endParaRPr lang="en-US" altLang="zh-CN" sz="18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11" name="Oval 8"/>
            <p:cNvSpPr>
              <a:spLocks noChangeArrowheads="1"/>
            </p:cNvSpPr>
            <p:nvPr/>
          </p:nvSpPr>
          <p:spPr bwMode="auto">
            <a:xfrm>
              <a:off x="500034" y="4652963"/>
              <a:ext cx="1008063" cy="647700"/>
            </a:xfrm>
            <a:prstGeom prst="ellipse">
              <a:avLst/>
            </a:prstGeom>
            <a:ln>
              <a:headEnd/>
              <a:tailEnd type="none" w="lg" len="lg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1600" i="1" smtClean="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f</a:t>
              </a:r>
              <a:r>
                <a:rPr lang="en-US" altLang="zh-CN" sz="1600" smtClean="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(</a:t>
              </a:r>
              <a:r>
                <a:rPr lang="en-US" altLang="zh-CN" sz="1600" i="1" smtClean="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s</a:t>
              </a:r>
              <a:r>
                <a:rPr lang="en-US" altLang="zh-CN" sz="1600" i="1" baseline="-25000" smtClean="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i</a:t>
              </a:r>
              <a:r>
                <a:rPr lang="en-US" altLang="zh-CN" sz="1600" smtClean="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)</a:t>
              </a:r>
              <a:endParaRPr lang="en-US" altLang="zh-CN" sz="16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12" name="Oval 9"/>
            <p:cNvSpPr>
              <a:spLocks noChangeArrowheads="1"/>
            </p:cNvSpPr>
            <p:nvPr/>
          </p:nvSpPr>
          <p:spPr bwMode="auto">
            <a:xfrm>
              <a:off x="1723997" y="4652963"/>
              <a:ext cx="1008063" cy="647700"/>
            </a:xfrm>
            <a:prstGeom prst="ellipse">
              <a:avLst/>
            </a:prstGeom>
            <a:ln>
              <a:headEnd/>
              <a:tailEnd type="none" w="lg" len="lg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1600" i="1" smtClean="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f</a:t>
              </a:r>
              <a:r>
                <a:rPr lang="en-US" altLang="zh-CN" sz="1600" smtClean="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(</a:t>
              </a:r>
              <a:r>
                <a:rPr lang="en-US" altLang="zh-CN" sz="1600" i="1" smtClean="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s</a:t>
              </a:r>
              <a:r>
                <a:rPr lang="en-US" altLang="zh-CN" sz="1600" i="1" baseline="-25000" smtClean="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i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+1</a:t>
              </a:r>
              <a:r>
                <a:rPr lang="en-US" altLang="zh-CN" sz="1600" smtClean="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)</a:t>
              </a:r>
              <a:endParaRPr lang="en-US" altLang="zh-CN" sz="16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13" name="Oval 10"/>
            <p:cNvSpPr>
              <a:spLocks noChangeArrowheads="1"/>
            </p:cNvSpPr>
            <p:nvPr/>
          </p:nvSpPr>
          <p:spPr bwMode="auto">
            <a:xfrm>
              <a:off x="4100484" y="4652963"/>
              <a:ext cx="1008063" cy="647700"/>
            </a:xfrm>
            <a:prstGeom prst="ellipse">
              <a:avLst/>
            </a:prstGeom>
            <a:ln>
              <a:headEnd/>
              <a:tailEnd type="none" w="lg" len="lg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1600" i="1" smtClean="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f</a:t>
              </a:r>
              <a:r>
                <a:rPr lang="en-US" altLang="zh-CN" sz="1600" smtClean="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(</a:t>
              </a:r>
              <a:r>
                <a:rPr lang="en-US" altLang="zh-CN" sz="1600" i="1" smtClean="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s</a:t>
              </a:r>
              <a:r>
                <a:rPr lang="en-US" altLang="zh-CN" sz="1600" i="1" baseline="-25000" smtClean="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n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-1</a:t>
              </a:r>
              <a:r>
                <a:rPr lang="en-US" altLang="zh-CN" sz="1600" smtClean="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)</a:t>
              </a:r>
              <a:endParaRPr lang="en-US" altLang="zh-CN" sz="16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14" name="Text Box 11"/>
            <p:cNvSpPr txBox="1">
              <a:spLocks noChangeArrowheads="1"/>
            </p:cNvSpPr>
            <p:nvPr/>
          </p:nvSpPr>
          <p:spPr bwMode="auto">
            <a:xfrm>
              <a:off x="2947960" y="4827152"/>
              <a:ext cx="766784" cy="387798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lg" len="lg"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latin typeface="宋体"/>
                  <a:ea typeface="宋体" pitchFamily="2" charset="-122"/>
                  <a:cs typeface="Times New Roman" pitchFamily="18" charset="0"/>
                </a:rPr>
                <a:t>…</a:t>
              </a:r>
              <a:endParaRPr lang="en-US" altLang="zh-CN">
                <a:ea typeface="宋体" pitchFamily="2" charset="-122"/>
                <a:cs typeface="Times New Roman" pitchFamily="18" charset="0"/>
              </a:endParaRPr>
            </a:p>
          </p:txBody>
        </p:sp>
        <p:sp>
          <p:nvSpPr>
            <p:cNvPr id="15" name="Line 12"/>
            <p:cNvSpPr>
              <a:spLocks noChangeShapeType="1"/>
            </p:cNvSpPr>
            <p:nvPr/>
          </p:nvSpPr>
          <p:spPr bwMode="auto">
            <a:xfrm flipH="1">
              <a:off x="1292197" y="4005263"/>
              <a:ext cx="1008063" cy="720725"/>
            </a:xfrm>
            <a:prstGeom prst="line">
              <a:avLst/>
            </a:prstGeom>
            <a:ln w="28575">
              <a:headEnd/>
              <a:tailEnd type="stealth" w="lg" len="lg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6" name="Line 13"/>
            <p:cNvSpPr>
              <a:spLocks noChangeShapeType="1"/>
            </p:cNvSpPr>
            <p:nvPr/>
          </p:nvSpPr>
          <p:spPr bwMode="auto">
            <a:xfrm flipH="1">
              <a:off x="2371697" y="4149725"/>
              <a:ext cx="215900" cy="503238"/>
            </a:xfrm>
            <a:prstGeom prst="line">
              <a:avLst/>
            </a:prstGeom>
            <a:ln w="28575">
              <a:headEnd/>
              <a:tailEnd type="stealth" w="lg" len="lg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" name="Freeform 14"/>
            <p:cNvSpPr>
              <a:spLocks/>
            </p:cNvSpPr>
            <p:nvPr/>
          </p:nvSpPr>
          <p:spPr bwMode="auto">
            <a:xfrm>
              <a:off x="3194022" y="3989388"/>
              <a:ext cx="1054100" cy="7747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64" y="488"/>
                </a:cxn>
              </a:cxnLst>
              <a:rect l="0" t="0" r="r" b="b"/>
              <a:pathLst>
                <a:path w="664" h="488">
                  <a:moveTo>
                    <a:pt x="0" y="0"/>
                  </a:moveTo>
                  <a:lnTo>
                    <a:pt x="664" y="488"/>
                  </a:lnTo>
                </a:path>
              </a:pathLst>
            </a:custGeom>
            <a:ln w="28575">
              <a:headEnd type="none" w="med" len="med"/>
              <a:tailEnd type="stealth" w="lg" len="lg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8" name="Text Box 15"/>
            <p:cNvSpPr txBox="1">
              <a:spLocks noChangeArrowheads="1"/>
            </p:cNvSpPr>
            <p:nvPr/>
          </p:nvSpPr>
          <p:spPr bwMode="auto">
            <a:xfrm>
              <a:off x="5756247" y="3567117"/>
              <a:ext cx="2177556" cy="338554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lg" len="lg"/>
            </a:ln>
            <a:effectLst/>
          </p:spPr>
          <p:txBody>
            <a:bodyPr wrap="square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zh-CN" altLang="en-US" sz="2000" dirty="0">
                  <a:solidFill>
                    <a:srgbClr val="0000FF"/>
                  </a:solidFill>
                  <a:latin typeface="楷体" pitchFamily="49" charset="-122"/>
                  <a:ea typeface="楷体" pitchFamily="49" charset="-122"/>
                </a:rPr>
                <a:t>大问题求解</a:t>
              </a:r>
            </a:p>
          </p:txBody>
        </p:sp>
        <p:sp>
          <p:nvSpPr>
            <p:cNvPr id="19" name="AutoShape 16"/>
            <p:cNvSpPr>
              <a:spLocks noChangeArrowheads="1"/>
            </p:cNvSpPr>
            <p:nvPr/>
          </p:nvSpPr>
          <p:spPr bwMode="auto">
            <a:xfrm>
              <a:off x="6357950" y="4067183"/>
              <a:ext cx="215900" cy="504825"/>
            </a:xfrm>
            <a:prstGeom prst="downArrow">
              <a:avLst>
                <a:gd name="adj1" fmla="val 50000"/>
                <a:gd name="adj2" fmla="val 58456"/>
              </a:avLst>
            </a:prstGeom>
            <a:ln>
              <a:headEnd/>
              <a:tailEnd type="none" w="lg" len="lg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Text Box 17"/>
            <p:cNvSpPr txBox="1">
              <a:spLocks noChangeArrowheads="1"/>
            </p:cNvSpPr>
            <p:nvPr/>
          </p:nvSpPr>
          <p:spPr bwMode="auto">
            <a:xfrm>
              <a:off x="5324447" y="4829580"/>
              <a:ext cx="2890891" cy="338554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lg" len="lg"/>
            </a:ln>
            <a:effectLst/>
          </p:spPr>
          <p:txBody>
            <a:bodyPr wrap="square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zh-CN" altLang="en-US" sz="2000">
                  <a:solidFill>
                    <a:srgbClr val="0000FF"/>
                  </a:solidFill>
                  <a:latin typeface="楷体" pitchFamily="49" charset="-122"/>
                  <a:ea typeface="楷体" pitchFamily="49" charset="-122"/>
                </a:rPr>
                <a:t>若干个相似子问题求解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643701" y="4138621"/>
              <a:ext cx="100305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2000" smtClean="0">
                  <a:solidFill>
                    <a:srgbClr val="0000FF"/>
                  </a:solidFill>
                  <a:latin typeface="仿宋" pitchFamily="49" charset="-122"/>
                  <a:ea typeface="仿宋" pitchFamily="49" charset="-122"/>
                </a:rPr>
                <a:t>转化</a:t>
              </a:r>
              <a:endParaRPr lang="zh-CN" altLang="en-US" sz="2000">
                <a:solidFill>
                  <a:srgbClr val="0000FF"/>
                </a:solidFill>
                <a:latin typeface="仿宋" pitchFamily="49" charset="-122"/>
                <a:ea typeface="仿宋" pitchFamily="49" charset="-122"/>
              </a:endParaRP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1543028" y="3143248"/>
            <a:ext cx="1528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en-US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非递归函数</a:t>
            </a:r>
          </a:p>
        </p:txBody>
      </p:sp>
      <p:cxnSp>
        <p:nvCxnSpPr>
          <p:cNvPr id="25" name="直接箭头连接符 24"/>
          <p:cNvCxnSpPr/>
          <p:nvPr/>
        </p:nvCxnSpPr>
        <p:spPr>
          <a:xfrm rot="5400000" flipH="1" flipV="1">
            <a:off x="1948638" y="2956715"/>
            <a:ext cx="285752" cy="1588"/>
          </a:xfrm>
          <a:prstGeom prst="straightConnector1">
            <a:avLst/>
          </a:prstGeom>
          <a:ln w="1905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25</a:t>
            </a:fld>
            <a:r>
              <a:rPr lang="en-US" altLang="zh-CN" smtClean="0"/>
              <a:t>/68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/>
          <p:cNvSpPr txBox="1"/>
          <p:nvPr/>
        </p:nvSpPr>
        <p:spPr>
          <a:xfrm>
            <a:off x="285720" y="500042"/>
            <a:ext cx="3929090" cy="461665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mtClean="0">
                <a:latin typeface="Consolas" pitchFamily="49" charset="0"/>
                <a:ea typeface="微软雅黑" pitchFamily="34" charset="-122"/>
                <a:cs typeface="Consolas" pitchFamily="49" charset="0"/>
              </a:rPr>
              <a:t>6.1.4 </a:t>
            </a:r>
            <a:r>
              <a:rPr lang="zh-CN" altLang="zh-CN" smtClean="0">
                <a:latin typeface="Consolas" pitchFamily="49" charset="0"/>
                <a:ea typeface="微软雅黑" pitchFamily="34" charset="-122"/>
                <a:cs typeface="Consolas" pitchFamily="49" charset="0"/>
              </a:rPr>
              <a:t>递归与数学归纳法</a:t>
            </a:r>
            <a:endParaRPr lang="zh-CN" altLang="zh-CN" smtClean="0">
              <a:ln w="11430"/>
              <a:solidFill>
                <a:srgbClr val="FF000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5720" y="1342349"/>
            <a:ext cx="5429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采用数学归纳法证明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1+2+</a:t>
            </a:r>
            <a:r>
              <a:rPr lang="zh-CN" altLang="zh-CN" sz="2000" smtClean="0">
                <a:solidFill>
                  <a:srgbClr val="0000FF"/>
                </a:solidFill>
                <a:latin typeface="+mn-ea"/>
                <a:ea typeface="+mn-ea"/>
                <a:cs typeface="Consolas" pitchFamily="49" charset="0"/>
              </a:rPr>
              <a:t>…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+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+1)/2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57158" y="1770977"/>
            <a:ext cx="8143932" cy="1876127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44000" tIns="108000" bIns="108000" rtlCol="0">
            <a:spAutoFit/>
          </a:bodyPr>
          <a:lstStyle/>
          <a:p>
            <a:pPr marL="342900" indent="-342900" algn="l">
              <a:lnSpc>
                <a:spcPts val="3000"/>
              </a:lnSpc>
              <a:spcBef>
                <a:spcPts val="600"/>
              </a:spcBef>
              <a:buBlip>
                <a:blip r:embed="rId2"/>
              </a:buBlip>
            </a:pP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当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=1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时，左式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=1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，右式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=(1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×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2)/2=1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，左右两式相等，等式成立。</a:t>
            </a:r>
          </a:p>
          <a:p>
            <a:pPr marL="342900" indent="-342900" algn="l">
              <a:lnSpc>
                <a:spcPts val="3000"/>
              </a:lnSpc>
              <a:spcBef>
                <a:spcPts val="600"/>
              </a:spcBef>
              <a:buBlip>
                <a:blip r:embed="rId2"/>
              </a:buBlip>
            </a:pP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假设当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k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-1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时等式成立，有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1+2+</a:t>
            </a:r>
            <a:r>
              <a:rPr lang="zh-CN" altLang="zh-CN" sz="2000" smtClean="0">
                <a:solidFill>
                  <a:srgbClr val="0000FF"/>
                </a:solidFill>
                <a:latin typeface="+mn-ea"/>
                <a:ea typeface="+mn-ea"/>
                <a:cs typeface="Consolas" pitchFamily="49" charset="0"/>
              </a:rPr>
              <a:t>…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+(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k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-1)=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k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k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-1)/2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。</a:t>
            </a:r>
          </a:p>
          <a:p>
            <a:pPr marL="342900" indent="-342900" algn="l">
              <a:lnSpc>
                <a:spcPts val="3000"/>
              </a:lnSpc>
              <a:spcBef>
                <a:spcPts val="600"/>
              </a:spcBef>
              <a:buBlip>
                <a:blip r:embed="rId2"/>
              </a:buBlip>
            </a:pP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当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k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时，左式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=1+2+</a:t>
            </a:r>
            <a:r>
              <a:rPr lang="zh-CN" altLang="zh-CN" sz="2000" smtClean="0">
                <a:solidFill>
                  <a:srgbClr val="0000FF"/>
                </a:solidFill>
                <a:latin typeface="+mn-ea"/>
                <a:ea typeface="+mn-ea"/>
                <a:cs typeface="Consolas" pitchFamily="49" charset="0"/>
              </a:rPr>
              <a:t>…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+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k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=[1+2+</a:t>
            </a:r>
            <a:r>
              <a:rPr lang="zh-CN" altLang="zh-CN" sz="2000" smtClean="0">
                <a:solidFill>
                  <a:srgbClr val="0000FF"/>
                </a:solidFill>
                <a:latin typeface="+mn-ea"/>
                <a:ea typeface="+mn-ea"/>
                <a:cs typeface="Consolas" pitchFamily="49" charset="0"/>
              </a:rPr>
              <a:t>…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+(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k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-1)+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k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k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k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-1)/2+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k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k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k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+1)/2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4348" y="4357694"/>
            <a:ext cx="7858180" cy="16055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 algn="l">
              <a:lnSpc>
                <a:spcPts val="28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先考虑特殊情况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。</a:t>
            </a:r>
            <a:endParaRPr lang="en-US" altLang="zh-CN" sz="20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marL="342900" indent="-342900" algn="l">
              <a:lnSpc>
                <a:spcPts val="28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然后假设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k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-1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成立（第二数学归纳法是假设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zh-CN" altLang="zh-CN" sz="2000" smtClean="0">
                <a:solidFill>
                  <a:srgbClr val="0000FF"/>
                </a:solidFill>
                <a:latin typeface="+mj-ea"/>
                <a:ea typeface="+mj-ea"/>
                <a:cs typeface="Consolas" pitchFamily="49" charset="0"/>
              </a:rPr>
              <a:t>≤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k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-1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均成立），再证明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k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时成立，即假设“小问题”成立，再推导出“大问题”成立。</a:t>
            </a:r>
            <a:endParaRPr lang="zh-CN" altLang="en-US" sz="20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2" name="下箭头 11"/>
          <p:cNvSpPr/>
          <p:nvPr/>
        </p:nvSpPr>
        <p:spPr bwMode="auto">
          <a:xfrm>
            <a:off x="3286116" y="3786190"/>
            <a:ext cx="285752" cy="428628"/>
          </a:xfrm>
          <a:prstGeom prst="downArrow">
            <a:avLst/>
          </a:prstGeom>
          <a:ln>
            <a:headEnd/>
            <a:tailEnd type="arrow" w="sm" len="sm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26</a:t>
            </a:fld>
            <a:r>
              <a:rPr lang="en-US" altLang="zh-CN" smtClean="0"/>
              <a:t>/68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14" name="Rectangle 3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3" name="TextBox 32"/>
          <p:cNvSpPr txBox="1"/>
          <p:nvPr/>
        </p:nvSpPr>
        <p:spPr>
          <a:xfrm>
            <a:off x="571472" y="571480"/>
            <a:ext cx="6500858" cy="16055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 algn="l">
              <a:lnSpc>
                <a:spcPts val="2800"/>
              </a:lnSpc>
              <a:spcBef>
                <a:spcPts val="600"/>
              </a:spcBef>
              <a:buBlip>
                <a:blip r:embed="rId2"/>
              </a:buBlip>
            </a:pP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先考虑特殊情况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。</a:t>
            </a:r>
            <a:endParaRPr lang="en-US" altLang="zh-CN" sz="20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marL="342900" indent="-342900" algn="l">
              <a:lnSpc>
                <a:spcPts val="2800"/>
              </a:lnSpc>
              <a:spcBef>
                <a:spcPts val="600"/>
              </a:spcBef>
              <a:buBlip>
                <a:blip r:embed="rId2"/>
              </a:buBlip>
            </a:pP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然后假设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k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-1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成立（第二数学归纳法是假设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zh-CN" altLang="zh-CN" sz="2000" smtClean="0">
                <a:solidFill>
                  <a:srgbClr val="0000FF"/>
                </a:solidFill>
                <a:latin typeface="+mj-ea"/>
                <a:ea typeface="+mj-ea"/>
                <a:cs typeface="Consolas" pitchFamily="49" charset="0"/>
              </a:rPr>
              <a:t>≤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k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-1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均成立），再证明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k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时成立，即假设“小问题”成立，再推导出“大问题”成立。</a:t>
            </a:r>
            <a:endParaRPr lang="zh-CN" altLang="en-US" sz="20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643834" y="681018"/>
            <a:ext cx="1214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en-US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递归出口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43834" y="1354681"/>
            <a:ext cx="1214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en-US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递归体</a:t>
            </a:r>
          </a:p>
        </p:txBody>
      </p:sp>
      <p:cxnSp>
        <p:nvCxnSpPr>
          <p:cNvPr id="36" name="直接箭头连接符 35"/>
          <p:cNvCxnSpPr/>
          <p:nvPr/>
        </p:nvCxnSpPr>
        <p:spPr>
          <a:xfrm rot="10800000" flipV="1">
            <a:off x="6929454" y="866757"/>
            <a:ext cx="714380" cy="0"/>
          </a:xfrm>
          <a:prstGeom prst="straightConnector1">
            <a:avLst/>
          </a:prstGeom>
          <a:ln w="1905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/>
          <p:nvPr/>
        </p:nvCxnSpPr>
        <p:spPr>
          <a:xfrm rot="10800000" flipV="1">
            <a:off x="6929454" y="1535657"/>
            <a:ext cx="714380" cy="0"/>
          </a:xfrm>
          <a:prstGeom prst="straightConnector1">
            <a:avLst/>
          </a:prstGeom>
          <a:ln w="1905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57224" y="3000372"/>
            <a:ext cx="6072230" cy="2244305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marL="342900" indent="-342900" algn="l">
              <a:lnSpc>
                <a:spcPts val="28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华文中宋" pitchFamily="2" charset="-122"/>
                <a:cs typeface="Consolas" pitchFamily="49" charset="0"/>
              </a:rPr>
              <a:t>递归出口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华文中宋" pitchFamily="2" charset="-122"/>
                <a:cs typeface="Consolas" pitchFamily="49" charset="0"/>
              </a:rPr>
              <a:t>相当于数学归纳法的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华文中宋" pitchFamily="2" charset="-122"/>
                <a:cs typeface="Consolas" pitchFamily="49" charset="0"/>
              </a:rPr>
              <a:t>特殊情况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华文中宋" pitchFamily="2" charset="-122"/>
                <a:cs typeface="Consolas" pitchFamily="49" charset="0"/>
              </a:rPr>
              <a:t>。</a:t>
            </a:r>
            <a:endParaRPr lang="en-US" altLang="zh-CN" sz="2000" smtClean="0">
              <a:solidFill>
                <a:srgbClr val="0000FF"/>
              </a:solidFill>
              <a:latin typeface="Consolas" pitchFamily="49" charset="0"/>
              <a:ea typeface="华文中宋" pitchFamily="2" charset="-122"/>
              <a:cs typeface="Consolas" pitchFamily="49" charset="0"/>
            </a:endParaRPr>
          </a:p>
          <a:p>
            <a:pPr marL="342900" indent="-342900" algn="l">
              <a:lnSpc>
                <a:spcPts val="28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华文中宋" pitchFamily="2" charset="-122"/>
                <a:cs typeface="Consolas" pitchFamily="49" charset="0"/>
              </a:rPr>
              <a:t>递归体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华文中宋" pitchFamily="2" charset="-122"/>
                <a:cs typeface="Consolas" pitchFamily="49" charset="0"/>
              </a:rPr>
              <a:t>相当于数学归纳法的归纳步骤。</a:t>
            </a:r>
            <a:endParaRPr lang="en-US" altLang="zh-CN" sz="2000" smtClean="0">
              <a:solidFill>
                <a:srgbClr val="0000FF"/>
              </a:solidFill>
              <a:latin typeface="Consolas" pitchFamily="49" charset="0"/>
              <a:ea typeface="华文中宋" pitchFamily="2" charset="-122"/>
              <a:cs typeface="Consolas" pitchFamily="49" charset="0"/>
            </a:endParaRPr>
          </a:p>
          <a:p>
            <a:pPr marL="342900" indent="-342900" algn="l">
              <a:lnSpc>
                <a:spcPts val="28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华文中宋" pitchFamily="2" charset="-122"/>
                <a:cs typeface="Consolas" pitchFamily="49" charset="0"/>
              </a:rPr>
              <a:t>区别：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华文中宋" pitchFamily="2" charset="-122"/>
                <a:cs typeface="Consolas" pitchFamily="49" charset="0"/>
              </a:rPr>
              <a:t>数学归纳法是一种论证方法，递归是算法和程序设计的一种实现技术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华文中宋" pitchFamily="2" charset="-122"/>
                <a:cs typeface="Consolas" pitchFamily="49" charset="0"/>
              </a:rPr>
              <a:t>。</a:t>
            </a:r>
            <a:endParaRPr lang="en-US" altLang="zh-CN" sz="2000" smtClean="0">
              <a:solidFill>
                <a:srgbClr val="0000FF"/>
              </a:solidFill>
              <a:latin typeface="Consolas" pitchFamily="49" charset="0"/>
              <a:ea typeface="华文中宋" pitchFamily="2" charset="-122"/>
              <a:cs typeface="Consolas" pitchFamily="49" charset="0"/>
            </a:endParaRPr>
          </a:p>
          <a:p>
            <a:pPr marL="342900" indent="-342900" algn="l">
              <a:lnSpc>
                <a:spcPts val="28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华文中宋" pitchFamily="2" charset="-122"/>
                <a:cs typeface="Consolas" pitchFamily="49" charset="0"/>
              </a:rPr>
              <a:t>数学归纳法是递归求解问题的理论基础。</a:t>
            </a:r>
            <a:endParaRPr lang="zh-CN" altLang="en-US" sz="2000" smtClean="0">
              <a:solidFill>
                <a:srgbClr val="0000FF"/>
              </a:solidFill>
              <a:latin typeface="Consolas" pitchFamily="49" charset="0"/>
              <a:ea typeface="华文中宋" pitchFamily="2" charset="-122"/>
              <a:cs typeface="Consolas" pitchFamily="49" charset="0"/>
            </a:endParaRPr>
          </a:p>
        </p:txBody>
      </p:sp>
      <p:sp>
        <p:nvSpPr>
          <p:cNvPr id="39" name="下箭头 38"/>
          <p:cNvSpPr/>
          <p:nvPr/>
        </p:nvSpPr>
        <p:spPr bwMode="auto">
          <a:xfrm>
            <a:off x="3357554" y="2357430"/>
            <a:ext cx="214314" cy="428628"/>
          </a:xfrm>
          <a:prstGeom prst="downArrow">
            <a:avLst/>
          </a:prstGeom>
          <a:ln>
            <a:headEnd/>
            <a:tailEnd type="arrow" w="sm" len="sm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27</a:t>
            </a:fld>
            <a:r>
              <a:rPr lang="en-US" altLang="zh-CN" smtClean="0"/>
              <a:t>/68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14" name="Rectangle 3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4" name="TextBox 33"/>
          <p:cNvSpPr txBox="1"/>
          <p:nvPr/>
        </p:nvSpPr>
        <p:spPr>
          <a:xfrm>
            <a:off x="785786" y="1214422"/>
            <a:ext cx="20717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lang="zh-CN" altLang="zh-CN" sz="2000" smtClean="0">
                <a:solidFill>
                  <a:srgbClr val="0000FF"/>
                </a:solidFill>
                <a:latin typeface="仿宋" pitchFamily="49" charset="-122"/>
                <a:ea typeface="仿宋" pitchFamily="49" charset="-122"/>
              </a:rPr>
              <a:t>简化</a:t>
            </a:r>
            <a:r>
              <a:rPr lang="zh-CN" altLang="en-US" sz="2000" smtClean="0">
                <a:solidFill>
                  <a:srgbClr val="0000FF"/>
                </a:solidFill>
                <a:latin typeface="仿宋" pitchFamily="49" charset="-122"/>
                <a:ea typeface="仿宋" pitchFamily="49" charset="-122"/>
              </a:rPr>
              <a:t>的</a:t>
            </a:r>
            <a:r>
              <a:rPr lang="zh-CN" altLang="zh-CN" sz="2000" smtClean="0">
                <a:solidFill>
                  <a:srgbClr val="0000FF"/>
                </a:solidFill>
                <a:latin typeface="仿宋" pitchFamily="49" charset="-122"/>
                <a:ea typeface="仿宋" pitchFamily="49" charset="-122"/>
              </a:rPr>
              <a:t>递归模型</a:t>
            </a:r>
            <a:endParaRPr lang="zh-CN" altLang="en-US" sz="2000" smtClean="0">
              <a:solidFill>
                <a:srgbClr val="0000FF"/>
              </a:solidFill>
              <a:latin typeface="仿宋" pitchFamily="49" charset="-122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85720" y="500042"/>
            <a:ext cx="3929090" cy="461665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mtClean="0">
                <a:latin typeface="Consolas" pitchFamily="49" charset="0"/>
                <a:ea typeface="微软雅黑" pitchFamily="34" charset="-122"/>
                <a:cs typeface="Consolas" pitchFamily="49" charset="0"/>
              </a:rPr>
              <a:t>6.1.5  </a:t>
            </a:r>
            <a:r>
              <a:rPr lang="zh-CN" altLang="zh-CN" smtClean="0">
                <a:latin typeface="Consolas" pitchFamily="49" charset="0"/>
                <a:ea typeface="微软雅黑" pitchFamily="34" charset="-122"/>
                <a:cs typeface="Consolas" pitchFamily="49" charset="0"/>
              </a:rPr>
              <a:t>递归的执行过程</a:t>
            </a:r>
            <a:endParaRPr lang="zh-CN" altLang="zh-CN" smtClean="0">
              <a:ln w="11430"/>
              <a:solidFill>
                <a:srgbClr val="FF000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71538" y="1785926"/>
            <a:ext cx="3500462" cy="799807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216000" tIns="108000" bIns="108000" rtlCol="0">
            <a:spAutoFit/>
          </a:bodyPr>
          <a:lstStyle/>
          <a:p>
            <a:pPr algn="l"/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f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s</a:t>
            </a:r>
            <a:r>
              <a:rPr lang="en-US" altLang="zh-CN" sz="1800" baseline="-250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)=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m</a:t>
            </a:r>
            <a:r>
              <a:rPr lang="en-US" altLang="zh-CN" sz="1800" baseline="-250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	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  <a:p>
            <a:pPr algn="l"/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f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s</a:t>
            </a:r>
            <a:r>
              <a:rPr lang="en-US" altLang="zh-CN" sz="1800" i="1" baseline="-250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)=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g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f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s</a:t>
            </a:r>
            <a:r>
              <a:rPr lang="en-US" altLang="zh-CN" sz="1800" i="1" baseline="-250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lang="en-US" altLang="zh-CN" sz="1800" baseline="-250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-1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)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c</a:t>
            </a:r>
            <a:r>
              <a:rPr lang="en-US" altLang="zh-CN" sz="1800" i="1" baseline="-250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lang="en-US" altLang="zh-CN" sz="1800" baseline="-250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-1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)</a:t>
            </a:r>
            <a:endParaRPr lang="zh-CN" altLang="zh-CN" sz="18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2285984" y="3500438"/>
            <a:ext cx="1314434" cy="285650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  <a:headEnd/>
            <a:tailEnd type="none" w="lg" len="lg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tIns="180000" bIns="18000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kumimoji="1" lang="en-US" altLang="zh-CN" sz="1800" i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f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kumimoji="1" lang="en-US" altLang="zh-CN" sz="1800" i="1" dirty="0" err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s</a:t>
            </a:r>
            <a:r>
              <a:rPr kumimoji="1" lang="en-US" altLang="zh-CN" sz="1800" i="1" baseline="-25000" dirty="0" err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↓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kumimoji="1" lang="en-US" altLang="zh-CN" sz="1800" i="1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f</a:t>
            </a:r>
            <a:r>
              <a:rPr kumimoji="1" lang="en-US" altLang="zh-CN" sz="18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kumimoji="1" lang="en-US" altLang="zh-CN" sz="1800" i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s</a:t>
            </a:r>
            <a:r>
              <a:rPr kumimoji="1" lang="en-US" altLang="zh-CN" sz="1800" i="1" baseline="-250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kumimoji="1" lang="en-US" altLang="zh-CN" sz="1800" baseline="-250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-1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↓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kumimoji="1" lang="en-US" altLang="zh-CN" sz="1800" dirty="0">
                <a:solidFill>
                  <a:srgbClr val="0000FF"/>
                </a:solidFill>
                <a:latin typeface="+mj-ea"/>
                <a:ea typeface="+mj-ea"/>
                <a:cs typeface="Consolas" pitchFamily="49" charset="0"/>
              </a:rPr>
              <a:t>…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↓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kumimoji="1" lang="en-US" altLang="zh-CN" sz="1800" i="1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f</a:t>
            </a:r>
            <a:r>
              <a:rPr kumimoji="1" lang="en-US" altLang="zh-CN" sz="18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kumimoji="1" lang="en-US" altLang="zh-CN" sz="1800" i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s</a:t>
            </a:r>
            <a:r>
              <a:rPr kumimoji="1" lang="en-US" altLang="zh-CN" sz="1800" baseline="-250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2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↓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kumimoji="1" lang="en-US" altLang="zh-CN" sz="1800" i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f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kumimoji="1" lang="en-US" altLang="zh-CN" sz="1800" i="1" dirty="0" err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s</a:t>
            </a:r>
            <a:r>
              <a:rPr kumimoji="1" lang="en-US" altLang="zh-CN" sz="1800" baseline="-25000" dirty="0" err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)</a:t>
            </a:r>
            <a:endParaRPr lang="en-US" altLang="zh-CN" sz="1800" dirty="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827089" y="2933943"/>
            <a:ext cx="3030532" cy="338554"/>
          </a:xfrm>
          <a:prstGeom prst="rect">
            <a:avLst/>
          </a:prstGeom>
          <a:noFill/>
          <a:ln w="38100" algn="ctr">
            <a:noFill/>
            <a:miter lim="800000"/>
            <a:headEnd/>
            <a:tailEnd type="none" w="lg" len="lg"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1" lang="zh-CN" altLang="en-US" sz="20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求</a:t>
            </a:r>
            <a:r>
              <a:rPr kumimoji="1" lang="en-US" altLang="zh-CN" sz="2000" i="1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f</a:t>
            </a:r>
            <a:r>
              <a:rPr kumimoji="1" lang="en-US" altLang="zh-CN" sz="20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(</a:t>
            </a:r>
            <a:r>
              <a:rPr kumimoji="1" lang="en-US" altLang="zh-CN" sz="2000" i="1" dirty="0" err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s</a:t>
            </a:r>
            <a:r>
              <a:rPr kumimoji="1" lang="en-US" altLang="zh-CN" sz="2000" i="1" baseline="-25000" dirty="0" err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n</a:t>
            </a:r>
            <a:r>
              <a:rPr kumimoji="1" lang="en-US" altLang="zh-CN" sz="20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)</a:t>
            </a:r>
            <a:r>
              <a:rPr kumimoji="1" lang="zh-CN" altLang="en-US" sz="20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的分解过程如下：</a:t>
            </a:r>
          </a:p>
        </p:txBody>
      </p:sp>
      <p:sp>
        <p:nvSpPr>
          <p:cNvPr id="10" name="右箭头 9"/>
          <p:cNvSpPr/>
          <p:nvPr/>
        </p:nvSpPr>
        <p:spPr bwMode="auto">
          <a:xfrm>
            <a:off x="4857752" y="2071678"/>
            <a:ext cx="428628" cy="285752"/>
          </a:xfrm>
          <a:prstGeom prst="rightArrow">
            <a:avLst/>
          </a:prstGeom>
          <a:ln>
            <a:headEnd/>
            <a:tailEnd type="arrow" w="sm" len="sm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500694" y="1785926"/>
            <a:ext cx="2643206" cy="810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2800"/>
              </a:lnSpc>
              <a:spcBef>
                <a:spcPts val="0"/>
              </a:spcBef>
            </a:pP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求大问题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</a:t>
            </a:r>
            <a:r>
              <a:rPr lang="en-US" altLang="zh-CN" sz="2000" i="1" baseline="-25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：</a:t>
            </a:r>
            <a:endParaRPr lang="en-US" altLang="zh-CN" sz="20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800"/>
              </a:lnSpc>
              <a:spcBef>
                <a:spcPts val="0"/>
              </a:spcBef>
            </a:pP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分解（递推）和求值</a:t>
            </a:r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28</a:t>
            </a:fld>
            <a:r>
              <a:rPr lang="en-US" altLang="zh-CN" smtClean="0"/>
              <a:t>/68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571472" y="358154"/>
            <a:ext cx="7858180" cy="1169551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57200" indent="-457200" algn="just">
              <a:lnSpc>
                <a:spcPct val="100000"/>
              </a:lnSpc>
              <a:spcBef>
                <a:spcPct val="50000"/>
              </a:spcBef>
              <a:buBlip>
                <a:blip r:embed="rId2"/>
              </a:buBlip>
            </a:pPr>
            <a:r>
              <a:rPr kumimoji="1"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遇到</a:t>
            </a:r>
            <a:r>
              <a:rPr kumimoji="1" lang="zh-CN" altLang="en-US" sz="20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递归</a:t>
            </a:r>
            <a:r>
              <a:rPr kumimoji="1" lang="zh-CN" altLang="en-US" sz="2000" dirty="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出口发生“质</a:t>
            </a:r>
            <a:r>
              <a:rPr kumimoji="1"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变”，原</a:t>
            </a:r>
            <a:r>
              <a:rPr kumimoji="1" lang="zh-CN" altLang="en-US" sz="20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递归问题便</a:t>
            </a:r>
            <a:r>
              <a:rPr kumimoji="1"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转化</a:t>
            </a:r>
            <a:r>
              <a:rPr kumimoji="1"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成可以直接求解的问题。</a:t>
            </a:r>
            <a:endParaRPr kumimoji="1" lang="en-US" altLang="zh-CN" sz="20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marL="457200" indent="-457200" algn="just">
              <a:lnSpc>
                <a:spcPct val="100000"/>
              </a:lnSpc>
              <a:spcBef>
                <a:spcPct val="50000"/>
              </a:spcBef>
              <a:buBlip>
                <a:blip r:embed="rId2"/>
              </a:buBlip>
            </a:pPr>
            <a:r>
              <a:rPr kumimoji="1"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求</a:t>
            </a:r>
            <a:r>
              <a:rPr kumimoji="1" lang="zh-CN" altLang="en-US" sz="20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值</a:t>
            </a:r>
            <a:r>
              <a:rPr kumimoji="1" lang="zh-CN" altLang="en-US" sz="2000" dirty="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过程：    </a:t>
            </a:r>
            <a:endParaRPr kumimoji="1" lang="zh-CN" altLang="en-US" sz="2000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1857356" y="1785926"/>
            <a:ext cx="2949577" cy="35284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  <a:headEnd/>
            <a:tailEnd type="none" w="lg" len="lg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tIns="144000" bIns="180000">
            <a:spAutoFit/>
          </a:bodyPr>
          <a:lstStyle/>
          <a:p>
            <a:pPr>
              <a:lnSpc>
                <a:spcPts val="2800"/>
              </a:lnSpc>
              <a:spcBef>
                <a:spcPts val="0"/>
              </a:spcBef>
            </a:pPr>
            <a:r>
              <a:rPr kumimoji="1" lang="en-US" altLang="zh-CN" sz="1800" i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f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kumimoji="1" lang="en-US" altLang="zh-CN" sz="1800" i="1" dirty="0" err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s</a:t>
            </a:r>
            <a:r>
              <a:rPr kumimoji="1" lang="en-US" altLang="zh-CN" sz="1800" baseline="-25000" dirty="0" err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)=</a:t>
            </a:r>
            <a:r>
              <a:rPr kumimoji="1" lang="en-US" altLang="zh-CN" sz="1800" i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m</a:t>
            </a:r>
            <a:r>
              <a:rPr kumimoji="1" lang="en-US" altLang="zh-CN" sz="1800" baseline="-250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1</a:t>
            </a:r>
          </a:p>
          <a:p>
            <a:pPr>
              <a:lnSpc>
                <a:spcPts val="2800"/>
              </a:lnSpc>
              <a:spcBef>
                <a:spcPts val="0"/>
              </a:spcBef>
            </a:pPr>
            <a:r>
              <a:rPr kumimoji="1" lang="en-US" altLang="zh-CN" sz="18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↓</a:t>
            </a:r>
          </a:p>
          <a:p>
            <a:pPr>
              <a:lnSpc>
                <a:spcPts val="2800"/>
              </a:lnSpc>
              <a:spcBef>
                <a:spcPts val="0"/>
              </a:spcBef>
            </a:pPr>
            <a:r>
              <a:rPr kumimoji="1" lang="en-US" altLang="zh-CN" sz="1800" i="1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f</a:t>
            </a:r>
            <a:r>
              <a:rPr kumimoji="1" lang="en-US" altLang="zh-CN" sz="18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kumimoji="1" lang="en-US" altLang="zh-CN" sz="1800" i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s</a:t>
            </a:r>
            <a:r>
              <a:rPr kumimoji="1" lang="en-US" altLang="zh-CN" sz="1800" baseline="-250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2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)=</a:t>
            </a:r>
            <a:r>
              <a:rPr kumimoji="1" lang="en-US" altLang="zh-CN" sz="1800" i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g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kumimoji="1" lang="en-US" altLang="zh-CN" sz="1800" i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f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kumimoji="1" lang="en-US" altLang="zh-CN" sz="1800" i="1" dirty="0" err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s</a:t>
            </a:r>
            <a:r>
              <a:rPr kumimoji="1" lang="en-US" altLang="zh-CN" sz="1800" baseline="-25000" dirty="0" err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),</a:t>
            </a:r>
            <a:r>
              <a:rPr kumimoji="1" lang="en-US" altLang="zh-CN" sz="1800" i="1" err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c</a:t>
            </a:r>
            <a:r>
              <a:rPr kumimoji="1" lang="en-US" altLang="zh-CN" sz="1800" baseline="-25000" err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kumimoji="1" lang="en-US" altLang="zh-CN" sz="18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)</a:t>
            </a:r>
          </a:p>
          <a:p>
            <a:pPr>
              <a:lnSpc>
                <a:spcPts val="2800"/>
              </a:lnSpc>
              <a:spcBef>
                <a:spcPts val="0"/>
              </a:spcBef>
            </a:pPr>
            <a:r>
              <a:rPr kumimoji="1" lang="en-US" altLang="zh-CN" sz="18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↓</a:t>
            </a:r>
          </a:p>
          <a:p>
            <a:pPr>
              <a:lnSpc>
                <a:spcPts val="2800"/>
              </a:lnSpc>
              <a:spcBef>
                <a:spcPts val="0"/>
              </a:spcBef>
            </a:pPr>
            <a:r>
              <a:rPr kumimoji="1" lang="en-US" altLang="zh-CN" sz="1800" i="1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f</a:t>
            </a:r>
            <a:r>
              <a:rPr kumimoji="1" lang="en-US" altLang="zh-CN" sz="18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kumimoji="1" lang="en-US" altLang="zh-CN" sz="1800" i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s</a:t>
            </a:r>
            <a:r>
              <a:rPr kumimoji="1" lang="en-US" altLang="zh-CN" sz="1800" baseline="-250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3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)=</a:t>
            </a:r>
            <a:r>
              <a:rPr kumimoji="1" lang="en-US" altLang="zh-CN" sz="1800" i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g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kumimoji="1" lang="en-US" altLang="zh-CN" sz="1800" i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f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kumimoji="1" lang="en-US" altLang="zh-CN" sz="1800" i="1" dirty="0" err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s</a:t>
            </a:r>
            <a:r>
              <a:rPr kumimoji="1" lang="en-US" altLang="zh-CN" sz="1800" baseline="-25000" dirty="0" err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2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),</a:t>
            </a:r>
            <a:r>
              <a:rPr kumimoji="1" lang="en-US" altLang="zh-CN" sz="1800" i="1" dirty="0" err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c</a:t>
            </a:r>
            <a:r>
              <a:rPr kumimoji="1" lang="en-US" altLang="zh-CN" sz="1800" baseline="-25000" dirty="0" err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2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)</a:t>
            </a:r>
          </a:p>
          <a:p>
            <a:pPr>
              <a:lnSpc>
                <a:spcPts val="2800"/>
              </a:lnSpc>
              <a:spcBef>
                <a:spcPts val="0"/>
              </a:spcBef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↓</a:t>
            </a:r>
          </a:p>
          <a:p>
            <a:pPr>
              <a:lnSpc>
                <a:spcPts val="2800"/>
              </a:lnSpc>
              <a:spcBef>
                <a:spcPts val="0"/>
              </a:spcBef>
            </a:pPr>
            <a:r>
              <a:rPr kumimoji="1" lang="en-US" altLang="zh-CN" sz="1800" dirty="0">
                <a:solidFill>
                  <a:srgbClr val="0000FF"/>
                </a:solidFill>
                <a:latin typeface="+mj-ea"/>
                <a:ea typeface="+mj-ea"/>
                <a:cs typeface="Consolas" pitchFamily="49" charset="0"/>
              </a:rPr>
              <a:t>…</a:t>
            </a:r>
          </a:p>
          <a:p>
            <a:pPr>
              <a:lnSpc>
                <a:spcPts val="2800"/>
              </a:lnSpc>
              <a:spcBef>
                <a:spcPts val="0"/>
              </a:spcBef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↓</a:t>
            </a:r>
          </a:p>
          <a:p>
            <a:pPr>
              <a:lnSpc>
                <a:spcPts val="2800"/>
              </a:lnSpc>
              <a:spcBef>
                <a:spcPts val="0"/>
              </a:spcBef>
            </a:pPr>
            <a:r>
              <a:rPr kumimoji="1" lang="en-US" altLang="zh-CN" sz="1800" i="1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f</a:t>
            </a:r>
            <a:r>
              <a:rPr kumimoji="1" lang="en-US" altLang="zh-CN" sz="18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kumimoji="1" lang="en-US" altLang="zh-CN" sz="1800" i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s</a:t>
            </a:r>
            <a:r>
              <a:rPr kumimoji="1" lang="en-US" altLang="zh-CN" sz="1800" i="1" baseline="-250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)=</a:t>
            </a:r>
            <a:r>
              <a:rPr kumimoji="1" lang="en-US" altLang="zh-CN" sz="1800" i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g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kumimoji="1" lang="en-US" altLang="zh-CN" sz="1800" i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f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kumimoji="1" lang="en-US" altLang="zh-CN" sz="1800" i="1" dirty="0" err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s</a:t>
            </a:r>
            <a:r>
              <a:rPr kumimoji="1" lang="en-US" altLang="zh-CN" sz="1800" i="1" baseline="-25000" dirty="0" err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kumimoji="1" lang="en-US" altLang="zh-CN" sz="1800" baseline="-250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-1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),</a:t>
            </a:r>
            <a:r>
              <a:rPr kumimoji="1" lang="en-US" altLang="zh-CN" sz="1800" i="1" dirty="0" err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c</a:t>
            </a:r>
            <a:r>
              <a:rPr kumimoji="1" lang="en-US" altLang="zh-CN" sz="1800" i="1" baseline="-25000" dirty="0" err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kumimoji="1" lang="en-US" altLang="zh-CN" sz="1800" baseline="-250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-1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)</a:t>
            </a:r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29</a:t>
            </a:fld>
            <a:r>
              <a:rPr lang="en-US" altLang="zh-CN" smtClean="0"/>
              <a:t>/68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00034" y="428604"/>
            <a:ext cx="18573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例如求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5!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。</a:t>
            </a:r>
            <a:endParaRPr lang="zh-CN" altLang="en-US" sz="20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76826" name="Rectangle 2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2" name="组合 31"/>
          <p:cNvGrpSpPr/>
          <p:nvPr/>
        </p:nvGrpSpPr>
        <p:grpSpPr>
          <a:xfrm>
            <a:off x="1428728" y="1214422"/>
            <a:ext cx="5500726" cy="3857652"/>
            <a:chOff x="1428728" y="1214422"/>
            <a:chExt cx="5500726" cy="3857652"/>
          </a:xfrm>
        </p:grpSpPr>
        <p:sp>
          <p:nvSpPr>
            <p:cNvPr id="76824" name="Text Box 24"/>
            <p:cNvSpPr txBox="1">
              <a:spLocks noChangeArrowheads="1"/>
            </p:cNvSpPr>
            <p:nvPr/>
          </p:nvSpPr>
          <p:spPr bwMode="auto">
            <a:xfrm>
              <a:off x="1428728" y="1240474"/>
              <a:ext cx="727194" cy="25834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fun(5)</a:t>
              </a:r>
            </a:p>
          </p:txBody>
        </p:sp>
        <p:sp>
          <p:nvSpPr>
            <p:cNvPr id="76823" name="Text Box 23"/>
            <p:cNvSpPr txBox="1">
              <a:spLocks noChangeArrowheads="1"/>
            </p:cNvSpPr>
            <p:nvPr/>
          </p:nvSpPr>
          <p:spPr bwMode="auto">
            <a:xfrm>
              <a:off x="1928794" y="1918908"/>
              <a:ext cx="744365" cy="28114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fun(4)</a:t>
              </a:r>
            </a:p>
          </p:txBody>
        </p:sp>
        <p:sp>
          <p:nvSpPr>
            <p:cNvPr id="76822" name="Line 22"/>
            <p:cNvSpPr>
              <a:spLocks noChangeShapeType="1"/>
            </p:cNvSpPr>
            <p:nvPr/>
          </p:nvSpPr>
          <p:spPr bwMode="auto">
            <a:xfrm>
              <a:off x="1884482" y="1554182"/>
              <a:ext cx="227984" cy="338674"/>
            </a:xfrm>
            <a:prstGeom prst="line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76821" name="Text Box 21"/>
            <p:cNvSpPr txBox="1">
              <a:spLocks noChangeArrowheads="1"/>
            </p:cNvSpPr>
            <p:nvPr/>
          </p:nvSpPr>
          <p:spPr bwMode="auto">
            <a:xfrm>
              <a:off x="2374104" y="2595171"/>
              <a:ext cx="840574" cy="26594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fun(3)</a:t>
              </a:r>
            </a:p>
          </p:txBody>
        </p:sp>
        <p:sp>
          <p:nvSpPr>
            <p:cNvPr id="76820" name="Line 20"/>
            <p:cNvSpPr>
              <a:spLocks noChangeShapeType="1"/>
            </p:cNvSpPr>
            <p:nvPr/>
          </p:nvSpPr>
          <p:spPr bwMode="auto">
            <a:xfrm>
              <a:off x="2340449" y="2230445"/>
              <a:ext cx="227984" cy="338674"/>
            </a:xfrm>
            <a:prstGeom prst="line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76819" name="Text Box 19"/>
            <p:cNvSpPr txBox="1">
              <a:spLocks noChangeArrowheads="1"/>
            </p:cNvSpPr>
            <p:nvPr/>
          </p:nvSpPr>
          <p:spPr bwMode="auto">
            <a:xfrm>
              <a:off x="2795330" y="3273605"/>
              <a:ext cx="705099" cy="27680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fun(2)</a:t>
              </a:r>
            </a:p>
          </p:txBody>
        </p:sp>
        <p:sp>
          <p:nvSpPr>
            <p:cNvPr id="76818" name="Line 18"/>
            <p:cNvSpPr>
              <a:spLocks noChangeShapeType="1"/>
            </p:cNvSpPr>
            <p:nvPr/>
          </p:nvSpPr>
          <p:spPr bwMode="auto">
            <a:xfrm>
              <a:off x="2682425" y="2908879"/>
              <a:ext cx="227984" cy="338674"/>
            </a:xfrm>
            <a:prstGeom prst="line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76817" name="Text Box 17"/>
            <p:cNvSpPr txBox="1">
              <a:spLocks noChangeArrowheads="1"/>
            </p:cNvSpPr>
            <p:nvPr/>
          </p:nvSpPr>
          <p:spPr bwMode="auto">
            <a:xfrm>
              <a:off x="3548764" y="3923817"/>
              <a:ext cx="625327" cy="27354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fun(1)</a:t>
              </a:r>
            </a:p>
          </p:txBody>
        </p:sp>
        <p:sp>
          <p:nvSpPr>
            <p:cNvPr id="76816" name="Line 16"/>
            <p:cNvSpPr>
              <a:spLocks noChangeShapeType="1"/>
            </p:cNvSpPr>
            <p:nvPr/>
          </p:nvSpPr>
          <p:spPr bwMode="auto">
            <a:xfrm>
              <a:off x="3233929" y="3602510"/>
              <a:ext cx="227984" cy="338674"/>
            </a:xfrm>
            <a:prstGeom prst="line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76815" name="AutoShape 15"/>
            <p:cNvSpPr>
              <a:spLocks noChangeArrowheads="1"/>
            </p:cNvSpPr>
            <p:nvPr/>
          </p:nvSpPr>
          <p:spPr bwMode="auto">
            <a:xfrm>
              <a:off x="3481454" y="4431828"/>
              <a:ext cx="682866" cy="170423"/>
            </a:xfrm>
            <a:prstGeom prst="curvedUpArrow">
              <a:avLst>
                <a:gd name="adj1" fmla="val 80127"/>
                <a:gd name="adj2" fmla="val 160255"/>
                <a:gd name="adj3" fmla="val 33333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 type="none" w="sm" len="sm"/>
            </a:ln>
          </p:spPr>
          <p:txBody>
            <a:bodyPr vert="horz" wrap="square" lIns="85039" tIns="42520" rIns="85039" bIns="425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r</a:t>
              </a:r>
            </a:p>
          </p:txBody>
        </p:sp>
        <p:sp>
          <p:nvSpPr>
            <p:cNvPr id="76814" name="Text Box 14"/>
            <p:cNvSpPr txBox="1">
              <a:spLocks noChangeArrowheads="1"/>
            </p:cNvSpPr>
            <p:nvPr/>
          </p:nvSpPr>
          <p:spPr bwMode="auto">
            <a:xfrm>
              <a:off x="3557448" y="4732314"/>
              <a:ext cx="728799" cy="33976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800" i="0" u="none" strike="noStrike" cap="none" normalizeH="0" baseline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返回</a:t>
              </a:r>
              <a:r>
                <a:rPr kumimoji="0" lang="en-US" altLang="zh-CN" sz="1800" i="0" u="none" strike="noStrike" cap="none" normalizeH="0" baseline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1</a:t>
              </a:r>
            </a:p>
          </p:txBody>
        </p:sp>
        <p:sp>
          <p:nvSpPr>
            <p:cNvPr id="76813" name="Text Box 13"/>
            <p:cNvSpPr txBox="1">
              <a:spLocks noChangeArrowheads="1"/>
            </p:cNvSpPr>
            <p:nvPr/>
          </p:nvSpPr>
          <p:spPr bwMode="auto">
            <a:xfrm>
              <a:off x="4278312" y="3299657"/>
              <a:ext cx="1079506" cy="260519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fun(2)=2</a:t>
              </a:r>
            </a:p>
          </p:txBody>
        </p:sp>
        <p:sp>
          <p:nvSpPr>
            <p:cNvPr id="76812" name="Line 12"/>
            <p:cNvSpPr>
              <a:spLocks noChangeShapeType="1"/>
            </p:cNvSpPr>
            <p:nvPr/>
          </p:nvSpPr>
          <p:spPr bwMode="auto">
            <a:xfrm flipV="1">
              <a:off x="4164320" y="3585142"/>
              <a:ext cx="341976" cy="338674"/>
            </a:xfrm>
            <a:prstGeom prst="line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76811" name="Text Box 11"/>
            <p:cNvSpPr txBox="1">
              <a:spLocks noChangeArrowheads="1"/>
            </p:cNvSpPr>
            <p:nvPr/>
          </p:nvSpPr>
          <p:spPr bwMode="auto">
            <a:xfrm>
              <a:off x="4734280" y="2612539"/>
              <a:ext cx="1052166" cy="29199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fun(3)=6</a:t>
              </a:r>
            </a:p>
          </p:txBody>
        </p:sp>
        <p:sp>
          <p:nvSpPr>
            <p:cNvPr id="76810" name="Line 10"/>
            <p:cNvSpPr>
              <a:spLocks noChangeShapeType="1"/>
            </p:cNvSpPr>
            <p:nvPr/>
          </p:nvSpPr>
          <p:spPr bwMode="auto">
            <a:xfrm flipV="1">
              <a:off x="4620288" y="2908879"/>
              <a:ext cx="341976" cy="338674"/>
            </a:xfrm>
            <a:prstGeom prst="line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76809" name="Text Box 9"/>
            <p:cNvSpPr txBox="1">
              <a:spLocks noChangeArrowheads="1"/>
            </p:cNvSpPr>
            <p:nvPr/>
          </p:nvSpPr>
          <p:spPr bwMode="auto">
            <a:xfrm>
              <a:off x="5190248" y="1927592"/>
              <a:ext cx="1024826" cy="30719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fun(4)=24</a:t>
              </a:r>
            </a:p>
          </p:txBody>
        </p:sp>
        <p:sp>
          <p:nvSpPr>
            <p:cNvPr id="76808" name="Line 8"/>
            <p:cNvSpPr>
              <a:spLocks noChangeShapeType="1"/>
            </p:cNvSpPr>
            <p:nvPr/>
          </p:nvSpPr>
          <p:spPr bwMode="auto">
            <a:xfrm flipV="1">
              <a:off x="5076256" y="2230445"/>
              <a:ext cx="341976" cy="338674"/>
            </a:xfrm>
            <a:prstGeom prst="line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76807" name="Text Box 7"/>
            <p:cNvSpPr txBox="1">
              <a:spLocks noChangeArrowheads="1"/>
            </p:cNvSpPr>
            <p:nvPr/>
          </p:nvSpPr>
          <p:spPr bwMode="auto">
            <a:xfrm>
              <a:off x="5648387" y="1214422"/>
              <a:ext cx="1281067" cy="33976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fun(5)=120</a:t>
              </a:r>
            </a:p>
          </p:txBody>
        </p:sp>
        <p:sp>
          <p:nvSpPr>
            <p:cNvPr id="76806" name="Line 6"/>
            <p:cNvSpPr>
              <a:spLocks noChangeShapeType="1"/>
            </p:cNvSpPr>
            <p:nvPr/>
          </p:nvSpPr>
          <p:spPr bwMode="auto">
            <a:xfrm flipV="1">
              <a:off x="5532223" y="1554182"/>
              <a:ext cx="341976" cy="338674"/>
            </a:xfrm>
            <a:prstGeom prst="line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76805" name="Freeform 5"/>
            <p:cNvSpPr>
              <a:spLocks/>
            </p:cNvSpPr>
            <p:nvPr/>
          </p:nvSpPr>
          <p:spPr bwMode="auto">
            <a:xfrm>
              <a:off x="1508851" y="2318370"/>
              <a:ext cx="1579602" cy="221440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455" y="2040"/>
                </a:cxn>
              </a:cxnLst>
              <a:rect l="0" t="0" r="r" b="b"/>
              <a:pathLst>
                <a:path w="1455" h="2040">
                  <a:moveTo>
                    <a:pt x="0" y="0"/>
                  </a:moveTo>
                  <a:lnTo>
                    <a:pt x="1455" y="2040"/>
                  </a:lnTo>
                </a:path>
              </a:pathLst>
            </a:custGeom>
            <a:ln>
              <a:headEnd/>
              <a:tailEnd type="arrow" w="sm" len="lg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76804" name="Freeform 4"/>
            <p:cNvSpPr>
              <a:spLocks/>
            </p:cNvSpPr>
            <p:nvPr/>
          </p:nvSpPr>
          <p:spPr bwMode="auto">
            <a:xfrm>
              <a:off x="4739479" y="2303173"/>
              <a:ext cx="1547033" cy="2213324"/>
            </a:xfrm>
            <a:custGeom>
              <a:avLst/>
              <a:gdLst/>
              <a:ahLst/>
              <a:cxnLst>
                <a:cxn ang="0">
                  <a:pos x="0" y="2040"/>
                </a:cxn>
                <a:cxn ang="0">
                  <a:pos x="1425" y="0"/>
                </a:cxn>
              </a:cxnLst>
              <a:rect l="0" t="0" r="r" b="b"/>
              <a:pathLst>
                <a:path w="1425" h="2040">
                  <a:moveTo>
                    <a:pt x="0" y="2040"/>
                  </a:moveTo>
                  <a:lnTo>
                    <a:pt x="1425" y="0"/>
                  </a:lnTo>
                </a:path>
              </a:pathLst>
            </a:custGeom>
            <a:ln>
              <a:headEnd/>
              <a:tailEnd type="arrow" w="sm" len="lg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76803" name="WordArt 3"/>
            <p:cNvSpPr>
              <a:spLocks noChangeArrowheads="1" noChangeShapeType="1" noTextEdit="1"/>
            </p:cNvSpPr>
            <p:nvPr/>
          </p:nvSpPr>
          <p:spPr bwMode="auto">
            <a:xfrm rot="3438153">
              <a:off x="1512881" y="3324750"/>
              <a:ext cx="955949" cy="257535"/>
            </a:xfrm>
            <a:prstGeom prst="rect">
              <a:avLst/>
            </a:prstGeom>
          </p:spPr>
          <p:txBody>
            <a:bodyPr vert="eaVert"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 rtl="0" fontAlgn="auto"/>
              <a:r>
                <a:rPr lang="zh-CN" altLang="en-US" sz="1600" b="0" kern="10" spc="0" smtClean="0">
                  <a:ln w="9525">
                    <a:solidFill>
                      <a:srgbClr val="000000"/>
                    </a:solidFill>
                    <a:round/>
                    <a:headEnd/>
                    <a:tailEnd type="none" w="sm" len="sm"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分 解 过 程</a:t>
              </a:r>
              <a:endParaRPr lang="zh-CN" altLang="en-US" sz="1600" b="0" kern="10" spc="0">
                <a:ln w="9525">
                  <a:solidFill>
                    <a:srgbClr val="000000"/>
                  </a:solidFill>
                  <a:round/>
                  <a:headEnd/>
                  <a:tailEnd type="none" w="sm" len="sm"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76802" name="WordArt 2"/>
            <p:cNvSpPr>
              <a:spLocks noChangeArrowheads="1" noChangeShapeType="1" noTextEdit="1"/>
            </p:cNvSpPr>
            <p:nvPr/>
          </p:nvSpPr>
          <p:spPr bwMode="auto">
            <a:xfrm rot="7491102">
              <a:off x="5192079" y="3552404"/>
              <a:ext cx="996131" cy="231945"/>
            </a:xfrm>
            <a:prstGeom prst="rect">
              <a:avLst/>
            </a:prstGeom>
          </p:spPr>
          <p:txBody>
            <a:bodyPr vert="eaVert"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 rtl="0" fontAlgn="auto"/>
              <a:r>
                <a:rPr lang="zh-CN" altLang="en-US" sz="1600" b="0" kern="10" spc="0" smtClean="0">
                  <a:ln w="9525">
                    <a:solidFill>
                      <a:srgbClr val="000000"/>
                    </a:solidFill>
                    <a:round/>
                    <a:headEnd/>
                    <a:tailEnd type="none" w="sm" len="sm"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求 值 过 程</a:t>
              </a:r>
              <a:endParaRPr lang="zh-CN" altLang="en-US" sz="1600" b="0" kern="10" spc="0">
                <a:ln w="9525">
                  <a:solidFill>
                    <a:srgbClr val="000000"/>
                  </a:solidFill>
                  <a:round/>
                  <a:headEnd/>
                  <a:tailEnd type="none" w="sm" len="sm"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</p:grpSp>
      <p:sp>
        <p:nvSpPr>
          <p:cNvPr id="33" name="灯片编号占位符 3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30</a:t>
            </a:fld>
            <a:r>
              <a:rPr lang="en-US" altLang="zh-CN" smtClean="0"/>
              <a:t>/68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5"/>
          <p:cNvSpPr/>
          <p:nvPr/>
        </p:nvSpPr>
        <p:spPr bwMode="auto">
          <a:xfrm>
            <a:off x="714348" y="500042"/>
            <a:ext cx="3686405" cy="562147"/>
          </a:xfrm>
          <a:prstGeom prst="roundRect">
            <a:avLst>
              <a:gd name="adj" fmla="val 7848"/>
            </a:avLst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rgbClr val="1848C0"/>
            </a:solidFill>
          </a:ln>
          <a:effectLst>
            <a:outerShdw blurRad="225425" dist="38100" dir="5220000" algn="ctr">
              <a:srgbClr val="000000">
                <a:alpha val="3300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marL="0" lvl="2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tabLst>
                <a:tab pos="136525" algn="l"/>
              </a:tabLst>
              <a:defRPr/>
            </a:pPr>
            <a:r>
              <a:rPr lang="zh-CN" altLang="zh-CN" sz="2000" spc="5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系统内部如何执行递归算法</a:t>
            </a:r>
            <a:endParaRPr lang="zh-CN" altLang="en-US" sz="2000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2910" y="1357298"/>
            <a:ext cx="7858180" cy="1876127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marL="342900" indent="-342900" algn="l">
              <a:lnSpc>
                <a:spcPts val="3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一个递归函数的调用过程类似于多个函数的嵌套的调用，只不过调用函数和被调用函数是同一个函数。</a:t>
            </a:r>
            <a:endParaRPr lang="en-US" altLang="zh-CN" sz="20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marL="342900" indent="-342900" algn="l">
              <a:lnSpc>
                <a:spcPts val="3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为了保证递归函数的正确执行，系统需设立一个工作栈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。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采用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工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作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栈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实现递归调用和返回。</a:t>
            </a:r>
            <a:endParaRPr lang="zh-CN" altLang="en-US" sz="20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31</a:t>
            </a:fld>
            <a:r>
              <a:rPr lang="en-US" altLang="zh-CN" smtClean="0"/>
              <a:t>/68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"/>
          <p:cNvGrpSpPr/>
          <p:nvPr/>
        </p:nvGrpSpPr>
        <p:grpSpPr>
          <a:xfrm>
            <a:off x="642910" y="214290"/>
            <a:ext cx="1000100" cy="1071569"/>
            <a:chOff x="214282" y="142852"/>
            <a:chExt cx="1000100" cy="1071569"/>
          </a:xfrm>
        </p:grpSpPr>
        <p:sp>
          <p:nvSpPr>
            <p:cNvPr id="6" name="Oval 20"/>
            <p:cNvSpPr>
              <a:spLocks noChangeArrowheads="1"/>
            </p:cNvSpPr>
            <p:nvPr/>
          </p:nvSpPr>
          <p:spPr bwMode="gray">
            <a:xfrm>
              <a:off x="214282" y="142852"/>
              <a:ext cx="1000100" cy="1071569"/>
            </a:xfrm>
            <a:prstGeom prst="ellipse">
              <a:avLst/>
            </a:prstGeom>
            <a:solidFill>
              <a:srgbClr val="F8F8F8"/>
            </a:solidFill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zh-CN">
                <a:latin typeface="Calibri" pitchFamily="34" charset="0"/>
                <a:cs typeface="Arial" pitchFamily="34" charset="0"/>
              </a:endParaRPr>
            </a:p>
          </p:txBody>
        </p:sp>
        <p:sp>
          <p:nvSpPr>
            <p:cNvPr id="7" name="Oval 21"/>
            <p:cNvSpPr>
              <a:spLocks noChangeArrowheads="1"/>
            </p:cNvSpPr>
            <p:nvPr/>
          </p:nvSpPr>
          <p:spPr bwMode="gray">
            <a:xfrm>
              <a:off x="255399" y="186960"/>
              <a:ext cx="916658" cy="98335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38100">
              <a:solidFill>
                <a:srgbClr val="FF0000">
                  <a:alpha val="70195"/>
                </a:srgb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zh-CN">
                <a:latin typeface="Calibri" pitchFamily="34" charset="0"/>
                <a:cs typeface="Arial" pitchFamily="34" charset="0"/>
              </a:endParaRPr>
            </a:p>
          </p:txBody>
        </p:sp>
        <p:sp>
          <p:nvSpPr>
            <p:cNvPr id="8" name="Oval 22"/>
            <p:cNvSpPr>
              <a:spLocks noChangeArrowheads="1"/>
            </p:cNvSpPr>
            <p:nvPr/>
          </p:nvSpPr>
          <p:spPr bwMode="gray">
            <a:xfrm>
              <a:off x="296515" y="233663"/>
              <a:ext cx="834424" cy="895136"/>
            </a:xfrm>
            <a:prstGeom prst="ellipse">
              <a:avLst/>
            </a:prstGeom>
            <a:noFill/>
            <a:ln w="38100">
              <a:solidFill>
                <a:srgbClr val="FF0000">
                  <a:alpha val="30196"/>
                </a:srgb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zh-CN">
                <a:latin typeface="Calibri" pitchFamily="34" charset="0"/>
                <a:cs typeface="Arial" pitchFamily="34" charset="0"/>
              </a:endParaRPr>
            </a:p>
          </p:txBody>
        </p:sp>
        <p:sp>
          <p:nvSpPr>
            <p:cNvPr id="9" name="Text Box 23"/>
            <p:cNvSpPr txBox="1">
              <a:spLocks noChangeArrowheads="1"/>
            </p:cNvSpPr>
            <p:nvPr/>
          </p:nvSpPr>
          <p:spPr bwMode="gray">
            <a:xfrm>
              <a:off x="364012" y="538608"/>
              <a:ext cx="728120" cy="3139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1800" b="1" smtClean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  <a:cs typeface="Consolas" pitchFamily="49" charset="0"/>
                </a:rPr>
                <a:t>示例</a:t>
              </a:r>
              <a:endParaRPr lang="zh-CN" altLang="en-US" sz="18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Consolas" pitchFamily="49" charset="0"/>
              </a:endParaRP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1785918" y="714356"/>
            <a:ext cx="27860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 sz="2000" smtClean="0">
                <a:solidFill>
                  <a:srgbClr val="0000FF"/>
                </a:solidFill>
                <a:latin typeface="仿宋" pitchFamily="49" charset="-122"/>
                <a:ea typeface="仿宋" pitchFamily="49" charset="-122"/>
              </a:rPr>
              <a:t>例如，有以下程序段：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4414" y="1473935"/>
            <a:ext cx="5000660" cy="259144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44000" bIns="144000" rtlCol="0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int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(int n)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if (n&lt;=0) return 0;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else return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(n-1)+n;</a:t>
            </a: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int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main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()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print("%d\n",S(1));</a:t>
            </a: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return 0;</a:t>
            </a: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lang="zh-CN" altLang="zh-CN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14348" y="4214818"/>
            <a:ext cx="735811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2800"/>
              </a:lnSpc>
              <a:spcBef>
                <a:spcPts val="0"/>
              </a:spcBef>
            </a:pP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程序执行时使用一个栈来保存调用过程的信息，这些信息用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main()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、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S(0)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和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S(1)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表示，那么</a:t>
            </a:r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自栈底到栈顶保存的信息的顺序是怎么样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呢？</a:t>
            </a:r>
          </a:p>
        </p:txBody>
      </p:sp>
      <p:sp>
        <p:nvSpPr>
          <p:cNvPr id="17" name="灯片编号占位符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32</a:t>
            </a:fld>
            <a:r>
              <a:rPr lang="en-US" altLang="zh-CN" smtClean="0"/>
              <a:t>/68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 bwMode="auto">
          <a:xfrm>
            <a:off x="3714744" y="5357826"/>
            <a:ext cx="1071570" cy="500066"/>
          </a:xfrm>
          <a:prstGeom prst="rect">
            <a:avLst/>
          </a:prstGeom>
          <a:ln>
            <a:headEnd/>
            <a:tailEnd type="arrow" w="sm" len="sm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14400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6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main()</a:t>
            </a:r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3714744" y="4857760"/>
            <a:ext cx="1071570" cy="500066"/>
          </a:xfrm>
          <a:prstGeom prst="rect">
            <a:avLst/>
          </a:prstGeom>
          <a:ln>
            <a:headEnd/>
            <a:tailEnd type="arrow" w="sm" len="sm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14400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6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S(1)</a:t>
            </a:r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3714744" y="4357694"/>
            <a:ext cx="1071570" cy="500066"/>
          </a:xfrm>
          <a:prstGeom prst="rect">
            <a:avLst/>
          </a:prstGeom>
          <a:ln>
            <a:headEnd/>
            <a:tailEnd type="arrow" w="sm" len="sm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14400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6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S(0)</a:t>
            </a:r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grpSp>
        <p:nvGrpSpPr>
          <p:cNvPr id="2" name="组合 15"/>
          <p:cNvGrpSpPr/>
          <p:nvPr/>
        </p:nvGrpSpPr>
        <p:grpSpPr>
          <a:xfrm>
            <a:off x="3714744" y="4000504"/>
            <a:ext cx="1928826" cy="1857388"/>
            <a:chOff x="3643306" y="3571876"/>
            <a:chExt cx="1928826" cy="1857388"/>
          </a:xfrm>
        </p:grpSpPr>
        <p:sp>
          <p:nvSpPr>
            <p:cNvPr id="9" name="矩形 8"/>
            <p:cNvSpPr/>
            <p:nvPr/>
          </p:nvSpPr>
          <p:spPr bwMode="auto">
            <a:xfrm>
              <a:off x="3643306" y="3571876"/>
              <a:ext cx="1071570" cy="1857388"/>
            </a:xfrm>
            <a:prstGeom prst="rect">
              <a:avLst/>
            </a:prstGeom>
            <a:noFill/>
            <a:ln>
              <a:headEnd/>
              <a:tailEnd type="arrow" w="sm" len="sm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91440" tIns="14400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786314" y="3571876"/>
              <a:ext cx="78581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 sz="16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栈顶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786314" y="5000636"/>
              <a:ext cx="78581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 sz="16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栈底</a:t>
              </a: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785785" y="3714752"/>
            <a:ext cx="18621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en-US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执行过程：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5786" y="4183757"/>
            <a:ext cx="242889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</a:pP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  <a:sym typeface="Wingdings"/>
              </a:rPr>
              <a:t> 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调用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main()</a:t>
            </a:r>
          </a:p>
          <a:p>
            <a:pPr algn="l">
              <a:lnSpc>
                <a:spcPts val="2400"/>
              </a:lnSpc>
              <a:spcBef>
                <a:spcPts val="0"/>
              </a:spcBef>
            </a:pP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  <a:sym typeface="Wingdings"/>
              </a:rPr>
              <a:t> 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  <a:sym typeface="Wingdings"/>
              </a:rPr>
              <a:t>调用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  <a:sym typeface="Wingdings"/>
              </a:rPr>
              <a:t>S(1)</a:t>
            </a:r>
          </a:p>
          <a:p>
            <a:pPr algn="l">
              <a:lnSpc>
                <a:spcPts val="2400"/>
              </a:lnSpc>
              <a:spcBef>
                <a:spcPts val="0"/>
              </a:spcBef>
            </a:pP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  <a:sym typeface="Wingdings"/>
              </a:rPr>
              <a:t> 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  <a:sym typeface="Wingdings"/>
              </a:rPr>
              <a:t>调用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  <a:sym typeface="Wingdings"/>
              </a:rPr>
              <a:t>S(0)</a:t>
            </a:r>
          </a:p>
          <a:p>
            <a:pPr algn="l">
              <a:lnSpc>
                <a:spcPts val="2400"/>
              </a:lnSpc>
              <a:spcBef>
                <a:spcPts val="0"/>
              </a:spcBef>
            </a:pP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  <a:sym typeface="Wingdings"/>
              </a:rPr>
              <a:t> 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  <a:sym typeface="Wingdings"/>
              </a:rPr>
              <a:t>从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  <a:sym typeface="Wingdings"/>
              </a:rPr>
              <a:t>S(0)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  <a:sym typeface="Wingdings"/>
              </a:rPr>
              <a:t>返回</a:t>
            </a:r>
            <a:endParaRPr lang="en-US" altLang="zh-CN" sz="20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  <a:sym typeface="Wingdings"/>
            </a:endParaRPr>
          </a:p>
          <a:p>
            <a:pPr algn="l">
              <a:lnSpc>
                <a:spcPts val="2400"/>
              </a:lnSpc>
              <a:spcBef>
                <a:spcPts val="0"/>
              </a:spcBef>
            </a:pP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  <a:sym typeface="Wingdings"/>
              </a:rPr>
              <a:t> 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  <a:sym typeface="Wingdings"/>
              </a:rPr>
              <a:t>从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  <a:sym typeface="Wingdings"/>
              </a:rPr>
              <a:t>S(1)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  <a:sym typeface="Wingdings"/>
              </a:rPr>
              <a:t>返回</a:t>
            </a:r>
            <a:endParaRPr lang="en-US" altLang="zh-CN" sz="20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  <a:sym typeface="Wingdings"/>
            </a:endParaRPr>
          </a:p>
          <a:p>
            <a:pPr algn="l">
              <a:lnSpc>
                <a:spcPts val="2400"/>
              </a:lnSpc>
              <a:spcBef>
                <a:spcPts val="0"/>
              </a:spcBef>
            </a:pP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  <a:sym typeface="Wingdings"/>
              </a:rPr>
              <a:t> 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  <a:sym typeface="Wingdings"/>
              </a:rPr>
              <a:t>从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  <a:sym typeface="Wingdings"/>
              </a:rPr>
              <a:t>main()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  <a:sym typeface="Wingdings"/>
              </a:rPr>
              <a:t>返回</a:t>
            </a:r>
            <a:endParaRPr lang="zh-CN" altLang="en-US" sz="20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0034" y="142852"/>
            <a:ext cx="5000660" cy="259144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44000" bIns="144000" rtlCol="0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int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(int n)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if (n&lt;=0) return 0;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else return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(n-1)+n;</a:t>
            </a: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int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main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()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print("%d\n",S(1));</a:t>
            </a: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return 0;</a:t>
            </a: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lang="zh-CN" altLang="zh-CN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2844" y="2857496"/>
            <a:ext cx="1643074" cy="7960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" name="灯片编号占位符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33</a:t>
            </a:fld>
            <a:r>
              <a:rPr lang="en-US" altLang="zh-CN" smtClean="0"/>
              <a:t>/68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/>
          <p:cNvSpPr txBox="1"/>
          <p:nvPr/>
        </p:nvSpPr>
        <p:spPr>
          <a:xfrm>
            <a:off x="642910" y="500042"/>
            <a:ext cx="4071966" cy="461665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mtClean="0">
                <a:latin typeface="Consolas" pitchFamily="49" charset="0"/>
                <a:ea typeface="微软雅黑" pitchFamily="34" charset="-122"/>
                <a:cs typeface="Consolas" pitchFamily="49" charset="0"/>
              </a:rPr>
              <a:t>5.1.6 </a:t>
            </a:r>
            <a:r>
              <a:rPr lang="zh-CN" altLang="zh-CN" smtClean="0">
                <a:latin typeface="Consolas" pitchFamily="49" charset="0"/>
                <a:ea typeface="微软雅黑" pitchFamily="34" charset="-122"/>
                <a:cs typeface="Consolas" pitchFamily="49" charset="0"/>
              </a:rPr>
              <a:t>递归算法的时空分析</a:t>
            </a:r>
            <a:endParaRPr lang="zh-CN" altLang="zh-CN" smtClean="0">
              <a:ln w="11430"/>
              <a:solidFill>
                <a:srgbClr val="FF000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28662" y="1571612"/>
            <a:ext cx="7500990" cy="1933835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marL="342900" indent="-342900" algn="l">
              <a:lnSpc>
                <a:spcPts val="28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递归算法执行过程不同于非递归算法，所以其时空分析也不同于非递归算法。</a:t>
            </a:r>
            <a:endParaRPr lang="en-US" altLang="zh-CN" sz="20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marL="342900" indent="-342900" algn="l">
              <a:lnSpc>
                <a:spcPts val="28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非递归算法分析是定长时空分析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。</a:t>
            </a:r>
            <a:endParaRPr lang="en-US" altLang="zh-CN" sz="20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marL="342900" indent="-342900" algn="l">
              <a:lnSpc>
                <a:spcPts val="28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递归算法分析就是</a:t>
            </a:r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变长时空分析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。</a:t>
            </a:r>
            <a:endParaRPr lang="zh-CN" altLang="en-US" sz="20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34</a:t>
            </a:fld>
            <a:r>
              <a:rPr lang="en-US" altLang="zh-CN" smtClean="0"/>
              <a:t>/68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57224" y="428604"/>
            <a:ext cx="3286148" cy="483960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tIns="72000" bIns="72000" rtlCol="0">
            <a:spAutoFit/>
          </a:bodyPr>
          <a:lstStyle/>
          <a:p>
            <a:pPr>
              <a:lnSpc>
                <a:spcPct val="100000"/>
              </a:lnSpc>
            </a:pPr>
            <a:r>
              <a:rPr lang="pt-BR" altLang="zh-CN" sz="2200" smtClean="0">
                <a:latin typeface="Consolas" pitchFamily="49" charset="0"/>
                <a:ea typeface="微软雅黑" pitchFamily="34" charset="-122"/>
                <a:cs typeface="Consolas" pitchFamily="49" charset="0"/>
              </a:rPr>
              <a:t>1. </a:t>
            </a:r>
            <a:r>
              <a:rPr lang="zh-CN" altLang="zh-CN" sz="2200" smtClean="0">
                <a:latin typeface="Consolas" pitchFamily="49" charset="0"/>
                <a:ea typeface="微软雅黑" pitchFamily="34" charset="-122"/>
                <a:cs typeface="Consolas" pitchFamily="49" charset="0"/>
              </a:rPr>
              <a:t>递归算法的时间分析</a:t>
            </a:r>
            <a:endParaRPr lang="zh-CN" altLang="zh-CN" sz="2200"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428860" y="4857760"/>
            <a:ext cx="5357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执行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Hanoi(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,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x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,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y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,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z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的时间复杂度为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O(1)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吗？</a:t>
            </a:r>
          </a:p>
        </p:txBody>
      </p:sp>
      <p:grpSp>
        <p:nvGrpSpPr>
          <p:cNvPr id="2" name="组合 7"/>
          <p:cNvGrpSpPr/>
          <p:nvPr/>
        </p:nvGrpSpPr>
        <p:grpSpPr>
          <a:xfrm>
            <a:off x="1214414" y="4500570"/>
            <a:ext cx="1143008" cy="1214445"/>
            <a:chOff x="1589596" y="810715"/>
            <a:chExt cx="2340698" cy="2345431"/>
          </a:xfrm>
        </p:grpSpPr>
        <p:grpSp>
          <p:nvGrpSpPr>
            <p:cNvPr id="3" name="组合 79"/>
            <p:cNvGrpSpPr/>
            <p:nvPr/>
          </p:nvGrpSpPr>
          <p:grpSpPr bwMode="auto">
            <a:xfrm>
              <a:off x="1589596" y="810715"/>
              <a:ext cx="2340698" cy="2345431"/>
              <a:chOff x="6379729" y="2488774"/>
              <a:chExt cx="2513016" cy="2513016"/>
            </a:xfrm>
          </p:grpSpPr>
          <p:sp>
            <p:nvSpPr>
              <p:cNvPr id="11" name="任意多边形 82"/>
              <p:cNvSpPr/>
              <p:nvPr/>
            </p:nvSpPr>
            <p:spPr>
              <a:xfrm rot="3738964">
                <a:off x="6379729" y="2488774"/>
                <a:ext cx="2513016" cy="2513016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gradFill flip="none" rotWithShape="1">
                <a:gsLst>
                  <a:gs pos="17000">
                    <a:srgbClr val="FFFFFF"/>
                  </a:gs>
                  <a:gs pos="88000">
                    <a:srgbClr val="FFFFFF">
                      <a:lumMod val="72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</a:endParaRPr>
              </a:p>
            </p:txBody>
          </p:sp>
          <p:sp>
            <p:nvSpPr>
              <p:cNvPr id="12" name="任意多边形 83"/>
              <p:cNvSpPr/>
              <p:nvPr/>
            </p:nvSpPr>
            <p:spPr>
              <a:xfrm rot="16377237">
                <a:off x="6409518" y="2506880"/>
                <a:ext cx="2476803" cy="2476800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gradFill flip="none" rotWithShape="1">
                <a:gsLst>
                  <a:gs pos="29000">
                    <a:srgbClr val="FFFFFF"/>
                  </a:gs>
                  <a:gs pos="98000">
                    <a:srgbClr val="FFFFFF">
                      <a:lumMod val="75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softEdge rad="0"/>
              </a:effec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0" name="椭圆 80"/>
            <p:cNvSpPr/>
            <p:nvPr/>
          </p:nvSpPr>
          <p:spPr bwMode="auto">
            <a:xfrm>
              <a:off x="1932719" y="1141999"/>
              <a:ext cx="1691508" cy="1694936"/>
            </a:xfrm>
            <a:prstGeom prst="ellipse">
              <a:avLst/>
            </a:prstGeom>
            <a:solidFill>
              <a:srgbClr val="1848C0"/>
            </a:solidFill>
            <a:ln w="25400" cap="flat" cmpd="sng" algn="ctr">
              <a:noFill/>
              <a:prstDash val="solid"/>
            </a:ln>
            <a:effectLst>
              <a:innerShdw blurRad="63500" dist="25400" dir="18660000">
                <a:prstClr val="black">
                  <a:alpha val="35000"/>
                </a:prstClr>
              </a:innerShdw>
            </a:effec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5400" kern="0" dirty="0" smtClean="0">
                  <a:solidFill>
                    <a:srgbClr val="FFFFFF"/>
                  </a:solidFill>
                </a:rPr>
                <a:t>?</a:t>
              </a:r>
              <a:endParaRPr kumimoji="0" lang="en-US" sz="54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714348" y="1357298"/>
            <a:ext cx="7643866" cy="29310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44000" bIns="144000" rtlCol="0">
            <a:sp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void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Hanoi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(int n,char x,char y,char z)   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//Hanoi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递归算法</a:t>
            </a:r>
          </a:p>
          <a:p>
            <a:pPr algn="l">
              <a:lnSpc>
                <a:spcPts val="23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if (n==1)	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只有一个盘片的情况</a:t>
            </a:r>
          </a:p>
          <a:p>
            <a:pPr algn="l">
              <a:lnSpc>
                <a:spcPts val="23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printf("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将第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%d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个盘片从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%c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移动到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%c\n",n,x,z);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3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else		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有两个或多个盘片的情况</a:t>
            </a:r>
          </a:p>
          <a:p>
            <a:pPr algn="l">
              <a:lnSpc>
                <a:spcPts val="23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{ 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Hanoi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(n-1,x,z,y);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3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printf("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将第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%d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个盘片从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%c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移动到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%c\n",n,x,z);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3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Hanoi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(n-1,y,x,z);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3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}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3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lang="zh-CN" altLang="zh-CN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35</a:t>
            </a:fld>
            <a:r>
              <a:rPr lang="en-US" altLang="zh-CN" smtClean="0"/>
              <a:t>/68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285852" y="3700763"/>
            <a:ext cx="7072362" cy="810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2800"/>
              </a:lnSpc>
              <a:spcBef>
                <a:spcPts val="0"/>
              </a:spcBef>
            </a:pP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设大问题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Hanoi(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x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y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z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的执行时间为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T(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，则小问题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Hanoi(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-1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x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y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z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的执行时间为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T(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-1)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。</a:t>
            </a:r>
            <a:r>
              <a:rPr lang="zh-CN" altLang="en-US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递推式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28728" y="4772333"/>
            <a:ext cx="4786346" cy="799807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216000" tIns="108000" bIns="108000" rtlCol="0">
            <a:spAutoFit/>
          </a:bodyPr>
          <a:lstStyle/>
          <a:p>
            <a:pPr algn="l"/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T(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)=1			</a:t>
            </a:r>
            <a:r>
              <a:rPr lang="zh-CN" altLang="zh-CN" sz="1800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当</a:t>
            </a:r>
            <a:r>
              <a:rPr lang="en-US" altLang="zh-CN" sz="1800" i="1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 sz="1800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=1</a:t>
            </a:r>
            <a:r>
              <a:rPr lang="zh-CN" altLang="zh-CN" sz="1800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时</a:t>
            </a:r>
          </a:p>
          <a:p>
            <a:pPr algn="l"/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T(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)=2T(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-1)+1		</a:t>
            </a:r>
            <a:r>
              <a:rPr lang="zh-CN" altLang="zh-CN" sz="1800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当</a:t>
            </a:r>
            <a:r>
              <a:rPr lang="en-US" altLang="zh-CN" sz="1800" i="1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 sz="1800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&gt;1</a:t>
            </a:r>
            <a:r>
              <a:rPr lang="zh-CN" altLang="zh-CN" sz="1800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时</a:t>
            </a:r>
            <a:endParaRPr lang="zh-CN" altLang="zh-CN" sz="1800">
              <a:solidFill>
                <a:srgbClr val="00B0F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71472" y="285728"/>
            <a:ext cx="7643866" cy="24837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44000" bIns="144000" rtlCol="0">
            <a:sp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void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Hanoi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(int n,char x,char y,char z)   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//Hanoi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递归算法</a:t>
            </a:r>
          </a:p>
          <a:p>
            <a:pPr algn="l">
              <a:lnSpc>
                <a:spcPts val="19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if (n==1)	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只有一个盘片的情况</a:t>
            </a:r>
          </a:p>
          <a:p>
            <a:pPr algn="l">
              <a:lnSpc>
                <a:spcPts val="19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printf("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将第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%d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个盘片从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%c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移动到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%c\n",n,x,z);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19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else		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有两个或多个盘片的情况</a:t>
            </a:r>
          </a:p>
          <a:p>
            <a:pPr algn="l">
              <a:lnSpc>
                <a:spcPts val="19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{ 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Hanoi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(n-1,x,z,y);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19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printf("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将第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%d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个盘片从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%c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移动到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%c\n",n,x,z);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19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Hanoi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(n-1,y,x,z);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19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}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19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lang="zh-CN" altLang="zh-CN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20" y="2928934"/>
            <a:ext cx="1643074" cy="7960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灯片编号占位符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36</a:t>
            </a:fld>
            <a:r>
              <a:rPr lang="en-US" altLang="zh-CN" smtClean="0"/>
              <a:t>/68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57224" y="500042"/>
            <a:ext cx="4786346" cy="799807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216000" tIns="108000" bIns="108000" rtlCol="0">
            <a:spAutoFit/>
          </a:bodyPr>
          <a:lstStyle/>
          <a:p>
            <a:pPr algn="l"/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T(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)=1			</a:t>
            </a:r>
            <a:r>
              <a:rPr lang="zh-CN" altLang="zh-CN" sz="1800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当</a:t>
            </a:r>
            <a:r>
              <a:rPr lang="en-US" altLang="zh-CN" sz="1800" i="1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 sz="1800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=1</a:t>
            </a:r>
            <a:r>
              <a:rPr lang="zh-CN" altLang="zh-CN" sz="1800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时</a:t>
            </a:r>
          </a:p>
          <a:p>
            <a:pPr algn="l"/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T(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)=2T(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-1)+1		</a:t>
            </a:r>
            <a:r>
              <a:rPr lang="zh-CN" altLang="zh-CN" sz="1800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当</a:t>
            </a:r>
            <a:r>
              <a:rPr lang="en-US" altLang="zh-CN" sz="1800" i="1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 sz="1800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&gt;1</a:t>
            </a:r>
            <a:r>
              <a:rPr lang="zh-CN" altLang="zh-CN" sz="1800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时</a:t>
            </a:r>
            <a:endParaRPr lang="zh-CN" altLang="zh-CN" sz="1800">
              <a:solidFill>
                <a:srgbClr val="00B0F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28662" y="1785926"/>
            <a:ext cx="528641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CN" sz="200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T(</a:t>
            </a:r>
            <a:r>
              <a:rPr lang="en-US" altLang="zh-CN" sz="2000" i="1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lang="en-US" altLang="zh-CN" sz="200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)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=2T(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-1)+1=2(2T(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-2)+1)+1</a:t>
            </a:r>
            <a:endParaRPr lang="zh-CN" altLang="zh-CN" sz="2000" smtClean="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  <a:p>
            <a:pPr algn="l">
              <a:lnSpc>
                <a:spcPct val="100000"/>
              </a:lnSpc>
            </a:pP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   =2</a:t>
            </a:r>
            <a:r>
              <a:rPr lang="en-US" altLang="zh-CN" sz="2000" baseline="300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2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T(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-2)+2+1=2</a:t>
            </a:r>
            <a:r>
              <a:rPr lang="en-US" altLang="zh-CN" sz="2000" baseline="300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2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(2T(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-3)+1)+2+1</a:t>
            </a:r>
            <a:endParaRPr lang="zh-CN" altLang="zh-CN" sz="2000" smtClean="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  <a:p>
            <a:pPr algn="l">
              <a:lnSpc>
                <a:spcPct val="100000"/>
              </a:lnSpc>
            </a:pP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   =2</a:t>
            </a:r>
            <a:r>
              <a:rPr lang="en-US" altLang="zh-CN" sz="2000" baseline="300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3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T(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-3)+2</a:t>
            </a:r>
            <a:r>
              <a:rPr lang="en-US" altLang="zh-CN" sz="2000" baseline="300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2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+2+1</a:t>
            </a:r>
            <a:endParaRPr lang="zh-CN" altLang="zh-CN" sz="2000" smtClean="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  <a:p>
            <a:pPr algn="l">
              <a:lnSpc>
                <a:spcPct val="100000"/>
              </a:lnSpc>
            </a:pP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   =</a:t>
            </a:r>
            <a:r>
              <a:rPr lang="zh-CN" altLang="zh-CN" sz="2000" smtClean="0">
                <a:solidFill>
                  <a:srgbClr val="0000FF"/>
                </a:solidFill>
                <a:latin typeface="+mj-ea"/>
                <a:ea typeface="+mj-ea"/>
                <a:cs typeface="Consolas" pitchFamily="49" charset="0"/>
              </a:rPr>
              <a:t>…</a:t>
            </a:r>
          </a:p>
          <a:p>
            <a:pPr algn="l">
              <a:lnSpc>
                <a:spcPct val="100000"/>
              </a:lnSpc>
            </a:pP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   =2</a:t>
            </a:r>
            <a:r>
              <a:rPr lang="en-US" altLang="zh-CN" sz="2000" i="1" baseline="300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lang="en-US" altLang="zh-CN" sz="2000" baseline="300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-1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T(1)+2</a:t>
            </a:r>
            <a:r>
              <a:rPr lang="en-US" altLang="zh-CN" sz="2000" i="1" baseline="300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lang="en-US" altLang="zh-CN" sz="2000" baseline="300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-2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+</a:t>
            </a:r>
            <a:r>
              <a:rPr lang="zh-CN" altLang="zh-CN" sz="2000" smtClean="0">
                <a:solidFill>
                  <a:srgbClr val="0000FF"/>
                </a:solidFill>
                <a:latin typeface="+mn-ea"/>
                <a:ea typeface="+mn-ea"/>
                <a:cs typeface="Consolas" pitchFamily="49" charset="0"/>
              </a:rPr>
              <a:t>…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+2</a:t>
            </a:r>
            <a:r>
              <a:rPr lang="en-US" altLang="zh-CN" sz="2000" baseline="300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2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+2+1</a:t>
            </a:r>
            <a:endParaRPr lang="zh-CN" altLang="zh-CN" sz="2000" smtClean="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  <a:p>
            <a:pPr algn="l">
              <a:lnSpc>
                <a:spcPct val="100000"/>
              </a:lnSpc>
            </a:pP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   =2</a:t>
            </a:r>
            <a:r>
              <a:rPr lang="en-US" altLang="zh-CN" sz="2000" i="1" baseline="300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-1</a:t>
            </a:r>
          </a:p>
          <a:p>
            <a:pPr algn="l">
              <a:lnSpc>
                <a:spcPct val="100000"/>
              </a:lnSpc>
            </a:pP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   =</a:t>
            </a:r>
            <a:r>
              <a:rPr lang="en-US" altLang="zh-CN" sz="200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O(2</a:t>
            </a:r>
            <a:r>
              <a:rPr lang="en-US" altLang="zh-CN" sz="2000" i="1" baseline="3000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lang="en-US" altLang="zh-CN" sz="200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)</a:t>
            </a:r>
            <a:endParaRPr lang="zh-CN" altLang="zh-CN" sz="2000" smtClean="0">
              <a:solidFill>
                <a:srgbClr val="FF0000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37</a:t>
            </a:fld>
            <a:r>
              <a:rPr lang="en-US" altLang="zh-CN" smtClean="0"/>
              <a:t>/68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57224" y="428604"/>
            <a:ext cx="3286148" cy="483960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tIns="72000" bIns="72000" rtlCol="0">
            <a:spAutoFit/>
          </a:bodyPr>
          <a:lstStyle/>
          <a:p>
            <a:pPr>
              <a:lnSpc>
                <a:spcPct val="100000"/>
              </a:lnSpc>
            </a:pPr>
            <a:r>
              <a:rPr lang="pt-BR" altLang="zh-CN" sz="2200" smtClean="0">
                <a:latin typeface="Consolas" pitchFamily="49" charset="0"/>
                <a:ea typeface="微软雅黑" pitchFamily="34" charset="-122"/>
                <a:cs typeface="Consolas" pitchFamily="49" charset="0"/>
              </a:rPr>
              <a:t>2. </a:t>
            </a:r>
            <a:r>
              <a:rPr lang="zh-CN" altLang="zh-CN" sz="2200" smtClean="0">
                <a:latin typeface="Consolas" pitchFamily="49" charset="0"/>
                <a:ea typeface="微软雅黑" pitchFamily="34" charset="-122"/>
                <a:cs typeface="Consolas" pitchFamily="49" charset="0"/>
              </a:rPr>
              <a:t>递归算法的</a:t>
            </a:r>
            <a:r>
              <a:rPr lang="zh-CN" altLang="en-US" sz="2200" smtClean="0">
                <a:latin typeface="Consolas" pitchFamily="49" charset="0"/>
                <a:ea typeface="微软雅黑" pitchFamily="34" charset="-122"/>
                <a:cs typeface="Consolas" pitchFamily="49" charset="0"/>
              </a:rPr>
              <a:t>空间</a:t>
            </a:r>
            <a:r>
              <a:rPr lang="zh-CN" altLang="zh-CN" sz="2200" smtClean="0">
                <a:latin typeface="Consolas" pitchFamily="49" charset="0"/>
                <a:ea typeface="微软雅黑" pitchFamily="34" charset="-122"/>
                <a:cs typeface="Consolas" pitchFamily="49" charset="0"/>
              </a:rPr>
              <a:t>分析</a:t>
            </a:r>
            <a:endParaRPr lang="zh-CN" altLang="zh-CN" sz="2200"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500298" y="4857760"/>
            <a:ext cx="55007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执行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Hanoi(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,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x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,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y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,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z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的空间复杂度为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O(1)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吗？</a:t>
            </a:r>
          </a:p>
        </p:txBody>
      </p:sp>
      <p:grpSp>
        <p:nvGrpSpPr>
          <p:cNvPr id="2" name="组合 6"/>
          <p:cNvGrpSpPr/>
          <p:nvPr/>
        </p:nvGrpSpPr>
        <p:grpSpPr>
          <a:xfrm>
            <a:off x="1214414" y="4500570"/>
            <a:ext cx="1143008" cy="1214445"/>
            <a:chOff x="1589596" y="810715"/>
            <a:chExt cx="2340698" cy="2345431"/>
          </a:xfrm>
        </p:grpSpPr>
        <p:grpSp>
          <p:nvGrpSpPr>
            <p:cNvPr id="4" name="组合 79"/>
            <p:cNvGrpSpPr/>
            <p:nvPr/>
          </p:nvGrpSpPr>
          <p:grpSpPr bwMode="auto">
            <a:xfrm>
              <a:off x="1589596" y="810715"/>
              <a:ext cx="2340698" cy="2345431"/>
              <a:chOff x="6379729" y="2488774"/>
              <a:chExt cx="2513016" cy="2513016"/>
            </a:xfrm>
          </p:grpSpPr>
          <p:sp>
            <p:nvSpPr>
              <p:cNvPr id="10" name="任意多边形 82"/>
              <p:cNvSpPr/>
              <p:nvPr/>
            </p:nvSpPr>
            <p:spPr>
              <a:xfrm rot="3738964">
                <a:off x="6379729" y="2488774"/>
                <a:ext cx="2513016" cy="2513016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gradFill flip="none" rotWithShape="1">
                <a:gsLst>
                  <a:gs pos="17000">
                    <a:srgbClr val="FFFFFF"/>
                  </a:gs>
                  <a:gs pos="88000">
                    <a:srgbClr val="FFFFFF">
                      <a:lumMod val="72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</a:endParaRPr>
              </a:p>
            </p:txBody>
          </p:sp>
          <p:sp>
            <p:nvSpPr>
              <p:cNvPr id="11" name="任意多边形 83"/>
              <p:cNvSpPr/>
              <p:nvPr/>
            </p:nvSpPr>
            <p:spPr>
              <a:xfrm rot="16377237">
                <a:off x="6409518" y="2506880"/>
                <a:ext cx="2476803" cy="2476800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gradFill flip="none" rotWithShape="1">
                <a:gsLst>
                  <a:gs pos="29000">
                    <a:srgbClr val="FFFFFF"/>
                  </a:gs>
                  <a:gs pos="98000">
                    <a:srgbClr val="FFFFFF">
                      <a:lumMod val="75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softEdge rad="0"/>
              </a:effec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9" name="椭圆 80"/>
            <p:cNvSpPr/>
            <p:nvPr/>
          </p:nvSpPr>
          <p:spPr bwMode="auto">
            <a:xfrm>
              <a:off x="1932719" y="1141999"/>
              <a:ext cx="1691508" cy="1694936"/>
            </a:xfrm>
            <a:prstGeom prst="ellipse">
              <a:avLst/>
            </a:prstGeom>
            <a:solidFill>
              <a:srgbClr val="1848C0"/>
            </a:solidFill>
            <a:ln w="25400" cap="flat" cmpd="sng" algn="ctr">
              <a:noFill/>
              <a:prstDash val="solid"/>
            </a:ln>
            <a:effectLst>
              <a:innerShdw blurRad="63500" dist="25400" dir="18660000">
                <a:prstClr val="black">
                  <a:alpha val="35000"/>
                </a:prstClr>
              </a:innerShdw>
            </a:effec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5400" kern="0" dirty="0" smtClean="0">
                  <a:solidFill>
                    <a:srgbClr val="FFFFFF"/>
                  </a:solidFill>
                </a:rPr>
                <a:t>?</a:t>
              </a:r>
              <a:endParaRPr kumimoji="0" lang="en-US" sz="54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714348" y="1285860"/>
            <a:ext cx="7643866" cy="29310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44000" bIns="144000" rtlCol="0">
            <a:sp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void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Hanoi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(int n,char x,char y,char z)   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//Hanoi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递归算法</a:t>
            </a:r>
          </a:p>
          <a:p>
            <a:pPr algn="l">
              <a:lnSpc>
                <a:spcPts val="23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if (n==1)	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只有一个盘片的情况</a:t>
            </a:r>
          </a:p>
          <a:p>
            <a:pPr algn="l">
              <a:lnSpc>
                <a:spcPts val="23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printf("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将第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%d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个盘片从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%c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移动到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%c\n",n,x,z);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3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else		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有两个或多个盘片的情况</a:t>
            </a:r>
          </a:p>
          <a:p>
            <a:pPr algn="l">
              <a:lnSpc>
                <a:spcPts val="23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{ 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Hanoi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(n-1,x,z,y);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3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printf("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将第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%d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个盘片从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%c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移动到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%c\n",n,x,z);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3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Hanoi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(n-1,y,x,z);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3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}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3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lang="zh-CN" altLang="zh-CN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7" name="灯片编号占位符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38</a:t>
            </a:fld>
            <a:r>
              <a:rPr lang="en-US" altLang="zh-CN" smtClean="0"/>
              <a:t>/68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428728" y="3857628"/>
            <a:ext cx="7143800" cy="810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2800"/>
              </a:lnSpc>
              <a:spcBef>
                <a:spcPts val="0"/>
              </a:spcBef>
            </a:pP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设大问题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Hanoi(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x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y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z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占用空间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为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S(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，则小问题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Hanoi(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-1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x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y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z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占用空间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为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S(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-1)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。</a:t>
            </a:r>
            <a:r>
              <a:rPr lang="zh-CN" altLang="en-US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递推式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1604" y="4857760"/>
            <a:ext cx="4786346" cy="799807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216000" tIns="108000" bIns="108000" rtlCol="0">
            <a:spAutoFit/>
          </a:bodyPr>
          <a:lstStyle/>
          <a:p>
            <a:pPr algn="l"/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S(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)=1			</a:t>
            </a:r>
            <a:r>
              <a:rPr lang="zh-CN" altLang="zh-CN" sz="1800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当</a:t>
            </a:r>
            <a:r>
              <a:rPr lang="en-US" altLang="zh-CN" sz="1800" i="1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 sz="1800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=1</a:t>
            </a:r>
            <a:r>
              <a:rPr lang="zh-CN" altLang="zh-CN" sz="1800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时</a:t>
            </a:r>
          </a:p>
          <a:p>
            <a:pPr algn="l"/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S(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)=S(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-1)+1		</a:t>
            </a:r>
            <a:r>
              <a:rPr lang="zh-CN" altLang="zh-CN" sz="1800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当</a:t>
            </a:r>
            <a:r>
              <a:rPr lang="en-US" altLang="zh-CN" sz="1800" i="1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 sz="1800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&gt;1</a:t>
            </a:r>
            <a:r>
              <a:rPr lang="zh-CN" altLang="zh-CN" sz="1800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时</a:t>
            </a:r>
            <a:endParaRPr lang="zh-CN" altLang="zh-CN" sz="1800">
              <a:solidFill>
                <a:srgbClr val="00B0F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71472" y="428604"/>
            <a:ext cx="7643866" cy="24837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44000" bIns="144000" rtlCol="0">
            <a:sp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void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Hanoi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(int n,char x,char y,char z)   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//Hanoi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递归算法</a:t>
            </a:r>
          </a:p>
          <a:p>
            <a:pPr algn="l">
              <a:lnSpc>
                <a:spcPts val="19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if (n==1)	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只有一个盘片的情况</a:t>
            </a:r>
          </a:p>
          <a:p>
            <a:pPr algn="l">
              <a:lnSpc>
                <a:spcPts val="19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printf("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将第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%d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个盘片从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%c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移动到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%c\n",n,x,z);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19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else		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有两个或多个盘片的情况</a:t>
            </a:r>
          </a:p>
          <a:p>
            <a:pPr algn="l">
              <a:lnSpc>
                <a:spcPts val="19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{ 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Hanoi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(n-1,x,z,y);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19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printf("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将第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%d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个盘片从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%c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移动到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%c\n",n,x,z);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19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Hanoi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(n-1,y,x,z);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19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}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19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lang="zh-CN" altLang="zh-CN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7158" y="3000372"/>
            <a:ext cx="1643074" cy="7960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39</a:t>
            </a:fld>
            <a:r>
              <a:rPr lang="en-US" altLang="zh-CN" smtClean="0"/>
              <a:t>/68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071538" y="1928802"/>
            <a:ext cx="4286280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CN" sz="200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S(</a:t>
            </a:r>
            <a:r>
              <a:rPr lang="en-US" altLang="zh-CN" sz="2000" i="1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lang="en-US" altLang="zh-CN" sz="200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)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=S(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-1)+1</a:t>
            </a:r>
            <a:endParaRPr lang="zh-CN" altLang="zh-CN" sz="2000" smtClean="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  <a:p>
            <a:pPr algn="l">
              <a:lnSpc>
                <a:spcPct val="100000"/>
              </a:lnSpc>
            </a:pP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   =S(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-2)+1+1=S(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-2)+2</a:t>
            </a:r>
            <a:endParaRPr lang="zh-CN" altLang="zh-CN" sz="2000" smtClean="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  <a:p>
            <a:pPr algn="l">
              <a:lnSpc>
                <a:spcPct val="100000"/>
              </a:lnSpc>
            </a:pP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   =</a:t>
            </a:r>
            <a:r>
              <a:rPr lang="zh-CN" altLang="zh-CN" sz="2000" smtClean="0">
                <a:solidFill>
                  <a:srgbClr val="0000FF"/>
                </a:solidFill>
                <a:latin typeface="+mn-ea"/>
                <a:ea typeface="+mn-ea"/>
                <a:cs typeface="Consolas" pitchFamily="49" charset="0"/>
              </a:rPr>
              <a:t>…</a:t>
            </a:r>
          </a:p>
          <a:p>
            <a:pPr algn="l">
              <a:lnSpc>
                <a:spcPct val="100000"/>
              </a:lnSpc>
            </a:pP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   =S(1)+(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-1)=1+(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-1)</a:t>
            </a:r>
            <a:endParaRPr lang="zh-CN" altLang="zh-CN" sz="2000" smtClean="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  <a:p>
            <a:pPr algn="l">
              <a:lnSpc>
                <a:spcPct val="100000"/>
              </a:lnSpc>
            </a:pP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   =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n</a:t>
            </a:r>
          </a:p>
          <a:p>
            <a:pPr algn="l">
              <a:lnSpc>
                <a:spcPct val="100000"/>
              </a:lnSpc>
            </a:pP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   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=</a:t>
            </a:r>
            <a:r>
              <a:rPr lang="en-US" altLang="zh-CN" sz="200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O(</a:t>
            </a:r>
            <a:r>
              <a:rPr lang="en-US" altLang="zh-CN" sz="2000" i="1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lang="en-US" altLang="zh-CN" sz="200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)</a:t>
            </a:r>
            <a:endParaRPr lang="zh-CN" altLang="zh-CN" sz="2000">
              <a:solidFill>
                <a:srgbClr val="FF0000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28662" y="571480"/>
            <a:ext cx="4786346" cy="799807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216000" tIns="108000" bIns="108000" rtlCol="0">
            <a:spAutoFit/>
          </a:bodyPr>
          <a:lstStyle/>
          <a:p>
            <a:pPr algn="l"/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S(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)=1			</a:t>
            </a:r>
            <a:r>
              <a:rPr lang="zh-CN" altLang="zh-CN" sz="1800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当</a:t>
            </a:r>
            <a:r>
              <a:rPr lang="en-US" altLang="zh-CN" sz="1800" i="1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 sz="1800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=1</a:t>
            </a:r>
            <a:r>
              <a:rPr lang="zh-CN" altLang="zh-CN" sz="1800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时</a:t>
            </a:r>
          </a:p>
          <a:p>
            <a:pPr algn="l"/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S(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)=S(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-1)+1		</a:t>
            </a:r>
            <a:r>
              <a:rPr lang="zh-CN" altLang="zh-CN" sz="1800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当</a:t>
            </a:r>
            <a:r>
              <a:rPr lang="en-US" altLang="zh-CN" sz="1800" i="1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 sz="1800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&gt;1</a:t>
            </a:r>
            <a:r>
              <a:rPr lang="zh-CN" altLang="zh-CN" sz="1800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时</a:t>
            </a:r>
            <a:endParaRPr lang="zh-CN" altLang="zh-CN" sz="1800">
              <a:solidFill>
                <a:srgbClr val="00B0F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40</a:t>
            </a:fld>
            <a:r>
              <a:rPr lang="en-US" altLang="zh-CN" smtClean="0"/>
              <a:t>/68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071802" y="857232"/>
            <a:ext cx="2428892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000" smtClean="0">
                <a:latin typeface="Consolas" pitchFamily="49" charset="0"/>
                <a:ea typeface="仿宋" pitchFamily="49" charset="-122"/>
                <a:cs typeface="Consolas" pitchFamily="49" charset="0"/>
              </a:rPr>
              <a:t>确定问题规模</a:t>
            </a:r>
            <a:r>
              <a:rPr lang="en-US" altLang="zh-CN" sz="2000" i="1" smtClean="0"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endParaRPr lang="zh-CN" altLang="en-US" sz="2000" i="1"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7" name="下箭头 6"/>
          <p:cNvSpPr/>
          <p:nvPr/>
        </p:nvSpPr>
        <p:spPr>
          <a:xfrm>
            <a:off x="4214810" y="1428736"/>
            <a:ext cx="142876" cy="285752"/>
          </a:xfrm>
          <a:prstGeom prst="down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CN" altLang="en-US" sz="2000"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071802" y="1938823"/>
            <a:ext cx="2428892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000" smtClean="0">
                <a:latin typeface="Consolas" pitchFamily="49" charset="0"/>
                <a:ea typeface="仿宋" pitchFamily="49" charset="-122"/>
                <a:cs typeface="Consolas" pitchFamily="49" charset="0"/>
              </a:rPr>
              <a:t>确定终止情况</a:t>
            </a:r>
            <a:endParaRPr lang="zh-CN" altLang="en-US" sz="2000"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0" name="下箭头 9"/>
          <p:cNvSpPr/>
          <p:nvPr/>
        </p:nvSpPr>
        <p:spPr>
          <a:xfrm>
            <a:off x="4214810" y="2476496"/>
            <a:ext cx="142876" cy="285752"/>
          </a:xfrm>
          <a:prstGeom prst="down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CN" altLang="en-US" sz="2000"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071802" y="2986583"/>
            <a:ext cx="2428892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000" smtClean="0">
                <a:latin typeface="Consolas" pitchFamily="49" charset="0"/>
                <a:ea typeface="仿宋" pitchFamily="49" charset="-122"/>
                <a:cs typeface="Consolas" pitchFamily="49" charset="0"/>
              </a:rPr>
              <a:t>确定递推情况</a:t>
            </a:r>
            <a:endParaRPr lang="zh-CN" altLang="en-US" sz="2000"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3" name="右大括号 12"/>
          <p:cNvSpPr/>
          <p:nvPr/>
        </p:nvSpPr>
        <p:spPr>
          <a:xfrm>
            <a:off x="5715008" y="2190742"/>
            <a:ext cx="142876" cy="1047757"/>
          </a:xfrm>
          <a:prstGeom prst="rightBrace">
            <a:avLst/>
          </a:prstGeom>
          <a:ln w="19050"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CN" altLang="en-US" sz="2000"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4" name="折角形 13"/>
          <p:cNvSpPr/>
          <p:nvPr/>
        </p:nvSpPr>
        <p:spPr>
          <a:xfrm>
            <a:off x="6000760" y="2381243"/>
            <a:ext cx="1143008" cy="571504"/>
          </a:xfrm>
          <a:prstGeom prst="foldedCorner">
            <a:avLst/>
          </a:prstGeom>
          <a:solidFill>
            <a:srgbClr val="00CC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zh-CN" altLang="en-US" sz="2000" spc="5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仿宋" pitchFamily="49" charset="-122"/>
                <a:cs typeface="Consolas" pitchFamily="49" charset="0"/>
              </a:rPr>
              <a:t>递推式</a:t>
            </a:r>
            <a:endParaRPr lang="zh-CN" altLang="en-US" sz="2000" spc="5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6" name="下箭头 15"/>
          <p:cNvSpPr/>
          <p:nvPr/>
        </p:nvSpPr>
        <p:spPr>
          <a:xfrm>
            <a:off x="4214810" y="3582657"/>
            <a:ext cx="142876" cy="285752"/>
          </a:xfrm>
          <a:prstGeom prst="down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CN" altLang="en-US" sz="2000"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947976" y="3997494"/>
            <a:ext cx="2643206" cy="707886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000" smtClean="0">
                <a:latin typeface="Consolas" pitchFamily="49" charset="0"/>
                <a:ea typeface="仿宋" pitchFamily="49" charset="-122"/>
                <a:cs typeface="Consolas" pitchFamily="49" charset="0"/>
              </a:rPr>
              <a:t>由递推式求出</a:t>
            </a:r>
            <a:r>
              <a:rPr lang="en-US" altLang="zh-CN" sz="2000" smtClean="0">
                <a:latin typeface="Consolas" pitchFamily="49" charset="0"/>
                <a:ea typeface="仿宋" pitchFamily="49" charset="-122"/>
                <a:cs typeface="Consolas" pitchFamily="49" charset="0"/>
              </a:rPr>
              <a:t>T(</a:t>
            </a:r>
            <a:r>
              <a:rPr lang="en-US" altLang="zh-CN" sz="2000" i="1" smtClean="0"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 sz="2000" smtClean="0">
                <a:latin typeface="Consolas" pitchFamily="49" charset="0"/>
                <a:ea typeface="仿宋" pitchFamily="49" charset="-122"/>
                <a:cs typeface="Consolas" pitchFamily="49" charset="0"/>
              </a:rPr>
              <a:t>)/S(n)</a:t>
            </a:r>
            <a:endParaRPr lang="zh-CN" altLang="en-US" sz="2000"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857488" y="5140502"/>
            <a:ext cx="285752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000" smtClean="0">
                <a:latin typeface="Consolas" pitchFamily="49" charset="0"/>
                <a:ea typeface="仿宋" pitchFamily="49" charset="-122"/>
                <a:cs typeface="Consolas" pitchFamily="49" charset="0"/>
              </a:rPr>
              <a:t>用复杂度表示</a:t>
            </a:r>
            <a:r>
              <a:rPr lang="en-US" altLang="zh-CN" sz="2000" i="1" smtClean="0">
                <a:latin typeface="Consolas" pitchFamily="49" charset="0"/>
                <a:ea typeface="仿宋" pitchFamily="49" charset="-122"/>
                <a:cs typeface="Consolas" pitchFamily="49" charset="0"/>
              </a:rPr>
              <a:t>T</a:t>
            </a:r>
            <a:r>
              <a:rPr lang="en-US" altLang="zh-CN" sz="2000" smtClean="0"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sz="2000" i="1" smtClean="0"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 sz="2000" smtClean="0">
                <a:latin typeface="Consolas" pitchFamily="49" charset="0"/>
                <a:ea typeface="仿宋" pitchFamily="49" charset="-122"/>
                <a:cs typeface="Consolas" pitchFamily="49" charset="0"/>
              </a:rPr>
              <a:t>)/S(</a:t>
            </a:r>
            <a:r>
              <a:rPr lang="en-US" altLang="zh-CN" sz="2000" i="1" smtClean="0"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 sz="2000" smtClean="0">
                <a:latin typeface="Consolas" pitchFamily="49" charset="0"/>
                <a:ea typeface="仿宋" pitchFamily="49" charset="-122"/>
                <a:cs typeface="Consolas" pitchFamily="49" charset="0"/>
              </a:rPr>
              <a:t>)</a:t>
            </a:r>
            <a:endParaRPr lang="zh-CN" altLang="en-US" sz="2000"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20" name="下箭头 19"/>
          <p:cNvSpPr/>
          <p:nvPr/>
        </p:nvSpPr>
        <p:spPr>
          <a:xfrm>
            <a:off x="4214810" y="4786322"/>
            <a:ext cx="142876" cy="285752"/>
          </a:xfrm>
          <a:prstGeom prst="down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CN" altLang="en-US" sz="2000"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85786" y="428604"/>
            <a:ext cx="1928826" cy="4001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marL="457200" indent="-457200" algn="l">
              <a:lnSpc>
                <a:spcPct val="100000"/>
              </a:lnSpc>
              <a:spcBef>
                <a:spcPts val="0"/>
              </a:spcBef>
            </a:pPr>
            <a:r>
              <a:rPr lang="zh-CN" altLang="en-US" sz="2000" spc="5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递归算法分析</a:t>
            </a:r>
            <a:endParaRPr lang="en-US" altLang="zh-CN" sz="2000" spc="50" smtClean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24" name="灯片编号占位符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41</a:t>
            </a:fld>
            <a:r>
              <a:rPr lang="en-US" altLang="zh-CN" smtClean="0"/>
              <a:t>/68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428860" y="428604"/>
            <a:ext cx="3786214" cy="52322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2800" spc="50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6.2 </a:t>
            </a:r>
            <a:r>
              <a:rPr lang="zh-CN" altLang="zh-CN" sz="2800" spc="50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递归算法的设计</a:t>
            </a:r>
            <a:endParaRPr lang="zh-CN" altLang="en-US" sz="2800" spc="5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1472" y="1500174"/>
            <a:ext cx="4357718" cy="461665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mtClean="0">
                <a:latin typeface="Consolas" pitchFamily="49" charset="0"/>
                <a:ea typeface="微软雅黑" pitchFamily="34" charset="-122"/>
                <a:cs typeface="Consolas" pitchFamily="49" charset="0"/>
              </a:rPr>
              <a:t>6.2.1 </a:t>
            </a:r>
            <a:r>
              <a:rPr lang="zh-CN" altLang="zh-CN" smtClean="0">
                <a:latin typeface="Consolas" pitchFamily="49" charset="0"/>
                <a:ea typeface="微软雅黑" pitchFamily="34" charset="-122"/>
                <a:cs typeface="Consolas" pitchFamily="49" charset="0"/>
              </a:rPr>
              <a:t>递归算法设计的步骤</a:t>
            </a:r>
            <a:endParaRPr lang="zh-CN" altLang="zh-CN" smtClean="0">
              <a:ln w="11430"/>
              <a:solidFill>
                <a:schemeClr val="bg1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1071538" y="2357430"/>
            <a:ext cx="3929090" cy="1023902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  <a:headEnd/>
            <a:tailE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180000" tIns="108000" bIns="144000">
            <a:spAutoFit/>
          </a:bodyPr>
          <a:lstStyle/>
          <a:p>
            <a:pPr marL="457200" indent="-457200" algn="l">
              <a:lnSpc>
                <a:spcPct val="100000"/>
              </a:lnSpc>
              <a:spcBef>
                <a:spcPct val="50000"/>
              </a:spcBef>
              <a:buBlip>
                <a:blip r:embed="rId2"/>
              </a:buBlip>
            </a:pPr>
            <a:r>
              <a:rPr kumimoji="1" lang="zh-CN" altLang="en-US" sz="2000" dirty="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设计求解问题的递归模型。</a:t>
            </a:r>
            <a:endParaRPr kumimoji="1" lang="en-US" altLang="zh-CN" sz="2000" dirty="0" smtClean="0">
              <a:solidFill>
                <a:srgbClr val="0000FF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  <a:p>
            <a:pPr marL="457200" indent="-457200" algn="l">
              <a:lnSpc>
                <a:spcPct val="100000"/>
              </a:lnSpc>
              <a:spcBef>
                <a:spcPct val="50000"/>
              </a:spcBef>
              <a:buBlip>
                <a:blip r:embed="rId2"/>
              </a:buBlip>
            </a:pPr>
            <a:r>
              <a:rPr kumimoji="1" lang="zh-CN" altLang="en-US" sz="2000" dirty="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转换</a:t>
            </a:r>
            <a:r>
              <a:rPr kumimoji="1" lang="zh-CN" altLang="en-US" sz="20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成</a:t>
            </a:r>
            <a:r>
              <a:rPr kumimoji="1" lang="zh-CN" altLang="en-US" sz="20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对应</a:t>
            </a:r>
            <a:r>
              <a:rPr kumimoji="1" lang="zh-CN" altLang="en-US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的递归算法。</a:t>
            </a:r>
            <a:endParaRPr kumimoji="1" lang="zh-CN" altLang="en-US" sz="2000" dirty="0">
              <a:solidFill>
                <a:srgbClr val="0000FF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grpSp>
        <p:nvGrpSpPr>
          <p:cNvPr id="2" name="组合 7"/>
          <p:cNvGrpSpPr/>
          <p:nvPr/>
        </p:nvGrpSpPr>
        <p:grpSpPr>
          <a:xfrm>
            <a:off x="2357422" y="4000504"/>
            <a:ext cx="4286280" cy="500066"/>
            <a:chOff x="1428728" y="4429132"/>
            <a:chExt cx="4286280" cy="500066"/>
          </a:xfrm>
        </p:grpSpPr>
        <p:sp>
          <p:nvSpPr>
            <p:cNvPr id="9" name="圆角矩形 8"/>
            <p:cNvSpPr/>
            <p:nvPr/>
          </p:nvSpPr>
          <p:spPr>
            <a:xfrm>
              <a:off x="1428728" y="4429132"/>
              <a:ext cx="1643074" cy="500066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scene3d>
              <a:camera prst="perspectiveAbove"/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2000" b="0" smtClean="0">
                  <a:solidFill>
                    <a:srgbClr val="FF0000"/>
                  </a:solidFill>
                  <a:ea typeface="楷体" pitchFamily="49" charset="-122"/>
                  <a:cs typeface="Times New Roman" pitchFamily="18" charset="0"/>
                </a:rPr>
                <a:t>递归模型</a:t>
              </a:r>
              <a:endParaRPr lang="zh-CN" altLang="en-US" sz="2000" b="0">
                <a:solidFill>
                  <a:srgbClr val="FF0000"/>
                </a:solidFill>
              </a:endParaRPr>
            </a:p>
          </p:txBody>
        </p:sp>
        <p:sp>
          <p:nvSpPr>
            <p:cNvPr id="10" name="右箭头 9"/>
            <p:cNvSpPr/>
            <p:nvPr/>
          </p:nvSpPr>
          <p:spPr>
            <a:xfrm>
              <a:off x="3214678" y="4572008"/>
              <a:ext cx="714380" cy="214314"/>
            </a:xfrm>
            <a:prstGeom prst="rightArrow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11" name="圆角矩形 10"/>
            <p:cNvSpPr/>
            <p:nvPr/>
          </p:nvSpPr>
          <p:spPr>
            <a:xfrm>
              <a:off x="4071934" y="4429132"/>
              <a:ext cx="1643074" cy="500066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2000" b="0" smtClean="0">
                  <a:solidFill>
                    <a:srgbClr val="FF0000"/>
                  </a:solidFill>
                  <a:ea typeface="楷体" pitchFamily="49" charset="-122"/>
                  <a:cs typeface="Times New Roman" pitchFamily="18" charset="0"/>
                </a:rPr>
                <a:t>递归算法</a:t>
              </a:r>
              <a:endParaRPr lang="zh-CN" altLang="en-US" sz="2000" b="0">
                <a:solidFill>
                  <a:srgbClr val="FF0000"/>
                </a:solidFill>
              </a:endParaRPr>
            </a:p>
          </p:txBody>
        </p:sp>
      </p:grpSp>
      <p:sp>
        <p:nvSpPr>
          <p:cNvPr id="16" name="灯片编号占位符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42</a:t>
            </a:fld>
            <a:r>
              <a:rPr lang="en-US" altLang="zh-CN" smtClean="0"/>
              <a:t>/68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500034" y="1462619"/>
            <a:ext cx="5715040" cy="707886"/>
          </a:xfrm>
          <a:prstGeom prst="rect">
            <a:avLst/>
          </a:prstGeom>
          <a:ln>
            <a:headEnd/>
            <a:tailEnd/>
          </a:ln>
          <a:effectLst>
            <a:glow rad="101600">
              <a:schemeClr val="accent4">
                <a:satMod val="175000"/>
                <a:alpha val="40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1" lang="zh-CN" altLang="en-US" sz="2000" b="0" smtClean="0">
                <a:solidFill>
                  <a:srgbClr val="FF33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kumimoji="1" lang="zh-CN" altLang="en-US" sz="2000" b="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（</a:t>
            </a:r>
            <a:r>
              <a:rPr kumimoji="1" lang="en-US" altLang="zh-CN" sz="2000" b="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  <a:r>
              <a:rPr kumimoji="1" lang="zh-CN" altLang="en-US" sz="2000" b="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）对原问题</a:t>
            </a:r>
            <a:r>
              <a:rPr kumimoji="1" lang="en-US" altLang="zh-CN" sz="2000" b="0" i="1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</a:t>
            </a:r>
            <a:r>
              <a:rPr kumimoji="1" lang="en-US" altLang="zh-CN" sz="2000" b="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(s)</a:t>
            </a:r>
            <a:r>
              <a:rPr kumimoji="1" lang="zh-CN" altLang="en-US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进行</a:t>
            </a:r>
            <a:r>
              <a:rPr kumimoji="1" lang="zh-CN" altLang="en-US" sz="2000" b="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分析，称为“大问题”，假设</a:t>
            </a:r>
            <a:r>
              <a:rPr kumimoji="1" lang="zh-CN" altLang="en-US" sz="2000" b="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出合理的“小问题”</a:t>
            </a:r>
            <a:r>
              <a:rPr kumimoji="1" lang="en-US" altLang="zh-CN" sz="2000" b="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</a:t>
            </a:r>
            <a:r>
              <a:rPr kumimoji="1" lang="en-US" altLang="zh-CN" sz="2000" b="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(s’)</a:t>
            </a:r>
            <a:r>
              <a:rPr kumimoji="1" lang="zh-CN" altLang="en-US" sz="2000" b="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；</a:t>
            </a:r>
            <a:r>
              <a:rPr kumimoji="1" lang="zh-CN" altLang="en-US" sz="2000" b="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　</a:t>
            </a: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714348" y="505000"/>
            <a:ext cx="3071834" cy="525886"/>
          </a:xfrm>
          <a:prstGeom prst="rect">
            <a:avLst/>
          </a:prstGeom>
          <a:solidFill>
            <a:srgbClr val="336600"/>
          </a:solidFill>
          <a:ln w="9525">
            <a:noFill/>
            <a:miter lim="800000"/>
            <a:headEnd/>
            <a:tailEnd/>
          </a:ln>
          <a:effectLst/>
        </p:spPr>
        <p:txBody>
          <a:bodyPr wrap="square" tIns="108000" bIns="108000"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</a:pPr>
            <a:r>
              <a:rPr kumimoji="1" lang="zh-CN" altLang="en-US" sz="2000" dirty="0">
                <a:solidFill>
                  <a:schemeClr val="bg1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　求递归模型的步骤如下：</a:t>
            </a:r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500034" y="4357694"/>
            <a:ext cx="5572164" cy="707886"/>
          </a:xfrm>
          <a:prstGeom prst="rect">
            <a:avLst/>
          </a:prstGeom>
          <a:ln>
            <a:headEnd/>
            <a:tailEnd/>
          </a:ln>
          <a:effectLst>
            <a:glow rad="139700">
              <a:schemeClr val="accent2">
                <a:satMod val="175000"/>
                <a:alpha val="40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  <a:defRPr/>
            </a:pPr>
            <a:r>
              <a:rPr kumimoji="1" lang="zh-CN" altLang="en-US" sz="2000" b="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（</a:t>
            </a:r>
            <a:r>
              <a:rPr kumimoji="1" lang="en-US" altLang="zh-CN" sz="2000" b="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3</a:t>
            </a:r>
            <a:r>
              <a:rPr kumimoji="1" lang="zh-CN" altLang="en-US" sz="2000" b="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）确定一个特定情况（如</a:t>
            </a:r>
            <a:r>
              <a:rPr kumimoji="1" lang="en-US" altLang="zh-CN" sz="2000" b="0" i="1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</a:t>
            </a:r>
            <a:r>
              <a:rPr kumimoji="1" lang="en-US" altLang="zh-CN" sz="2000" b="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(1)</a:t>
            </a:r>
            <a:r>
              <a:rPr kumimoji="1" lang="zh-CN" altLang="en-US" sz="2000" b="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或</a:t>
            </a:r>
            <a:r>
              <a:rPr kumimoji="1" lang="en-US" altLang="zh-CN" sz="2000" b="0" i="1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</a:t>
            </a:r>
            <a:r>
              <a:rPr kumimoji="1" lang="en-US" altLang="zh-CN" sz="2000" b="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(0)</a:t>
            </a:r>
            <a:r>
              <a:rPr kumimoji="1" lang="zh-CN" altLang="en-US" sz="2000" b="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）</a:t>
            </a:r>
            <a:r>
              <a:rPr kumimoji="1" lang="zh-CN" altLang="en-US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</a:t>
            </a:r>
            <a:r>
              <a:rPr kumimoji="1" lang="zh-CN" altLang="en-US" sz="2000" b="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解  </a:t>
            </a:r>
            <a:r>
              <a:rPr kumimoji="1" lang="zh-CN" altLang="en-US" sz="2000" b="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  <a:sym typeface="Wingdings"/>
              </a:rPr>
              <a:t>  </a:t>
            </a:r>
            <a:r>
              <a:rPr kumimoji="1" lang="zh-CN" altLang="en-US" sz="2000" b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ea typeface="仿宋" pitchFamily="49" charset="-122"/>
                <a:cs typeface="Consolas" pitchFamily="49" charset="0"/>
              </a:rPr>
              <a:t>递归出口</a:t>
            </a:r>
            <a:r>
              <a:rPr kumimoji="1" lang="zh-CN" altLang="en-US" sz="2000" b="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。</a:t>
            </a:r>
            <a:endParaRPr kumimoji="1" lang="zh-CN" altLang="en-US" sz="2000" b="0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500034" y="2714620"/>
            <a:ext cx="5643602" cy="1015663"/>
          </a:xfrm>
          <a:prstGeom prst="rect">
            <a:avLst/>
          </a:prstGeom>
          <a:ln>
            <a:headEnd/>
            <a:tailEnd/>
          </a:ln>
          <a:effectLst>
            <a:glow rad="101600">
              <a:schemeClr val="accent4">
                <a:satMod val="175000"/>
                <a:alpha val="40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1" lang="zh-CN" altLang="en-US" sz="2000" b="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　 （</a:t>
            </a:r>
            <a:r>
              <a:rPr kumimoji="1" lang="en-US" altLang="zh-CN" sz="2000" b="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2</a:t>
            </a:r>
            <a:r>
              <a:rPr kumimoji="1" lang="zh-CN" altLang="en-US" sz="2000" b="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）假设</a:t>
            </a:r>
            <a:r>
              <a:rPr kumimoji="1" lang="en-US" altLang="zh-CN" sz="2000" b="0" i="1" dirty="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</a:t>
            </a:r>
            <a:r>
              <a:rPr kumimoji="1" lang="en-US" altLang="zh-CN" sz="2000" b="0" dirty="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(s’)</a:t>
            </a:r>
            <a:r>
              <a:rPr kumimoji="1" lang="zh-CN" altLang="en-US" sz="2000" b="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是可</a:t>
            </a:r>
            <a:r>
              <a:rPr kumimoji="1" lang="zh-CN" altLang="en-US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解</a:t>
            </a:r>
            <a:r>
              <a:rPr kumimoji="1" lang="zh-CN" altLang="en-US" sz="2000" b="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的，在此</a:t>
            </a:r>
            <a:r>
              <a:rPr kumimoji="1" lang="zh-CN" altLang="en-US" sz="2000" b="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基础上确定</a:t>
            </a:r>
            <a:r>
              <a:rPr kumimoji="1" lang="en-US" altLang="zh-CN" sz="2000" b="0" i="1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</a:t>
            </a:r>
            <a:r>
              <a:rPr kumimoji="1" lang="en-US" altLang="zh-CN" sz="2000" b="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(s)</a:t>
            </a:r>
            <a:r>
              <a:rPr kumimoji="1" lang="zh-CN" altLang="en-US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</a:t>
            </a:r>
            <a:r>
              <a:rPr kumimoji="1" lang="zh-CN" altLang="en-US" sz="2000" b="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解，即</a:t>
            </a:r>
            <a:r>
              <a:rPr kumimoji="1" lang="zh-CN" altLang="en-US" sz="2000" b="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给出</a:t>
            </a:r>
            <a:r>
              <a:rPr kumimoji="1" lang="en-US" altLang="zh-CN" sz="2000" b="0" i="1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</a:t>
            </a:r>
            <a:r>
              <a:rPr kumimoji="1" lang="en-US" altLang="zh-CN" sz="2000" b="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(s)</a:t>
            </a:r>
            <a:r>
              <a:rPr kumimoji="1" lang="zh-CN" altLang="en-US" sz="2000" b="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与</a:t>
            </a:r>
            <a:r>
              <a:rPr kumimoji="1" lang="en-US" altLang="zh-CN" sz="2000" b="0" i="1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</a:t>
            </a:r>
            <a:r>
              <a:rPr kumimoji="1" lang="en-US" altLang="zh-CN" sz="2000" b="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(s’)</a:t>
            </a:r>
            <a:r>
              <a:rPr kumimoji="1" lang="zh-CN" altLang="en-US" sz="2000" b="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之间</a:t>
            </a:r>
            <a:r>
              <a:rPr kumimoji="1" lang="zh-CN" altLang="en-US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</a:t>
            </a:r>
            <a:r>
              <a:rPr kumimoji="1" lang="zh-CN" altLang="en-US" sz="2000" b="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关系 </a:t>
            </a:r>
            <a:r>
              <a:rPr kumimoji="1" lang="zh-CN" altLang="en-US" sz="2000" b="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  <a:sym typeface="Wingdings"/>
              </a:rPr>
              <a:t> </a:t>
            </a:r>
            <a:r>
              <a:rPr kumimoji="1" lang="zh-CN" altLang="en-US" sz="2000" b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ea typeface="仿宋" pitchFamily="49" charset="-122"/>
                <a:cs typeface="Consolas" pitchFamily="49" charset="0"/>
                <a:sym typeface="Wingdings"/>
              </a:rPr>
              <a:t>递归体</a:t>
            </a:r>
            <a:r>
              <a:rPr kumimoji="1" lang="zh-CN" altLang="en-US" sz="2000" b="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  <a:sym typeface="Wingdings"/>
              </a:rPr>
              <a:t>。</a:t>
            </a:r>
            <a:endParaRPr kumimoji="1" lang="zh-CN" altLang="en-US" sz="2000" b="0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grpSp>
        <p:nvGrpSpPr>
          <p:cNvPr id="2" name="组合 7"/>
          <p:cNvGrpSpPr/>
          <p:nvPr/>
        </p:nvGrpSpPr>
        <p:grpSpPr>
          <a:xfrm>
            <a:off x="6215074" y="1500174"/>
            <a:ext cx="2571768" cy="3510345"/>
            <a:chOff x="6072198" y="1714488"/>
            <a:chExt cx="2571768" cy="3510345"/>
          </a:xfrm>
        </p:grpSpPr>
        <p:sp>
          <p:nvSpPr>
            <p:cNvPr id="9" name="TextBox 8"/>
            <p:cNvSpPr txBox="1"/>
            <p:nvPr/>
          </p:nvSpPr>
          <p:spPr>
            <a:xfrm>
              <a:off x="6572264" y="1714488"/>
              <a:ext cx="200026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kumimoji="1" lang="zh-CN" altLang="en-US" sz="2000" smtClean="0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数学归纳法</a:t>
              </a:r>
              <a:endParaRPr lang="zh-CN" altLang="en-US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786578" y="2571744"/>
              <a:ext cx="1857388" cy="1477328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kumimoji="1" lang="zh-CN" altLang="en-US" sz="2000" b="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假设</a:t>
              </a:r>
              <a:r>
                <a:rPr kumimoji="1" lang="en-US" altLang="zh-CN" sz="2000" b="0" i="1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n</a:t>
              </a:r>
              <a:r>
                <a:rPr kumimoji="1" lang="en-US" altLang="zh-CN" sz="2000" b="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=</a:t>
              </a:r>
              <a:r>
                <a:rPr kumimoji="1" lang="en-US" altLang="zh-CN" sz="2000" b="0" i="1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k</a:t>
              </a:r>
              <a:r>
                <a:rPr kumimoji="1" lang="en-US" altLang="zh-CN" sz="2000" b="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-1</a:t>
              </a:r>
              <a:r>
                <a:rPr kumimoji="1" lang="zh-CN" altLang="en-US" sz="2000" b="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时等式成立</a:t>
              </a:r>
              <a:endParaRPr lang="zh-CN" altLang="en-US" sz="2000" b="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  <a:p>
              <a:pPr>
                <a:lnSpc>
                  <a:spcPct val="100000"/>
                </a:lnSpc>
              </a:pPr>
              <a:r>
                <a:rPr kumimoji="1" lang="zh-CN" altLang="en-US" sz="2000" b="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求证</a:t>
              </a:r>
              <a:r>
                <a:rPr kumimoji="1" lang="en-US" altLang="zh-CN" sz="2000" b="0" i="1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n</a:t>
              </a:r>
              <a:r>
                <a:rPr kumimoji="1" lang="en-US" altLang="zh-CN" sz="2000" b="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=</a:t>
              </a:r>
              <a:r>
                <a:rPr kumimoji="1" lang="en-US" altLang="zh-CN" sz="2000" b="0" i="1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k</a:t>
              </a:r>
              <a:r>
                <a:rPr kumimoji="1" lang="zh-CN" altLang="en-US" sz="2000" b="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时等式成立</a:t>
              </a:r>
              <a:endParaRPr lang="zh-CN" altLang="en-US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786578" y="4516947"/>
              <a:ext cx="1857388" cy="707886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kumimoji="1" lang="zh-CN" altLang="en-US" sz="2000" b="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求证</a:t>
              </a:r>
              <a:r>
                <a:rPr kumimoji="1" lang="en-US" altLang="zh-CN" sz="2000" b="0" i="1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n</a:t>
              </a:r>
              <a:r>
                <a:rPr kumimoji="1" lang="en-US" altLang="zh-CN" sz="2000" b="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=1</a:t>
              </a:r>
              <a:r>
                <a:rPr kumimoji="1" lang="zh-CN" altLang="en-US" sz="2000" b="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时等式成立</a:t>
              </a:r>
              <a:endParaRPr lang="zh-CN" altLang="en-US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2" name="左右箭头 11"/>
            <p:cNvSpPr/>
            <p:nvPr/>
          </p:nvSpPr>
          <p:spPr>
            <a:xfrm>
              <a:off x="6143636" y="3286124"/>
              <a:ext cx="571504" cy="142876"/>
            </a:xfrm>
            <a:prstGeom prst="leftRightArrow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zh-CN" altLang="en-US" sz="2000"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3" name="左右箭头 12"/>
            <p:cNvSpPr/>
            <p:nvPr/>
          </p:nvSpPr>
          <p:spPr>
            <a:xfrm>
              <a:off x="6072198" y="4786322"/>
              <a:ext cx="571504" cy="142876"/>
            </a:xfrm>
            <a:prstGeom prst="leftRightArrow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zh-CN" altLang="en-US" sz="2000"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</p:grp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43</a:t>
            </a:fld>
            <a:r>
              <a:rPr lang="en-US" altLang="zh-CN" smtClean="0"/>
              <a:t>/68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0034" y="500042"/>
            <a:ext cx="70009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【例</a:t>
            </a:r>
            <a:r>
              <a:rPr lang="en-US" altLang="zh-CN" sz="2000" smtClean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6.5</a:t>
            </a:r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】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采用递归算法求整数数组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a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[0..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n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-1]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中的最小值。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1538" y="2843507"/>
            <a:ext cx="7715304" cy="1372271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44000" tIns="108000" bIns="108000" rtlCol="0">
            <a:spAutoFit/>
          </a:bodyPr>
          <a:lstStyle/>
          <a:p>
            <a:pPr marL="342900" indent="-342900" algn="l">
              <a:lnSpc>
                <a:spcPts val="2800"/>
              </a:lnSpc>
              <a:spcBef>
                <a:spcPts val="600"/>
              </a:spcBef>
              <a:buBlip>
                <a:blip r:embed="rId2"/>
              </a:buBlip>
            </a:pP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当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=0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时，有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a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)=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a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[0]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。</a:t>
            </a:r>
            <a:endParaRPr lang="en-US" altLang="zh-CN" sz="20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marL="342900" indent="-342900" algn="l">
              <a:lnSpc>
                <a:spcPts val="2800"/>
              </a:lnSpc>
              <a:spcBef>
                <a:spcPts val="600"/>
              </a:spcBef>
              <a:buBlip>
                <a:blip r:embed="rId2"/>
              </a:buBlip>
            </a:pP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假设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a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-1)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已求出，显然有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a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)=MIN(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a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-1)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a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[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])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，其中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MIN()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为求两个值较小值函数。</a:t>
            </a:r>
            <a:endParaRPr lang="en-US" altLang="zh-CN" sz="20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00166" y="5058085"/>
            <a:ext cx="5500726" cy="799807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216000" tIns="108000" bIns="108000" rtlCol="0">
            <a:spAutoFit/>
          </a:bodyPr>
          <a:lstStyle/>
          <a:p>
            <a:pPr algn="l"/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a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)=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a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[0]             	</a:t>
            </a:r>
            <a:r>
              <a:rPr lang="zh-CN" altLang="zh-CN" sz="1800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当</a:t>
            </a:r>
            <a:r>
              <a:rPr lang="en-US" altLang="zh-CN" sz="1800" i="1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 sz="1800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=0</a:t>
            </a:r>
            <a:r>
              <a:rPr lang="zh-CN" altLang="zh-CN" sz="1800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时</a:t>
            </a:r>
          </a:p>
          <a:p>
            <a:pPr algn="l"/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a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)=MIN(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a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-1)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a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[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]) 	</a:t>
            </a:r>
            <a:r>
              <a:rPr lang="zh-CN" altLang="zh-CN" sz="1800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其他情况</a:t>
            </a:r>
            <a:endParaRPr lang="zh-CN" altLang="zh-CN" sz="1800">
              <a:solidFill>
                <a:srgbClr val="00B0F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71538" y="2071678"/>
            <a:ext cx="75009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假设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a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求数组元素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a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[0..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]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（共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+1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个元素）中的最小值。</a:t>
            </a:r>
            <a:endParaRPr lang="en-US" altLang="zh-CN" sz="20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000496" y="4486581"/>
            <a:ext cx="1643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得到递归模型</a:t>
            </a:r>
            <a:endParaRPr lang="zh-CN" altLang="en-US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1" name="下箭头 10"/>
          <p:cNvSpPr/>
          <p:nvPr/>
        </p:nvSpPr>
        <p:spPr bwMode="auto">
          <a:xfrm>
            <a:off x="3786182" y="4415143"/>
            <a:ext cx="214314" cy="571504"/>
          </a:xfrm>
          <a:prstGeom prst="downArrow">
            <a:avLst/>
          </a:prstGeom>
          <a:ln>
            <a:headEnd/>
            <a:tailEnd type="arrow" w="sm" len="sm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7158" y="1142984"/>
            <a:ext cx="1643074" cy="7960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灯片编号占位符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44</a:t>
            </a:fld>
            <a:r>
              <a:rPr lang="en-US" altLang="zh-CN" smtClean="0"/>
              <a:t>/68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85852" y="928670"/>
            <a:ext cx="5500726" cy="799807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216000" tIns="108000" bIns="108000" rtlCol="0">
            <a:spAutoFit/>
          </a:bodyPr>
          <a:lstStyle/>
          <a:p>
            <a:pPr algn="l"/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a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)=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a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[0]             	</a:t>
            </a:r>
            <a:r>
              <a:rPr lang="zh-CN" altLang="zh-CN" sz="1800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当</a:t>
            </a:r>
            <a:r>
              <a:rPr lang="en-US" altLang="zh-CN" sz="1800" i="1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 sz="1800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=0</a:t>
            </a:r>
            <a:r>
              <a:rPr lang="zh-CN" altLang="zh-CN" sz="1800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时</a:t>
            </a:r>
          </a:p>
          <a:p>
            <a:pPr algn="l"/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a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)=MIN(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a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-1)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a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[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]) 	</a:t>
            </a:r>
            <a:r>
              <a:rPr lang="zh-CN" altLang="zh-CN" sz="1800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其他情况</a:t>
            </a:r>
            <a:endParaRPr lang="zh-CN" altLang="zh-CN" sz="1800">
              <a:solidFill>
                <a:srgbClr val="00B0F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2910" y="2357430"/>
            <a:ext cx="7643866" cy="283484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44000" bIns="144000" rtlCol="0">
            <a:sp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int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Min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(int a[],int i)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求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a[0..i]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中的最小值</a:t>
            </a: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if (i==0)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递归出口</a:t>
            </a: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return a[0];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else	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递归体</a:t>
            </a: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{  int mind=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Min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(a,i-1);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递归调用</a:t>
            </a: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return min(mind,a[i]);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合并</a:t>
            </a: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}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lang="zh-CN" altLang="zh-CN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6" name="下箭头 5"/>
          <p:cNvSpPr/>
          <p:nvPr/>
        </p:nvSpPr>
        <p:spPr bwMode="auto">
          <a:xfrm>
            <a:off x="3428992" y="1928802"/>
            <a:ext cx="214314" cy="357190"/>
          </a:xfrm>
          <a:prstGeom prst="downArrow">
            <a:avLst/>
          </a:prstGeom>
          <a:ln>
            <a:headEnd/>
            <a:tailEnd type="arrow" w="sm" len="sm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45</a:t>
            </a:fld>
            <a:r>
              <a:rPr lang="en-US" altLang="zh-CN" smtClean="0"/>
              <a:t>/68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71472" y="642918"/>
            <a:ext cx="6286544" cy="461665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mtClean="0">
                <a:latin typeface="Consolas" pitchFamily="49" charset="0"/>
                <a:ea typeface="微软雅黑" pitchFamily="34" charset="-122"/>
                <a:cs typeface="Consolas" pitchFamily="49" charset="0"/>
              </a:rPr>
              <a:t>6.2.2 </a:t>
            </a:r>
            <a:r>
              <a:rPr lang="zh-CN" altLang="zh-CN" smtClean="0">
                <a:latin typeface="Consolas" pitchFamily="49" charset="0"/>
                <a:ea typeface="微软雅黑" pitchFamily="34" charset="-122"/>
                <a:cs typeface="Consolas" pitchFamily="49" charset="0"/>
              </a:rPr>
              <a:t>基于递归数据结构的递归算法设计</a:t>
            </a:r>
            <a:endParaRPr lang="zh-CN" altLang="zh-CN" smtClean="0">
              <a:ln w="11430"/>
              <a:solidFill>
                <a:schemeClr val="bg1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38186" y="1428736"/>
            <a:ext cx="62055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200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递归数据结构的数据特别适合递归处理 </a:t>
            </a:r>
            <a:r>
              <a:rPr lang="zh-CN" altLang="en-US" sz="200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sym typeface="Wingdings"/>
              </a:rPr>
              <a:t>递归</a:t>
            </a:r>
            <a:r>
              <a:rPr lang="zh-CN" altLang="en-US" sz="200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算法</a:t>
            </a:r>
            <a:endParaRPr lang="zh-CN" altLang="en-US" sz="2000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</p:txBody>
      </p:sp>
      <p:grpSp>
        <p:nvGrpSpPr>
          <p:cNvPr id="2" name="组合 9"/>
          <p:cNvGrpSpPr/>
          <p:nvPr/>
        </p:nvGrpSpPr>
        <p:grpSpPr>
          <a:xfrm>
            <a:off x="1152500" y="1993913"/>
            <a:ext cx="2500330" cy="4500594"/>
            <a:chOff x="1000100" y="1071546"/>
            <a:chExt cx="2678925" cy="4500594"/>
          </a:xfrm>
        </p:grpSpPr>
        <p:pic>
          <p:nvPicPr>
            <p:cNvPr id="7" name="Picture 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000100" y="4000504"/>
              <a:ext cx="2357454" cy="15716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8" name="TextBox 7"/>
            <p:cNvSpPr txBox="1"/>
            <p:nvPr/>
          </p:nvSpPr>
          <p:spPr>
            <a:xfrm>
              <a:off x="1000100" y="1071546"/>
              <a:ext cx="267892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2000" dirty="0" smtClean="0">
                  <a:solidFill>
                    <a:srgbClr val="0000FF"/>
                  </a:solidFill>
                  <a:latin typeface="仿宋" pitchFamily="49" charset="-122"/>
                  <a:ea typeface="仿宋" pitchFamily="49" charset="-122"/>
                </a:rPr>
                <a:t>种瓜得瓜</a:t>
              </a:r>
              <a:r>
                <a:rPr lang="zh-CN" altLang="en-US" sz="2000" smtClean="0">
                  <a:solidFill>
                    <a:srgbClr val="0000FF"/>
                  </a:solidFill>
                  <a:latin typeface="仿宋" pitchFamily="49" charset="-122"/>
                  <a:ea typeface="仿宋" pitchFamily="49" charset="-122"/>
                </a:rPr>
                <a:t>：递归性</a:t>
              </a:r>
              <a:endParaRPr lang="zh-CN" altLang="en-US" sz="2000" dirty="0">
                <a:solidFill>
                  <a:srgbClr val="0000FF"/>
                </a:solidFill>
                <a:latin typeface="仿宋" pitchFamily="49" charset="-122"/>
                <a:ea typeface="仿宋" pitchFamily="49" charset="-122"/>
              </a:endParaRPr>
            </a:p>
          </p:txBody>
        </p:sp>
        <p:pic>
          <p:nvPicPr>
            <p:cNvPr id="9" name="Picture 4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000100" y="1785926"/>
              <a:ext cx="2357443" cy="15716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10" name="下箭头 9"/>
            <p:cNvSpPr/>
            <p:nvPr/>
          </p:nvSpPr>
          <p:spPr bwMode="auto">
            <a:xfrm>
              <a:off x="2000232" y="3500438"/>
              <a:ext cx="285752" cy="428628"/>
            </a:xfrm>
            <a:prstGeom prst="downArrow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000" b="1" i="0" u="none" strike="noStrike" cap="none" normalizeH="0" baseline="0" smtClean="0">
                <a:ln>
                  <a:noFill/>
                </a:ln>
                <a:solidFill>
                  <a:srgbClr val="0033CC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</p:grpSp>
      <p:grpSp>
        <p:nvGrpSpPr>
          <p:cNvPr id="4" name="组合 10"/>
          <p:cNvGrpSpPr/>
          <p:nvPr/>
        </p:nvGrpSpPr>
        <p:grpSpPr>
          <a:xfrm>
            <a:off x="4081458" y="2493979"/>
            <a:ext cx="3786214" cy="3857652"/>
            <a:chOff x="3929058" y="2000240"/>
            <a:chExt cx="3786214" cy="3857652"/>
          </a:xfrm>
        </p:grpSpPr>
        <p:sp>
          <p:nvSpPr>
            <p:cNvPr id="12" name="TextBox 11"/>
            <p:cNvSpPr txBox="1"/>
            <p:nvPr/>
          </p:nvSpPr>
          <p:spPr>
            <a:xfrm>
              <a:off x="4286248" y="3105384"/>
              <a:ext cx="3429024" cy="1785104"/>
            </a:xfrm>
            <a:prstGeom prst="rect">
              <a:avLst/>
            </a:prstGeom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altLang="en-US" sz="2000" dirty="0" smtClean="0">
                  <a:solidFill>
                    <a:srgbClr val="FF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数据：</a:t>
              </a:r>
              <a:r>
                <a:rPr lang="en-US" altLang="zh-CN" sz="2000" i="1" dirty="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D</a:t>
              </a:r>
              <a:r>
                <a:rPr lang="en-US" altLang="zh-CN" sz="2000" dirty="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={</a:t>
              </a:r>
              <a:r>
                <a:rPr lang="zh-CN" altLang="en-US" sz="2000" dirty="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瓜的集合</a:t>
              </a:r>
              <a:r>
                <a:rPr lang="en-US" altLang="zh-CN" sz="2000" dirty="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}</a:t>
              </a:r>
            </a:p>
            <a:p>
              <a:pPr algn="l">
                <a:lnSpc>
                  <a:spcPct val="100000"/>
                </a:lnSpc>
              </a:pPr>
              <a:r>
                <a:rPr lang="zh-CN" altLang="en-US" sz="2000" dirty="0" smtClean="0">
                  <a:solidFill>
                    <a:srgbClr val="FF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运算：</a:t>
              </a:r>
              <a:r>
                <a:rPr lang="en-US" altLang="zh-CN" sz="2000" dirty="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Op={</a:t>
              </a:r>
              <a:r>
                <a:rPr lang="zh-CN" altLang="en-US" sz="2000" dirty="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种瓜</a:t>
              </a:r>
              <a:r>
                <a:rPr lang="en-US" altLang="zh-CN" sz="2000" dirty="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}</a:t>
              </a:r>
            </a:p>
            <a:p>
              <a:pPr algn="l">
                <a:lnSpc>
                  <a:spcPct val="100000"/>
                </a:lnSpc>
              </a:pPr>
              <a:r>
                <a:rPr lang="zh-CN" altLang="en-US" sz="2000" dirty="0" smtClean="0">
                  <a:solidFill>
                    <a:srgbClr val="FF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递归性：</a:t>
              </a:r>
              <a:endParaRPr lang="en-US" altLang="zh-CN" sz="2000" dirty="0" smtClean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  <a:p>
              <a:pPr algn="l">
                <a:lnSpc>
                  <a:spcPct val="100000"/>
                </a:lnSpc>
              </a:pPr>
              <a:r>
                <a:rPr lang="en-US" altLang="zh-CN" sz="20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    Op(</a:t>
              </a:r>
              <a:r>
                <a:rPr lang="en-US" altLang="zh-CN" sz="2000" i="1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x</a:t>
              </a:r>
              <a:r>
                <a:rPr lang="zh-CN" altLang="en-US" sz="20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 ∈ </a:t>
              </a:r>
              <a:r>
                <a:rPr lang="en-US" altLang="zh-CN" sz="2000" i="1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D</a:t>
              </a:r>
              <a:r>
                <a:rPr lang="en-US" altLang="zh-CN" sz="2000" dirty="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)</a:t>
              </a:r>
              <a:r>
                <a:rPr lang="zh-CN" altLang="en-US" sz="2000" dirty="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 ∈</a:t>
              </a:r>
              <a:r>
                <a:rPr lang="en-US" altLang="zh-CN" sz="2000" i="1" dirty="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D</a:t>
              </a:r>
              <a:endParaRPr lang="zh-CN" altLang="en-US" sz="2000" i="1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3" name="右大括号 12"/>
            <p:cNvSpPr/>
            <p:nvPr/>
          </p:nvSpPr>
          <p:spPr>
            <a:xfrm>
              <a:off x="3929058" y="2000240"/>
              <a:ext cx="214314" cy="3857652"/>
            </a:xfrm>
            <a:prstGeom prst="rightBrac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</p:grpSp>
      <p:sp>
        <p:nvSpPr>
          <p:cNvPr id="14" name="灯片编号占位符 17"/>
          <p:cNvSpPr txBox="1">
            <a:spLocks/>
          </p:cNvSpPr>
          <p:nvPr/>
        </p:nvSpPr>
        <p:spPr>
          <a:xfrm>
            <a:off x="6705600" y="6850089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626E92E-01F2-48FC-B402-901219CBF1DF}" type="slidenum">
              <a:rPr kumimoji="1" lang="en-US" altLang="zh-CN" sz="14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itchFamily="49" charset="0"/>
                <a:ea typeface="楷体_GB2312" pitchFamily="49" charset="-122"/>
                <a:cs typeface="Consolas" pitchFamily="49" charset="0"/>
              </a:rPr>
              <a:pPr marL="0" marR="0" lvl="0" indent="0" algn="r" defTabSz="914400" rtl="0" eaLnBrk="1" fontAlgn="base" latinLnBrk="0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r>
              <a:rPr kumimoji="1" lang="en-US" altLang="zh-CN" sz="14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itchFamily="49" charset="0"/>
                <a:ea typeface="楷体_GB2312" pitchFamily="49" charset="-122"/>
                <a:cs typeface="Consolas" pitchFamily="49" charset="0"/>
              </a:rPr>
              <a:t>/22</a:t>
            </a:r>
            <a:endParaRPr kumimoji="1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nsolas" pitchFamily="49" charset="0"/>
              <a:ea typeface="楷体_GB2312" pitchFamily="49" charset="-122"/>
              <a:cs typeface="Consolas" pitchFamily="49" charset="0"/>
            </a:endParaRPr>
          </a:p>
        </p:txBody>
      </p:sp>
      <p:sp>
        <p:nvSpPr>
          <p:cNvPr id="19" name="灯片编号占位符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46</a:t>
            </a:fld>
            <a:r>
              <a:rPr lang="en-US" altLang="zh-CN" smtClean="0"/>
              <a:t>/68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7158" y="500042"/>
            <a:ext cx="842968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【例</a:t>
            </a:r>
            <a:r>
              <a:rPr lang="en-US" altLang="zh-CN" sz="2000" smtClean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6.6</a:t>
            </a:r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】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假设有一个不带头结点的单链表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p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，完成以下两个算法设计：</a:t>
            </a:r>
          </a:p>
          <a:p>
            <a:pPr algn="l">
              <a:lnSpc>
                <a:spcPct val="100000"/>
              </a:lnSpc>
            </a:pP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（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1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）设计一个算法正向输出所有结点值。</a:t>
            </a:r>
          </a:p>
          <a:p>
            <a:pPr algn="l">
              <a:lnSpc>
                <a:spcPct val="100000"/>
              </a:lnSpc>
            </a:pP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（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2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）设计一个算法反向输出所有结点值。</a:t>
            </a:r>
          </a:p>
        </p:txBody>
      </p:sp>
      <p:grpSp>
        <p:nvGrpSpPr>
          <p:cNvPr id="2" name="组合 29"/>
          <p:cNvGrpSpPr/>
          <p:nvPr/>
        </p:nvGrpSpPr>
        <p:grpSpPr>
          <a:xfrm>
            <a:off x="1142976" y="2000240"/>
            <a:ext cx="5429288" cy="1869530"/>
            <a:chOff x="1142976" y="2000240"/>
            <a:chExt cx="5429288" cy="1869530"/>
          </a:xfrm>
        </p:grpSpPr>
        <p:sp>
          <p:nvSpPr>
            <p:cNvPr id="6" name="Text Box 42"/>
            <p:cNvSpPr txBox="1">
              <a:spLocks noChangeArrowheads="1"/>
            </p:cNvSpPr>
            <p:nvPr/>
          </p:nvSpPr>
          <p:spPr bwMode="auto">
            <a:xfrm>
              <a:off x="1789978" y="2725407"/>
              <a:ext cx="540000" cy="360000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91440" tIns="0" rIns="9144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a</a:t>
              </a:r>
              <a:r>
                <a:rPr kumimoji="0" lang="en-US" altLang="zh-CN" sz="1600" baseline="-300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0</a:t>
              </a:r>
              <a:endParaRPr kumimoji="0" lang="en-US" alt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7" name="Text Box 41"/>
            <p:cNvSpPr txBox="1">
              <a:spLocks noChangeArrowheads="1"/>
            </p:cNvSpPr>
            <p:nvPr/>
          </p:nvSpPr>
          <p:spPr bwMode="auto">
            <a:xfrm>
              <a:off x="2336538" y="2725407"/>
              <a:ext cx="540000" cy="360000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91440" tIns="0" rIns="9144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8" name="Text Box 40"/>
            <p:cNvSpPr txBox="1">
              <a:spLocks noChangeArrowheads="1"/>
            </p:cNvSpPr>
            <p:nvPr/>
          </p:nvSpPr>
          <p:spPr bwMode="auto">
            <a:xfrm>
              <a:off x="5494949" y="2725407"/>
              <a:ext cx="540000" cy="360000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91440" tIns="0" rIns="9144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a</a:t>
              </a:r>
              <a:r>
                <a:rPr kumimoji="0" lang="en-US" altLang="zh-CN" sz="1600" i="1" u="none" strike="noStrike" cap="none" normalizeH="0" baseline="-3000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n</a:t>
              </a:r>
              <a:r>
                <a:rPr kumimoji="0" lang="en-US" altLang="zh-CN" sz="1600" u="none" strike="noStrike" cap="none" normalizeH="0" baseline="-3000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-1</a:t>
              </a:r>
              <a:endParaRPr kumimoji="0" lang="en-US" altLang="zh-CN" sz="160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9" name="Text Box 39"/>
            <p:cNvSpPr txBox="1">
              <a:spLocks noChangeArrowheads="1"/>
            </p:cNvSpPr>
            <p:nvPr/>
          </p:nvSpPr>
          <p:spPr bwMode="auto">
            <a:xfrm>
              <a:off x="6032264" y="2725407"/>
              <a:ext cx="540000" cy="360000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2520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∧</a:t>
              </a:r>
            </a:p>
          </p:txBody>
        </p:sp>
        <p:sp>
          <p:nvSpPr>
            <p:cNvPr id="10" name="Text Box 37"/>
            <p:cNvSpPr txBox="1">
              <a:spLocks noChangeArrowheads="1"/>
            </p:cNvSpPr>
            <p:nvPr/>
          </p:nvSpPr>
          <p:spPr bwMode="auto">
            <a:xfrm>
              <a:off x="3174650" y="2725407"/>
              <a:ext cx="540000" cy="360000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91440" tIns="0" rIns="9144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a</a:t>
              </a:r>
              <a:r>
                <a:rPr kumimoji="0" lang="en-US" altLang="zh-CN" sz="1600" baseline="-300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1</a:t>
              </a:r>
              <a:endParaRPr kumimoji="0" lang="en-US" alt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1" name="Text Box 36"/>
            <p:cNvSpPr txBox="1">
              <a:spLocks noChangeArrowheads="1"/>
            </p:cNvSpPr>
            <p:nvPr/>
          </p:nvSpPr>
          <p:spPr bwMode="auto">
            <a:xfrm>
              <a:off x="3714744" y="2725407"/>
              <a:ext cx="540000" cy="360000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91440" tIns="0" rIns="9144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2" name="Line 35"/>
            <p:cNvSpPr>
              <a:spLocks noChangeShapeType="1"/>
            </p:cNvSpPr>
            <p:nvPr/>
          </p:nvSpPr>
          <p:spPr bwMode="auto">
            <a:xfrm>
              <a:off x="4080408" y="2914160"/>
              <a:ext cx="524930" cy="0"/>
            </a:xfrm>
            <a:prstGeom prst="line">
              <a:avLst/>
            </a:prstGeom>
            <a:ln w="19050">
              <a:headEnd/>
              <a:tailEnd type="arrow" w="sm" len="sm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3" name="Line 34"/>
            <p:cNvSpPr>
              <a:spLocks noChangeShapeType="1"/>
            </p:cNvSpPr>
            <p:nvPr/>
          </p:nvSpPr>
          <p:spPr bwMode="auto">
            <a:xfrm>
              <a:off x="2690799" y="2914160"/>
              <a:ext cx="468000" cy="0"/>
            </a:xfrm>
            <a:prstGeom prst="line">
              <a:avLst/>
            </a:prstGeom>
            <a:ln w="19050">
              <a:headEnd/>
              <a:tailEnd type="arrow" w="sm" len="sm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4" name="Text Box 33"/>
            <p:cNvSpPr txBox="1">
              <a:spLocks noChangeArrowheads="1"/>
            </p:cNvSpPr>
            <p:nvPr/>
          </p:nvSpPr>
          <p:spPr bwMode="auto">
            <a:xfrm>
              <a:off x="4674955" y="2782558"/>
              <a:ext cx="468549" cy="30227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91440" tIns="0" rIns="9144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+mj-ea"/>
                  <a:ea typeface="+mj-ea"/>
                  <a:cs typeface="Consolas" pitchFamily="49" charset="0"/>
                </a:rPr>
                <a:t>…</a:t>
              </a:r>
            </a:p>
          </p:txBody>
        </p:sp>
        <p:sp>
          <p:nvSpPr>
            <p:cNvPr id="15" name="Line 32"/>
            <p:cNvSpPr>
              <a:spLocks noChangeShapeType="1"/>
            </p:cNvSpPr>
            <p:nvPr/>
          </p:nvSpPr>
          <p:spPr bwMode="auto">
            <a:xfrm>
              <a:off x="5209154" y="2914160"/>
              <a:ext cx="285795" cy="0"/>
            </a:xfrm>
            <a:prstGeom prst="line">
              <a:avLst/>
            </a:prstGeom>
            <a:ln w="19050">
              <a:headEnd/>
              <a:tailEnd type="arrow" w="sm" len="sm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6" name="Text Box 31"/>
            <p:cNvSpPr txBox="1">
              <a:spLocks noChangeArrowheads="1"/>
            </p:cNvSpPr>
            <p:nvPr/>
          </p:nvSpPr>
          <p:spPr bwMode="auto">
            <a:xfrm>
              <a:off x="1142976" y="2734933"/>
              <a:ext cx="357190" cy="30227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70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p</a:t>
              </a:r>
            </a:p>
          </p:txBody>
        </p:sp>
        <p:sp>
          <p:nvSpPr>
            <p:cNvPr id="17" name="Line 30"/>
            <p:cNvSpPr>
              <a:spLocks noChangeShapeType="1"/>
            </p:cNvSpPr>
            <p:nvPr/>
          </p:nvSpPr>
          <p:spPr bwMode="auto">
            <a:xfrm>
              <a:off x="1499151" y="2885585"/>
              <a:ext cx="286767" cy="0"/>
            </a:xfrm>
            <a:prstGeom prst="line">
              <a:avLst/>
            </a:prstGeom>
            <a:ln w="19050">
              <a:headEnd/>
              <a:tailEnd type="arrow" w="sm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9" name="Text Box 31"/>
            <p:cNvSpPr txBox="1">
              <a:spLocks noChangeArrowheads="1"/>
            </p:cNvSpPr>
            <p:nvPr/>
          </p:nvSpPr>
          <p:spPr bwMode="auto">
            <a:xfrm>
              <a:off x="2500298" y="3500438"/>
              <a:ext cx="1143008" cy="30227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70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p-&gt;</a:t>
              </a:r>
              <a:r>
                <a:rPr kumimoji="0" lang="en-US" altLang="zh-CN" sz="170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next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428992" y="2000240"/>
              <a:ext cx="15001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 sz="1800" b="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大问题：</a:t>
              </a:r>
              <a:r>
                <a:rPr lang="pt-BR" altLang="zh-CN" sz="1800" i="1" smtClean="0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f</a:t>
              </a:r>
              <a:r>
                <a:rPr lang="pt-BR" altLang="zh-CN" sz="1800" smtClean="0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(</a:t>
              </a:r>
              <a:r>
                <a:rPr lang="pt-BR" altLang="zh-CN" sz="1800" i="1" smtClean="0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p</a:t>
              </a:r>
              <a:r>
                <a:rPr lang="pt-BR" altLang="zh-CN" sz="1800" smtClean="0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)</a:t>
              </a:r>
              <a:endParaRPr lang="zh-CN" altLang="en-US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500562" y="3500438"/>
              <a:ext cx="15001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1800" i="1" smtClean="0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f</a:t>
              </a:r>
              <a:r>
                <a:rPr lang="en-US" altLang="zh-CN" sz="1800" smtClean="0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(p-&gt;next)</a:t>
              </a:r>
              <a:endParaRPr lang="zh-CN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cxnSp>
          <p:nvCxnSpPr>
            <p:cNvPr id="23" name="直接箭头连接符 22"/>
            <p:cNvCxnSpPr>
              <a:endCxn id="10" idx="2"/>
            </p:cNvCxnSpPr>
            <p:nvPr/>
          </p:nvCxnSpPr>
          <p:spPr>
            <a:xfrm rot="5400000" flipH="1" flipV="1">
              <a:off x="3193587" y="3177937"/>
              <a:ext cx="343593" cy="158534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5" name="右大括号 24"/>
            <p:cNvSpPr/>
            <p:nvPr/>
          </p:nvSpPr>
          <p:spPr>
            <a:xfrm rot="5400000">
              <a:off x="4857752" y="2071678"/>
              <a:ext cx="214314" cy="2643206"/>
            </a:xfrm>
            <a:prstGeom prst="rightBrace">
              <a:avLst/>
            </a:prstGeom>
            <a:ln w="19050"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右大括号 25"/>
            <p:cNvSpPr/>
            <p:nvPr/>
          </p:nvSpPr>
          <p:spPr>
            <a:xfrm rot="16200000">
              <a:off x="4036215" y="892951"/>
              <a:ext cx="214314" cy="3286148"/>
            </a:xfrm>
            <a:prstGeom prst="rightBrace">
              <a:avLst/>
            </a:prstGeom>
            <a:ln w="19050"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" name="组合 28"/>
          <p:cNvGrpSpPr/>
          <p:nvPr/>
        </p:nvGrpSpPr>
        <p:grpSpPr>
          <a:xfrm>
            <a:off x="1142976" y="4357694"/>
            <a:ext cx="6929486" cy="1021990"/>
            <a:chOff x="1142976" y="4357694"/>
            <a:chExt cx="6929486" cy="1021990"/>
          </a:xfrm>
        </p:grpSpPr>
        <p:sp>
          <p:nvSpPr>
            <p:cNvPr id="27" name="Text Box 19"/>
            <p:cNvSpPr txBox="1">
              <a:spLocks noChangeArrowheads="1"/>
            </p:cNvSpPr>
            <p:nvPr/>
          </p:nvSpPr>
          <p:spPr bwMode="auto">
            <a:xfrm>
              <a:off x="2000232" y="4500570"/>
              <a:ext cx="6072230" cy="7386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l" eaLnBrk="1" hangingPunct="1">
                <a:spcBef>
                  <a:spcPct val="50000"/>
                </a:spcBef>
              </a:pPr>
              <a:r>
                <a:rPr lang="zh-CN" altLang="en-US" sz="2000" smtClean="0">
                  <a:solidFill>
                    <a:srgbClr val="0000FF"/>
                  </a:solidFill>
                  <a:latin typeface="Consolas" pitchFamily="49" charset="0"/>
                  <a:ea typeface="华文中宋" pitchFamily="2" charset="-122"/>
                  <a:cs typeface="Consolas" pitchFamily="49" charset="0"/>
                </a:rPr>
                <a:t>为</a:t>
              </a:r>
              <a:r>
                <a:rPr lang="zh-CN" altLang="en-US" sz="2000" dirty="0" smtClean="0">
                  <a:solidFill>
                    <a:srgbClr val="0000FF"/>
                  </a:solidFill>
                  <a:latin typeface="Consolas" pitchFamily="49" charset="0"/>
                  <a:ea typeface="华文中宋" pitchFamily="2" charset="-122"/>
                  <a:cs typeface="Consolas" pitchFamily="49" charset="0"/>
                </a:rPr>
                <a:t>什么在这里设计</a:t>
              </a:r>
              <a:r>
                <a:rPr lang="zh-CN" altLang="en-US" sz="2000" dirty="0">
                  <a:solidFill>
                    <a:srgbClr val="0000FF"/>
                  </a:solidFill>
                  <a:latin typeface="Consolas" pitchFamily="49" charset="0"/>
                  <a:ea typeface="华文中宋" pitchFamily="2" charset="-122"/>
                  <a:cs typeface="Consolas" pitchFamily="49" charset="0"/>
                </a:rPr>
                <a:t>单链表的递归算法时</a:t>
              </a:r>
              <a:r>
                <a:rPr lang="zh-CN" altLang="en-US" sz="2000">
                  <a:solidFill>
                    <a:srgbClr val="0000FF"/>
                  </a:solidFill>
                  <a:latin typeface="Consolas" pitchFamily="49" charset="0"/>
                  <a:ea typeface="华文中宋" pitchFamily="2" charset="-122"/>
                  <a:cs typeface="Consolas" pitchFamily="49" charset="0"/>
                </a:rPr>
                <a:t>不</a:t>
              </a:r>
              <a:r>
                <a:rPr lang="zh-CN" altLang="en-US" sz="2000" smtClean="0">
                  <a:solidFill>
                    <a:srgbClr val="0000FF"/>
                  </a:solidFill>
                  <a:latin typeface="Consolas" pitchFamily="49" charset="0"/>
                  <a:ea typeface="华文中宋" pitchFamily="2" charset="-122"/>
                  <a:cs typeface="Consolas" pitchFamily="49" charset="0"/>
                </a:rPr>
                <a:t>带头结点？</a:t>
              </a:r>
              <a:endParaRPr lang="en-US" altLang="zh-CN" sz="2000" smtClean="0">
                <a:solidFill>
                  <a:srgbClr val="0000FF"/>
                </a:solidFill>
                <a:latin typeface="Consolas" pitchFamily="49" charset="0"/>
                <a:ea typeface="华文中宋" pitchFamily="2" charset="-122"/>
                <a:cs typeface="Consolas" pitchFamily="49" charset="0"/>
              </a:endParaRPr>
            </a:p>
            <a:p>
              <a:pPr algn="l"/>
              <a:r>
                <a:rPr lang="zh-CN" altLang="en-US" sz="2000" smtClean="0">
                  <a:solidFill>
                    <a:srgbClr val="0000FF"/>
                  </a:solidFill>
                  <a:latin typeface="Consolas" pitchFamily="49" charset="0"/>
                  <a:ea typeface="华文中宋" pitchFamily="2" charset="-122"/>
                  <a:cs typeface="Consolas" pitchFamily="49" charset="0"/>
                </a:rPr>
                <a:t>如何将带头结点转换为不带头结点的单链表？</a:t>
              </a:r>
              <a:endParaRPr lang="zh-CN" altLang="en-US" sz="2000" dirty="0">
                <a:solidFill>
                  <a:srgbClr val="0000FF"/>
                </a:solidFill>
                <a:latin typeface="Consolas" pitchFamily="49" charset="0"/>
                <a:ea typeface="华文中宋" pitchFamily="2" charset="-122"/>
                <a:cs typeface="Consolas" pitchFamily="49" charset="0"/>
              </a:endParaRPr>
            </a:p>
          </p:txBody>
        </p:sp>
        <p:pic>
          <p:nvPicPr>
            <p:cNvPr id="28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142976" y="4357694"/>
              <a:ext cx="642942" cy="10219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33" name="灯片编号占位符 3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47</a:t>
            </a:fld>
            <a:r>
              <a:rPr lang="en-US" altLang="zh-CN" smtClean="0"/>
              <a:t>/68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2"/>
          <p:cNvGrpSpPr/>
          <p:nvPr/>
        </p:nvGrpSpPr>
        <p:grpSpPr>
          <a:xfrm>
            <a:off x="1428728" y="285728"/>
            <a:ext cx="5572164" cy="1869530"/>
            <a:chOff x="1142976" y="2000240"/>
            <a:chExt cx="5572164" cy="1869530"/>
          </a:xfrm>
        </p:grpSpPr>
        <p:sp>
          <p:nvSpPr>
            <p:cNvPr id="5" name="Text Box 42"/>
            <p:cNvSpPr txBox="1">
              <a:spLocks noChangeArrowheads="1"/>
            </p:cNvSpPr>
            <p:nvPr/>
          </p:nvSpPr>
          <p:spPr bwMode="auto">
            <a:xfrm>
              <a:off x="1789978" y="2725407"/>
              <a:ext cx="540000" cy="360000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91440" tIns="0" rIns="9144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a</a:t>
              </a:r>
              <a:r>
                <a:rPr kumimoji="0" lang="en-US" altLang="zh-CN" sz="1600" baseline="-300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0</a:t>
              </a:r>
              <a:endParaRPr kumimoji="0" lang="en-US" alt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6" name="Text Box 41"/>
            <p:cNvSpPr txBox="1">
              <a:spLocks noChangeArrowheads="1"/>
            </p:cNvSpPr>
            <p:nvPr/>
          </p:nvSpPr>
          <p:spPr bwMode="auto">
            <a:xfrm>
              <a:off x="2336538" y="2725407"/>
              <a:ext cx="540000" cy="360000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91440" tIns="0" rIns="9144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7" name="Text Box 40"/>
            <p:cNvSpPr txBox="1">
              <a:spLocks noChangeArrowheads="1"/>
            </p:cNvSpPr>
            <p:nvPr/>
          </p:nvSpPr>
          <p:spPr bwMode="auto">
            <a:xfrm>
              <a:off x="5494949" y="2725407"/>
              <a:ext cx="540000" cy="360000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91440" tIns="0" rIns="9144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a</a:t>
              </a:r>
              <a:r>
                <a:rPr kumimoji="0" lang="en-US" altLang="zh-CN" sz="1600" i="1" u="none" strike="noStrike" cap="none" normalizeH="0" baseline="-3000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n</a:t>
              </a:r>
              <a:r>
                <a:rPr kumimoji="0" lang="en-US" altLang="zh-CN" sz="1600" u="none" strike="noStrike" cap="none" normalizeH="0" baseline="-3000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-1</a:t>
              </a:r>
              <a:endParaRPr kumimoji="0" lang="en-US" altLang="zh-CN" sz="160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8" name="Text Box 39"/>
            <p:cNvSpPr txBox="1">
              <a:spLocks noChangeArrowheads="1"/>
            </p:cNvSpPr>
            <p:nvPr/>
          </p:nvSpPr>
          <p:spPr bwMode="auto">
            <a:xfrm>
              <a:off x="6032264" y="2725407"/>
              <a:ext cx="540000" cy="360000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2520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∧</a:t>
              </a:r>
            </a:p>
          </p:txBody>
        </p:sp>
        <p:sp>
          <p:nvSpPr>
            <p:cNvPr id="9" name="Text Box 37"/>
            <p:cNvSpPr txBox="1">
              <a:spLocks noChangeArrowheads="1"/>
            </p:cNvSpPr>
            <p:nvPr/>
          </p:nvSpPr>
          <p:spPr bwMode="auto">
            <a:xfrm>
              <a:off x="3174650" y="2725407"/>
              <a:ext cx="540000" cy="360000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91440" tIns="0" rIns="9144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a</a:t>
              </a:r>
              <a:r>
                <a:rPr kumimoji="0" lang="en-US" altLang="zh-CN" sz="1600" baseline="-300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1</a:t>
              </a:r>
              <a:endParaRPr kumimoji="0" lang="en-US" alt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0" name="Text Box 36"/>
            <p:cNvSpPr txBox="1">
              <a:spLocks noChangeArrowheads="1"/>
            </p:cNvSpPr>
            <p:nvPr/>
          </p:nvSpPr>
          <p:spPr bwMode="auto">
            <a:xfrm>
              <a:off x="3714744" y="2725407"/>
              <a:ext cx="540000" cy="360000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91440" tIns="0" rIns="9144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1" name="Line 35"/>
            <p:cNvSpPr>
              <a:spLocks noChangeShapeType="1"/>
            </p:cNvSpPr>
            <p:nvPr/>
          </p:nvSpPr>
          <p:spPr bwMode="auto">
            <a:xfrm>
              <a:off x="4080408" y="2914160"/>
              <a:ext cx="524930" cy="0"/>
            </a:xfrm>
            <a:prstGeom prst="line">
              <a:avLst/>
            </a:prstGeom>
            <a:ln w="19050">
              <a:headEnd/>
              <a:tailEnd type="arrow" w="sm" len="sm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2" name="Line 34"/>
            <p:cNvSpPr>
              <a:spLocks noChangeShapeType="1"/>
            </p:cNvSpPr>
            <p:nvPr/>
          </p:nvSpPr>
          <p:spPr bwMode="auto">
            <a:xfrm>
              <a:off x="2690799" y="2914160"/>
              <a:ext cx="468000" cy="0"/>
            </a:xfrm>
            <a:prstGeom prst="line">
              <a:avLst/>
            </a:prstGeom>
            <a:ln w="19050">
              <a:headEnd/>
              <a:tailEnd type="arrow" w="sm" len="sm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3" name="Text Box 33"/>
            <p:cNvSpPr txBox="1">
              <a:spLocks noChangeArrowheads="1"/>
            </p:cNvSpPr>
            <p:nvPr/>
          </p:nvSpPr>
          <p:spPr bwMode="auto">
            <a:xfrm>
              <a:off x="4674955" y="2782558"/>
              <a:ext cx="468549" cy="30227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91440" tIns="0" rIns="9144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+mj-ea"/>
                  <a:ea typeface="+mj-ea"/>
                  <a:cs typeface="Consolas" pitchFamily="49" charset="0"/>
                </a:rPr>
                <a:t>…</a:t>
              </a:r>
            </a:p>
          </p:txBody>
        </p:sp>
        <p:sp>
          <p:nvSpPr>
            <p:cNvPr id="14" name="Line 32"/>
            <p:cNvSpPr>
              <a:spLocks noChangeShapeType="1"/>
            </p:cNvSpPr>
            <p:nvPr/>
          </p:nvSpPr>
          <p:spPr bwMode="auto">
            <a:xfrm>
              <a:off x="5209154" y="2914160"/>
              <a:ext cx="285795" cy="0"/>
            </a:xfrm>
            <a:prstGeom prst="line">
              <a:avLst/>
            </a:prstGeom>
            <a:ln w="19050">
              <a:headEnd/>
              <a:tailEnd type="arrow" w="sm" len="sm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5" name="Text Box 31"/>
            <p:cNvSpPr txBox="1">
              <a:spLocks noChangeArrowheads="1"/>
            </p:cNvSpPr>
            <p:nvPr/>
          </p:nvSpPr>
          <p:spPr bwMode="auto">
            <a:xfrm>
              <a:off x="1142976" y="2734933"/>
              <a:ext cx="357190" cy="30227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70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p</a:t>
              </a:r>
            </a:p>
          </p:txBody>
        </p:sp>
        <p:sp>
          <p:nvSpPr>
            <p:cNvPr id="16" name="Line 30"/>
            <p:cNvSpPr>
              <a:spLocks noChangeShapeType="1"/>
            </p:cNvSpPr>
            <p:nvPr/>
          </p:nvSpPr>
          <p:spPr bwMode="auto">
            <a:xfrm>
              <a:off x="1499151" y="2885585"/>
              <a:ext cx="286767" cy="0"/>
            </a:xfrm>
            <a:prstGeom prst="line">
              <a:avLst/>
            </a:prstGeom>
            <a:ln w="19050">
              <a:headEnd/>
              <a:tailEnd type="arrow" w="sm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7" name="Text Box 31"/>
            <p:cNvSpPr txBox="1">
              <a:spLocks noChangeArrowheads="1"/>
            </p:cNvSpPr>
            <p:nvPr/>
          </p:nvSpPr>
          <p:spPr bwMode="auto">
            <a:xfrm>
              <a:off x="2500298" y="3500438"/>
              <a:ext cx="1143008" cy="30227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70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p-&gt;</a:t>
              </a:r>
              <a:r>
                <a:rPr kumimoji="0" lang="en-US" altLang="zh-CN" sz="170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next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714612" y="2000240"/>
              <a:ext cx="30003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 sz="1800" smtClean="0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大问题：</a:t>
              </a:r>
              <a:r>
                <a:rPr lang="pt-BR" altLang="zh-CN" sz="1800" i="1" smtClean="0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f</a:t>
              </a:r>
              <a:r>
                <a:rPr lang="pt-BR" altLang="zh-CN" sz="1800" smtClean="0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(</a:t>
              </a:r>
              <a:r>
                <a:rPr lang="pt-BR" altLang="zh-CN" sz="1800" i="1" smtClean="0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p</a:t>
              </a:r>
              <a:r>
                <a:rPr lang="pt-BR" altLang="zh-CN" sz="1800" smtClean="0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)</a:t>
              </a:r>
              <a:r>
                <a:rPr lang="zh-CN" altLang="zh-CN" sz="1800" smtClean="0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输出</a:t>
              </a:r>
              <a:r>
                <a:rPr lang="pt-BR" altLang="zh-CN" sz="1800" i="1" smtClean="0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a</a:t>
              </a:r>
              <a:r>
                <a:rPr lang="pt-BR" altLang="zh-CN" sz="1800" baseline="-25000" smtClean="0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0</a:t>
              </a:r>
              <a:r>
                <a:rPr lang="zh-CN" altLang="zh-CN" sz="1800" smtClean="0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到</a:t>
              </a:r>
              <a:r>
                <a:rPr lang="pt-BR" altLang="zh-CN" sz="1800" i="1" smtClean="0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a</a:t>
              </a:r>
              <a:r>
                <a:rPr lang="pt-BR" altLang="zh-CN" sz="1800" i="1" baseline="-25000" smtClean="0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n</a:t>
              </a:r>
              <a:r>
                <a:rPr lang="en-US" altLang="zh-CN" sz="1800" baseline="-25000" smtClean="0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-1</a:t>
              </a:r>
              <a:endParaRPr lang="zh-CN" altLang="en-US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857620" y="3500438"/>
              <a:ext cx="28575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1800" i="1" smtClean="0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f</a:t>
              </a:r>
              <a:r>
                <a:rPr lang="en-US" altLang="zh-CN" sz="1800" smtClean="0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(p-&gt;next)</a:t>
              </a:r>
              <a:r>
                <a:rPr lang="zh-CN" altLang="zh-CN" sz="1800" smtClean="0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输出</a:t>
              </a:r>
              <a:r>
                <a:rPr lang="en-US" altLang="zh-CN" sz="1800" i="1" smtClean="0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a</a:t>
              </a:r>
              <a:r>
                <a:rPr lang="en-US" altLang="zh-CN" sz="1800" baseline="-25000" smtClean="0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1</a:t>
              </a:r>
              <a:r>
                <a:rPr lang="zh-CN" altLang="zh-CN" sz="1800" smtClean="0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到</a:t>
              </a:r>
              <a:r>
                <a:rPr lang="en-US" altLang="zh-CN" sz="1800" i="1" smtClean="0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a</a:t>
              </a:r>
              <a:r>
                <a:rPr lang="en-US" altLang="zh-CN" sz="1800" i="1" baseline="-25000" smtClean="0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n</a:t>
              </a:r>
              <a:r>
                <a:rPr lang="en-US" altLang="zh-CN" sz="1800" baseline="-25000" smtClean="0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-1</a:t>
              </a:r>
              <a:endParaRPr lang="zh-CN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cxnSp>
          <p:nvCxnSpPr>
            <p:cNvPr id="20" name="直接箭头连接符 19"/>
            <p:cNvCxnSpPr>
              <a:endCxn id="9" idx="2"/>
            </p:cNvCxnSpPr>
            <p:nvPr/>
          </p:nvCxnSpPr>
          <p:spPr>
            <a:xfrm rot="5400000" flipH="1" flipV="1">
              <a:off x="3193587" y="3177937"/>
              <a:ext cx="343593" cy="158534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1" name="右大括号 20"/>
            <p:cNvSpPr/>
            <p:nvPr/>
          </p:nvSpPr>
          <p:spPr>
            <a:xfrm rot="5400000">
              <a:off x="4857752" y="2071678"/>
              <a:ext cx="214314" cy="2643206"/>
            </a:xfrm>
            <a:prstGeom prst="rightBrace">
              <a:avLst/>
            </a:prstGeom>
            <a:ln w="19050"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右大括号 21"/>
            <p:cNvSpPr/>
            <p:nvPr/>
          </p:nvSpPr>
          <p:spPr>
            <a:xfrm rot="16200000">
              <a:off x="4036215" y="892951"/>
              <a:ext cx="214314" cy="3286148"/>
            </a:xfrm>
            <a:prstGeom prst="rightBrace">
              <a:avLst/>
            </a:prstGeom>
            <a:ln w="19050"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1428728" y="2357430"/>
            <a:ext cx="6643734" cy="936255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216000" tIns="108000" bIns="108000" rtlCol="0">
            <a:spAutoFit/>
          </a:bodyPr>
          <a:lstStyle/>
          <a:p>
            <a:pPr algn="l">
              <a:lnSpc>
                <a:spcPts val="2800"/>
              </a:lnSpc>
              <a:spcBef>
                <a:spcPts val="0"/>
              </a:spcBef>
            </a:pP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 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  <a:sym typeface="Symbol"/>
              </a:rPr>
              <a:t>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不做任何事件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		</a:t>
            </a:r>
            <a:r>
              <a:rPr lang="zh-CN" altLang="zh-CN" sz="1800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当</a:t>
            </a:r>
            <a:r>
              <a:rPr lang="en-US" altLang="zh-CN" sz="1800" i="1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</a:t>
            </a:r>
            <a:r>
              <a:rPr lang="en-US" altLang="zh-CN" sz="1800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=NULL</a:t>
            </a:r>
            <a:r>
              <a:rPr lang="zh-CN" altLang="zh-CN" sz="1800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时</a:t>
            </a:r>
          </a:p>
          <a:p>
            <a:pPr algn="l">
              <a:lnSpc>
                <a:spcPts val="2800"/>
              </a:lnSpc>
              <a:spcBef>
                <a:spcPts val="0"/>
              </a:spcBef>
            </a:pP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 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  <a:sym typeface="Symbol"/>
              </a:rPr>
              <a:t>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输出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结点值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; 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(p-&gt;next)	</a:t>
            </a:r>
            <a:r>
              <a:rPr lang="zh-CN" altLang="zh-CN" sz="1800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其他情况</a:t>
            </a:r>
            <a:endParaRPr lang="zh-CN" altLang="zh-CN" sz="1800">
              <a:solidFill>
                <a:srgbClr val="00B0F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357290" y="3857628"/>
            <a:ext cx="7358114" cy="24452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44000" bIns="144000" rtlCol="0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void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Positive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(LinkNode&lt;int&gt;* p)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正向输出所有结点值</a:t>
            </a: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if (p==NULL)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return;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else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{  printf("%d ",p-&gt;data);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Positive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(p-&gt;next);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}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lang="zh-CN" altLang="zh-CN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25" name="左弧形箭头 24"/>
          <p:cNvSpPr/>
          <p:nvPr/>
        </p:nvSpPr>
        <p:spPr bwMode="auto">
          <a:xfrm>
            <a:off x="1000100" y="1285860"/>
            <a:ext cx="357190" cy="1143008"/>
          </a:xfrm>
          <a:prstGeom prst="curvedRightArrow">
            <a:avLst/>
          </a:prstGeom>
          <a:ln>
            <a:headEnd/>
            <a:tailEnd type="none" w="sm" len="sm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6" name="左弧形箭头 25"/>
          <p:cNvSpPr/>
          <p:nvPr/>
        </p:nvSpPr>
        <p:spPr bwMode="auto">
          <a:xfrm>
            <a:off x="928662" y="3143248"/>
            <a:ext cx="357190" cy="1143008"/>
          </a:xfrm>
          <a:prstGeom prst="curvedRightArrow">
            <a:avLst/>
          </a:prstGeom>
          <a:ln>
            <a:headEnd/>
            <a:tailEnd type="none" w="sm" len="sm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71472" y="285728"/>
            <a:ext cx="17145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2000" smtClean="0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(1)</a:t>
            </a:r>
            <a:r>
              <a:rPr lang="zh-CN" altLang="en-US" sz="2000" smtClean="0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正向输出</a:t>
            </a:r>
          </a:p>
        </p:txBody>
      </p:sp>
      <p:sp>
        <p:nvSpPr>
          <p:cNvPr id="32" name="灯片编号占位符 3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48</a:t>
            </a:fld>
            <a:r>
              <a:rPr lang="en-US" altLang="zh-CN" smtClean="0"/>
              <a:t>/68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2"/>
          <p:cNvGrpSpPr/>
          <p:nvPr/>
        </p:nvGrpSpPr>
        <p:grpSpPr>
          <a:xfrm>
            <a:off x="1428728" y="285728"/>
            <a:ext cx="5643602" cy="1869530"/>
            <a:chOff x="1142976" y="2000240"/>
            <a:chExt cx="5643602" cy="1869530"/>
          </a:xfrm>
        </p:grpSpPr>
        <p:sp>
          <p:nvSpPr>
            <p:cNvPr id="5" name="Text Box 42"/>
            <p:cNvSpPr txBox="1">
              <a:spLocks noChangeArrowheads="1"/>
            </p:cNvSpPr>
            <p:nvPr/>
          </p:nvSpPr>
          <p:spPr bwMode="auto">
            <a:xfrm>
              <a:off x="1789978" y="2725407"/>
              <a:ext cx="540000" cy="360000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91440" tIns="0" rIns="9144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a</a:t>
              </a:r>
              <a:r>
                <a:rPr kumimoji="0" lang="en-US" altLang="zh-CN" sz="1600" baseline="-300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0</a:t>
              </a:r>
              <a:endParaRPr kumimoji="0" lang="en-US" alt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6" name="Text Box 41"/>
            <p:cNvSpPr txBox="1">
              <a:spLocks noChangeArrowheads="1"/>
            </p:cNvSpPr>
            <p:nvPr/>
          </p:nvSpPr>
          <p:spPr bwMode="auto">
            <a:xfrm>
              <a:off x="2336538" y="2725407"/>
              <a:ext cx="540000" cy="360000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91440" tIns="0" rIns="9144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7" name="Text Box 40"/>
            <p:cNvSpPr txBox="1">
              <a:spLocks noChangeArrowheads="1"/>
            </p:cNvSpPr>
            <p:nvPr/>
          </p:nvSpPr>
          <p:spPr bwMode="auto">
            <a:xfrm>
              <a:off x="5494949" y="2725407"/>
              <a:ext cx="540000" cy="360000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91440" tIns="0" rIns="9144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a</a:t>
              </a:r>
              <a:r>
                <a:rPr kumimoji="0" lang="en-US" altLang="zh-CN" sz="1600" i="1" u="none" strike="noStrike" cap="none" normalizeH="0" baseline="-3000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n</a:t>
              </a:r>
              <a:r>
                <a:rPr kumimoji="0" lang="en-US" altLang="zh-CN" sz="1600" u="none" strike="noStrike" cap="none" normalizeH="0" baseline="-3000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-1</a:t>
              </a:r>
              <a:endParaRPr kumimoji="0" lang="en-US" altLang="zh-CN" sz="160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8" name="Text Box 39"/>
            <p:cNvSpPr txBox="1">
              <a:spLocks noChangeArrowheads="1"/>
            </p:cNvSpPr>
            <p:nvPr/>
          </p:nvSpPr>
          <p:spPr bwMode="auto">
            <a:xfrm>
              <a:off x="6032264" y="2725407"/>
              <a:ext cx="540000" cy="360000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2520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∧</a:t>
              </a:r>
            </a:p>
          </p:txBody>
        </p:sp>
        <p:sp>
          <p:nvSpPr>
            <p:cNvPr id="9" name="Text Box 37"/>
            <p:cNvSpPr txBox="1">
              <a:spLocks noChangeArrowheads="1"/>
            </p:cNvSpPr>
            <p:nvPr/>
          </p:nvSpPr>
          <p:spPr bwMode="auto">
            <a:xfrm>
              <a:off x="3174650" y="2725407"/>
              <a:ext cx="540000" cy="360000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91440" tIns="0" rIns="9144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a</a:t>
              </a:r>
              <a:r>
                <a:rPr kumimoji="0" lang="en-US" altLang="zh-CN" sz="1600" baseline="-300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1</a:t>
              </a:r>
              <a:endParaRPr kumimoji="0" lang="en-US" alt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0" name="Text Box 36"/>
            <p:cNvSpPr txBox="1">
              <a:spLocks noChangeArrowheads="1"/>
            </p:cNvSpPr>
            <p:nvPr/>
          </p:nvSpPr>
          <p:spPr bwMode="auto">
            <a:xfrm>
              <a:off x="3714744" y="2725407"/>
              <a:ext cx="540000" cy="360000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91440" tIns="0" rIns="9144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1" name="Line 35"/>
            <p:cNvSpPr>
              <a:spLocks noChangeShapeType="1"/>
            </p:cNvSpPr>
            <p:nvPr/>
          </p:nvSpPr>
          <p:spPr bwMode="auto">
            <a:xfrm>
              <a:off x="4080408" y="2914160"/>
              <a:ext cx="524930" cy="0"/>
            </a:xfrm>
            <a:prstGeom prst="line">
              <a:avLst/>
            </a:prstGeom>
            <a:ln w="19050">
              <a:headEnd/>
              <a:tailEnd type="arrow" w="sm" len="sm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2" name="Line 34"/>
            <p:cNvSpPr>
              <a:spLocks noChangeShapeType="1"/>
            </p:cNvSpPr>
            <p:nvPr/>
          </p:nvSpPr>
          <p:spPr bwMode="auto">
            <a:xfrm>
              <a:off x="2690799" y="2914160"/>
              <a:ext cx="468000" cy="0"/>
            </a:xfrm>
            <a:prstGeom prst="line">
              <a:avLst/>
            </a:prstGeom>
            <a:ln w="19050">
              <a:headEnd/>
              <a:tailEnd type="arrow" w="sm" len="sm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3" name="Text Box 33"/>
            <p:cNvSpPr txBox="1">
              <a:spLocks noChangeArrowheads="1"/>
            </p:cNvSpPr>
            <p:nvPr/>
          </p:nvSpPr>
          <p:spPr bwMode="auto">
            <a:xfrm>
              <a:off x="4674955" y="2782558"/>
              <a:ext cx="468549" cy="30227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91440" tIns="0" rIns="9144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+mj-ea"/>
                  <a:ea typeface="+mj-ea"/>
                  <a:cs typeface="Consolas" pitchFamily="49" charset="0"/>
                </a:rPr>
                <a:t>…</a:t>
              </a:r>
            </a:p>
          </p:txBody>
        </p:sp>
        <p:sp>
          <p:nvSpPr>
            <p:cNvPr id="14" name="Line 32"/>
            <p:cNvSpPr>
              <a:spLocks noChangeShapeType="1"/>
            </p:cNvSpPr>
            <p:nvPr/>
          </p:nvSpPr>
          <p:spPr bwMode="auto">
            <a:xfrm>
              <a:off x="5209154" y="2914160"/>
              <a:ext cx="285795" cy="0"/>
            </a:xfrm>
            <a:prstGeom prst="line">
              <a:avLst/>
            </a:prstGeom>
            <a:ln w="19050">
              <a:headEnd/>
              <a:tailEnd type="arrow" w="sm" len="sm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5" name="Text Box 31"/>
            <p:cNvSpPr txBox="1">
              <a:spLocks noChangeArrowheads="1"/>
            </p:cNvSpPr>
            <p:nvPr/>
          </p:nvSpPr>
          <p:spPr bwMode="auto">
            <a:xfrm>
              <a:off x="1142976" y="2734933"/>
              <a:ext cx="357190" cy="30227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70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p</a:t>
              </a:r>
            </a:p>
          </p:txBody>
        </p:sp>
        <p:sp>
          <p:nvSpPr>
            <p:cNvPr id="16" name="Line 30"/>
            <p:cNvSpPr>
              <a:spLocks noChangeShapeType="1"/>
            </p:cNvSpPr>
            <p:nvPr/>
          </p:nvSpPr>
          <p:spPr bwMode="auto">
            <a:xfrm>
              <a:off x="1499151" y="2885585"/>
              <a:ext cx="286767" cy="0"/>
            </a:xfrm>
            <a:prstGeom prst="line">
              <a:avLst/>
            </a:prstGeom>
            <a:ln w="19050">
              <a:headEnd/>
              <a:tailEnd type="arrow" w="sm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7" name="Text Box 31"/>
            <p:cNvSpPr txBox="1">
              <a:spLocks noChangeArrowheads="1"/>
            </p:cNvSpPr>
            <p:nvPr/>
          </p:nvSpPr>
          <p:spPr bwMode="auto">
            <a:xfrm>
              <a:off x="2500298" y="3500438"/>
              <a:ext cx="1143008" cy="30227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70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p-&gt;</a:t>
              </a:r>
              <a:r>
                <a:rPr kumimoji="0" lang="en-US" altLang="zh-CN" sz="170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next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714612" y="2000240"/>
              <a:ext cx="30003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 sz="1800" smtClean="0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大问题：</a:t>
              </a:r>
              <a:r>
                <a:rPr lang="pt-BR" altLang="zh-CN" sz="1800" i="1" smtClean="0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f</a:t>
              </a:r>
              <a:r>
                <a:rPr lang="pt-BR" altLang="zh-CN" sz="1800" smtClean="0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(</a:t>
              </a:r>
              <a:r>
                <a:rPr lang="pt-BR" altLang="zh-CN" sz="1800" i="1" smtClean="0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p</a:t>
              </a:r>
              <a:r>
                <a:rPr lang="pt-BR" altLang="zh-CN" sz="1800" smtClean="0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)</a:t>
              </a:r>
              <a:r>
                <a:rPr lang="zh-CN" altLang="zh-CN" sz="1800" smtClean="0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输出</a:t>
              </a:r>
              <a:r>
                <a:rPr lang="pt-BR" altLang="zh-CN" sz="1800" i="1" smtClean="0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a</a:t>
              </a:r>
              <a:r>
                <a:rPr lang="pt-BR" altLang="zh-CN" sz="1800" i="1" baseline="-25000" smtClean="0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n</a:t>
              </a:r>
              <a:r>
                <a:rPr lang="pt-BR" altLang="zh-CN" sz="1800" baseline="-25000" smtClean="0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-1</a:t>
              </a:r>
              <a:r>
                <a:rPr lang="zh-CN" altLang="zh-CN" sz="1800" smtClean="0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到</a:t>
              </a:r>
              <a:r>
                <a:rPr lang="pt-BR" altLang="zh-CN" sz="1800" i="1" smtClean="0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a</a:t>
              </a:r>
              <a:r>
                <a:rPr lang="pt-BR" altLang="zh-CN" sz="1800" baseline="-25000" smtClean="0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0</a:t>
              </a:r>
              <a:endParaRPr lang="zh-CN" altLang="en-US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857620" y="3500438"/>
              <a:ext cx="29289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1800" i="1" smtClean="0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f</a:t>
              </a:r>
              <a:r>
                <a:rPr lang="en-US" altLang="zh-CN" sz="1800" smtClean="0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(p-&gt;next)</a:t>
              </a:r>
              <a:r>
                <a:rPr lang="zh-CN" altLang="zh-CN" sz="1800" smtClean="0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输出</a:t>
              </a:r>
              <a:r>
                <a:rPr lang="en-US" altLang="zh-CN" sz="1800" i="1" smtClean="0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a</a:t>
              </a:r>
              <a:r>
                <a:rPr lang="en-US" altLang="zh-CN" sz="1800" i="1" baseline="-25000" smtClean="0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n</a:t>
              </a:r>
              <a:r>
                <a:rPr lang="en-US" altLang="zh-CN" sz="1800" baseline="-25000" smtClean="0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-1</a:t>
              </a:r>
              <a:r>
                <a:rPr lang="zh-CN" altLang="zh-CN" sz="1800" smtClean="0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到</a:t>
              </a:r>
              <a:r>
                <a:rPr lang="en-US" altLang="zh-CN" sz="1800" i="1" smtClean="0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a</a:t>
              </a:r>
              <a:r>
                <a:rPr lang="en-US" altLang="zh-CN" sz="1800" baseline="-25000" smtClean="0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1</a:t>
              </a:r>
              <a:endParaRPr lang="zh-CN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cxnSp>
          <p:nvCxnSpPr>
            <p:cNvPr id="20" name="直接箭头连接符 19"/>
            <p:cNvCxnSpPr>
              <a:endCxn id="9" idx="2"/>
            </p:cNvCxnSpPr>
            <p:nvPr/>
          </p:nvCxnSpPr>
          <p:spPr>
            <a:xfrm rot="5400000" flipH="1" flipV="1">
              <a:off x="3193587" y="3177937"/>
              <a:ext cx="343593" cy="158534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1" name="右大括号 20"/>
            <p:cNvSpPr/>
            <p:nvPr/>
          </p:nvSpPr>
          <p:spPr>
            <a:xfrm rot="5400000">
              <a:off x="4857752" y="2071678"/>
              <a:ext cx="214314" cy="2643206"/>
            </a:xfrm>
            <a:prstGeom prst="rightBrace">
              <a:avLst/>
            </a:prstGeom>
            <a:ln w="19050"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右大括号 21"/>
            <p:cNvSpPr/>
            <p:nvPr/>
          </p:nvSpPr>
          <p:spPr>
            <a:xfrm rot="16200000">
              <a:off x="4036215" y="892951"/>
              <a:ext cx="214314" cy="3286148"/>
            </a:xfrm>
            <a:prstGeom prst="rightBrace">
              <a:avLst/>
            </a:prstGeom>
            <a:ln w="19050"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1428728" y="2357430"/>
            <a:ext cx="5643602" cy="936255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216000" tIns="108000" bIns="108000" rtlCol="0">
            <a:spAutoFit/>
          </a:bodyPr>
          <a:lstStyle/>
          <a:p>
            <a:pPr algn="l">
              <a:lnSpc>
                <a:spcPts val="2800"/>
              </a:lnSpc>
              <a:spcBef>
                <a:spcPts val="0"/>
              </a:spcBef>
            </a:pP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 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  <a:sym typeface="Symbol"/>
              </a:rPr>
              <a:t>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不做任何事件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	</a:t>
            </a:r>
            <a:r>
              <a:rPr lang="zh-CN" altLang="zh-CN" sz="1800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当</a:t>
            </a:r>
            <a:r>
              <a:rPr lang="en-US" altLang="zh-CN" sz="1800" i="1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</a:t>
            </a:r>
            <a:r>
              <a:rPr lang="en-US" altLang="zh-CN" sz="1800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=NULL</a:t>
            </a:r>
            <a:r>
              <a:rPr lang="zh-CN" altLang="zh-CN" sz="1800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时</a:t>
            </a:r>
          </a:p>
          <a:p>
            <a:pPr algn="l">
              <a:lnSpc>
                <a:spcPts val="2800"/>
              </a:lnSpc>
              <a:spcBef>
                <a:spcPts val="0"/>
              </a:spcBef>
            </a:pP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 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  <a:sym typeface="Symbol"/>
              </a:rPr>
              <a:t>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(p-&gt;next);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输出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结点值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</a:t>
            </a:r>
            <a:r>
              <a:rPr lang="zh-CN" altLang="zh-CN" sz="1800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其他情况</a:t>
            </a:r>
            <a:endParaRPr lang="zh-CN" altLang="zh-CN" sz="1800">
              <a:solidFill>
                <a:srgbClr val="00B0F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357290" y="3857628"/>
            <a:ext cx="7215238" cy="24452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44000" bIns="144000" rtlCol="0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void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Invert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(LinkNode&lt;int&gt;* p) 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反向输出所有结点值</a:t>
            </a: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if (p==NULL)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return;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else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{ 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Invert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(p-&gt;next);</a:t>
            </a: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printf("%d ",p-&gt;data);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}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lang="zh-CN" altLang="zh-CN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25" name="左弧形箭头 24"/>
          <p:cNvSpPr/>
          <p:nvPr/>
        </p:nvSpPr>
        <p:spPr bwMode="auto">
          <a:xfrm>
            <a:off x="1000100" y="1285860"/>
            <a:ext cx="357190" cy="1143008"/>
          </a:xfrm>
          <a:prstGeom prst="curvedRightArrow">
            <a:avLst/>
          </a:prstGeom>
          <a:ln>
            <a:headEnd/>
            <a:tailEnd type="none" w="sm" len="sm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6" name="左弧形箭头 25"/>
          <p:cNvSpPr/>
          <p:nvPr/>
        </p:nvSpPr>
        <p:spPr bwMode="auto">
          <a:xfrm>
            <a:off x="928662" y="3143248"/>
            <a:ext cx="357190" cy="1143008"/>
          </a:xfrm>
          <a:prstGeom prst="curvedRightArrow">
            <a:avLst/>
          </a:prstGeom>
          <a:ln>
            <a:headEnd/>
            <a:tailEnd type="none" w="sm" len="sm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71472" y="285728"/>
            <a:ext cx="17145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2000" smtClean="0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(2)</a:t>
            </a:r>
            <a:r>
              <a:rPr lang="zh-CN" altLang="en-US" sz="2000" smtClean="0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反向输出</a:t>
            </a:r>
          </a:p>
        </p:txBody>
      </p:sp>
      <p:sp>
        <p:nvSpPr>
          <p:cNvPr id="32" name="灯片编号占位符 3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49</a:t>
            </a:fld>
            <a:r>
              <a:rPr lang="en-US" altLang="zh-CN" smtClean="0"/>
              <a:t>/68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5"/>
          <p:cNvGrpSpPr/>
          <p:nvPr/>
        </p:nvGrpSpPr>
        <p:grpSpPr>
          <a:xfrm>
            <a:off x="428596" y="214290"/>
            <a:ext cx="896901" cy="896901"/>
            <a:chOff x="388951" y="5103867"/>
            <a:chExt cx="896901" cy="896901"/>
          </a:xfrm>
        </p:grpSpPr>
        <p:sp>
          <p:nvSpPr>
            <p:cNvPr id="7" name="椭圆 6"/>
            <p:cNvSpPr/>
            <p:nvPr/>
          </p:nvSpPr>
          <p:spPr>
            <a:xfrm>
              <a:off x="388951" y="5103867"/>
              <a:ext cx="896901" cy="896901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4200000" scaled="0"/>
              <a:tileRect/>
            </a:gradFill>
            <a:ln w="12700">
              <a:gradFill>
                <a:gsLst>
                  <a:gs pos="89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4200000" scaled="0"/>
              </a:gradFill>
            </a:ln>
            <a:effectLst>
              <a:outerShdw blurRad="254000" dist="127000" dir="4200000" algn="tr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  <p:sp>
          <p:nvSpPr>
            <p:cNvPr id="8" name="椭圆 7"/>
            <p:cNvSpPr/>
            <p:nvPr/>
          </p:nvSpPr>
          <p:spPr>
            <a:xfrm>
              <a:off x="479938" y="5204902"/>
              <a:ext cx="714380" cy="714380"/>
            </a:xfrm>
            <a:prstGeom prst="ellipse">
              <a:avLst/>
            </a:prstGeom>
            <a:solidFill>
              <a:srgbClr val="E3BF42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  <p:sp>
          <p:nvSpPr>
            <p:cNvPr id="9" name="文本框 14"/>
            <p:cNvSpPr txBox="1"/>
            <p:nvPr/>
          </p:nvSpPr>
          <p:spPr>
            <a:xfrm>
              <a:off x="525185" y="5431228"/>
              <a:ext cx="646331" cy="3139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800" b="1" smtClean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比较</a:t>
              </a:r>
              <a:endParaRPr lang="zh-CN" altLang="en-US" sz="1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cxnSp>
        <p:nvCxnSpPr>
          <p:cNvPr id="12" name="直接箭头连接符 11"/>
          <p:cNvCxnSpPr/>
          <p:nvPr/>
        </p:nvCxnSpPr>
        <p:spPr>
          <a:xfrm rot="5400000">
            <a:off x="4037009" y="3678239"/>
            <a:ext cx="500066" cy="1588"/>
          </a:xfrm>
          <a:prstGeom prst="straightConnector1">
            <a:avLst/>
          </a:prstGeom>
          <a:ln w="28575"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42976" y="1000108"/>
            <a:ext cx="7643866" cy="24452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44000" bIns="144000" rtlCol="0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void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Positive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(LinkNode&lt;int&gt;* p)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正向输出所有结点值</a:t>
            </a: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if (p==NULL)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return;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else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{  printf("%d ",p-&gt;data);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Positive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(p-&gt;next);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}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lang="zh-CN" altLang="zh-CN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42976" y="3984148"/>
            <a:ext cx="7643866" cy="24452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44000" bIns="144000" rtlCol="0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void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Invert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(LinkNode&lt;int&gt;* p) 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反向输出所有结点值</a:t>
            </a: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if (p==NULL)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return;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else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{ 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Invert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(p-&gt;next);</a:t>
            </a: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printf("%d ",p-&gt;data);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}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lang="zh-CN" altLang="zh-CN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7" name="灯片编号占位符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50</a:t>
            </a:fld>
            <a:r>
              <a:rPr lang="en-US" altLang="zh-CN" smtClean="0"/>
              <a:t>/68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00034" y="428604"/>
            <a:ext cx="5429288" cy="461665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mtClean="0">
                <a:latin typeface="Consolas" pitchFamily="49" charset="0"/>
                <a:ea typeface="微软雅黑" pitchFamily="34" charset="-122"/>
                <a:cs typeface="Consolas" pitchFamily="49" charset="0"/>
              </a:rPr>
              <a:t>6.2.3 </a:t>
            </a:r>
            <a:r>
              <a:rPr lang="zh-CN" altLang="zh-CN" smtClean="0">
                <a:latin typeface="Consolas" pitchFamily="49" charset="0"/>
                <a:ea typeface="微软雅黑" pitchFamily="34" charset="-122"/>
                <a:cs typeface="Consolas" pitchFamily="49" charset="0"/>
              </a:rPr>
              <a:t>基于</a:t>
            </a:r>
            <a:r>
              <a:rPr lang="zh-CN" altLang="en-US" smtClean="0">
                <a:latin typeface="Consolas" pitchFamily="49" charset="0"/>
                <a:ea typeface="微软雅黑" pitchFamily="34" charset="-122"/>
                <a:cs typeface="Consolas" pitchFamily="49" charset="0"/>
              </a:rPr>
              <a:t>归纳方法</a:t>
            </a:r>
            <a:r>
              <a:rPr lang="zh-CN" altLang="zh-CN" smtClean="0">
                <a:latin typeface="Consolas" pitchFamily="49" charset="0"/>
                <a:ea typeface="微软雅黑" pitchFamily="34" charset="-122"/>
                <a:cs typeface="Consolas" pitchFamily="49" charset="0"/>
              </a:rPr>
              <a:t>的递归算法设计</a:t>
            </a:r>
            <a:endParaRPr lang="zh-CN" altLang="zh-CN" smtClean="0">
              <a:ln w="11430"/>
              <a:solidFill>
                <a:schemeClr val="bg1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14348" y="1357298"/>
            <a:ext cx="7572428" cy="2139020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44000" tIns="108000" bIns="108000" rtlCol="0">
            <a:spAutoFit/>
          </a:bodyPr>
          <a:lstStyle/>
          <a:p>
            <a:pPr marL="342900" indent="-342900" algn="l">
              <a:lnSpc>
                <a:spcPts val="28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通过对求解问题的分析归纳来转换成递归方法求解（如皇后问题等）。</a:t>
            </a:r>
          </a:p>
          <a:p>
            <a:pPr marL="342900" indent="-342900" algn="l">
              <a:lnSpc>
                <a:spcPts val="28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关键是对问题本身进行分析，确定大、小问题解之间的关系，构造合理的递归体，而其中最重要的又是假设出“合理”的小问题。</a:t>
            </a:r>
            <a:endParaRPr lang="zh-CN" altLang="en-US" sz="20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51</a:t>
            </a:fld>
            <a:r>
              <a:rPr lang="en-US" altLang="zh-CN" smtClean="0"/>
              <a:t>/68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00034" y="785794"/>
            <a:ext cx="8143932" cy="22569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3200"/>
              </a:lnSpc>
              <a:spcBef>
                <a:spcPts val="600"/>
              </a:spcBef>
            </a:pPr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【例</a:t>
            </a:r>
            <a:r>
              <a:rPr lang="en-US" altLang="zh-CN" sz="2000" smtClean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6.8</a:t>
            </a:r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】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若算法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pow(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x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，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n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)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用于计算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x</a:t>
            </a:r>
            <a:r>
              <a:rPr lang="en-US" altLang="zh-CN" sz="2000" i="1" baseline="30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n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（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n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为大于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1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的整数）。完成以下任务：</a:t>
            </a:r>
          </a:p>
          <a:p>
            <a:pPr algn="l">
              <a:lnSpc>
                <a:spcPts val="3200"/>
              </a:lnSpc>
              <a:spcBef>
                <a:spcPts val="600"/>
              </a:spcBef>
            </a:pP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  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（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1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）采用递归方法设计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pow(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x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，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n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)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算法。</a:t>
            </a:r>
          </a:p>
          <a:p>
            <a:pPr algn="l">
              <a:lnSpc>
                <a:spcPts val="3200"/>
              </a:lnSpc>
              <a:spcBef>
                <a:spcPts val="600"/>
              </a:spcBef>
            </a:pP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  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（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2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）问执行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pow(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x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，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10)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发生几次递归调用？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求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pow(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x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,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n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)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对应的算法复杂度是多少？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52</a:t>
            </a:fld>
            <a:r>
              <a:rPr lang="en-US" altLang="zh-CN" smtClean="0"/>
              <a:t>/68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4348" y="1269504"/>
            <a:ext cx="75009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en-US" sz="200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（</a:t>
            </a:r>
            <a:r>
              <a:rPr lang="en-US" altLang="zh-CN" sz="200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1</a:t>
            </a:r>
            <a:r>
              <a:rPr lang="zh-CN" altLang="en-US" sz="200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）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设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x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用于计算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x</a:t>
            </a:r>
            <a:r>
              <a:rPr lang="en-US" altLang="zh-CN" sz="2000" i="1" baseline="30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，则有以下递归模型：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2976" y="1841008"/>
            <a:ext cx="6643734" cy="1159906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216000" tIns="108000" bIns="108000" rtlCol="0">
            <a:spAutoFit/>
          </a:bodyPr>
          <a:lstStyle/>
          <a:p>
            <a:pPr algn="l"/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x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)=x				</a:t>
            </a:r>
            <a:r>
              <a:rPr lang="zh-CN" altLang="zh-CN" sz="1800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当</a:t>
            </a:r>
            <a:r>
              <a:rPr lang="en-US" altLang="zh-CN" sz="1800" i="1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 sz="1800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=1</a:t>
            </a:r>
            <a:endParaRPr lang="zh-CN" altLang="zh-CN" sz="1800" smtClean="0">
              <a:solidFill>
                <a:srgbClr val="00B0F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/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x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)=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x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*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x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/2)*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x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/2)		</a:t>
            </a:r>
            <a:r>
              <a:rPr lang="zh-CN" altLang="zh-CN" sz="1800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当</a:t>
            </a:r>
            <a:r>
              <a:rPr lang="en-US" altLang="zh-CN" sz="1800" i="1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zh-CN" altLang="zh-CN" sz="1800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为奇数</a:t>
            </a:r>
          </a:p>
          <a:p>
            <a:pPr algn="l"/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x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)=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x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/2)*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x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/2)		</a:t>
            </a:r>
            <a:r>
              <a:rPr lang="zh-CN" altLang="zh-CN" sz="1800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当</a:t>
            </a:r>
            <a:r>
              <a:rPr lang="en-US" altLang="zh-CN" sz="1800" i="1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zh-CN" altLang="zh-CN" sz="1800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为偶数</a:t>
            </a:r>
            <a:endParaRPr lang="zh-CN" altLang="zh-CN" sz="1800">
              <a:solidFill>
                <a:srgbClr val="00B0F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2976" y="3412644"/>
            <a:ext cx="6572296" cy="24452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44000" bIns="144000" rtlCol="0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double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pow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(double x,int n)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求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x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次幂</a:t>
            </a: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if (n==1) return x;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double p=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pow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(x,n/2);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if (n%2==1)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//n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为奇数</a:t>
            </a: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return x*p*p;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else	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//n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为偶数</a:t>
            </a: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return p*p;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lang="zh-CN" altLang="zh-CN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4282" y="285728"/>
            <a:ext cx="1643074" cy="7960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53</a:t>
            </a:fld>
            <a:r>
              <a:rPr lang="en-US" altLang="zh-CN" smtClean="0"/>
              <a:t>/68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85786" y="928670"/>
            <a:ext cx="7572428" cy="1759456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2800"/>
              </a:lnSpc>
              <a:spcBef>
                <a:spcPts val="600"/>
              </a:spcBef>
            </a:pP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（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2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）执行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pow(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x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10)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的递归调用顺序是：</a:t>
            </a:r>
            <a:endParaRPr lang="en-US" altLang="zh-CN" sz="20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800"/>
              </a:lnSpc>
              <a:spcBef>
                <a:spcPts val="600"/>
              </a:spcBef>
            </a:pPr>
            <a:r>
              <a:rPr lang="en-US" altLang="zh-CN" sz="2000" smtClean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pow(</a:t>
            </a:r>
            <a:r>
              <a:rPr lang="en-US" altLang="zh-CN" sz="2000" i="1" smtClean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x</a:t>
            </a:r>
            <a:r>
              <a:rPr lang="zh-CN" altLang="zh-CN" sz="2000" smtClean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2000" smtClean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10) </a:t>
            </a:r>
            <a:r>
              <a:rPr lang="zh-CN" altLang="zh-CN" sz="2000" smtClean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→</a:t>
            </a:r>
            <a:r>
              <a:rPr lang="en-US" altLang="zh-CN" sz="2000" smtClean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pow(</a:t>
            </a:r>
            <a:r>
              <a:rPr lang="en-US" altLang="zh-CN" sz="2000" i="1" smtClean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x</a:t>
            </a:r>
            <a:r>
              <a:rPr lang="zh-CN" altLang="zh-CN" sz="2000" smtClean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2000" smtClean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5) </a:t>
            </a:r>
            <a:r>
              <a:rPr lang="zh-CN" altLang="zh-CN" sz="2000" smtClean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→</a:t>
            </a:r>
            <a:r>
              <a:rPr lang="en-US" altLang="zh-CN" sz="2000" smtClean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pow(</a:t>
            </a:r>
            <a:r>
              <a:rPr lang="en-US" altLang="zh-CN" sz="2000" i="1" smtClean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x</a:t>
            </a:r>
            <a:r>
              <a:rPr lang="zh-CN" altLang="zh-CN" sz="2000" smtClean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2000" smtClean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2)</a:t>
            </a:r>
            <a:r>
              <a:rPr lang="zh-CN" altLang="zh-CN" sz="2000" smtClean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→</a:t>
            </a:r>
            <a:r>
              <a:rPr lang="en-US" altLang="zh-CN" sz="2000" smtClean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pow(</a:t>
            </a:r>
            <a:r>
              <a:rPr lang="en-US" altLang="zh-CN" sz="2000" i="1" smtClean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x</a:t>
            </a:r>
            <a:r>
              <a:rPr lang="zh-CN" altLang="zh-CN" sz="2000" smtClean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2000" smtClean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1)</a:t>
            </a:r>
          </a:p>
          <a:p>
            <a:pPr algn="l">
              <a:lnSpc>
                <a:spcPts val="2800"/>
              </a:lnSpc>
              <a:spcBef>
                <a:spcPts val="600"/>
              </a:spcBef>
            </a:pP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共发生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4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次递归调用。</a:t>
            </a:r>
            <a:endParaRPr lang="en-US" altLang="zh-CN" sz="20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800"/>
              </a:lnSpc>
              <a:spcBef>
                <a:spcPts val="600"/>
              </a:spcBef>
            </a:pP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求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pow(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x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对应的算法复杂度是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O(log</a:t>
            </a:r>
            <a:r>
              <a:rPr lang="en-US" altLang="zh-CN" sz="2000" baseline="-25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2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。</a:t>
            </a:r>
            <a:endParaRPr lang="zh-CN" altLang="en-US" sz="20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54</a:t>
            </a:fld>
            <a:r>
              <a:rPr lang="en-US" altLang="zh-CN" smtClean="0"/>
              <a:t>/68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57158" y="755486"/>
            <a:ext cx="8215370" cy="2107565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3200"/>
              </a:lnSpc>
              <a:spcBef>
                <a:spcPts val="0"/>
              </a:spcBef>
            </a:pPr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【例</a:t>
            </a:r>
            <a:r>
              <a:rPr lang="en-US" altLang="zh-CN" sz="2000" smtClean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6.9</a:t>
            </a:r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】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创建一个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n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阶螺旋矩阵并输出。例如，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n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=4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时的螺旋矩阵如下：</a:t>
            </a:r>
          </a:p>
          <a:p>
            <a:pPr algn="l">
              <a:lnSpc>
                <a:spcPts val="3200"/>
              </a:lnSpc>
              <a:spcBef>
                <a:spcPts val="0"/>
              </a:spcBef>
            </a:pPr>
            <a:r>
              <a:rPr lang="en-US" altLang="zh-CN" sz="2000" smtClean="0">
                <a:solidFill>
                  <a:srgbClr val="339933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	</a:t>
            </a:r>
            <a:r>
              <a:rPr lang="en-US" altLang="zh-CN" sz="2000" b="0" smtClean="0">
                <a:solidFill>
                  <a:srgbClr val="339933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1	2	3	4</a:t>
            </a:r>
            <a:endParaRPr lang="zh-CN" altLang="zh-CN" sz="2000" b="0" smtClean="0">
              <a:solidFill>
                <a:srgbClr val="339933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  <a:p>
            <a:pPr algn="l">
              <a:lnSpc>
                <a:spcPts val="3200"/>
              </a:lnSpc>
              <a:spcBef>
                <a:spcPts val="0"/>
              </a:spcBef>
            </a:pPr>
            <a:r>
              <a:rPr lang="en-US" altLang="zh-CN" sz="2000" b="0" smtClean="0">
                <a:solidFill>
                  <a:srgbClr val="339933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	12	13	14	5</a:t>
            </a:r>
            <a:endParaRPr lang="zh-CN" altLang="zh-CN" sz="2000" b="0" smtClean="0">
              <a:solidFill>
                <a:srgbClr val="339933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  <a:p>
            <a:pPr algn="l">
              <a:lnSpc>
                <a:spcPts val="3200"/>
              </a:lnSpc>
              <a:spcBef>
                <a:spcPts val="0"/>
              </a:spcBef>
            </a:pPr>
            <a:r>
              <a:rPr lang="en-US" altLang="zh-CN" sz="2000" b="0" smtClean="0">
                <a:solidFill>
                  <a:srgbClr val="339933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	11	16	15	6</a:t>
            </a:r>
            <a:endParaRPr lang="zh-CN" altLang="zh-CN" sz="2000" b="0" smtClean="0">
              <a:solidFill>
                <a:srgbClr val="339933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  <a:p>
            <a:pPr algn="l">
              <a:lnSpc>
                <a:spcPts val="3200"/>
              </a:lnSpc>
              <a:spcBef>
                <a:spcPts val="0"/>
              </a:spcBef>
            </a:pPr>
            <a:r>
              <a:rPr lang="en-US" altLang="zh-CN" sz="2000" b="0" smtClean="0">
                <a:solidFill>
                  <a:srgbClr val="339933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	10	9	8	7</a:t>
            </a:r>
            <a:endParaRPr lang="zh-CN" altLang="en-US" sz="2000" b="0" smtClean="0">
              <a:solidFill>
                <a:srgbClr val="339933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55</a:t>
            </a:fld>
            <a:r>
              <a:rPr lang="en-US" altLang="zh-CN" smtClean="0"/>
              <a:t>/68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0034" y="1071546"/>
            <a:ext cx="8358246" cy="1727103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44000" tIns="144000" rIns="144000" bIns="144000" rtlCol="0">
            <a:spAutoFit/>
          </a:bodyPr>
          <a:lstStyle/>
          <a:p>
            <a:pPr marL="342900" indent="-342900" algn="l">
              <a:lnSpc>
                <a:spcPts val="25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设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x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y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start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用于创建左上角为（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x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y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）、起始元素值为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start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阶螺旋矩阵，共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行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列，它是大问题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。</a:t>
            </a:r>
            <a:endParaRPr lang="en-US" altLang="zh-CN" sz="20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marL="342900" indent="-342900" algn="l">
              <a:lnSpc>
                <a:spcPts val="2500"/>
              </a:lnSpc>
              <a:spcBef>
                <a:spcPts val="1200"/>
              </a:spcBef>
              <a:buBlip>
                <a:blip r:embed="rId2"/>
              </a:buBlip>
            </a:pP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x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+1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y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+1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start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-2)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用于创建左上角为（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x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+1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y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+1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）、起始元素值为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start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-2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阶螺旋矩阵，共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-2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行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-2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列，它是小问题。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57488" y="3714752"/>
            <a:ext cx="428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  <a:endParaRPr lang="zh-CN" altLang="en-US" sz="1800" smtClean="0">
              <a:solidFill>
                <a:srgbClr val="FF000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571868" y="3714752"/>
            <a:ext cx="428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2</a:t>
            </a:r>
            <a:endParaRPr lang="zh-CN" altLang="en-US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286248" y="3714752"/>
            <a:ext cx="428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3</a:t>
            </a:r>
            <a:endParaRPr lang="zh-CN" altLang="en-US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929190" y="3714752"/>
            <a:ext cx="428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4</a:t>
            </a:r>
            <a:endParaRPr lang="zh-CN" altLang="en-US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857488" y="4214818"/>
            <a:ext cx="428628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12</a:t>
            </a:r>
            <a:endParaRPr lang="zh-CN" altLang="en-US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571868" y="4214818"/>
            <a:ext cx="428628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13</a:t>
            </a:r>
            <a:endParaRPr lang="zh-CN" altLang="en-US" sz="1800" smtClean="0">
              <a:solidFill>
                <a:srgbClr val="FF000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286248" y="4214818"/>
            <a:ext cx="428628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14</a:t>
            </a:r>
            <a:endParaRPr lang="zh-CN" altLang="en-US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929190" y="4214818"/>
            <a:ext cx="428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5</a:t>
            </a:r>
            <a:endParaRPr lang="zh-CN" altLang="en-US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857488" y="4714884"/>
            <a:ext cx="428628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11</a:t>
            </a:r>
            <a:endParaRPr lang="zh-CN" altLang="en-US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571868" y="4714884"/>
            <a:ext cx="428628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16</a:t>
            </a:r>
            <a:endParaRPr lang="zh-CN" altLang="en-US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286248" y="4714884"/>
            <a:ext cx="428628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15</a:t>
            </a:r>
            <a:endParaRPr lang="zh-CN" altLang="en-US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929190" y="4714884"/>
            <a:ext cx="428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6</a:t>
            </a:r>
            <a:endParaRPr lang="zh-CN" altLang="en-US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857488" y="5202808"/>
            <a:ext cx="428628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10</a:t>
            </a:r>
            <a:endParaRPr lang="zh-CN" altLang="en-US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571868" y="5202808"/>
            <a:ext cx="428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9</a:t>
            </a:r>
            <a:endParaRPr lang="zh-CN" altLang="en-US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286248" y="5202808"/>
            <a:ext cx="428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8</a:t>
            </a:r>
            <a:endParaRPr lang="zh-CN" altLang="en-US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929190" y="5202808"/>
            <a:ext cx="428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7</a:t>
            </a:r>
            <a:endParaRPr lang="zh-CN" altLang="en-US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2500298" y="3643314"/>
            <a:ext cx="2928958" cy="214314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TextBox 32"/>
          <p:cNvSpPr txBox="1"/>
          <p:nvPr/>
        </p:nvSpPr>
        <p:spPr>
          <a:xfrm>
            <a:off x="642910" y="3071810"/>
            <a:ext cx="30718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2000" i="1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</a:t>
            </a:r>
            <a:r>
              <a:rPr lang="en-US" altLang="zh-CN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(0</a:t>
            </a:r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0</a:t>
            </a:r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4)</a:t>
            </a:r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为大问题</a:t>
            </a:r>
          </a:p>
        </p:txBody>
      </p:sp>
      <p:sp>
        <p:nvSpPr>
          <p:cNvPr id="34" name="矩形 33"/>
          <p:cNvSpPr/>
          <p:nvPr/>
        </p:nvSpPr>
        <p:spPr>
          <a:xfrm>
            <a:off x="3357554" y="4143380"/>
            <a:ext cx="1428760" cy="100013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TextBox 34"/>
          <p:cNvSpPr txBox="1"/>
          <p:nvPr/>
        </p:nvSpPr>
        <p:spPr>
          <a:xfrm>
            <a:off x="5634044" y="3855011"/>
            <a:ext cx="32242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2000" i="1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</a:t>
            </a:r>
            <a:r>
              <a:rPr lang="en-US" altLang="zh-CN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(1</a:t>
            </a:r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13</a:t>
            </a:r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2)</a:t>
            </a:r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为小问题</a:t>
            </a:r>
            <a:endParaRPr lang="zh-CN" altLang="en-US" sz="2000" smtClean="0">
              <a:solidFill>
                <a:srgbClr val="FF000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36" name="任意多边形 35"/>
          <p:cNvSpPr/>
          <p:nvPr/>
        </p:nvSpPr>
        <p:spPr>
          <a:xfrm>
            <a:off x="1702574" y="3452813"/>
            <a:ext cx="792976" cy="858843"/>
          </a:xfrm>
          <a:custGeom>
            <a:avLst/>
            <a:gdLst>
              <a:gd name="connsiteX0" fmla="*/ 12700 w 698500"/>
              <a:gd name="connsiteY0" fmla="*/ 0 h 800100"/>
              <a:gd name="connsiteX1" fmla="*/ 22225 w 698500"/>
              <a:gd name="connsiteY1" fmla="*/ 228600 h 800100"/>
              <a:gd name="connsiteX2" fmla="*/ 146050 w 698500"/>
              <a:gd name="connsiteY2" fmla="*/ 533400 h 800100"/>
              <a:gd name="connsiteX3" fmla="*/ 698500 w 698500"/>
              <a:gd name="connsiteY3" fmla="*/ 800100 h 800100"/>
              <a:gd name="connsiteX0" fmla="*/ 22222 w 708022"/>
              <a:gd name="connsiteY0" fmla="*/ 0 h 800100"/>
              <a:gd name="connsiteX1" fmla="*/ 31747 w 708022"/>
              <a:gd name="connsiteY1" fmla="*/ 228600 h 800100"/>
              <a:gd name="connsiteX2" fmla="*/ 212704 w 708022"/>
              <a:gd name="connsiteY2" fmla="*/ 647700 h 800100"/>
              <a:gd name="connsiteX3" fmla="*/ 708022 w 708022"/>
              <a:gd name="connsiteY3" fmla="*/ 800100 h 800100"/>
              <a:gd name="connsiteX0" fmla="*/ 22222 w 708022"/>
              <a:gd name="connsiteY0" fmla="*/ 0 h 815976"/>
              <a:gd name="connsiteX1" fmla="*/ 31747 w 708022"/>
              <a:gd name="connsiteY1" fmla="*/ 228600 h 815976"/>
              <a:gd name="connsiteX2" fmla="*/ 212704 w 708022"/>
              <a:gd name="connsiteY2" fmla="*/ 647700 h 815976"/>
              <a:gd name="connsiteX3" fmla="*/ 355580 w 708022"/>
              <a:gd name="connsiteY3" fmla="*/ 790576 h 815976"/>
              <a:gd name="connsiteX4" fmla="*/ 708022 w 708022"/>
              <a:gd name="connsiteY4" fmla="*/ 800100 h 815976"/>
              <a:gd name="connsiteX0" fmla="*/ 96858 w 782658"/>
              <a:gd name="connsiteY0" fmla="*/ 33342 h 849318"/>
              <a:gd name="connsiteX1" fmla="*/ 1588 w 782658"/>
              <a:gd name="connsiteY1" fmla="*/ 38100 h 849318"/>
              <a:gd name="connsiteX2" fmla="*/ 106383 w 782658"/>
              <a:gd name="connsiteY2" fmla="*/ 261942 h 849318"/>
              <a:gd name="connsiteX3" fmla="*/ 287340 w 782658"/>
              <a:gd name="connsiteY3" fmla="*/ 681042 h 849318"/>
              <a:gd name="connsiteX4" fmla="*/ 430216 w 782658"/>
              <a:gd name="connsiteY4" fmla="*/ 823918 h 849318"/>
              <a:gd name="connsiteX5" fmla="*/ 782658 w 782658"/>
              <a:gd name="connsiteY5" fmla="*/ 833442 h 849318"/>
              <a:gd name="connsiteX0" fmla="*/ 99242 w 785042"/>
              <a:gd name="connsiteY0" fmla="*/ 43660 h 859636"/>
              <a:gd name="connsiteX1" fmla="*/ 3972 w 785042"/>
              <a:gd name="connsiteY1" fmla="*/ 48418 h 859636"/>
              <a:gd name="connsiteX2" fmla="*/ 75410 w 785042"/>
              <a:gd name="connsiteY2" fmla="*/ 334170 h 859636"/>
              <a:gd name="connsiteX3" fmla="*/ 289724 w 785042"/>
              <a:gd name="connsiteY3" fmla="*/ 691360 h 859636"/>
              <a:gd name="connsiteX4" fmla="*/ 432600 w 785042"/>
              <a:gd name="connsiteY4" fmla="*/ 834236 h 859636"/>
              <a:gd name="connsiteX5" fmla="*/ 785042 w 785042"/>
              <a:gd name="connsiteY5" fmla="*/ 843760 h 859636"/>
              <a:gd name="connsiteX0" fmla="*/ 99242 w 785042"/>
              <a:gd name="connsiteY0" fmla="*/ 43660 h 859636"/>
              <a:gd name="connsiteX1" fmla="*/ 3972 w 785042"/>
              <a:gd name="connsiteY1" fmla="*/ 48418 h 859636"/>
              <a:gd name="connsiteX2" fmla="*/ 75410 w 785042"/>
              <a:gd name="connsiteY2" fmla="*/ 334170 h 859636"/>
              <a:gd name="connsiteX3" fmla="*/ 218286 w 785042"/>
              <a:gd name="connsiteY3" fmla="*/ 691360 h 859636"/>
              <a:gd name="connsiteX4" fmla="*/ 432600 w 785042"/>
              <a:gd name="connsiteY4" fmla="*/ 834236 h 859636"/>
              <a:gd name="connsiteX5" fmla="*/ 785042 w 785042"/>
              <a:gd name="connsiteY5" fmla="*/ 843760 h 859636"/>
              <a:gd name="connsiteX0" fmla="*/ 1587 w 854095"/>
              <a:gd name="connsiteY0" fmla="*/ 47625 h 858843"/>
              <a:gd name="connsiteX1" fmla="*/ 73025 w 854095"/>
              <a:gd name="connsiteY1" fmla="*/ 47625 h 858843"/>
              <a:gd name="connsiteX2" fmla="*/ 144463 w 854095"/>
              <a:gd name="connsiteY2" fmla="*/ 333377 h 858843"/>
              <a:gd name="connsiteX3" fmla="*/ 287339 w 854095"/>
              <a:gd name="connsiteY3" fmla="*/ 690567 h 858843"/>
              <a:gd name="connsiteX4" fmla="*/ 501653 w 854095"/>
              <a:gd name="connsiteY4" fmla="*/ 833443 h 858843"/>
              <a:gd name="connsiteX5" fmla="*/ 854095 w 854095"/>
              <a:gd name="connsiteY5" fmla="*/ 842967 h 858843"/>
              <a:gd name="connsiteX0" fmla="*/ 11907 w 792976"/>
              <a:gd name="connsiteY0" fmla="*/ 47625 h 858843"/>
              <a:gd name="connsiteX1" fmla="*/ 11906 w 792976"/>
              <a:gd name="connsiteY1" fmla="*/ 47625 h 858843"/>
              <a:gd name="connsiteX2" fmla="*/ 83344 w 792976"/>
              <a:gd name="connsiteY2" fmla="*/ 333377 h 858843"/>
              <a:gd name="connsiteX3" fmla="*/ 226220 w 792976"/>
              <a:gd name="connsiteY3" fmla="*/ 690567 h 858843"/>
              <a:gd name="connsiteX4" fmla="*/ 440534 w 792976"/>
              <a:gd name="connsiteY4" fmla="*/ 833443 h 858843"/>
              <a:gd name="connsiteX5" fmla="*/ 792976 w 792976"/>
              <a:gd name="connsiteY5" fmla="*/ 842967 h 858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2976" h="858843">
                <a:moveTo>
                  <a:pt x="11907" y="47625"/>
                </a:moveTo>
                <a:cubicBezTo>
                  <a:pt x="10320" y="49212"/>
                  <a:pt x="0" y="0"/>
                  <a:pt x="11906" y="47625"/>
                </a:cubicBezTo>
                <a:cubicBezTo>
                  <a:pt x="23812" y="95250"/>
                  <a:pt x="47625" y="226220"/>
                  <a:pt x="83344" y="333377"/>
                </a:cubicBezTo>
                <a:cubicBezTo>
                  <a:pt x="119063" y="440534"/>
                  <a:pt x="166688" y="607223"/>
                  <a:pt x="226220" y="690567"/>
                </a:cubicBezTo>
                <a:cubicBezTo>
                  <a:pt x="285752" y="773911"/>
                  <a:pt x="346075" y="808043"/>
                  <a:pt x="440534" y="833443"/>
                </a:cubicBezTo>
                <a:cubicBezTo>
                  <a:pt x="534993" y="858843"/>
                  <a:pt x="742176" y="833442"/>
                  <a:pt x="792976" y="842967"/>
                </a:cubicBezTo>
              </a:path>
            </a:pathLst>
          </a:custGeom>
          <a:ln w="19050">
            <a:solidFill>
              <a:srgbClr val="FF00FF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任意多边形 36"/>
          <p:cNvSpPr/>
          <p:nvPr/>
        </p:nvSpPr>
        <p:spPr>
          <a:xfrm>
            <a:off x="4810125" y="4086230"/>
            <a:ext cx="838200" cy="200025"/>
          </a:xfrm>
          <a:custGeom>
            <a:avLst/>
            <a:gdLst>
              <a:gd name="connsiteX0" fmla="*/ 0 w 838200"/>
              <a:gd name="connsiteY0" fmla="*/ 200025 h 200025"/>
              <a:gd name="connsiteX1" fmla="*/ 838200 w 838200"/>
              <a:gd name="connsiteY1" fmla="*/ 0 h 200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38200" h="200025">
                <a:moveTo>
                  <a:pt x="0" y="200025"/>
                </a:moveTo>
                <a:lnTo>
                  <a:pt x="838200" y="0"/>
                </a:lnTo>
              </a:path>
            </a:pathLst>
          </a:custGeom>
          <a:ln w="19050">
            <a:solidFill>
              <a:srgbClr val="FF00FF"/>
            </a:solidFill>
            <a:headEnd type="arrow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1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2844" y="142852"/>
            <a:ext cx="1643074" cy="7960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" name="灯片编号占位符 4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56</a:t>
            </a:fld>
            <a:r>
              <a:rPr lang="en-US" altLang="zh-CN" smtClean="0"/>
              <a:t>/68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0034" y="4071942"/>
            <a:ext cx="25003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对应的递归模型如下：</a:t>
            </a:r>
          </a:p>
        </p:txBody>
      </p:sp>
      <p:sp>
        <p:nvSpPr>
          <p:cNvPr id="5" name="Text Box 4" descr="羊皮纸"/>
          <p:cNvSpPr txBox="1">
            <a:spLocks noChangeArrowheads="1"/>
          </p:cNvSpPr>
          <p:nvPr/>
        </p:nvSpPr>
        <p:spPr bwMode="auto">
          <a:xfrm>
            <a:off x="571472" y="4786322"/>
            <a:ext cx="7929618" cy="1607345"/>
          </a:xfrm>
          <a:prstGeom prst="rect">
            <a:avLst/>
          </a:prstGeom>
          <a:solidFill>
            <a:schemeClr val="bg1"/>
          </a:solidFill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180000" tIns="72000" bIns="72000">
            <a:spAutoFit/>
          </a:bodyPr>
          <a:lstStyle/>
          <a:p>
            <a:pPr algn="l">
              <a:lnSpc>
                <a:spcPts val="2400"/>
              </a:lnSpc>
              <a:spcBef>
                <a:spcPts val="600"/>
              </a:spcBef>
            </a:pP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x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y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start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 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  <a:sym typeface="Symbol"/>
              </a:rPr>
              <a:t> 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不做任何事情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		</a:t>
            </a:r>
            <a:r>
              <a:rPr lang="zh-CN" altLang="zh-CN" sz="1800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当</a:t>
            </a:r>
            <a:r>
              <a:rPr lang="en-US" altLang="zh-CN" sz="1800" i="1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zh-CN" altLang="zh-CN" sz="1800" smtClean="0">
                <a:solidFill>
                  <a:srgbClr val="00B0F0"/>
                </a:solidFill>
                <a:latin typeface="+mj-ea"/>
                <a:ea typeface="+mj-ea"/>
                <a:cs typeface="Consolas" pitchFamily="49" charset="0"/>
              </a:rPr>
              <a:t>≤</a:t>
            </a:r>
            <a:r>
              <a:rPr lang="en-US" altLang="zh-CN" sz="1800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0</a:t>
            </a:r>
            <a:endParaRPr lang="zh-CN" altLang="zh-CN" sz="1800" smtClean="0">
              <a:solidFill>
                <a:srgbClr val="00B0F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400"/>
              </a:lnSpc>
              <a:spcBef>
                <a:spcPts val="600"/>
              </a:spcBef>
            </a:pP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x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y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start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 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  <a:sym typeface="Symbol"/>
              </a:rPr>
              <a:t>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产生只有一个元素的螺旋矩阵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	</a:t>
            </a:r>
            <a:r>
              <a:rPr lang="zh-CN" altLang="zh-CN" sz="1800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当</a:t>
            </a:r>
            <a:r>
              <a:rPr lang="en-US" altLang="zh-CN" sz="1800" i="1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 sz="1800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=1</a:t>
            </a:r>
            <a:endParaRPr lang="zh-CN" altLang="zh-CN" sz="1800" smtClean="0">
              <a:solidFill>
                <a:srgbClr val="00B0F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400"/>
              </a:lnSpc>
              <a:spcBef>
                <a:spcPts val="600"/>
              </a:spcBef>
            </a:pP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x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y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start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 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  <a:sym typeface="Symbol"/>
              </a:rPr>
              <a:t>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产生（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x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y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）的那一圈；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	</a:t>
            </a:r>
            <a:r>
              <a:rPr lang="zh-CN" altLang="zh-CN" sz="1800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当</a:t>
            </a:r>
            <a:r>
              <a:rPr lang="en-US" altLang="zh-CN" sz="1800" i="1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 sz="1800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&gt;1</a:t>
            </a:r>
            <a:endParaRPr lang="zh-CN" altLang="zh-CN" sz="1800" smtClean="0">
              <a:solidFill>
                <a:srgbClr val="00B0F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400"/>
              </a:lnSpc>
              <a:spcBef>
                <a:spcPts val="60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	     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x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+1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y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+1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start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-2)</a:t>
            </a:r>
            <a:endParaRPr lang="zh-CN" altLang="zh-CN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714612" y="1142984"/>
            <a:ext cx="428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  <a:endParaRPr lang="zh-CN" altLang="en-US" sz="1800" smtClean="0">
              <a:solidFill>
                <a:srgbClr val="FF000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428992" y="1142984"/>
            <a:ext cx="428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2</a:t>
            </a:r>
            <a:endParaRPr lang="zh-CN" altLang="en-US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143372" y="1142984"/>
            <a:ext cx="428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3</a:t>
            </a:r>
            <a:endParaRPr lang="zh-CN" altLang="en-US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786314" y="1142984"/>
            <a:ext cx="428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4</a:t>
            </a:r>
            <a:endParaRPr lang="zh-CN" altLang="en-US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714612" y="1643050"/>
            <a:ext cx="428628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12</a:t>
            </a:r>
            <a:endParaRPr lang="zh-CN" altLang="en-US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428992" y="1643050"/>
            <a:ext cx="428628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13</a:t>
            </a:r>
            <a:endParaRPr lang="zh-CN" altLang="en-US" sz="1800" smtClean="0">
              <a:solidFill>
                <a:srgbClr val="FF000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143372" y="1643050"/>
            <a:ext cx="428628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14</a:t>
            </a:r>
            <a:endParaRPr lang="zh-CN" altLang="en-US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786314" y="1643050"/>
            <a:ext cx="428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5</a:t>
            </a:r>
            <a:endParaRPr lang="zh-CN" altLang="en-US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714612" y="2143116"/>
            <a:ext cx="428628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11</a:t>
            </a:r>
            <a:endParaRPr lang="zh-CN" altLang="en-US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428992" y="2143116"/>
            <a:ext cx="428628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16</a:t>
            </a:r>
            <a:endParaRPr lang="zh-CN" altLang="en-US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143372" y="2143116"/>
            <a:ext cx="428628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15</a:t>
            </a:r>
            <a:endParaRPr lang="zh-CN" altLang="en-US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786314" y="2143116"/>
            <a:ext cx="428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6</a:t>
            </a:r>
            <a:endParaRPr lang="zh-CN" altLang="en-US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714612" y="2631040"/>
            <a:ext cx="428628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10</a:t>
            </a:r>
            <a:endParaRPr lang="zh-CN" altLang="en-US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428992" y="2631040"/>
            <a:ext cx="428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9</a:t>
            </a:r>
            <a:endParaRPr lang="zh-CN" altLang="en-US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143372" y="2631040"/>
            <a:ext cx="428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8</a:t>
            </a:r>
            <a:endParaRPr lang="zh-CN" altLang="en-US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786314" y="2631040"/>
            <a:ext cx="428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7</a:t>
            </a:r>
            <a:endParaRPr lang="zh-CN" altLang="en-US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2357422" y="1071546"/>
            <a:ext cx="2928958" cy="214314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357158" y="500042"/>
            <a:ext cx="32147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2000" i="1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</a:t>
            </a:r>
            <a:r>
              <a:rPr lang="en-US" altLang="zh-CN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(0</a:t>
            </a:r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0</a:t>
            </a:r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4)</a:t>
            </a:r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为大问题</a:t>
            </a:r>
          </a:p>
        </p:txBody>
      </p:sp>
      <p:sp>
        <p:nvSpPr>
          <p:cNvPr id="24" name="矩形 23"/>
          <p:cNvSpPr/>
          <p:nvPr/>
        </p:nvSpPr>
        <p:spPr>
          <a:xfrm>
            <a:off x="3214678" y="1571612"/>
            <a:ext cx="1428760" cy="100013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TextBox 24"/>
          <p:cNvSpPr txBox="1"/>
          <p:nvPr/>
        </p:nvSpPr>
        <p:spPr>
          <a:xfrm>
            <a:off x="5420326" y="1283243"/>
            <a:ext cx="32950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2000" i="1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</a:t>
            </a:r>
            <a:r>
              <a:rPr lang="en-US" altLang="zh-CN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(1</a:t>
            </a:r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13</a:t>
            </a:r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2)</a:t>
            </a:r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为小问题</a:t>
            </a:r>
            <a:endParaRPr lang="zh-CN" altLang="en-US" sz="2000" smtClean="0">
              <a:solidFill>
                <a:srgbClr val="FF000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26" name="任意多边形 25"/>
          <p:cNvSpPr/>
          <p:nvPr/>
        </p:nvSpPr>
        <p:spPr>
          <a:xfrm>
            <a:off x="1559698" y="881045"/>
            <a:ext cx="792976" cy="858843"/>
          </a:xfrm>
          <a:custGeom>
            <a:avLst/>
            <a:gdLst>
              <a:gd name="connsiteX0" fmla="*/ 12700 w 698500"/>
              <a:gd name="connsiteY0" fmla="*/ 0 h 800100"/>
              <a:gd name="connsiteX1" fmla="*/ 22225 w 698500"/>
              <a:gd name="connsiteY1" fmla="*/ 228600 h 800100"/>
              <a:gd name="connsiteX2" fmla="*/ 146050 w 698500"/>
              <a:gd name="connsiteY2" fmla="*/ 533400 h 800100"/>
              <a:gd name="connsiteX3" fmla="*/ 698500 w 698500"/>
              <a:gd name="connsiteY3" fmla="*/ 800100 h 800100"/>
              <a:gd name="connsiteX0" fmla="*/ 22222 w 708022"/>
              <a:gd name="connsiteY0" fmla="*/ 0 h 800100"/>
              <a:gd name="connsiteX1" fmla="*/ 31747 w 708022"/>
              <a:gd name="connsiteY1" fmla="*/ 228600 h 800100"/>
              <a:gd name="connsiteX2" fmla="*/ 212704 w 708022"/>
              <a:gd name="connsiteY2" fmla="*/ 647700 h 800100"/>
              <a:gd name="connsiteX3" fmla="*/ 708022 w 708022"/>
              <a:gd name="connsiteY3" fmla="*/ 800100 h 800100"/>
              <a:gd name="connsiteX0" fmla="*/ 22222 w 708022"/>
              <a:gd name="connsiteY0" fmla="*/ 0 h 815976"/>
              <a:gd name="connsiteX1" fmla="*/ 31747 w 708022"/>
              <a:gd name="connsiteY1" fmla="*/ 228600 h 815976"/>
              <a:gd name="connsiteX2" fmla="*/ 212704 w 708022"/>
              <a:gd name="connsiteY2" fmla="*/ 647700 h 815976"/>
              <a:gd name="connsiteX3" fmla="*/ 355580 w 708022"/>
              <a:gd name="connsiteY3" fmla="*/ 790576 h 815976"/>
              <a:gd name="connsiteX4" fmla="*/ 708022 w 708022"/>
              <a:gd name="connsiteY4" fmla="*/ 800100 h 815976"/>
              <a:gd name="connsiteX0" fmla="*/ 96858 w 782658"/>
              <a:gd name="connsiteY0" fmla="*/ 33342 h 849318"/>
              <a:gd name="connsiteX1" fmla="*/ 1588 w 782658"/>
              <a:gd name="connsiteY1" fmla="*/ 38100 h 849318"/>
              <a:gd name="connsiteX2" fmla="*/ 106383 w 782658"/>
              <a:gd name="connsiteY2" fmla="*/ 261942 h 849318"/>
              <a:gd name="connsiteX3" fmla="*/ 287340 w 782658"/>
              <a:gd name="connsiteY3" fmla="*/ 681042 h 849318"/>
              <a:gd name="connsiteX4" fmla="*/ 430216 w 782658"/>
              <a:gd name="connsiteY4" fmla="*/ 823918 h 849318"/>
              <a:gd name="connsiteX5" fmla="*/ 782658 w 782658"/>
              <a:gd name="connsiteY5" fmla="*/ 833442 h 849318"/>
              <a:gd name="connsiteX0" fmla="*/ 99242 w 785042"/>
              <a:gd name="connsiteY0" fmla="*/ 43660 h 859636"/>
              <a:gd name="connsiteX1" fmla="*/ 3972 w 785042"/>
              <a:gd name="connsiteY1" fmla="*/ 48418 h 859636"/>
              <a:gd name="connsiteX2" fmla="*/ 75410 w 785042"/>
              <a:gd name="connsiteY2" fmla="*/ 334170 h 859636"/>
              <a:gd name="connsiteX3" fmla="*/ 289724 w 785042"/>
              <a:gd name="connsiteY3" fmla="*/ 691360 h 859636"/>
              <a:gd name="connsiteX4" fmla="*/ 432600 w 785042"/>
              <a:gd name="connsiteY4" fmla="*/ 834236 h 859636"/>
              <a:gd name="connsiteX5" fmla="*/ 785042 w 785042"/>
              <a:gd name="connsiteY5" fmla="*/ 843760 h 859636"/>
              <a:gd name="connsiteX0" fmla="*/ 99242 w 785042"/>
              <a:gd name="connsiteY0" fmla="*/ 43660 h 859636"/>
              <a:gd name="connsiteX1" fmla="*/ 3972 w 785042"/>
              <a:gd name="connsiteY1" fmla="*/ 48418 h 859636"/>
              <a:gd name="connsiteX2" fmla="*/ 75410 w 785042"/>
              <a:gd name="connsiteY2" fmla="*/ 334170 h 859636"/>
              <a:gd name="connsiteX3" fmla="*/ 218286 w 785042"/>
              <a:gd name="connsiteY3" fmla="*/ 691360 h 859636"/>
              <a:gd name="connsiteX4" fmla="*/ 432600 w 785042"/>
              <a:gd name="connsiteY4" fmla="*/ 834236 h 859636"/>
              <a:gd name="connsiteX5" fmla="*/ 785042 w 785042"/>
              <a:gd name="connsiteY5" fmla="*/ 843760 h 859636"/>
              <a:gd name="connsiteX0" fmla="*/ 1587 w 854095"/>
              <a:gd name="connsiteY0" fmla="*/ 47625 h 858843"/>
              <a:gd name="connsiteX1" fmla="*/ 73025 w 854095"/>
              <a:gd name="connsiteY1" fmla="*/ 47625 h 858843"/>
              <a:gd name="connsiteX2" fmla="*/ 144463 w 854095"/>
              <a:gd name="connsiteY2" fmla="*/ 333377 h 858843"/>
              <a:gd name="connsiteX3" fmla="*/ 287339 w 854095"/>
              <a:gd name="connsiteY3" fmla="*/ 690567 h 858843"/>
              <a:gd name="connsiteX4" fmla="*/ 501653 w 854095"/>
              <a:gd name="connsiteY4" fmla="*/ 833443 h 858843"/>
              <a:gd name="connsiteX5" fmla="*/ 854095 w 854095"/>
              <a:gd name="connsiteY5" fmla="*/ 842967 h 858843"/>
              <a:gd name="connsiteX0" fmla="*/ 11907 w 792976"/>
              <a:gd name="connsiteY0" fmla="*/ 47625 h 858843"/>
              <a:gd name="connsiteX1" fmla="*/ 11906 w 792976"/>
              <a:gd name="connsiteY1" fmla="*/ 47625 h 858843"/>
              <a:gd name="connsiteX2" fmla="*/ 83344 w 792976"/>
              <a:gd name="connsiteY2" fmla="*/ 333377 h 858843"/>
              <a:gd name="connsiteX3" fmla="*/ 226220 w 792976"/>
              <a:gd name="connsiteY3" fmla="*/ 690567 h 858843"/>
              <a:gd name="connsiteX4" fmla="*/ 440534 w 792976"/>
              <a:gd name="connsiteY4" fmla="*/ 833443 h 858843"/>
              <a:gd name="connsiteX5" fmla="*/ 792976 w 792976"/>
              <a:gd name="connsiteY5" fmla="*/ 842967 h 858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2976" h="858843">
                <a:moveTo>
                  <a:pt x="11907" y="47625"/>
                </a:moveTo>
                <a:cubicBezTo>
                  <a:pt x="10320" y="49212"/>
                  <a:pt x="0" y="0"/>
                  <a:pt x="11906" y="47625"/>
                </a:cubicBezTo>
                <a:cubicBezTo>
                  <a:pt x="23812" y="95250"/>
                  <a:pt x="47625" y="226220"/>
                  <a:pt x="83344" y="333377"/>
                </a:cubicBezTo>
                <a:cubicBezTo>
                  <a:pt x="119063" y="440534"/>
                  <a:pt x="166688" y="607223"/>
                  <a:pt x="226220" y="690567"/>
                </a:cubicBezTo>
                <a:cubicBezTo>
                  <a:pt x="285752" y="773911"/>
                  <a:pt x="346075" y="808043"/>
                  <a:pt x="440534" y="833443"/>
                </a:cubicBezTo>
                <a:cubicBezTo>
                  <a:pt x="534993" y="858843"/>
                  <a:pt x="742176" y="833442"/>
                  <a:pt x="792976" y="842967"/>
                </a:cubicBezTo>
              </a:path>
            </a:pathLst>
          </a:custGeom>
          <a:ln w="19050">
            <a:solidFill>
              <a:srgbClr val="FF00FF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27" name="任意多边形 26"/>
          <p:cNvSpPr/>
          <p:nvPr/>
        </p:nvSpPr>
        <p:spPr>
          <a:xfrm>
            <a:off x="4667249" y="1514462"/>
            <a:ext cx="838200" cy="200025"/>
          </a:xfrm>
          <a:custGeom>
            <a:avLst/>
            <a:gdLst>
              <a:gd name="connsiteX0" fmla="*/ 0 w 838200"/>
              <a:gd name="connsiteY0" fmla="*/ 200025 h 200025"/>
              <a:gd name="connsiteX1" fmla="*/ 838200 w 838200"/>
              <a:gd name="connsiteY1" fmla="*/ 0 h 200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38200" h="200025">
                <a:moveTo>
                  <a:pt x="0" y="200025"/>
                </a:moveTo>
                <a:lnTo>
                  <a:pt x="838200" y="0"/>
                </a:lnTo>
              </a:path>
            </a:pathLst>
          </a:custGeom>
          <a:ln w="19050">
            <a:solidFill>
              <a:srgbClr val="FF00FF"/>
            </a:solidFill>
            <a:headEnd type="arrow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30" name="下箭头 29"/>
          <p:cNvSpPr/>
          <p:nvPr/>
        </p:nvSpPr>
        <p:spPr bwMode="auto">
          <a:xfrm>
            <a:off x="3500430" y="3429000"/>
            <a:ext cx="357190" cy="500066"/>
          </a:xfrm>
          <a:prstGeom prst="downArrow">
            <a:avLst/>
          </a:prstGeom>
          <a:ln>
            <a:headEnd/>
            <a:tailEnd type="arrow" w="sm" len="sm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33" name="灯片编号占位符 3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57</a:t>
            </a:fld>
            <a:r>
              <a:rPr lang="en-US" altLang="zh-CN" smtClean="0"/>
              <a:t>/68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5" name="Text Box 3"/>
          <p:cNvSpPr txBox="1">
            <a:spLocks noChangeArrowheads="1"/>
          </p:cNvSpPr>
          <p:nvPr/>
        </p:nvSpPr>
        <p:spPr bwMode="auto">
          <a:xfrm>
            <a:off x="357158" y="214290"/>
            <a:ext cx="8286808" cy="62112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180000" tIns="180000" bIns="180000">
            <a:sp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void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Spiral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(int x,int y,int start,int n)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递归创建螺旋矩阵</a:t>
            </a:r>
          </a:p>
          <a:p>
            <a:pPr algn="l">
              <a:lnSpc>
                <a:spcPts val="19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if (n&lt;=0) return;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递归结束条件</a:t>
            </a:r>
          </a:p>
          <a:p>
            <a:pPr algn="l">
              <a:lnSpc>
                <a:spcPts val="19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if (n==1)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矩阵大小为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时</a:t>
            </a:r>
          </a:p>
          <a:p>
            <a:pPr algn="l">
              <a:lnSpc>
                <a:spcPts val="19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{  a[x][y]=start;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19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return;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19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}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19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for (int j=x;j&lt;x+n-1;j++)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上一行</a:t>
            </a:r>
          </a:p>
          <a:p>
            <a:pPr algn="l">
              <a:lnSpc>
                <a:spcPts val="19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{  a[y][j]=start;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19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start++;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19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}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19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for (int i=y;i&lt;y+n-1;i++)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右一列</a:t>
            </a:r>
          </a:p>
          <a:p>
            <a:pPr algn="l">
              <a:lnSpc>
                <a:spcPts val="19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{  a[i][x+n-1]=start;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19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start++;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19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}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19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for (int j=x+n-1;j&gt;x;j--)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下一行</a:t>
            </a:r>
          </a:p>
          <a:p>
            <a:pPr algn="l">
              <a:lnSpc>
                <a:spcPts val="19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{  a[y+n-1][j]=start;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19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start+=1;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19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}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19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for (int i=y+n-1;i&gt;y;i--)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左一列</a:t>
            </a:r>
          </a:p>
          <a:p>
            <a:pPr algn="l">
              <a:lnSpc>
                <a:spcPts val="19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{  a[i][x]=start;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19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start++;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19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}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19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Spiral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(x+1,y+1,start,n-2);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递归调用</a:t>
            </a:r>
          </a:p>
          <a:p>
            <a:pPr algn="l">
              <a:lnSpc>
                <a:spcPts val="19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lang="zh-CN" altLang="zh-CN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grpSp>
        <p:nvGrpSpPr>
          <p:cNvPr id="2" name="组合 3"/>
          <p:cNvGrpSpPr/>
          <p:nvPr/>
        </p:nvGrpSpPr>
        <p:grpSpPr>
          <a:xfrm>
            <a:off x="5786446" y="2357430"/>
            <a:ext cx="3000396" cy="2571768"/>
            <a:chOff x="2126301" y="1692372"/>
            <a:chExt cx="2760697" cy="2165256"/>
          </a:xfrm>
        </p:grpSpPr>
        <p:sp>
          <p:nvSpPr>
            <p:cNvPr id="6" name="Rectangle 16"/>
            <p:cNvSpPr>
              <a:spLocks noChangeArrowheads="1"/>
            </p:cNvSpPr>
            <p:nvPr/>
          </p:nvSpPr>
          <p:spPr bwMode="auto">
            <a:xfrm>
              <a:off x="2688154" y="2198669"/>
              <a:ext cx="1343797" cy="128810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7" name="Rectangle 15"/>
            <p:cNvSpPr>
              <a:spLocks noChangeArrowheads="1"/>
            </p:cNvSpPr>
            <p:nvPr/>
          </p:nvSpPr>
          <p:spPr bwMode="auto">
            <a:xfrm>
              <a:off x="2151351" y="2050179"/>
              <a:ext cx="443757" cy="2522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(</a:t>
              </a:r>
              <a:r>
                <a:rPr kumimoji="0" lang="en-US" altLang="zh-CN" sz="1600" b="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x</a:t>
              </a:r>
              <a:r>
                <a:rPr kumimoji="0" lang="en-US" altLang="zh-CN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,</a:t>
              </a:r>
              <a:r>
                <a:rPr kumimoji="0" lang="en-US" altLang="zh-CN" sz="1600" b="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y</a:t>
              </a:r>
              <a:r>
                <a:rPr kumimoji="0" lang="en-US" altLang="zh-CN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)</a:t>
              </a:r>
            </a:p>
          </p:txBody>
        </p:sp>
        <p:sp>
          <p:nvSpPr>
            <p:cNvPr id="8" name="Rectangle 14"/>
            <p:cNvSpPr>
              <a:spLocks noChangeArrowheads="1"/>
            </p:cNvSpPr>
            <p:nvPr/>
          </p:nvSpPr>
          <p:spPr bwMode="auto">
            <a:xfrm>
              <a:off x="2126301" y="1692372"/>
              <a:ext cx="1709003" cy="180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首元素值为</a:t>
              </a: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start</a:t>
              </a:r>
            </a:p>
          </p:txBody>
        </p:sp>
        <p:sp>
          <p:nvSpPr>
            <p:cNvPr id="9" name="Rectangle 13"/>
            <p:cNvSpPr>
              <a:spLocks noChangeArrowheads="1"/>
            </p:cNvSpPr>
            <p:nvPr/>
          </p:nvSpPr>
          <p:spPr bwMode="auto">
            <a:xfrm>
              <a:off x="2357422" y="3605374"/>
              <a:ext cx="980801" cy="2496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(</a:t>
              </a:r>
              <a:r>
                <a:rPr kumimoji="0" lang="en-US" altLang="zh-CN" sz="1600" b="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x</a:t>
              </a:r>
              <a:r>
                <a:rPr kumimoji="0" lang="en-US" altLang="zh-CN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,</a:t>
              </a:r>
              <a:r>
                <a:rPr kumimoji="0" lang="en-US" altLang="zh-CN" sz="1600" b="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y+n</a:t>
              </a:r>
              <a:r>
                <a:rPr kumimoji="0" lang="en-US" altLang="zh-CN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-1)</a:t>
              </a:r>
            </a:p>
          </p:txBody>
        </p:sp>
        <p:sp>
          <p:nvSpPr>
            <p:cNvPr id="10" name="Rectangle 12"/>
            <p:cNvSpPr>
              <a:spLocks noChangeArrowheads="1"/>
            </p:cNvSpPr>
            <p:nvPr/>
          </p:nvSpPr>
          <p:spPr bwMode="auto">
            <a:xfrm>
              <a:off x="3714744" y="1857364"/>
              <a:ext cx="949888" cy="2522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(</a:t>
              </a:r>
              <a:r>
                <a:rPr kumimoji="0" lang="en-US" altLang="zh-CN" sz="1600" b="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x</a:t>
              </a:r>
              <a:r>
                <a:rPr kumimoji="0" lang="en-US" altLang="zh-CN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+</a:t>
              </a:r>
              <a:r>
                <a:rPr kumimoji="0" lang="en-US" altLang="zh-CN" sz="1600" b="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n</a:t>
              </a:r>
              <a:r>
                <a:rPr kumimoji="0" lang="en-US" altLang="zh-CN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-1,</a:t>
              </a:r>
              <a:r>
                <a:rPr kumimoji="0" lang="en-US" altLang="zh-CN" sz="1600" b="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y</a:t>
              </a:r>
              <a:r>
                <a:rPr kumimoji="0" lang="en-US" altLang="zh-CN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)</a:t>
              </a:r>
            </a:p>
          </p:txBody>
        </p:sp>
        <p:sp>
          <p:nvSpPr>
            <p:cNvPr id="11" name="Rectangle 11"/>
            <p:cNvSpPr>
              <a:spLocks noChangeArrowheads="1"/>
            </p:cNvSpPr>
            <p:nvPr/>
          </p:nvSpPr>
          <p:spPr bwMode="auto">
            <a:xfrm>
              <a:off x="3571868" y="3605374"/>
              <a:ext cx="1315130" cy="2522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(</a:t>
              </a:r>
              <a:r>
                <a:rPr kumimoji="0" lang="en-US" altLang="zh-CN" sz="1600" b="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x</a:t>
              </a:r>
              <a:r>
                <a:rPr kumimoji="0" lang="en-US" altLang="zh-CN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+</a:t>
              </a:r>
              <a:r>
                <a:rPr kumimoji="0" lang="en-US" altLang="zh-CN" sz="1600" b="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n</a:t>
              </a:r>
              <a:r>
                <a:rPr kumimoji="0" lang="en-US" altLang="zh-CN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-1,</a:t>
              </a:r>
              <a:r>
                <a:rPr kumimoji="0" lang="en-US" altLang="zh-CN" sz="1600" b="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y</a:t>
              </a:r>
              <a:r>
                <a:rPr kumimoji="0" lang="en-US" altLang="zh-CN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+</a:t>
              </a:r>
              <a:r>
                <a:rPr kumimoji="0" lang="en-US" altLang="zh-CN" sz="1600" b="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n</a:t>
              </a:r>
              <a:r>
                <a:rPr kumimoji="0" lang="en-US" altLang="zh-CN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-1)</a:t>
              </a:r>
            </a:p>
          </p:txBody>
        </p:sp>
        <p:sp>
          <p:nvSpPr>
            <p:cNvPr id="12" name="Rectangle 10" descr="浅色上对角线"/>
            <p:cNvSpPr>
              <a:spLocks noChangeArrowheads="1"/>
            </p:cNvSpPr>
            <p:nvPr/>
          </p:nvSpPr>
          <p:spPr bwMode="auto">
            <a:xfrm>
              <a:off x="2704259" y="2238027"/>
              <a:ext cx="1090605" cy="203055"/>
            </a:xfrm>
            <a:prstGeom prst="rect">
              <a:avLst/>
            </a:prstGeom>
            <a:pattFill prst="ltUpDiag">
              <a:fgClr>
                <a:srgbClr val="000000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3" name="Rectangle 9" descr="浅色下对角线"/>
            <p:cNvSpPr>
              <a:spLocks noChangeArrowheads="1"/>
            </p:cNvSpPr>
            <p:nvPr/>
          </p:nvSpPr>
          <p:spPr bwMode="auto">
            <a:xfrm>
              <a:off x="3826177" y="2245184"/>
              <a:ext cx="177145" cy="961606"/>
            </a:xfrm>
            <a:prstGeom prst="rect">
              <a:avLst/>
            </a:prstGeom>
            <a:pattFill prst="ltDnDiag">
              <a:fgClr>
                <a:srgbClr val="000000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4" name="Rectangle 8" descr="浅色上对角线"/>
            <p:cNvSpPr>
              <a:spLocks noChangeArrowheads="1"/>
            </p:cNvSpPr>
            <p:nvPr/>
          </p:nvSpPr>
          <p:spPr bwMode="auto">
            <a:xfrm>
              <a:off x="2910928" y="3241676"/>
              <a:ext cx="1090605" cy="203055"/>
            </a:xfrm>
            <a:prstGeom prst="rect">
              <a:avLst/>
            </a:prstGeom>
            <a:pattFill prst="ltUpDiag">
              <a:fgClr>
                <a:srgbClr val="000000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5" name="Rectangle 7" descr="浅色下对角线"/>
            <p:cNvSpPr>
              <a:spLocks noChangeArrowheads="1"/>
            </p:cNvSpPr>
            <p:nvPr/>
          </p:nvSpPr>
          <p:spPr bwMode="auto">
            <a:xfrm>
              <a:off x="2712311" y="2475969"/>
              <a:ext cx="177145" cy="961606"/>
            </a:xfrm>
            <a:prstGeom prst="rect">
              <a:avLst/>
            </a:prstGeom>
            <a:pattFill prst="ltDnDiag">
              <a:fgClr>
                <a:srgbClr val="000000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6" name="AutoShape 6"/>
            <p:cNvSpPr>
              <a:spLocks noChangeShapeType="1"/>
            </p:cNvSpPr>
            <p:nvPr/>
          </p:nvSpPr>
          <p:spPr bwMode="auto">
            <a:xfrm flipH="1">
              <a:off x="2792831" y="1905267"/>
              <a:ext cx="895" cy="40611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arrow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7" name="Rectangle 5" descr="20%"/>
            <p:cNvSpPr>
              <a:spLocks noChangeArrowheads="1"/>
            </p:cNvSpPr>
            <p:nvPr/>
          </p:nvSpPr>
          <p:spPr bwMode="auto">
            <a:xfrm>
              <a:off x="2963713" y="2532324"/>
              <a:ext cx="786417" cy="617217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</p:grpSp>
      <p:sp>
        <p:nvSpPr>
          <p:cNvPr id="24" name="灯片编号占位符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58</a:t>
            </a:fld>
            <a:r>
              <a:rPr lang="en-US" altLang="zh-CN" smtClean="0"/>
              <a:t>/68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14480" y="428604"/>
            <a:ext cx="4572032" cy="2515085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int main()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int n=5;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Spiral(0,0,1,n);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for (int i=0;i&lt;n;i++)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{  for (int j=0;j&lt;n;j++)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printf("%3d",a[i][j]);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printf("\n");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}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lang="zh-CN" altLang="zh-CN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7" name="下箭头 6"/>
          <p:cNvSpPr/>
          <p:nvPr/>
        </p:nvSpPr>
        <p:spPr bwMode="auto">
          <a:xfrm>
            <a:off x="3571868" y="3214686"/>
            <a:ext cx="285752" cy="428628"/>
          </a:xfrm>
          <a:prstGeom prst="downArrow">
            <a:avLst/>
          </a:prstGeom>
          <a:ln>
            <a:headEnd/>
            <a:tailEnd type="arrow" w="sm" len="sm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pic>
        <p:nvPicPr>
          <p:cNvPr id="13313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14612" y="3714752"/>
            <a:ext cx="2286016" cy="19560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5"/>
          <p:cNvSpPr txBox="1"/>
          <p:nvPr/>
        </p:nvSpPr>
        <p:spPr>
          <a:xfrm>
            <a:off x="428596" y="285728"/>
            <a:ext cx="714380" cy="646331"/>
          </a:xfrm>
          <a:prstGeom prst="rect">
            <a:avLst/>
          </a:prstGeom>
          <a:blipFill>
            <a:blip r:embed="rId3" cstate="print"/>
            <a:tile tx="0" ty="0" sx="100000" sy="100000" flip="none" algn="tl"/>
          </a:blip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1800" b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00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Consolas" pitchFamily="49" charset="0"/>
                <a:ea typeface="仿宋" pitchFamily="49" charset="-122"/>
                <a:cs typeface="Consolas" pitchFamily="49" charset="0"/>
              </a:rPr>
              <a:t>程序验证</a:t>
            </a:r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59</a:t>
            </a:fld>
            <a:r>
              <a:rPr lang="en-US" altLang="zh-CN" smtClean="0"/>
              <a:t>/68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Text Box 2"/>
          <p:cNvSpPr txBox="1">
            <a:spLocks noChangeArrowheads="1"/>
          </p:cNvSpPr>
          <p:nvPr/>
        </p:nvSpPr>
        <p:spPr bwMode="auto">
          <a:xfrm>
            <a:off x="142876" y="451554"/>
            <a:ext cx="892971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ct val="50000"/>
              </a:spcBef>
            </a:pPr>
            <a:r>
              <a:rPr lang="en-US" altLang="zh-CN" sz="2000" smtClean="0">
                <a:solidFill>
                  <a:srgbClr val="FF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【</a:t>
            </a:r>
            <a:r>
              <a:rPr lang="zh-CN" altLang="en-US" sz="2000" smtClean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例</a:t>
            </a:r>
            <a:r>
              <a:rPr lang="en-US" altLang="zh-CN" sz="2000" smtClean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6.10</a:t>
            </a:r>
            <a:r>
              <a:rPr lang="en-US" altLang="zh-CN" sz="2000" smtClean="0">
                <a:solidFill>
                  <a:srgbClr val="FF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】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采</a:t>
            </a:r>
            <a:r>
              <a:rPr lang="zh-CN" altLang="en-US" sz="20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用递归算法求解</a:t>
            </a:r>
            <a:r>
              <a:rPr lang="zh-CN" altLang="en-US" sz="20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迷宫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问题，并</a:t>
            </a:r>
            <a:r>
              <a:rPr lang="zh-CN" altLang="en-US" sz="20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输出从入口到出口的</a:t>
            </a:r>
            <a:r>
              <a:rPr lang="zh-CN" altLang="en-US" sz="2000" dirty="0">
                <a:solidFill>
                  <a:srgbClr val="FF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所有迷宫路径</a:t>
            </a:r>
            <a:r>
              <a:rPr lang="zh-CN" altLang="en-US" sz="20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。 </a:t>
            </a:r>
          </a:p>
        </p:txBody>
      </p:sp>
      <p:sp>
        <p:nvSpPr>
          <p:cNvPr id="106499" name="Text Box 3"/>
          <p:cNvSpPr txBox="1">
            <a:spLocks noChangeArrowheads="1"/>
          </p:cNvSpPr>
          <p:nvPr/>
        </p:nvSpPr>
        <p:spPr bwMode="auto">
          <a:xfrm>
            <a:off x="642910" y="1285860"/>
            <a:ext cx="19288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ct val="50000"/>
              </a:spcBef>
            </a:pPr>
            <a:r>
              <a:rPr lang="zh-CN" altLang="en-US" sz="2000" smtClean="0">
                <a:solidFill>
                  <a:srgbClr val="0000FF"/>
                </a:solidFill>
                <a:ea typeface="楷体" pitchFamily="49" charset="-122"/>
                <a:cs typeface="Times New Roman" pitchFamily="18" charset="0"/>
              </a:rPr>
              <a:t>求解问题描述：</a:t>
            </a:r>
            <a:r>
              <a:rPr lang="en-US" altLang="zh-CN" sz="2000" smtClean="0">
                <a:solidFill>
                  <a:srgbClr val="0000FF"/>
                </a:solidFill>
                <a:ea typeface="楷体" pitchFamily="49" charset="-122"/>
                <a:cs typeface="Times New Roman" pitchFamily="18" charset="0"/>
              </a:rPr>
              <a:t> </a:t>
            </a:r>
            <a:endParaRPr lang="zh-CN" altLang="en-US" sz="2000" dirty="0">
              <a:solidFill>
                <a:srgbClr val="0000FF"/>
              </a:solidFill>
              <a:ea typeface="楷体" pitchFamily="49" charset="-122"/>
              <a:cs typeface="Times New Roman" pitchFamily="18" charset="0"/>
            </a:endParaRP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1428728" y="2114598"/>
            <a:ext cx="1079500" cy="503237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altLang="zh-CN" sz="180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en-US" altLang="zh-CN" sz="1800" smtClean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xi</a:t>
            </a:r>
            <a:r>
              <a:rPr lang="zh-CN" altLang="en-US" sz="1800" smtClean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1800" smtClean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yi</a:t>
            </a:r>
            <a:r>
              <a:rPr lang="en-US" altLang="zh-CN" sz="1800" dirty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)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072198" y="2114598"/>
            <a:ext cx="1079500" cy="503237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altLang="zh-CN" sz="180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en-US" altLang="zh-CN" sz="180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xe</a:t>
            </a:r>
            <a:r>
              <a:rPr lang="zh-CN" altLang="en-US" sz="180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180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ye</a:t>
            </a:r>
            <a:r>
              <a:rPr lang="en-US" altLang="zh-CN" sz="18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)</a:t>
            </a:r>
            <a:endParaRPr lang="en-US" altLang="zh-CN" sz="1800" dirty="0">
              <a:solidFill>
                <a:srgbClr val="C00000"/>
              </a:solidFill>
              <a:latin typeface="Consolas" pitchFamily="49" charset="0"/>
              <a:cs typeface="Consolas" pitchFamily="49" charset="0"/>
            </a:endParaRPr>
          </a:p>
        </p:txBody>
      </p:sp>
      <p:cxnSp>
        <p:nvCxnSpPr>
          <p:cNvPr id="8" name="直接箭头连接符 7"/>
          <p:cNvCxnSpPr>
            <a:stCxn id="5" idx="3"/>
            <a:endCxn id="6" idx="1"/>
          </p:cNvCxnSpPr>
          <p:nvPr/>
        </p:nvCxnSpPr>
        <p:spPr>
          <a:xfrm>
            <a:off x="2508228" y="2366217"/>
            <a:ext cx="356397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571736" y="1857364"/>
            <a:ext cx="3500462" cy="28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mgpath(xi</a:t>
            </a:r>
            <a:r>
              <a:rPr lang="zh-CN" altLang="en-US" sz="16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，</a:t>
            </a:r>
            <a:r>
              <a:rPr lang="en-US" altLang="zh-CN" sz="16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yi</a:t>
            </a:r>
            <a:r>
              <a:rPr lang="zh-CN" altLang="en-US" sz="16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，</a:t>
            </a:r>
            <a:r>
              <a:rPr lang="en-US" altLang="zh-CN" sz="16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xe</a:t>
            </a:r>
            <a:r>
              <a:rPr lang="zh-CN" altLang="en-US" sz="16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，</a:t>
            </a:r>
            <a:r>
              <a:rPr lang="en-US" altLang="zh-CN" sz="16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ye</a:t>
            </a:r>
            <a:r>
              <a:rPr lang="zh-CN" altLang="en-US" sz="16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，</a:t>
            </a:r>
            <a:r>
              <a:rPr lang="en-US" altLang="zh-CN" sz="16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path</a:t>
            </a:r>
            <a:r>
              <a:rPr lang="en-US" altLang="zh-CN" sz="1600" dirty="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)</a:t>
            </a:r>
            <a:endParaRPr lang="zh-CN" altLang="en-US" sz="1600" dirty="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15074" y="2686102"/>
            <a:ext cx="857256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b="0" dirty="0" smtClean="0">
                <a:solidFill>
                  <a:srgbClr val="0000FF"/>
                </a:solidFill>
                <a:latin typeface="仿宋" pitchFamily="49" charset="-122"/>
                <a:ea typeface="仿宋" pitchFamily="49" charset="-122"/>
              </a:rPr>
              <a:t>出口</a:t>
            </a:r>
            <a:endParaRPr lang="zh-CN" altLang="en-US" sz="1800" b="0" dirty="0">
              <a:solidFill>
                <a:srgbClr val="0000FF"/>
              </a:solidFill>
              <a:latin typeface="仿宋" pitchFamily="49" charset="-122"/>
              <a:ea typeface="仿宋" pitchFamily="49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0034" y="3143248"/>
            <a:ext cx="7786742" cy="78483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</a:pPr>
            <a:r>
              <a:rPr lang="en-US" altLang="zh-CN" sz="2000" b="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mgpath(int xi</a:t>
            </a:r>
            <a:r>
              <a:rPr lang="zh-CN" altLang="en-US" sz="2000" b="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2000" b="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int yi</a:t>
            </a:r>
            <a:r>
              <a:rPr lang="zh-CN" altLang="en-US" sz="2000" b="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2000" b="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int xe</a:t>
            </a:r>
            <a:r>
              <a:rPr lang="zh-CN" altLang="en-US" sz="2000" b="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2000" b="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int ye</a:t>
            </a:r>
            <a:r>
              <a:rPr lang="zh-CN" altLang="en-US" sz="2000" b="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2000" b="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Box path)</a:t>
            </a:r>
            <a:r>
              <a:rPr lang="zh-CN" altLang="en-US" sz="2000" b="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：求从</a:t>
            </a:r>
            <a:r>
              <a:rPr lang="en-US" altLang="zh-CN" sz="2000" b="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(xi</a:t>
            </a:r>
            <a:r>
              <a:rPr lang="zh-CN" altLang="en-US" sz="2000" b="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2000" b="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yi)</a:t>
            </a:r>
            <a:r>
              <a:rPr lang="zh-CN" altLang="en-US" sz="2000" b="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到</a:t>
            </a:r>
            <a:r>
              <a:rPr lang="en-US" altLang="zh-CN" sz="2000" b="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(xe</a:t>
            </a:r>
            <a:r>
              <a:rPr lang="zh-CN" altLang="en-US" sz="2000" b="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2000" b="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ye)</a:t>
            </a:r>
            <a:r>
              <a:rPr lang="zh-CN" altLang="en-US" sz="2000" b="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的迷宫路径，用</a:t>
            </a:r>
            <a:r>
              <a:rPr lang="en-US" altLang="zh-CN" sz="2000" b="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path</a:t>
            </a:r>
            <a:r>
              <a:rPr lang="zh-CN" altLang="en-US" sz="2000" b="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变量保存迷宫路径。</a:t>
            </a:r>
            <a:endParaRPr lang="zh-CN" altLang="en-US" sz="2000" b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571604" y="2657584"/>
            <a:ext cx="857256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b="0" dirty="0" smtClean="0">
                <a:solidFill>
                  <a:srgbClr val="0000FF"/>
                </a:solidFill>
                <a:latin typeface="仿宋" pitchFamily="49" charset="-122"/>
                <a:ea typeface="仿宋" pitchFamily="49" charset="-122"/>
              </a:rPr>
              <a:t>入</a:t>
            </a:r>
            <a:r>
              <a:rPr lang="zh-CN" altLang="en-US" sz="1800" b="0" smtClean="0">
                <a:solidFill>
                  <a:srgbClr val="0000FF"/>
                </a:solidFill>
                <a:latin typeface="仿宋" pitchFamily="49" charset="-122"/>
                <a:ea typeface="仿宋" pitchFamily="49" charset="-122"/>
              </a:rPr>
              <a:t>口</a:t>
            </a:r>
            <a:endParaRPr lang="zh-CN" altLang="en-US" sz="1800" b="0" dirty="0">
              <a:solidFill>
                <a:srgbClr val="0000FF"/>
              </a:solidFill>
              <a:latin typeface="仿宋" pitchFamily="49" charset="-122"/>
              <a:ea typeface="仿宋" pitchFamily="49" charset="-122"/>
            </a:endParaRPr>
          </a:p>
        </p:txBody>
      </p:sp>
      <p:sp>
        <p:nvSpPr>
          <p:cNvPr id="20" name="灯片编号占位符 1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60</a:t>
            </a:fld>
            <a:r>
              <a:rPr lang="en-US" altLang="zh-CN" smtClean="0"/>
              <a:t>/68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1571604" y="928670"/>
            <a:ext cx="1079500" cy="503237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xi</a:t>
            </a:r>
            <a:r>
              <a:rPr lang="zh-CN" altLang="en-US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yi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</a:t>
            </a: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6215074" y="928670"/>
            <a:ext cx="1079500" cy="503237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xe</a:t>
            </a:r>
            <a:r>
              <a:rPr lang="zh-CN" altLang="en-US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ye</a:t>
            </a:r>
            <a:r>
              <a:rPr lang="en-US" altLang="zh-CN" sz="1800" dirty="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</a:t>
            </a:r>
            <a:endParaRPr lang="en-US" altLang="zh-CN" sz="1800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cxnSp>
        <p:nvCxnSpPr>
          <p:cNvPr id="6" name="直接箭头连接符 5"/>
          <p:cNvCxnSpPr>
            <a:stCxn id="4" idx="3"/>
            <a:endCxn id="5" idx="1"/>
          </p:cNvCxnSpPr>
          <p:nvPr/>
        </p:nvCxnSpPr>
        <p:spPr>
          <a:xfrm>
            <a:off x="2651104" y="1180289"/>
            <a:ext cx="356397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857488" y="782236"/>
            <a:ext cx="32147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16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mgpath(xi</a:t>
            </a:r>
            <a:r>
              <a:rPr lang="zh-CN" altLang="en-US" sz="16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16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yi</a:t>
            </a:r>
            <a:r>
              <a:rPr lang="zh-CN" altLang="en-US" sz="16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16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xe</a:t>
            </a:r>
            <a:r>
              <a:rPr lang="zh-CN" altLang="en-US" sz="16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16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ye</a:t>
            </a:r>
            <a:r>
              <a:rPr lang="zh-CN" altLang="en-US" sz="16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16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path</a:t>
            </a:r>
            <a:r>
              <a:rPr lang="en-US" altLang="zh-CN" sz="1600" dirty="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</a:t>
            </a:r>
            <a:endParaRPr lang="zh-CN" altLang="en-US" sz="1600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58082" y="1043366"/>
            <a:ext cx="714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1800" b="0" dirty="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出口</a:t>
            </a:r>
            <a:endParaRPr lang="zh-CN" altLang="en-US" sz="1800" b="0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857620" y="2000240"/>
            <a:ext cx="1071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1800" dirty="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大问题</a:t>
            </a:r>
            <a:endParaRPr lang="zh-CN" altLang="en-US" sz="1800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8" name="左大括号 17"/>
          <p:cNvSpPr/>
          <p:nvPr/>
        </p:nvSpPr>
        <p:spPr>
          <a:xfrm rot="16200000">
            <a:off x="4231405" y="-269180"/>
            <a:ext cx="324000" cy="4071966"/>
          </a:xfrm>
          <a:prstGeom prst="leftBrac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57224" y="1043366"/>
            <a:ext cx="714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1800" b="0" dirty="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入</a:t>
            </a:r>
            <a:r>
              <a:rPr lang="zh-CN" altLang="en-US" sz="1800" b="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口</a:t>
            </a:r>
            <a:endParaRPr lang="zh-CN" altLang="en-US" sz="1800" b="0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grpSp>
        <p:nvGrpSpPr>
          <p:cNvPr id="2" name="组合 32"/>
          <p:cNvGrpSpPr/>
          <p:nvPr/>
        </p:nvGrpSpPr>
        <p:grpSpPr>
          <a:xfrm>
            <a:off x="571472" y="2571744"/>
            <a:ext cx="7366044" cy="3114754"/>
            <a:chOff x="571472" y="2571744"/>
            <a:chExt cx="7366044" cy="3114754"/>
          </a:xfrm>
        </p:grpSpPr>
        <p:sp>
          <p:nvSpPr>
            <p:cNvPr id="9" name="Rectangle 5"/>
            <p:cNvSpPr>
              <a:spLocks noChangeArrowheads="1"/>
            </p:cNvSpPr>
            <p:nvPr/>
          </p:nvSpPr>
          <p:spPr bwMode="auto">
            <a:xfrm>
              <a:off x="2786050" y="3671832"/>
              <a:ext cx="1079500" cy="503237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 sz="18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(</a:t>
              </a:r>
              <a:r>
                <a:rPr lang="en-US" altLang="zh-CN" sz="1800" i="1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i</a:t>
              </a:r>
              <a:r>
                <a:rPr lang="zh-CN" altLang="en-US" sz="18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，</a:t>
              </a:r>
              <a:r>
                <a:rPr lang="en-US" altLang="zh-CN" sz="1800" i="1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j</a:t>
              </a:r>
              <a:r>
                <a:rPr lang="en-US" altLang="zh-CN" sz="1800" dirty="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)</a:t>
              </a:r>
              <a:endPara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5" name="Rectangle 5"/>
            <p:cNvSpPr>
              <a:spLocks noChangeArrowheads="1"/>
            </p:cNvSpPr>
            <p:nvPr/>
          </p:nvSpPr>
          <p:spPr bwMode="auto">
            <a:xfrm>
              <a:off x="571472" y="3671832"/>
              <a:ext cx="1079500" cy="503237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 sz="18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(</a:t>
              </a:r>
              <a:r>
                <a:rPr lang="en-US" altLang="zh-CN" sz="18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xi</a:t>
              </a:r>
              <a:r>
                <a:rPr lang="zh-CN" altLang="en-US" sz="18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，</a:t>
              </a:r>
              <a:r>
                <a:rPr lang="en-US" altLang="zh-CN" sz="18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yi</a:t>
              </a:r>
              <a:r>
                <a:rPr lang="en-US" altLang="zh-CN" sz="1800" dirty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)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643042" y="4062417"/>
              <a:ext cx="10715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zh-CN" altLang="en-US" sz="1800" dirty="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走一步</a:t>
              </a:r>
              <a:endParaRPr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0" name="Rectangle 5"/>
            <p:cNvSpPr>
              <a:spLocks noChangeArrowheads="1"/>
            </p:cNvSpPr>
            <p:nvPr/>
          </p:nvSpPr>
          <p:spPr bwMode="auto">
            <a:xfrm>
              <a:off x="6858016" y="3671832"/>
              <a:ext cx="1079500" cy="503237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 sz="18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(</a:t>
              </a:r>
              <a:r>
                <a:rPr lang="en-US" altLang="zh-CN" sz="18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xe</a:t>
              </a:r>
              <a:r>
                <a:rPr lang="zh-CN" altLang="en-US" sz="18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，</a:t>
              </a:r>
              <a:r>
                <a:rPr lang="en-US" altLang="zh-CN" sz="18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ye</a:t>
              </a:r>
              <a:r>
                <a:rPr lang="en-US" altLang="zh-CN" sz="1800" dirty="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)</a:t>
              </a:r>
              <a:endPara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cxnSp>
          <p:nvCxnSpPr>
            <p:cNvPr id="11" name="直接箭头连接符 10"/>
            <p:cNvCxnSpPr>
              <a:stCxn id="9" idx="3"/>
              <a:endCxn id="10" idx="1"/>
            </p:cNvCxnSpPr>
            <p:nvPr/>
          </p:nvCxnSpPr>
          <p:spPr>
            <a:xfrm>
              <a:off x="3865550" y="3923451"/>
              <a:ext cx="2992466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3929058" y="3500438"/>
              <a:ext cx="30003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altLang="zh-CN" sz="16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mgpath(i,j,xe,ye,path</a:t>
              </a:r>
              <a:r>
                <a:rPr lang="en-US" altLang="zh-CN" sz="1600" dirty="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)</a:t>
              </a:r>
              <a:endParaRPr lang="zh-CN" altLang="en-US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143768" y="3286124"/>
              <a:ext cx="6429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zh-CN" altLang="en-US" sz="1800" b="0" dirty="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出口</a:t>
              </a:r>
              <a:endParaRPr lang="zh-CN" altLang="en-US" sz="1800" b="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929190" y="4714884"/>
              <a:ext cx="10715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altLang="en-US" sz="1800" dirty="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小问题</a:t>
              </a:r>
              <a:endParaRPr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20" name="左大括号 19"/>
            <p:cNvSpPr/>
            <p:nvPr/>
          </p:nvSpPr>
          <p:spPr>
            <a:xfrm rot="16200000">
              <a:off x="5316182" y="2825447"/>
              <a:ext cx="288000" cy="3348000"/>
            </a:xfrm>
            <a:prstGeom prst="leftBrac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26" name="下箭头 25"/>
            <p:cNvSpPr/>
            <p:nvPr/>
          </p:nvSpPr>
          <p:spPr>
            <a:xfrm>
              <a:off x="4286248" y="2571744"/>
              <a:ext cx="214314" cy="500066"/>
            </a:xfrm>
            <a:prstGeom prst="downArrow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2714612" y="5286388"/>
              <a:ext cx="342902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zh-CN" altLang="en-US" sz="2000" smtClean="0">
                  <a:solidFill>
                    <a:srgbClr val="FF00FF"/>
                  </a:solidFill>
                  <a:latin typeface="微软雅黑" pitchFamily="34" charset="-122"/>
                  <a:ea typeface="微软雅黑" pitchFamily="34" charset="-122"/>
                  <a:cs typeface="Consolas" pitchFamily="49" charset="0"/>
                </a:rPr>
                <a:t>大问题 ≡ 走一步 </a:t>
              </a:r>
              <a:r>
                <a:rPr lang="en-US" altLang="zh-CN" sz="2000" smtClean="0">
                  <a:solidFill>
                    <a:srgbClr val="FF00FF"/>
                  </a:solidFill>
                  <a:latin typeface="微软雅黑" pitchFamily="34" charset="-122"/>
                  <a:ea typeface="微软雅黑" pitchFamily="34" charset="-122"/>
                  <a:cs typeface="Consolas" pitchFamily="49" charset="0"/>
                </a:rPr>
                <a:t>+ </a:t>
              </a:r>
              <a:r>
                <a:rPr lang="zh-CN" altLang="en-US" sz="2000" smtClean="0">
                  <a:solidFill>
                    <a:srgbClr val="FF00FF"/>
                  </a:solidFill>
                  <a:latin typeface="微软雅黑" pitchFamily="34" charset="-122"/>
                  <a:ea typeface="微软雅黑" pitchFamily="34" charset="-122"/>
                  <a:cs typeface="Consolas" pitchFamily="49" charset="0"/>
                </a:rPr>
                <a:t>小问题</a:t>
              </a:r>
              <a:endParaRPr lang="zh-CN" altLang="en-US" sz="2000">
                <a:solidFill>
                  <a:srgbClr val="FF00FF"/>
                </a:solidFill>
                <a:latin typeface="微软雅黑" pitchFamily="34" charset="-122"/>
                <a:ea typeface="微软雅黑" pitchFamily="34" charset="-122"/>
                <a:cs typeface="Consolas" pitchFamily="49" charset="0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857224" y="3286124"/>
              <a:ext cx="6429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zh-CN" altLang="en-US" sz="1800" b="0" dirty="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入</a:t>
              </a:r>
              <a:r>
                <a:rPr lang="zh-CN" altLang="en-US" sz="1800" b="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口</a:t>
              </a:r>
              <a:endParaRPr lang="zh-CN" altLang="en-US" sz="1800" b="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cxnSp>
          <p:nvCxnSpPr>
            <p:cNvPr id="32" name="直接连接符 31"/>
            <p:cNvCxnSpPr>
              <a:stCxn id="15" idx="3"/>
              <a:endCxn id="9" idx="1"/>
            </p:cNvCxnSpPr>
            <p:nvPr/>
          </p:nvCxnSpPr>
          <p:spPr>
            <a:xfrm>
              <a:off x="1650972" y="3923451"/>
              <a:ext cx="1135078" cy="0"/>
            </a:xfrm>
            <a:prstGeom prst="line">
              <a:avLst/>
            </a:prstGeom>
            <a:ln w="19050"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36" name="灯片编号占位符 3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61</a:t>
            </a:fld>
            <a:r>
              <a:rPr lang="en-US" altLang="zh-CN" smtClean="0"/>
              <a:t>/68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357158" y="1186294"/>
            <a:ext cx="8429684" cy="40406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144000" tIns="108000" rIns="144000" bIns="108000">
            <a:spAutoFit/>
          </a:bodyPr>
          <a:lstStyle/>
          <a:p>
            <a:pPr algn="l"/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mgpath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(xi,yi,xe,ye,path) 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  <a:sym typeface="Symbol"/>
              </a:rPr>
              <a:t>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将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(xi,yi)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添加到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path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中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;</a:t>
            </a:r>
          </a:p>
          <a:p>
            <a:pPr algn="l"/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                    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置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mg[xi][yi]=-1;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/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                    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输出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path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中的迷宫路径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/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                    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恢复出口迷宫值为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0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即置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mg[xe][ye]=0</a:t>
            </a:r>
          </a:p>
          <a:p>
            <a:pPr algn="l"/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				</a:t>
            </a:r>
            <a:r>
              <a:rPr lang="zh-CN" altLang="zh-CN" sz="1800" smtClean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若</a:t>
            </a:r>
            <a:r>
              <a:rPr lang="en-US" altLang="zh-CN" sz="1800" smtClean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(xi,yi)=(xe,ye)</a:t>
            </a:r>
            <a:r>
              <a:rPr lang="zh-CN" altLang="zh-CN" sz="1800" smtClean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即找到出口</a:t>
            </a:r>
          </a:p>
          <a:p>
            <a:pPr algn="l"/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mgpath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(xi,yi,xe,ye,path) 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  <a:sym typeface="Symbol"/>
              </a:rPr>
              <a:t> 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将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(xi,yi)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添加到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path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中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;</a:t>
            </a:r>
          </a:p>
          <a:p>
            <a:pPr algn="l"/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                    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置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mg[xi][yi]=-1;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/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                    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对于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(xi,yi)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每个相邻可走方块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(i,j)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endParaRPr lang="en-US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/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                          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调用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mgpath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(i,j,xe,ye,path);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/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                    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从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(xi,yi)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回退一步即置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mg[xi][yi]=0;</a:t>
            </a:r>
          </a:p>
          <a:p>
            <a:pPr algn="l"/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				</a:t>
            </a:r>
            <a:r>
              <a:rPr lang="zh-CN" altLang="zh-CN" sz="1800" smtClean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若</a:t>
            </a:r>
            <a:r>
              <a:rPr lang="en-US" altLang="zh-CN" sz="1800" smtClean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(xi,yi)</a:t>
            </a:r>
            <a:r>
              <a:rPr lang="zh-CN" altLang="zh-CN" sz="1800" smtClean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不是出口</a:t>
            </a:r>
            <a:endParaRPr lang="zh-CN" altLang="zh-CN" sz="1800">
              <a:solidFill>
                <a:srgbClr val="FF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28596" y="571480"/>
            <a:ext cx="42148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2000" dirty="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求解迷宫问题的递归模型如下：</a:t>
            </a:r>
            <a:endParaRPr lang="zh-CN" altLang="en-US" sz="2000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62</a:t>
            </a:fld>
            <a:r>
              <a:rPr lang="en-US" altLang="zh-CN" smtClean="0"/>
              <a:t>/68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357158" y="571480"/>
            <a:ext cx="8286808" cy="547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180000" tIns="180000" bIns="180000">
            <a:sp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#include&lt;iostream&gt;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#include&lt;vector&gt;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using namespace std;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const int MAX=10;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迷宫最大的行、列数</a:t>
            </a: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int dx[]={-1,0,1,0};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//x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方向的偏移量</a:t>
            </a: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int dy[]={0,1,0,-1}; 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//y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方向的偏移量</a:t>
            </a: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int mg[MAX][MAX]={{0,1,0,0},{0,0,1,1},{0,1,0,0},{0,0,0,0}};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int m=4,n=4;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int cnt=0;	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累计迷宫路径数</a:t>
            </a: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class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Box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方块类</a:t>
            </a: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public: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int i;	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方块的行号</a:t>
            </a: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int j;	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方块的列号</a:t>
            </a: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Box(int i1,int j1):i(i1),j(j1) {}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重载构造函数</a:t>
            </a: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};</a:t>
            </a:r>
            <a:endParaRPr lang="zh-CN" altLang="zh-CN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63</a:t>
            </a:fld>
            <a:r>
              <a:rPr lang="en-US" altLang="zh-CN" smtClean="0"/>
              <a:t>/68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214282" y="357166"/>
            <a:ext cx="8643998" cy="50074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180000" tIns="180000" bIns="180000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void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mgpath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(int xi,int yi,int xe,int ye,vector&lt;Box&gt; path)</a:t>
            </a:r>
          </a:p>
          <a:p>
            <a:pPr algn="l">
              <a:lnSpc>
                <a:spcPts val="26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求解迷宫路径为</a:t>
            </a:r>
            <a:r>
              <a:rPr lang="en-US" altLang="zh-CN" sz="1800" smtClean="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:(xi,yi)-&gt;(xe,ye)</a:t>
            </a:r>
            <a:endParaRPr lang="zh-CN" altLang="zh-CN" sz="1800" smtClean="0">
              <a:solidFill>
                <a:srgbClr val="00660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6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Box b(xi,yi);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建立入口方块的对象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 </a:t>
            </a:r>
            <a:endParaRPr lang="zh-CN" altLang="zh-CN" sz="1800" smtClean="0">
              <a:solidFill>
                <a:schemeClr val="bg1">
                  <a:lumMod val="50000"/>
                </a:schemeClr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6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path.push_back(b);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将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添加的路径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path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中 </a:t>
            </a:r>
          </a:p>
          <a:p>
            <a:pPr algn="l">
              <a:lnSpc>
                <a:spcPts val="26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mg[xi][yi]=-1;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//mg[xi][yi]=-1</a:t>
            </a:r>
            <a:endParaRPr lang="zh-CN" altLang="zh-CN" sz="1800" smtClean="0">
              <a:solidFill>
                <a:schemeClr val="bg1">
                  <a:lumMod val="50000"/>
                </a:schemeClr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6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if (</a:t>
            </a:r>
            <a:r>
              <a:rPr lang="en-US" altLang="zh-CN" sz="1800" smtClean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xi==xe &amp;&amp; yi==ye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找到了出口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,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输出一个迷宫路径</a:t>
            </a:r>
          </a:p>
          <a:p>
            <a:pPr algn="l">
              <a:lnSpc>
                <a:spcPts val="26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{  cnt++;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6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printf("  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迷宫路径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%d: ",cnt);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输出第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cnt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条迷宫路径</a:t>
            </a:r>
          </a:p>
          <a:p>
            <a:pPr algn="l">
              <a:lnSpc>
                <a:spcPts val="26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for (int k=0;k&lt;path.size();k++)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6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   printf("(%d,%d) ",path[k].i,path[k].j);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6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printf("\n");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6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mg[xi][yi]=0;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从出口回退，恢复其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mg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值</a:t>
            </a:r>
          </a:p>
          <a:p>
            <a:pPr algn="l">
              <a:lnSpc>
                <a:spcPts val="26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return;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6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}</a:t>
            </a:r>
            <a:endParaRPr lang="zh-CN" altLang="zh-CN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64</a:t>
            </a:fld>
            <a:r>
              <a:rPr lang="en-US" altLang="zh-CN" smtClean="0"/>
              <a:t>/68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142844" y="357166"/>
            <a:ext cx="8858312" cy="44913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180000" tIns="180000" bIns="180000">
            <a:sp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else				       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//(xi,yi)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不是出口</a:t>
            </a:r>
          </a:p>
          <a:p>
            <a:pPr algn="l">
              <a:lnSpc>
                <a:spcPts val="27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{ int di=0;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7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while (di&lt;4)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处理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(xi,yi)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四周每个相邻方块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(i,j)</a:t>
            </a:r>
            <a:endParaRPr lang="zh-CN" altLang="zh-CN" sz="1800" smtClean="0">
              <a:solidFill>
                <a:schemeClr val="bg1">
                  <a:lumMod val="50000"/>
                </a:schemeClr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7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{ int i=xi+dx[di];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找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(xi,yi)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di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方位的相邻方块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(i,j)</a:t>
            </a:r>
            <a:endParaRPr lang="zh-CN" altLang="zh-CN" sz="1800" smtClean="0">
              <a:solidFill>
                <a:schemeClr val="bg1">
                  <a:lumMod val="50000"/>
                </a:schemeClr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7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int j=yi+dy[di];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7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if (i&gt;=0 &amp;&amp; i&lt;m &amp;&amp; j&gt;=0 &amp;&amp; j&lt;n &amp;&amp; mg[i][j]==0)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7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 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mgpath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(i,j,xe,ye,path);    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若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(i,j)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可走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,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从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(i,j)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查找路径</a:t>
            </a:r>
          </a:p>
          <a:p>
            <a:pPr algn="l">
              <a:lnSpc>
                <a:spcPts val="27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di++;			       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继续处理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(xi,yi)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的下一个相邻方块</a:t>
            </a:r>
          </a:p>
          <a:p>
            <a:pPr algn="l">
              <a:lnSpc>
                <a:spcPts val="27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}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7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mg[xi][yi]=0;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//(xi,yi)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所有相邻方块处理完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,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回退</a:t>
            </a:r>
          </a:p>
          <a:p>
            <a:pPr algn="l">
              <a:lnSpc>
                <a:spcPts val="27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}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7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lang="zh-CN" altLang="zh-CN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65</a:t>
            </a:fld>
            <a:r>
              <a:rPr lang="en-US" altLang="zh-CN" smtClean="0"/>
              <a:t>/68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1000100" y="214290"/>
            <a:ext cx="7572428" cy="27496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180000" tIns="180000" bIns="180000">
            <a:spAutoFit/>
          </a:bodyPr>
          <a:lstStyle/>
          <a:p>
            <a:pPr algn="l"/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int main()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/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int xi=0,yi=0,xe=3,ye=3;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/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printf("(%d,%d)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到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(%d,%d)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的所有迷宫路径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\n",xi,yi,xe,ye);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/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vector&lt;Box&gt; path;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/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mgpat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h(xi,yi,xe,ye,path); 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/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return 0;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/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lang="zh-CN" altLang="zh-CN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56" name="下箭头 55"/>
          <p:cNvSpPr/>
          <p:nvPr/>
        </p:nvSpPr>
        <p:spPr bwMode="auto">
          <a:xfrm>
            <a:off x="3643306" y="2928934"/>
            <a:ext cx="285752" cy="428628"/>
          </a:xfrm>
          <a:prstGeom prst="downArrow">
            <a:avLst/>
          </a:prstGeom>
          <a:ln>
            <a:headEnd/>
            <a:tailEnd type="arrow" w="sm" len="sm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grpSp>
        <p:nvGrpSpPr>
          <p:cNvPr id="2" name="组合 102"/>
          <p:cNvGrpSpPr/>
          <p:nvPr/>
        </p:nvGrpSpPr>
        <p:grpSpPr>
          <a:xfrm>
            <a:off x="1790719" y="4786322"/>
            <a:ext cx="3786214" cy="1658036"/>
            <a:chOff x="1285852" y="4929198"/>
            <a:chExt cx="3786214" cy="1658036"/>
          </a:xfrm>
        </p:grpSpPr>
        <p:grpSp>
          <p:nvGrpSpPr>
            <p:cNvPr id="3" name="组合 58"/>
            <p:cNvGrpSpPr/>
            <p:nvPr/>
          </p:nvGrpSpPr>
          <p:grpSpPr>
            <a:xfrm>
              <a:off x="1285852" y="4929198"/>
              <a:ext cx="1500198" cy="1658036"/>
              <a:chOff x="6715140" y="3560496"/>
              <a:chExt cx="1500198" cy="1658036"/>
            </a:xfrm>
          </p:grpSpPr>
          <p:sp>
            <p:nvSpPr>
              <p:cNvPr id="8" name="Rectangle 53"/>
              <p:cNvSpPr>
                <a:spLocks noChangeArrowheads="1"/>
              </p:cNvSpPr>
              <p:nvPr/>
            </p:nvSpPr>
            <p:spPr bwMode="auto">
              <a:xfrm>
                <a:off x="7054083" y="4830786"/>
                <a:ext cx="298126" cy="297132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10" name="Rectangle 51"/>
              <p:cNvSpPr>
                <a:spLocks noChangeArrowheads="1"/>
              </p:cNvSpPr>
              <p:nvPr/>
            </p:nvSpPr>
            <p:spPr bwMode="auto">
              <a:xfrm>
                <a:off x="7629265" y="4830786"/>
                <a:ext cx="298126" cy="297132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11" name="Rectangle 50"/>
              <p:cNvSpPr>
                <a:spLocks noChangeArrowheads="1"/>
              </p:cNvSpPr>
              <p:nvPr/>
            </p:nvSpPr>
            <p:spPr bwMode="auto">
              <a:xfrm>
                <a:off x="7341674" y="4830786"/>
                <a:ext cx="298126" cy="297132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12" name="Rectangle 49"/>
              <p:cNvSpPr>
                <a:spLocks noChangeArrowheads="1"/>
              </p:cNvSpPr>
              <p:nvPr/>
            </p:nvSpPr>
            <p:spPr bwMode="auto">
              <a:xfrm>
                <a:off x="7910536" y="4830786"/>
                <a:ext cx="298126" cy="29713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13" name="Rectangle 48"/>
              <p:cNvSpPr>
                <a:spLocks noChangeArrowheads="1"/>
              </p:cNvSpPr>
              <p:nvPr/>
            </p:nvSpPr>
            <p:spPr bwMode="auto">
              <a:xfrm>
                <a:off x="7054083" y="4524172"/>
                <a:ext cx="298126" cy="298185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15" name="Rectangle 46"/>
              <p:cNvSpPr>
                <a:spLocks noChangeArrowheads="1"/>
              </p:cNvSpPr>
              <p:nvPr/>
            </p:nvSpPr>
            <p:spPr bwMode="auto">
              <a:xfrm>
                <a:off x="7629265" y="4524172"/>
                <a:ext cx="298126" cy="298185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16" name="Rectangle 45"/>
              <p:cNvSpPr>
                <a:spLocks noChangeArrowheads="1"/>
              </p:cNvSpPr>
              <p:nvPr/>
            </p:nvSpPr>
            <p:spPr bwMode="auto">
              <a:xfrm>
                <a:off x="7341674" y="4524172"/>
                <a:ext cx="298126" cy="298185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17" name="Rectangle 44"/>
              <p:cNvSpPr>
                <a:spLocks noChangeArrowheads="1"/>
              </p:cNvSpPr>
              <p:nvPr/>
            </p:nvSpPr>
            <p:spPr bwMode="auto">
              <a:xfrm>
                <a:off x="7910536" y="4524172"/>
                <a:ext cx="298126" cy="298185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18" name="Rectangle 43"/>
              <p:cNvSpPr>
                <a:spLocks noChangeArrowheads="1"/>
              </p:cNvSpPr>
              <p:nvPr/>
            </p:nvSpPr>
            <p:spPr bwMode="auto">
              <a:xfrm>
                <a:off x="7054083" y="4211236"/>
                <a:ext cx="298126" cy="297132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7629265" y="4211236"/>
                <a:ext cx="298126" cy="29713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21" name="Rectangle 40"/>
              <p:cNvSpPr>
                <a:spLocks noChangeArrowheads="1"/>
              </p:cNvSpPr>
              <p:nvPr/>
            </p:nvSpPr>
            <p:spPr bwMode="auto">
              <a:xfrm>
                <a:off x="7341674" y="4211236"/>
                <a:ext cx="298126" cy="297132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22" name="Rectangle 39"/>
              <p:cNvSpPr>
                <a:spLocks noChangeArrowheads="1"/>
              </p:cNvSpPr>
              <p:nvPr/>
            </p:nvSpPr>
            <p:spPr bwMode="auto">
              <a:xfrm>
                <a:off x="7910536" y="4211236"/>
                <a:ext cx="298126" cy="29713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23" name="Rectangle 38"/>
              <p:cNvSpPr>
                <a:spLocks noChangeArrowheads="1"/>
              </p:cNvSpPr>
              <p:nvPr/>
            </p:nvSpPr>
            <p:spPr bwMode="auto">
              <a:xfrm>
                <a:off x="7054083" y="3904621"/>
                <a:ext cx="298126" cy="298185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25" name="Rectangle 36"/>
              <p:cNvSpPr>
                <a:spLocks noChangeArrowheads="1"/>
              </p:cNvSpPr>
              <p:nvPr/>
            </p:nvSpPr>
            <p:spPr bwMode="auto">
              <a:xfrm>
                <a:off x="7629265" y="3904621"/>
                <a:ext cx="298126" cy="298185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26" name="Rectangle 35"/>
              <p:cNvSpPr>
                <a:spLocks noChangeArrowheads="1"/>
              </p:cNvSpPr>
              <p:nvPr/>
            </p:nvSpPr>
            <p:spPr bwMode="auto">
              <a:xfrm>
                <a:off x="7341674" y="3904621"/>
                <a:ext cx="298126" cy="298185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27" name="Rectangle 34"/>
              <p:cNvSpPr>
                <a:spLocks noChangeArrowheads="1"/>
              </p:cNvSpPr>
              <p:nvPr/>
            </p:nvSpPr>
            <p:spPr bwMode="auto">
              <a:xfrm>
                <a:off x="7910536" y="3904621"/>
                <a:ext cx="298126" cy="298185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33" name="Rectangle 28"/>
              <p:cNvSpPr>
                <a:spLocks noChangeArrowheads="1"/>
              </p:cNvSpPr>
              <p:nvPr/>
            </p:nvSpPr>
            <p:spPr bwMode="auto">
              <a:xfrm>
                <a:off x="7342030" y="3560496"/>
                <a:ext cx="298126" cy="297132"/>
              </a:xfrm>
              <a:prstGeom prst="rect">
                <a:avLst/>
              </a:prstGeom>
              <a:solidFill>
                <a:srgbClr val="FFFFFF"/>
              </a:solidFill>
              <a:ln w="19050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400" i="0" u="none" strike="noStrike" cap="none" normalizeH="0" baseline="0" smtClean="0">
                    <a:ln>
                      <a:noFill/>
                    </a:ln>
                    <a:solidFill>
                      <a:schemeClr val="bg1">
                        <a:lumMod val="50000"/>
                      </a:schemeClr>
                    </a:solidFill>
                    <a:effectLst/>
                    <a:latin typeface="Consolas" pitchFamily="49" charset="0"/>
                    <a:ea typeface="宋体" pitchFamily="2" charset="-122"/>
                    <a:cs typeface="Consolas" pitchFamily="49" charset="0"/>
                  </a:rPr>
                  <a:t>1</a:t>
                </a:r>
              </a:p>
            </p:txBody>
          </p:sp>
          <p:sp>
            <p:nvSpPr>
              <p:cNvPr id="34" name="Rectangle 27"/>
              <p:cNvSpPr>
                <a:spLocks noChangeArrowheads="1"/>
              </p:cNvSpPr>
              <p:nvPr/>
            </p:nvSpPr>
            <p:spPr bwMode="auto">
              <a:xfrm>
                <a:off x="7057599" y="3560496"/>
                <a:ext cx="298126" cy="297132"/>
              </a:xfrm>
              <a:prstGeom prst="rect">
                <a:avLst/>
              </a:prstGeom>
              <a:solidFill>
                <a:srgbClr val="FFFFFF"/>
              </a:solidFill>
              <a:ln w="19050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400" i="0" u="none" strike="noStrike" cap="none" normalizeH="0" baseline="0" smtClean="0">
                    <a:ln>
                      <a:noFill/>
                    </a:ln>
                    <a:solidFill>
                      <a:schemeClr val="bg1">
                        <a:lumMod val="50000"/>
                      </a:schemeClr>
                    </a:solidFill>
                    <a:effectLst/>
                    <a:latin typeface="Consolas" pitchFamily="49" charset="0"/>
                    <a:ea typeface="宋体" pitchFamily="2" charset="-122"/>
                    <a:cs typeface="Consolas" pitchFamily="49" charset="0"/>
                  </a:rPr>
                  <a:t>0</a:t>
                </a:r>
              </a:p>
            </p:txBody>
          </p:sp>
          <p:sp>
            <p:nvSpPr>
              <p:cNvPr id="35" name="Rectangle 26"/>
              <p:cNvSpPr>
                <a:spLocks noChangeArrowheads="1"/>
              </p:cNvSpPr>
              <p:nvPr/>
            </p:nvSpPr>
            <p:spPr bwMode="auto">
              <a:xfrm>
                <a:off x="7917212" y="3560496"/>
                <a:ext cx="298126" cy="297132"/>
              </a:xfrm>
              <a:prstGeom prst="rect">
                <a:avLst/>
              </a:prstGeom>
              <a:solidFill>
                <a:srgbClr val="FFFFFF"/>
              </a:solidFill>
              <a:ln w="19050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400" i="0" u="none" strike="noStrike" cap="none" normalizeH="0" baseline="0" smtClean="0">
                    <a:ln>
                      <a:noFill/>
                    </a:ln>
                    <a:solidFill>
                      <a:schemeClr val="bg1">
                        <a:lumMod val="50000"/>
                      </a:schemeClr>
                    </a:solidFill>
                    <a:effectLst/>
                    <a:latin typeface="Consolas" pitchFamily="49" charset="0"/>
                    <a:ea typeface="宋体" pitchFamily="2" charset="-122"/>
                    <a:cs typeface="Consolas" pitchFamily="49" charset="0"/>
                  </a:rPr>
                  <a:t>3</a:t>
                </a:r>
              </a:p>
            </p:txBody>
          </p:sp>
          <p:sp>
            <p:nvSpPr>
              <p:cNvPr id="36" name="Rectangle 25"/>
              <p:cNvSpPr>
                <a:spLocks noChangeArrowheads="1"/>
              </p:cNvSpPr>
              <p:nvPr/>
            </p:nvSpPr>
            <p:spPr bwMode="auto">
              <a:xfrm>
                <a:off x="7629621" y="3560496"/>
                <a:ext cx="298126" cy="297132"/>
              </a:xfrm>
              <a:prstGeom prst="rect">
                <a:avLst/>
              </a:prstGeom>
              <a:solidFill>
                <a:srgbClr val="FFFFFF"/>
              </a:solidFill>
              <a:ln w="19050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400" i="0" u="none" strike="noStrike" cap="none" normalizeH="0" baseline="0" smtClean="0">
                    <a:ln>
                      <a:noFill/>
                    </a:ln>
                    <a:solidFill>
                      <a:schemeClr val="bg1">
                        <a:lumMod val="50000"/>
                      </a:schemeClr>
                    </a:solidFill>
                    <a:effectLst/>
                    <a:latin typeface="Consolas" pitchFamily="49" charset="0"/>
                    <a:ea typeface="宋体" pitchFamily="2" charset="-122"/>
                    <a:cs typeface="Consolas" pitchFamily="49" charset="0"/>
                  </a:rPr>
                  <a:t>2</a:t>
                </a:r>
              </a:p>
            </p:txBody>
          </p:sp>
          <p:sp>
            <p:nvSpPr>
              <p:cNvPr id="39" name="Rectangle 22"/>
              <p:cNvSpPr>
                <a:spLocks noChangeArrowheads="1"/>
              </p:cNvSpPr>
              <p:nvPr/>
            </p:nvSpPr>
            <p:spPr bwMode="auto">
              <a:xfrm>
                <a:off x="6715140" y="4920347"/>
                <a:ext cx="298126" cy="298185"/>
              </a:xfrm>
              <a:prstGeom prst="rect">
                <a:avLst/>
              </a:prstGeom>
              <a:solidFill>
                <a:srgbClr val="FFFFFF"/>
              </a:solidFill>
              <a:ln w="19050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400" i="0" u="none" strike="noStrike" cap="none" normalizeH="0" baseline="0" smtClean="0">
                    <a:ln>
                      <a:noFill/>
                    </a:ln>
                    <a:solidFill>
                      <a:schemeClr val="bg1">
                        <a:lumMod val="50000"/>
                      </a:schemeClr>
                    </a:solidFill>
                    <a:effectLst/>
                    <a:latin typeface="Consolas" pitchFamily="49" charset="0"/>
                    <a:ea typeface="宋体" pitchFamily="2" charset="-122"/>
                    <a:cs typeface="Consolas" pitchFamily="49" charset="0"/>
                  </a:rPr>
                  <a:t>3</a:t>
                </a:r>
              </a:p>
            </p:txBody>
          </p:sp>
          <p:sp>
            <p:nvSpPr>
              <p:cNvPr id="40" name="Rectangle 21"/>
              <p:cNvSpPr>
                <a:spLocks noChangeArrowheads="1"/>
              </p:cNvSpPr>
              <p:nvPr/>
            </p:nvSpPr>
            <p:spPr bwMode="auto">
              <a:xfrm>
                <a:off x="6715140" y="4607411"/>
                <a:ext cx="298126" cy="298185"/>
              </a:xfrm>
              <a:prstGeom prst="rect">
                <a:avLst/>
              </a:prstGeom>
              <a:solidFill>
                <a:srgbClr val="FFFFFF"/>
              </a:solidFill>
              <a:ln w="19050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400" i="0" u="none" strike="noStrike" cap="none" normalizeH="0" baseline="0" smtClean="0">
                    <a:ln>
                      <a:noFill/>
                    </a:ln>
                    <a:solidFill>
                      <a:schemeClr val="bg1">
                        <a:lumMod val="50000"/>
                      </a:schemeClr>
                    </a:solidFill>
                    <a:effectLst/>
                    <a:latin typeface="Consolas" pitchFamily="49" charset="0"/>
                    <a:ea typeface="宋体" pitchFamily="2" charset="-122"/>
                    <a:cs typeface="Consolas" pitchFamily="49" charset="0"/>
                  </a:rPr>
                  <a:t>2</a:t>
                </a:r>
              </a:p>
            </p:txBody>
          </p:sp>
          <p:sp>
            <p:nvSpPr>
              <p:cNvPr id="41" name="Rectangle 20"/>
              <p:cNvSpPr>
                <a:spLocks noChangeArrowheads="1"/>
              </p:cNvSpPr>
              <p:nvPr/>
            </p:nvSpPr>
            <p:spPr bwMode="auto">
              <a:xfrm>
                <a:off x="6715140" y="4300502"/>
                <a:ext cx="298126" cy="298185"/>
              </a:xfrm>
              <a:prstGeom prst="rect">
                <a:avLst/>
              </a:prstGeom>
              <a:solidFill>
                <a:srgbClr val="FFFFFF"/>
              </a:solidFill>
              <a:ln w="19050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400" i="0" u="none" strike="noStrike" cap="none" normalizeH="0" baseline="0" smtClean="0">
                    <a:ln>
                      <a:noFill/>
                    </a:ln>
                    <a:solidFill>
                      <a:schemeClr val="bg1">
                        <a:lumMod val="50000"/>
                      </a:schemeClr>
                    </a:solidFill>
                    <a:effectLst/>
                    <a:latin typeface="Consolas" pitchFamily="49" charset="0"/>
                    <a:ea typeface="宋体" pitchFamily="2" charset="-122"/>
                    <a:cs typeface="Consolas" pitchFamily="49" charset="0"/>
                  </a:rPr>
                  <a:t>1</a:t>
                </a:r>
              </a:p>
            </p:txBody>
          </p:sp>
          <p:sp>
            <p:nvSpPr>
              <p:cNvPr id="42" name="Rectangle 19"/>
              <p:cNvSpPr>
                <a:spLocks noChangeArrowheads="1"/>
              </p:cNvSpPr>
              <p:nvPr/>
            </p:nvSpPr>
            <p:spPr bwMode="auto">
              <a:xfrm>
                <a:off x="6715140" y="4000504"/>
                <a:ext cx="298126" cy="299239"/>
              </a:xfrm>
              <a:prstGeom prst="rect">
                <a:avLst/>
              </a:prstGeom>
              <a:solidFill>
                <a:srgbClr val="FFFFFF"/>
              </a:solidFill>
              <a:ln w="19050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400" i="0" u="none" strike="noStrike" cap="none" normalizeH="0" baseline="0" smtClean="0">
                    <a:ln>
                      <a:noFill/>
                    </a:ln>
                    <a:solidFill>
                      <a:schemeClr val="bg1">
                        <a:lumMod val="50000"/>
                      </a:schemeClr>
                    </a:solidFill>
                    <a:effectLst/>
                    <a:latin typeface="Consolas" pitchFamily="49" charset="0"/>
                    <a:ea typeface="宋体" pitchFamily="2" charset="-122"/>
                    <a:cs typeface="Consolas" pitchFamily="49" charset="0"/>
                  </a:rPr>
                  <a:t>0</a:t>
                </a:r>
              </a:p>
            </p:txBody>
          </p:sp>
        </p:grpSp>
        <p:grpSp>
          <p:nvGrpSpPr>
            <p:cNvPr id="4" name="组合 59"/>
            <p:cNvGrpSpPr/>
            <p:nvPr/>
          </p:nvGrpSpPr>
          <p:grpSpPr>
            <a:xfrm>
              <a:off x="3571868" y="4929198"/>
              <a:ext cx="1500198" cy="1658036"/>
              <a:chOff x="6715140" y="3560496"/>
              <a:chExt cx="1500198" cy="1658036"/>
            </a:xfrm>
          </p:grpSpPr>
          <p:sp>
            <p:nvSpPr>
              <p:cNvPr id="61" name="Rectangle 53"/>
              <p:cNvSpPr>
                <a:spLocks noChangeArrowheads="1"/>
              </p:cNvSpPr>
              <p:nvPr/>
            </p:nvSpPr>
            <p:spPr bwMode="auto">
              <a:xfrm>
                <a:off x="7054083" y="4830786"/>
                <a:ext cx="298126" cy="297132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62" name="Rectangle 51"/>
              <p:cNvSpPr>
                <a:spLocks noChangeArrowheads="1"/>
              </p:cNvSpPr>
              <p:nvPr/>
            </p:nvSpPr>
            <p:spPr bwMode="auto">
              <a:xfrm>
                <a:off x="7629265" y="4830786"/>
                <a:ext cx="298126" cy="297132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63" name="Rectangle 50"/>
              <p:cNvSpPr>
                <a:spLocks noChangeArrowheads="1"/>
              </p:cNvSpPr>
              <p:nvPr/>
            </p:nvSpPr>
            <p:spPr bwMode="auto">
              <a:xfrm>
                <a:off x="7341674" y="4830786"/>
                <a:ext cx="298126" cy="297132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64" name="Rectangle 49"/>
              <p:cNvSpPr>
                <a:spLocks noChangeArrowheads="1"/>
              </p:cNvSpPr>
              <p:nvPr/>
            </p:nvSpPr>
            <p:spPr bwMode="auto">
              <a:xfrm>
                <a:off x="7910536" y="4830786"/>
                <a:ext cx="298126" cy="29713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65" name="Rectangle 48"/>
              <p:cNvSpPr>
                <a:spLocks noChangeArrowheads="1"/>
              </p:cNvSpPr>
              <p:nvPr/>
            </p:nvSpPr>
            <p:spPr bwMode="auto">
              <a:xfrm>
                <a:off x="7054083" y="4524172"/>
                <a:ext cx="298126" cy="298185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66" name="Rectangle 46"/>
              <p:cNvSpPr>
                <a:spLocks noChangeArrowheads="1"/>
              </p:cNvSpPr>
              <p:nvPr/>
            </p:nvSpPr>
            <p:spPr bwMode="auto">
              <a:xfrm>
                <a:off x="7629265" y="4524172"/>
                <a:ext cx="298126" cy="298185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67" name="Rectangle 45"/>
              <p:cNvSpPr>
                <a:spLocks noChangeArrowheads="1"/>
              </p:cNvSpPr>
              <p:nvPr/>
            </p:nvSpPr>
            <p:spPr bwMode="auto">
              <a:xfrm>
                <a:off x="7341674" y="4524172"/>
                <a:ext cx="298126" cy="298185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68" name="Rectangle 44"/>
              <p:cNvSpPr>
                <a:spLocks noChangeArrowheads="1"/>
              </p:cNvSpPr>
              <p:nvPr/>
            </p:nvSpPr>
            <p:spPr bwMode="auto">
              <a:xfrm>
                <a:off x="7910536" y="4524172"/>
                <a:ext cx="298126" cy="298185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69" name="Rectangle 43"/>
              <p:cNvSpPr>
                <a:spLocks noChangeArrowheads="1"/>
              </p:cNvSpPr>
              <p:nvPr/>
            </p:nvSpPr>
            <p:spPr bwMode="auto">
              <a:xfrm>
                <a:off x="7054083" y="4211236"/>
                <a:ext cx="298126" cy="297132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70" name="Rectangle 41"/>
              <p:cNvSpPr>
                <a:spLocks noChangeArrowheads="1"/>
              </p:cNvSpPr>
              <p:nvPr/>
            </p:nvSpPr>
            <p:spPr bwMode="auto">
              <a:xfrm>
                <a:off x="7629265" y="4211236"/>
                <a:ext cx="298126" cy="29713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71" name="Rectangle 40"/>
              <p:cNvSpPr>
                <a:spLocks noChangeArrowheads="1"/>
              </p:cNvSpPr>
              <p:nvPr/>
            </p:nvSpPr>
            <p:spPr bwMode="auto">
              <a:xfrm>
                <a:off x="7341674" y="4211236"/>
                <a:ext cx="298126" cy="297132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72" name="Rectangle 39"/>
              <p:cNvSpPr>
                <a:spLocks noChangeArrowheads="1"/>
              </p:cNvSpPr>
              <p:nvPr/>
            </p:nvSpPr>
            <p:spPr bwMode="auto">
              <a:xfrm>
                <a:off x="7910536" y="4211236"/>
                <a:ext cx="298126" cy="29713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73" name="Rectangle 38"/>
              <p:cNvSpPr>
                <a:spLocks noChangeArrowheads="1"/>
              </p:cNvSpPr>
              <p:nvPr/>
            </p:nvSpPr>
            <p:spPr bwMode="auto">
              <a:xfrm>
                <a:off x="7054083" y="3904621"/>
                <a:ext cx="298126" cy="298185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74" name="Rectangle 36"/>
              <p:cNvSpPr>
                <a:spLocks noChangeArrowheads="1"/>
              </p:cNvSpPr>
              <p:nvPr/>
            </p:nvSpPr>
            <p:spPr bwMode="auto">
              <a:xfrm>
                <a:off x="7629265" y="3904621"/>
                <a:ext cx="298126" cy="298185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75" name="Rectangle 35"/>
              <p:cNvSpPr>
                <a:spLocks noChangeArrowheads="1"/>
              </p:cNvSpPr>
              <p:nvPr/>
            </p:nvSpPr>
            <p:spPr bwMode="auto">
              <a:xfrm>
                <a:off x="7341674" y="3904621"/>
                <a:ext cx="298126" cy="298185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76" name="Rectangle 34"/>
              <p:cNvSpPr>
                <a:spLocks noChangeArrowheads="1"/>
              </p:cNvSpPr>
              <p:nvPr/>
            </p:nvSpPr>
            <p:spPr bwMode="auto">
              <a:xfrm>
                <a:off x="7910536" y="3904621"/>
                <a:ext cx="298126" cy="298185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77" name="Rectangle 28"/>
              <p:cNvSpPr>
                <a:spLocks noChangeArrowheads="1"/>
              </p:cNvSpPr>
              <p:nvPr/>
            </p:nvSpPr>
            <p:spPr bwMode="auto">
              <a:xfrm>
                <a:off x="7342030" y="3560496"/>
                <a:ext cx="298126" cy="297132"/>
              </a:xfrm>
              <a:prstGeom prst="rect">
                <a:avLst/>
              </a:prstGeom>
              <a:solidFill>
                <a:srgbClr val="FFFFFF"/>
              </a:solidFill>
              <a:ln w="19050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400" i="0" u="none" strike="noStrike" cap="none" normalizeH="0" baseline="0" smtClean="0">
                    <a:ln>
                      <a:noFill/>
                    </a:ln>
                    <a:solidFill>
                      <a:schemeClr val="bg1">
                        <a:lumMod val="50000"/>
                      </a:schemeClr>
                    </a:solidFill>
                    <a:effectLst/>
                    <a:latin typeface="Consolas" pitchFamily="49" charset="0"/>
                    <a:ea typeface="宋体" pitchFamily="2" charset="-122"/>
                    <a:cs typeface="Consolas" pitchFamily="49" charset="0"/>
                  </a:rPr>
                  <a:t>1</a:t>
                </a:r>
              </a:p>
            </p:txBody>
          </p:sp>
          <p:sp>
            <p:nvSpPr>
              <p:cNvPr id="78" name="Rectangle 27"/>
              <p:cNvSpPr>
                <a:spLocks noChangeArrowheads="1"/>
              </p:cNvSpPr>
              <p:nvPr/>
            </p:nvSpPr>
            <p:spPr bwMode="auto">
              <a:xfrm>
                <a:off x="7057599" y="3560496"/>
                <a:ext cx="298126" cy="297132"/>
              </a:xfrm>
              <a:prstGeom prst="rect">
                <a:avLst/>
              </a:prstGeom>
              <a:solidFill>
                <a:srgbClr val="FFFFFF"/>
              </a:solidFill>
              <a:ln w="19050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400" i="0" u="none" strike="noStrike" cap="none" normalizeH="0" baseline="0" smtClean="0">
                    <a:ln>
                      <a:noFill/>
                    </a:ln>
                    <a:solidFill>
                      <a:schemeClr val="bg1">
                        <a:lumMod val="50000"/>
                      </a:schemeClr>
                    </a:solidFill>
                    <a:effectLst/>
                    <a:latin typeface="Consolas" pitchFamily="49" charset="0"/>
                    <a:ea typeface="宋体" pitchFamily="2" charset="-122"/>
                    <a:cs typeface="Consolas" pitchFamily="49" charset="0"/>
                  </a:rPr>
                  <a:t>0</a:t>
                </a:r>
              </a:p>
            </p:txBody>
          </p:sp>
          <p:sp>
            <p:nvSpPr>
              <p:cNvPr id="79" name="Rectangle 26"/>
              <p:cNvSpPr>
                <a:spLocks noChangeArrowheads="1"/>
              </p:cNvSpPr>
              <p:nvPr/>
            </p:nvSpPr>
            <p:spPr bwMode="auto">
              <a:xfrm>
                <a:off x="7917212" y="3560496"/>
                <a:ext cx="298126" cy="297132"/>
              </a:xfrm>
              <a:prstGeom prst="rect">
                <a:avLst/>
              </a:prstGeom>
              <a:solidFill>
                <a:srgbClr val="FFFFFF"/>
              </a:solidFill>
              <a:ln w="19050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400" i="0" u="none" strike="noStrike" cap="none" normalizeH="0" baseline="0" smtClean="0">
                    <a:ln>
                      <a:noFill/>
                    </a:ln>
                    <a:solidFill>
                      <a:schemeClr val="bg1">
                        <a:lumMod val="50000"/>
                      </a:schemeClr>
                    </a:solidFill>
                    <a:effectLst/>
                    <a:latin typeface="Consolas" pitchFamily="49" charset="0"/>
                    <a:ea typeface="宋体" pitchFamily="2" charset="-122"/>
                    <a:cs typeface="Consolas" pitchFamily="49" charset="0"/>
                  </a:rPr>
                  <a:t>3</a:t>
                </a:r>
              </a:p>
            </p:txBody>
          </p:sp>
          <p:sp>
            <p:nvSpPr>
              <p:cNvPr id="80" name="Rectangle 25"/>
              <p:cNvSpPr>
                <a:spLocks noChangeArrowheads="1"/>
              </p:cNvSpPr>
              <p:nvPr/>
            </p:nvSpPr>
            <p:spPr bwMode="auto">
              <a:xfrm>
                <a:off x="7629621" y="3560496"/>
                <a:ext cx="298126" cy="297132"/>
              </a:xfrm>
              <a:prstGeom prst="rect">
                <a:avLst/>
              </a:prstGeom>
              <a:solidFill>
                <a:srgbClr val="FFFFFF"/>
              </a:solidFill>
              <a:ln w="19050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400" i="0" u="none" strike="noStrike" cap="none" normalizeH="0" baseline="0" smtClean="0">
                    <a:ln>
                      <a:noFill/>
                    </a:ln>
                    <a:solidFill>
                      <a:schemeClr val="bg1">
                        <a:lumMod val="50000"/>
                      </a:schemeClr>
                    </a:solidFill>
                    <a:effectLst/>
                    <a:latin typeface="Consolas" pitchFamily="49" charset="0"/>
                    <a:ea typeface="宋体" pitchFamily="2" charset="-122"/>
                    <a:cs typeface="Consolas" pitchFamily="49" charset="0"/>
                  </a:rPr>
                  <a:t>2</a:t>
                </a:r>
              </a:p>
            </p:txBody>
          </p:sp>
          <p:sp>
            <p:nvSpPr>
              <p:cNvPr id="81" name="Rectangle 22"/>
              <p:cNvSpPr>
                <a:spLocks noChangeArrowheads="1"/>
              </p:cNvSpPr>
              <p:nvPr/>
            </p:nvSpPr>
            <p:spPr bwMode="auto">
              <a:xfrm>
                <a:off x="6715140" y="4920347"/>
                <a:ext cx="298126" cy="298185"/>
              </a:xfrm>
              <a:prstGeom prst="rect">
                <a:avLst/>
              </a:prstGeom>
              <a:solidFill>
                <a:srgbClr val="FFFFFF"/>
              </a:solidFill>
              <a:ln w="19050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400" i="0" u="none" strike="noStrike" cap="none" normalizeH="0" baseline="0" smtClean="0">
                    <a:ln>
                      <a:noFill/>
                    </a:ln>
                    <a:solidFill>
                      <a:schemeClr val="bg1">
                        <a:lumMod val="50000"/>
                      </a:schemeClr>
                    </a:solidFill>
                    <a:effectLst/>
                    <a:latin typeface="Consolas" pitchFamily="49" charset="0"/>
                    <a:ea typeface="宋体" pitchFamily="2" charset="-122"/>
                    <a:cs typeface="Consolas" pitchFamily="49" charset="0"/>
                  </a:rPr>
                  <a:t>3</a:t>
                </a:r>
              </a:p>
            </p:txBody>
          </p:sp>
          <p:sp>
            <p:nvSpPr>
              <p:cNvPr id="82" name="Rectangle 21"/>
              <p:cNvSpPr>
                <a:spLocks noChangeArrowheads="1"/>
              </p:cNvSpPr>
              <p:nvPr/>
            </p:nvSpPr>
            <p:spPr bwMode="auto">
              <a:xfrm>
                <a:off x="6715140" y="4607411"/>
                <a:ext cx="298126" cy="298185"/>
              </a:xfrm>
              <a:prstGeom prst="rect">
                <a:avLst/>
              </a:prstGeom>
              <a:solidFill>
                <a:srgbClr val="FFFFFF"/>
              </a:solidFill>
              <a:ln w="19050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400" i="0" u="none" strike="noStrike" cap="none" normalizeH="0" baseline="0" smtClean="0">
                    <a:ln>
                      <a:noFill/>
                    </a:ln>
                    <a:solidFill>
                      <a:schemeClr val="bg1">
                        <a:lumMod val="50000"/>
                      </a:schemeClr>
                    </a:solidFill>
                    <a:effectLst/>
                    <a:latin typeface="Consolas" pitchFamily="49" charset="0"/>
                    <a:ea typeface="宋体" pitchFamily="2" charset="-122"/>
                    <a:cs typeface="Consolas" pitchFamily="49" charset="0"/>
                  </a:rPr>
                  <a:t>2</a:t>
                </a:r>
              </a:p>
            </p:txBody>
          </p:sp>
          <p:sp>
            <p:nvSpPr>
              <p:cNvPr id="83" name="Rectangle 20"/>
              <p:cNvSpPr>
                <a:spLocks noChangeArrowheads="1"/>
              </p:cNvSpPr>
              <p:nvPr/>
            </p:nvSpPr>
            <p:spPr bwMode="auto">
              <a:xfrm>
                <a:off x="6715140" y="4300502"/>
                <a:ext cx="298126" cy="298185"/>
              </a:xfrm>
              <a:prstGeom prst="rect">
                <a:avLst/>
              </a:prstGeom>
              <a:solidFill>
                <a:srgbClr val="FFFFFF"/>
              </a:solidFill>
              <a:ln w="19050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400" i="0" u="none" strike="noStrike" cap="none" normalizeH="0" baseline="0" smtClean="0">
                    <a:ln>
                      <a:noFill/>
                    </a:ln>
                    <a:solidFill>
                      <a:schemeClr val="bg1">
                        <a:lumMod val="50000"/>
                      </a:schemeClr>
                    </a:solidFill>
                    <a:effectLst/>
                    <a:latin typeface="Consolas" pitchFamily="49" charset="0"/>
                    <a:ea typeface="宋体" pitchFamily="2" charset="-122"/>
                    <a:cs typeface="Consolas" pitchFamily="49" charset="0"/>
                  </a:rPr>
                  <a:t>1</a:t>
                </a:r>
              </a:p>
            </p:txBody>
          </p:sp>
          <p:sp>
            <p:nvSpPr>
              <p:cNvPr id="84" name="Rectangle 19"/>
              <p:cNvSpPr>
                <a:spLocks noChangeArrowheads="1"/>
              </p:cNvSpPr>
              <p:nvPr/>
            </p:nvSpPr>
            <p:spPr bwMode="auto">
              <a:xfrm>
                <a:off x="6715140" y="4000504"/>
                <a:ext cx="298126" cy="299239"/>
              </a:xfrm>
              <a:prstGeom prst="rect">
                <a:avLst/>
              </a:prstGeom>
              <a:solidFill>
                <a:srgbClr val="FFFFFF"/>
              </a:solidFill>
              <a:ln w="19050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400" i="0" u="none" strike="noStrike" cap="none" normalizeH="0" baseline="0" smtClean="0">
                    <a:ln>
                      <a:noFill/>
                    </a:ln>
                    <a:solidFill>
                      <a:schemeClr val="bg1">
                        <a:lumMod val="50000"/>
                      </a:schemeClr>
                    </a:solidFill>
                    <a:effectLst/>
                    <a:latin typeface="Consolas" pitchFamily="49" charset="0"/>
                    <a:ea typeface="宋体" pitchFamily="2" charset="-122"/>
                    <a:cs typeface="Consolas" pitchFamily="49" charset="0"/>
                  </a:rPr>
                  <a:t>0</a:t>
                </a:r>
              </a:p>
            </p:txBody>
          </p:sp>
        </p:grpSp>
        <p:cxnSp>
          <p:nvCxnSpPr>
            <p:cNvPr id="92" name="直接连接符 91"/>
            <p:cNvCxnSpPr/>
            <p:nvPr/>
          </p:nvCxnSpPr>
          <p:spPr>
            <a:xfrm rot="10800000" flipV="1">
              <a:off x="1785918" y="5458872"/>
              <a:ext cx="0" cy="925638"/>
            </a:xfrm>
            <a:prstGeom prst="line">
              <a:avLst/>
            </a:prstGeom>
            <a:ln w="19050">
              <a:solidFill>
                <a:srgbClr val="FF00FF"/>
              </a:solidFill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/>
          </p:nvCxnSpPr>
          <p:spPr>
            <a:xfrm>
              <a:off x="1785918" y="6394414"/>
              <a:ext cx="571504" cy="0"/>
            </a:xfrm>
            <a:prstGeom prst="line">
              <a:avLst/>
            </a:prstGeom>
            <a:ln w="19050">
              <a:solidFill>
                <a:srgbClr val="FF00FF"/>
              </a:solidFill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6" name="直接连接符 95"/>
            <p:cNvCxnSpPr/>
            <p:nvPr/>
          </p:nvCxnSpPr>
          <p:spPr>
            <a:xfrm rot="5400000" flipH="1" flipV="1">
              <a:off x="2178827" y="6215819"/>
              <a:ext cx="357190" cy="0"/>
            </a:xfrm>
            <a:prstGeom prst="line">
              <a:avLst/>
            </a:prstGeom>
            <a:ln w="19050">
              <a:solidFill>
                <a:srgbClr val="FF00FF"/>
              </a:solidFill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8" name="直接连接符 97"/>
            <p:cNvCxnSpPr/>
            <p:nvPr/>
          </p:nvCxnSpPr>
          <p:spPr>
            <a:xfrm rot="5400000" flipH="1" flipV="1">
              <a:off x="2489675" y="5896589"/>
              <a:ext cx="0" cy="281271"/>
            </a:xfrm>
            <a:prstGeom prst="line">
              <a:avLst/>
            </a:prstGeom>
            <a:ln w="19050">
              <a:solidFill>
                <a:srgbClr val="FF00FF"/>
              </a:solidFill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0" name="直接箭头连接符 99"/>
            <p:cNvCxnSpPr/>
            <p:nvPr/>
          </p:nvCxnSpPr>
          <p:spPr>
            <a:xfrm rot="16200000" flipH="1">
              <a:off x="2435649" y="6229752"/>
              <a:ext cx="396000" cy="0"/>
            </a:xfrm>
            <a:prstGeom prst="straightConnector1">
              <a:avLst/>
            </a:prstGeom>
            <a:ln w="19050">
              <a:solidFill>
                <a:srgbClr val="FF00FF"/>
              </a:solidFill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/>
          </p:nvCxnSpPr>
          <p:spPr>
            <a:xfrm rot="10800000" flipV="1">
              <a:off x="4071934" y="5429264"/>
              <a:ext cx="0" cy="925638"/>
            </a:xfrm>
            <a:prstGeom prst="line">
              <a:avLst/>
            </a:prstGeom>
            <a:ln w="19050">
              <a:solidFill>
                <a:srgbClr val="FF00FF"/>
              </a:solidFill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2" name="直接连接符 101"/>
            <p:cNvCxnSpPr/>
            <p:nvPr/>
          </p:nvCxnSpPr>
          <p:spPr>
            <a:xfrm>
              <a:off x="4071934" y="6364806"/>
              <a:ext cx="864000" cy="0"/>
            </a:xfrm>
            <a:prstGeom prst="line">
              <a:avLst/>
            </a:prstGeom>
            <a:ln w="19050">
              <a:solidFill>
                <a:srgbClr val="FF00FF"/>
              </a:solidFill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90653" y="3357562"/>
            <a:ext cx="5495925" cy="1276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6" name="TextBox 5"/>
          <p:cNvSpPr txBox="1"/>
          <p:nvPr/>
        </p:nvSpPr>
        <p:spPr>
          <a:xfrm>
            <a:off x="142844" y="285728"/>
            <a:ext cx="714380" cy="646331"/>
          </a:xfrm>
          <a:prstGeom prst="rect">
            <a:avLst/>
          </a:prstGeom>
          <a:blipFill>
            <a:blip r:embed="rId3" cstate="print"/>
            <a:tile tx="0" ty="0" sx="100000" sy="100000" flip="none" algn="tl"/>
          </a:blip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1800" b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00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Consolas" pitchFamily="49" charset="0"/>
                <a:ea typeface="仿宋" pitchFamily="49" charset="-122"/>
                <a:cs typeface="Consolas" pitchFamily="49" charset="0"/>
              </a:rPr>
              <a:t>程序验证</a:t>
            </a:r>
          </a:p>
        </p:txBody>
      </p:sp>
      <p:sp>
        <p:nvSpPr>
          <p:cNvPr id="90" name="灯片编号占位符 8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66</a:t>
            </a:fld>
            <a:r>
              <a:rPr lang="en-US" altLang="zh-CN" smtClean="0"/>
              <a:t>/68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2" name="Text Box 4"/>
          <p:cNvSpPr txBox="1">
            <a:spLocks noChangeArrowheads="1"/>
          </p:cNvSpPr>
          <p:nvPr/>
        </p:nvSpPr>
        <p:spPr bwMode="auto">
          <a:xfrm>
            <a:off x="1500166" y="2000240"/>
            <a:ext cx="6429420" cy="5733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tIns="144000" bIns="180000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000">
                <a:ea typeface="楷体" pitchFamily="49" charset="-122"/>
                <a:cs typeface="Times New Roman" pitchFamily="18" charset="0"/>
              </a:rPr>
              <a:t>　</a:t>
            </a:r>
            <a:r>
              <a:rPr lang="zh-CN" altLang="en-US" sz="2000" smtClean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迷</a:t>
            </a:r>
            <a:r>
              <a:rPr lang="zh-CN" altLang="en-US" sz="2000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宫问题的递归求解与用栈和队列求解有</a:t>
            </a:r>
            <a:r>
              <a:rPr lang="zh-CN" altLang="en-US" sz="200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什么</a:t>
            </a:r>
            <a:r>
              <a:rPr lang="zh-CN" altLang="en-US" sz="2000" smtClean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异同？</a:t>
            </a:r>
            <a:endParaRPr lang="zh-CN" altLang="en-US" sz="2000" dirty="0">
              <a:solidFill>
                <a:srgbClr val="0000FF"/>
              </a:solidFill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5786" y="1357298"/>
            <a:ext cx="714380" cy="1135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67</a:t>
            </a:fld>
            <a:r>
              <a:rPr lang="en-US" altLang="zh-CN" smtClean="0"/>
              <a:t>/68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285852" y="571480"/>
            <a:ext cx="6286544" cy="52322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2800" spc="50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6.3 </a:t>
            </a:r>
            <a:r>
              <a:rPr lang="zh-CN" altLang="zh-CN" sz="2800" spc="50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递归算法</a:t>
            </a:r>
            <a:r>
              <a:rPr lang="zh-CN" altLang="en-US" sz="2800" spc="50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转换为非递归算法</a:t>
            </a:r>
            <a:endParaRPr lang="zh-CN" altLang="en-US" sz="2800" spc="5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pic>
        <p:nvPicPr>
          <p:cNvPr id="1034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14612" y="1643050"/>
            <a:ext cx="3357586" cy="20955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4071934" y="4071942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en-US" sz="200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自学</a:t>
            </a:r>
            <a:endParaRPr lang="zh-CN" altLang="en-US" sz="2000" smtClean="0">
              <a:solidFill>
                <a:srgbClr val="0000FF"/>
              </a:solidFill>
              <a:latin typeface="微软雅黑" pitchFamily="34" charset="-122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68</a:t>
            </a:fld>
            <a:r>
              <a:rPr lang="en-US" altLang="zh-CN" smtClean="0"/>
              <a:t>/68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 w="19050">
          <a:headEnd/>
          <a:tailEnd type="arrow" w="sm" len="sm"/>
        </a:ln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>
          <a:defRPr sz="1600">
            <a:solidFill>
              <a:srgbClr val="0000FF"/>
            </a:solidFill>
            <a:latin typeface="Consolas" pitchFamily="49" charset="0"/>
            <a:cs typeface="Consolas" pitchFamily="49" charset="0"/>
          </a:defRPr>
        </a:defPPr>
      </a:lstStyle>
      <a:style>
        <a:lnRef idx="2">
          <a:schemeClr val="dk1"/>
        </a:lnRef>
        <a:fillRef idx="0">
          <a:schemeClr val="dk1"/>
        </a:fillRef>
        <a:effectRef idx="1">
          <a:schemeClr val="dk1"/>
        </a:effectRef>
        <a:fontRef idx="minor">
          <a:schemeClr val="tx1"/>
        </a:fontRef>
      </a:style>
    </a:spDef>
    <a:lnDef>
      <a:spPr>
        <a:ln w="19050">
          <a:tailEnd type="arrow"/>
        </a:ln>
      </a:spPr>
      <a:bodyPr/>
      <a:lstStyle/>
      <a:style>
        <a:lnRef idx="2">
          <a:schemeClr val="dk1"/>
        </a:lnRef>
        <a:fillRef idx="0">
          <a:schemeClr val="dk1"/>
        </a:fillRef>
        <a:effectRef idx="1">
          <a:schemeClr val="dk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100000"/>
          </a:lnSpc>
          <a:spcBef>
            <a:spcPts val="0"/>
          </a:spcBef>
          <a:defRPr sz="1800" smtClean="0">
            <a:solidFill>
              <a:srgbClr val="0000FF"/>
            </a:solidFill>
            <a:latin typeface="Consolas" pitchFamily="49" charset="0"/>
            <a:ea typeface="仿宋" pitchFamily="49" charset="-122"/>
            <a:cs typeface="Consolas" pitchFamily="49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5113</TotalTime>
  <Words>4239</Words>
  <Application>Microsoft Office PowerPoint</Application>
  <PresentationFormat>全屏显示(4:3)</PresentationFormat>
  <Paragraphs>828</Paragraphs>
  <Slides>68</Slides>
  <Notes>1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0</vt:i4>
      </vt:variant>
      <vt:variant>
        <vt:lpstr>幻灯片标题</vt:lpstr>
      </vt:variant>
      <vt:variant>
        <vt:i4>68</vt:i4>
      </vt:variant>
    </vt:vector>
  </HeadingPairs>
  <TitlesOfParts>
    <vt:vector size="69" baseType="lpstr">
      <vt:lpstr>Office 主题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  <vt:lpstr>幻灯片 14</vt:lpstr>
      <vt:lpstr>幻灯片 15</vt:lpstr>
      <vt:lpstr>幻灯片 16</vt:lpstr>
      <vt:lpstr>幻灯片 17</vt:lpstr>
      <vt:lpstr>幻灯片 18</vt:lpstr>
      <vt:lpstr>幻灯片 19</vt:lpstr>
      <vt:lpstr>幻灯片 20</vt:lpstr>
      <vt:lpstr>幻灯片 21</vt:lpstr>
      <vt:lpstr>幻灯片 22</vt:lpstr>
      <vt:lpstr>幻灯片 23</vt:lpstr>
      <vt:lpstr>幻灯片 24</vt:lpstr>
      <vt:lpstr>幻灯片 25</vt:lpstr>
      <vt:lpstr>幻灯片 26</vt:lpstr>
      <vt:lpstr>幻灯片 27</vt:lpstr>
      <vt:lpstr>幻灯片 28</vt:lpstr>
      <vt:lpstr>幻灯片 29</vt:lpstr>
      <vt:lpstr>幻灯片 30</vt:lpstr>
      <vt:lpstr>幻灯片 31</vt:lpstr>
      <vt:lpstr>幻灯片 32</vt:lpstr>
      <vt:lpstr>幻灯片 33</vt:lpstr>
      <vt:lpstr>幻灯片 34</vt:lpstr>
      <vt:lpstr>幻灯片 35</vt:lpstr>
      <vt:lpstr>幻灯片 36</vt:lpstr>
      <vt:lpstr>幻灯片 37</vt:lpstr>
      <vt:lpstr>幻灯片 38</vt:lpstr>
      <vt:lpstr>幻灯片 39</vt:lpstr>
      <vt:lpstr>幻灯片 40</vt:lpstr>
      <vt:lpstr>幻灯片 41</vt:lpstr>
      <vt:lpstr>幻灯片 42</vt:lpstr>
      <vt:lpstr>幻灯片 43</vt:lpstr>
      <vt:lpstr>幻灯片 44</vt:lpstr>
      <vt:lpstr>幻灯片 45</vt:lpstr>
      <vt:lpstr>幻灯片 46</vt:lpstr>
      <vt:lpstr>幻灯片 47</vt:lpstr>
      <vt:lpstr>幻灯片 48</vt:lpstr>
      <vt:lpstr>幻灯片 49</vt:lpstr>
      <vt:lpstr>幻灯片 50</vt:lpstr>
      <vt:lpstr>幻灯片 51</vt:lpstr>
      <vt:lpstr>幻灯片 52</vt:lpstr>
      <vt:lpstr>幻灯片 53</vt:lpstr>
      <vt:lpstr>幻灯片 54</vt:lpstr>
      <vt:lpstr>幻灯片 55</vt:lpstr>
      <vt:lpstr>幻灯片 56</vt:lpstr>
      <vt:lpstr>幻灯片 57</vt:lpstr>
      <vt:lpstr>幻灯片 58</vt:lpstr>
      <vt:lpstr>幻灯片 59</vt:lpstr>
      <vt:lpstr>幻灯片 60</vt:lpstr>
      <vt:lpstr>幻灯片 61</vt:lpstr>
      <vt:lpstr>幻灯片 62</vt:lpstr>
      <vt:lpstr>幻灯片 63</vt:lpstr>
      <vt:lpstr>幻灯片 64</vt:lpstr>
      <vt:lpstr>幻灯片 65</vt:lpstr>
      <vt:lpstr>幻灯片 66</vt:lpstr>
      <vt:lpstr>幻灯片 67</vt:lpstr>
      <vt:lpstr>幻灯片 68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lcb; wbh</dc:creator>
  <cp:lastModifiedBy>Administrator</cp:lastModifiedBy>
  <cp:revision>2667</cp:revision>
  <dcterms:created xsi:type="dcterms:W3CDTF">2004-03-31T23:50:14Z</dcterms:created>
  <dcterms:modified xsi:type="dcterms:W3CDTF">2022-06-06T02:22:17Z</dcterms:modified>
</cp:coreProperties>
</file>