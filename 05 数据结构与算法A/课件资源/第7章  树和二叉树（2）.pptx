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s/slide76.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74.xml" ContentType="application/vnd.openxmlformats-officedocument.presentationml.slide+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78"/>
  </p:notesMasterIdLst>
  <p:handoutMasterIdLst>
    <p:handoutMasterId r:id="rId79"/>
  </p:handoutMasterIdLst>
  <p:sldIdLst>
    <p:sldId id="546" r:id="rId2"/>
    <p:sldId id="547" r:id="rId3"/>
    <p:sldId id="548" r:id="rId4"/>
    <p:sldId id="549" r:id="rId5"/>
    <p:sldId id="551" r:id="rId6"/>
    <p:sldId id="574" r:id="rId7"/>
    <p:sldId id="550" r:id="rId8"/>
    <p:sldId id="586" r:id="rId9"/>
    <p:sldId id="552" r:id="rId10"/>
    <p:sldId id="578" r:id="rId11"/>
    <p:sldId id="575" r:id="rId12"/>
    <p:sldId id="587" r:id="rId13"/>
    <p:sldId id="576" r:id="rId14"/>
    <p:sldId id="577" r:id="rId15"/>
    <p:sldId id="581" r:id="rId16"/>
    <p:sldId id="582" r:id="rId17"/>
    <p:sldId id="553" r:id="rId18"/>
    <p:sldId id="554" r:id="rId19"/>
    <p:sldId id="555" r:id="rId20"/>
    <p:sldId id="556" r:id="rId21"/>
    <p:sldId id="557" r:id="rId22"/>
    <p:sldId id="558" r:id="rId23"/>
    <p:sldId id="559" r:id="rId24"/>
    <p:sldId id="579" r:id="rId25"/>
    <p:sldId id="560" r:id="rId26"/>
    <p:sldId id="561" r:id="rId27"/>
    <p:sldId id="562" r:id="rId28"/>
    <p:sldId id="563" r:id="rId29"/>
    <p:sldId id="564" r:id="rId30"/>
    <p:sldId id="565" r:id="rId31"/>
    <p:sldId id="566" r:id="rId32"/>
    <p:sldId id="567" r:id="rId33"/>
    <p:sldId id="568" r:id="rId34"/>
    <p:sldId id="569" r:id="rId35"/>
    <p:sldId id="588" r:id="rId36"/>
    <p:sldId id="589" r:id="rId37"/>
    <p:sldId id="590" r:id="rId38"/>
    <p:sldId id="591" r:id="rId39"/>
    <p:sldId id="600" r:id="rId40"/>
    <p:sldId id="601" r:id="rId41"/>
    <p:sldId id="602" r:id="rId42"/>
    <p:sldId id="603" r:id="rId43"/>
    <p:sldId id="604" r:id="rId44"/>
    <p:sldId id="614" r:id="rId45"/>
    <p:sldId id="615" r:id="rId46"/>
    <p:sldId id="616" r:id="rId47"/>
    <p:sldId id="617" r:id="rId48"/>
    <p:sldId id="618" r:id="rId49"/>
    <p:sldId id="619" r:id="rId50"/>
    <p:sldId id="620" r:id="rId51"/>
    <p:sldId id="621" r:id="rId52"/>
    <p:sldId id="622" r:id="rId53"/>
    <p:sldId id="623" r:id="rId54"/>
    <p:sldId id="624" r:id="rId55"/>
    <p:sldId id="625" r:id="rId56"/>
    <p:sldId id="626" r:id="rId57"/>
    <p:sldId id="627" r:id="rId58"/>
    <p:sldId id="628" r:id="rId59"/>
    <p:sldId id="629" r:id="rId60"/>
    <p:sldId id="630" r:id="rId61"/>
    <p:sldId id="631" r:id="rId62"/>
    <p:sldId id="632" r:id="rId63"/>
    <p:sldId id="633" r:id="rId64"/>
    <p:sldId id="634" r:id="rId65"/>
    <p:sldId id="635" r:id="rId66"/>
    <p:sldId id="636" r:id="rId67"/>
    <p:sldId id="637" r:id="rId68"/>
    <p:sldId id="638" r:id="rId69"/>
    <p:sldId id="639" r:id="rId70"/>
    <p:sldId id="640" r:id="rId71"/>
    <p:sldId id="641" r:id="rId72"/>
    <p:sldId id="642" r:id="rId73"/>
    <p:sldId id="643" r:id="rId74"/>
    <p:sldId id="644" r:id="rId75"/>
    <p:sldId id="645" r:id="rId76"/>
    <p:sldId id="646" r:id="rId77"/>
  </p:sldIdLst>
  <p:sldSz cx="9144000" cy="6858000" type="screen4x3"/>
  <p:notesSz cx="6858000" cy="9144000"/>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FF00FF"/>
    <a:srgbClr val="339933"/>
    <a:srgbClr val="009900"/>
    <a:srgbClr val="0000FF"/>
    <a:srgbClr val="006600"/>
    <a:srgbClr val="FF3399"/>
    <a:srgbClr val="3333FF"/>
    <a:srgbClr val="6600CC"/>
    <a:srgbClr val="000000"/>
    <a:srgbClr val="0033CC"/>
  </p:clrMru>
</p:presentationPr>
</file>

<file path=ppt/tableStyles.xml><?xml version="1.0" encoding="utf-8"?>
<a:tblStyleLst xmlns:a="http://schemas.openxmlformats.org/drawingml/2006/main" def="{5C22544A-7EE6-4342-B048-85BDC9FD1C3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p:cViewPr varScale="1">
        <p:scale>
          <a:sx n="100" d="100"/>
          <a:sy n="100" d="100"/>
        </p:scale>
        <p:origin x="-49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pPr/>
              <a:t>2022/6/6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fld id="{0D1E2EF4-146E-47B5-A412-FFD548A1AB6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a:xfrm>
            <a:off x="8029628" y="6356350"/>
            <a:ext cx="971528" cy="365125"/>
          </a:xfrm>
        </p:spPr>
        <p:txBody>
          <a:bodyPr/>
          <a:lstStyle>
            <a:lvl1pPr>
              <a:defRPr sz="1400" b="0">
                <a:solidFill>
                  <a:srgbClr val="FF0000"/>
                </a:solidFill>
                <a:latin typeface="Consolas" pitchFamily="49" charset="0"/>
                <a:cs typeface="Consolas" pitchFamily="49" charset="0"/>
              </a:defRPr>
            </a:lvl1pPr>
          </a:lstStyle>
          <a:p>
            <a:fld id="{67864EE2-EAB3-4814-A7EB-820BD7610F1E}" type="slidenum">
              <a:rPr lang="en-US" altLang="zh-CN" smtClean="0"/>
              <a:pPr/>
              <a:t>‹#›</a:t>
            </a:fld>
            <a:r>
              <a:rPr lang="en-US" altLang="zh-CN" smtClean="0"/>
              <a:t>/76</a:t>
            </a:r>
            <a:endParaRPr lang="en-US" altLang="zh-CN"/>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11"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571472" y="1571612"/>
            <a:ext cx="314327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7.4.1 </a:t>
            </a:r>
            <a:r>
              <a:rPr lang="zh-CN" altLang="zh-CN" smtClean="0">
                <a:latin typeface="Consolas" pitchFamily="49" charset="0"/>
                <a:ea typeface="微软雅黑" pitchFamily="34" charset="-122"/>
                <a:cs typeface="Consolas" pitchFamily="49" charset="0"/>
              </a:rPr>
              <a:t>层次遍历过程</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15" name="TextBox 14"/>
          <p:cNvSpPr txBox="1"/>
          <p:nvPr/>
        </p:nvSpPr>
        <p:spPr>
          <a:xfrm>
            <a:off x="2428860" y="428604"/>
            <a:ext cx="4214842"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7.4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二叉树的层次遍历</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785786" y="3214686"/>
            <a:ext cx="7143800" cy="152191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800"/>
              </a:lnSpc>
              <a:spcBef>
                <a:spcPts val="600"/>
              </a:spcBef>
            </a:pPr>
            <a:r>
              <a:rPr lang="zh-CN" altLang="zh-CN" sz="2000" smtClean="0">
                <a:solidFill>
                  <a:srgbClr val="0000FF"/>
                </a:solidFill>
                <a:latin typeface="Consolas" pitchFamily="49" charset="0"/>
                <a:ea typeface="仿宋" pitchFamily="49" charset="-122"/>
                <a:cs typeface="Consolas" pitchFamily="49" charset="0"/>
              </a:rPr>
              <a:t>① 访问根结点（第</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层）。</a:t>
            </a:r>
          </a:p>
          <a:p>
            <a:pPr algn="l">
              <a:lnSpc>
                <a:spcPts val="2800"/>
              </a:lnSpc>
              <a:spcBef>
                <a:spcPts val="600"/>
              </a:spcBef>
            </a:pPr>
            <a:r>
              <a:rPr lang="zh-CN" altLang="zh-CN" sz="2000" smtClean="0">
                <a:solidFill>
                  <a:srgbClr val="0000FF"/>
                </a:solidFill>
                <a:latin typeface="Consolas" pitchFamily="49" charset="0"/>
                <a:ea typeface="仿宋" pitchFamily="49" charset="-122"/>
                <a:cs typeface="Consolas" pitchFamily="49" charset="0"/>
              </a:rPr>
              <a:t>② 从左到右访问第</a:t>
            </a:r>
            <a:r>
              <a:rPr lang="en-US" altLang="zh-CN" sz="2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层的所有结点。</a:t>
            </a:r>
          </a:p>
          <a:p>
            <a:pPr algn="l">
              <a:lnSpc>
                <a:spcPts val="2800"/>
              </a:lnSpc>
              <a:spcBef>
                <a:spcPts val="600"/>
              </a:spcBef>
            </a:pPr>
            <a:r>
              <a:rPr lang="zh-CN" altLang="zh-CN" sz="2000" smtClean="0">
                <a:solidFill>
                  <a:srgbClr val="0000FF"/>
                </a:solidFill>
                <a:latin typeface="Consolas" pitchFamily="49" charset="0"/>
                <a:ea typeface="仿宋" pitchFamily="49" charset="-122"/>
                <a:cs typeface="Consolas" pitchFamily="49" charset="0"/>
              </a:rPr>
              <a:t>③ 从左到右访问第</a:t>
            </a:r>
            <a:r>
              <a:rPr lang="en-US" altLang="zh-CN" sz="2000" smtClean="0">
                <a:solidFill>
                  <a:srgbClr val="0000FF"/>
                </a:solidFill>
                <a:latin typeface="Consolas" pitchFamily="49" charset="0"/>
                <a:ea typeface="仿宋" pitchFamily="49" charset="-122"/>
                <a:cs typeface="Consolas" pitchFamily="49" charset="0"/>
              </a:rPr>
              <a:t>3</a:t>
            </a:r>
            <a:r>
              <a:rPr lang="zh-CN" altLang="zh-CN" sz="2000" smtClean="0">
                <a:solidFill>
                  <a:srgbClr val="0000FF"/>
                </a:solidFill>
                <a:latin typeface="Consolas" pitchFamily="49" charset="0"/>
                <a:ea typeface="仿宋" pitchFamily="49" charset="-122"/>
                <a:cs typeface="Consolas" pitchFamily="49" charset="0"/>
              </a:rPr>
              <a:t>层的所有结点、</a:t>
            </a:r>
            <a:r>
              <a:rPr lang="en-US" altLang="zh-CN" sz="2000" smtClean="0">
                <a:solidFill>
                  <a:srgbClr val="0000FF"/>
                </a:solidFill>
                <a:latin typeface="+mj-ea"/>
                <a:ea typeface="+mj-ea"/>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、第</a:t>
            </a:r>
            <a:r>
              <a:rPr lang="en-US" altLang="zh-CN" sz="2000" i="1" smtClean="0">
                <a:solidFill>
                  <a:srgbClr val="0000FF"/>
                </a:solidFill>
                <a:latin typeface="Consolas" pitchFamily="49" charset="0"/>
                <a:ea typeface="仿宋" pitchFamily="49" charset="-122"/>
                <a:cs typeface="Consolas" pitchFamily="49" charset="0"/>
              </a:rPr>
              <a:t>h</a:t>
            </a:r>
            <a:r>
              <a:rPr lang="zh-CN" altLang="zh-CN" sz="2000" smtClean="0">
                <a:solidFill>
                  <a:srgbClr val="0000FF"/>
                </a:solidFill>
                <a:latin typeface="Consolas" pitchFamily="49" charset="0"/>
                <a:ea typeface="仿宋" pitchFamily="49" charset="-122"/>
                <a:cs typeface="Consolas" pitchFamily="49" charset="0"/>
              </a:rPr>
              <a:t>层的所有结点。</a:t>
            </a:r>
          </a:p>
        </p:txBody>
      </p:sp>
      <p:sp>
        <p:nvSpPr>
          <p:cNvPr id="7" name="TextBox 6"/>
          <p:cNvSpPr txBox="1"/>
          <p:nvPr/>
        </p:nvSpPr>
        <p:spPr>
          <a:xfrm>
            <a:off x="714348" y="2643182"/>
            <a:ext cx="707236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仿宋" pitchFamily="49" charset="-122"/>
                <a:cs typeface="Consolas" pitchFamily="49" charset="0"/>
              </a:rPr>
              <a:t>若二叉树非空（假设其高度为</a:t>
            </a:r>
            <a:r>
              <a:rPr lang="en-US" altLang="zh-CN" sz="2000" i="1" smtClean="0">
                <a:solidFill>
                  <a:srgbClr val="0000FF"/>
                </a:solidFill>
                <a:latin typeface="Consolas" pitchFamily="49" charset="0"/>
                <a:ea typeface="仿宋" pitchFamily="49" charset="-122"/>
                <a:cs typeface="Consolas" pitchFamily="49" charset="0"/>
              </a:rPr>
              <a:t>h</a:t>
            </a:r>
            <a:r>
              <a:rPr lang="zh-CN" altLang="zh-CN" sz="2000" smtClean="0">
                <a:solidFill>
                  <a:srgbClr val="0000FF"/>
                </a:solidFill>
                <a:latin typeface="Consolas" pitchFamily="49" charset="0"/>
                <a:ea typeface="仿宋" pitchFamily="49" charset="-122"/>
                <a:cs typeface="Consolas" pitchFamily="49" charset="0"/>
              </a:rPr>
              <a:t>），则层次遍历的过程如下：</a:t>
            </a: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1</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500166" y="1357298"/>
            <a:ext cx="1900083" cy="1925032"/>
            <a:chOff x="1150124" y="3032607"/>
            <a:chExt cx="1900083" cy="1925032"/>
          </a:xfrm>
        </p:grpSpPr>
        <p:sp>
          <p:nvSpPr>
            <p:cNvPr id="5" name="Line 34"/>
            <p:cNvSpPr>
              <a:spLocks noChangeShapeType="1"/>
            </p:cNvSpPr>
            <p:nvPr/>
          </p:nvSpPr>
          <p:spPr bwMode="auto">
            <a:xfrm>
              <a:off x="2214546" y="3286124"/>
              <a:ext cx="201626" cy="255318"/>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6" name="Freeform 45"/>
            <p:cNvSpPr>
              <a:spLocks/>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7" name="Line 44"/>
            <p:cNvSpPr>
              <a:spLocks noChangeShapeType="1"/>
            </p:cNvSpPr>
            <p:nvPr/>
          </p:nvSpPr>
          <p:spPr bwMode="auto">
            <a:xfrm>
              <a:off x="1369024" y="4327825"/>
              <a:ext cx="308248" cy="334084"/>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8" name="Freeform 43"/>
            <p:cNvSpPr>
              <a:spLocks/>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9" name="Line 42"/>
            <p:cNvSpPr>
              <a:spLocks noChangeShapeType="1"/>
            </p:cNvSpPr>
            <p:nvPr/>
          </p:nvSpPr>
          <p:spPr bwMode="auto">
            <a:xfrm flipH="1">
              <a:off x="1296653" y="3705059"/>
              <a:ext cx="285911" cy="40689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0" name="Line 41"/>
            <p:cNvSpPr>
              <a:spLocks noChangeShapeType="1"/>
            </p:cNvSpPr>
            <p:nvPr/>
          </p:nvSpPr>
          <p:spPr bwMode="auto">
            <a:xfrm flipH="1">
              <a:off x="1632598" y="3155105"/>
              <a:ext cx="477114" cy="40946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1" name="Oval 40"/>
            <p:cNvSpPr>
              <a:spLocks noChangeArrowheads="1"/>
            </p:cNvSpPr>
            <p:nvPr/>
          </p:nvSpPr>
          <p:spPr bwMode="auto">
            <a:xfrm>
              <a:off x="1955141" y="3032607"/>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12" name="Oval 39"/>
            <p:cNvSpPr>
              <a:spLocks noChangeArrowheads="1"/>
            </p:cNvSpPr>
            <p:nvPr/>
          </p:nvSpPr>
          <p:spPr bwMode="auto">
            <a:xfrm>
              <a:off x="1486069" y="3482335"/>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13" name="Oval 38"/>
            <p:cNvSpPr>
              <a:spLocks noChangeArrowheads="1"/>
            </p:cNvSpPr>
            <p:nvPr/>
          </p:nvSpPr>
          <p:spPr bwMode="auto">
            <a:xfrm>
              <a:off x="2357204" y="3520883"/>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p>
          </p:txBody>
        </p:sp>
        <p:sp>
          <p:nvSpPr>
            <p:cNvPr id="14" name="Oval 37"/>
            <p:cNvSpPr>
              <a:spLocks noChangeArrowheads="1"/>
            </p:cNvSpPr>
            <p:nvPr/>
          </p:nvSpPr>
          <p:spPr bwMode="auto">
            <a:xfrm>
              <a:off x="2065038" y="4099105"/>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p:txBody>
        </p:sp>
        <p:sp>
          <p:nvSpPr>
            <p:cNvPr id="15" name="Oval 36"/>
            <p:cNvSpPr>
              <a:spLocks noChangeArrowheads="1"/>
            </p:cNvSpPr>
            <p:nvPr/>
          </p:nvSpPr>
          <p:spPr bwMode="auto">
            <a:xfrm>
              <a:off x="2726207" y="4099105"/>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p:txBody>
        </p:sp>
        <p:sp>
          <p:nvSpPr>
            <p:cNvPr id="16" name="Oval 35"/>
            <p:cNvSpPr>
              <a:spLocks noChangeArrowheads="1"/>
            </p:cNvSpPr>
            <p:nvPr/>
          </p:nvSpPr>
          <p:spPr bwMode="auto">
            <a:xfrm>
              <a:off x="1150124" y="411195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p>
          </p:txBody>
        </p:sp>
        <p:sp>
          <p:nvSpPr>
            <p:cNvPr id="17" name="Oval 33"/>
            <p:cNvSpPr>
              <a:spLocks noChangeArrowheads="1"/>
            </p:cNvSpPr>
            <p:nvPr/>
          </p:nvSpPr>
          <p:spPr bwMode="auto">
            <a:xfrm>
              <a:off x="1568268" y="4633639"/>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p:txBody>
        </p:sp>
      </p:grpSp>
      <p:sp>
        <p:nvSpPr>
          <p:cNvPr id="18" name="TextBox 17"/>
          <p:cNvSpPr txBox="1"/>
          <p:nvPr/>
        </p:nvSpPr>
        <p:spPr>
          <a:xfrm>
            <a:off x="4357686" y="2059536"/>
            <a:ext cx="314327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仿宋" pitchFamily="49" charset="-122"/>
                <a:cs typeface="Consolas" pitchFamily="49" charset="0"/>
              </a:rPr>
              <a:t>层次遍历序列为</a:t>
            </a:r>
            <a:r>
              <a:rPr lang="en-US" altLang="zh-CN" sz="2000" b="0" smtClean="0">
                <a:solidFill>
                  <a:srgbClr val="0000FF"/>
                </a:solidFill>
                <a:latin typeface="Consolas" pitchFamily="49" charset="0"/>
                <a:ea typeface="仿宋" pitchFamily="49" charset="-122"/>
                <a:cs typeface="Consolas" pitchFamily="49" charset="0"/>
              </a:rPr>
              <a:t>ABCDEFG</a:t>
            </a:r>
            <a:endParaRPr lang="zh-CN" altLang="en-US" sz="2000" b="0" smtClean="0">
              <a:solidFill>
                <a:srgbClr val="0000FF"/>
              </a:solidFill>
              <a:latin typeface="Consolas" pitchFamily="49" charset="0"/>
              <a:ea typeface="仿宋" pitchFamily="49" charset="-122"/>
              <a:cs typeface="Consolas" pitchFamily="49" charset="0"/>
            </a:endParaRPr>
          </a:p>
        </p:txBody>
      </p:sp>
      <p:sp>
        <p:nvSpPr>
          <p:cNvPr id="19" name="右箭头 18"/>
          <p:cNvSpPr/>
          <p:nvPr/>
        </p:nvSpPr>
        <p:spPr>
          <a:xfrm>
            <a:off x="3643306" y="2130974"/>
            <a:ext cx="500066"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1" name="灯片编号占位符 20"/>
          <p:cNvSpPr>
            <a:spLocks noGrp="1"/>
          </p:cNvSpPr>
          <p:nvPr>
            <p:ph type="sldNum" sz="quarter" idx="12"/>
          </p:nvPr>
        </p:nvSpPr>
        <p:spPr/>
        <p:txBody>
          <a:bodyPr/>
          <a:lstStyle/>
          <a:p>
            <a:fld id="{67864EE2-EAB3-4814-A7EB-820BD7610F1E}" type="slidenum">
              <a:rPr lang="en-US" altLang="zh-CN" smtClean="0"/>
              <a:pPr/>
              <a:t>2</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785794"/>
            <a:ext cx="400052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7.4.2 </a:t>
            </a:r>
            <a:r>
              <a:rPr lang="zh-CN" altLang="zh-CN" smtClean="0">
                <a:latin typeface="Consolas" pitchFamily="49" charset="0"/>
                <a:ea typeface="微软雅黑" pitchFamily="34" charset="-122"/>
                <a:cs typeface="Consolas" pitchFamily="49" charset="0"/>
              </a:rPr>
              <a:t>层次遍历算法设计</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571472" y="1714488"/>
            <a:ext cx="7929618" cy="31072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3000"/>
              </a:lnSpc>
              <a:spcBef>
                <a:spcPts val="1800"/>
              </a:spcBef>
              <a:buBlip>
                <a:blip r:embed="rId2"/>
              </a:buBlip>
            </a:pPr>
            <a:r>
              <a:rPr lang="zh-CN" altLang="zh-CN" sz="2000" smtClean="0">
                <a:solidFill>
                  <a:srgbClr val="0000FF"/>
                </a:solidFill>
                <a:latin typeface="Consolas" pitchFamily="49" charset="0"/>
                <a:ea typeface="仿宋" pitchFamily="49" charset="-122"/>
                <a:cs typeface="Consolas" pitchFamily="49" charset="0"/>
              </a:rPr>
              <a:t>在二叉树层次遍历中，对一层的结点访问完后，再按照它们的访问次序对各个结点的左、右孩子顺序访问，这样一层一层进行，先访问的结点其左、右孩子也要先访问，这样</a:t>
            </a:r>
            <a:r>
              <a:rPr lang="zh-CN" altLang="zh-CN" sz="2000" smtClean="0">
                <a:solidFill>
                  <a:srgbClr val="FF0000"/>
                </a:solidFill>
                <a:latin typeface="Consolas" pitchFamily="49" charset="0"/>
                <a:ea typeface="仿宋" pitchFamily="49" charset="-122"/>
                <a:cs typeface="Consolas" pitchFamily="49" charset="0"/>
              </a:rPr>
              <a:t>与队列的先进先出特点吻合</a:t>
            </a:r>
            <a:r>
              <a:rPr lang="zh-CN" altLang="zh-CN" sz="2000" smtClean="0">
                <a:solidFill>
                  <a:srgbClr val="0000FF"/>
                </a:solidFill>
                <a:latin typeface="Consolas" pitchFamily="49" charset="0"/>
                <a:ea typeface="仿宋" pitchFamily="49" charset="-122"/>
                <a:cs typeface="Consolas" pitchFamily="49" charset="0"/>
              </a:rPr>
              <a:t>。因此层次遍历算法采用一个队列</a:t>
            </a:r>
            <a:r>
              <a:rPr lang="en-US" altLang="zh-CN" sz="2000" smtClean="0">
                <a:solidFill>
                  <a:srgbClr val="0000FF"/>
                </a:solidFill>
                <a:latin typeface="Consolas" pitchFamily="49" charset="0"/>
                <a:ea typeface="仿宋" pitchFamily="49" charset="-122"/>
                <a:cs typeface="Consolas" pitchFamily="49" charset="0"/>
              </a:rPr>
              <a:t>qu</a:t>
            </a:r>
            <a:r>
              <a:rPr lang="zh-CN" altLang="zh-CN" sz="2000" smtClean="0">
                <a:solidFill>
                  <a:srgbClr val="0000FF"/>
                </a:solidFill>
                <a:latin typeface="Consolas" pitchFamily="49" charset="0"/>
                <a:ea typeface="仿宋" pitchFamily="49" charset="-122"/>
                <a:cs typeface="Consolas" pitchFamily="49" charset="0"/>
              </a:rPr>
              <a:t>来实现。</a:t>
            </a:r>
          </a:p>
          <a:p>
            <a:pPr marL="342900" indent="-342900" algn="l">
              <a:lnSpc>
                <a:spcPts val="3000"/>
              </a:lnSpc>
              <a:spcBef>
                <a:spcPts val="1800"/>
              </a:spcBef>
              <a:buBlip>
                <a:blip r:embed="rId2"/>
              </a:buBlip>
            </a:pPr>
            <a:r>
              <a:rPr lang="zh-CN" altLang="en-US" sz="2000" smtClean="0">
                <a:solidFill>
                  <a:srgbClr val="FF0000"/>
                </a:solidFill>
                <a:latin typeface="Consolas" pitchFamily="49" charset="0"/>
                <a:ea typeface="仿宋" pitchFamily="49" charset="-122"/>
                <a:cs typeface="Consolas" pitchFamily="49" charset="0"/>
              </a:rPr>
              <a:t>思路：</a:t>
            </a:r>
            <a:r>
              <a:rPr lang="zh-CN" altLang="zh-CN" sz="2000" smtClean="0">
                <a:solidFill>
                  <a:srgbClr val="0000FF"/>
                </a:solidFill>
                <a:latin typeface="Consolas" pitchFamily="49" charset="0"/>
                <a:ea typeface="仿宋" pitchFamily="49" charset="-122"/>
                <a:cs typeface="Consolas" pitchFamily="49" charset="0"/>
              </a:rPr>
              <a:t>先将根结点</a:t>
            </a:r>
            <a:r>
              <a:rPr lang="en-US" altLang="zh-CN" sz="2000" i="1" smtClean="0">
                <a:solidFill>
                  <a:srgbClr val="0000FF"/>
                </a:solidFill>
                <a:latin typeface="Consolas" pitchFamily="49" charset="0"/>
                <a:ea typeface="仿宋" pitchFamily="49" charset="-122"/>
                <a:cs typeface="Consolas" pitchFamily="49" charset="0"/>
              </a:rPr>
              <a:t>b</a:t>
            </a:r>
            <a:r>
              <a:rPr lang="zh-CN" altLang="zh-CN" sz="2000" smtClean="0">
                <a:solidFill>
                  <a:srgbClr val="0000FF"/>
                </a:solidFill>
                <a:latin typeface="Consolas" pitchFamily="49" charset="0"/>
                <a:ea typeface="仿宋" pitchFamily="49" charset="-122"/>
                <a:cs typeface="Consolas" pitchFamily="49" charset="0"/>
              </a:rPr>
              <a:t>进队，在队不空时循环：从队列中出队一个结点</a:t>
            </a:r>
            <a:r>
              <a:rPr lang="en-US" altLang="zh-CN" sz="2000" i="1" smtClean="0">
                <a:solidFill>
                  <a:srgbClr val="0000FF"/>
                </a:solidFill>
                <a:latin typeface="Consolas" pitchFamily="49" charset="0"/>
                <a:ea typeface="仿宋" pitchFamily="49" charset="-122"/>
                <a:cs typeface="Consolas" pitchFamily="49" charset="0"/>
              </a:rPr>
              <a:t>p</a:t>
            </a:r>
            <a:r>
              <a:rPr lang="zh-CN" altLang="zh-CN" sz="2000" smtClean="0">
                <a:solidFill>
                  <a:srgbClr val="0000FF"/>
                </a:solidFill>
                <a:latin typeface="Consolas" pitchFamily="49" charset="0"/>
                <a:ea typeface="仿宋" pitchFamily="49" charset="-122"/>
                <a:cs typeface="Consolas" pitchFamily="49" charset="0"/>
              </a:rPr>
              <a:t>，访问它；若它有左孩子结点，将左孩子结点进队；若它有左孩子结点，将左孩子结点进队。如此操作直到队空为止。</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pPr/>
              <a:t>3</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8358246" cy="407646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LevelOrder</a:t>
            </a:r>
            <a:r>
              <a:rPr lang="en-US" altLang="zh-CN" sz="1800" smtClean="0">
                <a:solidFill>
                  <a:srgbClr val="0000FF"/>
                </a:solidFill>
                <a:latin typeface="Consolas" pitchFamily="49" charset="0"/>
                <a:ea typeface="仿宋" pitchFamily="49" charset="-122"/>
                <a:cs typeface="Consolas" pitchFamily="49" charset="0"/>
              </a:rPr>
              <a:t>(BTree&amp; bt)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二叉树的层次遍历</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BTNode* p;</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queue&lt;BTNode*&gt; qu;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定义一个队列</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qu.push(bt.r);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根结点</a:t>
            </a:r>
            <a:r>
              <a:rPr lang="en-US" altLang="zh-CN" sz="1800" smtClean="0">
                <a:solidFill>
                  <a:schemeClr val="bg1">
                    <a:lumMod val="50000"/>
                  </a:schemeClr>
                </a:solidFill>
                <a:latin typeface="Consolas" pitchFamily="49" charset="0"/>
                <a:ea typeface="仿宋" pitchFamily="49" charset="-122"/>
                <a:cs typeface="Consolas" pitchFamily="49" charset="0"/>
              </a:rPr>
              <a:t>r</a:t>
            </a:r>
            <a:r>
              <a:rPr lang="zh-CN" altLang="zh-CN" sz="1800" smtClean="0">
                <a:solidFill>
                  <a:schemeClr val="bg1">
                    <a:lumMod val="50000"/>
                  </a:schemeClr>
                </a:solidFill>
                <a:latin typeface="Consolas" pitchFamily="49" charset="0"/>
                <a:ea typeface="仿宋" pitchFamily="49" charset="-122"/>
                <a:cs typeface="Consolas" pitchFamily="49" charset="0"/>
              </a:rPr>
              <a:t>进队</a:t>
            </a:r>
          </a:p>
          <a:p>
            <a:pPr algn="l">
              <a:lnSpc>
                <a:spcPct val="2000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(!qu.empty())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队不空时循环 </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  p=qu.front(); qu.pop();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出队结点</a:t>
            </a:r>
            <a:r>
              <a:rPr lang="en-US" altLang="zh-CN" sz="1800" smtClean="0">
                <a:solidFill>
                  <a:schemeClr val="bg1">
                    <a:lumMod val="50000"/>
                  </a:schemeClr>
                </a:solidFill>
                <a:latin typeface="Consolas" pitchFamily="49" charset="0"/>
                <a:ea typeface="仿宋" pitchFamily="49" charset="-122"/>
                <a:cs typeface="Consolas" pitchFamily="49" charset="0"/>
              </a:rPr>
              <a:t>p </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cout &lt;&lt; p-&gt;data;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访问结点</a:t>
            </a:r>
            <a:r>
              <a:rPr lang="en-US" altLang="zh-CN" sz="1800" smtClean="0">
                <a:solidFill>
                  <a:schemeClr val="bg1">
                    <a:lumMod val="50000"/>
                  </a:schemeClr>
                </a:solidFill>
                <a:latin typeface="Consolas" pitchFamily="49" charset="0"/>
                <a:ea typeface="仿宋" pitchFamily="49" charset="-122"/>
                <a:cs typeface="Consolas" pitchFamily="49" charset="0"/>
              </a:rPr>
              <a:t>p</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if (p-&gt;lchild!=NULL)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有左孩子时将其进队</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qu.push(p-&gt;lchild);</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if (p-&gt;rchild!=NULL)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有右孩子时将其进队</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qu.push(p-&gt;rchild);</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pPr/>
              <a:t>4</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357166"/>
            <a:ext cx="450059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7.4.3 </a:t>
            </a:r>
            <a:r>
              <a:rPr lang="zh-CN" altLang="zh-CN" smtClean="0">
                <a:latin typeface="Consolas" pitchFamily="49" charset="0"/>
                <a:ea typeface="微软雅黑" pitchFamily="34" charset="-122"/>
                <a:cs typeface="Consolas" pitchFamily="49" charset="0"/>
              </a:rPr>
              <a:t>层次遍历算法的应用</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428596" y="1357298"/>
            <a:ext cx="7929618"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FF0000"/>
                </a:solidFill>
                <a:latin typeface="Consolas" pitchFamily="49" charset="0"/>
                <a:ea typeface="楷体" pitchFamily="49" charset="-122"/>
                <a:cs typeface="Consolas" pitchFamily="49" charset="0"/>
              </a:rPr>
              <a:t>【例</a:t>
            </a:r>
            <a:r>
              <a:rPr lang="en-US" altLang="zh-CN" sz="2000" smtClean="0">
                <a:solidFill>
                  <a:srgbClr val="FF0000"/>
                </a:solidFill>
                <a:latin typeface="Consolas" pitchFamily="49" charset="0"/>
                <a:ea typeface="楷体" pitchFamily="49" charset="-122"/>
                <a:cs typeface="Consolas" pitchFamily="49" charset="0"/>
              </a:rPr>
              <a:t>7.17</a:t>
            </a:r>
            <a:r>
              <a:rPr lang="zh-CN" altLang="zh-CN" sz="2000" smtClean="0">
                <a:solidFill>
                  <a:srgbClr val="FF0000"/>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采用层次遍历方法设计例</a:t>
            </a:r>
            <a:r>
              <a:rPr lang="en-US" altLang="zh-CN" sz="2000" smtClean="0">
                <a:solidFill>
                  <a:srgbClr val="0000FF"/>
                </a:solidFill>
                <a:latin typeface="Consolas" pitchFamily="49" charset="0"/>
                <a:ea typeface="楷体" pitchFamily="49" charset="-122"/>
                <a:cs typeface="Consolas" pitchFamily="49" charset="0"/>
              </a:rPr>
              <a:t>7.14</a:t>
            </a:r>
            <a:r>
              <a:rPr lang="zh-CN" altLang="zh-CN" sz="2000" smtClean="0">
                <a:solidFill>
                  <a:srgbClr val="0000FF"/>
                </a:solidFill>
                <a:latin typeface="Consolas" pitchFamily="49" charset="0"/>
                <a:ea typeface="楷体" pitchFamily="49" charset="-122"/>
                <a:cs typeface="Consolas" pitchFamily="49" charset="0"/>
              </a:rPr>
              <a:t>的算法，即求二叉树中第</a:t>
            </a:r>
            <a:r>
              <a:rPr lang="en-US" altLang="zh-CN" sz="2000" i="1" smtClean="0">
                <a:solidFill>
                  <a:srgbClr val="0000FF"/>
                </a:solidFill>
                <a:latin typeface="Consolas" pitchFamily="49" charset="0"/>
                <a:ea typeface="楷体" pitchFamily="49" charset="-122"/>
                <a:cs typeface="Consolas" pitchFamily="49" charset="0"/>
              </a:rPr>
              <a:t>k</a:t>
            </a:r>
            <a:r>
              <a:rPr lang="zh-CN" altLang="zh-CN"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mj-ea"/>
                <a:ea typeface="+mj-ea"/>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k</a:t>
            </a:r>
            <a:r>
              <a:rPr lang="zh-CN" altLang="zh-CN" sz="2000" smtClean="0">
                <a:solidFill>
                  <a:srgbClr val="0000FF"/>
                </a:solidFill>
                <a:latin typeface="+mn-ea"/>
                <a:ea typeface="+mn-ea"/>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二叉树高度）层的结点个数。</a:t>
            </a:r>
          </a:p>
        </p:txBody>
      </p:sp>
      <p:sp>
        <p:nvSpPr>
          <p:cNvPr id="7" name="灯片编号占位符 6"/>
          <p:cNvSpPr>
            <a:spLocks noGrp="1"/>
          </p:cNvSpPr>
          <p:nvPr>
            <p:ph type="sldNum" sz="quarter" idx="12"/>
          </p:nvPr>
        </p:nvSpPr>
        <p:spPr/>
        <p:txBody>
          <a:bodyPr/>
          <a:lstStyle/>
          <a:p>
            <a:fld id="{67864EE2-EAB3-4814-A7EB-820BD7610F1E}" type="slidenum">
              <a:rPr lang="en-US" altLang="zh-CN" smtClean="0"/>
              <a:pPr/>
              <a:t>5</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5984" y="357166"/>
            <a:ext cx="928694" cy="45318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bodyPr>
          <a:lstStyle/>
          <a:p>
            <a:pPr>
              <a:lnSpc>
                <a:spcPct val="100000"/>
              </a:lnSpc>
              <a:spcBef>
                <a:spcPts val="0"/>
              </a:spcBef>
            </a:pPr>
            <a:r>
              <a:rPr lang="zh-CN" altLang="zh-CN" sz="2000" smtClean="0">
                <a:solidFill>
                  <a:srgbClr val="FF0000"/>
                </a:solidFill>
                <a:latin typeface="Consolas" pitchFamily="49" charset="0"/>
                <a:ea typeface="微软雅黑" pitchFamily="34" charset="-122"/>
                <a:cs typeface="Consolas" pitchFamily="49" charset="0"/>
              </a:rPr>
              <a:t>解法</a:t>
            </a:r>
            <a:r>
              <a:rPr lang="en-US" altLang="zh-CN" sz="2000" smtClean="0">
                <a:solidFill>
                  <a:srgbClr val="FF0000"/>
                </a:solidFill>
                <a:latin typeface="Consolas" pitchFamily="49" charset="0"/>
                <a:ea typeface="微软雅黑" pitchFamily="34" charset="-122"/>
                <a:cs typeface="Consolas" pitchFamily="49" charset="0"/>
              </a:rPr>
              <a:t>1</a:t>
            </a:r>
            <a:endParaRPr lang="zh-CN" altLang="en-US" sz="2000" smtClean="0">
              <a:solidFill>
                <a:srgbClr val="FF0000"/>
              </a:solidFill>
              <a:latin typeface="Consolas" pitchFamily="49" charset="0"/>
              <a:ea typeface="微软雅黑" pitchFamily="34" charset="-122"/>
              <a:cs typeface="Consolas" pitchFamily="49" charset="0"/>
            </a:endParaRPr>
          </a:p>
        </p:txBody>
      </p:sp>
      <p:sp>
        <p:nvSpPr>
          <p:cNvPr id="7" name="TextBox 6"/>
          <p:cNvSpPr txBox="1"/>
          <p:nvPr/>
        </p:nvSpPr>
        <p:spPr>
          <a:xfrm>
            <a:off x="571472" y="1214422"/>
            <a:ext cx="7929618" cy="4549936"/>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用</a:t>
            </a:r>
            <a:r>
              <a:rPr lang="en-US" altLang="zh-CN" sz="2000" smtClean="0">
                <a:solidFill>
                  <a:srgbClr val="0000FF"/>
                </a:solidFill>
                <a:latin typeface="Consolas" pitchFamily="49" charset="0"/>
                <a:ea typeface="仿宋" pitchFamily="49" charset="-122"/>
                <a:cs typeface="Consolas" pitchFamily="49" charset="0"/>
              </a:rPr>
              <a:t>cnt</a:t>
            </a:r>
            <a:r>
              <a:rPr lang="zh-CN" altLang="zh-CN" sz="2000" smtClean="0">
                <a:solidFill>
                  <a:srgbClr val="0000FF"/>
                </a:solidFill>
                <a:latin typeface="Consolas" pitchFamily="49" charset="0"/>
                <a:ea typeface="仿宋" pitchFamily="49" charset="-122"/>
                <a:cs typeface="Consolas" pitchFamily="49" charset="0"/>
              </a:rPr>
              <a:t>变量计第</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层结点个数（初始为</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设计队列中元素类型为</a:t>
            </a:r>
            <a:r>
              <a:rPr lang="en-US" altLang="zh-CN" sz="2000" smtClean="0">
                <a:solidFill>
                  <a:srgbClr val="0000FF"/>
                </a:solidFill>
                <a:latin typeface="Consolas" pitchFamily="49" charset="0"/>
                <a:ea typeface="仿宋" pitchFamily="49" charset="-122"/>
                <a:cs typeface="Consolas" pitchFamily="49" charset="0"/>
              </a:rPr>
              <a:t>QNode</a:t>
            </a:r>
            <a:r>
              <a:rPr lang="zh-CN" altLang="zh-CN" sz="2000" smtClean="0">
                <a:solidFill>
                  <a:srgbClr val="0000FF"/>
                </a:solidFill>
                <a:latin typeface="Consolas" pitchFamily="49" charset="0"/>
                <a:ea typeface="仿宋" pitchFamily="49" charset="-122"/>
                <a:cs typeface="Consolas" pitchFamily="49" charset="0"/>
              </a:rPr>
              <a:t>类，包含表示</a:t>
            </a:r>
            <a:r>
              <a:rPr lang="zh-CN" altLang="zh-CN" sz="2000" smtClean="0">
                <a:solidFill>
                  <a:srgbClr val="FF0000"/>
                </a:solidFill>
                <a:latin typeface="Consolas" pitchFamily="49" charset="0"/>
                <a:ea typeface="仿宋" pitchFamily="49" charset="-122"/>
                <a:cs typeface="Consolas" pitchFamily="49" charset="0"/>
              </a:rPr>
              <a:t>当前结点层次</a:t>
            </a:r>
            <a:r>
              <a:rPr lang="en-US" altLang="zh-CN" sz="2000" smtClean="0">
                <a:solidFill>
                  <a:srgbClr val="FF0000"/>
                </a:solidFill>
                <a:latin typeface="Consolas" pitchFamily="49" charset="0"/>
                <a:ea typeface="仿宋" pitchFamily="49" charset="-122"/>
                <a:cs typeface="Consolas" pitchFamily="49" charset="0"/>
              </a:rPr>
              <a:t>lev</a:t>
            </a:r>
            <a:r>
              <a:rPr lang="zh-CN" altLang="zh-CN" sz="2000" smtClean="0">
                <a:solidFill>
                  <a:srgbClr val="0000FF"/>
                </a:solidFill>
                <a:latin typeface="Consolas" pitchFamily="49" charset="0"/>
                <a:ea typeface="仿宋" pitchFamily="49" charset="-122"/>
                <a:cs typeface="Consolas" pitchFamily="49" charset="0"/>
              </a:rPr>
              <a:t>和</a:t>
            </a:r>
            <a:r>
              <a:rPr lang="zh-CN" altLang="zh-CN" sz="2000" smtClean="0">
                <a:solidFill>
                  <a:srgbClr val="FF0000"/>
                </a:solidFill>
                <a:latin typeface="Consolas" pitchFamily="49" charset="0"/>
                <a:ea typeface="仿宋" pitchFamily="49" charset="-122"/>
                <a:cs typeface="Consolas" pitchFamily="49" charset="0"/>
              </a:rPr>
              <a:t>结点</a:t>
            </a:r>
            <a:r>
              <a:rPr lang="zh-CN" altLang="en-US" sz="2000" smtClean="0">
                <a:solidFill>
                  <a:srgbClr val="FF0000"/>
                </a:solidFill>
                <a:latin typeface="Consolas" pitchFamily="49" charset="0"/>
                <a:ea typeface="仿宋" pitchFamily="49" charset="-122"/>
                <a:cs typeface="Consolas" pitchFamily="49" charset="0"/>
              </a:rPr>
              <a:t>地址</a:t>
            </a:r>
            <a:r>
              <a:rPr lang="en-US" altLang="zh-CN" sz="2000" smtClean="0">
                <a:solidFill>
                  <a:srgbClr val="FF0000"/>
                </a:solidFill>
                <a:latin typeface="Consolas" pitchFamily="49" charset="0"/>
                <a:ea typeface="仿宋" pitchFamily="49" charset="-122"/>
                <a:cs typeface="Consolas" pitchFamily="49" charset="0"/>
              </a:rPr>
              <a:t>node</a:t>
            </a:r>
            <a:r>
              <a:rPr lang="zh-CN" altLang="zh-CN" sz="2000" smtClean="0">
                <a:solidFill>
                  <a:srgbClr val="0000FF"/>
                </a:solidFill>
                <a:latin typeface="Consolas" pitchFamily="49" charset="0"/>
                <a:ea typeface="仿宋" pitchFamily="49" charset="-122"/>
                <a:cs typeface="Consolas" pitchFamily="49" charset="0"/>
              </a:rPr>
              <a:t>两个成员变量。先将根结点进队（根结点的层次为</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）。在层次遍历中出队一个结点</a:t>
            </a:r>
            <a:r>
              <a:rPr lang="en-US" altLang="zh-CN" sz="2000" i="1" smtClean="0">
                <a:solidFill>
                  <a:srgbClr val="0000FF"/>
                </a:solidFill>
                <a:latin typeface="Consolas" pitchFamily="49" charset="0"/>
                <a:ea typeface="仿宋" pitchFamily="49" charset="-122"/>
                <a:cs typeface="Consolas" pitchFamily="49" charset="0"/>
              </a:rPr>
              <a:t>p</a:t>
            </a:r>
            <a:r>
              <a:rPr lang="zh-CN" altLang="zh-CN" sz="2000" smtClean="0">
                <a:solidFill>
                  <a:srgbClr val="0000FF"/>
                </a:solidFill>
                <a:latin typeface="Consolas" pitchFamily="49" charset="0"/>
                <a:ea typeface="仿宋" pitchFamily="49" charset="-122"/>
                <a:cs typeface="Consolas" pitchFamily="49" charset="0"/>
              </a:rPr>
              <a:t>：</a:t>
            </a:r>
          </a:p>
          <a:p>
            <a:pPr marL="914400" lvl="1" indent="-457200" algn="l">
              <a:lnSpc>
                <a:spcPts val="2800"/>
              </a:lnSpc>
              <a:spcBef>
                <a:spcPts val="1200"/>
              </a:spcBef>
              <a:buFont typeface="+mj-ea"/>
              <a:buAutoNum type="circleNumDbPlain"/>
            </a:pPr>
            <a:r>
              <a:rPr lang="zh-CN" altLang="zh-CN" sz="2000" smtClean="0">
                <a:solidFill>
                  <a:srgbClr val="0000FF"/>
                </a:solidFill>
                <a:latin typeface="Consolas" pitchFamily="49" charset="0"/>
                <a:ea typeface="仿宋" pitchFamily="49" charset="-122"/>
                <a:cs typeface="Consolas" pitchFamily="49" charset="0"/>
              </a:rPr>
              <a:t>若结点</a:t>
            </a:r>
            <a:r>
              <a:rPr lang="en-US" altLang="zh-CN" sz="2000" i="1" smtClean="0">
                <a:solidFill>
                  <a:srgbClr val="0000FF"/>
                </a:solidFill>
                <a:latin typeface="Consolas" pitchFamily="49" charset="0"/>
                <a:ea typeface="仿宋" pitchFamily="49" charset="-122"/>
                <a:cs typeface="Consolas" pitchFamily="49" charset="0"/>
              </a:rPr>
              <a:t>p</a:t>
            </a:r>
            <a:r>
              <a:rPr lang="zh-CN" altLang="zh-CN" sz="2000" smtClean="0">
                <a:solidFill>
                  <a:srgbClr val="0000FF"/>
                </a:solidFill>
                <a:latin typeface="Consolas" pitchFamily="49" charset="0"/>
                <a:ea typeface="仿宋" pitchFamily="49" charset="-122"/>
                <a:cs typeface="Consolas" pitchFamily="49" charset="0"/>
              </a:rPr>
              <a:t>层次大于</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，返回</a:t>
            </a:r>
            <a:r>
              <a:rPr lang="en-US" altLang="zh-CN" sz="2000" smtClean="0">
                <a:solidFill>
                  <a:srgbClr val="0000FF"/>
                </a:solidFill>
                <a:latin typeface="Consolas" pitchFamily="49" charset="0"/>
                <a:ea typeface="仿宋" pitchFamily="49" charset="-122"/>
                <a:cs typeface="Consolas" pitchFamily="49" charset="0"/>
              </a:rPr>
              <a:t>cnt</a:t>
            </a:r>
            <a:r>
              <a:rPr lang="zh-CN" altLang="zh-CN" sz="2000" smtClean="0">
                <a:solidFill>
                  <a:srgbClr val="0000FF"/>
                </a:solidFill>
                <a:latin typeface="Consolas" pitchFamily="49" charset="0"/>
                <a:ea typeface="仿宋" pitchFamily="49" charset="-122"/>
                <a:cs typeface="Consolas" pitchFamily="49" charset="0"/>
              </a:rPr>
              <a:t>（继续层次遍历不可能再找到第</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层的结点）。</a:t>
            </a:r>
          </a:p>
          <a:p>
            <a:pPr marL="914400" lvl="1" indent="-457200" algn="l">
              <a:lnSpc>
                <a:spcPts val="2800"/>
              </a:lnSpc>
              <a:spcBef>
                <a:spcPts val="1200"/>
              </a:spcBef>
              <a:buFont typeface="+mj-ea"/>
              <a:buAutoNum type="circleNumDbPlain"/>
            </a:pPr>
            <a:r>
              <a:rPr lang="zh-CN" altLang="zh-CN" sz="2000" smtClean="0">
                <a:solidFill>
                  <a:srgbClr val="0000FF"/>
                </a:solidFill>
                <a:latin typeface="Consolas" pitchFamily="49" charset="0"/>
                <a:ea typeface="仿宋" pitchFamily="49" charset="-122"/>
                <a:cs typeface="Consolas" pitchFamily="49" charset="0"/>
              </a:rPr>
              <a:t>若结点</a:t>
            </a:r>
            <a:r>
              <a:rPr lang="en-US" altLang="zh-CN" sz="2000" i="1" smtClean="0">
                <a:solidFill>
                  <a:srgbClr val="0000FF"/>
                </a:solidFill>
                <a:latin typeface="Consolas" pitchFamily="49" charset="0"/>
                <a:ea typeface="仿宋" pitchFamily="49" charset="-122"/>
                <a:cs typeface="Consolas" pitchFamily="49" charset="0"/>
              </a:rPr>
              <a:t>p</a:t>
            </a:r>
            <a:r>
              <a:rPr lang="zh-CN" altLang="zh-CN" sz="2000" smtClean="0">
                <a:solidFill>
                  <a:srgbClr val="0000FF"/>
                </a:solidFill>
                <a:latin typeface="Consolas" pitchFamily="49" charset="0"/>
                <a:ea typeface="仿宋" pitchFamily="49" charset="-122"/>
                <a:cs typeface="Consolas" pitchFamily="49" charset="0"/>
              </a:rPr>
              <a:t>是第</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层的结点（</a:t>
            </a:r>
            <a:r>
              <a:rPr lang="en-US" altLang="zh-CN" sz="2000" smtClean="0">
                <a:solidFill>
                  <a:srgbClr val="0000FF"/>
                </a:solidFill>
                <a:latin typeface="Consolas" pitchFamily="49" charset="0"/>
                <a:ea typeface="仿宋" pitchFamily="49" charset="-122"/>
                <a:cs typeface="Consolas" pitchFamily="49" charset="0"/>
              </a:rPr>
              <a:t>p.lev=</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cnt</a:t>
            </a:r>
            <a:r>
              <a:rPr lang="zh-CN" altLang="zh-CN" sz="2000" smtClean="0">
                <a:solidFill>
                  <a:srgbClr val="0000FF"/>
                </a:solidFill>
                <a:latin typeface="Consolas" pitchFamily="49" charset="0"/>
                <a:ea typeface="仿宋" pitchFamily="49" charset="-122"/>
                <a:cs typeface="Consolas" pitchFamily="49" charset="0"/>
              </a:rPr>
              <a:t>增</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p>
          <a:p>
            <a:pPr marL="914400" lvl="1" indent="-457200" algn="l">
              <a:lnSpc>
                <a:spcPts val="2800"/>
              </a:lnSpc>
              <a:spcBef>
                <a:spcPts val="1200"/>
              </a:spcBef>
              <a:buFont typeface="+mj-ea"/>
              <a:buAutoNum type="circleNumDbPlain"/>
            </a:pPr>
            <a:r>
              <a:rPr lang="zh-CN" altLang="zh-CN" sz="2000" smtClean="0">
                <a:solidFill>
                  <a:srgbClr val="0000FF"/>
                </a:solidFill>
                <a:latin typeface="Consolas" pitchFamily="49" charset="0"/>
                <a:ea typeface="仿宋" pitchFamily="49" charset="-122"/>
                <a:cs typeface="Consolas" pitchFamily="49" charset="0"/>
              </a:rPr>
              <a:t>若结点</a:t>
            </a:r>
            <a:r>
              <a:rPr lang="en-US" altLang="zh-CN" sz="2000" i="1" smtClean="0">
                <a:solidFill>
                  <a:srgbClr val="0000FF"/>
                </a:solidFill>
                <a:latin typeface="Consolas" pitchFamily="49" charset="0"/>
                <a:ea typeface="仿宋" pitchFamily="49" charset="-122"/>
                <a:cs typeface="Consolas" pitchFamily="49" charset="0"/>
              </a:rPr>
              <a:t>p</a:t>
            </a:r>
            <a:r>
              <a:rPr lang="zh-CN" altLang="zh-CN" sz="2000" smtClean="0">
                <a:solidFill>
                  <a:srgbClr val="0000FF"/>
                </a:solidFill>
                <a:latin typeface="Consolas" pitchFamily="49" charset="0"/>
                <a:ea typeface="仿宋" pitchFamily="49" charset="-122"/>
                <a:cs typeface="Consolas" pitchFamily="49" charset="0"/>
              </a:rPr>
              <a:t>的层次小于</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，将其孩子结点进队，孩子结点的层次为双亲结点的层次加</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p>
          <a:p>
            <a:pPr marL="457200" indent="-457200" algn="l">
              <a:lnSpc>
                <a:spcPts val="28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最后返回</a:t>
            </a:r>
            <a:r>
              <a:rPr lang="en-US" altLang="zh-CN" sz="2000" smtClean="0">
                <a:solidFill>
                  <a:srgbClr val="0000FF"/>
                </a:solidFill>
                <a:latin typeface="Consolas" pitchFamily="49" charset="0"/>
                <a:ea typeface="仿宋" pitchFamily="49" charset="-122"/>
                <a:cs typeface="Consolas" pitchFamily="49" charset="0"/>
              </a:rPr>
              <a:t>cnt</a:t>
            </a:r>
            <a:r>
              <a:rPr lang="zh-CN"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pic>
        <p:nvPicPr>
          <p:cNvPr id="8" name="Picture 2"/>
          <p:cNvPicPr>
            <a:picLocks noChangeAspect="1" noChangeArrowheads="1"/>
          </p:cNvPicPr>
          <p:nvPr/>
        </p:nvPicPr>
        <p:blipFill>
          <a:blip r:embed="rId3" cstate="print"/>
          <a:srcRect/>
          <a:stretch>
            <a:fillRect/>
          </a:stretch>
        </p:blipFill>
        <p:spPr bwMode="auto">
          <a:xfrm>
            <a:off x="500034" y="214290"/>
            <a:ext cx="1643074" cy="796023"/>
          </a:xfrm>
          <a:prstGeom prst="rect">
            <a:avLst/>
          </a:prstGeom>
          <a:noFill/>
          <a:ln w="9525">
            <a:noFill/>
            <a:miter lim="800000"/>
            <a:headEnd/>
            <a:tailEnd/>
          </a:ln>
        </p:spPr>
      </p:pic>
      <p:sp>
        <p:nvSpPr>
          <p:cNvPr id="9" name="灯片编号占位符 8"/>
          <p:cNvSpPr>
            <a:spLocks noGrp="1"/>
          </p:cNvSpPr>
          <p:nvPr>
            <p:ph type="sldNum" sz="quarter" idx="12"/>
          </p:nvPr>
        </p:nvSpPr>
        <p:spPr/>
        <p:txBody>
          <a:bodyPr/>
          <a:lstStyle/>
          <a:p>
            <a:fld id="{67864EE2-EAB3-4814-A7EB-820BD7610F1E}" type="slidenum">
              <a:rPr lang="en-US" altLang="zh-CN" smtClean="0"/>
              <a:pPr/>
              <a:t>6</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357158" y="642918"/>
            <a:ext cx="8572560" cy="3089083"/>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08000"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struct </a:t>
            </a:r>
            <a:r>
              <a:rPr lang="en-US" altLang="zh-CN" sz="1800" smtClean="0">
                <a:solidFill>
                  <a:srgbClr val="FF0000"/>
                </a:solidFill>
                <a:latin typeface="Consolas" pitchFamily="49" charset="0"/>
                <a:ea typeface="仿宋" pitchFamily="49" charset="-122"/>
                <a:cs typeface="Consolas" pitchFamily="49" charset="0"/>
              </a:rPr>
              <a:t>QNode</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队列元素类</a:t>
            </a:r>
          </a:p>
          <a:p>
            <a:pPr algn="l"/>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9900"/>
                </a:solidFill>
                <a:latin typeface="Consolas" pitchFamily="49" charset="0"/>
                <a:ea typeface="仿宋" pitchFamily="49" charset="-122"/>
                <a:cs typeface="Consolas" pitchFamily="49" charset="0"/>
              </a:rPr>
              <a:t>int lev;</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结点的层次</a:t>
            </a:r>
          </a:p>
          <a:p>
            <a:pPr algn="l"/>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9900"/>
                </a:solidFill>
                <a:latin typeface="Consolas" pitchFamily="49" charset="0"/>
                <a:ea typeface="仿宋" pitchFamily="49" charset="-122"/>
                <a:cs typeface="Consolas" pitchFamily="49" charset="0"/>
              </a:rPr>
              <a:t>BTNode* node</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结点指针</a:t>
            </a:r>
          </a:p>
          <a:p>
            <a:pPr algn="l">
              <a:spcBef>
                <a:spcPts val="1800"/>
              </a:spcBef>
            </a:pPr>
            <a:r>
              <a:rPr lang="en-US" altLang="zh-CN" sz="1800" smtClean="0">
                <a:solidFill>
                  <a:srgbClr val="0000FF"/>
                </a:solidFill>
                <a:latin typeface="Consolas" pitchFamily="49" charset="0"/>
                <a:ea typeface="仿宋" pitchFamily="49" charset="-122"/>
                <a:cs typeface="Consolas" pitchFamily="49" charset="0"/>
              </a:rPr>
              <a:t>   QNode(int l,BTNode* p)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构造函数</a:t>
            </a:r>
          </a:p>
          <a:p>
            <a:pPr algn="l"/>
            <a:r>
              <a:rPr lang="en-US" altLang="zh-CN" sz="1800" smtClean="0">
                <a:solidFill>
                  <a:srgbClr val="0000FF"/>
                </a:solidFill>
                <a:latin typeface="Consolas" pitchFamily="49" charset="0"/>
                <a:ea typeface="仿宋" pitchFamily="49" charset="-122"/>
                <a:cs typeface="Consolas" pitchFamily="49" charset="0"/>
              </a:rPr>
              <a:t>   {  lev=l;</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node=p;</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7</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142844" y="190285"/>
            <a:ext cx="8858312" cy="577426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0" rtlCol="0">
            <a:spAutoFit/>
          </a:bodyPr>
          <a:lstStyle/>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KCount1</a:t>
            </a:r>
            <a:r>
              <a:rPr lang="en-US" altLang="zh-CN" sz="1800" smtClean="0">
                <a:solidFill>
                  <a:srgbClr val="0000FF"/>
                </a:solidFill>
                <a:latin typeface="Consolas" pitchFamily="49" charset="0"/>
                <a:ea typeface="仿宋" pitchFamily="49" charset="-122"/>
                <a:cs typeface="Consolas" pitchFamily="49" charset="0"/>
              </a:rPr>
              <a:t>(BTree&amp; bt,int k)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解法</a:t>
            </a:r>
            <a:r>
              <a:rPr lang="en-US" altLang="zh-CN" sz="1800" smtClean="0">
                <a:solidFill>
                  <a:schemeClr val="bg1">
                    <a:lumMod val="50000"/>
                  </a:schemeClr>
                </a:solidFill>
                <a:latin typeface="Consolas" pitchFamily="49" charset="0"/>
                <a:ea typeface="仿宋" pitchFamily="49" charset="-122"/>
                <a:cs typeface="Consolas" pitchFamily="49" charset="0"/>
              </a:rPr>
              <a:t>1</a:t>
            </a:r>
            <a:r>
              <a:rPr lang="zh-CN" altLang="zh-CN" sz="1800" smtClean="0">
                <a:solidFill>
                  <a:schemeClr val="bg1">
                    <a:lumMod val="50000"/>
                  </a:schemeClr>
                </a:solidFill>
                <a:latin typeface="Consolas" pitchFamily="49" charset="0"/>
                <a:ea typeface="仿宋" pitchFamily="49" charset="-122"/>
                <a:cs typeface="Consolas" pitchFamily="49" charset="0"/>
              </a:rPr>
              <a:t>：求二叉树第</a:t>
            </a:r>
            <a:r>
              <a:rPr lang="en-US" altLang="zh-CN" sz="1800" smtClean="0">
                <a:solidFill>
                  <a:schemeClr val="bg1">
                    <a:lumMod val="50000"/>
                  </a:schemeClr>
                </a:solidFill>
                <a:latin typeface="Consolas" pitchFamily="49" charset="0"/>
                <a:ea typeface="仿宋" pitchFamily="49" charset="-122"/>
                <a:cs typeface="Consolas" pitchFamily="49" charset="0"/>
              </a:rPr>
              <a:t>k</a:t>
            </a:r>
            <a:r>
              <a:rPr lang="zh-CN" altLang="zh-CN" sz="1800" smtClean="0">
                <a:solidFill>
                  <a:schemeClr val="bg1">
                    <a:lumMod val="50000"/>
                  </a:schemeClr>
                </a:solidFill>
                <a:latin typeface="Consolas" pitchFamily="49" charset="0"/>
                <a:ea typeface="仿宋" pitchFamily="49" charset="-122"/>
                <a:cs typeface="Consolas" pitchFamily="49" charset="0"/>
              </a:rPr>
              <a:t>层结点个数</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int cnt=0;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累计第</a:t>
            </a:r>
            <a:r>
              <a:rPr lang="en-US" altLang="zh-CN" sz="1800" smtClean="0">
                <a:solidFill>
                  <a:schemeClr val="bg1">
                    <a:lumMod val="50000"/>
                  </a:schemeClr>
                </a:solidFill>
                <a:latin typeface="Consolas" pitchFamily="49" charset="0"/>
                <a:ea typeface="仿宋" pitchFamily="49" charset="-122"/>
                <a:cs typeface="Consolas" pitchFamily="49" charset="0"/>
              </a:rPr>
              <a:t>k</a:t>
            </a:r>
            <a:r>
              <a:rPr lang="zh-CN" altLang="zh-CN" sz="1800" smtClean="0">
                <a:solidFill>
                  <a:schemeClr val="bg1">
                    <a:lumMod val="50000"/>
                  </a:schemeClr>
                </a:solidFill>
                <a:latin typeface="Consolas" pitchFamily="49" charset="0"/>
                <a:ea typeface="仿宋" pitchFamily="49" charset="-122"/>
                <a:cs typeface="Consolas" pitchFamily="49" charset="0"/>
              </a:rPr>
              <a:t>层结点个数</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queue&lt;QNode&gt; qu;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定义一个队列</a:t>
            </a:r>
            <a:r>
              <a:rPr lang="en-US" altLang="zh-CN" sz="1800" smtClean="0">
                <a:solidFill>
                  <a:schemeClr val="bg1">
                    <a:lumMod val="50000"/>
                  </a:schemeClr>
                </a:solidFill>
                <a:latin typeface="Consolas" pitchFamily="49" charset="0"/>
                <a:ea typeface="仿宋" pitchFamily="49" charset="-122"/>
                <a:cs typeface="Consolas" pitchFamily="49" charset="0"/>
              </a:rPr>
              <a:t>qu</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qu.push(QNode(1,bt.r));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根结点</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层次为</a:t>
            </a:r>
            <a:r>
              <a:rPr lang="en-US" altLang="zh-CN" sz="1800" smtClean="0">
                <a:solidFill>
                  <a:schemeClr val="bg1">
                    <a:lumMod val="50000"/>
                  </a:schemeClr>
                </a:solidFill>
                <a:latin typeface="Consolas" pitchFamily="49" charset="0"/>
                <a:ea typeface="仿宋" pitchFamily="49" charset="-122"/>
                <a:cs typeface="Consolas" pitchFamily="49" charset="0"/>
              </a:rPr>
              <a:t>1)</a:t>
            </a:r>
            <a:r>
              <a:rPr lang="zh-CN" altLang="zh-CN" sz="1800" smtClean="0">
                <a:solidFill>
                  <a:schemeClr val="bg1">
                    <a:lumMod val="50000"/>
                  </a:schemeClr>
                </a:solidFill>
                <a:latin typeface="Consolas" pitchFamily="49" charset="0"/>
                <a:ea typeface="仿宋" pitchFamily="49" charset="-122"/>
                <a:cs typeface="Consolas" pitchFamily="49" charset="0"/>
              </a:rPr>
              <a:t>进队</a:t>
            </a:r>
          </a:p>
          <a:p>
            <a:pPr algn="l">
              <a:lnSpc>
                <a:spcPct val="1500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(!qu.empty())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队不空循环</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  QNode p=qu.front(); qu.pop();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出队一个结点</a:t>
            </a:r>
          </a:p>
          <a:p>
            <a:pPr algn="l">
              <a:lnSpc>
                <a:spcPct val="150000"/>
              </a:lnSpc>
              <a:spcBef>
                <a:spcPts val="0"/>
              </a:spcBef>
            </a:pPr>
            <a:r>
              <a:rPr lang="en-US" altLang="zh-CN" sz="1800" smtClean="0">
                <a:solidFill>
                  <a:srgbClr val="0000FF"/>
                </a:solidFill>
                <a:latin typeface="Consolas" pitchFamily="49" charset="0"/>
                <a:ea typeface="仿宋" pitchFamily="49" charset="-122"/>
                <a:cs typeface="Consolas" pitchFamily="49" charset="0"/>
              </a:rPr>
              <a:t>      if (</a:t>
            </a:r>
            <a:r>
              <a:rPr lang="en-US" altLang="zh-CN" sz="1800" smtClean="0">
                <a:solidFill>
                  <a:srgbClr val="FF00FF"/>
                </a:solidFill>
                <a:latin typeface="Consolas" pitchFamily="49" charset="0"/>
                <a:ea typeface="仿宋" pitchFamily="49" charset="-122"/>
                <a:cs typeface="Consolas" pitchFamily="49" charset="0"/>
              </a:rPr>
              <a:t>p.lev&gt;k</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当前结点的层次大于</a:t>
            </a:r>
            <a:r>
              <a:rPr lang="en-US" altLang="zh-CN" sz="1800" smtClean="0">
                <a:solidFill>
                  <a:schemeClr val="bg1">
                    <a:lumMod val="50000"/>
                  </a:schemeClr>
                </a:solidFill>
                <a:latin typeface="Consolas" pitchFamily="49" charset="0"/>
                <a:ea typeface="仿宋" pitchFamily="49" charset="-122"/>
                <a:cs typeface="Consolas" pitchFamily="49" charset="0"/>
              </a:rPr>
              <a:t>k</a:t>
            </a:r>
            <a:r>
              <a:rPr lang="zh-CN" altLang="zh-CN" sz="1800" smtClean="0">
                <a:solidFill>
                  <a:schemeClr val="bg1">
                    <a:lumMod val="50000"/>
                  </a:schemeClr>
                </a:solidFill>
                <a:latin typeface="Consolas" pitchFamily="49" charset="0"/>
                <a:ea typeface="仿宋" pitchFamily="49" charset="-122"/>
                <a:cs typeface="Consolas" pitchFamily="49" charset="0"/>
              </a:rPr>
              <a:t>，返回</a:t>
            </a:r>
            <a:r>
              <a:rPr lang="en-US" altLang="zh-CN" sz="1800" smtClean="0">
                <a:solidFill>
                  <a:schemeClr val="bg1">
                    <a:lumMod val="50000"/>
                  </a:schemeClr>
                </a:solidFill>
                <a:latin typeface="Consolas" pitchFamily="49" charset="0"/>
                <a:ea typeface="仿宋" pitchFamily="49" charset="-122"/>
                <a:cs typeface="Consolas" pitchFamily="49" charset="0"/>
              </a:rPr>
              <a:t>cnt</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cnt;</a:t>
            </a:r>
            <a:endParaRPr lang="zh-CN" altLang="zh-CN" sz="1800" smtClean="0">
              <a:solidFill>
                <a:srgbClr val="0000FF"/>
              </a:solidFill>
              <a:latin typeface="Consolas" pitchFamily="49" charset="0"/>
              <a:ea typeface="仿宋" pitchFamily="49" charset="-122"/>
              <a:cs typeface="Consolas" pitchFamily="49" charset="0"/>
            </a:endParaRPr>
          </a:p>
          <a:p>
            <a:pPr algn="l">
              <a:lnSpc>
                <a:spcPct val="150000"/>
              </a:lnSpc>
              <a:spcBef>
                <a:spcPts val="0"/>
              </a:spcBef>
            </a:pPr>
            <a:r>
              <a:rPr lang="en-US" altLang="zh-CN" sz="1800" smtClean="0">
                <a:solidFill>
                  <a:srgbClr val="0000FF"/>
                </a:solidFill>
                <a:latin typeface="Consolas" pitchFamily="49" charset="0"/>
                <a:ea typeface="仿宋" pitchFamily="49" charset="-122"/>
                <a:cs typeface="Consolas" pitchFamily="49" charset="0"/>
              </a:rPr>
              <a:t>      if (</a:t>
            </a:r>
            <a:r>
              <a:rPr lang="en-US" altLang="zh-CN" sz="1800" smtClean="0">
                <a:solidFill>
                  <a:srgbClr val="FF00FF"/>
                </a:solidFill>
                <a:latin typeface="Consolas" pitchFamily="49" charset="0"/>
                <a:ea typeface="仿宋" pitchFamily="49" charset="-122"/>
                <a:cs typeface="Consolas" pitchFamily="49" charset="0"/>
              </a:rPr>
              <a:t>p.lev==k</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cnt++;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当前结点是第</a:t>
            </a:r>
            <a:r>
              <a:rPr lang="en-US" altLang="zh-CN" sz="1800" smtClean="0">
                <a:solidFill>
                  <a:schemeClr val="bg1">
                    <a:lumMod val="50000"/>
                  </a:schemeClr>
                </a:solidFill>
                <a:latin typeface="Consolas" pitchFamily="49" charset="0"/>
                <a:ea typeface="仿宋" pitchFamily="49" charset="-122"/>
                <a:cs typeface="Consolas" pitchFamily="49" charset="0"/>
              </a:rPr>
              <a:t>k</a:t>
            </a:r>
            <a:r>
              <a:rPr lang="zh-CN" altLang="zh-CN" sz="1800" smtClean="0">
                <a:solidFill>
                  <a:schemeClr val="bg1">
                    <a:lumMod val="50000"/>
                  </a:schemeClr>
                </a:solidFill>
                <a:latin typeface="Consolas" pitchFamily="49" charset="0"/>
                <a:ea typeface="仿宋" pitchFamily="49" charset="-122"/>
                <a:cs typeface="Consolas" pitchFamily="49" charset="0"/>
              </a:rPr>
              <a:t>层的结点</a:t>
            </a:r>
            <a:r>
              <a:rPr lang="en-US" altLang="zh-CN" sz="1800" smtClean="0">
                <a:solidFill>
                  <a:schemeClr val="bg1">
                    <a:lumMod val="50000"/>
                  </a:schemeClr>
                </a:solidFill>
                <a:latin typeface="Consolas" pitchFamily="49" charset="0"/>
                <a:ea typeface="仿宋" pitchFamily="49" charset="-122"/>
                <a:cs typeface="Consolas" pitchFamily="49" charset="0"/>
              </a:rPr>
              <a:t>,cnt</a:t>
            </a:r>
            <a:r>
              <a:rPr lang="zh-CN" altLang="zh-CN" sz="1800" smtClean="0">
                <a:solidFill>
                  <a:schemeClr val="bg1">
                    <a:lumMod val="50000"/>
                  </a:schemeClr>
                </a:solidFill>
                <a:latin typeface="Consolas" pitchFamily="49" charset="0"/>
                <a:ea typeface="仿宋" pitchFamily="49" charset="-122"/>
                <a:cs typeface="Consolas" pitchFamily="49" charset="0"/>
              </a:rPr>
              <a:t>增</a:t>
            </a:r>
            <a:r>
              <a:rPr lang="en-US" altLang="zh-CN" sz="1800" smtClean="0">
                <a:solidFill>
                  <a:schemeClr val="bg1">
                    <a:lumMod val="50000"/>
                  </a:schemeClr>
                </a:solidFill>
                <a:latin typeface="Consolas" pitchFamily="49" charset="0"/>
                <a:ea typeface="仿宋" pitchFamily="49" charset="-122"/>
                <a:cs typeface="Consolas" pitchFamily="49" charset="0"/>
              </a:rPr>
              <a:t>1</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ct val="150000"/>
              </a:lnSpc>
              <a:spcBef>
                <a:spcPts val="0"/>
              </a:spcBef>
            </a:pPr>
            <a:r>
              <a:rPr lang="en-US" altLang="zh-CN" sz="1800" smtClean="0">
                <a:solidFill>
                  <a:srgbClr val="0000FF"/>
                </a:solidFill>
                <a:latin typeface="Consolas" pitchFamily="49" charset="0"/>
                <a:ea typeface="仿宋" pitchFamily="49" charset="-122"/>
                <a:cs typeface="Consolas" pitchFamily="49" charset="0"/>
              </a:rPr>
              <a:t>      else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当前结点的层次小于</a:t>
            </a:r>
            <a:r>
              <a:rPr lang="en-US" altLang="zh-CN" sz="1800" smtClean="0">
                <a:solidFill>
                  <a:schemeClr val="bg1">
                    <a:lumMod val="50000"/>
                  </a:schemeClr>
                </a:solidFill>
                <a:latin typeface="Consolas" pitchFamily="49" charset="0"/>
                <a:ea typeface="仿宋" pitchFamily="49" charset="-122"/>
                <a:cs typeface="Consolas" pitchFamily="49" charset="0"/>
              </a:rPr>
              <a:t>k</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  if (p.node-&gt;lchild!=NULL)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有左孩子时将其进队</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qu.push(QNode(</a:t>
            </a:r>
            <a:r>
              <a:rPr lang="en-US" altLang="zh-CN" sz="1800" smtClean="0">
                <a:solidFill>
                  <a:srgbClr val="006600"/>
                </a:solidFill>
                <a:latin typeface="Consolas" pitchFamily="49" charset="0"/>
                <a:ea typeface="仿宋" pitchFamily="49" charset="-122"/>
                <a:cs typeface="Consolas" pitchFamily="49" charset="0"/>
              </a:rPr>
              <a:t>p.lev+1,p.node-&gt;lchild</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if (p.node-&gt;rchild!=NULL)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有右孩子时将其进队</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qu.push(QNode(</a:t>
            </a:r>
            <a:r>
              <a:rPr lang="en-US" altLang="zh-CN" sz="1800" smtClean="0">
                <a:solidFill>
                  <a:srgbClr val="006600"/>
                </a:solidFill>
                <a:latin typeface="Consolas" pitchFamily="49" charset="0"/>
                <a:ea typeface="仿宋" pitchFamily="49" charset="-122"/>
                <a:cs typeface="Consolas" pitchFamily="49" charset="0"/>
              </a:rPr>
              <a:t>p.lev+1,p.node-&gt;rchild</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cnt;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8</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642918"/>
            <a:ext cx="928694" cy="422405"/>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bodyPr>
          <a:lstStyle/>
          <a:p>
            <a:pPr>
              <a:lnSpc>
                <a:spcPct val="100000"/>
              </a:lnSpc>
              <a:spcBef>
                <a:spcPts val="0"/>
              </a:spcBef>
            </a:pPr>
            <a:r>
              <a:rPr lang="zh-CN" altLang="zh-CN" sz="1800" smtClean="0">
                <a:solidFill>
                  <a:srgbClr val="FF0000"/>
                </a:solidFill>
                <a:latin typeface="Consolas" pitchFamily="49" charset="0"/>
                <a:ea typeface="微软雅黑" pitchFamily="34" charset="-122"/>
                <a:cs typeface="Consolas" pitchFamily="49" charset="0"/>
              </a:rPr>
              <a:t>解法</a:t>
            </a:r>
            <a:r>
              <a:rPr lang="en-US" altLang="zh-CN" sz="1800" smtClean="0">
                <a:solidFill>
                  <a:srgbClr val="FF0000"/>
                </a:solidFill>
                <a:latin typeface="Consolas" pitchFamily="49" charset="0"/>
                <a:ea typeface="微软雅黑" pitchFamily="34" charset="-122"/>
                <a:cs typeface="Consolas" pitchFamily="49" charset="0"/>
              </a:rPr>
              <a:t>2</a:t>
            </a:r>
            <a:endParaRPr lang="zh-CN" altLang="en-US" sz="1800" smtClean="0">
              <a:solidFill>
                <a:srgbClr val="FF0000"/>
              </a:solidFill>
              <a:latin typeface="Consolas" pitchFamily="49" charset="0"/>
              <a:ea typeface="微软雅黑" pitchFamily="34" charset="-122"/>
              <a:cs typeface="Consolas" pitchFamily="49" charset="0"/>
            </a:endParaRPr>
          </a:p>
        </p:txBody>
      </p:sp>
      <p:sp>
        <p:nvSpPr>
          <p:cNvPr id="6" name="Line 34"/>
          <p:cNvSpPr>
            <a:spLocks noChangeShapeType="1"/>
          </p:cNvSpPr>
          <p:nvPr/>
        </p:nvSpPr>
        <p:spPr bwMode="auto">
          <a:xfrm>
            <a:off x="3921910" y="2468071"/>
            <a:ext cx="201626" cy="255318"/>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7" name="Freeform 45"/>
          <p:cNvSpPr>
            <a:spLocks/>
          </p:cNvSpPr>
          <p:nvPr/>
        </p:nvSpPr>
        <p:spPr bwMode="auto">
          <a:xfrm>
            <a:off x="3911784" y="2952109"/>
            <a:ext cx="208179" cy="328087"/>
          </a:xfrm>
          <a:custGeom>
            <a:avLst/>
            <a:gdLst/>
            <a:ahLst/>
            <a:cxnLst>
              <a:cxn ang="0">
                <a:pos x="233" y="0"/>
              </a:cxn>
              <a:cxn ang="0">
                <a:pos x="0" y="383"/>
              </a:cxn>
            </a:cxnLst>
            <a:rect l="0" t="0" r="r" b="b"/>
            <a:pathLst>
              <a:path w="233" h="383">
                <a:moveTo>
                  <a:pt x="233" y="0"/>
                </a:moveTo>
                <a:lnTo>
                  <a:pt x="0" y="38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8" name="Line 44"/>
          <p:cNvSpPr>
            <a:spLocks noChangeShapeType="1"/>
          </p:cNvSpPr>
          <p:nvPr/>
        </p:nvSpPr>
        <p:spPr bwMode="auto">
          <a:xfrm>
            <a:off x="3076388" y="3509772"/>
            <a:ext cx="308248" cy="334084"/>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9" name="Freeform 43"/>
          <p:cNvSpPr>
            <a:spLocks/>
          </p:cNvSpPr>
          <p:nvPr/>
        </p:nvSpPr>
        <p:spPr bwMode="auto">
          <a:xfrm>
            <a:off x="4287042" y="2921271"/>
            <a:ext cx="234983" cy="365779"/>
          </a:xfrm>
          <a:custGeom>
            <a:avLst/>
            <a:gdLst/>
            <a:ahLst/>
            <a:cxnLst>
              <a:cxn ang="0">
                <a:pos x="0" y="0"/>
              </a:cxn>
              <a:cxn ang="0">
                <a:pos x="263" y="427"/>
              </a:cxn>
            </a:cxnLst>
            <a:rect l="0" t="0" r="r" b="b"/>
            <a:pathLst>
              <a:path w="263" h="427">
                <a:moveTo>
                  <a:pt x="0" y="0"/>
                </a:moveTo>
                <a:lnTo>
                  <a:pt x="263" y="42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10" name="Line 42"/>
          <p:cNvSpPr>
            <a:spLocks noChangeShapeType="1"/>
          </p:cNvSpPr>
          <p:nvPr/>
        </p:nvSpPr>
        <p:spPr bwMode="auto">
          <a:xfrm flipH="1">
            <a:off x="3004017" y="2887006"/>
            <a:ext cx="285911" cy="40689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11" name="Line 41"/>
          <p:cNvSpPr>
            <a:spLocks noChangeShapeType="1"/>
          </p:cNvSpPr>
          <p:nvPr/>
        </p:nvSpPr>
        <p:spPr bwMode="auto">
          <a:xfrm flipH="1">
            <a:off x="3339962" y="2337052"/>
            <a:ext cx="477114" cy="40946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12" name="Oval 40"/>
          <p:cNvSpPr>
            <a:spLocks noChangeArrowheads="1"/>
          </p:cNvSpPr>
          <p:nvPr/>
        </p:nvSpPr>
        <p:spPr bwMode="auto">
          <a:xfrm>
            <a:off x="3662505" y="2214554"/>
            <a:ext cx="324000" cy="324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chemeClr val="bg1"/>
                </a:solidFill>
                <a:effectLst/>
                <a:latin typeface="Consolas" pitchFamily="49" charset="0"/>
                <a:ea typeface="仿宋" pitchFamily="49" charset="-122"/>
                <a:cs typeface="Consolas" pitchFamily="49" charset="0"/>
              </a:rPr>
              <a:t>A</a:t>
            </a:r>
          </a:p>
        </p:txBody>
      </p:sp>
      <p:sp>
        <p:nvSpPr>
          <p:cNvPr id="13" name="Oval 39"/>
          <p:cNvSpPr>
            <a:spLocks noChangeArrowheads="1"/>
          </p:cNvSpPr>
          <p:nvPr/>
        </p:nvSpPr>
        <p:spPr bwMode="auto">
          <a:xfrm>
            <a:off x="3193433" y="2664282"/>
            <a:ext cx="324000" cy="324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chemeClr val="bg1"/>
                </a:solidFill>
                <a:effectLst/>
                <a:latin typeface="Consolas" pitchFamily="49" charset="0"/>
                <a:ea typeface="仿宋" pitchFamily="49" charset="-122"/>
                <a:cs typeface="Consolas" pitchFamily="49" charset="0"/>
              </a:rPr>
              <a:t>B</a:t>
            </a:r>
          </a:p>
        </p:txBody>
      </p:sp>
      <p:sp>
        <p:nvSpPr>
          <p:cNvPr id="14" name="Oval 38"/>
          <p:cNvSpPr>
            <a:spLocks noChangeArrowheads="1"/>
          </p:cNvSpPr>
          <p:nvPr/>
        </p:nvSpPr>
        <p:spPr bwMode="auto">
          <a:xfrm>
            <a:off x="4064568" y="2702830"/>
            <a:ext cx="324000" cy="324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chemeClr val="bg1"/>
                </a:solidFill>
                <a:effectLst/>
                <a:latin typeface="Consolas" pitchFamily="49" charset="0"/>
                <a:ea typeface="仿宋" pitchFamily="49" charset="-122"/>
                <a:cs typeface="Consolas" pitchFamily="49" charset="0"/>
              </a:rPr>
              <a:t>C</a:t>
            </a:r>
          </a:p>
        </p:txBody>
      </p:sp>
      <p:sp>
        <p:nvSpPr>
          <p:cNvPr id="15" name="Oval 37"/>
          <p:cNvSpPr>
            <a:spLocks noChangeArrowheads="1"/>
          </p:cNvSpPr>
          <p:nvPr/>
        </p:nvSpPr>
        <p:spPr bwMode="auto">
          <a:xfrm>
            <a:off x="3772402" y="3281052"/>
            <a:ext cx="324000" cy="324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chemeClr val="bg1"/>
                </a:solidFill>
                <a:effectLst/>
                <a:latin typeface="Consolas" pitchFamily="49" charset="0"/>
                <a:ea typeface="仿宋" pitchFamily="49" charset="-122"/>
                <a:cs typeface="Consolas" pitchFamily="49" charset="0"/>
              </a:rPr>
              <a:t>E</a:t>
            </a:r>
          </a:p>
        </p:txBody>
      </p:sp>
      <p:sp>
        <p:nvSpPr>
          <p:cNvPr id="16" name="Oval 36"/>
          <p:cNvSpPr>
            <a:spLocks noChangeArrowheads="1"/>
          </p:cNvSpPr>
          <p:nvPr/>
        </p:nvSpPr>
        <p:spPr bwMode="auto">
          <a:xfrm>
            <a:off x="4433571" y="3281052"/>
            <a:ext cx="324000" cy="324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chemeClr val="bg1"/>
                </a:solidFill>
                <a:effectLst/>
                <a:latin typeface="Consolas" pitchFamily="49" charset="0"/>
                <a:ea typeface="仿宋" pitchFamily="49" charset="-122"/>
                <a:cs typeface="Consolas" pitchFamily="49" charset="0"/>
              </a:rPr>
              <a:t>F</a:t>
            </a:r>
          </a:p>
        </p:txBody>
      </p:sp>
      <p:sp>
        <p:nvSpPr>
          <p:cNvPr id="17" name="Oval 35"/>
          <p:cNvSpPr>
            <a:spLocks noChangeArrowheads="1"/>
          </p:cNvSpPr>
          <p:nvPr/>
        </p:nvSpPr>
        <p:spPr bwMode="auto">
          <a:xfrm>
            <a:off x="2857488" y="3293901"/>
            <a:ext cx="324000" cy="324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chemeClr val="bg1"/>
                </a:solidFill>
                <a:effectLst/>
                <a:latin typeface="Consolas" pitchFamily="49" charset="0"/>
                <a:ea typeface="仿宋" pitchFamily="49" charset="-122"/>
                <a:cs typeface="Consolas" pitchFamily="49" charset="0"/>
              </a:rPr>
              <a:t>D</a:t>
            </a:r>
          </a:p>
        </p:txBody>
      </p:sp>
      <p:sp>
        <p:nvSpPr>
          <p:cNvPr id="18" name="Oval 33"/>
          <p:cNvSpPr>
            <a:spLocks noChangeArrowheads="1"/>
          </p:cNvSpPr>
          <p:nvPr/>
        </p:nvSpPr>
        <p:spPr bwMode="auto">
          <a:xfrm>
            <a:off x="3275632" y="3815586"/>
            <a:ext cx="324000" cy="324000"/>
          </a:xfrm>
          <a:prstGeom prst="ellipse">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chemeClr val="bg1"/>
                </a:solidFill>
                <a:effectLst/>
                <a:latin typeface="Consolas" pitchFamily="49" charset="0"/>
                <a:ea typeface="仿宋" pitchFamily="49" charset="-122"/>
                <a:cs typeface="Consolas" pitchFamily="49" charset="0"/>
              </a:rPr>
              <a:t>G</a:t>
            </a:r>
          </a:p>
        </p:txBody>
      </p:sp>
      <p:sp>
        <p:nvSpPr>
          <p:cNvPr id="19" name="TextBox 18"/>
          <p:cNvSpPr txBox="1"/>
          <p:nvPr/>
        </p:nvSpPr>
        <p:spPr>
          <a:xfrm>
            <a:off x="1928794" y="714356"/>
            <a:ext cx="4214842"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itchFamily="49" charset="0"/>
                <a:ea typeface="仿宋" pitchFamily="49" charset="-122"/>
                <a:cs typeface="Consolas" pitchFamily="49" charset="0"/>
              </a:rPr>
              <a:t>层次遍历中某</a:t>
            </a:r>
            <a:r>
              <a:rPr lang="zh-CN" altLang="zh-CN" sz="2000" smtClean="0">
                <a:solidFill>
                  <a:srgbClr val="0000FF"/>
                </a:solidFill>
                <a:latin typeface="Consolas" pitchFamily="49" charset="0"/>
                <a:ea typeface="仿宋" pitchFamily="49" charset="-122"/>
                <a:cs typeface="Consolas" pitchFamily="49" charset="0"/>
              </a:rPr>
              <a:t>层的最右结点</a:t>
            </a:r>
            <a:r>
              <a:rPr lang="en-US" altLang="zh-CN" sz="2000" smtClean="0">
                <a:solidFill>
                  <a:srgbClr val="0000FF"/>
                </a:solidFill>
                <a:latin typeface="Consolas" pitchFamily="49" charset="0"/>
                <a:ea typeface="仿宋" pitchFamily="49" charset="-122"/>
                <a:cs typeface="Consolas" pitchFamily="49" charset="0"/>
              </a:rPr>
              <a:t>last</a:t>
            </a:r>
            <a:endParaRPr lang="zh-CN" altLang="en-US" sz="2000" smtClean="0">
              <a:solidFill>
                <a:srgbClr val="0000FF"/>
              </a:solidFill>
              <a:latin typeface="Consolas" pitchFamily="49" charset="0"/>
              <a:ea typeface="仿宋" pitchFamily="49" charset="-122"/>
              <a:cs typeface="Consolas" pitchFamily="49" charset="0"/>
            </a:endParaRPr>
          </a:p>
        </p:txBody>
      </p:sp>
      <p:grpSp>
        <p:nvGrpSpPr>
          <p:cNvPr id="23" name="组合 22"/>
          <p:cNvGrpSpPr/>
          <p:nvPr/>
        </p:nvGrpSpPr>
        <p:grpSpPr>
          <a:xfrm>
            <a:off x="4000496" y="1748802"/>
            <a:ext cx="823504" cy="465752"/>
            <a:chOff x="4820066" y="1857364"/>
            <a:chExt cx="823504" cy="465752"/>
          </a:xfrm>
        </p:grpSpPr>
        <p:sp>
          <p:nvSpPr>
            <p:cNvPr id="20" name="TextBox 19"/>
            <p:cNvSpPr txBox="1"/>
            <p:nvPr/>
          </p:nvSpPr>
          <p:spPr>
            <a:xfrm>
              <a:off x="4857752" y="1857364"/>
              <a:ext cx="785818" cy="369332"/>
            </a:xfrm>
            <a:prstGeom prst="rect">
              <a:avLst/>
            </a:prstGeom>
            <a:noFill/>
          </p:spPr>
          <p:txBody>
            <a:bodyPr wrap="square" rtlCol="0">
              <a:spAutoFit/>
            </a:bodyPr>
            <a:lstStyle/>
            <a:p>
              <a:pPr algn="l">
                <a:lnSpc>
                  <a:spcPct val="100000"/>
                </a:lnSpc>
                <a:spcBef>
                  <a:spcPts val="0"/>
                </a:spcBef>
              </a:pPr>
              <a:r>
                <a:rPr lang="en-US" altLang="zh-CN" sz="1800" smtClean="0">
                  <a:solidFill>
                    <a:srgbClr val="009900"/>
                  </a:solidFill>
                  <a:latin typeface="Consolas" pitchFamily="49" charset="0"/>
                  <a:ea typeface="仿宋" pitchFamily="49" charset="-122"/>
                  <a:cs typeface="Consolas" pitchFamily="49" charset="0"/>
                </a:rPr>
                <a:t>last</a:t>
              </a:r>
              <a:endParaRPr lang="zh-CN" altLang="en-US" sz="1800" smtClean="0">
                <a:solidFill>
                  <a:srgbClr val="009900"/>
                </a:solidFill>
                <a:latin typeface="Consolas" pitchFamily="49" charset="0"/>
                <a:ea typeface="仿宋" pitchFamily="49" charset="-122"/>
                <a:cs typeface="Consolas" pitchFamily="49" charset="0"/>
              </a:endParaRPr>
            </a:p>
          </p:txBody>
        </p:sp>
        <p:cxnSp>
          <p:nvCxnSpPr>
            <p:cNvPr id="22" name="直接箭头连接符 21"/>
            <p:cNvCxnSpPr/>
            <p:nvPr/>
          </p:nvCxnSpPr>
          <p:spPr>
            <a:xfrm rot="5400000">
              <a:off x="4856066" y="2107116"/>
              <a:ext cx="180000" cy="25200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31" name="Oval 40"/>
          <p:cNvSpPr>
            <a:spLocks noChangeArrowheads="1"/>
          </p:cNvSpPr>
          <p:nvPr/>
        </p:nvSpPr>
        <p:spPr bwMode="auto">
          <a:xfrm>
            <a:off x="3662505" y="221455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32" name="Oval 39"/>
          <p:cNvSpPr>
            <a:spLocks noChangeArrowheads="1"/>
          </p:cNvSpPr>
          <p:nvPr/>
        </p:nvSpPr>
        <p:spPr bwMode="auto">
          <a:xfrm>
            <a:off x="3193433" y="2664282"/>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33" name="Oval 38"/>
          <p:cNvSpPr>
            <a:spLocks noChangeArrowheads="1"/>
          </p:cNvSpPr>
          <p:nvPr/>
        </p:nvSpPr>
        <p:spPr bwMode="auto">
          <a:xfrm>
            <a:off x="4064568" y="270283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p>
        </p:txBody>
      </p:sp>
      <p:sp>
        <p:nvSpPr>
          <p:cNvPr id="34" name="Oval 37"/>
          <p:cNvSpPr>
            <a:spLocks noChangeArrowheads="1"/>
          </p:cNvSpPr>
          <p:nvPr/>
        </p:nvSpPr>
        <p:spPr bwMode="auto">
          <a:xfrm>
            <a:off x="3772402" y="3281052"/>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p:txBody>
      </p:sp>
      <p:sp>
        <p:nvSpPr>
          <p:cNvPr id="35" name="Oval 36"/>
          <p:cNvSpPr>
            <a:spLocks noChangeArrowheads="1"/>
          </p:cNvSpPr>
          <p:nvPr/>
        </p:nvSpPr>
        <p:spPr bwMode="auto">
          <a:xfrm>
            <a:off x="4433571" y="3281052"/>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p:txBody>
      </p:sp>
      <p:sp>
        <p:nvSpPr>
          <p:cNvPr id="36" name="Oval 35"/>
          <p:cNvSpPr>
            <a:spLocks noChangeArrowheads="1"/>
          </p:cNvSpPr>
          <p:nvPr/>
        </p:nvSpPr>
        <p:spPr bwMode="auto">
          <a:xfrm>
            <a:off x="2857488" y="3293901"/>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p>
        </p:txBody>
      </p:sp>
      <p:sp>
        <p:nvSpPr>
          <p:cNvPr id="37" name="Oval 33"/>
          <p:cNvSpPr>
            <a:spLocks noChangeArrowheads="1"/>
          </p:cNvSpPr>
          <p:nvPr/>
        </p:nvSpPr>
        <p:spPr bwMode="auto">
          <a:xfrm>
            <a:off x="3275632" y="3815586"/>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defTabSz="914400" rtl="0" eaLnBrk="1" fontAlgn="base" latinLnBrk="0" hangingPunct="1">
              <a:lnSpc>
                <a:spcPts val="19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p:txBody>
      </p:sp>
      <p:sp>
        <p:nvSpPr>
          <p:cNvPr id="38" name="TextBox 37"/>
          <p:cNvSpPr txBox="1"/>
          <p:nvPr/>
        </p:nvSpPr>
        <p:spPr>
          <a:xfrm>
            <a:off x="2214546" y="4643446"/>
            <a:ext cx="4429156"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ea typeface="仿宋" pitchFamily="49" charset="-122"/>
                <a:cs typeface="Consolas" pitchFamily="49" charset="0"/>
              </a:rPr>
              <a:t>last</a:t>
            </a:r>
            <a:r>
              <a:rPr lang="zh-CN" altLang="en-US" sz="2000" smtClean="0">
                <a:solidFill>
                  <a:srgbClr val="0000FF"/>
                </a:solidFill>
                <a:latin typeface="Consolas" pitchFamily="49" charset="0"/>
                <a:ea typeface="仿宋" pitchFamily="49" charset="-122"/>
                <a:cs typeface="Consolas" pitchFamily="49" charset="0"/>
              </a:rPr>
              <a:t>的作用确定一层是否遍历完成！</a:t>
            </a:r>
          </a:p>
        </p:txBody>
      </p:sp>
      <p:sp>
        <p:nvSpPr>
          <p:cNvPr id="30" name="灯片编号占位符 29"/>
          <p:cNvSpPr>
            <a:spLocks noGrp="1"/>
          </p:cNvSpPr>
          <p:nvPr>
            <p:ph type="sldNum" sz="quarter" idx="12"/>
          </p:nvPr>
        </p:nvSpPr>
        <p:spPr/>
        <p:txBody>
          <a:bodyPr/>
          <a:lstStyle/>
          <a:p>
            <a:fld id="{67864EE2-EAB3-4814-A7EB-820BD7610F1E}" type="slidenum">
              <a:rPr lang="en-US" altLang="zh-CN" smtClean="0"/>
              <a:pPr/>
              <a:t>9</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1" fill="hold" grpId="0" nodeType="clickEffect">
                                  <p:stCondLst>
                                    <p:cond delay="0"/>
                                  </p:stCondLst>
                                  <p:childTnLst>
                                    <p:animEffect transition="out" filter="wipe(up)">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0885 0.02685 C -0.00277 0.02801 0.01893 0.02453 0.02761 0.03379 C 0.03629 0.04305 0.03994 0.07222 0.04323 0.0824 " pathEditMode="relative" rAng="0" ptsTypes="aaa">
                                      <p:cBhvr>
                                        <p:cTn id="11" dur="2000" fill="hold"/>
                                        <p:tgtEl>
                                          <p:spTgt spid="23"/>
                                        </p:tgtEl>
                                        <p:attrNameLst>
                                          <p:attrName>ppt_x</p:attrName>
                                          <p:attrName>ppt_y</p:attrName>
                                        </p:attrNameLst>
                                      </p:cBhvr>
                                      <p:rCtr x="26" y="27"/>
                                    </p:animMotion>
                                  </p:childTnLst>
                                </p:cTn>
                              </p:par>
                            </p:childTnLst>
                          </p:cTn>
                        </p:par>
                      </p:childTnLst>
                    </p:cTn>
                  </p:par>
                  <p:par>
                    <p:cTn id="12" fill="hold">
                      <p:stCondLst>
                        <p:cond delay="indefinite"/>
                      </p:stCondLst>
                      <p:childTnLst>
                        <p:par>
                          <p:cTn id="13" fill="hold">
                            <p:stCondLst>
                              <p:cond delay="0"/>
                            </p:stCondLst>
                            <p:childTnLst>
                              <p:par>
                                <p:cTn id="14" presetID="22" presetClass="exit" presetSubtype="1" fill="hold" grpId="0" nodeType="clickEffect">
                                  <p:stCondLst>
                                    <p:cond delay="0"/>
                                  </p:stCondLst>
                                  <p:childTnLst>
                                    <p:animEffect transition="out" filter="wipe(up)">
                                      <p:cBhvr>
                                        <p:cTn id="15" dur="500"/>
                                        <p:tgtEl>
                                          <p:spTgt spid="32"/>
                                        </p:tgtEl>
                                      </p:cBhvr>
                                    </p:animEffect>
                                    <p:set>
                                      <p:cBhvr>
                                        <p:cTn id="16" dur="1" fill="hold">
                                          <p:stCondLst>
                                            <p:cond delay="499"/>
                                          </p:stCondLst>
                                        </p:cTn>
                                        <p:tgtEl>
                                          <p:spTgt spid="32"/>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2" presetClass="exit" presetSubtype="1" fill="hold" grpId="0" nodeType="clickEffect">
                                  <p:stCondLst>
                                    <p:cond delay="0"/>
                                  </p:stCondLst>
                                  <p:childTnLst>
                                    <p:animEffect transition="out" filter="wipe(up)">
                                      <p:cBhvr>
                                        <p:cTn id="20" dur="500"/>
                                        <p:tgtEl>
                                          <p:spTgt spid="33"/>
                                        </p:tgtEl>
                                      </p:cBhvr>
                                    </p:animEffect>
                                    <p:set>
                                      <p:cBhvr>
                                        <p:cTn id="21" dur="1" fill="hold">
                                          <p:stCondLst>
                                            <p:cond delay="499"/>
                                          </p:stCondLst>
                                        </p:cTn>
                                        <p:tgtEl>
                                          <p:spTgt spid="33"/>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0" presetClass="path" presetSubtype="0" accel="50000" decel="50000" fill="hold" nodeType="clickEffect">
                                  <p:stCondLst>
                                    <p:cond delay="0"/>
                                  </p:stCondLst>
                                  <p:childTnLst>
                                    <p:animMotion origin="layout" path="M 0.04202 0.10463 C 0.04445 0.10787 0.04914 0.11597 0.05521 0.12523 C 0.06129 0.13449 0.07414 0.15277 0.07813 0.15995 C 0.08212 0.16713 0.07917 0.16666 0.07952 0.16851 " pathEditMode="relative" rAng="0" ptsTypes="aaaa">
                                      <p:cBhvr>
                                        <p:cTn id="25" dur="2000" fill="hold"/>
                                        <p:tgtEl>
                                          <p:spTgt spid="23"/>
                                        </p:tgtEl>
                                        <p:attrNameLst>
                                          <p:attrName>ppt_x</p:attrName>
                                          <p:attrName>ppt_y</p:attrName>
                                        </p:attrNameLst>
                                      </p:cBhvr>
                                      <p:rCtr x="20" y="32"/>
                                    </p:animMotion>
                                  </p:childTnLst>
                                </p:cTn>
                              </p:par>
                            </p:childTnLst>
                          </p:cTn>
                        </p:par>
                      </p:childTnLst>
                    </p:cTn>
                  </p:par>
                  <p:par>
                    <p:cTn id="26" fill="hold">
                      <p:stCondLst>
                        <p:cond delay="indefinite"/>
                      </p:stCondLst>
                      <p:childTnLst>
                        <p:par>
                          <p:cTn id="27" fill="hold">
                            <p:stCondLst>
                              <p:cond delay="0"/>
                            </p:stCondLst>
                            <p:childTnLst>
                              <p:par>
                                <p:cTn id="28" presetID="22" presetClass="exit" presetSubtype="1" fill="hold" grpId="0" nodeType="clickEffect">
                                  <p:stCondLst>
                                    <p:cond delay="0"/>
                                  </p:stCondLst>
                                  <p:childTnLst>
                                    <p:animEffect transition="out" filter="wipe(up)">
                                      <p:cBhvr>
                                        <p:cTn id="29" dur="500"/>
                                        <p:tgtEl>
                                          <p:spTgt spid="36"/>
                                        </p:tgtEl>
                                      </p:cBhvr>
                                    </p:animEffect>
                                    <p:set>
                                      <p:cBhvr>
                                        <p:cTn id="30" dur="1" fill="hold">
                                          <p:stCondLst>
                                            <p:cond delay="499"/>
                                          </p:stCondLst>
                                        </p:cTn>
                                        <p:tgtEl>
                                          <p:spTgt spid="3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2" presetClass="exit" presetSubtype="1" fill="hold" grpId="0" nodeType="clickEffect">
                                  <p:stCondLst>
                                    <p:cond delay="0"/>
                                  </p:stCondLst>
                                  <p:childTnLst>
                                    <p:animEffect transition="out" filter="wipe(up)">
                                      <p:cBhvr>
                                        <p:cTn id="34" dur="500"/>
                                        <p:tgtEl>
                                          <p:spTgt spid="34"/>
                                        </p:tgtEl>
                                      </p:cBhvr>
                                    </p:animEffect>
                                    <p:set>
                                      <p:cBhvr>
                                        <p:cTn id="35" dur="1" fill="hold">
                                          <p:stCondLst>
                                            <p:cond delay="499"/>
                                          </p:stCondLst>
                                        </p:cTn>
                                        <p:tgtEl>
                                          <p:spTgt spid="34"/>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2" presetClass="exit" presetSubtype="1" fill="hold" grpId="0" nodeType="clickEffect">
                                  <p:stCondLst>
                                    <p:cond delay="0"/>
                                  </p:stCondLst>
                                  <p:childTnLst>
                                    <p:animEffect transition="out" filter="wipe(up)">
                                      <p:cBhvr>
                                        <p:cTn id="39" dur="500"/>
                                        <p:tgtEl>
                                          <p:spTgt spid="35"/>
                                        </p:tgtEl>
                                      </p:cBhvr>
                                    </p:animEffect>
                                    <p:set>
                                      <p:cBhvr>
                                        <p:cTn id="40" dur="1" fill="hold">
                                          <p:stCondLst>
                                            <p:cond delay="499"/>
                                          </p:stCondLst>
                                        </p:cTn>
                                        <p:tgtEl>
                                          <p:spTgt spid="35"/>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nodeType="clickEffect">
                                  <p:stCondLst>
                                    <p:cond delay="0"/>
                                  </p:stCondLst>
                                  <p:childTnLst>
                                    <p:animMotion origin="layout" path="M 0.07952 0.16851 C 0.08212 0.18171 0.08473 0.1949 0.07848 0.21018 C 0.07223 0.22546 0.06216 0.25301 0.04202 0.26018 C 0.02188 0.26736 -0.02482 0.25463 -0.04236 0.25324 " pathEditMode="relative" rAng="0" ptsTypes="aaaa">
                                      <p:cBhvr>
                                        <p:cTn id="44" dur="2000" fill="hold"/>
                                        <p:tgtEl>
                                          <p:spTgt spid="23"/>
                                        </p:tgtEl>
                                        <p:attrNameLst>
                                          <p:attrName>ppt_x</p:attrName>
                                          <p:attrName>ppt_y</p:attrName>
                                        </p:attrNameLst>
                                      </p:cBhvr>
                                      <p:rCtr x="-58" y="49"/>
                                    </p:animMotion>
                                  </p:childTnLst>
                                </p:cTn>
                              </p:par>
                            </p:childTnLst>
                          </p:cTn>
                        </p:par>
                      </p:childTnLst>
                    </p:cTn>
                  </p:par>
                  <p:par>
                    <p:cTn id="45" fill="hold">
                      <p:stCondLst>
                        <p:cond delay="indefinite"/>
                      </p:stCondLst>
                      <p:childTnLst>
                        <p:par>
                          <p:cTn id="46" fill="hold">
                            <p:stCondLst>
                              <p:cond delay="0"/>
                            </p:stCondLst>
                            <p:childTnLst>
                              <p:par>
                                <p:cTn id="47" presetID="22" presetClass="exit" presetSubtype="1" fill="hold" grpId="0" nodeType="clickEffect">
                                  <p:stCondLst>
                                    <p:cond delay="0"/>
                                  </p:stCondLst>
                                  <p:childTnLst>
                                    <p:animEffect transition="out" filter="wipe(up)">
                                      <p:cBhvr>
                                        <p:cTn id="48" dur="500"/>
                                        <p:tgtEl>
                                          <p:spTgt spid="37"/>
                                        </p:tgtEl>
                                      </p:cBhvr>
                                    </p:animEffect>
                                    <p:set>
                                      <p:cBhvr>
                                        <p:cTn id="49" dur="1" fill="hold">
                                          <p:stCondLst>
                                            <p:cond delay="499"/>
                                          </p:stCondLst>
                                        </p:cTn>
                                        <p:tgtEl>
                                          <p:spTgt spid="37"/>
                                        </p:tgtEl>
                                        <p:attrNameLst>
                                          <p:attrName>style.visibility</p:attrName>
                                        </p:attrNameLst>
                                      </p:cBhvr>
                                      <p:to>
                                        <p:strVal val="hidden"/>
                                      </p:to>
                                    </p:se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642918"/>
            <a:ext cx="8429684" cy="4549936"/>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用</a:t>
            </a:r>
            <a:r>
              <a:rPr lang="en-US" altLang="zh-CN" sz="2000" smtClean="0">
                <a:solidFill>
                  <a:srgbClr val="0000FF"/>
                </a:solidFill>
                <a:latin typeface="Consolas" pitchFamily="49" charset="0"/>
                <a:ea typeface="仿宋" pitchFamily="49" charset="-122"/>
                <a:cs typeface="Consolas" pitchFamily="49" charset="0"/>
              </a:rPr>
              <a:t>cnt</a:t>
            </a:r>
            <a:r>
              <a:rPr lang="zh-CN" altLang="zh-CN" sz="2000" smtClean="0">
                <a:solidFill>
                  <a:srgbClr val="0000FF"/>
                </a:solidFill>
                <a:latin typeface="Consolas" pitchFamily="49" charset="0"/>
                <a:ea typeface="仿宋" pitchFamily="49" charset="-122"/>
                <a:cs typeface="Consolas" pitchFamily="49" charset="0"/>
              </a:rPr>
              <a:t>变量计第</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层结点个数（初始为</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设计队列仅保存结点引用，置当前层次</a:t>
            </a:r>
            <a:r>
              <a:rPr lang="en-US" altLang="zh-CN" sz="2000" smtClean="0">
                <a:solidFill>
                  <a:srgbClr val="006600"/>
                </a:solidFill>
                <a:latin typeface="Consolas" pitchFamily="49" charset="0"/>
                <a:ea typeface="仿宋" pitchFamily="49" charset="-122"/>
                <a:cs typeface="Consolas" pitchFamily="49" charset="0"/>
              </a:rPr>
              <a:t>curl=1</a:t>
            </a:r>
            <a:r>
              <a:rPr lang="zh-CN" altLang="zh-CN" sz="2000" smtClean="0">
                <a:solidFill>
                  <a:srgbClr val="0000FF"/>
                </a:solidFill>
                <a:latin typeface="Consolas" pitchFamily="49" charset="0"/>
                <a:ea typeface="仿宋" pitchFamily="49" charset="-122"/>
                <a:cs typeface="Consolas" pitchFamily="49" charset="0"/>
              </a:rPr>
              <a:t>，用</a:t>
            </a:r>
            <a:r>
              <a:rPr lang="en-US" altLang="zh-CN" sz="2000" smtClean="0">
                <a:solidFill>
                  <a:srgbClr val="0000FF"/>
                </a:solidFill>
                <a:latin typeface="Consolas" pitchFamily="49" charset="0"/>
                <a:ea typeface="仿宋" pitchFamily="49" charset="-122"/>
                <a:cs typeface="Consolas" pitchFamily="49" charset="0"/>
              </a:rPr>
              <a:t>last</a:t>
            </a:r>
            <a:r>
              <a:rPr lang="zh-CN" altLang="zh-CN" sz="2000" smtClean="0">
                <a:solidFill>
                  <a:srgbClr val="0000FF"/>
                </a:solidFill>
                <a:latin typeface="Consolas" pitchFamily="49" charset="0"/>
                <a:ea typeface="仿宋" pitchFamily="49" charset="-122"/>
                <a:cs typeface="Consolas" pitchFamily="49" charset="0"/>
              </a:rPr>
              <a:t>变量指示当前层次的最右结点</a:t>
            </a:r>
            <a:r>
              <a:rPr lang="zh-CN" altLang="en-US"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根结点</a:t>
            </a:r>
            <a:r>
              <a:rPr lang="zh-CN" altLang="en-US"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进队</a:t>
            </a:r>
            <a:r>
              <a:rPr lang="zh-CN" altLang="en-US" sz="2000" smtClean="0">
                <a:solidFill>
                  <a:srgbClr val="0000FF"/>
                </a:solidFill>
                <a:latin typeface="Consolas" pitchFamily="49" charset="0"/>
                <a:ea typeface="仿宋" pitchFamily="49" charset="-122"/>
                <a:cs typeface="Consolas" pitchFamily="49" charset="0"/>
              </a:rPr>
              <a:t>。将</a:t>
            </a:r>
            <a:r>
              <a:rPr lang="zh-CN" altLang="zh-CN" sz="2000" smtClean="0">
                <a:solidFill>
                  <a:srgbClr val="0000FF"/>
                </a:solidFill>
                <a:latin typeface="Consolas" pitchFamily="49" charset="0"/>
                <a:ea typeface="仿宋" pitchFamily="49" charset="-122"/>
                <a:cs typeface="Consolas" pitchFamily="49" charset="0"/>
              </a:rPr>
              <a:t>根结点</a:t>
            </a:r>
            <a:r>
              <a:rPr lang="zh-CN" altLang="en-US" sz="2000" smtClean="0">
                <a:solidFill>
                  <a:srgbClr val="0000FF"/>
                </a:solidFill>
                <a:latin typeface="Consolas" pitchFamily="49" charset="0"/>
                <a:ea typeface="仿宋" pitchFamily="49" charset="-122"/>
                <a:cs typeface="Consolas" pitchFamily="49" charset="0"/>
              </a:rPr>
              <a:t>进队，</a:t>
            </a:r>
            <a:r>
              <a:rPr lang="zh-CN" altLang="zh-CN" sz="2000" smtClean="0">
                <a:solidFill>
                  <a:srgbClr val="0000FF"/>
                </a:solidFill>
                <a:latin typeface="Consolas" pitchFamily="49" charset="0"/>
                <a:ea typeface="仿宋" pitchFamily="49" charset="-122"/>
                <a:cs typeface="Consolas" pitchFamily="49" charset="0"/>
              </a:rPr>
              <a:t>队不空循环：</a:t>
            </a:r>
          </a:p>
          <a:p>
            <a:pPr marL="914400" lvl="1" indent="-457200" algn="l">
              <a:lnSpc>
                <a:spcPts val="2800"/>
              </a:lnSpc>
              <a:spcBef>
                <a:spcPts val="1200"/>
              </a:spcBef>
              <a:buFont typeface="+mj-ea"/>
              <a:buAutoNum type="circleNumDbPlain"/>
            </a:pPr>
            <a:r>
              <a:rPr lang="zh-CN" altLang="zh-CN" sz="2000" smtClean="0">
                <a:solidFill>
                  <a:srgbClr val="0000FF"/>
                </a:solidFill>
                <a:latin typeface="Consolas" pitchFamily="49" charset="0"/>
                <a:ea typeface="仿宋" pitchFamily="49" charset="-122"/>
                <a:cs typeface="Consolas" pitchFamily="49" charset="0"/>
              </a:rPr>
              <a:t>若</a:t>
            </a:r>
            <a:r>
              <a:rPr lang="en-US" altLang="zh-CN" sz="2000" smtClean="0">
                <a:solidFill>
                  <a:srgbClr val="FF0000"/>
                </a:solidFill>
                <a:latin typeface="Consolas" pitchFamily="49" charset="0"/>
                <a:ea typeface="仿宋" pitchFamily="49" charset="-122"/>
                <a:cs typeface="Consolas" pitchFamily="49" charset="0"/>
              </a:rPr>
              <a:t>curl&gt;</a:t>
            </a:r>
            <a:r>
              <a:rPr lang="en-US" altLang="zh-CN" sz="2000" i="1" smtClean="0">
                <a:solidFill>
                  <a:srgbClr val="FF0000"/>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，返回</a:t>
            </a:r>
            <a:r>
              <a:rPr lang="en-US" altLang="zh-CN" sz="2000" smtClean="0">
                <a:solidFill>
                  <a:srgbClr val="0000FF"/>
                </a:solidFill>
                <a:latin typeface="Consolas" pitchFamily="49" charset="0"/>
                <a:ea typeface="仿宋" pitchFamily="49" charset="-122"/>
                <a:cs typeface="Consolas" pitchFamily="49" charset="0"/>
              </a:rPr>
              <a:t>cnt</a:t>
            </a:r>
            <a:r>
              <a:rPr lang="zh-CN" altLang="zh-CN" sz="2000" smtClean="0">
                <a:solidFill>
                  <a:srgbClr val="0000FF"/>
                </a:solidFill>
                <a:latin typeface="Consolas" pitchFamily="49" charset="0"/>
                <a:ea typeface="仿宋" pitchFamily="49" charset="-122"/>
                <a:cs typeface="Consolas" pitchFamily="49" charset="0"/>
              </a:rPr>
              <a:t>（继续层次遍历不可能再找到第</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层的结点）。</a:t>
            </a:r>
          </a:p>
          <a:p>
            <a:pPr marL="914400" lvl="1" indent="-457200" algn="l">
              <a:lnSpc>
                <a:spcPts val="2800"/>
              </a:lnSpc>
              <a:spcBef>
                <a:spcPts val="1200"/>
              </a:spcBef>
              <a:buFont typeface="+mj-ea"/>
              <a:buAutoNum type="circleNumDbPlain"/>
            </a:pPr>
            <a:r>
              <a:rPr lang="zh-CN" altLang="zh-CN" sz="2000" smtClean="0">
                <a:solidFill>
                  <a:srgbClr val="0000FF"/>
                </a:solidFill>
                <a:latin typeface="Consolas" pitchFamily="49" charset="0"/>
                <a:ea typeface="仿宋" pitchFamily="49" charset="-122"/>
                <a:cs typeface="Consolas" pitchFamily="49" charset="0"/>
              </a:rPr>
              <a:t>否则</a:t>
            </a:r>
            <a:r>
              <a:rPr lang="zh-CN" altLang="zh-CN" sz="2000" smtClean="0">
                <a:solidFill>
                  <a:srgbClr val="FF0000"/>
                </a:solidFill>
                <a:latin typeface="Consolas" pitchFamily="49" charset="0"/>
                <a:ea typeface="仿宋" pitchFamily="49" charset="-122"/>
                <a:cs typeface="Consolas" pitchFamily="49" charset="0"/>
              </a:rPr>
              <a:t>出队结点</a:t>
            </a:r>
            <a:r>
              <a:rPr lang="en-US" altLang="zh-CN" sz="2000" i="1" smtClean="0">
                <a:solidFill>
                  <a:srgbClr val="FF0000"/>
                </a:solidFill>
                <a:latin typeface="Consolas" pitchFamily="49" charset="0"/>
                <a:ea typeface="仿宋" pitchFamily="49" charset="-122"/>
                <a:cs typeface="Consolas" pitchFamily="49" charset="0"/>
              </a:rPr>
              <a:t>p</a:t>
            </a:r>
            <a:r>
              <a:rPr lang="zh-CN" altLang="zh-CN" sz="2000" smtClean="0">
                <a:solidFill>
                  <a:srgbClr val="0000FF"/>
                </a:solidFill>
                <a:latin typeface="Consolas" pitchFamily="49" charset="0"/>
                <a:ea typeface="仿宋" pitchFamily="49" charset="-122"/>
                <a:cs typeface="Consolas" pitchFamily="49" charset="0"/>
              </a:rPr>
              <a:t>，若</a:t>
            </a:r>
            <a:r>
              <a:rPr lang="en-US" altLang="zh-CN" sz="2000" smtClean="0">
                <a:solidFill>
                  <a:srgbClr val="006600"/>
                </a:solidFill>
                <a:latin typeface="Consolas" pitchFamily="49" charset="0"/>
                <a:ea typeface="仿宋" pitchFamily="49" charset="-122"/>
                <a:cs typeface="Consolas" pitchFamily="49" charset="0"/>
              </a:rPr>
              <a:t>curl=</a:t>
            </a:r>
            <a:r>
              <a:rPr lang="en-US" altLang="zh-CN" sz="2000" i="1" smtClean="0">
                <a:solidFill>
                  <a:srgbClr val="006600"/>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，表示结点</a:t>
            </a:r>
            <a:r>
              <a:rPr lang="en-US" altLang="zh-CN" sz="2000" i="1" smtClean="0">
                <a:solidFill>
                  <a:srgbClr val="0000FF"/>
                </a:solidFill>
                <a:latin typeface="Consolas" pitchFamily="49" charset="0"/>
                <a:ea typeface="仿宋" pitchFamily="49" charset="-122"/>
                <a:cs typeface="Consolas" pitchFamily="49" charset="0"/>
              </a:rPr>
              <a:t>p</a:t>
            </a:r>
            <a:r>
              <a:rPr lang="zh-CN" altLang="zh-CN" sz="2000" smtClean="0">
                <a:solidFill>
                  <a:srgbClr val="0000FF"/>
                </a:solidFill>
                <a:latin typeface="Consolas" pitchFamily="49" charset="0"/>
                <a:ea typeface="仿宋" pitchFamily="49" charset="-122"/>
                <a:cs typeface="Consolas" pitchFamily="49" charset="0"/>
              </a:rPr>
              <a:t>是第</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层的结点，</a:t>
            </a:r>
            <a:r>
              <a:rPr lang="en-US" altLang="zh-CN" sz="2000" smtClean="0">
                <a:solidFill>
                  <a:srgbClr val="0000FF"/>
                </a:solidFill>
                <a:latin typeface="Consolas" pitchFamily="49" charset="0"/>
                <a:ea typeface="仿宋" pitchFamily="49" charset="-122"/>
                <a:cs typeface="Consolas" pitchFamily="49" charset="0"/>
              </a:rPr>
              <a:t>cnt</a:t>
            </a:r>
            <a:r>
              <a:rPr lang="zh-CN" altLang="zh-CN" sz="2000" smtClean="0">
                <a:solidFill>
                  <a:srgbClr val="0000FF"/>
                </a:solidFill>
                <a:latin typeface="Consolas" pitchFamily="49" charset="0"/>
                <a:ea typeface="仿宋" pitchFamily="49" charset="-122"/>
                <a:cs typeface="Consolas" pitchFamily="49" charset="0"/>
              </a:rPr>
              <a:t>增</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p>
          <a:p>
            <a:pPr marL="914400" lvl="1" indent="-457200" algn="l">
              <a:lnSpc>
                <a:spcPts val="2800"/>
              </a:lnSpc>
              <a:spcBef>
                <a:spcPts val="1200"/>
              </a:spcBef>
              <a:buFont typeface="+mj-ea"/>
              <a:buAutoNum type="circleNumDbPlain"/>
            </a:pPr>
            <a:r>
              <a:rPr lang="zh-CN" altLang="zh-CN" sz="2000" smtClean="0">
                <a:solidFill>
                  <a:srgbClr val="0000FF"/>
                </a:solidFill>
                <a:latin typeface="Consolas" pitchFamily="49" charset="0"/>
                <a:ea typeface="仿宋" pitchFamily="49" charset="-122"/>
                <a:cs typeface="Consolas" pitchFamily="49" charset="0"/>
              </a:rPr>
              <a:t>若结点</a:t>
            </a:r>
            <a:r>
              <a:rPr lang="en-US" altLang="zh-CN" sz="2000" i="1" smtClean="0">
                <a:solidFill>
                  <a:srgbClr val="0000FF"/>
                </a:solidFill>
                <a:latin typeface="Consolas" pitchFamily="49" charset="0"/>
                <a:ea typeface="仿宋" pitchFamily="49" charset="-122"/>
                <a:cs typeface="Consolas" pitchFamily="49" charset="0"/>
              </a:rPr>
              <a:t>p</a:t>
            </a:r>
            <a:r>
              <a:rPr lang="zh-CN" altLang="zh-CN" sz="2000" smtClean="0">
                <a:solidFill>
                  <a:srgbClr val="0000FF"/>
                </a:solidFill>
                <a:latin typeface="Consolas" pitchFamily="49" charset="0"/>
                <a:ea typeface="仿宋" pitchFamily="49" charset="-122"/>
                <a:cs typeface="Consolas" pitchFamily="49" charset="0"/>
              </a:rPr>
              <a:t>有左孩子</a:t>
            </a:r>
            <a:r>
              <a:rPr lang="en-US" altLang="zh-CN" sz="2000" i="1" smtClean="0">
                <a:solidFill>
                  <a:srgbClr val="0000FF"/>
                </a:solidFill>
                <a:latin typeface="Consolas" pitchFamily="49" charset="0"/>
                <a:ea typeface="仿宋" pitchFamily="49" charset="-122"/>
                <a:cs typeface="Consolas" pitchFamily="49" charset="0"/>
              </a:rPr>
              <a:t>q</a:t>
            </a:r>
            <a:r>
              <a:rPr lang="zh-CN" altLang="zh-CN" sz="2000" smtClean="0">
                <a:solidFill>
                  <a:srgbClr val="0000FF"/>
                </a:solidFill>
                <a:latin typeface="Consolas" pitchFamily="49" charset="0"/>
                <a:ea typeface="仿宋" pitchFamily="49" charset="-122"/>
                <a:cs typeface="Consolas" pitchFamily="49" charset="0"/>
              </a:rPr>
              <a:t>，将结点</a:t>
            </a:r>
            <a:r>
              <a:rPr lang="en-US" altLang="zh-CN" sz="2000" i="1" smtClean="0">
                <a:solidFill>
                  <a:srgbClr val="0000FF"/>
                </a:solidFill>
                <a:latin typeface="Consolas" pitchFamily="49" charset="0"/>
                <a:ea typeface="仿宋" pitchFamily="49" charset="-122"/>
                <a:cs typeface="Consolas" pitchFamily="49" charset="0"/>
              </a:rPr>
              <a:t>q</a:t>
            </a:r>
            <a:r>
              <a:rPr lang="zh-CN" altLang="zh-CN" sz="2000" smtClean="0">
                <a:solidFill>
                  <a:srgbClr val="0000FF"/>
                </a:solidFill>
                <a:latin typeface="Consolas" pitchFamily="49" charset="0"/>
                <a:ea typeface="仿宋" pitchFamily="49" charset="-122"/>
                <a:cs typeface="Consolas" pitchFamily="49" charset="0"/>
              </a:rPr>
              <a:t>进队，有右孩子</a:t>
            </a:r>
            <a:r>
              <a:rPr lang="en-US" altLang="zh-CN" sz="2000" i="1" smtClean="0">
                <a:solidFill>
                  <a:srgbClr val="0000FF"/>
                </a:solidFill>
                <a:latin typeface="Consolas" pitchFamily="49" charset="0"/>
                <a:ea typeface="仿宋" pitchFamily="49" charset="-122"/>
                <a:cs typeface="Consolas" pitchFamily="49" charset="0"/>
              </a:rPr>
              <a:t>q</a:t>
            </a:r>
            <a:r>
              <a:rPr lang="zh-CN" altLang="zh-CN" sz="2000" smtClean="0">
                <a:solidFill>
                  <a:srgbClr val="0000FF"/>
                </a:solidFill>
                <a:latin typeface="Consolas" pitchFamily="49" charset="0"/>
                <a:ea typeface="仿宋" pitchFamily="49" charset="-122"/>
                <a:cs typeface="Consolas" pitchFamily="49" charset="0"/>
              </a:rPr>
              <a:t>，将结点</a:t>
            </a:r>
            <a:r>
              <a:rPr lang="en-US" altLang="zh-CN" sz="2000" i="1" smtClean="0">
                <a:solidFill>
                  <a:srgbClr val="0000FF"/>
                </a:solidFill>
                <a:latin typeface="Consolas" pitchFamily="49" charset="0"/>
                <a:ea typeface="仿宋" pitchFamily="49" charset="-122"/>
                <a:cs typeface="Consolas" pitchFamily="49" charset="0"/>
              </a:rPr>
              <a:t>q</a:t>
            </a:r>
            <a:r>
              <a:rPr lang="zh-CN" altLang="zh-CN" sz="2000" smtClean="0">
                <a:solidFill>
                  <a:srgbClr val="0000FF"/>
                </a:solidFill>
                <a:latin typeface="Consolas" pitchFamily="49" charset="0"/>
                <a:ea typeface="仿宋" pitchFamily="49" charset="-122"/>
                <a:cs typeface="Consolas" pitchFamily="49" charset="0"/>
              </a:rPr>
              <a:t>进队（总是用</a:t>
            </a:r>
            <a:r>
              <a:rPr lang="en-US" altLang="zh-CN" sz="2000" i="1" smtClean="0">
                <a:solidFill>
                  <a:srgbClr val="0000FF"/>
                </a:solidFill>
                <a:latin typeface="Consolas" pitchFamily="49" charset="0"/>
                <a:ea typeface="仿宋" pitchFamily="49" charset="-122"/>
                <a:cs typeface="Consolas" pitchFamily="49" charset="0"/>
              </a:rPr>
              <a:t>q</a:t>
            </a:r>
            <a:r>
              <a:rPr lang="zh-CN" altLang="zh-CN" sz="2000" smtClean="0">
                <a:solidFill>
                  <a:srgbClr val="0000FF"/>
                </a:solidFill>
                <a:latin typeface="Consolas" pitchFamily="49" charset="0"/>
                <a:ea typeface="仿宋" pitchFamily="49" charset="-122"/>
                <a:cs typeface="Consolas" pitchFamily="49" charset="0"/>
              </a:rPr>
              <a:t>表示进队的结点）。</a:t>
            </a:r>
          </a:p>
          <a:p>
            <a:pPr marL="914400" lvl="1" indent="-457200" algn="l">
              <a:lnSpc>
                <a:spcPts val="2800"/>
              </a:lnSpc>
              <a:spcBef>
                <a:spcPts val="1200"/>
              </a:spcBef>
              <a:buFont typeface="+mj-ea"/>
              <a:buAutoNum type="circleNumDbPlain"/>
            </a:pPr>
            <a:r>
              <a:rPr lang="zh-CN" altLang="zh-CN" sz="2000" smtClean="0">
                <a:solidFill>
                  <a:srgbClr val="0000FF"/>
                </a:solidFill>
                <a:latin typeface="Consolas" pitchFamily="49" charset="0"/>
                <a:ea typeface="仿宋" pitchFamily="49" charset="-122"/>
                <a:cs typeface="Consolas" pitchFamily="49" charset="0"/>
              </a:rPr>
              <a:t>若结点</a:t>
            </a:r>
            <a:r>
              <a:rPr lang="en-US" altLang="zh-CN" sz="2000" i="1" smtClean="0">
                <a:solidFill>
                  <a:srgbClr val="0000FF"/>
                </a:solidFill>
                <a:latin typeface="Consolas" pitchFamily="49" charset="0"/>
                <a:ea typeface="仿宋" pitchFamily="49" charset="-122"/>
                <a:cs typeface="Consolas" pitchFamily="49" charset="0"/>
              </a:rPr>
              <a:t>p</a:t>
            </a:r>
            <a:r>
              <a:rPr lang="zh-CN" altLang="zh-CN" sz="2000" smtClean="0">
                <a:solidFill>
                  <a:srgbClr val="0000FF"/>
                </a:solidFill>
                <a:latin typeface="Consolas" pitchFamily="49" charset="0"/>
                <a:ea typeface="仿宋" pitchFamily="49" charset="-122"/>
                <a:cs typeface="Consolas" pitchFamily="49" charset="0"/>
              </a:rPr>
              <a:t>是当前层的最右结点（</a:t>
            </a:r>
            <a:r>
              <a:rPr lang="en-US" altLang="zh-CN" sz="2000" i="1" smtClean="0">
                <a:solidFill>
                  <a:srgbClr val="FF00FF"/>
                </a:solidFill>
                <a:latin typeface="Consolas" pitchFamily="49" charset="0"/>
                <a:ea typeface="仿宋" pitchFamily="49" charset="-122"/>
                <a:cs typeface="Consolas" pitchFamily="49" charset="0"/>
              </a:rPr>
              <a:t>p</a:t>
            </a:r>
            <a:r>
              <a:rPr lang="en-US" altLang="zh-CN" sz="2000" smtClean="0">
                <a:solidFill>
                  <a:srgbClr val="FF00FF"/>
                </a:solidFill>
                <a:latin typeface="Consolas" pitchFamily="49" charset="0"/>
                <a:ea typeface="仿宋" pitchFamily="49" charset="-122"/>
                <a:cs typeface="Consolas" pitchFamily="49" charset="0"/>
              </a:rPr>
              <a:t>=last</a:t>
            </a:r>
            <a:r>
              <a:rPr lang="zh-CN" altLang="zh-CN" sz="2000" smtClean="0">
                <a:solidFill>
                  <a:srgbClr val="0000FF"/>
                </a:solidFill>
                <a:latin typeface="Consolas" pitchFamily="49" charset="0"/>
                <a:ea typeface="仿宋" pitchFamily="49" charset="-122"/>
                <a:cs typeface="Consolas" pitchFamily="49" charset="0"/>
              </a:rPr>
              <a:t>），说明当前层处理完毕，而此时的</a:t>
            </a:r>
            <a:r>
              <a:rPr lang="en-US" altLang="zh-CN" sz="2000" i="1" smtClean="0">
                <a:solidFill>
                  <a:srgbClr val="0000FF"/>
                </a:solidFill>
                <a:latin typeface="Consolas" pitchFamily="49" charset="0"/>
                <a:ea typeface="仿宋" pitchFamily="49" charset="-122"/>
                <a:cs typeface="Consolas" pitchFamily="49" charset="0"/>
              </a:rPr>
              <a:t>q</a:t>
            </a:r>
            <a:r>
              <a:rPr lang="zh-CN" altLang="zh-CN" sz="2000" smtClean="0">
                <a:solidFill>
                  <a:srgbClr val="0000FF"/>
                </a:solidFill>
                <a:latin typeface="Consolas" pitchFamily="49" charset="0"/>
                <a:ea typeface="仿宋" pitchFamily="49" charset="-122"/>
                <a:cs typeface="Consolas" pitchFamily="49" charset="0"/>
              </a:rPr>
              <a:t>就是</a:t>
            </a:r>
            <a:r>
              <a:rPr lang="zh-CN" altLang="en-US" sz="2000" smtClean="0">
                <a:solidFill>
                  <a:srgbClr val="0000FF"/>
                </a:solidFill>
                <a:latin typeface="Consolas" pitchFamily="49" charset="0"/>
                <a:ea typeface="仿宋" pitchFamily="49" charset="-122"/>
                <a:cs typeface="Consolas" pitchFamily="49" charset="0"/>
              </a:rPr>
              <a:t>下一层</a:t>
            </a:r>
            <a:r>
              <a:rPr lang="zh-CN" altLang="zh-CN" sz="2000" smtClean="0">
                <a:solidFill>
                  <a:srgbClr val="0000FF"/>
                </a:solidFill>
                <a:latin typeface="Consolas" pitchFamily="49" charset="0"/>
                <a:ea typeface="仿宋" pitchFamily="49" charset="-122"/>
                <a:cs typeface="Consolas" pitchFamily="49" charset="0"/>
              </a:rPr>
              <a:t>的最右结点，置</a:t>
            </a:r>
            <a:r>
              <a:rPr lang="en-US" altLang="zh-CN" sz="2000" smtClean="0">
                <a:solidFill>
                  <a:srgbClr val="0000FF"/>
                </a:solidFill>
                <a:latin typeface="Consolas" pitchFamily="49" charset="0"/>
                <a:ea typeface="仿宋" pitchFamily="49" charset="-122"/>
                <a:cs typeface="Consolas" pitchFamily="49" charset="0"/>
              </a:rPr>
              <a:t>last=q</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curl++</a:t>
            </a:r>
            <a:r>
              <a:rPr lang="zh-CN" altLang="zh-CN" sz="2000" smtClean="0">
                <a:solidFill>
                  <a:srgbClr val="0000FF"/>
                </a:solidFill>
                <a:latin typeface="Consolas" pitchFamily="49" charset="0"/>
                <a:ea typeface="仿宋" pitchFamily="49" charset="-122"/>
                <a:cs typeface="Consolas" pitchFamily="49" charset="0"/>
              </a:rPr>
              <a:t>进入下一层处理。</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10</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428596" y="785794"/>
            <a:ext cx="8501122" cy="224020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KCount2</a:t>
            </a:r>
            <a:r>
              <a:rPr lang="en-US" altLang="zh-CN" sz="1800" smtClean="0">
                <a:solidFill>
                  <a:srgbClr val="0000FF"/>
                </a:solidFill>
                <a:latin typeface="Consolas" pitchFamily="49" charset="0"/>
                <a:ea typeface="仿宋" pitchFamily="49" charset="-122"/>
                <a:cs typeface="Consolas" pitchFamily="49" charset="0"/>
              </a:rPr>
              <a:t>(BTree&amp; bt,int k)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解法</a:t>
            </a:r>
            <a:r>
              <a:rPr lang="en-US" altLang="zh-CN" sz="1800" smtClean="0">
                <a:solidFill>
                  <a:schemeClr val="bg1">
                    <a:lumMod val="50000"/>
                  </a:schemeClr>
                </a:solidFill>
                <a:latin typeface="Consolas" pitchFamily="49" charset="0"/>
                <a:ea typeface="仿宋" pitchFamily="49" charset="-122"/>
                <a:cs typeface="Consolas" pitchFamily="49" charset="0"/>
              </a:rPr>
              <a:t>2</a:t>
            </a:r>
            <a:r>
              <a:rPr lang="zh-CN" altLang="zh-CN" sz="1800" smtClean="0">
                <a:solidFill>
                  <a:schemeClr val="bg1">
                    <a:lumMod val="50000"/>
                  </a:schemeClr>
                </a:solidFill>
                <a:latin typeface="Consolas" pitchFamily="49" charset="0"/>
                <a:ea typeface="仿宋" pitchFamily="49" charset="-122"/>
                <a:cs typeface="Consolas" pitchFamily="49" charset="0"/>
              </a:rPr>
              <a:t>：求二叉树第</a:t>
            </a:r>
            <a:r>
              <a:rPr lang="en-US" altLang="zh-CN" sz="1800" smtClean="0">
                <a:solidFill>
                  <a:schemeClr val="bg1">
                    <a:lumMod val="50000"/>
                  </a:schemeClr>
                </a:solidFill>
                <a:latin typeface="Consolas" pitchFamily="49" charset="0"/>
                <a:ea typeface="仿宋" pitchFamily="49" charset="-122"/>
                <a:cs typeface="Consolas" pitchFamily="49" charset="0"/>
              </a:rPr>
              <a:t>k</a:t>
            </a:r>
            <a:r>
              <a:rPr lang="zh-CN" altLang="zh-CN" sz="1800" smtClean="0">
                <a:solidFill>
                  <a:schemeClr val="bg1">
                    <a:lumMod val="50000"/>
                  </a:schemeClr>
                </a:solidFill>
                <a:latin typeface="Consolas" pitchFamily="49" charset="0"/>
                <a:ea typeface="仿宋" pitchFamily="49" charset="-122"/>
                <a:cs typeface="Consolas" pitchFamily="49" charset="0"/>
              </a:rPr>
              <a:t>层结点个数</a:t>
            </a:r>
          </a:p>
          <a:p>
            <a:pPr algn="l"/>
            <a:r>
              <a:rPr lang="en-US" altLang="zh-CN" sz="1800" smtClean="0">
                <a:solidFill>
                  <a:srgbClr val="0000FF"/>
                </a:solidFill>
                <a:latin typeface="Consolas" pitchFamily="49" charset="0"/>
                <a:ea typeface="仿宋" pitchFamily="49" charset="-122"/>
                <a:cs typeface="Consolas" pitchFamily="49" charset="0"/>
              </a:rPr>
              <a:t>{  int cnt=0;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累计第</a:t>
            </a:r>
            <a:r>
              <a:rPr lang="en-US" altLang="zh-CN" sz="1800" smtClean="0">
                <a:solidFill>
                  <a:schemeClr val="bg1">
                    <a:lumMod val="50000"/>
                  </a:schemeClr>
                </a:solidFill>
                <a:latin typeface="Consolas" pitchFamily="49" charset="0"/>
                <a:ea typeface="仿宋" pitchFamily="49" charset="-122"/>
                <a:cs typeface="Consolas" pitchFamily="49" charset="0"/>
              </a:rPr>
              <a:t>k</a:t>
            </a:r>
            <a:r>
              <a:rPr lang="zh-CN" altLang="zh-CN" sz="1800" smtClean="0">
                <a:solidFill>
                  <a:schemeClr val="bg1">
                    <a:lumMod val="50000"/>
                  </a:schemeClr>
                </a:solidFill>
                <a:latin typeface="Consolas" pitchFamily="49" charset="0"/>
                <a:ea typeface="仿宋" pitchFamily="49" charset="-122"/>
                <a:cs typeface="Consolas" pitchFamily="49" charset="0"/>
              </a:rPr>
              <a:t>层结点个数</a:t>
            </a:r>
          </a:p>
          <a:p>
            <a:pPr algn="l"/>
            <a:r>
              <a:rPr lang="en-US" altLang="zh-CN" sz="1800" smtClean="0">
                <a:solidFill>
                  <a:srgbClr val="0000FF"/>
                </a:solidFill>
                <a:latin typeface="Consolas" pitchFamily="49" charset="0"/>
                <a:ea typeface="仿宋" pitchFamily="49" charset="-122"/>
                <a:cs typeface="Consolas" pitchFamily="49" charset="0"/>
              </a:rPr>
              <a:t>   queue&lt;BTNode* &gt; qu;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定义一个队列</a:t>
            </a:r>
            <a:r>
              <a:rPr lang="en-US" altLang="zh-CN" sz="1800" smtClean="0">
                <a:solidFill>
                  <a:schemeClr val="bg1">
                    <a:lumMod val="50000"/>
                  </a:schemeClr>
                </a:solidFill>
                <a:latin typeface="Consolas" pitchFamily="49" charset="0"/>
                <a:ea typeface="仿宋" pitchFamily="49" charset="-122"/>
                <a:cs typeface="Consolas" pitchFamily="49" charset="0"/>
              </a:rPr>
              <a:t>qu</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int curl=1;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当前层次</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从</a:t>
            </a:r>
            <a:r>
              <a:rPr lang="en-US" altLang="zh-CN" sz="1800" smtClean="0">
                <a:solidFill>
                  <a:schemeClr val="bg1">
                    <a:lumMod val="50000"/>
                  </a:schemeClr>
                </a:solidFill>
                <a:latin typeface="Consolas" pitchFamily="49" charset="0"/>
                <a:ea typeface="仿宋" pitchFamily="49" charset="-122"/>
                <a:cs typeface="Consolas" pitchFamily="49" charset="0"/>
              </a:rPr>
              <a:t>1</a:t>
            </a:r>
            <a:r>
              <a:rPr lang="zh-CN" altLang="zh-CN" sz="1800" smtClean="0">
                <a:solidFill>
                  <a:schemeClr val="bg1">
                    <a:lumMod val="50000"/>
                  </a:schemeClr>
                </a:solidFill>
                <a:latin typeface="Consolas" pitchFamily="49" charset="0"/>
                <a:ea typeface="仿宋" pitchFamily="49" charset="-122"/>
                <a:cs typeface="Consolas" pitchFamily="49" charset="0"/>
              </a:rPr>
              <a:t>开始</a:t>
            </a:r>
          </a:p>
          <a:p>
            <a:pPr algn="l"/>
            <a:r>
              <a:rPr lang="en-US" altLang="zh-CN" sz="1800" smtClean="0">
                <a:solidFill>
                  <a:srgbClr val="0000FF"/>
                </a:solidFill>
                <a:latin typeface="Consolas" pitchFamily="49" charset="0"/>
                <a:ea typeface="仿宋" pitchFamily="49" charset="-122"/>
                <a:cs typeface="Consolas" pitchFamily="49" charset="0"/>
              </a:rPr>
              <a:t>   BTNode* last=bt.r,*p,*q;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第</a:t>
            </a:r>
            <a:r>
              <a:rPr lang="en-US" altLang="zh-CN" sz="1800" smtClean="0">
                <a:solidFill>
                  <a:schemeClr val="bg1">
                    <a:lumMod val="50000"/>
                  </a:schemeClr>
                </a:solidFill>
                <a:latin typeface="Consolas" pitchFamily="49" charset="0"/>
                <a:ea typeface="仿宋" pitchFamily="49" charset="-122"/>
                <a:cs typeface="Consolas" pitchFamily="49" charset="0"/>
              </a:rPr>
              <a:t>1</a:t>
            </a:r>
            <a:r>
              <a:rPr lang="zh-CN" altLang="zh-CN" sz="1800" smtClean="0">
                <a:solidFill>
                  <a:schemeClr val="bg1">
                    <a:lumMod val="50000"/>
                  </a:schemeClr>
                </a:solidFill>
                <a:latin typeface="Consolas" pitchFamily="49" charset="0"/>
                <a:ea typeface="仿宋" pitchFamily="49" charset="-122"/>
                <a:cs typeface="Consolas" pitchFamily="49" charset="0"/>
              </a:rPr>
              <a:t>层最右结点</a:t>
            </a:r>
          </a:p>
          <a:p>
            <a:pPr algn="l"/>
            <a:r>
              <a:rPr lang="en-US" altLang="zh-CN" sz="1800" smtClean="0">
                <a:solidFill>
                  <a:srgbClr val="0000FF"/>
                </a:solidFill>
                <a:latin typeface="Consolas" pitchFamily="49" charset="0"/>
                <a:ea typeface="仿宋" pitchFamily="49" charset="-122"/>
                <a:cs typeface="Consolas" pitchFamily="49" charset="0"/>
              </a:rPr>
              <a:t>   qu.push(bt.r);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根结点进队</a:t>
            </a: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11</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214282" y="190285"/>
            <a:ext cx="8643998" cy="625234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0" rtlCol="0">
            <a:spAutoFit/>
          </a:bodyPr>
          <a:lstStyle/>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(!qu.empty())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队不空循环</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  if (</a:t>
            </a:r>
            <a:r>
              <a:rPr lang="en-US" altLang="zh-CN" sz="1800" smtClean="0">
                <a:solidFill>
                  <a:srgbClr val="FF00FF"/>
                </a:solidFill>
                <a:latin typeface="Consolas" pitchFamily="49" charset="0"/>
                <a:ea typeface="仿宋" pitchFamily="49" charset="-122"/>
                <a:cs typeface="Consolas" pitchFamily="49" charset="0"/>
              </a:rPr>
              <a:t>curl&gt;k</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当层号大于</a:t>
            </a:r>
            <a:r>
              <a:rPr lang="en-US" altLang="zh-CN" sz="1800" smtClean="0">
                <a:solidFill>
                  <a:schemeClr val="bg1">
                    <a:lumMod val="50000"/>
                  </a:schemeClr>
                </a:solidFill>
                <a:latin typeface="Consolas" pitchFamily="49" charset="0"/>
                <a:ea typeface="仿宋" pitchFamily="49" charset="-122"/>
                <a:cs typeface="Consolas" pitchFamily="49" charset="0"/>
              </a:rPr>
              <a:t>k</a:t>
            </a:r>
            <a:r>
              <a:rPr lang="zh-CN" altLang="zh-CN" sz="1800" smtClean="0">
                <a:solidFill>
                  <a:schemeClr val="bg1">
                    <a:lumMod val="50000"/>
                  </a:schemeClr>
                </a:solidFill>
                <a:latin typeface="Consolas" pitchFamily="49" charset="0"/>
                <a:ea typeface="仿宋" pitchFamily="49" charset="-122"/>
                <a:cs typeface="Consolas" pitchFamily="49" charset="0"/>
              </a:rPr>
              <a:t>时返回</a:t>
            </a:r>
            <a:r>
              <a:rPr lang="en-US" altLang="zh-CN" sz="1800" smtClean="0">
                <a:solidFill>
                  <a:schemeClr val="bg1">
                    <a:lumMod val="50000"/>
                  </a:schemeClr>
                </a:solidFill>
                <a:latin typeface="Consolas" pitchFamily="49" charset="0"/>
                <a:ea typeface="仿宋" pitchFamily="49" charset="-122"/>
                <a:cs typeface="Consolas" pitchFamily="49" charset="0"/>
              </a:rPr>
              <a:t>cnt,</a:t>
            </a:r>
            <a:r>
              <a:rPr lang="zh-CN" altLang="zh-CN" sz="1800" smtClean="0">
                <a:solidFill>
                  <a:schemeClr val="bg1">
                    <a:lumMod val="50000"/>
                  </a:schemeClr>
                </a:solidFill>
                <a:latin typeface="Consolas" pitchFamily="49" charset="0"/>
                <a:ea typeface="仿宋" pitchFamily="49" charset="-122"/>
                <a:cs typeface="Consolas" pitchFamily="49" charset="0"/>
              </a:rPr>
              <a:t>不再继续</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cnt;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p=qu.front(); qu.pop();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出队一个结点</a:t>
            </a:r>
            <a:r>
              <a:rPr lang="en-US" altLang="zh-CN" sz="1800" smtClean="0">
                <a:solidFill>
                  <a:schemeClr val="bg1">
                    <a:lumMod val="50000"/>
                  </a:schemeClr>
                </a:solidFill>
                <a:latin typeface="Consolas" pitchFamily="49" charset="0"/>
                <a:ea typeface="仿宋" pitchFamily="49" charset="-122"/>
                <a:cs typeface="Consolas" pitchFamily="49" charset="0"/>
              </a:rPr>
              <a:t>p</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a:t>
            </a:r>
            <a:r>
              <a:rPr lang="en-US" altLang="zh-CN" sz="1800" smtClean="0">
                <a:solidFill>
                  <a:srgbClr val="FF00FF"/>
                </a:solidFill>
                <a:latin typeface="Consolas" pitchFamily="49" charset="0"/>
                <a:ea typeface="仿宋" pitchFamily="49" charset="-122"/>
                <a:cs typeface="Consolas" pitchFamily="49" charset="0"/>
              </a:rPr>
              <a:t>curl==k</a:t>
            </a: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cnt++;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当前结点是第</a:t>
            </a:r>
            <a:r>
              <a:rPr lang="en-US" altLang="zh-CN" sz="1800" smtClean="0">
                <a:solidFill>
                  <a:schemeClr val="bg1">
                    <a:lumMod val="50000"/>
                  </a:schemeClr>
                </a:solidFill>
                <a:latin typeface="Consolas" pitchFamily="49" charset="0"/>
                <a:ea typeface="仿宋" pitchFamily="49" charset="-122"/>
                <a:cs typeface="Consolas" pitchFamily="49" charset="0"/>
              </a:rPr>
              <a:t>k</a:t>
            </a:r>
            <a:r>
              <a:rPr lang="zh-CN" altLang="zh-CN" sz="1800" smtClean="0">
                <a:solidFill>
                  <a:schemeClr val="bg1">
                    <a:lumMod val="50000"/>
                  </a:schemeClr>
                </a:solidFill>
                <a:latin typeface="Consolas" pitchFamily="49" charset="0"/>
                <a:ea typeface="仿宋" pitchFamily="49" charset="-122"/>
                <a:cs typeface="Consolas" pitchFamily="49" charset="0"/>
              </a:rPr>
              <a:t>层的结点</a:t>
            </a:r>
            <a:r>
              <a:rPr lang="en-US" altLang="zh-CN" sz="1800" smtClean="0">
                <a:solidFill>
                  <a:schemeClr val="bg1">
                    <a:lumMod val="50000"/>
                  </a:schemeClr>
                </a:solidFill>
                <a:latin typeface="Consolas" pitchFamily="49" charset="0"/>
                <a:ea typeface="仿宋" pitchFamily="49" charset="-122"/>
                <a:cs typeface="Consolas" pitchFamily="49" charset="0"/>
              </a:rPr>
              <a:t>,cnt</a:t>
            </a:r>
            <a:r>
              <a:rPr lang="zh-CN" altLang="zh-CN" sz="1800" smtClean="0">
                <a:solidFill>
                  <a:schemeClr val="bg1">
                    <a:lumMod val="50000"/>
                  </a:schemeClr>
                </a:solidFill>
                <a:latin typeface="Consolas" pitchFamily="49" charset="0"/>
                <a:ea typeface="仿宋" pitchFamily="49" charset="-122"/>
                <a:cs typeface="Consolas" pitchFamily="49" charset="0"/>
              </a:rPr>
              <a:t>增</a:t>
            </a:r>
            <a:r>
              <a:rPr lang="en-US" altLang="zh-CN" sz="1800" smtClean="0">
                <a:solidFill>
                  <a:schemeClr val="bg1">
                    <a:lumMod val="50000"/>
                  </a:schemeClr>
                </a:solidFill>
                <a:latin typeface="Consolas" pitchFamily="49" charset="0"/>
                <a:ea typeface="仿宋" pitchFamily="49" charset="-122"/>
                <a:cs typeface="Consolas" pitchFamily="49" charset="0"/>
              </a:rPr>
              <a:t>1</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(p-&gt;lchild!=NULL)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有左孩子时将其进队</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  q=p-&gt;lchild;</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qu.push(q);</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(p-&gt;rchild!=NULL)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有右孩子时将其进队</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  q=p-&gt;rchild;</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qu.push(q);</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a:t>
            </a:r>
            <a:r>
              <a:rPr lang="en-US" altLang="zh-CN" sz="1800" smtClean="0">
                <a:solidFill>
                  <a:srgbClr val="FF0000"/>
                </a:solidFill>
                <a:latin typeface="Consolas" pitchFamily="49" charset="0"/>
                <a:ea typeface="仿宋" pitchFamily="49" charset="-122"/>
                <a:cs typeface="Consolas" pitchFamily="49" charset="0"/>
              </a:rPr>
              <a:t>p==last</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当前层的所有结点处理完毕</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  last=q;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让</a:t>
            </a:r>
            <a:r>
              <a:rPr lang="en-US" altLang="zh-CN" sz="1800" smtClean="0">
                <a:solidFill>
                  <a:schemeClr val="bg1">
                    <a:lumMod val="50000"/>
                  </a:schemeClr>
                </a:solidFill>
                <a:latin typeface="Consolas" pitchFamily="49" charset="0"/>
                <a:ea typeface="仿宋" pitchFamily="49" charset="-122"/>
                <a:cs typeface="Consolas" pitchFamily="49" charset="0"/>
              </a:rPr>
              <a:t>last</a:t>
            </a:r>
            <a:r>
              <a:rPr lang="zh-CN" altLang="zh-CN" sz="1800" smtClean="0">
                <a:solidFill>
                  <a:schemeClr val="bg1">
                    <a:lumMod val="50000"/>
                  </a:schemeClr>
                </a:solidFill>
                <a:latin typeface="Consolas" pitchFamily="49" charset="0"/>
                <a:ea typeface="仿宋" pitchFamily="49" charset="-122"/>
                <a:cs typeface="Consolas" pitchFamily="49" charset="0"/>
              </a:rPr>
              <a:t>指向下一层的最右结点</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curl++;</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cnt;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12</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428604"/>
            <a:ext cx="928694" cy="45318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bodyPr>
          <a:lstStyle/>
          <a:p>
            <a:pPr>
              <a:lnSpc>
                <a:spcPct val="100000"/>
              </a:lnSpc>
              <a:spcBef>
                <a:spcPts val="0"/>
              </a:spcBef>
            </a:pPr>
            <a:r>
              <a:rPr lang="zh-CN" altLang="zh-CN" sz="2000" smtClean="0">
                <a:solidFill>
                  <a:srgbClr val="FF0000"/>
                </a:solidFill>
                <a:latin typeface="Consolas" pitchFamily="49" charset="0"/>
                <a:ea typeface="微软雅黑" pitchFamily="34" charset="-122"/>
                <a:cs typeface="Consolas" pitchFamily="49" charset="0"/>
              </a:rPr>
              <a:t>解法</a:t>
            </a:r>
            <a:r>
              <a:rPr lang="en-US" altLang="zh-CN" sz="2000" smtClean="0">
                <a:solidFill>
                  <a:srgbClr val="FF0000"/>
                </a:solidFill>
                <a:latin typeface="Consolas" pitchFamily="49" charset="0"/>
                <a:ea typeface="微软雅黑" pitchFamily="34" charset="-122"/>
                <a:cs typeface="Consolas" pitchFamily="49" charset="0"/>
              </a:rPr>
              <a:t>3</a:t>
            </a:r>
            <a:endParaRPr lang="zh-CN" altLang="en-US" sz="2000" smtClean="0">
              <a:solidFill>
                <a:srgbClr val="FF0000"/>
              </a:solidFill>
              <a:latin typeface="Consolas" pitchFamily="49" charset="0"/>
              <a:ea typeface="微软雅黑" pitchFamily="34" charset="-122"/>
              <a:cs typeface="Consolas" pitchFamily="49" charset="0"/>
            </a:endParaRPr>
          </a:p>
        </p:txBody>
      </p:sp>
      <p:sp>
        <p:nvSpPr>
          <p:cNvPr id="5" name="TextBox 4"/>
          <p:cNvSpPr txBox="1"/>
          <p:nvPr/>
        </p:nvSpPr>
        <p:spPr>
          <a:xfrm>
            <a:off x="571472" y="1071546"/>
            <a:ext cx="8143932" cy="4787181"/>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6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层次遍历是从第一层开始，访问一层的全部结点后（此时该层的全部结点已出队）再访问下一层的结点</a:t>
            </a:r>
            <a:r>
              <a:rPr lang="zh-CN" altLang="en-US" sz="2000" smtClean="0">
                <a:solidFill>
                  <a:srgbClr val="0000FF"/>
                </a:solidFill>
                <a:latin typeface="Consolas" pitchFamily="49" charset="0"/>
                <a:ea typeface="仿宋" pitchFamily="49" charset="-122"/>
                <a:cs typeface="Consolas" pitchFamily="49" charset="0"/>
              </a:rPr>
              <a:t>。</a:t>
            </a:r>
            <a:r>
              <a:rPr lang="zh-CN" altLang="zh-CN" sz="2000" smtClean="0">
                <a:solidFill>
                  <a:srgbClr val="FF0000"/>
                </a:solidFill>
                <a:latin typeface="Consolas" pitchFamily="49" charset="0"/>
                <a:ea typeface="仿宋" pitchFamily="49" charset="-122"/>
                <a:cs typeface="Consolas" pitchFamily="49" charset="0"/>
              </a:rPr>
              <a:t>上一层遍历完毕，队中恰好是下一层的全部结点</a:t>
            </a:r>
            <a:r>
              <a:rPr lang="zh-CN" altLang="zh-CN"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6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若</a:t>
            </a:r>
            <a:r>
              <a:rPr lang="en-US" altLang="zh-CN" sz="2000" i="1" smtClean="0">
                <a:solidFill>
                  <a:srgbClr val="0000FF"/>
                </a:solidFill>
                <a:latin typeface="Consolas" pitchFamily="49" charset="0"/>
                <a:ea typeface="仿宋" pitchFamily="49" charset="-122"/>
                <a:cs typeface="Consolas" pitchFamily="49" charset="0"/>
              </a:rPr>
              <a:t>k</a:t>
            </a:r>
            <a:r>
              <a:rPr lang="en-US" altLang="zh-CN" sz="2000" smtClean="0">
                <a:solidFill>
                  <a:srgbClr val="0000FF"/>
                </a:solidFill>
                <a:latin typeface="Consolas" pitchFamily="49" charset="0"/>
                <a:ea typeface="仿宋" pitchFamily="49" charset="-122"/>
                <a:cs typeface="Consolas" pitchFamily="49" charset="0"/>
              </a:rPr>
              <a:t>&lt;1</a:t>
            </a:r>
            <a:r>
              <a:rPr lang="zh-CN" altLang="zh-CN" sz="2000" smtClean="0">
                <a:solidFill>
                  <a:srgbClr val="0000FF"/>
                </a:solidFill>
                <a:latin typeface="Consolas" pitchFamily="49" charset="0"/>
                <a:ea typeface="仿宋" pitchFamily="49" charset="-122"/>
                <a:cs typeface="Consolas" pitchFamily="49" charset="0"/>
              </a:rPr>
              <a:t>，返回</a:t>
            </a:r>
            <a:r>
              <a:rPr lang="en-US" altLang="zh-CN" sz="2000" smtClean="0">
                <a:solidFill>
                  <a:srgbClr val="0000FF"/>
                </a:solidFill>
                <a:latin typeface="Consolas" pitchFamily="49" charset="0"/>
                <a:ea typeface="仿宋" pitchFamily="49" charset="-122"/>
                <a:cs typeface="Consolas" pitchFamily="49" charset="0"/>
              </a:rPr>
              <a:t>0</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6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否则将根结点进队，当前层次</a:t>
            </a:r>
            <a:r>
              <a:rPr lang="en-US" altLang="zh-CN" sz="2000" smtClean="0">
                <a:solidFill>
                  <a:srgbClr val="0000FF"/>
                </a:solidFill>
                <a:latin typeface="Consolas" pitchFamily="49" charset="0"/>
                <a:ea typeface="仿宋" pitchFamily="49" charset="-122"/>
                <a:cs typeface="Consolas" pitchFamily="49" charset="0"/>
              </a:rPr>
              <a:t>curl=1</a:t>
            </a:r>
            <a:r>
              <a:rPr lang="zh-CN" altLang="zh-CN" sz="2000" smtClean="0">
                <a:solidFill>
                  <a:srgbClr val="0000FF"/>
                </a:solidFill>
                <a:latin typeface="Consolas" pitchFamily="49" charset="0"/>
                <a:ea typeface="仿宋" pitchFamily="49" charset="-122"/>
                <a:cs typeface="Consolas" pitchFamily="49" charset="0"/>
              </a:rPr>
              <a:t>。队不空循环：</a:t>
            </a:r>
          </a:p>
          <a:p>
            <a:pPr marL="914400" lvl="1" indent="-457200" algn="l">
              <a:lnSpc>
                <a:spcPts val="2600"/>
              </a:lnSpc>
              <a:spcBef>
                <a:spcPts val="1200"/>
              </a:spcBef>
              <a:buFont typeface="+mj-ea"/>
              <a:buAutoNum type="circleNumDbPlain"/>
            </a:pPr>
            <a:r>
              <a:rPr lang="zh-CN" altLang="zh-CN" sz="2000" smtClean="0">
                <a:solidFill>
                  <a:srgbClr val="0000FF"/>
                </a:solidFill>
                <a:latin typeface="Consolas" pitchFamily="49" charset="0"/>
                <a:ea typeface="仿宋" pitchFamily="49" charset="-122"/>
                <a:cs typeface="Consolas" pitchFamily="49" charset="0"/>
              </a:rPr>
              <a:t>若</a:t>
            </a:r>
            <a:r>
              <a:rPr lang="en-US" altLang="zh-CN" sz="2000" smtClean="0">
                <a:solidFill>
                  <a:srgbClr val="0000FF"/>
                </a:solidFill>
                <a:latin typeface="Consolas" pitchFamily="49" charset="0"/>
                <a:ea typeface="仿宋" pitchFamily="49" charset="-122"/>
                <a:cs typeface="Consolas" pitchFamily="49" charset="0"/>
              </a:rPr>
              <a:t>curl=</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，队中恰好包含该层的全部结点，直接返回队中元素个数（即第</a:t>
            </a:r>
            <a:r>
              <a:rPr lang="en-US" altLang="zh-CN" sz="2000" i="1" smtClean="0">
                <a:solidFill>
                  <a:srgbClr val="0000FF"/>
                </a:solidFill>
                <a:latin typeface="Consolas" pitchFamily="49" charset="0"/>
                <a:ea typeface="仿宋" pitchFamily="49" charset="-122"/>
                <a:cs typeface="Consolas" pitchFamily="49" charset="0"/>
              </a:rPr>
              <a:t>k</a:t>
            </a:r>
            <a:r>
              <a:rPr lang="zh-CN" altLang="zh-CN" sz="2000" smtClean="0">
                <a:solidFill>
                  <a:srgbClr val="0000FF"/>
                </a:solidFill>
                <a:latin typeface="Consolas" pitchFamily="49" charset="0"/>
                <a:ea typeface="仿宋" pitchFamily="49" charset="-122"/>
                <a:cs typeface="Consolas" pitchFamily="49" charset="0"/>
              </a:rPr>
              <a:t>层结点个数）。</a:t>
            </a:r>
          </a:p>
          <a:p>
            <a:pPr marL="914400" lvl="1" indent="-457200" algn="l">
              <a:lnSpc>
                <a:spcPts val="2600"/>
              </a:lnSpc>
              <a:spcBef>
                <a:spcPts val="1200"/>
              </a:spcBef>
              <a:buFont typeface="+mj-ea"/>
              <a:buAutoNum type="circleNumDbPlain"/>
            </a:pPr>
            <a:r>
              <a:rPr lang="zh-CN" altLang="zh-CN" sz="2000" smtClean="0">
                <a:solidFill>
                  <a:srgbClr val="0000FF"/>
                </a:solidFill>
                <a:latin typeface="Consolas" pitchFamily="49" charset="0"/>
                <a:ea typeface="仿宋" pitchFamily="49" charset="-122"/>
                <a:cs typeface="Consolas" pitchFamily="49" charset="0"/>
              </a:rPr>
              <a:t>否则，求出队中元素个数</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（当前层</a:t>
            </a:r>
            <a:r>
              <a:rPr lang="en-US" altLang="zh-CN" sz="2000" smtClean="0">
                <a:solidFill>
                  <a:srgbClr val="0000FF"/>
                </a:solidFill>
                <a:latin typeface="Consolas" pitchFamily="49" charset="0"/>
                <a:ea typeface="仿宋" pitchFamily="49" charset="-122"/>
                <a:cs typeface="Consolas" pitchFamily="49" charset="0"/>
              </a:rPr>
              <a:t>curl</a:t>
            </a:r>
            <a:r>
              <a:rPr lang="zh-CN" altLang="zh-CN" sz="2000" smtClean="0">
                <a:solidFill>
                  <a:srgbClr val="0000FF"/>
                </a:solidFill>
                <a:latin typeface="Consolas" pitchFamily="49" charset="0"/>
                <a:ea typeface="仿宋" pitchFamily="49" charset="-122"/>
                <a:cs typeface="Consolas" pitchFamily="49" charset="0"/>
              </a:rPr>
              <a:t>的全部结点个数），循环出队</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次，每次出队一个结点时将其孩子结点进队。</a:t>
            </a:r>
          </a:p>
          <a:p>
            <a:pPr marL="914400" lvl="1" indent="-457200" algn="l">
              <a:lnSpc>
                <a:spcPts val="2600"/>
              </a:lnSpc>
              <a:spcBef>
                <a:spcPts val="1200"/>
              </a:spcBef>
              <a:buFont typeface="+mj-ea"/>
              <a:buAutoNum type="circleNumDbPlain"/>
            </a:pPr>
            <a:r>
              <a:rPr lang="zh-CN" altLang="zh-CN" sz="2000" smtClean="0">
                <a:solidFill>
                  <a:srgbClr val="0000FF"/>
                </a:solidFill>
                <a:latin typeface="Consolas" pitchFamily="49" charset="0"/>
                <a:ea typeface="仿宋" pitchFamily="49" charset="-122"/>
                <a:cs typeface="Consolas" pitchFamily="49" charset="0"/>
              </a:rPr>
              <a:t>置</a:t>
            </a:r>
            <a:r>
              <a:rPr lang="en-US" altLang="zh-CN" sz="2000" smtClean="0">
                <a:solidFill>
                  <a:srgbClr val="0000FF"/>
                </a:solidFill>
                <a:latin typeface="Consolas" pitchFamily="49" charset="0"/>
                <a:ea typeface="仿宋" pitchFamily="49" charset="-122"/>
                <a:cs typeface="Consolas" pitchFamily="49" charset="0"/>
              </a:rPr>
              <a:t>curl++</a:t>
            </a:r>
            <a:r>
              <a:rPr lang="zh-CN" altLang="zh-CN" sz="2000" smtClean="0">
                <a:solidFill>
                  <a:srgbClr val="0000FF"/>
                </a:solidFill>
                <a:latin typeface="Consolas" pitchFamily="49" charset="0"/>
                <a:ea typeface="仿宋" pitchFamily="49" charset="-122"/>
                <a:cs typeface="Consolas" pitchFamily="49" charset="0"/>
              </a:rPr>
              <a:t>，进入下一层处理。</a:t>
            </a:r>
          </a:p>
          <a:p>
            <a:pPr marL="457200" indent="-457200" algn="l">
              <a:lnSpc>
                <a:spcPts val="26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最后返回</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k</a:t>
            </a:r>
            <a:r>
              <a:rPr lang="en-US" altLang="zh-CN" sz="2000" smtClean="0">
                <a:solidFill>
                  <a:srgbClr val="0000FF"/>
                </a:solidFill>
                <a:latin typeface="Consolas" pitchFamily="49" charset="0"/>
                <a:ea typeface="仿宋" pitchFamily="49" charset="-122"/>
                <a:cs typeface="Consolas" pitchFamily="49" charset="0"/>
              </a:rPr>
              <a:t>&gt;</a:t>
            </a:r>
            <a:r>
              <a:rPr lang="zh-CN" altLang="zh-CN" sz="2000" smtClean="0">
                <a:solidFill>
                  <a:srgbClr val="0000FF"/>
                </a:solidFill>
                <a:latin typeface="Consolas" pitchFamily="49" charset="0"/>
                <a:ea typeface="仿宋" pitchFamily="49" charset="-122"/>
                <a:cs typeface="Consolas" pitchFamily="49" charset="0"/>
              </a:rPr>
              <a:t>二叉树高度的情况）。</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pPr/>
              <a:t>13</a:t>
            </a:fld>
            <a:r>
              <a:rPr lang="en-US" altLang="zh-CN" smtClean="0"/>
              <a:t>/76</a:t>
            </a:r>
            <a:endParaRPr lang="en-US" altLang="zh-CN"/>
          </a:p>
        </p:txBody>
      </p:sp>
      <p:sp>
        <p:nvSpPr>
          <p:cNvPr id="6" name="椭圆形标注 5"/>
          <p:cNvSpPr/>
          <p:nvPr/>
        </p:nvSpPr>
        <p:spPr bwMode="auto">
          <a:xfrm>
            <a:off x="3714744" y="71414"/>
            <a:ext cx="2214578" cy="857256"/>
          </a:xfrm>
          <a:prstGeom prst="wedgeEllipseCallout">
            <a:avLst>
              <a:gd name="adj1" fmla="val -21595"/>
              <a:gd name="adj2" fmla="val 73167"/>
            </a:avLst>
          </a:prstGeom>
          <a:solidFill>
            <a:schemeClr val="tx1"/>
          </a:solidFill>
          <a:ln>
            <a:headEnd/>
            <a:tailEnd/>
          </a:ln>
        </p:spPr>
        <p:style>
          <a:lnRef idx="2">
            <a:schemeClr val="accent6"/>
          </a:lnRef>
          <a:fillRef idx="1">
            <a:schemeClr val="lt1"/>
          </a:fillRef>
          <a:effectRef idx="0">
            <a:schemeClr val="accent6"/>
          </a:effectRef>
          <a:fontRef idx="minor">
            <a:schemeClr val="dk1"/>
          </a:fontRef>
        </p:style>
        <p:txBody>
          <a:bodyPr vert="horz" wrap="square" lIns="0" tIns="45720" rIns="0" bIns="45720" numCol="1" rtlCol="0" anchor="t" anchorCtr="0" compatLnSpc="1">
            <a:prstTxWarp prst="textNoShape">
              <a:avLst/>
            </a:prstTxWarp>
          </a:bodyPr>
          <a:lstStyle/>
          <a:p>
            <a:pPr>
              <a:lnSpc>
                <a:spcPct val="100000"/>
              </a:lnSpc>
            </a:pPr>
            <a:r>
              <a:rPr lang="zh-CN" altLang="zh-CN" sz="1800" b="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楷体" pitchFamily="49" charset="-122"/>
                <a:ea typeface="楷体" pitchFamily="49" charset="-122"/>
              </a:rPr>
              <a:t>二叉树分层次的层次遍历</a:t>
            </a:r>
            <a:endParaRPr lang="zh-CN" altLang="en-US" sz="1800" b="0" i="1">
              <a:ln w="18415" cmpd="sng">
                <a:solidFill>
                  <a:srgbClr val="FFFFFF"/>
                </a:solidFill>
                <a:prstDash val="solid"/>
              </a:ln>
              <a:solidFill>
                <a:srgbClr val="FFFFFF"/>
              </a:solidFill>
              <a:effectLst>
                <a:outerShdw blurRad="63500" dir="3600000" algn="tl" rotWithShape="0">
                  <a:srgbClr val="000000">
                    <a:alpha val="70000"/>
                  </a:srgbClr>
                </a:outerShdw>
              </a:effectLst>
              <a:latin typeface="楷体" pitchFamily="49" charset="-122"/>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214282" y="201233"/>
            <a:ext cx="8715436" cy="6536643"/>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KCount3</a:t>
            </a:r>
            <a:r>
              <a:rPr lang="en-US" altLang="zh-CN" sz="1800" smtClean="0">
                <a:solidFill>
                  <a:srgbClr val="0000FF"/>
                </a:solidFill>
                <a:latin typeface="Consolas" pitchFamily="49" charset="0"/>
                <a:ea typeface="仿宋" pitchFamily="49" charset="-122"/>
                <a:cs typeface="Consolas" pitchFamily="49" charset="0"/>
              </a:rPr>
              <a:t>(BTree&amp; bt,int k)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解法</a:t>
            </a:r>
            <a:r>
              <a:rPr lang="en-US" altLang="zh-CN" sz="1800" smtClean="0">
                <a:solidFill>
                  <a:schemeClr val="bg1">
                    <a:lumMod val="50000"/>
                  </a:schemeClr>
                </a:solidFill>
                <a:latin typeface="Consolas" pitchFamily="49" charset="0"/>
                <a:ea typeface="仿宋" pitchFamily="49" charset="-122"/>
                <a:cs typeface="Consolas" pitchFamily="49" charset="0"/>
              </a:rPr>
              <a:t>3</a:t>
            </a:r>
            <a:r>
              <a:rPr lang="zh-CN" altLang="zh-CN" sz="1800" smtClean="0">
                <a:solidFill>
                  <a:schemeClr val="bg1">
                    <a:lumMod val="50000"/>
                  </a:schemeClr>
                </a:solidFill>
                <a:latin typeface="Consolas" pitchFamily="49" charset="0"/>
                <a:ea typeface="仿宋" pitchFamily="49" charset="-122"/>
                <a:cs typeface="Consolas" pitchFamily="49" charset="0"/>
              </a:rPr>
              <a:t>：求二叉树第</a:t>
            </a:r>
            <a:r>
              <a:rPr lang="en-US" altLang="zh-CN" sz="1800" smtClean="0">
                <a:solidFill>
                  <a:schemeClr val="bg1">
                    <a:lumMod val="50000"/>
                  </a:schemeClr>
                </a:solidFill>
                <a:latin typeface="Consolas" pitchFamily="49" charset="0"/>
                <a:ea typeface="仿宋" pitchFamily="49" charset="-122"/>
                <a:cs typeface="Consolas" pitchFamily="49" charset="0"/>
              </a:rPr>
              <a:t>k</a:t>
            </a:r>
            <a:r>
              <a:rPr lang="zh-CN" altLang="zh-CN" sz="1800" smtClean="0">
                <a:solidFill>
                  <a:schemeClr val="bg1">
                    <a:lumMod val="50000"/>
                  </a:schemeClr>
                </a:solidFill>
                <a:latin typeface="Consolas" pitchFamily="49" charset="0"/>
                <a:ea typeface="仿宋" pitchFamily="49" charset="-122"/>
                <a:cs typeface="Consolas" pitchFamily="49" charset="0"/>
              </a:rPr>
              <a:t>层结点个数</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(k&lt;1) return 0;			</a:t>
            </a:r>
            <a:r>
              <a:rPr lang="en-US" altLang="zh-CN" sz="1800" smtClean="0">
                <a:solidFill>
                  <a:schemeClr val="bg1">
                    <a:lumMod val="50000"/>
                  </a:schemeClr>
                </a:solidFill>
                <a:latin typeface="Consolas" pitchFamily="49" charset="0"/>
                <a:ea typeface="仿宋" pitchFamily="49" charset="-122"/>
                <a:cs typeface="Consolas" pitchFamily="49" charset="0"/>
              </a:rPr>
              <a:t>//k&lt;1</a:t>
            </a:r>
            <a:r>
              <a:rPr lang="zh-CN" altLang="zh-CN" sz="1800" smtClean="0">
                <a:solidFill>
                  <a:schemeClr val="bg1">
                    <a:lumMod val="50000"/>
                  </a:schemeClr>
                </a:solidFill>
                <a:latin typeface="Consolas" pitchFamily="49" charset="0"/>
                <a:ea typeface="仿宋" pitchFamily="49" charset="-122"/>
                <a:cs typeface="Consolas" pitchFamily="49" charset="0"/>
              </a:rPr>
              <a:t>返回</a:t>
            </a:r>
            <a:r>
              <a:rPr lang="en-US" altLang="zh-CN" sz="1800" smtClean="0">
                <a:solidFill>
                  <a:schemeClr val="bg1">
                    <a:lumMod val="50000"/>
                  </a:schemeClr>
                </a:solidFill>
                <a:latin typeface="Consolas" pitchFamily="49" charset="0"/>
                <a:ea typeface="仿宋" pitchFamily="49" charset="-122"/>
                <a:cs typeface="Consolas" pitchFamily="49" charset="0"/>
              </a:rPr>
              <a:t>0</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queue&lt;BTNode* &gt; qu;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定义一个队列</a:t>
            </a:r>
            <a:r>
              <a:rPr lang="en-US" altLang="zh-CN" sz="1800" smtClean="0">
                <a:solidFill>
                  <a:schemeClr val="bg1">
                    <a:lumMod val="50000"/>
                  </a:schemeClr>
                </a:solidFill>
                <a:latin typeface="Consolas" pitchFamily="49" charset="0"/>
                <a:ea typeface="仿宋" pitchFamily="49" charset="-122"/>
                <a:cs typeface="Consolas" pitchFamily="49" charset="0"/>
              </a:rPr>
              <a:t>qu</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curl=1;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当前层次</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从</a:t>
            </a:r>
            <a:r>
              <a:rPr lang="en-US" altLang="zh-CN" sz="1800" smtClean="0">
                <a:solidFill>
                  <a:schemeClr val="bg1">
                    <a:lumMod val="50000"/>
                  </a:schemeClr>
                </a:solidFill>
                <a:latin typeface="Consolas" pitchFamily="49" charset="0"/>
                <a:ea typeface="仿宋" pitchFamily="49" charset="-122"/>
                <a:cs typeface="Consolas" pitchFamily="49" charset="0"/>
              </a:rPr>
              <a:t>1</a:t>
            </a:r>
            <a:r>
              <a:rPr lang="zh-CN" altLang="zh-CN" sz="1800" smtClean="0">
                <a:solidFill>
                  <a:schemeClr val="bg1">
                    <a:lumMod val="50000"/>
                  </a:schemeClr>
                </a:solidFill>
                <a:latin typeface="Consolas" pitchFamily="49" charset="0"/>
                <a:ea typeface="仿宋" pitchFamily="49" charset="-122"/>
                <a:cs typeface="Consolas" pitchFamily="49" charset="0"/>
              </a:rPr>
              <a:t>开始</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qu.push(bt.r);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根结点进队</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(!qu.empty())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队不空循环</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  if (curl==k)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当前层为第</a:t>
            </a:r>
            <a:r>
              <a:rPr lang="en-US" altLang="zh-CN" sz="1800" smtClean="0">
                <a:solidFill>
                  <a:schemeClr val="bg1">
                    <a:lumMod val="50000"/>
                  </a:schemeClr>
                </a:solidFill>
                <a:latin typeface="Consolas" pitchFamily="49" charset="0"/>
                <a:ea typeface="仿宋" pitchFamily="49" charset="-122"/>
                <a:cs typeface="Consolas" pitchFamily="49" charset="0"/>
              </a:rPr>
              <a:t>k</a:t>
            </a:r>
            <a:r>
              <a:rPr lang="zh-CN" altLang="zh-CN" sz="1800" smtClean="0">
                <a:solidFill>
                  <a:schemeClr val="bg1">
                    <a:lumMod val="50000"/>
                  </a:schemeClr>
                </a:solidFill>
                <a:latin typeface="Consolas" pitchFamily="49" charset="0"/>
                <a:ea typeface="仿宋" pitchFamily="49" charset="-122"/>
                <a:cs typeface="Consolas" pitchFamily="49" charset="0"/>
              </a:rPr>
              <a:t>层，返回队中元素个数</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qu.size();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a:t>
            </a:r>
            <a:r>
              <a:rPr lang="en-US" altLang="zh-CN" sz="1800" smtClean="0">
                <a:solidFill>
                  <a:srgbClr val="006600"/>
                </a:solidFill>
                <a:latin typeface="Consolas" pitchFamily="49" charset="0"/>
                <a:ea typeface="仿宋" pitchFamily="49" charset="-122"/>
                <a:cs typeface="Consolas" pitchFamily="49" charset="0"/>
              </a:rPr>
              <a:t>n=qu.size()</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求出当前层结点个数</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for (</a:t>
            </a:r>
            <a:r>
              <a:rPr lang="en-US" altLang="zh-CN" sz="1800" smtClean="0">
                <a:solidFill>
                  <a:srgbClr val="006600"/>
                </a:solidFill>
                <a:latin typeface="Consolas" pitchFamily="49" charset="0"/>
                <a:ea typeface="仿宋" pitchFamily="49" charset="-122"/>
                <a:cs typeface="Consolas" pitchFamily="49" charset="0"/>
              </a:rPr>
              <a:t>int i=0;i&lt;n;i++</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出队当前层的</a:t>
            </a:r>
            <a:r>
              <a:rPr lang="en-US" altLang="zh-CN" sz="1800" smtClean="0">
                <a:solidFill>
                  <a:schemeClr val="bg1">
                    <a:lumMod val="50000"/>
                  </a:schemeClr>
                </a:solidFill>
                <a:latin typeface="Consolas" pitchFamily="49" charset="0"/>
                <a:ea typeface="仿宋" pitchFamily="49" charset="-122"/>
                <a:cs typeface="Consolas" pitchFamily="49" charset="0"/>
              </a:rPr>
              <a:t>n</a:t>
            </a:r>
            <a:r>
              <a:rPr lang="zh-CN" altLang="zh-CN" sz="1800" smtClean="0">
                <a:solidFill>
                  <a:schemeClr val="bg1">
                    <a:lumMod val="50000"/>
                  </a:schemeClr>
                </a:solidFill>
                <a:latin typeface="Consolas" pitchFamily="49" charset="0"/>
                <a:ea typeface="仿宋" pitchFamily="49" charset="-122"/>
                <a:cs typeface="Consolas" pitchFamily="49" charset="0"/>
              </a:rPr>
              <a:t>个结点</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  BTNode* p=qu.front();qu.pop();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出队一个结点</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(p-&gt;lchild!=NULL)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有左孩子时将其进队</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qu.push(p-&gt;lchild);</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(p-&gt;rchild!=NULL)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有右孩子时将其进队</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qu.push(p-&gt;rchild);</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curl++;</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转向下一层</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14</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1071546"/>
            <a:ext cx="8858312" cy="452698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int main()</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string str="A(B(D(,G)),C(E,F))";</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BTree bt;</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bt.CreateBTree(str);</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cout &lt;&lt; "</a:t>
            </a:r>
            <a:r>
              <a:rPr lang="zh-CN" altLang="en-US" sz="1800" smtClean="0">
                <a:solidFill>
                  <a:srgbClr val="0000FF"/>
                </a:solidFill>
                <a:latin typeface="Consolas" pitchFamily="49" charset="0"/>
                <a:ea typeface="仿宋" pitchFamily="49" charset="-122"/>
                <a:cs typeface="Consolas" pitchFamily="49" charset="0"/>
              </a:rPr>
              <a:t>二叉树</a:t>
            </a:r>
            <a:r>
              <a:rPr lang="en-US" altLang="zh-CN" sz="1800" smtClean="0">
                <a:solidFill>
                  <a:srgbClr val="0000FF"/>
                </a:solidFill>
                <a:latin typeface="Consolas" pitchFamily="49" charset="0"/>
                <a:ea typeface="仿宋" pitchFamily="49" charset="-122"/>
                <a:cs typeface="Consolas" pitchFamily="49" charset="0"/>
              </a:rPr>
              <a:t>bt:"; bt.DispBTree(); cout &lt;&lt; endl;</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printf("</a:t>
            </a:r>
            <a:r>
              <a:rPr lang="zh-CN" altLang="en-US" sz="1800" smtClean="0">
                <a:solidFill>
                  <a:srgbClr val="FF0000"/>
                </a:solidFill>
                <a:latin typeface="Consolas" pitchFamily="49" charset="0"/>
                <a:ea typeface="仿宋" pitchFamily="49" charset="-122"/>
                <a:cs typeface="Consolas" pitchFamily="49" charset="0"/>
              </a:rPr>
              <a:t>解法</a:t>
            </a:r>
            <a:r>
              <a:rPr lang="en-US" altLang="zh-CN" sz="1800" smtClean="0">
                <a:solidFill>
                  <a:srgbClr val="FF0000"/>
                </a:solidFill>
                <a:latin typeface="Consolas" pitchFamily="49" charset="0"/>
                <a:ea typeface="仿宋" pitchFamily="49" charset="-122"/>
                <a:cs typeface="Consolas" pitchFamily="49" charset="0"/>
              </a:rPr>
              <a:t>1</a:t>
            </a:r>
            <a:r>
              <a:rPr lang="en-US" altLang="zh-CN" sz="1800" smtClean="0">
                <a:solidFill>
                  <a:srgbClr val="0000FF"/>
                </a:solidFill>
                <a:latin typeface="Consolas" pitchFamily="49" charset="0"/>
                <a:ea typeface="仿宋" pitchFamily="49" charset="-122"/>
                <a:cs typeface="Consolas" pitchFamily="49" charset="0"/>
              </a:rPr>
              <a:t>:\n");</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k=1;k&lt;=5;k++)</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cout &lt;&lt; "    </a:t>
            </a:r>
            <a:r>
              <a:rPr lang="zh-CN" altLang="en-US" sz="1800" smtClean="0">
                <a:solidFill>
                  <a:srgbClr val="0000FF"/>
                </a:solidFill>
                <a:latin typeface="Consolas" pitchFamily="49" charset="0"/>
                <a:ea typeface="仿宋" pitchFamily="49" charset="-122"/>
                <a:cs typeface="Consolas" pitchFamily="49" charset="0"/>
              </a:rPr>
              <a:t>第</a:t>
            </a:r>
            <a:r>
              <a:rPr lang="en-US" altLang="zh-CN" sz="1800" smtClean="0">
                <a:solidFill>
                  <a:srgbClr val="0000FF"/>
                </a:solidFill>
                <a:latin typeface="Consolas" pitchFamily="49" charset="0"/>
                <a:ea typeface="仿宋" pitchFamily="49" charset="-122"/>
                <a:cs typeface="Consolas" pitchFamily="49" charset="0"/>
              </a:rPr>
              <a:t>" &lt;&lt; k &lt;&lt; "</a:t>
            </a:r>
            <a:r>
              <a:rPr lang="zh-CN" altLang="en-US" sz="1800" smtClean="0">
                <a:solidFill>
                  <a:srgbClr val="0000FF"/>
                </a:solidFill>
                <a:latin typeface="Consolas" pitchFamily="49" charset="0"/>
                <a:ea typeface="仿宋" pitchFamily="49" charset="-122"/>
                <a:cs typeface="Consolas" pitchFamily="49" charset="0"/>
              </a:rPr>
              <a:t>层的结点个数</a:t>
            </a:r>
            <a:r>
              <a:rPr lang="en-US" altLang="zh-CN" sz="1800" smtClean="0">
                <a:solidFill>
                  <a:srgbClr val="0000FF"/>
                </a:solidFill>
                <a:latin typeface="Consolas" pitchFamily="49" charset="0"/>
                <a:ea typeface="仿宋" pitchFamily="49" charset="-122"/>
                <a:cs typeface="Consolas" pitchFamily="49" charset="0"/>
              </a:rPr>
              <a:t>: “&lt;&lt;</a:t>
            </a:r>
            <a:r>
              <a:rPr lang="en-US" altLang="zh-CN" sz="1800" smtClean="0">
                <a:solidFill>
                  <a:srgbClr val="FF0000"/>
                </a:solidFill>
                <a:latin typeface="Consolas" pitchFamily="49" charset="0"/>
                <a:ea typeface="仿宋" pitchFamily="49" charset="-122"/>
                <a:cs typeface="Consolas" pitchFamily="49" charset="0"/>
              </a:rPr>
              <a:t>KCount1(bt,k)</a:t>
            </a:r>
            <a:r>
              <a:rPr lang="en-US" altLang="zh-CN" sz="1800" smtClean="0">
                <a:solidFill>
                  <a:srgbClr val="0000FF"/>
                </a:solidFill>
                <a:latin typeface="Consolas" pitchFamily="49" charset="0"/>
                <a:ea typeface="仿宋" pitchFamily="49" charset="-122"/>
                <a:cs typeface="Consolas" pitchFamily="49" charset="0"/>
              </a:rPr>
              <a:t>&lt;&lt;endl; </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printf("</a:t>
            </a:r>
            <a:r>
              <a:rPr lang="zh-CN" altLang="en-US" sz="1800" smtClean="0">
                <a:solidFill>
                  <a:srgbClr val="FF0000"/>
                </a:solidFill>
                <a:latin typeface="Consolas" pitchFamily="49" charset="0"/>
                <a:ea typeface="仿宋" pitchFamily="49" charset="-122"/>
                <a:cs typeface="Consolas" pitchFamily="49" charset="0"/>
              </a:rPr>
              <a:t>解法</a:t>
            </a:r>
            <a:r>
              <a:rPr lang="en-US" altLang="zh-CN" sz="1800" smtClean="0">
                <a:solidFill>
                  <a:srgbClr val="FF0000"/>
                </a:solidFill>
                <a:latin typeface="Consolas" pitchFamily="49" charset="0"/>
                <a:ea typeface="仿宋" pitchFamily="49" charset="-122"/>
                <a:cs typeface="Consolas" pitchFamily="49" charset="0"/>
              </a:rPr>
              <a:t>2</a:t>
            </a:r>
            <a:r>
              <a:rPr lang="en-US" altLang="zh-CN" sz="1800" smtClean="0">
                <a:solidFill>
                  <a:srgbClr val="0000FF"/>
                </a:solidFill>
                <a:latin typeface="Consolas" pitchFamily="49" charset="0"/>
                <a:ea typeface="仿宋" pitchFamily="49" charset="-122"/>
                <a:cs typeface="Consolas" pitchFamily="49" charset="0"/>
              </a:rPr>
              <a:t>:\n");</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k=1;k&lt;=5;k++)</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cout &lt;&lt; "    </a:t>
            </a:r>
            <a:r>
              <a:rPr lang="zh-CN" altLang="en-US" sz="1800" smtClean="0">
                <a:solidFill>
                  <a:srgbClr val="0000FF"/>
                </a:solidFill>
                <a:latin typeface="Consolas" pitchFamily="49" charset="0"/>
                <a:ea typeface="仿宋" pitchFamily="49" charset="-122"/>
                <a:cs typeface="Consolas" pitchFamily="49" charset="0"/>
              </a:rPr>
              <a:t>第</a:t>
            </a:r>
            <a:r>
              <a:rPr lang="en-US" altLang="zh-CN" sz="1800" smtClean="0">
                <a:solidFill>
                  <a:srgbClr val="0000FF"/>
                </a:solidFill>
                <a:latin typeface="Consolas" pitchFamily="49" charset="0"/>
                <a:ea typeface="仿宋" pitchFamily="49" charset="-122"/>
                <a:cs typeface="Consolas" pitchFamily="49" charset="0"/>
              </a:rPr>
              <a:t>" &lt;&lt; k &lt;&lt; "</a:t>
            </a:r>
            <a:r>
              <a:rPr lang="zh-CN" altLang="en-US" sz="1800" smtClean="0">
                <a:solidFill>
                  <a:srgbClr val="0000FF"/>
                </a:solidFill>
                <a:latin typeface="Consolas" pitchFamily="49" charset="0"/>
                <a:ea typeface="仿宋" pitchFamily="49" charset="-122"/>
                <a:cs typeface="Consolas" pitchFamily="49" charset="0"/>
              </a:rPr>
              <a:t>层的结点个数</a:t>
            </a:r>
            <a:r>
              <a:rPr lang="en-US" altLang="zh-CN" sz="1800" smtClean="0">
                <a:solidFill>
                  <a:srgbClr val="0000FF"/>
                </a:solidFill>
                <a:latin typeface="Consolas" pitchFamily="49" charset="0"/>
                <a:ea typeface="仿宋" pitchFamily="49" charset="-122"/>
                <a:cs typeface="Consolas" pitchFamily="49" charset="0"/>
              </a:rPr>
              <a:t>: “&lt;&lt;</a:t>
            </a:r>
            <a:r>
              <a:rPr lang="en-US" altLang="zh-CN" sz="1800" smtClean="0">
                <a:solidFill>
                  <a:srgbClr val="FF0000"/>
                </a:solidFill>
                <a:latin typeface="Consolas" pitchFamily="49" charset="0"/>
                <a:ea typeface="仿宋" pitchFamily="49" charset="-122"/>
                <a:cs typeface="Consolas" pitchFamily="49" charset="0"/>
              </a:rPr>
              <a:t>KCount2(bt,k)</a:t>
            </a:r>
            <a:r>
              <a:rPr lang="en-US" altLang="zh-CN" sz="1800" smtClean="0">
                <a:solidFill>
                  <a:srgbClr val="0000FF"/>
                </a:solidFill>
                <a:latin typeface="Consolas" pitchFamily="49" charset="0"/>
                <a:ea typeface="仿宋" pitchFamily="49" charset="-122"/>
                <a:cs typeface="Consolas" pitchFamily="49" charset="0"/>
              </a:rPr>
              <a:t>&lt;&lt;endl; </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printf("</a:t>
            </a:r>
            <a:r>
              <a:rPr lang="zh-CN" altLang="en-US" sz="1800" smtClean="0">
                <a:solidFill>
                  <a:srgbClr val="FF0000"/>
                </a:solidFill>
                <a:latin typeface="Consolas" pitchFamily="49" charset="0"/>
                <a:ea typeface="仿宋" pitchFamily="49" charset="-122"/>
                <a:cs typeface="Consolas" pitchFamily="49" charset="0"/>
              </a:rPr>
              <a:t>解法</a:t>
            </a:r>
            <a:r>
              <a:rPr lang="en-US" altLang="zh-CN" sz="1800" smtClean="0">
                <a:solidFill>
                  <a:srgbClr val="FF0000"/>
                </a:solidFill>
                <a:latin typeface="Consolas" pitchFamily="49" charset="0"/>
                <a:ea typeface="仿宋" pitchFamily="49" charset="-122"/>
                <a:cs typeface="Consolas" pitchFamily="49" charset="0"/>
              </a:rPr>
              <a:t>3</a:t>
            </a:r>
            <a:r>
              <a:rPr lang="en-US" altLang="zh-CN" sz="1800" smtClean="0">
                <a:solidFill>
                  <a:srgbClr val="0000FF"/>
                </a:solidFill>
                <a:latin typeface="Consolas" pitchFamily="49" charset="0"/>
                <a:ea typeface="仿宋" pitchFamily="49" charset="-122"/>
                <a:cs typeface="Consolas" pitchFamily="49" charset="0"/>
              </a:rPr>
              <a:t>:\n");</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k=1;k&lt;=5;k++)</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cout &lt;&lt; "    </a:t>
            </a:r>
            <a:r>
              <a:rPr lang="zh-CN" altLang="en-US" sz="1800" smtClean="0">
                <a:solidFill>
                  <a:srgbClr val="0000FF"/>
                </a:solidFill>
                <a:latin typeface="Consolas" pitchFamily="49" charset="0"/>
                <a:ea typeface="仿宋" pitchFamily="49" charset="-122"/>
                <a:cs typeface="Consolas" pitchFamily="49" charset="0"/>
              </a:rPr>
              <a:t>第</a:t>
            </a:r>
            <a:r>
              <a:rPr lang="en-US" altLang="zh-CN" sz="1800" smtClean="0">
                <a:solidFill>
                  <a:srgbClr val="0000FF"/>
                </a:solidFill>
                <a:latin typeface="Consolas" pitchFamily="49" charset="0"/>
                <a:ea typeface="仿宋" pitchFamily="49" charset="-122"/>
                <a:cs typeface="Consolas" pitchFamily="49" charset="0"/>
              </a:rPr>
              <a:t>" &lt;&lt; k &lt;&lt; "</a:t>
            </a:r>
            <a:r>
              <a:rPr lang="zh-CN" altLang="en-US" sz="1800" smtClean="0">
                <a:solidFill>
                  <a:srgbClr val="0000FF"/>
                </a:solidFill>
                <a:latin typeface="Consolas" pitchFamily="49" charset="0"/>
                <a:ea typeface="仿宋" pitchFamily="49" charset="-122"/>
                <a:cs typeface="Consolas" pitchFamily="49" charset="0"/>
              </a:rPr>
              <a:t>层的结点个数</a:t>
            </a:r>
            <a:r>
              <a:rPr lang="en-US" altLang="zh-CN" sz="1800" smtClean="0">
                <a:solidFill>
                  <a:srgbClr val="0000FF"/>
                </a:solidFill>
                <a:latin typeface="Consolas" pitchFamily="49" charset="0"/>
                <a:ea typeface="仿宋" pitchFamily="49" charset="-122"/>
                <a:cs typeface="Consolas" pitchFamily="49" charset="0"/>
              </a:rPr>
              <a:t>: “&lt;&lt;</a:t>
            </a:r>
            <a:r>
              <a:rPr lang="en-US" altLang="zh-CN" sz="1800" smtClean="0">
                <a:solidFill>
                  <a:srgbClr val="FF0000"/>
                </a:solidFill>
                <a:latin typeface="Consolas" pitchFamily="49" charset="0"/>
                <a:ea typeface="仿宋" pitchFamily="49" charset="-122"/>
                <a:cs typeface="Consolas" pitchFamily="49" charset="0"/>
              </a:rPr>
              <a:t>KCount3(bt,k)</a:t>
            </a:r>
            <a:r>
              <a:rPr lang="en-US" altLang="zh-CN" sz="1800" smtClean="0">
                <a:solidFill>
                  <a:srgbClr val="0000FF"/>
                </a:solidFill>
                <a:latin typeface="Consolas" pitchFamily="49" charset="0"/>
                <a:ea typeface="仿宋" pitchFamily="49" charset="-122"/>
                <a:cs typeface="Consolas" pitchFamily="49" charset="0"/>
              </a:rPr>
              <a:t>&lt;&lt;endl; </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0;</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4" name="TextBox 5"/>
          <p:cNvSpPr txBox="1"/>
          <p:nvPr/>
        </p:nvSpPr>
        <p:spPr>
          <a:xfrm>
            <a:off x="571472" y="285728"/>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itchFamily="49" charset="0"/>
                <a:ea typeface="仿宋" pitchFamily="49" charset="-122"/>
                <a:cs typeface="Consolas" pitchFamily="49" charset="0"/>
              </a:rPr>
              <a:t>程序验证</a:t>
            </a:r>
          </a:p>
        </p:txBody>
      </p:sp>
      <p:sp>
        <p:nvSpPr>
          <p:cNvPr id="6" name="灯片编号占位符 5"/>
          <p:cNvSpPr>
            <a:spLocks noGrp="1"/>
          </p:cNvSpPr>
          <p:nvPr>
            <p:ph type="sldNum" sz="quarter" idx="12"/>
          </p:nvPr>
        </p:nvSpPr>
        <p:spPr/>
        <p:txBody>
          <a:bodyPr/>
          <a:lstStyle/>
          <a:p>
            <a:fld id="{67864EE2-EAB3-4814-A7EB-820BD7610F1E}" type="slidenum">
              <a:rPr lang="en-US" altLang="zh-CN" smtClean="0"/>
              <a:pPr/>
              <a:t>15</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785786" y="1857364"/>
            <a:ext cx="1900083" cy="1925032"/>
            <a:chOff x="1150124" y="3032607"/>
            <a:chExt cx="1900083" cy="1925032"/>
          </a:xfrm>
        </p:grpSpPr>
        <p:sp>
          <p:nvSpPr>
            <p:cNvPr id="6" name="Line 34"/>
            <p:cNvSpPr>
              <a:spLocks noChangeShapeType="1"/>
            </p:cNvSpPr>
            <p:nvPr/>
          </p:nvSpPr>
          <p:spPr bwMode="auto">
            <a:xfrm>
              <a:off x="2214546" y="3286124"/>
              <a:ext cx="201626" cy="255318"/>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7" name="Freeform 45"/>
            <p:cNvSpPr>
              <a:spLocks/>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8" name="Line 44"/>
            <p:cNvSpPr>
              <a:spLocks noChangeShapeType="1"/>
            </p:cNvSpPr>
            <p:nvPr/>
          </p:nvSpPr>
          <p:spPr bwMode="auto">
            <a:xfrm>
              <a:off x="1369024" y="4327825"/>
              <a:ext cx="308248" cy="334084"/>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9" name="Freeform 43"/>
            <p:cNvSpPr>
              <a:spLocks/>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0" name="Line 42"/>
            <p:cNvSpPr>
              <a:spLocks noChangeShapeType="1"/>
            </p:cNvSpPr>
            <p:nvPr/>
          </p:nvSpPr>
          <p:spPr bwMode="auto">
            <a:xfrm flipH="1">
              <a:off x="1296653" y="3705059"/>
              <a:ext cx="285911" cy="40689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1" name="Line 41"/>
            <p:cNvSpPr>
              <a:spLocks noChangeShapeType="1"/>
            </p:cNvSpPr>
            <p:nvPr/>
          </p:nvSpPr>
          <p:spPr bwMode="auto">
            <a:xfrm flipH="1">
              <a:off x="1632598" y="3155105"/>
              <a:ext cx="477114" cy="40946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b="0">
                <a:solidFill>
                  <a:srgbClr val="0000FF"/>
                </a:solidFill>
                <a:latin typeface="Consolas" pitchFamily="49" charset="0"/>
                <a:ea typeface="仿宋" pitchFamily="49" charset="-122"/>
                <a:cs typeface="Consolas" pitchFamily="49" charset="0"/>
              </a:endParaRPr>
            </a:p>
          </p:txBody>
        </p:sp>
        <p:sp>
          <p:nvSpPr>
            <p:cNvPr id="12" name="Oval 40"/>
            <p:cNvSpPr>
              <a:spLocks noChangeArrowheads="1"/>
            </p:cNvSpPr>
            <p:nvPr/>
          </p:nvSpPr>
          <p:spPr bwMode="auto">
            <a:xfrm>
              <a:off x="1955141" y="3032607"/>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13" name="Oval 39"/>
            <p:cNvSpPr>
              <a:spLocks noChangeArrowheads="1"/>
            </p:cNvSpPr>
            <p:nvPr/>
          </p:nvSpPr>
          <p:spPr bwMode="auto">
            <a:xfrm>
              <a:off x="1486069" y="3482335"/>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14" name="Oval 38"/>
            <p:cNvSpPr>
              <a:spLocks noChangeArrowheads="1"/>
            </p:cNvSpPr>
            <p:nvPr/>
          </p:nvSpPr>
          <p:spPr bwMode="auto">
            <a:xfrm>
              <a:off x="2357204" y="3520883"/>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p>
          </p:txBody>
        </p:sp>
        <p:sp>
          <p:nvSpPr>
            <p:cNvPr id="15" name="Oval 37"/>
            <p:cNvSpPr>
              <a:spLocks noChangeArrowheads="1"/>
            </p:cNvSpPr>
            <p:nvPr/>
          </p:nvSpPr>
          <p:spPr bwMode="auto">
            <a:xfrm>
              <a:off x="2065038" y="4099105"/>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p:txBody>
        </p:sp>
        <p:sp>
          <p:nvSpPr>
            <p:cNvPr id="16" name="Oval 36"/>
            <p:cNvSpPr>
              <a:spLocks noChangeArrowheads="1"/>
            </p:cNvSpPr>
            <p:nvPr/>
          </p:nvSpPr>
          <p:spPr bwMode="auto">
            <a:xfrm>
              <a:off x="2726207" y="4099105"/>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p:txBody>
        </p:sp>
        <p:sp>
          <p:nvSpPr>
            <p:cNvPr id="17" name="Oval 35"/>
            <p:cNvSpPr>
              <a:spLocks noChangeArrowheads="1"/>
            </p:cNvSpPr>
            <p:nvPr/>
          </p:nvSpPr>
          <p:spPr bwMode="auto">
            <a:xfrm>
              <a:off x="1150124" y="411195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p>
          </p:txBody>
        </p:sp>
        <p:sp>
          <p:nvSpPr>
            <p:cNvPr id="18" name="Oval 33"/>
            <p:cNvSpPr>
              <a:spLocks noChangeArrowheads="1"/>
            </p:cNvSpPr>
            <p:nvPr/>
          </p:nvSpPr>
          <p:spPr bwMode="auto">
            <a:xfrm>
              <a:off x="1568268" y="4633639"/>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p:txBody>
        </p:sp>
      </p:grpSp>
      <p:sp>
        <p:nvSpPr>
          <p:cNvPr id="20" name="右箭头 19"/>
          <p:cNvSpPr/>
          <p:nvPr/>
        </p:nvSpPr>
        <p:spPr bwMode="auto">
          <a:xfrm>
            <a:off x="3428992" y="2500306"/>
            <a:ext cx="571504" cy="285752"/>
          </a:xfrm>
          <a:prstGeom prst="rightArrow">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lnSpc>
                <a:spcPts val="2000"/>
              </a:lnSpc>
            </a:pPr>
            <a:endParaRPr lang="zh-CN" altLang="en-US" sz="1800" i="1">
              <a:solidFill>
                <a:srgbClr val="0000FF"/>
              </a:solidFill>
              <a:latin typeface="Consolas" pitchFamily="49" charset="0"/>
              <a:ea typeface="仿宋" pitchFamily="49" charset="-122"/>
              <a:cs typeface="Consolas" pitchFamily="49" charset="0"/>
            </a:endParaRPr>
          </a:p>
        </p:txBody>
      </p:sp>
      <p:sp>
        <p:nvSpPr>
          <p:cNvPr id="19" name="TextBox 5"/>
          <p:cNvSpPr txBox="1"/>
          <p:nvPr/>
        </p:nvSpPr>
        <p:spPr>
          <a:xfrm>
            <a:off x="714348" y="428604"/>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itchFamily="49" charset="0"/>
                <a:ea typeface="仿宋" pitchFamily="49" charset="-122"/>
                <a:cs typeface="Consolas" pitchFamily="49" charset="0"/>
              </a:rPr>
              <a:t>程序验证</a:t>
            </a:r>
          </a:p>
        </p:txBody>
      </p:sp>
      <p:pic>
        <p:nvPicPr>
          <p:cNvPr id="2" name="Picture 2"/>
          <p:cNvPicPr>
            <a:picLocks noChangeAspect="1" noChangeArrowheads="1"/>
          </p:cNvPicPr>
          <p:nvPr/>
        </p:nvPicPr>
        <p:blipFill>
          <a:blip r:embed="rId3" cstate="print"/>
          <a:srcRect/>
          <a:stretch>
            <a:fillRect/>
          </a:stretch>
        </p:blipFill>
        <p:spPr bwMode="auto">
          <a:xfrm>
            <a:off x="4429124" y="857232"/>
            <a:ext cx="3112260" cy="4286280"/>
          </a:xfrm>
          <a:prstGeom prst="rect">
            <a:avLst/>
          </a:prstGeom>
          <a:noFill/>
          <a:ln w="9525">
            <a:noFill/>
            <a:miter lim="800000"/>
            <a:headEnd/>
            <a:tailEnd/>
          </a:ln>
        </p:spPr>
      </p:pic>
      <p:sp>
        <p:nvSpPr>
          <p:cNvPr id="21" name="灯片编号占位符 20"/>
          <p:cNvSpPr>
            <a:spLocks noGrp="1"/>
          </p:cNvSpPr>
          <p:nvPr>
            <p:ph type="sldNum" sz="quarter" idx="12"/>
          </p:nvPr>
        </p:nvSpPr>
        <p:spPr/>
        <p:txBody>
          <a:bodyPr/>
          <a:lstStyle/>
          <a:p>
            <a:fld id="{67864EE2-EAB3-4814-A7EB-820BD7610F1E}" type="slidenum">
              <a:rPr lang="en-US" altLang="zh-CN" smtClean="0"/>
              <a:pPr/>
              <a:t>16</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28860" y="428604"/>
            <a:ext cx="378621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7.5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二叉树的构造</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428596" y="1500174"/>
            <a:ext cx="742955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7.5.1 </a:t>
            </a:r>
            <a:r>
              <a:rPr lang="zh-CN" altLang="zh-CN" smtClean="0">
                <a:latin typeface="Consolas" pitchFamily="49" charset="0"/>
                <a:ea typeface="微软雅黑" pitchFamily="34" charset="-122"/>
                <a:cs typeface="Consolas" pitchFamily="49" charset="0"/>
              </a:rPr>
              <a:t>由先序</a:t>
            </a:r>
            <a:r>
              <a:rPr lang="en-US" altLang="zh-CN" smtClean="0">
                <a:latin typeface="Consolas" pitchFamily="49" charset="0"/>
                <a:ea typeface="微软雅黑" pitchFamily="34" charset="-122"/>
                <a:cs typeface="Consolas" pitchFamily="49" charset="0"/>
              </a:rPr>
              <a:t>/</a:t>
            </a:r>
            <a:r>
              <a:rPr lang="zh-CN" altLang="zh-CN" smtClean="0">
                <a:latin typeface="Consolas" pitchFamily="49" charset="0"/>
                <a:ea typeface="微软雅黑" pitchFamily="34" charset="-122"/>
                <a:cs typeface="Consolas" pitchFamily="49" charset="0"/>
              </a:rPr>
              <a:t>中序序列或后序</a:t>
            </a:r>
            <a:r>
              <a:rPr lang="en-US" altLang="zh-CN" smtClean="0">
                <a:latin typeface="Consolas" pitchFamily="49" charset="0"/>
                <a:ea typeface="微软雅黑" pitchFamily="34" charset="-122"/>
                <a:cs typeface="Consolas" pitchFamily="49" charset="0"/>
              </a:rPr>
              <a:t>/</a:t>
            </a:r>
            <a:r>
              <a:rPr lang="zh-CN" altLang="zh-CN" smtClean="0">
                <a:latin typeface="Consolas" pitchFamily="49" charset="0"/>
                <a:ea typeface="微软雅黑" pitchFamily="34" charset="-122"/>
                <a:cs typeface="Consolas" pitchFamily="49" charset="0"/>
              </a:rPr>
              <a:t>中序序列构造二叉树</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6" name="Text Box 4"/>
          <p:cNvSpPr txBox="1">
            <a:spLocks noChangeArrowheads="1"/>
          </p:cNvSpPr>
          <p:nvPr/>
        </p:nvSpPr>
        <p:spPr bwMode="auto">
          <a:xfrm>
            <a:off x="642910" y="2357430"/>
            <a:ext cx="7605768" cy="262633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rIns="180000" bIns="108000">
            <a:spAutoFit/>
          </a:bodyPr>
          <a:lstStyle/>
          <a:p>
            <a:pPr marL="457200" indent="-457200" algn="l">
              <a:lnSpc>
                <a:spcPct val="1500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一</a:t>
            </a:r>
            <a:r>
              <a:rPr lang="zh-CN" altLang="en-US" sz="2000" dirty="0">
                <a:solidFill>
                  <a:srgbClr val="0000FF"/>
                </a:solidFill>
                <a:latin typeface="Consolas" pitchFamily="49" charset="0"/>
                <a:ea typeface="仿宋" pitchFamily="49" charset="-122"/>
                <a:cs typeface="Consolas" pitchFamily="49" charset="0"/>
              </a:rPr>
              <a:t>棵所有结点值不同的二叉树，其先序、中序、后序和层次遍历都是唯一的，也就是说一棵这样的二叉树，不可以有两种不同的先序遍历序列，也不可能有两种不同的中序</a:t>
            </a:r>
            <a:r>
              <a:rPr lang="zh-CN" altLang="en-US" sz="2000">
                <a:solidFill>
                  <a:srgbClr val="0000FF"/>
                </a:solidFill>
                <a:latin typeface="Consolas" pitchFamily="49" charset="0"/>
                <a:ea typeface="仿宋" pitchFamily="49" charset="-122"/>
                <a:cs typeface="Consolas" pitchFamily="49" charset="0"/>
              </a:rPr>
              <a:t>序列</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ct val="1500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二叉树</a:t>
            </a:r>
            <a:r>
              <a:rPr lang="zh-CN" altLang="en-US" sz="2000">
                <a:solidFill>
                  <a:srgbClr val="0000FF"/>
                </a:solidFill>
                <a:latin typeface="Consolas" pitchFamily="49" charset="0"/>
                <a:ea typeface="仿宋" pitchFamily="49" charset="-122"/>
                <a:cs typeface="Consolas" pitchFamily="49" charset="0"/>
              </a:rPr>
              <a:t>的</a:t>
            </a:r>
            <a:r>
              <a:rPr lang="zh-CN" altLang="en-US" sz="2000" smtClean="0">
                <a:solidFill>
                  <a:srgbClr val="0000FF"/>
                </a:solidFill>
                <a:latin typeface="Consolas" pitchFamily="49" charset="0"/>
                <a:ea typeface="仿宋" pitchFamily="49" charset="-122"/>
                <a:cs typeface="Consolas" pitchFamily="49" charset="0"/>
              </a:rPr>
              <a:t>构造就是</a:t>
            </a:r>
            <a:r>
              <a:rPr lang="zh-CN" altLang="en-US" sz="2000" dirty="0">
                <a:solidFill>
                  <a:srgbClr val="0000FF"/>
                </a:solidFill>
                <a:latin typeface="Consolas" pitchFamily="49" charset="0"/>
                <a:ea typeface="仿宋" pitchFamily="49" charset="-122"/>
                <a:cs typeface="Consolas" pitchFamily="49" charset="0"/>
              </a:rPr>
              <a:t>给定某些遍历序列，反过来唯一地确定</a:t>
            </a:r>
            <a:r>
              <a:rPr lang="zh-CN" altLang="en-US" sz="2000">
                <a:solidFill>
                  <a:srgbClr val="0000FF"/>
                </a:solidFill>
                <a:latin typeface="Consolas" pitchFamily="49" charset="0"/>
                <a:ea typeface="仿宋" pitchFamily="49" charset="-122"/>
                <a:cs typeface="Consolas" pitchFamily="49" charset="0"/>
              </a:rPr>
              <a:t>该</a:t>
            </a:r>
            <a:r>
              <a:rPr lang="zh-CN" altLang="en-US" sz="2000" smtClean="0">
                <a:solidFill>
                  <a:srgbClr val="0000FF"/>
                </a:solidFill>
                <a:latin typeface="Consolas" pitchFamily="49" charset="0"/>
                <a:ea typeface="仿宋" pitchFamily="49" charset="-122"/>
                <a:cs typeface="Consolas" pitchFamily="49" charset="0"/>
              </a:rPr>
              <a:t>二叉树。</a:t>
            </a:r>
            <a:endParaRPr lang="zh-CN" altLang="en-US" sz="2000" dirty="0">
              <a:solidFill>
                <a:srgbClr val="0000FF"/>
              </a:solidFill>
              <a:latin typeface="Consolas" pitchFamily="49" charset="0"/>
              <a:ea typeface="仿宋" pitchFamily="49" charset="-122"/>
              <a:cs typeface="Consolas"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17</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357290" y="3286124"/>
            <a:ext cx="6286544" cy="2101100"/>
            <a:chOff x="1357290" y="3714752"/>
            <a:chExt cx="7000924" cy="3020152"/>
          </a:xfrm>
        </p:grpSpPr>
        <p:sp>
          <p:nvSpPr>
            <p:cNvPr id="5" name="椭圆 4"/>
            <p:cNvSpPr/>
            <p:nvPr/>
          </p:nvSpPr>
          <p:spPr>
            <a:xfrm>
              <a:off x="1714480" y="3786190"/>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100"/>
                </a:lnSpc>
                <a:spcBef>
                  <a:spcPts val="0"/>
                </a:spcBef>
              </a:pPr>
              <a:r>
                <a:rPr lang="en-US" altLang="zh-CN" sz="1600" b="0" smtClean="0">
                  <a:latin typeface="Consolas" pitchFamily="49" charset="0"/>
                  <a:cs typeface="Consolas" pitchFamily="49" charset="0"/>
                </a:rPr>
                <a:t>A</a:t>
              </a:r>
              <a:endParaRPr lang="zh-CN" altLang="en-US" sz="1600" b="0">
                <a:latin typeface="Consolas" pitchFamily="49" charset="0"/>
                <a:cs typeface="Consolas" pitchFamily="49" charset="0"/>
              </a:endParaRPr>
            </a:p>
          </p:txBody>
        </p:sp>
        <p:sp>
          <p:nvSpPr>
            <p:cNvPr id="6" name="椭圆 5"/>
            <p:cNvSpPr/>
            <p:nvPr/>
          </p:nvSpPr>
          <p:spPr>
            <a:xfrm>
              <a:off x="1357290" y="478632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7" name="椭圆 6"/>
            <p:cNvSpPr/>
            <p:nvPr/>
          </p:nvSpPr>
          <p:spPr>
            <a:xfrm>
              <a:off x="2071670" y="478632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sp>
          <p:nvSpPr>
            <p:cNvPr id="8" name="椭圆 7"/>
            <p:cNvSpPr/>
            <p:nvPr/>
          </p:nvSpPr>
          <p:spPr>
            <a:xfrm>
              <a:off x="3214678" y="3714752"/>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100"/>
                </a:lnSpc>
                <a:spcBef>
                  <a:spcPts val="0"/>
                </a:spcBef>
              </a:pPr>
              <a:r>
                <a:rPr lang="en-US" altLang="zh-CN" sz="1600" b="0" smtClean="0">
                  <a:latin typeface="Consolas" pitchFamily="49" charset="0"/>
                  <a:cs typeface="Consolas" pitchFamily="49" charset="0"/>
                </a:rPr>
                <a:t>A</a:t>
              </a:r>
              <a:endParaRPr lang="zh-CN" altLang="en-US" sz="1600" b="0">
                <a:latin typeface="Consolas" pitchFamily="49" charset="0"/>
                <a:cs typeface="Consolas" pitchFamily="49" charset="0"/>
              </a:endParaRPr>
            </a:p>
          </p:txBody>
        </p:sp>
        <p:sp>
          <p:nvSpPr>
            <p:cNvPr id="9" name="椭圆 8"/>
            <p:cNvSpPr/>
            <p:nvPr/>
          </p:nvSpPr>
          <p:spPr>
            <a:xfrm>
              <a:off x="2928926" y="4643446"/>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10" name="椭圆 9"/>
            <p:cNvSpPr/>
            <p:nvPr/>
          </p:nvSpPr>
          <p:spPr>
            <a:xfrm>
              <a:off x="3357554" y="557214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cxnSp>
          <p:nvCxnSpPr>
            <p:cNvPr id="11" name="直接连接符 10"/>
            <p:cNvCxnSpPr>
              <a:stCxn id="5" idx="3"/>
              <a:endCxn id="6" idx="0"/>
            </p:cNvCxnSpPr>
            <p:nvPr/>
          </p:nvCxnSpPr>
          <p:spPr>
            <a:xfrm rot="5400000">
              <a:off x="1334200" y="4353732"/>
              <a:ext cx="634275" cy="230904"/>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接连接符 11"/>
            <p:cNvCxnSpPr>
              <a:stCxn id="5" idx="5"/>
              <a:endCxn id="7" idx="0"/>
            </p:cNvCxnSpPr>
            <p:nvPr/>
          </p:nvCxnSpPr>
          <p:spPr>
            <a:xfrm rot="16200000" flipH="1">
              <a:off x="1817676" y="4353732"/>
              <a:ext cx="634275" cy="230904"/>
            </a:xfrm>
            <a:prstGeom prst="line">
              <a:avLst/>
            </a:prstGeom>
          </p:spPr>
          <p:style>
            <a:lnRef idx="2">
              <a:schemeClr val="accent2"/>
            </a:lnRef>
            <a:fillRef idx="0">
              <a:schemeClr val="accent2"/>
            </a:fillRef>
            <a:effectRef idx="1">
              <a:schemeClr val="accent2"/>
            </a:effectRef>
            <a:fontRef idx="minor">
              <a:schemeClr val="tx1"/>
            </a:fontRef>
          </p:style>
        </p:cxnSp>
        <p:cxnSp>
          <p:nvCxnSpPr>
            <p:cNvPr id="13" name="直接连接符 12"/>
            <p:cNvCxnSpPr>
              <a:stCxn id="8" idx="3"/>
              <a:endCxn id="9" idx="0"/>
            </p:cNvCxnSpPr>
            <p:nvPr/>
          </p:nvCxnSpPr>
          <p:spPr>
            <a:xfrm rot="5400000">
              <a:off x="2905836" y="4282294"/>
              <a:ext cx="562837" cy="159466"/>
            </a:xfrm>
            <a:prstGeom prst="line">
              <a:avLst/>
            </a:prstGeom>
          </p:spPr>
          <p:style>
            <a:lnRef idx="2">
              <a:schemeClr val="accent2"/>
            </a:lnRef>
            <a:fillRef idx="0">
              <a:schemeClr val="accent2"/>
            </a:fillRef>
            <a:effectRef idx="1">
              <a:schemeClr val="accent2"/>
            </a:effectRef>
            <a:fontRef idx="minor">
              <a:schemeClr val="tx1"/>
            </a:fontRef>
          </p:style>
        </p:cxnSp>
        <p:cxnSp>
          <p:nvCxnSpPr>
            <p:cNvPr id="14" name="直接连接符 13"/>
            <p:cNvCxnSpPr>
              <a:stCxn id="9" idx="5"/>
              <a:endCxn id="10" idx="0"/>
            </p:cNvCxnSpPr>
            <p:nvPr/>
          </p:nvCxnSpPr>
          <p:spPr>
            <a:xfrm rot="16200000" flipH="1">
              <a:off x="3103560" y="5139550"/>
              <a:ext cx="562837" cy="302342"/>
            </a:xfrm>
            <a:prstGeom prst="line">
              <a:avLst/>
            </a:prstGeom>
          </p:spPr>
          <p:style>
            <a:lnRef idx="2">
              <a:schemeClr val="accent2"/>
            </a:lnRef>
            <a:fillRef idx="0">
              <a:schemeClr val="accent2"/>
            </a:fillRef>
            <a:effectRef idx="1">
              <a:schemeClr val="accent2"/>
            </a:effectRef>
            <a:fontRef idx="minor">
              <a:schemeClr val="tx1"/>
            </a:fontRef>
          </p:style>
        </p:cxnSp>
        <p:sp>
          <p:nvSpPr>
            <p:cNvPr id="15" name="椭圆 14"/>
            <p:cNvSpPr/>
            <p:nvPr/>
          </p:nvSpPr>
          <p:spPr>
            <a:xfrm>
              <a:off x="4357686" y="3714752"/>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100"/>
                </a:lnSpc>
                <a:spcBef>
                  <a:spcPts val="0"/>
                </a:spcBef>
              </a:pPr>
              <a:r>
                <a:rPr lang="en-US" altLang="zh-CN" sz="1600" b="0" smtClean="0">
                  <a:latin typeface="Consolas" pitchFamily="49" charset="0"/>
                  <a:cs typeface="Consolas" pitchFamily="49" charset="0"/>
                </a:rPr>
                <a:t>A</a:t>
              </a:r>
              <a:endParaRPr lang="zh-CN" altLang="en-US" sz="1600" b="0">
                <a:latin typeface="Consolas" pitchFamily="49" charset="0"/>
                <a:cs typeface="Consolas" pitchFamily="49" charset="0"/>
              </a:endParaRPr>
            </a:p>
          </p:txBody>
        </p:sp>
        <p:sp>
          <p:nvSpPr>
            <p:cNvPr id="16" name="椭圆 15"/>
            <p:cNvSpPr/>
            <p:nvPr/>
          </p:nvSpPr>
          <p:spPr>
            <a:xfrm>
              <a:off x="4857752" y="4643446"/>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17" name="椭圆 16"/>
            <p:cNvSpPr/>
            <p:nvPr/>
          </p:nvSpPr>
          <p:spPr>
            <a:xfrm>
              <a:off x="4500562" y="557214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cxnSp>
          <p:nvCxnSpPr>
            <p:cNvPr id="18" name="直接连接符 17"/>
            <p:cNvCxnSpPr>
              <a:stCxn id="15" idx="5"/>
              <a:endCxn id="16" idx="0"/>
            </p:cNvCxnSpPr>
            <p:nvPr/>
          </p:nvCxnSpPr>
          <p:spPr>
            <a:xfrm rot="16200000" flipH="1">
              <a:off x="4568039" y="4175137"/>
              <a:ext cx="562837" cy="373780"/>
            </a:xfrm>
            <a:prstGeom prst="line">
              <a:avLst/>
            </a:prstGeom>
          </p:spPr>
          <p:style>
            <a:lnRef idx="2">
              <a:schemeClr val="accent2"/>
            </a:lnRef>
            <a:fillRef idx="0">
              <a:schemeClr val="accent2"/>
            </a:fillRef>
            <a:effectRef idx="1">
              <a:schemeClr val="accent2"/>
            </a:effectRef>
            <a:fontRef idx="minor">
              <a:schemeClr val="tx1"/>
            </a:fontRef>
          </p:style>
        </p:cxnSp>
        <p:cxnSp>
          <p:nvCxnSpPr>
            <p:cNvPr id="19" name="直接连接符 18"/>
            <p:cNvCxnSpPr>
              <a:stCxn id="16" idx="3"/>
              <a:endCxn id="17" idx="0"/>
            </p:cNvCxnSpPr>
            <p:nvPr/>
          </p:nvCxnSpPr>
          <p:spPr>
            <a:xfrm rot="5400000">
              <a:off x="4513191" y="5175269"/>
              <a:ext cx="562837" cy="230904"/>
            </a:xfrm>
            <a:prstGeom prst="line">
              <a:avLst/>
            </a:prstGeom>
          </p:spPr>
          <p:style>
            <a:lnRef idx="2">
              <a:schemeClr val="accent2"/>
            </a:lnRef>
            <a:fillRef idx="0">
              <a:schemeClr val="accent2"/>
            </a:fillRef>
            <a:effectRef idx="1">
              <a:schemeClr val="accent2"/>
            </a:effectRef>
            <a:fontRef idx="minor">
              <a:schemeClr val="tx1"/>
            </a:fontRef>
          </p:style>
        </p:cxnSp>
        <p:sp>
          <p:nvSpPr>
            <p:cNvPr id="20" name="椭圆 19"/>
            <p:cNvSpPr/>
            <p:nvPr/>
          </p:nvSpPr>
          <p:spPr>
            <a:xfrm>
              <a:off x="6357950" y="3714752"/>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100"/>
                </a:lnSpc>
                <a:spcBef>
                  <a:spcPts val="0"/>
                </a:spcBef>
              </a:pPr>
              <a:r>
                <a:rPr lang="en-US" altLang="zh-CN" sz="1600" b="0" smtClean="0">
                  <a:latin typeface="Consolas" pitchFamily="49" charset="0"/>
                  <a:cs typeface="Consolas" pitchFamily="49" charset="0"/>
                </a:rPr>
                <a:t>A</a:t>
              </a:r>
              <a:endParaRPr lang="zh-CN" altLang="en-US" sz="1600" b="0">
                <a:latin typeface="Consolas" pitchFamily="49" charset="0"/>
                <a:cs typeface="Consolas" pitchFamily="49" charset="0"/>
              </a:endParaRPr>
            </a:p>
          </p:txBody>
        </p:sp>
        <p:sp>
          <p:nvSpPr>
            <p:cNvPr id="21" name="椭圆 20"/>
            <p:cNvSpPr/>
            <p:nvPr/>
          </p:nvSpPr>
          <p:spPr>
            <a:xfrm>
              <a:off x="6143636" y="4643446"/>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22" name="椭圆 21"/>
            <p:cNvSpPr/>
            <p:nvPr/>
          </p:nvSpPr>
          <p:spPr>
            <a:xfrm>
              <a:off x="5857884" y="557214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cxnSp>
          <p:nvCxnSpPr>
            <p:cNvPr id="23" name="直接连接符 22"/>
            <p:cNvCxnSpPr>
              <a:endCxn id="21" idx="0"/>
            </p:cNvCxnSpPr>
            <p:nvPr/>
          </p:nvCxnSpPr>
          <p:spPr>
            <a:xfrm rot="5400000">
              <a:off x="6197216" y="4339836"/>
              <a:ext cx="428626" cy="178595"/>
            </a:xfrm>
            <a:prstGeom prst="line">
              <a:avLst/>
            </a:prstGeom>
          </p:spPr>
          <p:style>
            <a:lnRef idx="2">
              <a:schemeClr val="accent2"/>
            </a:lnRef>
            <a:fillRef idx="0">
              <a:schemeClr val="accent2"/>
            </a:fillRef>
            <a:effectRef idx="1">
              <a:schemeClr val="accent2"/>
            </a:effectRef>
            <a:fontRef idx="minor">
              <a:schemeClr val="tx1"/>
            </a:fontRef>
          </p:style>
        </p:cxnSp>
        <p:cxnSp>
          <p:nvCxnSpPr>
            <p:cNvPr id="24" name="直接连接符 23"/>
            <p:cNvCxnSpPr>
              <a:stCxn id="21" idx="3"/>
              <a:endCxn id="22" idx="0"/>
            </p:cNvCxnSpPr>
            <p:nvPr/>
          </p:nvCxnSpPr>
          <p:spPr>
            <a:xfrm rot="5400000">
              <a:off x="5834794" y="5210988"/>
              <a:ext cx="562837" cy="159466"/>
            </a:xfrm>
            <a:prstGeom prst="line">
              <a:avLst/>
            </a:prstGeom>
          </p:spPr>
          <p:style>
            <a:lnRef idx="2">
              <a:schemeClr val="accent2"/>
            </a:lnRef>
            <a:fillRef idx="0">
              <a:schemeClr val="accent2"/>
            </a:fillRef>
            <a:effectRef idx="1">
              <a:schemeClr val="accent2"/>
            </a:effectRef>
            <a:fontRef idx="minor">
              <a:schemeClr val="tx1"/>
            </a:fontRef>
          </p:style>
        </p:cxnSp>
        <p:sp>
          <p:nvSpPr>
            <p:cNvPr id="25" name="椭圆 24"/>
            <p:cNvSpPr/>
            <p:nvPr/>
          </p:nvSpPr>
          <p:spPr>
            <a:xfrm>
              <a:off x="7286644" y="3714752"/>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100"/>
                </a:lnSpc>
                <a:spcBef>
                  <a:spcPts val="0"/>
                </a:spcBef>
              </a:pPr>
              <a:r>
                <a:rPr lang="en-US" altLang="zh-CN" sz="1600" b="0" smtClean="0">
                  <a:latin typeface="Consolas" pitchFamily="49" charset="0"/>
                  <a:cs typeface="Consolas" pitchFamily="49" charset="0"/>
                </a:rPr>
                <a:t>A</a:t>
              </a:r>
              <a:endParaRPr lang="zh-CN" altLang="en-US" sz="1600" b="0">
                <a:latin typeface="Consolas" pitchFamily="49" charset="0"/>
                <a:cs typeface="Consolas" pitchFamily="49" charset="0"/>
              </a:endParaRPr>
            </a:p>
          </p:txBody>
        </p:sp>
        <p:sp>
          <p:nvSpPr>
            <p:cNvPr id="26" name="椭圆 25"/>
            <p:cNvSpPr/>
            <p:nvPr/>
          </p:nvSpPr>
          <p:spPr>
            <a:xfrm>
              <a:off x="7643834" y="4643446"/>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27" name="椭圆 26"/>
            <p:cNvSpPr/>
            <p:nvPr/>
          </p:nvSpPr>
          <p:spPr>
            <a:xfrm>
              <a:off x="8001024" y="557214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cxnSp>
          <p:nvCxnSpPr>
            <p:cNvPr id="28" name="直接连接符 27"/>
            <p:cNvCxnSpPr>
              <a:stCxn id="25" idx="5"/>
              <a:endCxn id="26" idx="0"/>
            </p:cNvCxnSpPr>
            <p:nvPr/>
          </p:nvCxnSpPr>
          <p:spPr>
            <a:xfrm rot="16200000" flipH="1">
              <a:off x="7425559" y="4246575"/>
              <a:ext cx="562837" cy="230904"/>
            </a:xfrm>
            <a:prstGeom prst="line">
              <a:avLst/>
            </a:prstGeom>
          </p:spPr>
          <p:style>
            <a:lnRef idx="2">
              <a:schemeClr val="accent2"/>
            </a:lnRef>
            <a:fillRef idx="0">
              <a:schemeClr val="accent2"/>
            </a:fillRef>
            <a:effectRef idx="1">
              <a:schemeClr val="accent2"/>
            </a:effectRef>
            <a:fontRef idx="minor">
              <a:schemeClr val="tx1"/>
            </a:fontRef>
          </p:style>
        </p:cxnSp>
        <p:cxnSp>
          <p:nvCxnSpPr>
            <p:cNvPr id="29" name="直接连接符 28"/>
            <p:cNvCxnSpPr>
              <a:stCxn id="26" idx="5"/>
              <a:endCxn id="27" idx="0"/>
            </p:cNvCxnSpPr>
            <p:nvPr/>
          </p:nvCxnSpPr>
          <p:spPr>
            <a:xfrm rot="16200000" flipH="1">
              <a:off x="7782749" y="5175269"/>
              <a:ext cx="562837" cy="230904"/>
            </a:xfrm>
            <a:prstGeom prst="line">
              <a:avLst/>
            </a:prstGeom>
          </p:spPr>
          <p:style>
            <a:lnRef idx="2">
              <a:schemeClr val="accent2"/>
            </a:lnRef>
            <a:fillRef idx="0">
              <a:schemeClr val="accent2"/>
            </a:fillRef>
            <a:effectRef idx="1">
              <a:schemeClr val="accent2"/>
            </a:effectRef>
            <a:fontRef idx="minor">
              <a:schemeClr val="tx1"/>
            </a:fontRef>
          </p:style>
        </p:cxnSp>
        <p:sp>
          <p:nvSpPr>
            <p:cNvPr id="30" name="TextBox 29"/>
            <p:cNvSpPr txBox="1"/>
            <p:nvPr/>
          </p:nvSpPr>
          <p:spPr>
            <a:xfrm>
              <a:off x="1643042" y="6172162"/>
              <a:ext cx="642942" cy="519822"/>
            </a:xfrm>
            <a:prstGeom prst="rect">
              <a:avLst/>
            </a:prstGeom>
            <a:noFill/>
          </p:spPr>
          <p:txBody>
            <a:bodyPr wrap="square" rtlCol="0">
              <a:spAutoFit/>
            </a:bodyPr>
            <a:lstStyle/>
            <a:p>
              <a:pPr>
                <a:lnSpc>
                  <a:spcPts val="2100"/>
                </a:lnSpc>
                <a:spcBef>
                  <a:spcPts val="0"/>
                </a:spcBef>
              </a:pPr>
              <a:r>
                <a:rPr lang="en-US" altLang="zh-CN" sz="1600" b="0" smtClean="0">
                  <a:solidFill>
                    <a:srgbClr val="0000FF"/>
                  </a:solidFill>
                  <a:latin typeface="Consolas" pitchFamily="49" charset="0"/>
                  <a:cs typeface="Consolas" pitchFamily="49" charset="0"/>
                </a:rPr>
                <a:t>(a)</a:t>
              </a:r>
              <a:endParaRPr lang="zh-CN" altLang="en-US" sz="1600" b="0">
                <a:solidFill>
                  <a:srgbClr val="0000FF"/>
                </a:solidFill>
                <a:latin typeface="Consolas" pitchFamily="49" charset="0"/>
                <a:cs typeface="Consolas" pitchFamily="49" charset="0"/>
              </a:endParaRPr>
            </a:p>
          </p:txBody>
        </p:sp>
        <p:sp>
          <p:nvSpPr>
            <p:cNvPr id="31" name="TextBox 30"/>
            <p:cNvSpPr txBox="1"/>
            <p:nvPr/>
          </p:nvSpPr>
          <p:spPr>
            <a:xfrm>
              <a:off x="3071802" y="6215082"/>
              <a:ext cx="642942" cy="519822"/>
            </a:xfrm>
            <a:prstGeom prst="rect">
              <a:avLst/>
            </a:prstGeom>
            <a:noFill/>
          </p:spPr>
          <p:txBody>
            <a:bodyPr wrap="square" rtlCol="0">
              <a:spAutoFit/>
            </a:bodyPr>
            <a:lstStyle/>
            <a:p>
              <a:pP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32" name="TextBox 31"/>
            <p:cNvSpPr txBox="1"/>
            <p:nvPr/>
          </p:nvSpPr>
          <p:spPr>
            <a:xfrm>
              <a:off x="4429124" y="6215082"/>
              <a:ext cx="642942" cy="519822"/>
            </a:xfrm>
            <a:prstGeom prst="rect">
              <a:avLst/>
            </a:prstGeom>
            <a:noFill/>
          </p:spPr>
          <p:txBody>
            <a:bodyPr wrap="square" rtlCol="0">
              <a:spAutoFit/>
            </a:bodyPr>
            <a:lstStyle/>
            <a:p>
              <a:pP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sp>
          <p:nvSpPr>
            <p:cNvPr id="33" name="TextBox 32"/>
            <p:cNvSpPr txBox="1"/>
            <p:nvPr/>
          </p:nvSpPr>
          <p:spPr>
            <a:xfrm>
              <a:off x="6143636" y="6215082"/>
              <a:ext cx="642942" cy="519822"/>
            </a:xfrm>
            <a:prstGeom prst="rect">
              <a:avLst/>
            </a:prstGeom>
            <a:noFill/>
          </p:spPr>
          <p:txBody>
            <a:bodyPr wrap="square" rtlCol="0">
              <a:spAutoFit/>
            </a:bodyPr>
            <a:lstStyle/>
            <a:p>
              <a:pPr>
                <a:lnSpc>
                  <a:spcPts val="2100"/>
                </a:lnSpc>
                <a:spcBef>
                  <a:spcPts val="0"/>
                </a:spcBef>
              </a:pPr>
              <a:r>
                <a:rPr lang="en-US" altLang="zh-CN" sz="1600" b="0" smtClean="0">
                  <a:solidFill>
                    <a:srgbClr val="0000FF"/>
                  </a:solidFill>
                  <a:latin typeface="Consolas" pitchFamily="49" charset="0"/>
                  <a:cs typeface="Consolas" pitchFamily="49" charset="0"/>
                </a:rPr>
                <a:t>(d)</a:t>
              </a:r>
              <a:endParaRPr lang="zh-CN" altLang="en-US" sz="1600" b="0">
                <a:solidFill>
                  <a:srgbClr val="0000FF"/>
                </a:solidFill>
                <a:latin typeface="Consolas" pitchFamily="49" charset="0"/>
                <a:cs typeface="Consolas" pitchFamily="49" charset="0"/>
              </a:endParaRPr>
            </a:p>
          </p:txBody>
        </p:sp>
        <p:sp>
          <p:nvSpPr>
            <p:cNvPr id="34" name="TextBox 33"/>
            <p:cNvSpPr txBox="1"/>
            <p:nvPr/>
          </p:nvSpPr>
          <p:spPr>
            <a:xfrm>
              <a:off x="7500958" y="6215082"/>
              <a:ext cx="642942" cy="519822"/>
            </a:xfrm>
            <a:prstGeom prst="rect">
              <a:avLst/>
            </a:prstGeom>
            <a:noFill/>
          </p:spPr>
          <p:txBody>
            <a:bodyPr wrap="square" rtlCol="0">
              <a:spAutoFit/>
            </a:bodyPr>
            <a:lstStyle/>
            <a:p>
              <a:pPr>
                <a:lnSpc>
                  <a:spcPts val="2100"/>
                </a:lnSpc>
                <a:spcBef>
                  <a:spcPts val="0"/>
                </a:spcBef>
              </a:pPr>
              <a:r>
                <a:rPr lang="en-US" altLang="zh-CN" sz="1600" b="0" smtClean="0">
                  <a:solidFill>
                    <a:srgbClr val="0000FF"/>
                  </a:solidFill>
                  <a:latin typeface="Consolas" pitchFamily="49" charset="0"/>
                  <a:cs typeface="Consolas" pitchFamily="49" charset="0"/>
                </a:rPr>
                <a:t>(e)</a:t>
              </a:r>
              <a:endParaRPr lang="zh-CN" altLang="en-US" sz="1600" b="0">
                <a:solidFill>
                  <a:srgbClr val="0000FF"/>
                </a:solidFill>
                <a:latin typeface="Consolas" pitchFamily="49" charset="0"/>
                <a:cs typeface="Consolas" pitchFamily="49" charset="0"/>
              </a:endParaRPr>
            </a:p>
          </p:txBody>
        </p:sp>
      </p:grpSp>
      <p:graphicFrame>
        <p:nvGraphicFramePr>
          <p:cNvPr id="35" name="Group 169"/>
          <p:cNvGraphicFramePr>
            <a:graphicFrameLocks noGrp="1"/>
          </p:cNvGraphicFramePr>
          <p:nvPr/>
        </p:nvGraphicFramePr>
        <p:xfrm>
          <a:off x="428596" y="714356"/>
          <a:ext cx="7929585" cy="2214579"/>
        </p:xfrm>
        <a:graphic>
          <a:graphicData uri="http://schemas.openxmlformats.org/drawingml/2006/table">
            <a:tbl>
              <a:tblPr/>
              <a:tblGrid>
                <a:gridCol w="1857355"/>
                <a:gridCol w="1295102"/>
                <a:gridCol w="1273620"/>
                <a:gridCol w="1147241"/>
                <a:gridCol w="1209026"/>
                <a:gridCol w="1147241"/>
              </a:tblGrid>
              <a:tr h="809172">
                <a:tc>
                  <a:txBody>
                    <a:bodyPr/>
                    <a:lstStyle/>
                    <a:p>
                      <a:pPr marL="0" marR="0" lvl="0" indent="0" algn="l" defTabSz="914400" rtl="0" eaLnBrk="1" fontAlgn="base" latinLnBrk="0" hangingPunct="1">
                        <a:lnSpc>
                          <a:spcPts val="2700"/>
                        </a:lnSpc>
                        <a:spcBef>
                          <a:spcPct val="0"/>
                        </a:spcBef>
                        <a:spcAft>
                          <a:spcPct val="0"/>
                        </a:spcAft>
                        <a:buClrTx/>
                        <a:buSzTx/>
                        <a:buFontTx/>
                        <a:buNone/>
                        <a:tabLst/>
                      </a:pPr>
                      <a:r>
                        <a:rPr kumimoji="0" lang="zh-CN" altLang="en-US"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二叉树</a:t>
                      </a:r>
                    </a:p>
                    <a:p>
                      <a:pPr marL="0" marR="0" lvl="0" indent="0" algn="l" defTabSz="914400" rtl="0" eaLnBrk="0" fontAlgn="base" latinLnBrk="0" hangingPunct="0">
                        <a:lnSpc>
                          <a:spcPts val="2700"/>
                        </a:lnSpc>
                        <a:spcBef>
                          <a:spcPct val="0"/>
                        </a:spcBef>
                        <a:spcAft>
                          <a:spcPct val="0"/>
                        </a:spcAft>
                        <a:buClrTx/>
                        <a:buSzTx/>
                        <a:buFontTx/>
                        <a:buNone/>
                        <a:tabLst/>
                      </a:pPr>
                      <a:r>
                        <a:rPr kumimoji="0" lang="zh-CN" altLang="en-US"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遍历序列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zh-CN" altLang="en-US"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图</a:t>
                      </a: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r>
                        <a:rPr kumimoji="0" lang="en-US" altLang="zh-CN"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a:t>
                      </a:r>
                      <a:r>
                        <a:rPr kumimoji="0" lang="zh-CN" altLang="en-US"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的二叉树</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zh-CN" altLang="en-US"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图</a:t>
                      </a: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r>
                        <a:rPr kumimoji="0" lang="en-US" altLang="zh-CN"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a:t>
                      </a:r>
                      <a:r>
                        <a:rPr kumimoji="0" lang="zh-CN" altLang="en-US"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的二叉树</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zh-CN" altLang="en-US"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图</a:t>
                      </a: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r>
                        <a:rPr kumimoji="0" lang="zh-CN" altLang="en-US"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的二叉树</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zh-CN" altLang="en-US"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图</a:t>
                      </a: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r>
                        <a:rPr kumimoji="0" lang="zh-CN" altLang="en-US"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的二叉树</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zh-CN" altLang="en-US"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图</a:t>
                      </a: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r>
                        <a:rPr kumimoji="0" lang="zh-CN" altLang="en-US"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的二叉树</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468469">
                <a:tc>
                  <a:txBody>
                    <a:bodyPr/>
                    <a:lstStyle/>
                    <a:p>
                      <a:pPr marL="0" marR="0" lvl="0" indent="0" algn="l" defTabSz="914400" rtl="0" eaLnBrk="1" fontAlgn="base" latinLnBrk="0" hangingPunct="1">
                        <a:lnSpc>
                          <a:spcPts val="2700"/>
                        </a:lnSpc>
                        <a:spcBef>
                          <a:spcPct val="0"/>
                        </a:spcBef>
                        <a:spcAft>
                          <a:spcPct val="0"/>
                        </a:spcAft>
                        <a:buClrTx/>
                        <a:buSzTx/>
                        <a:buFontTx/>
                        <a:buNone/>
                        <a:tabLst/>
                      </a:pPr>
                      <a:r>
                        <a:rPr kumimoji="0" lang="zh-CN" altLang="en-US"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先序遍历序列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468469">
                <a:tc>
                  <a:txBody>
                    <a:bodyPr/>
                    <a:lstStyle/>
                    <a:p>
                      <a:pPr marL="0" marR="0" lvl="0" indent="0" algn="l" defTabSz="914400" rtl="0" eaLnBrk="1" fontAlgn="base" latinLnBrk="0" hangingPunct="1">
                        <a:lnSpc>
                          <a:spcPts val="2700"/>
                        </a:lnSpc>
                        <a:spcBef>
                          <a:spcPct val="0"/>
                        </a:spcBef>
                        <a:spcAft>
                          <a:spcPct val="0"/>
                        </a:spcAft>
                        <a:buClrTx/>
                        <a:buSzTx/>
                        <a:buFontTx/>
                        <a:buNone/>
                        <a:tabLst/>
                      </a:pPr>
                      <a:r>
                        <a:rPr kumimoji="0" lang="zh-CN" altLang="en-US"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中序遍历序列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BAC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BCA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dirty="0" err="1" smtClean="0">
                          <a:ln>
                            <a:noFill/>
                          </a:ln>
                          <a:solidFill>
                            <a:srgbClr val="0000FF"/>
                          </a:solidFill>
                          <a:effectLst/>
                          <a:latin typeface="Consolas" pitchFamily="49" charset="0"/>
                          <a:ea typeface="仿宋" pitchFamily="49" charset="-122"/>
                          <a:cs typeface="Consolas" pitchFamily="49" charset="0"/>
                        </a:rPr>
                        <a:t>ACB</a:t>
                      </a:r>
                      <a:endParaRPr kumimoji="0" lang="en-US" altLang="zh-CN"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dirty="0" err="1" smtClean="0">
                          <a:ln>
                            <a:noFill/>
                          </a:ln>
                          <a:solidFill>
                            <a:srgbClr val="0000FF"/>
                          </a:solidFill>
                          <a:effectLst/>
                          <a:latin typeface="Consolas" pitchFamily="49" charset="0"/>
                          <a:ea typeface="仿宋" pitchFamily="49" charset="-122"/>
                          <a:cs typeface="Consolas" pitchFamily="49" charset="0"/>
                        </a:rPr>
                        <a:t>CBA</a:t>
                      </a:r>
                      <a:endParaRPr kumimoji="0" lang="en-US" altLang="zh-CN"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ABC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r h="468469">
                <a:tc>
                  <a:txBody>
                    <a:bodyPr/>
                    <a:lstStyle/>
                    <a:p>
                      <a:pPr marL="0" marR="0" lvl="0" indent="0" algn="l" defTabSz="914400" rtl="0" eaLnBrk="1" fontAlgn="base" latinLnBrk="0" hangingPunct="1">
                        <a:lnSpc>
                          <a:spcPts val="2700"/>
                        </a:lnSpc>
                        <a:spcBef>
                          <a:spcPct val="0"/>
                        </a:spcBef>
                        <a:spcAft>
                          <a:spcPct val="0"/>
                        </a:spcAft>
                        <a:buClrTx/>
                        <a:buSzTx/>
                        <a:buFontTx/>
                        <a:buNone/>
                        <a:tabLst/>
                      </a:pPr>
                      <a:r>
                        <a:rPr kumimoji="0" lang="zh-CN" altLang="en-US"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rPr>
                        <a:t>后序遍历序列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BCA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CBA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CBA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smtClean="0">
                          <a:ln>
                            <a:noFill/>
                          </a:ln>
                          <a:solidFill>
                            <a:srgbClr val="0000FF"/>
                          </a:solidFill>
                          <a:effectLst/>
                          <a:latin typeface="Consolas" pitchFamily="49" charset="0"/>
                          <a:ea typeface="仿宋" pitchFamily="49" charset="-122"/>
                          <a:cs typeface="Consolas" pitchFamily="49" charset="0"/>
                        </a:rPr>
                        <a:t>CBA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ts val="2700"/>
                        </a:lnSpc>
                        <a:spcBef>
                          <a:spcPct val="0"/>
                        </a:spcBef>
                        <a:spcAft>
                          <a:spcPct val="0"/>
                        </a:spcAft>
                        <a:buClrTx/>
                        <a:buSzTx/>
                        <a:buFontTx/>
                        <a:buNone/>
                        <a:tabLst/>
                      </a:pPr>
                      <a:r>
                        <a:rPr kumimoji="0" lang="en-US" altLang="zh-CN" sz="1800" b="1" i="0" u="none" strike="noStrike" cap="none" normalizeH="0" baseline="0" dirty="0" err="1" smtClean="0">
                          <a:ln>
                            <a:noFill/>
                          </a:ln>
                          <a:solidFill>
                            <a:srgbClr val="0000FF"/>
                          </a:solidFill>
                          <a:effectLst/>
                          <a:latin typeface="Consolas" pitchFamily="49" charset="0"/>
                          <a:ea typeface="仿宋" pitchFamily="49" charset="-122"/>
                          <a:cs typeface="Consolas" pitchFamily="49" charset="0"/>
                        </a:rPr>
                        <a:t>CBA</a:t>
                      </a:r>
                      <a:endParaRPr kumimoji="0" lang="en-US" altLang="zh-CN" sz="1800" b="1" i="0" u="none" strike="noStrike" cap="none" normalizeH="0" baseline="0" dirty="0" smtClean="0">
                        <a:ln>
                          <a:noFill/>
                        </a:ln>
                        <a:solidFill>
                          <a:srgbClr val="0000FF"/>
                        </a:solidFill>
                        <a:effectLst/>
                        <a:latin typeface="Consolas" pitchFamily="49" charset="0"/>
                        <a:ea typeface="仿宋" pitchFamily="49" charset="-122"/>
                        <a:cs typeface="Consolas"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95000"/>
                      </a:schemeClr>
                    </a:solidFill>
                  </a:tcPr>
                </a:tc>
              </a:tr>
            </a:tbl>
          </a:graphicData>
        </a:graphic>
      </p:graphicFrame>
      <p:sp>
        <p:nvSpPr>
          <p:cNvPr id="37" name="灯片编号占位符 36"/>
          <p:cNvSpPr>
            <a:spLocks noGrp="1"/>
          </p:cNvSpPr>
          <p:nvPr>
            <p:ph type="sldNum" sz="quarter" idx="12"/>
          </p:nvPr>
        </p:nvSpPr>
        <p:spPr/>
        <p:txBody>
          <a:bodyPr/>
          <a:lstStyle/>
          <a:p>
            <a:fld id="{67864EE2-EAB3-4814-A7EB-820BD7610F1E}" type="slidenum">
              <a:rPr lang="en-US" altLang="zh-CN" smtClean="0"/>
              <a:pPr/>
              <a:t>18</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500034" y="428604"/>
            <a:ext cx="4786346" cy="338554"/>
          </a:xfrm>
          <a:prstGeom prst="rect">
            <a:avLst/>
          </a:prstGeom>
          <a:noFill/>
          <a:ln w="9525">
            <a:noFill/>
            <a:miter lim="800000"/>
            <a:headEnd/>
            <a:tailEnd/>
          </a:ln>
        </p:spPr>
        <p:txBody>
          <a:bodyPr wrap="square">
            <a:spAutoFit/>
          </a:bodyPr>
          <a:lstStyle/>
          <a:p>
            <a:pPr algn="l">
              <a:spcBef>
                <a:spcPct val="50000"/>
              </a:spcBef>
            </a:pPr>
            <a:r>
              <a:rPr lang="zh-CN" altLang="en-US" sz="2000" dirty="0">
                <a:solidFill>
                  <a:srgbClr val="0000FF"/>
                </a:solidFill>
                <a:latin typeface="Consolas" pitchFamily="49" charset="0"/>
                <a:ea typeface="楷体" pitchFamily="49" charset="-122"/>
                <a:cs typeface="Consolas" pitchFamily="49" charset="0"/>
              </a:rPr>
              <a:t>从中看到，对于不同形态的二叉树：</a:t>
            </a:r>
          </a:p>
        </p:txBody>
      </p:sp>
      <p:sp>
        <p:nvSpPr>
          <p:cNvPr id="5" name="Text Box 3"/>
          <p:cNvSpPr txBox="1">
            <a:spLocks noChangeArrowheads="1"/>
          </p:cNvSpPr>
          <p:nvPr/>
        </p:nvSpPr>
        <p:spPr bwMode="auto">
          <a:xfrm>
            <a:off x="571472" y="928670"/>
            <a:ext cx="7858180" cy="2603378"/>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2"/>
          </a:lnRef>
          <a:fillRef idx="1">
            <a:schemeClr val="lt1"/>
          </a:fillRef>
          <a:effectRef idx="0">
            <a:schemeClr val="accent2"/>
          </a:effectRef>
          <a:fontRef idx="minor">
            <a:schemeClr val="dk1"/>
          </a:fontRef>
        </p:style>
        <p:txBody>
          <a:bodyPr wrap="square" lIns="144000" tIns="108000" bIns="108000">
            <a:spAutoFit/>
          </a:bodyPr>
          <a:lstStyle/>
          <a:p>
            <a:pPr marL="342900" indent="-342900" algn="l">
              <a:lnSpc>
                <a:spcPts val="2800"/>
              </a:lnSpc>
              <a:spcBef>
                <a:spcPts val="600"/>
              </a:spcBef>
              <a:buBlip>
                <a:blip r:embed="rId2"/>
              </a:buBlip>
            </a:pPr>
            <a:r>
              <a:rPr lang="zh-CN" altLang="en-US" sz="2000" dirty="0">
                <a:solidFill>
                  <a:srgbClr val="0000FF"/>
                </a:solidFill>
                <a:latin typeface="Consolas" pitchFamily="49" charset="0"/>
                <a:ea typeface="仿宋" pitchFamily="49" charset="-122"/>
                <a:cs typeface="Consolas" pitchFamily="49" charset="0"/>
              </a:rPr>
              <a:t>先序遍历序列可能相同</a:t>
            </a:r>
            <a:r>
              <a:rPr lang="zh-CN" altLang="en-US" sz="200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图中</a:t>
            </a:r>
            <a:r>
              <a:rPr lang="en-US" altLang="zh-CN" sz="2000" smtClean="0">
                <a:solidFill>
                  <a:srgbClr val="0000FF"/>
                </a:solidFill>
                <a:latin typeface="Consolas" pitchFamily="49" charset="0"/>
                <a:ea typeface="仿宋" pitchFamily="49" charset="-122"/>
                <a:cs typeface="Consolas" pitchFamily="49" charset="0"/>
              </a:rPr>
              <a:t>5</a:t>
            </a:r>
            <a:r>
              <a:rPr lang="zh-CN" altLang="en-US" sz="2000" dirty="0">
                <a:solidFill>
                  <a:srgbClr val="0000FF"/>
                </a:solidFill>
                <a:latin typeface="Consolas" pitchFamily="49" charset="0"/>
                <a:ea typeface="仿宋" pitchFamily="49" charset="-122"/>
                <a:cs typeface="Consolas" pitchFamily="49" charset="0"/>
              </a:rPr>
              <a:t>棵二叉树的先序遍历序列均相同）。</a:t>
            </a:r>
          </a:p>
          <a:p>
            <a:pPr marL="342900" indent="-342900" algn="l">
              <a:lnSpc>
                <a:spcPts val="2800"/>
              </a:lnSpc>
              <a:spcBef>
                <a:spcPts val="600"/>
              </a:spcBef>
              <a:buBlip>
                <a:blip r:embed="rId2"/>
              </a:buBlip>
            </a:pPr>
            <a:r>
              <a:rPr lang="zh-CN" altLang="en-US" sz="2000" dirty="0">
                <a:solidFill>
                  <a:srgbClr val="0000FF"/>
                </a:solidFill>
                <a:latin typeface="Consolas" pitchFamily="49" charset="0"/>
                <a:ea typeface="仿宋" pitchFamily="49" charset="-122"/>
                <a:cs typeface="Consolas" pitchFamily="49" charset="0"/>
              </a:rPr>
              <a:t>中序遍历序列</a:t>
            </a:r>
            <a:r>
              <a:rPr lang="zh-CN" altLang="en-US" sz="2000">
                <a:solidFill>
                  <a:srgbClr val="0000FF"/>
                </a:solidFill>
                <a:latin typeface="Consolas" pitchFamily="49" charset="0"/>
                <a:ea typeface="仿宋" pitchFamily="49" charset="-122"/>
                <a:cs typeface="Consolas" pitchFamily="49" charset="0"/>
              </a:rPr>
              <a:t>可能</a:t>
            </a:r>
            <a:r>
              <a:rPr lang="zh-CN" altLang="en-US" sz="2000" smtClean="0">
                <a:solidFill>
                  <a:srgbClr val="0000FF"/>
                </a:solidFill>
                <a:latin typeface="Consolas" pitchFamily="49" charset="0"/>
                <a:ea typeface="仿宋" pitchFamily="49" charset="-122"/>
                <a:cs typeface="Consolas" pitchFamily="49" charset="0"/>
              </a:rPr>
              <a:t>相同。</a:t>
            </a:r>
            <a:endParaRPr lang="zh-CN" altLang="en-US" sz="2000" dirty="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en-US" sz="2000" dirty="0">
                <a:solidFill>
                  <a:srgbClr val="0000FF"/>
                </a:solidFill>
                <a:latin typeface="Consolas" pitchFamily="49" charset="0"/>
                <a:ea typeface="仿宋" pitchFamily="49" charset="-122"/>
                <a:cs typeface="Consolas" pitchFamily="49" charset="0"/>
              </a:rPr>
              <a:t>后序遍历序列可能相同</a:t>
            </a:r>
            <a:r>
              <a:rPr lang="zh-CN" altLang="en-US" sz="200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图</a:t>
            </a:r>
            <a:r>
              <a:rPr lang="en-US" altLang="zh-CN" sz="2000" smtClean="0">
                <a:solidFill>
                  <a:srgbClr val="0000FF"/>
                </a:solidFill>
                <a:latin typeface="Consolas" pitchFamily="49" charset="0"/>
                <a:ea typeface="仿宋" pitchFamily="49" charset="-122"/>
                <a:cs typeface="Consolas" pitchFamily="49" charset="0"/>
              </a:rPr>
              <a:t>(b</a:t>
            </a:r>
            <a:r>
              <a:rPr lang="en-US" altLang="zh-CN" sz="200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(e</a:t>
            </a:r>
            <a:r>
              <a:rPr lang="en-US" altLang="zh-CN" sz="2000" dirty="0">
                <a:solidFill>
                  <a:srgbClr val="0000FF"/>
                </a:solidFill>
                <a:latin typeface="Consolas" pitchFamily="49" charset="0"/>
                <a:ea typeface="仿宋" pitchFamily="49" charset="-122"/>
                <a:cs typeface="Consolas" pitchFamily="49" charset="0"/>
              </a:rPr>
              <a:t>)</a:t>
            </a:r>
            <a:r>
              <a:rPr lang="zh-CN" altLang="en-US" sz="2000" dirty="0">
                <a:solidFill>
                  <a:srgbClr val="0000FF"/>
                </a:solidFill>
                <a:latin typeface="Consolas" pitchFamily="49" charset="0"/>
                <a:ea typeface="仿宋" pitchFamily="49" charset="-122"/>
                <a:cs typeface="Consolas" pitchFamily="49" charset="0"/>
              </a:rPr>
              <a:t>的后序遍历序列均相同）</a:t>
            </a:r>
          </a:p>
          <a:p>
            <a:pPr marL="342900" indent="-342900" algn="l">
              <a:lnSpc>
                <a:spcPts val="2800"/>
              </a:lnSpc>
              <a:spcBef>
                <a:spcPts val="600"/>
              </a:spcBef>
              <a:buBlip>
                <a:blip r:embed="rId2"/>
              </a:buBlip>
            </a:pPr>
            <a:r>
              <a:rPr lang="zh-CN" altLang="en-US" sz="2000" dirty="0">
                <a:solidFill>
                  <a:srgbClr val="0000FF"/>
                </a:solidFill>
                <a:latin typeface="Consolas" pitchFamily="49" charset="0"/>
                <a:ea typeface="仿宋" pitchFamily="49" charset="-122"/>
                <a:cs typeface="Consolas" pitchFamily="49" charset="0"/>
              </a:rPr>
              <a:t>先序遍历序列和后序遍历序列可能都相同</a:t>
            </a:r>
            <a:r>
              <a:rPr lang="zh-CN" altLang="en-US" sz="200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图</a:t>
            </a:r>
            <a:r>
              <a:rPr lang="en-US" altLang="zh-CN" sz="2000" smtClean="0">
                <a:solidFill>
                  <a:srgbClr val="0000FF"/>
                </a:solidFill>
                <a:latin typeface="Consolas" pitchFamily="49" charset="0"/>
                <a:ea typeface="仿宋" pitchFamily="49" charset="-122"/>
                <a:cs typeface="Consolas" pitchFamily="49" charset="0"/>
              </a:rPr>
              <a:t>(d</a:t>
            </a:r>
            <a:r>
              <a:rPr lang="en-US" altLang="zh-CN" sz="2000" dirty="0">
                <a:solidFill>
                  <a:srgbClr val="0000FF"/>
                </a:solidFill>
                <a:latin typeface="Consolas" pitchFamily="49" charset="0"/>
                <a:ea typeface="仿宋" pitchFamily="49" charset="-122"/>
                <a:cs typeface="Consolas" pitchFamily="49" charset="0"/>
              </a:rPr>
              <a:t>)</a:t>
            </a:r>
            <a:r>
              <a:rPr lang="zh-CN" altLang="en-US" sz="2000" dirty="0">
                <a:solidFill>
                  <a:srgbClr val="0000FF"/>
                </a:solidFill>
                <a:latin typeface="Consolas" pitchFamily="49" charset="0"/>
                <a:ea typeface="仿宋" pitchFamily="49" charset="-122"/>
                <a:cs typeface="Consolas" pitchFamily="49" charset="0"/>
              </a:rPr>
              <a:t>和</a:t>
            </a:r>
            <a:r>
              <a:rPr lang="en-US" altLang="zh-CN" sz="2000" dirty="0">
                <a:solidFill>
                  <a:srgbClr val="0000FF"/>
                </a:solidFill>
                <a:latin typeface="Consolas" pitchFamily="49" charset="0"/>
                <a:ea typeface="仿宋" pitchFamily="49" charset="-122"/>
                <a:cs typeface="Consolas" pitchFamily="49" charset="0"/>
              </a:rPr>
              <a:t>(e)</a:t>
            </a:r>
            <a:r>
              <a:rPr lang="zh-CN" altLang="en-US" sz="2000" dirty="0">
                <a:solidFill>
                  <a:srgbClr val="0000FF"/>
                </a:solidFill>
                <a:latin typeface="Consolas" pitchFamily="49" charset="0"/>
                <a:ea typeface="仿宋" pitchFamily="49" charset="-122"/>
                <a:cs typeface="Consolas" pitchFamily="49" charset="0"/>
              </a:rPr>
              <a:t>的先序遍历序列和后序遍历序列均相同）。</a:t>
            </a:r>
          </a:p>
        </p:txBody>
      </p:sp>
      <p:grpSp>
        <p:nvGrpSpPr>
          <p:cNvPr id="6" name="组合 5"/>
          <p:cNvGrpSpPr/>
          <p:nvPr/>
        </p:nvGrpSpPr>
        <p:grpSpPr>
          <a:xfrm>
            <a:off x="1142976" y="3857628"/>
            <a:ext cx="6286544" cy="2101100"/>
            <a:chOff x="1357290" y="3714752"/>
            <a:chExt cx="7000924" cy="3020152"/>
          </a:xfrm>
        </p:grpSpPr>
        <p:sp>
          <p:nvSpPr>
            <p:cNvPr id="7" name="椭圆 6"/>
            <p:cNvSpPr/>
            <p:nvPr/>
          </p:nvSpPr>
          <p:spPr>
            <a:xfrm>
              <a:off x="1714480" y="3786190"/>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100"/>
                </a:lnSpc>
                <a:spcBef>
                  <a:spcPts val="0"/>
                </a:spcBef>
              </a:pPr>
              <a:r>
                <a:rPr lang="en-US" altLang="zh-CN" sz="1600" b="0" smtClean="0">
                  <a:latin typeface="Consolas" pitchFamily="49" charset="0"/>
                  <a:cs typeface="Consolas" pitchFamily="49" charset="0"/>
                </a:rPr>
                <a:t>A</a:t>
              </a:r>
              <a:endParaRPr lang="zh-CN" altLang="en-US" sz="1600" b="0">
                <a:latin typeface="Consolas" pitchFamily="49" charset="0"/>
                <a:cs typeface="Consolas" pitchFamily="49" charset="0"/>
              </a:endParaRPr>
            </a:p>
          </p:txBody>
        </p:sp>
        <p:sp>
          <p:nvSpPr>
            <p:cNvPr id="8" name="椭圆 7"/>
            <p:cNvSpPr/>
            <p:nvPr/>
          </p:nvSpPr>
          <p:spPr>
            <a:xfrm>
              <a:off x="1357290" y="478632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9" name="椭圆 8"/>
            <p:cNvSpPr/>
            <p:nvPr/>
          </p:nvSpPr>
          <p:spPr>
            <a:xfrm>
              <a:off x="2071670" y="478632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sp>
          <p:nvSpPr>
            <p:cNvPr id="10" name="椭圆 9"/>
            <p:cNvSpPr/>
            <p:nvPr/>
          </p:nvSpPr>
          <p:spPr>
            <a:xfrm>
              <a:off x="3214678" y="3714752"/>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100"/>
                </a:lnSpc>
                <a:spcBef>
                  <a:spcPts val="0"/>
                </a:spcBef>
              </a:pPr>
              <a:r>
                <a:rPr lang="en-US" altLang="zh-CN" sz="1600" b="0" smtClean="0">
                  <a:latin typeface="Consolas" pitchFamily="49" charset="0"/>
                  <a:cs typeface="Consolas" pitchFamily="49" charset="0"/>
                </a:rPr>
                <a:t>A</a:t>
              </a:r>
              <a:endParaRPr lang="zh-CN" altLang="en-US" sz="1600" b="0">
                <a:latin typeface="Consolas" pitchFamily="49" charset="0"/>
                <a:cs typeface="Consolas" pitchFamily="49" charset="0"/>
              </a:endParaRPr>
            </a:p>
          </p:txBody>
        </p:sp>
        <p:sp>
          <p:nvSpPr>
            <p:cNvPr id="11" name="椭圆 10"/>
            <p:cNvSpPr/>
            <p:nvPr/>
          </p:nvSpPr>
          <p:spPr>
            <a:xfrm>
              <a:off x="2928926" y="4643446"/>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12" name="椭圆 11"/>
            <p:cNvSpPr/>
            <p:nvPr/>
          </p:nvSpPr>
          <p:spPr>
            <a:xfrm>
              <a:off x="3357554" y="557214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cxnSp>
          <p:nvCxnSpPr>
            <p:cNvPr id="13" name="直接连接符 12"/>
            <p:cNvCxnSpPr>
              <a:stCxn id="7" idx="3"/>
              <a:endCxn id="8" idx="0"/>
            </p:cNvCxnSpPr>
            <p:nvPr/>
          </p:nvCxnSpPr>
          <p:spPr>
            <a:xfrm rot="5400000">
              <a:off x="1334200" y="4353732"/>
              <a:ext cx="634275" cy="230904"/>
            </a:xfrm>
            <a:prstGeom prst="line">
              <a:avLst/>
            </a:prstGeom>
          </p:spPr>
          <p:style>
            <a:lnRef idx="2">
              <a:schemeClr val="accent2"/>
            </a:lnRef>
            <a:fillRef idx="0">
              <a:schemeClr val="accent2"/>
            </a:fillRef>
            <a:effectRef idx="1">
              <a:schemeClr val="accent2"/>
            </a:effectRef>
            <a:fontRef idx="minor">
              <a:schemeClr val="tx1"/>
            </a:fontRef>
          </p:style>
        </p:cxnSp>
        <p:cxnSp>
          <p:nvCxnSpPr>
            <p:cNvPr id="14" name="直接连接符 13"/>
            <p:cNvCxnSpPr>
              <a:stCxn id="7" idx="5"/>
              <a:endCxn id="9" idx="0"/>
            </p:cNvCxnSpPr>
            <p:nvPr/>
          </p:nvCxnSpPr>
          <p:spPr>
            <a:xfrm rot="16200000" flipH="1">
              <a:off x="1817676" y="4353732"/>
              <a:ext cx="634275" cy="230904"/>
            </a:xfrm>
            <a:prstGeom prst="line">
              <a:avLst/>
            </a:prstGeom>
          </p:spPr>
          <p:style>
            <a:lnRef idx="2">
              <a:schemeClr val="accent2"/>
            </a:lnRef>
            <a:fillRef idx="0">
              <a:schemeClr val="accent2"/>
            </a:fillRef>
            <a:effectRef idx="1">
              <a:schemeClr val="accent2"/>
            </a:effectRef>
            <a:fontRef idx="minor">
              <a:schemeClr val="tx1"/>
            </a:fontRef>
          </p:style>
        </p:cxnSp>
        <p:cxnSp>
          <p:nvCxnSpPr>
            <p:cNvPr id="15" name="直接连接符 14"/>
            <p:cNvCxnSpPr>
              <a:stCxn id="10" idx="3"/>
              <a:endCxn id="11" idx="0"/>
            </p:cNvCxnSpPr>
            <p:nvPr/>
          </p:nvCxnSpPr>
          <p:spPr>
            <a:xfrm rot="5400000">
              <a:off x="2905836" y="4282294"/>
              <a:ext cx="562837" cy="159466"/>
            </a:xfrm>
            <a:prstGeom prst="line">
              <a:avLst/>
            </a:prstGeom>
          </p:spPr>
          <p:style>
            <a:lnRef idx="2">
              <a:schemeClr val="accent2"/>
            </a:lnRef>
            <a:fillRef idx="0">
              <a:schemeClr val="accent2"/>
            </a:fillRef>
            <a:effectRef idx="1">
              <a:schemeClr val="accent2"/>
            </a:effectRef>
            <a:fontRef idx="minor">
              <a:schemeClr val="tx1"/>
            </a:fontRef>
          </p:style>
        </p:cxnSp>
        <p:cxnSp>
          <p:nvCxnSpPr>
            <p:cNvPr id="16" name="直接连接符 15"/>
            <p:cNvCxnSpPr>
              <a:stCxn id="11" idx="5"/>
              <a:endCxn id="12" idx="0"/>
            </p:cNvCxnSpPr>
            <p:nvPr/>
          </p:nvCxnSpPr>
          <p:spPr>
            <a:xfrm rot="16200000" flipH="1">
              <a:off x="3103560" y="5139550"/>
              <a:ext cx="562837" cy="302342"/>
            </a:xfrm>
            <a:prstGeom prst="line">
              <a:avLst/>
            </a:prstGeom>
          </p:spPr>
          <p:style>
            <a:lnRef idx="2">
              <a:schemeClr val="accent2"/>
            </a:lnRef>
            <a:fillRef idx="0">
              <a:schemeClr val="accent2"/>
            </a:fillRef>
            <a:effectRef idx="1">
              <a:schemeClr val="accent2"/>
            </a:effectRef>
            <a:fontRef idx="minor">
              <a:schemeClr val="tx1"/>
            </a:fontRef>
          </p:style>
        </p:cxnSp>
        <p:sp>
          <p:nvSpPr>
            <p:cNvPr id="17" name="椭圆 16"/>
            <p:cNvSpPr/>
            <p:nvPr/>
          </p:nvSpPr>
          <p:spPr>
            <a:xfrm>
              <a:off x="4357686" y="3714752"/>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100"/>
                </a:lnSpc>
                <a:spcBef>
                  <a:spcPts val="0"/>
                </a:spcBef>
              </a:pPr>
              <a:r>
                <a:rPr lang="en-US" altLang="zh-CN" sz="1600" b="0" smtClean="0">
                  <a:latin typeface="Consolas" pitchFamily="49" charset="0"/>
                  <a:cs typeface="Consolas" pitchFamily="49" charset="0"/>
                </a:rPr>
                <a:t>A</a:t>
              </a:r>
              <a:endParaRPr lang="zh-CN" altLang="en-US" sz="1600" b="0">
                <a:latin typeface="Consolas" pitchFamily="49" charset="0"/>
                <a:cs typeface="Consolas" pitchFamily="49" charset="0"/>
              </a:endParaRPr>
            </a:p>
          </p:txBody>
        </p:sp>
        <p:sp>
          <p:nvSpPr>
            <p:cNvPr id="18" name="椭圆 17"/>
            <p:cNvSpPr/>
            <p:nvPr/>
          </p:nvSpPr>
          <p:spPr>
            <a:xfrm>
              <a:off x="4857752" y="4643446"/>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19" name="椭圆 18"/>
            <p:cNvSpPr/>
            <p:nvPr/>
          </p:nvSpPr>
          <p:spPr>
            <a:xfrm>
              <a:off x="4500562" y="557214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cxnSp>
          <p:nvCxnSpPr>
            <p:cNvPr id="20" name="直接连接符 19"/>
            <p:cNvCxnSpPr>
              <a:stCxn id="17" idx="5"/>
              <a:endCxn id="18" idx="0"/>
            </p:cNvCxnSpPr>
            <p:nvPr/>
          </p:nvCxnSpPr>
          <p:spPr>
            <a:xfrm rot="16200000" flipH="1">
              <a:off x="4568039" y="4175137"/>
              <a:ext cx="562837" cy="373780"/>
            </a:xfrm>
            <a:prstGeom prst="line">
              <a:avLst/>
            </a:prstGeom>
          </p:spPr>
          <p:style>
            <a:lnRef idx="2">
              <a:schemeClr val="accent2"/>
            </a:lnRef>
            <a:fillRef idx="0">
              <a:schemeClr val="accent2"/>
            </a:fillRef>
            <a:effectRef idx="1">
              <a:schemeClr val="accent2"/>
            </a:effectRef>
            <a:fontRef idx="minor">
              <a:schemeClr val="tx1"/>
            </a:fontRef>
          </p:style>
        </p:cxnSp>
        <p:cxnSp>
          <p:nvCxnSpPr>
            <p:cNvPr id="21" name="直接连接符 20"/>
            <p:cNvCxnSpPr>
              <a:stCxn id="18" idx="3"/>
              <a:endCxn id="19" idx="0"/>
            </p:cNvCxnSpPr>
            <p:nvPr/>
          </p:nvCxnSpPr>
          <p:spPr>
            <a:xfrm rot="5400000">
              <a:off x="4513191" y="5175269"/>
              <a:ext cx="562837" cy="230904"/>
            </a:xfrm>
            <a:prstGeom prst="line">
              <a:avLst/>
            </a:prstGeom>
          </p:spPr>
          <p:style>
            <a:lnRef idx="2">
              <a:schemeClr val="accent2"/>
            </a:lnRef>
            <a:fillRef idx="0">
              <a:schemeClr val="accent2"/>
            </a:fillRef>
            <a:effectRef idx="1">
              <a:schemeClr val="accent2"/>
            </a:effectRef>
            <a:fontRef idx="minor">
              <a:schemeClr val="tx1"/>
            </a:fontRef>
          </p:style>
        </p:cxnSp>
        <p:sp>
          <p:nvSpPr>
            <p:cNvPr id="22" name="椭圆 21"/>
            <p:cNvSpPr/>
            <p:nvPr/>
          </p:nvSpPr>
          <p:spPr>
            <a:xfrm>
              <a:off x="6357950" y="3714752"/>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100"/>
                </a:lnSpc>
                <a:spcBef>
                  <a:spcPts val="0"/>
                </a:spcBef>
              </a:pPr>
              <a:r>
                <a:rPr lang="en-US" altLang="zh-CN" sz="1600" b="0" smtClean="0">
                  <a:latin typeface="Consolas" pitchFamily="49" charset="0"/>
                  <a:cs typeface="Consolas" pitchFamily="49" charset="0"/>
                </a:rPr>
                <a:t>A</a:t>
              </a:r>
              <a:endParaRPr lang="zh-CN" altLang="en-US" sz="1600" b="0">
                <a:latin typeface="Consolas" pitchFamily="49" charset="0"/>
                <a:cs typeface="Consolas" pitchFamily="49" charset="0"/>
              </a:endParaRPr>
            </a:p>
          </p:txBody>
        </p:sp>
        <p:sp>
          <p:nvSpPr>
            <p:cNvPr id="23" name="椭圆 22"/>
            <p:cNvSpPr/>
            <p:nvPr/>
          </p:nvSpPr>
          <p:spPr>
            <a:xfrm>
              <a:off x="6143636" y="4643446"/>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24" name="椭圆 23"/>
            <p:cNvSpPr/>
            <p:nvPr/>
          </p:nvSpPr>
          <p:spPr>
            <a:xfrm>
              <a:off x="5857884" y="557214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cxnSp>
          <p:nvCxnSpPr>
            <p:cNvPr id="25" name="直接连接符 24"/>
            <p:cNvCxnSpPr>
              <a:endCxn id="23" idx="0"/>
            </p:cNvCxnSpPr>
            <p:nvPr/>
          </p:nvCxnSpPr>
          <p:spPr>
            <a:xfrm rot="5400000">
              <a:off x="6197216" y="4339836"/>
              <a:ext cx="428626" cy="178595"/>
            </a:xfrm>
            <a:prstGeom prst="line">
              <a:avLst/>
            </a:prstGeom>
          </p:spPr>
          <p:style>
            <a:lnRef idx="2">
              <a:schemeClr val="accent2"/>
            </a:lnRef>
            <a:fillRef idx="0">
              <a:schemeClr val="accent2"/>
            </a:fillRef>
            <a:effectRef idx="1">
              <a:schemeClr val="accent2"/>
            </a:effectRef>
            <a:fontRef idx="minor">
              <a:schemeClr val="tx1"/>
            </a:fontRef>
          </p:style>
        </p:cxnSp>
        <p:cxnSp>
          <p:nvCxnSpPr>
            <p:cNvPr id="26" name="直接连接符 25"/>
            <p:cNvCxnSpPr>
              <a:stCxn id="23" idx="3"/>
              <a:endCxn id="24" idx="0"/>
            </p:cNvCxnSpPr>
            <p:nvPr/>
          </p:nvCxnSpPr>
          <p:spPr>
            <a:xfrm rot="5400000">
              <a:off x="5834794" y="5210988"/>
              <a:ext cx="562837" cy="159466"/>
            </a:xfrm>
            <a:prstGeom prst="line">
              <a:avLst/>
            </a:prstGeom>
          </p:spPr>
          <p:style>
            <a:lnRef idx="2">
              <a:schemeClr val="accent2"/>
            </a:lnRef>
            <a:fillRef idx="0">
              <a:schemeClr val="accent2"/>
            </a:fillRef>
            <a:effectRef idx="1">
              <a:schemeClr val="accent2"/>
            </a:effectRef>
            <a:fontRef idx="minor">
              <a:schemeClr val="tx1"/>
            </a:fontRef>
          </p:style>
        </p:cxnSp>
        <p:sp>
          <p:nvSpPr>
            <p:cNvPr id="27" name="椭圆 26"/>
            <p:cNvSpPr/>
            <p:nvPr/>
          </p:nvSpPr>
          <p:spPr>
            <a:xfrm>
              <a:off x="7286644" y="3714752"/>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100"/>
                </a:lnSpc>
                <a:spcBef>
                  <a:spcPts val="0"/>
                </a:spcBef>
              </a:pPr>
              <a:r>
                <a:rPr lang="en-US" altLang="zh-CN" sz="1600" b="0" smtClean="0">
                  <a:latin typeface="Consolas" pitchFamily="49" charset="0"/>
                  <a:cs typeface="Consolas" pitchFamily="49" charset="0"/>
                </a:rPr>
                <a:t>A</a:t>
              </a:r>
              <a:endParaRPr lang="zh-CN" altLang="en-US" sz="1600" b="0">
                <a:latin typeface="Consolas" pitchFamily="49" charset="0"/>
                <a:cs typeface="Consolas" pitchFamily="49" charset="0"/>
              </a:endParaRPr>
            </a:p>
          </p:txBody>
        </p:sp>
        <p:sp>
          <p:nvSpPr>
            <p:cNvPr id="28" name="椭圆 27"/>
            <p:cNvSpPr/>
            <p:nvPr/>
          </p:nvSpPr>
          <p:spPr>
            <a:xfrm>
              <a:off x="7643834" y="4643446"/>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29" name="椭圆 28"/>
            <p:cNvSpPr/>
            <p:nvPr/>
          </p:nvSpPr>
          <p:spPr>
            <a:xfrm>
              <a:off x="8001024" y="557214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cxnSp>
          <p:nvCxnSpPr>
            <p:cNvPr id="30" name="直接连接符 29"/>
            <p:cNvCxnSpPr>
              <a:stCxn id="27" idx="5"/>
              <a:endCxn id="28" idx="0"/>
            </p:cNvCxnSpPr>
            <p:nvPr/>
          </p:nvCxnSpPr>
          <p:spPr>
            <a:xfrm rot="16200000" flipH="1">
              <a:off x="7425559" y="4246575"/>
              <a:ext cx="562837" cy="230904"/>
            </a:xfrm>
            <a:prstGeom prst="line">
              <a:avLst/>
            </a:prstGeom>
          </p:spPr>
          <p:style>
            <a:lnRef idx="2">
              <a:schemeClr val="accent2"/>
            </a:lnRef>
            <a:fillRef idx="0">
              <a:schemeClr val="accent2"/>
            </a:fillRef>
            <a:effectRef idx="1">
              <a:schemeClr val="accent2"/>
            </a:effectRef>
            <a:fontRef idx="minor">
              <a:schemeClr val="tx1"/>
            </a:fontRef>
          </p:style>
        </p:cxnSp>
        <p:cxnSp>
          <p:nvCxnSpPr>
            <p:cNvPr id="31" name="直接连接符 30"/>
            <p:cNvCxnSpPr>
              <a:stCxn id="28" idx="5"/>
              <a:endCxn id="29" idx="0"/>
            </p:cNvCxnSpPr>
            <p:nvPr/>
          </p:nvCxnSpPr>
          <p:spPr>
            <a:xfrm rot="16200000" flipH="1">
              <a:off x="7782749" y="5175269"/>
              <a:ext cx="562837" cy="230904"/>
            </a:xfrm>
            <a:prstGeom prst="line">
              <a:avLst/>
            </a:prstGeom>
          </p:spPr>
          <p:style>
            <a:lnRef idx="2">
              <a:schemeClr val="accent2"/>
            </a:lnRef>
            <a:fillRef idx="0">
              <a:schemeClr val="accent2"/>
            </a:fillRef>
            <a:effectRef idx="1">
              <a:schemeClr val="accent2"/>
            </a:effectRef>
            <a:fontRef idx="minor">
              <a:schemeClr val="tx1"/>
            </a:fontRef>
          </p:style>
        </p:cxnSp>
        <p:sp>
          <p:nvSpPr>
            <p:cNvPr id="32" name="TextBox 31"/>
            <p:cNvSpPr txBox="1"/>
            <p:nvPr/>
          </p:nvSpPr>
          <p:spPr>
            <a:xfrm>
              <a:off x="1643042" y="6172162"/>
              <a:ext cx="642942" cy="519822"/>
            </a:xfrm>
            <a:prstGeom prst="rect">
              <a:avLst/>
            </a:prstGeom>
            <a:noFill/>
          </p:spPr>
          <p:txBody>
            <a:bodyPr wrap="square" rtlCol="0">
              <a:spAutoFit/>
            </a:bodyPr>
            <a:lstStyle/>
            <a:p>
              <a:pPr>
                <a:lnSpc>
                  <a:spcPts val="2100"/>
                </a:lnSpc>
                <a:spcBef>
                  <a:spcPts val="0"/>
                </a:spcBef>
              </a:pPr>
              <a:r>
                <a:rPr lang="en-US" altLang="zh-CN" sz="1600" b="0" smtClean="0">
                  <a:solidFill>
                    <a:srgbClr val="0000FF"/>
                  </a:solidFill>
                  <a:latin typeface="Consolas" pitchFamily="49" charset="0"/>
                  <a:cs typeface="Consolas" pitchFamily="49" charset="0"/>
                </a:rPr>
                <a:t>(a)</a:t>
              </a:r>
              <a:endParaRPr lang="zh-CN" altLang="en-US" sz="1600" b="0">
                <a:solidFill>
                  <a:srgbClr val="0000FF"/>
                </a:solidFill>
                <a:latin typeface="Consolas" pitchFamily="49" charset="0"/>
                <a:cs typeface="Consolas" pitchFamily="49" charset="0"/>
              </a:endParaRPr>
            </a:p>
          </p:txBody>
        </p:sp>
        <p:sp>
          <p:nvSpPr>
            <p:cNvPr id="33" name="TextBox 32"/>
            <p:cNvSpPr txBox="1"/>
            <p:nvPr/>
          </p:nvSpPr>
          <p:spPr>
            <a:xfrm>
              <a:off x="3071802" y="6215082"/>
              <a:ext cx="642942" cy="519822"/>
            </a:xfrm>
            <a:prstGeom prst="rect">
              <a:avLst/>
            </a:prstGeom>
            <a:noFill/>
          </p:spPr>
          <p:txBody>
            <a:bodyPr wrap="square" rtlCol="0">
              <a:spAutoFit/>
            </a:bodyPr>
            <a:lstStyle/>
            <a:p>
              <a:pPr>
                <a:lnSpc>
                  <a:spcPts val="2100"/>
                </a:lnSpc>
                <a:spcBef>
                  <a:spcPts val="0"/>
                </a:spcBef>
              </a:pPr>
              <a:r>
                <a:rPr lang="en-US" altLang="zh-CN" sz="1600" b="0" smtClean="0">
                  <a:solidFill>
                    <a:srgbClr val="0000FF"/>
                  </a:solidFill>
                  <a:latin typeface="Consolas" pitchFamily="49" charset="0"/>
                  <a:cs typeface="Consolas" pitchFamily="49" charset="0"/>
                </a:rPr>
                <a:t>(b)</a:t>
              </a:r>
              <a:endParaRPr lang="zh-CN" altLang="en-US" sz="1600" b="0">
                <a:solidFill>
                  <a:srgbClr val="0000FF"/>
                </a:solidFill>
                <a:latin typeface="Consolas" pitchFamily="49" charset="0"/>
                <a:cs typeface="Consolas" pitchFamily="49" charset="0"/>
              </a:endParaRPr>
            </a:p>
          </p:txBody>
        </p:sp>
        <p:sp>
          <p:nvSpPr>
            <p:cNvPr id="34" name="TextBox 33"/>
            <p:cNvSpPr txBox="1"/>
            <p:nvPr/>
          </p:nvSpPr>
          <p:spPr>
            <a:xfrm>
              <a:off x="4429124" y="6215082"/>
              <a:ext cx="642942" cy="519822"/>
            </a:xfrm>
            <a:prstGeom prst="rect">
              <a:avLst/>
            </a:prstGeom>
            <a:noFill/>
          </p:spPr>
          <p:txBody>
            <a:bodyPr wrap="square" rtlCol="0">
              <a:spAutoFit/>
            </a:bodyPr>
            <a:lstStyle/>
            <a:p>
              <a:pPr>
                <a:lnSpc>
                  <a:spcPts val="2100"/>
                </a:lnSpc>
                <a:spcBef>
                  <a:spcPts val="0"/>
                </a:spcBef>
              </a:pPr>
              <a:r>
                <a:rPr lang="en-US" altLang="zh-CN" sz="1600" b="0" smtClean="0">
                  <a:solidFill>
                    <a:srgbClr val="0000FF"/>
                  </a:solidFill>
                  <a:latin typeface="Consolas" pitchFamily="49" charset="0"/>
                  <a:cs typeface="Consolas" pitchFamily="49" charset="0"/>
                </a:rPr>
                <a:t>(c)</a:t>
              </a:r>
              <a:endParaRPr lang="zh-CN" altLang="en-US" sz="1600" b="0">
                <a:solidFill>
                  <a:srgbClr val="0000FF"/>
                </a:solidFill>
                <a:latin typeface="Consolas" pitchFamily="49" charset="0"/>
                <a:cs typeface="Consolas" pitchFamily="49" charset="0"/>
              </a:endParaRPr>
            </a:p>
          </p:txBody>
        </p:sp>
        <p:sp>
          <p:nvSpPr>
            <p:cNvPr id="35" name="TextBox 34"/>
            <p:cNvSpPr txBox="1"/>
            <p:nvPr/>
          </p:nvSpPr>
          <p:spPr>
            <a:xfrm>
              <a:off x="6143636" y="6215082"/>
              <a:ext cx="642942" cy="519822"/>
            </a:xfrm>
            <a:prstGeom prst="rect">
              <a:avLst/>
            </a:prstGeom>
            <a:noFill/>
          </p:spPr>
          <p:txBody>
            <a:bodyPr wrap="square" rtlCol="0">
              <a:spAutoFit/>
            </a:bodyPr>
            <a:lstStyle/>
            <a:p>
              <a:pPr>
                <a:lnSpc>
                  <a:spcPts val="2100"/>
                </a:lnSpc>
                <a:spcBef>
                  <a:spcPts val="0"/>
                </a:spcBef>
              </a:pPr>
              <a:r>
                <a:rPr lang="en-US" altLang="zh-CN" sz="1600" b="0" smtClean="0">
                  <a:solidFill>
                    <a:srgbClr val="0000FF"/>
                  </a:solidFill>
                  <a:latin typeface="Consolas" pitchFamily="49" charset="0"/>
                  <a:cs typeface="Consolas" pitchFamily="49" charset="0"/>
                </a:rPr>
                <a:t>(d)</a:t>
              </a:r>
              <a:endParaRPr lang="zh-CN" altLang="en-US" sz="1600" b="0">
                <a:solidFill>
                  <a:srgbClr val="0000FF"/>
                </a:solidFill>
                <a:latin typeface="Consolas" pitchFamily="49" charset="0"/>
                <a:cs typeface="Consolas" pitchFamily="49" charset="0"/>
              </a:endParaRPr>
            </a:p>
          </p:txBody>
        </p:sp>
        <p:sp>
          <p:nvSpPr>
            <p:cNvPr id="36" name="TextBox 35"/>
            <p:cNvSpPr txBox="1"/>
            <p:nvPr/>
          </p:nvSpPr>
          <p:spPr>
            <a:xfrm>
              <a:off x="7500958" y="6215082"/>
              <a:ext cx="642942" cy="519822"/>
            </a:xfrm>
            <a:prstGeom prst="rect">
              <a:avLst/>
            </a:prstGeom>
            <a:noFill/>
          </p:spPr>
          <p:txBody>
            <a:bodyPr wrap="square" rtlCol="0">
              <a:spAutoFit/>
            </a:bodyPr>
            <a:lstStyle/>
            <a:p>
              <a:pPr>
                <a:lnSpc>
                  <a:spcPts val="2100"/>
                </a:lnSpc>
                <a:spcBef>
                  <a:spcPts val="0"/>
                </a:spcBef>
              </a:pPr>
              <a:r>
                <a:rPr lang="en-US" altLang="zh-CN" sz="1600" b="0" smtClean="0">
                  <a:solidFill>
                    <a:srgbClr val="0000FF"/>
                  </a:solidFill>
                  <a:latin typeface="Consolas" pitchFamily="49" charset="0"/>
                  <a:cs typeface="Consolas" pitchFamily="49" charset="0"/>
                </a:rPr>
                <a:t>(e)</a:t>
              </a:r>
              <a:endParaRPr lang="zh-CN" altLang="en-US" sz="1600" b="0">
                <a:solidFill>
                  <a:srgbClr val="0000FF"/>
                </a:solidFill>
                <a:latin typeface="Consolas" pitchFamily="49" charset="0"/>
                <a:cs typeface="Consolas" pitchFamily="49" charset="0"/>
              </a:endParaRPr>
            </a:p>
          </p:txBody>
        </p:sp>
      </p:grpSp>
      <p:sp>
        <p:nvSpPr>
          <p:cNvPr id="38" name="灯片编号占位符 37"/>
          <p:cNvSpPr>
            <a:spLocks noGrp="1"/>
          </p:cNvSpPr>
          <p:nvPr>
            <p:ph type="sldNum" sz="quarter" idx="12"/>
          </p:nvPr>
        </p:nvSpPr>
        <p:spPr/>
        <p:txBody>
          <a:bodyPr/>
          <a:lstStyle/>
          <a:p>
            <a:fld id="{67864EE2-EAB3-4814-A7EB-820BD7610F1E}" type="slidenum">
              <a:rPr lang="en-US" altLang="zh-CN" smtClean="0"/>
              <a:pPr/>
              <a:t>19</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500034" y="857232"/>
            <a:ext cx="7572428" cy="810478"/>
          </a:xfrm>
          <a:prstGeom prst="rect">
            <a:avLst/>
          </a:prstGeom>
          <a:noFill/>
          <a:ln w="9525">
            <a:noFill/>
            <a:miter lim="800000"/>
            <a:headEnd/>
            <a:tailEnd/>
          </a:ln>
        </p:spPr>
        <p:txBody>
          <a:bodyPr wrap="square">
            <a:spAutoFit/>
          </a:bodyPr>
          <a:lstStyle/>
          <a:p>
            <a:pPr algn="l">
              <a:lnSpc>
                <a:spcPts val="2800"/>
              </a:lnSpc>
              <a:spcBef>
                <a:spcPct val="50000"/>
              </a:spcBef>
            </a:pPr>
            <a:r>
              <a:rPr lang="zh-CN" altLang="en-US" sz="2000" smtClean="0">
                <a:solidFill>
                  <a:srgbClr val="0000FF"/>
                </a:solidFill>
                <a:latin typeface="Consolas" pitchFamily="49" charset="0"/>
                <a:ea typeface="楷体" pitchFamily="49" charset="-122"/>
                <a:cs typeface="Consolas" pitchFamily="49" charset="0"/>
              </a:rPr>
              <a:t>   实际上，对于含</a:t>
            </a:r>
            <a:r>
              <a:rPr lang="en-US" altLang="zh-CN" sz="2000" smtClean="0">
                <a:solidFill>
                  <a:srgbClr val="0000FF"/>
                </a:solidFill>
                <a:latin typeface="Consolas" pitchFamily="49" charset="0"/>
                <a:ea typeface="楷体" pitchFamily="49" charset="-122"/>
                <a:cs typeface="Consolas" pitchFamily="49" charset="0"/>
              </a:rPr>
              <a:t>2</a:t>
            </a:r>
            <a:r>
              <a:rPr lang="zh-CN" altLang="en-US" sz="2000" smtClean="0">
                <a:solidFill>
                  <a:srgbClr val="0000FF"/>
                </a:solidFill>
                <a:latin typeface="Consolas" pitchFamily="49" charset="0"/>
                <a:ea typeface="楷体" pitchFamily="49" charset="-122"/>
                <a:cs typeface="Consolas" pitchFamily="49" charset="0"/>
              </a:rPr>
              <a:t>个或者以上结点的二叉树，在先</a:t>
            </a:r>
            <a:r>
              <a:rPr lang="zh-CN" altLang="en-US" sz="2000" dirty="0">
                <a:solidFill>
                  <a:srgbClr val="0000FF"/>
                </a:solidFill>
                <a:latin typeface="Consolas" pitchFamily="49" charset="0"/>
                <a:ea typeface="楷体" pitchFamily="49" charset="-122"/>
                <a:cs typeface="Consolas" pitchFamily="49" charset="0"/>
              </a:rPr>
              <a:t>序、中序和后序遍历序列中：</a:t>
            </a:r>
          </a:p>
        </p:txBody>
      </p:sp>
      <p:sp>
        <p:nvSpPr>
          <p:cNvPr id="5" name="Text Box 3"/>
          <p:cNvSpPr txBox="1">
            <a:spLocks noChangeArrowheads="1"/>
          </p:cNvSpPr>
          <p:nvPr/>
        </p:nvSpPr>
        <p:spPr bwMode="auto">
          <a:xfrm>
            <a:off x="714348" y="1857364"/>
            <a:ext cx="7572428" cy="1675807"/>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lIns="180000" tIns="144000" bIns="144000">
            <a:spAutoFit/>
          </a:bodyPr>
          <a:lstStyle/>
          <a:p>
            <a:pPr marL="457200" indent="-457200" algn="l">
              <a:lnSpc>
                <a:spcPct val="100000"/>
              </a:lnSpc>
              <a:spcBef>
                <a:spcPts val="1800"/>
              </a:spcBef>
              <a:buBlip>
                <a:blip r:embed="rId2"/>
              </a:buBlip>
            </a:pPr>
            <a:r>
              <a:rPr lang="zh-CN" altLang="en-US" sz="2000" smtClean="0">
                <a:solidFill>
                  <a:schemeClr val="bg1"/>
                </a:solidFill>
                <a:latin typeface="Consolas" pitchFamily="49" charset="0"/>
                <a:ea typeface="仿宋" pitchFamily="49" charset="-122"/>
                <a:cs typeface="Consolas" pitchFamily="49" charset="0"/>
              </a:rPr>
              <a:t>由先</a:t>
            </a:r>
            <a:r>
              <a:rPr lang="zh-CN" altLang="en-US" sz="2000" dirty="0">
                <a:solidFill>
                  <a:schemeClr val="bg1"/>
                </a:solidFill>
                <a:latin typeface="Consolas" pitchFamily="49" charset="0"/>
                <a:ea typeface="仿宋" pitchFamily="49" charset="-122"/>
                <a:cs typeface="Consolas" pitchFamily="49" charset="0"/>
              </a:rPr>
              <a:t>序遍历序列和中序遍历序列能够唯一确定一棵</a:t>
            </a:r>
            <a:r>
              <a:rPr lang="zh-CN" altLang="en-US" sz="2000">
                <a:solidFill>
                  <a:schemeClr val="bg1"/>
                </a:solidFill>
                <a:latin typeface="Consolas" pitchFamily="49" charset="0"/>
                <a:ea typeface="仿宋" pitchFamily="49" charset="-122"/>
                <a:cs typeface="Consolas" pitchFamily="49" charset="0"/>
              </a:rPr>
              <a:t>二叉树</a:t>
            </a:r>
            <a:r>
              <a:rPr lang="zh-CN" altLang="en-US" sz="2000" smtClean="0">
                <a:solidFill>
                  <a:schemeClr val="bg1"/>
                </a:solidFill>
                <a:latin typeface="Consolas" pitchFamily="49" charset="0"/>
                <a:ea typeface="仿宋" pitchFamily="49" charset="-122"/>
                <a:cs typeface="Consolas" pitchFamily="49" charset="0"/>
              </a:rPr>
              <a:t>。</a:t>
            </a:r>
            <a:endParaRPr lang="en-US" altLang="zh-CN" sz="2000" smtClean="0">
              <a:solidFill>
                <a:schemeClr val="bg1"/>
              </a:solidFill>
              <a:latin typeface="Consolas" pitchFamily="49" charset="0"/>
              <a:ea typeface="仿宋" pitchFamily="49" charset="-122"/>
              <a:cs typeface="Consolas" pitchFamily="49" charset="0"/>
            </a:endParaRPr>
          </a:p>
          <a:p>
            <a:pPr marL="457200" indent="-457200" algn="l">
              <a:lnSpc>
                <a:spcPct val="100000"/>
              </a:lnSpc>
              <a:spcBef>
                <a:spcPts val="1800"/>
              </a:spcBef>
              <a:buBlip>
                <a:blip r:embed="rId2"/>
              </a:buBlip>
            </a:pPr>
            <a:r>
              <a:rPr lang="zh-CN" altLang="en-US" sz="2000" smtClean="0">
                <a:solidFill>
                  <a:schemeClr val="bg1"/>
                </a:solidFill>
                <a:latin typeface="Consolas" pitchFamily="49" charset="0"/>
                <a:ea typeface="仿宋" pitchFamily="49" charset="-122"/>
                <a:cs typeface="Consolas" pitchFamily="49" charset="0"/>
              </a:rPr>
              <a:t>由</a:t>
            </a:r>
            <a:r>
              <a:rPr lang="zh-CN" altLang="en-US" sz="2000" dirty="0">
                <a:solidFill>
                  <a:schemeClr val="bg1"/>
                </a:solidFill>
                <a:latin typeface="Consolas" pitchFamily="49" charset="0"/>
                <a:ea typeface="仿宋" pitchFamily="49" charset="-122"/>
                <a:cs typeface="Consolas" pitchFamily="49" charset="0"/>
              </a:rPr>
              <a:t>后序遍历序列和中序遍历序列能够唯一确定一棵二叉树。</a:t>
            </a:r>
          </a:p>
          <a:p>
            <a:pPr marL="457200" indent="-457200" algn="l">
              <a:lnSpc>
                <a:spcPct val="100000"/>
              </a:lnSpc>
              <a:spcBef>
                <a:spcPts val="1800"/>
              </a:spcBef>
              <a:buBlip>
                <a:blip r:embed="rId2"/>
              </a:buBlip>
            </a:pPr>
            <a:r>
              <a:rPr lang="zh-CN" altLang="en-US" sz="2000" smtClean="0">
                <a:solidFill>
                  <a:schemeClr val="bg1"/>
                </a:solidFill>
                <a:latin typeface="Consolas" pitchFamily="49" charset="0"/>
                <a:ea typeface="仿宋" pitchFamily="49" charset="-122"/>
                <a:cs typeface="Consolas" pitchFamily="49" charset="0"/>
              </a:rPr>
              <a:t>由</a:t>
            </a:r>
            <a:r>
              <a:rPr lang="zh-CN" altLang="en-US" sz="2000" dirty="0">
                <a:solidFill>
                  <a:schemeClr val="bg1"/>
                </a:solidFill>
                <a:latin typeface="Consolas" pitchFamily="49" charset="0"/>
                <a:ea typeface="仿宋" pitchFamily="49" charset="-122"/>
                <a:cs typeface="Consolas" pitchFamily="49" charset="0"/>
              </a:rPr>
              <a:t>先序遍历序列和后序遍历序列不能唯一确定一棵二叉树。</a:t>
            </a:r>
          </a:p>
        </p:txBody>
      </p:sp>
      <p:sp>
        <p:nvSpPr>
          <p:cNvPr id="7" name="灯片编号占位符 6"/>
          <p:cNvSpPr>
            <a:spLocks noGrp="1"/>
          </p:cNvSpPr>
          <p:nvPr>
            <p:ph type="sldNum" sz="quarter" idx="12"/>
          </p:nvPr>
        </p:nvSpPr>
        <p:spPr/>
        <p:txBody>
          <a:bodyPr/>
          <a:lstStyle/>
          <a:p>
            <a:fld id="{67864EE2-EAB3-4814-A7EB-820BD7610F1E}" type="slidenum">
              <a:rPr lang="en-US" altLang="zh-CN" smtClean="0"/>
              <a:pPr/>
              <a:t>20</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14282" y="367002"/>
            <a:ext cx="8643998" cy="810478"/>
          </a:xfrm>
          <a:prstGeom prst="rect">
            <a:avLst/>
          </a:prstGeom>
          <a:noFill/>
          <a:ln w="9525">
            <a:noFill/>
            <a:miter lim="800000"/>
            <a:headEnd/>
            <a:tailEnd/>
          </a:ln>
        </p:spPr>
        <p:txBody>
          <a:bodyPr wrap="square">
            <a:spAutoFit/>
          </a:bodyPr>
          <a:lstStyle/>
          <a:p>
            <a:pPr algn="just">
              <a:lnSpc>
                <a:spcPts val="2800"/>
              </a:lnSpc>
              <a:spcBef>
                <a:spcPts val="0"/>
              </a:spcBef>
            </a:pPr>
            <a:r>
              <a:rPr kumimoji="1" lang="zh-CN" altLang="en-US" sz="2000" dirty="0">
                <a:solidFill>
                  <a:srgbClr val="0000FF"/>
                </a:solidFill>
                <a:latin typeface="Consolas" pitchFamily="49" charset="0"/>
                <a:ea typeface="楷体" pitchFamily="49" charset="-122"/>
                <a:cs typeface="Consolas" pitchFamily="49" charset="0"/>
              </a:rPr>
              <a:t>　</a:t>
            </a:r>
            <a:r>
              <a:rPr kumimoji="1" lang="zh-CN" altLang="en-US" sz="2000">
                <a:solidFill>
                  <a:srgbClr val="0000FF"/>
                </a:solidFill>
                <a:latin typeface="Consolas" pitchFamily="49" charset="0"/>
                <a:ea typeface="楷体" pitchFamily="49" charset="-122"/>
                <a:cs typeface="Consolas" pitchFamily="49" charset="0"/>
              </a:rPr>
              <a:t>　</a:t>
            </a:r>
            <a:r>
              <a:rPr kumimoji="1" lang="zh-CN" altLang="en-US" sz="2000" smtClean="0">
                <a:solidFill>
                  <a:srgbClr val="FF0000"/>
                </a:solidFill>
                <a:latin typeface="Consolas" pitchFamily="49" charset="0"/>
                <a:ea typeface="楷体" pitchFamily="49" charset="-122"/>
                <a:cs typeface="Consolas" pitchFamily="49" charset="0"/>
              </a:rPr>
              <a:t>定理</a:t>
            </a:r>
            <a:r>
              <a:rPr kumimoji="1" lang="en-US" altLang="zh-CN" sz="2000" smtClean="0">
                <a:solidFill>
                  <a:srgbClr val="FF0000"/>
                </a:solidFill>
                <a:latin typeface="Consolas" pitchFamily="49" charset="0"/>
                <a:ea typeface="楷体" pitchFamily="49" charset="-122"/>
                <a:cs typeface="Consolas" pitchFamily="49" charset="0"/>
              </a:rPr>
              <a:t>7.1 </a:t>
            </a:r>
            <a:r>
              <a:rPr kumimoji="1" lang="zh-CN" altLang="en-US" sz="2000" smtClean="0">
                <a:solidFill>
                  <a:srgbClr val="0000FF"/>
                </a:solidFill>
                <a:latin typeface="Consolas" pitchFamily="49" charset="0"/>
                <a:ea typeface="楷体" pitchFamily="49" charset="-122"/>
                <a:cs typeface="Consolas" pitchFamily="49" charset="0"/>
              </a:rPr>
              <a:t>任</a:t>
            </a:r>
            <a:r>
              <a:rPr kumimoji="1" lang="zh-CN" altLang="en-US" sz="2000" dirty="0">
                <a:solidFill>
                  <a:srgbClr val="0000FF"/>
                </a:solidFill>
                <a:latin typeface="Consolas" pitchFamily="49" charset="0"/>
                <a:ea typeface="楷体" pitchFamily="49" charset="-122"/>
                <a:cs typeface="Consolas" pitchFamily="49" charset="0"/>
              </a:rPr>
              <a:t>何</a:t>
            </a:r>
            <a:r>
              <a:rPr kumimoji="1" lang="en-US" altLang="zh-CN" sz="2000" i="1" dirty="0">
                <a:solidFill>
                  <a:srgbClr val="0000FF"/>
                </a:solidFill>
                <a:latin typeface="Consolas" pitchFamily="49" charset="0"/>
                <a:ea typeface="楷体" pitchFamily="49" charset="-122"/>
                <a:cs typeface="Consolas" pitchFamily="49" charset="0"/>
              </a:rPr>
              <a:t>n</a:t>
            </a:r>
            <a:r>
              <a:rPr kumimoji="1" lang="zh-CN" altLang="en-US" sz="2000" dirty="0">
                <a:solidFill>
                  <a:srgbClr val="0000FF"/>
                </a:solidFill>
                <a:latin typeface="Consolas" pitchFamily="49" charset="0"/>
                <a:ea typeface="楷体" pitchFamily="49" charset="-122"/>
                <a:cs typeface="Consolas" pitchFamily="49" charset="0"/>
              </a:rPr>
              <a:t>（</a:t>
            </a:r>
            <a:r>
              <a:rPr kumimoji="1" lang="en-US" altLang="zh-CN" sz="2000" i="1" dirty="0" err="1">
                <a:solidFill>
                  <a:srgbClr val="0000FF"/>
                </a:solidFill>
                <a:latin typeface="Consolas" pitchFamily="49" charset="0"/>
                <a:ea typeface="楷体" pitchFamily="49" charset="-122"/>
                <a:cs typeface="Consolas" pitchFamily="49" charset="0"/>
              </a:rPr>
              <a:t>n</a:t>
            </a:r>
            <a:r>
              <a:rPr kumimoji="1" lang="en-US" altLang="zh-CN" sz="2000" dirty="0" err="1">
                <a:solidFill>
                  <a:srgbClr val="0000FF"/>
                </a:solidFill>
                <a:latin typeface="+mn-ea"/>
                <a:ea typeface="+mn-ea"/>
                <a:cs typeface="Consolas" pitchFamily="49" charset="0"/>
              </a:rPr>
              <a:t>≥</a:t>
            </a:r>
            <a:r>
              <a:rPr kumimoji="1" lang="en-US" altLang="zh-CN" sz="2000" dirty="0" err="1">
                <a:solidFill>
                  <a:srgbClr val="0000FF"/>
                </a:solidFill>
                <a:latin typeface="Consolas" pitchFamily="49" charset="0"/>
                <a:ea typeface="楷体" pitchFamily="49" charset="-122"/>
                <a:cs typeface="Consolas" pitchFamily="49" charset="0"/>
              </a:rPr>
              <a:t>0</a:t>
            </a:r>
            <a:r>
              <a:rPr kumimoji="1" lang="zh-CN" altLang="en-US" sz="2000" dirty="0">
                <a:solidFill>
                  <a:srgbClr val="0000FF"/>
                </a:solidFill>
                <a:latin typeface="Consolas" pitchFamily="49" charset="0"/>
                <a:ea typeface="楷体" pitchFamily="49" charset="-122"/>
                <a:cs typeface="Consolas" pitchFamily="49" charset="0"/>
              </a:rPr>
              <a:t>）个</a:t>
            </a:r>
            <a:r>
              <a:rPr kumimoji="1" lang="zh-CN" altLang="en-US" sz="2000" dirty="0" smtClean="0">
                <a:solidFill>
                  <a:srgbClr val="0000FF"/>
                </a:solidFill>
                <a:latin typeface="Consolas" pitchFamily="49" charset="0"/>
                <a:ea typeface="楷体" pitchFamily="49" charset="-122"/>
                <a:cs typeface="Consolas" pitchFamily="49" charset="0"/>
              </a:rPr>
              <a:t>不同结点的</a:t>
            </a:r>
            <a:r>
              <a:rPr kumimoji="1" lang="zh-CN" altLang="en-US" sz="2000" dirty="0">
                <a:solidFill>
                  <a:srgbClr val="0000FF"/>
                </a:solidFill>
                <a:latin typeface="Consolas" pitchFamily="49" charset="0"/>
                <a:ea typeface="楷体" pitchFamily="49" charset="-122"/>
                <a:cs typeface="Consolas" pitchFamily="49" charset="0"/>
              </a:rPr>
              <a:t>二又树，都可由它的中</a:t>
            </a:r>
            <a:r>
              <a:rPr kumimoji="1" lang="zh-CN" altLang="en-US" sz="2000">
                <a:solidFill>
                  <a:srgbClr val="0000FF"/>
                </a:solidFill>
                <a:latin typeface="Consolas" pitchFamily="49" charset="0"/>
                <a:ea typeface="楷体" pitchFamily="49" charset="-122"/>
                <a:cs typeface="Consolas" pitchFamily="49" charset="0"/>
              </a:rPr>
              <a:t>序</a:t>
            </a:r>
            <a:r>
              <a:rPr kumimoji="1" lang="zh-CN" altLang="en-US" sz="2000" smtClean="0">
                <a:solidFill>
                  <a:srgbClr val="0000FF"/>
                </a:solidFill>
                <a:latin typeface="Consolas" pitchFamily="49" charset="0"/>
                <a:ea typeface="楷体" pitchFamily="49" charset="-122"/>
                <a:cs typeface="Consolas" pitchFamily="49" charset="0"/>
              </a:rPr>
              <a:t>序列</a:t>
            </a:r>
            <a:r>
              <a:rPr kumimoji="1" lang="en-US" altLang="zh-CN" sz="2000" i="1" smtClean="0">
                <a:solidFill>
                  <a:srgbClr val="0000FF"/>
                </a:solidFill>
                <a:latin typeface="Consolas" pitchFamily="49" charset="0"/>
                <a:ea typeface="楷体" pitchFamily="49" charset="-122"/>
                <a:cs typeface="Consolas" pitchFamily="49" charset="0"/>
              </a:rPr>
              <a:t>b</a:t>
            </a:r>
            <a:r>
              <a:rPr kumimoji="1" lang="zh-CN" altLang="en-US" sz="2000" smtClean="0">
                <a:solidFill>
                  <a:srgbClr val="0000FF"/>
                </a:solidFill>
                <a:latin typeface="Consolas" pitchFamily="49" charset="0"/>
                <a:ea typeface="楷体" pitchFamily="49" charset="-122"/>
                <a:cs typeface="Consolas" pitchFamily="49" charset="0"/>
              </a:rPr>
              <a:t>和</a:t>
            </a:r>
            <a:r>
              <a:rPr kumimoji="1" lang="zh-CN" altLang="en-US" sz="2000" dirty="0">
                <a:solidFill>
                  <a:srgbClr val="0000FF"/>
                </a:solidFill>
                <a:latin typeface="Consolas" pitchFamily="49" charset="0"/>
                <a:ea typeface="楷体" pitchFamily="49" charset="-122"/>
                <a:cs typeface="Consolas" pitchFamily="49" charset="0"/>
              </a:rPr>
              <a:t>先</a:t>
            </a:r>
            <a:r>
              <a:rPr kumimoji="1" lang="zh-CN" altLang="en-US" sz="2000">
                <a:solidFill>
                  <a:srgbClr val="0000FF"/>
                </a:solidFill>
                <a:latin typeface="Consolas" pitchFamily="49" charset="0"/>
                <a:ea typeface="楷体" pitchFamily="49" charset="-122"/>
                <a:cs typeface="Consolas" pitchFamily="49" charset="0"/>
              </a:rPr>
              <a:t>序</a:t>
            </a:r>
            <a:r>
              <a:rPr kumimoji="1" lang="zh-CN" altLang="en-US" sz="2000" smtClean="0">
                <a:solidFill>
                  <a:srgbClr val="0000FF"/>
                </a:solidFill>
                <a:latin typeface="Consolas" pitchFamily="49" charset="0"/>
                <a:ea typeface="楷体" pitchFamily="49" charset="-122"/>
                <a:cs typeface="Consolas" pitchFamily="49" charset="0"/>
              </a:rPr>
              <a:t>序列</a:t>
            </a:r>
            <a:r>
              <a:rPr kumimoji="1" lang="en-US" altLang="zh-CN" sz="2000" i="1" smtClean="0">
                <a:solidFill>
                  <a:srgbClr val="0000FF"/>
                </a:solidFill>
                <a:latin typeface="Consolas" pitchFamily="49" charset="0"/>
                <a:ea typeface="楷体" pitchFamily="49" charset="-122"/>
                <a:cs typeface="Consolas" pitchFamily="49" charset="0"/>
              </a:rPr>
              <a:t>a</a:t>
            </a:r>
            <a:r>
              <a:rPr kumimoji="1" lang="zh-CN" altLang="en-US" sz="2000" smtClean="0">
                <a:solidFill>
                  <a:srgbClr val="0000FF"/>
                </a:solidFill>
                <a:latin typeface="Consolas" pitchFamily="49" charset="0"/>
                <a:ea typeface="楷体" pitchFamily="49" charset="-122"/>
                <a:cs typeface="Consolas" pitchFamily="49" charset="0"/>
              </a:rPr>
              <a:t>唯一</a:t>
            </a:r>
            <a:r>
              <a:rPr kumimoji="1" lang="zh-CN" altLang="en-US" sz="2000" dirty="0">
                <a:solidFill>
                  <a:srgbClr val="0000FF"/>
                </a:solidFill>
                <a:latin typeface="Consolas" pitchFamily="49" charset="0"/>
                <a:ea typeface="楷体" pitchFamily="49" charset="-122"/>
                <a:cs typeface="Consolas" pitchFamily="49" charset="0"/>
              </a:rPr>
              <a:t>地</a:t>
            </a:r>
            <a:r>
              <a:rPr kumimoji="1" lang="zh-CN" altLang="en-US" sz="2000">
                <a:solidFill>
                  <a:srgbClr val="0000FF"/>
                </a:solidFill>
                <a:latin typeface="Consolas" pitchFamily="49" charset="0"/>
                <a:ea typeface="楷体" pitchFamily="49" charset="-122"/>
                <a:cs typeface="Consolas" pitchFamily="49" charset="0"/>
              </a:rPr>
              <a:t>确定</a:t>
            </a:r>
            <a:r>
              <a:rPr kumimoji="1" lang="zh-CN" altLang="en-US" sz="2000" smtClean="0">
                <a:solidFill>
                  <a:srgbClr val="0000FF"/>
                </a:solidFill>
                <a:latin typeface="Consolas" pitchFamily="49" charset="0"/>
                <a:ea typeface="楷体" pitchFamily="49" charset="-122"/>
                <a:cs typeface="Consolas" pitchFamily="49" charset="0"/>
              </a:rPr>
              <a:t>。</a:t>
            </a:r>
            <a:endParaRPr kumimoji="1" lang="zh-CN" altLang="en-US" sz="2000" dirty="0">
              <a:solidFill>
                <a:srgbClr val="0000FF"/>
              </a:solidFill>
              <a:latin typeface="Consolas" pitchFamily="49" charset="0"/>
              <a:ea typeface="楷体" pitchFamily="49" charset="-122"/>
              <a:cs typeface="Consolas" pitchFamily="49" charset="0"/>
            </a:endParaRPr>
          </a:p>
        </p:txBody>
      </p:sp>
      <p:sp>
        <p:nvSpPr>
          <p:cNvPr id="22" name="TextBox 21"/>
          <p:cNvSpPr txBox="1"/>
          <p:nvPr/>
        </p:nvSpPr>
        <p:spPr>
          <a:xfrm>
            <a:off x="500034" y="1957320"/>
            <a:ext cx="3929090" cy="4001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buBlip>
                <a:blip r:embed="rId2"/>
              </a:buBlip>
            </a:pPr>
            <a:r>
              <a:rPr lang="zh-CN" altLang="en-US" sz="2000" smtClean="0">
                <a:solidFill>
                  <a:srgbClr val="0000FF"/>
                </a:solidFill>
                <a:latin typeface="Consolas" pitchFamily="49" charset="0"/>
                <a:ea typeface="仿宋" pitchFamily="49" charset="-122"/>
                <a:cs typeface="Consolas" pitchFamily="49" charset="0"/>
              </a:rPr>
              <a:t>由</a:t>
            </a:r>
            <a:r>
              <a:rPr lang="en-US" altLang="zh-CN" sz="2000" i="1" smtClean="0">
                <a:solidFill>
                  <a:srgbClr val="0000FF"/>
                </a:solidFill>
                <a:latin typeface="Consolas" pitchFamily="49" charset="0"/>
                <a:ea typeface="仿宋" pitchFamily="49" charset="-122"/>
                <a:cs typeface="Consolas" pitchFamily="49" charset="0"/>
              </a:rPr>
              <a:t>a</a:t>
            </a:r>
            <a:r>
              <a:rPr lang="en-US" altLang="zh-CN" sz="2000" baseline="-25000" smtClean="0">
                <a:solidFill>
                  <a:srgbClr val="0000FF"/>
                </a:solidFill>
                <a:latin typeface="Consolas" pitchFamily="49" charset="0"/>
                <a:ea typeface="仿宋" pitchFamily="49" charset="-122"/>
                <a:cs typeface="Consolas" pitchFamily="49" charset="0"/>
              </a:rPr>
              <a:t>0</a:t>
            </a:r>
            <a:r>
              <a:rPr lang="zh-CN" altLang="en-US" sz="2000" smtClean="0">
                <a:solidFill>
                  <a:srgbClr val="0000FF"/>
                </a:solidFill>
                <a:latin typeface="Consolas" pitchFamily="49" charset="0"/>
                <a:ea typeface="仿宋" pitchFamily="49" charset="-122"/>
                <a:cs typeface="Consolas" pitchFamily="49" charset="0"/>
              </a:rPr>
              <a:t>（根结点）找到</a:t>
            </a:r>
            <a:r>
              <a:rPr lang="en-US" altLang="zh-CN" sz="2000" i="1" smtClean="0">
                <a:solidFill>
                  <a:srgbClr val="0000FF"/>
                </a:solidFill>
                <a:latin typeface="Consolas" pitchFamily="49" charset="0"/>
                <a:ea typeface="仿宋" pitchFamily="49" charset="-122"/>
                <a:cs typeface="Consolas" pitchFamily="49" charset="0"/>
              </a:rPr>
              <a:t>b</a:t>
            </a:r>
            <a:r>
              <a:rPr lang="en-US" altLang="zh-CN" sz="2000" i="1" baseline="-25000" smtClean="0">
                <a:solidFill>
                  <a:srgbClr val="0000FF"/>
                </a:solidFill>
                <a:latin typeface="Consolas" pitchFamily="49" charset="0"/>
                <a:ea typeface="仿宋" pitchFamily="49" charset="-122"/>
                <a:cs typeface="Consolas" pitchFamily="49" charset="0"/>
              </a:rPr>
              <a:t>k</a:t>
            </a:r>
            <a:r>
              <a:rPr lang="zh-CN" altLang="en-US" sz="2000" smtClean="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sp>
        <p:nvSpPr>
          <p:cNvPr id="23" name="TextBox 22"/>
          <p:cNvSpPr txBox="1"/>
          <p:nvPr/>
        </p:nvSpPr>
        <p:spPr>
          <a:xfrm>
            <a:off x="428596" y="4914249"/>
            <a:ext cx="8286808" cy="137227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600"/>
              </a:lnSpc>
              <a:spcBef>
                <a:spcPts val="600"/>
              </a:spcBef>
              <a:buBlip>
                <a:blip r:embed="rId2"/>
              </a:buBlip>
            </a:pPr>
            <a:r>
              <a:rPr lang="zh-CN" altLang="en-US" sz="2000" smtClean="0">
                <a:solidFill>
                  <a:srgbClr val="0000FF"/>
                </a:solidFill>
                <a:latin typeface="Consolas" pitchFamily="49" charset="0"/>
                <a:ea typeface="仿宋" pitchFamily="49" charset="-122"/>
                <a:cs typeface="Consolas" pitchFamily="49" charset="0"/>
              </a:rPr>
              <a:t>若</a:t>
            </a:r>
            <a:r>
              <a:rPr lang="en-US" altLang="zh-CN" sz="2000" i="1" smtClean="0">
                <a:solidFill>
                  <a:srgbClr val="0000FF"/>
                </a:solidFill>
                <a:latin typeface="Consolas" pitchFamily="49" charset="0"/>
                <a:ea typeface="仿宋" pitchFamily="49" charset="-122"/>
                <a:cs typeface="Consolas" pitchFamily="49" charset="0"/>
              </a:rPr>
              <a:t>b</a:t>
            </a:r>
            <a:r>
              <a:rPr lang="en-US" altLang="zh-CN" sz="2000" i="1" baseline="-25000" smtClean="0">
                <a:solidFill>
                  <a:srgbClr val="0000FF"/>
                </a:solidFill>
                <a:latin typeface="Consolas" pitchFamily="49" charset="0"/>
                <a:ea typeface="仿宋" pitchFamily="49" charset="-122"/>
                <a:cs typeface="Consolas" pitchFamily="49" charset="0"/>
              </a:rPr>
              <a:t>k</a:t>
            </a:r>
            <a:r>
              <a:rPr lang="zh-CN" altLang="en-US" sz="2000" smtClean="0">
                <a:solidFill>
                  <a:srgbClr val="0000FF"/>
                </a:solidFill>
                <a:latin typeface="Consolas" pitchFamily="49" charset="0"/>
                <a:ea typeface="仿宋" pitchFamily="49" charset="-122"/>
                <a:cs typeface="Consolas" pitchFamily="49" charset="0"/>
              </a:rPr>
              <a:t>前面有</a:t>
            </a:r>
            <a:r>
              <a:rPr lang="en-US" altLang="zh-CN" sz="2000" i="1" smtClean="0">
                <a:solidFill>
                  <a:srgbClr val="0000FF"/>
                </a:solidFill>
                <a:latin typeface="Consolas" pitchFamily="49" charset="0"/>
                <a:ea typeface="仿宋" pitchFamily="49" charset="-122"/>
                <a:cs typeface="Consolas" pitchFamily="49" charset="0"/>
              </a:rPr>
              <a:t>k</a:t>
            </a:r>
            <a:r>
              <a:rPr lang="zh-CN" altLang="en-US" sz="2000" smtClean="0">
                <a:solidFill>
                  <a:srgbClr val="0000FF"/>
                </a:solidFill>
                <a:latin typeface="Consolas" pitchFamily="49" charset="0"/>
                <a:ea typeface="仿宋" pitchFamily="49" charset="-122"/>
                <a:cs typeface="Consolas" pitchFamily="49" charset="0"/>
              </a:rPr>
              <a:t>个结点，则左子树有</a:t>
            </a:r>
            <a:r>
              <a:rPr lang="en-US" altLang="zh-CN" sz="2000" i="1" smtClean="0">
                <a:solidFill>
                  <a:srgbClr val="0000FF"/>
                </a:solidFill>
                <a:latin typeface="Consolas" pitchFamily="49" charset="0"/>
                <a:ea typeface="仿宋" pitchFamily="49" charset="-122"/>
                <a:cs typeface="Consolas" pitchFamily="49" charset="0"/>
              </a:rPr>
              <a:t>k</a:t>
            </a:r>
            <a:r>
              <a:rPr lang="zh-CN" altLang="en-US" sz="2000" smtClean="0">
                <a:solidFill>
                  <a:srgbClr val="0000FF"/>
                </a:solidFill>
                <a:latin typeface="Consolas" pitchFamily="49" charset="0"/>
                <a:ea typeface="仿宋" pitchFamily="49" charset="-122"/>
                <a:cs typeface="Consolas" pitchFamily="49" charset="0"/>
              </a:rPr>
              <a:t>个结点，右子树有</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k</a:t>
            </a:r>
            <a:r>
              <a:rPr lang="en-US" altLang="zh-CN"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个结点。</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600"/>
              </a:lnSpc>
              <a:spcBef>
                <a:spcPts val="600"/>
              </a:spcBef>
              <a:buBlip>
                <a:blip r:embed="rId2"/>
              </a:buBlip>
            </a:pPr>
            <a:r>
              <a:rPr lang="zh-CN" altLang="en-US" sz="2000" smtClean="0">
                <a:solidFill>
                  <a:srgbClr val="0000FF"/>
                </a:solidFill>
                <a:latin typeface="Consolas" pitchFamily="49" charset="0"/>
                <a:ea typeface="仿宋" pitchFamily="49" charset="-122"/>
                <a:cs typeface="Consolas" pitchFamily="49" charset="0"/>
              </a:rPr>
              <a:t>可以求出左右子树的</a:t>
            </a:r>
            <a:r>
              <a:rPr kumimoji="1" lang="zh-CN" altLang="en-US" sz="2000" smtClean="0">
                <a:solidFill>
                  <a:srgbClr val="FF00FF"/>
                </a:solidFill>
                <a:latin typeface="Consolas" pitchFamily="49" charset="0"/>
                <a:ea typeface="仿宋" pitchFamily="49" charset="-122"/>
                <a:cs typeface="Consolas" pitchFamily="49" charset="0"/>
              </a:rPr>
              <a:t>中序序列</a:t>
            </a:r>
            <a:r>
              <a:rPr kumimoji="1" lang="zh-CN" altLang="en-US" sz="2000" smtClean="0">
                <a:solidFill>
                  <a:srgbClr val="0000FF"/>
                </a:solidFill>
                <a:latin typeface="Consolas" pitchFamily="49" charset="0"/>
                <a:ea typeface="仿宋" pitchFamily="49" charset="-122"/>
                <a:cs typeface="Consolas" pitchFamily="49" charset="0"/>
              </a:rPr>
              <a:t>和</a:t>
            </a:r>
            <a:r>
              <a:rPr kumimoji="1" lang="zh-CN" altLang="en-US" sz="2000" smtClean="0">
                <a:solidFill>
                  <a:srgbClr val="FF00FF"/>
                </a:solidFill>
                <a:latin typeface="Consolas" pitchFamily="49" charset="0"/>
                <a:ea typeface="仿宋" pitchFamily="49" charset="-122"/>
                <a:cs typeface="Consolas" pitchFamily="49" charset="0"/>
              </a:rPr>
              <a:t>先序序列</a:t>
            </a:r>
            <a:r>
              <a:rPr kumimoji="1"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600"/>
              </a:lnSpc>
              <a:spcBef>
                <a:spcPts val="600"/>
              </a:spcBef>
              <a:buBlip>
                <a:blip r:embed="rId2"/>
              </a:buBlip>
            </a:pPr>
            <a:r>
              <a:rPr lang="zh-CN" altLang="en-US" sz="2000" smtClean="0">
                <a:solidFill>
                  <a:srgbClr val="0000FF"/>
                </a:solidFill>
                <a:latin typeface="Consolas" pitchFamily="49" charset="0"/>
                <a:ea typeface="仿宋" pitchFamily="49" charset="-122"/>
                <a:cs typeface="Consolas" pitchFamily="49" charset="0"/>
              </a:rPr>
              <a:t>这样根结点是确定的，左右子树也是确定的，则该二叉树是确定的。</a:t>
            </a:r>
            <a:endParaRPr lang="zh-CN" altLang="en-US" sz="2000">
              <a:solidFill>
                <a:srgbClr val="0000FF"/>
              </a:solidFill>
              <a:latin typeface="Consolas" pitchFamily="49" charset="0"/>
              <a:ea typeface="仿宋" pitchFamily="49" charset="-122"/>
              <a:cs typeface="Consolas" pitchFamily="49" charset="0"/>
            </a:endParaRPr>
          </a:p>
        </p:txBody>
      </p:sp>
      <p:grpSp>
        <p:nvGrpSpPr>
          <p:cNvPr id="24" name="组合 23"/>
          <p:cNvGrpSpPr/>
          <p:nvPr/>
        </p:nvGrpSpPr>
        <p:grpSpPr>
          <a:xfrm>
            <a:off x="500034" y="2629610"/>
            <a:ext cx="7786742" cy="2085274"/>
            <a:chOff x="642910" y="2350145"/>
            <a:chExt cx="7492996" cy="1942398"/>
          </a:xfrm>
        </p:grpSpPr>
        <p:sp>
          <p:nvSpPr>
            <p:cNvPr id="6" name="Text Box 6"/>
            <p:cNvSpPr txBox="1">
              <a:spLocks noChangeArrowheads="1"/>
            </p:cNvSpPr>
            <p:nvPr/>
          </p:nvSpPr>
          <p:spPr bwMode="auto">
            <a:xfrm>
              <a:off x="1817663" y="3504635"/>
              <a:ext cx="914355" cy="787908"/>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1600">
                  <a:solidFill>
                    <a:srgbClr val="0000FF"/>
                  </a:solidFill>
                  <a:latin typeface="Consolas" pitchFamily="49" charset="0"/>
                  <a:ea typeface="仿宋" pitchFamily="49" charset="-122"/>
                  <a:cs typeface="Consolas" pitchFamily="49" charset="0"/>
                </a:rPr>
                <a:t>左子树先序序列，有</a:t>
              </a:r>
              <a:r>
                <a:rPr lang="en-US" altLang="zh-CN" sz="1600" i="1">
                  <a:solidFill>
                    <a:srgbClr val="0000FF"/>
                  </a:solidFill>
                  <a:latin typeface="Consolas" pitchFamily="49" charset="0"/>
                  <a:ea typeface="仿宋" pitchFamily="49" charset="-122"/>
                  <a:cs typeface="Consolas" pitchFamily="49" charset="0"/>
                </a:rPr>
                <a:t>k</a:t>
              </a:r>
              <a:r>
                <a:rPr lang="zh-CN" altLang="en-US" sz="1600">
                  <a:solidFill>
                    <a:srgbClr val="0000FF"/>
                  </a:solidFill>
                  <a:latin typeface="Consolas" pitchFamily="49" charset="0"/>
                  <a:ea typeface="仿宋" pitchFamily="49" charset="-122"/>
                  <a:cs typeface="Consolas" pitchFamily="49" charset="0"/>
                </a:rPr>
                <a:t>个结点</a:t>
              </a:r>
            </a:p>
          </p:txBody>
        </p:sp>
        <p:sp>
          <p:nvSpPr>
            <p:cNvPr id="7" name="Text Box 7"/>
            <p:cNvSpPr txBox="1">
              <a:spLocks noChangeArrowheads="1"/>
            </p:cNvSpPr>
            <p:nvPr/>
          </p:nvSpPr>
          <p:spPr bwMode="auto">
            <a:xfrm>
              <a:off x="3000364" y="3504635"/>
              <a:ext cx="973104" cy="787908"/>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1600" dirty="0">
                  <a:solidFill>
                    <a:srgbClr val="0000FF"/>
                  </a:solidFill>
                  <a:latin typeface="Consolas" pitchFamily="49" charset="0"/>
                  <a:ea typeface="仿宋" pitchFamily="49" charset="-122"/>
                  <a:cs typeface="Consolas" pitchFamily="49" charset="0"/>
                </a:rPr>
                <a:t>右子树先序序列，有</a:t>
              </a:r>
              <a:r>
                <a:rPr lang="en-US" altLang="zh-CN" sz="1600" i="1" dirty="0">
                  <a:solidFill>
                    <a:srgbClr val="0000FF"/>
                  </a:solidFill>
                  <a:latin typeface="Consolas" pitchFamily="49" charset="0"/>
                  <a:ea typeface="仿宋" pitchFamily="49" charset="-122"/>
                  <a:cs typeface="Consolas" pitchFamily="49" charset="0"/>
                </a:rPr>
                <a:t>n</a:t>
              </a:r>
              <a:r>
                <a:rPr lang="en-US" altLang="zh-CN" sz="1600" dirty="0">
                  <a:solidFill>
                    <a:srgbClr val="0000FF"/>
                  </a:solidFill>
                  <a:latin typeface="Consolas" pitchFamily="49" charset="0"/>
                  <a:ea typeface="仿宋" pitchFamily="49" charset="-122"/>
                  <a:cs typeface="Consolas" pitchFamily="49" charset="0"/>
                </a:rPr>
                <a:t>-</a:t>
              </a:r>
              <a:r>
                <a:rPr lang="en-US" altLang="zh-CN" sz="1600" i="1" dirty="0">
                  <a:solidFill>
                    <a:srgbClr val="0000FF"/>
                  </a:solidFill>
                  <a:latin typeface="Consolas" pitchFamily="49" charset="0"/>
                  <a:ea typeface="仿宋" pitchFamily="49" charset="-122"/>
                  <a:cs typeface="Consolas" pitchFamily="49" charset="0"/>
                </a:rPr>
                <a:t>k</a:t>
              </a:r>
              <a:r>
                <a:rPr lang="en-US" altLang="zh-CN" sz="1600" dirty="0">
                  <a:solidFill>
                    <a:srgbClr val="0000FF"/>
                  </a:solidFill>
                  <a:latin typeface="Consolas" pitchFamily="49" charset="0"/>
                  <a:ea typeface="仿宋" pitchFamily="49" charset="-122"/>
                  <a:cs typeface="Consolas" pitchFamily="49" charset="0"/>
                </a:rPr>
                <a:t>-1</a:t>
              </a:r>
              <a:r>
                <a:rPr lang="zh-CN" altLang="en-US" sz="1600" dirty="0">
                  <a:solidFill>
                    <a:srgbClr val="0000FF"/>
                  </a:solidFill>
                  <a:latin typeface="Consolas" pitchFamily="49" charset="0"/>
                  <a:ea typeface="仿宋" pitchFamily="49" charset="-122"/>
                  <a:cs typeface="Consolas" pitchFamily="49" charset="0"/>
                </a:rPr>
                <a:t>个结点</a:t>
              </a:r>
            </a:p>
          </p:txBody>
        </p:sp>
        <p:sp>
          <p:nvSpPr>
            <p:cNvPr id="8" name="Text Box 8"/>
            <p:cNvSpPr txBox="1">
              <a:spLocks noChangeArrowheads="1"/>
            </p:cNvSpPr>
            <p:nvPr/>
          </p:nvSpPr>
          <p:spPr bwMode="auto">
            <a:xfrm>
              <a:off x="642910" y="2814061"/>
              <a:ext cx="706386" cy="443198"/>
            </a:xfrm>
            <a:prstGeom prst="rect">
              <a:avLst/>
            </a:prstGeom>
            <a:noFill/>
            <a:ln w="9525" algn="ctr">
              <a:noFill/>
              <a:miter lim="800000"/>
              <a:headEnd/>
              <a:tailEnd type="none" w="med" len="lg"/>
            </a:ln>
            <a:effectLst/>
          </p:spPr>
          <p:txBody>
            <a:bodyPr wrap="square" lIns="0" tIns="0" rIns="0" bIns="0">
              <a:spAutoFit/>
            </a:bodyPr>
            <a:lstStyle/>
            <a:p>
              <a:pPr algn="l">
                <a:spcBef>
                  <a:spcPts val="0"/>
                </a:spcBef>
              </a:pPr>
              <a:r>
                <a:rPr lang="zh-CN" altLang="en-US" sz="1800">
                  <a:solidFill>
                    <a:srgbClr val="00B0F0"/>
                  </a:solidFill>
                  <a:latin typeface="Consolas" pitchFamily="49" charset="0"/>
                  <a:ea typeface="仿宋" pitchFamily="49" charset="-122"/>
                  <a:cs typeface="Consolas" pitchFamily="49" charset="0"/>
                </a:rPr>
                <a:t>先</a:t>
              </a:r>
              <a:r>
                <a:rPr lang="zh-CN" altLang="en-US" sz="1800" smtClean="0">
                  <a:solidFill>
                    <a:srgbClr val="00B0F0"/>
                  </a:solidFill>
                  <a:latin typeface="Consolas" pitchFamily="49" charset="0"/>
                  <a:ea typeface="仿宋" pitchFamily="49" charset="-122"/>
                  <a:cs typeface="Consolas" pitchFamily="49" charset="0"/>
                </a:rPr>
                <a:t>序</a:t>
              </a:r>
              <a:endParaRPr lang="en-US" altLang="zh-CN" sz="1800" smtClean="0">
                <a:solidFill>
                  <a:srgbClr val="00B0F0"/>
                </a:solidFill>
                <a:latin typeface="Consolas" pitchFamily="49" charset="0"/>
                <a:ea typeface="仿宋" pitchFamily="49" charset="-122"/>
                <a:cs typeface="Consolas" pitchFamily="49" charset="0"/>
              </a:endParaRPr>
            </a:p>
            <a:p>
              <a:pPr algn="l">
                <a:spcBef>
                  <a:spcPts val="0"/>
                </a:spcBef>
              </a:pPr>
              <a:r>
                <a:rPr lang="zh-CN" altLang="en-US" sz="1800" smtClean="0">
                  <a:solidFill>
                    <a:srgbClr val="00B0F0"/>
                  </a:solidFill>
                  <a:latin typeface="Consolas" pitchFamily="49" charset="0"/>
                  <a:ea typeface="仿宋" pitchFamily="49" charset="-122"/>
                  <a:cs typeface="Consolas" pitchFamily="49" charset="0"/>
                </a:rPr>
                <a:t>序列</a:t>
              </a:r>
              <a:r>
                <a:rPr lang="zh-CN" altLang="en-US" sz="1800">
                  <a:solidFill>
                    <a:srgbClr val="00B0F0"/>
                  </a:solidFill>
                  <a:latin typeface="Consolas" pitchFamily="49" charset="0"/>
                  <a:ea typeface="仿宋" pitchFamily="49" charset="-122"/>
                  <a:cs typeface="Consolas" pitchFamily="49" charset="0"/>
                </a:rPr>
                <a:t>：</a:t>
              </a:r>
            </a:p>
          </p:txBody>
        </p:sp>
        <p:sp>
          <p:nvSpPr>
            <p:cNvPr id="9" name="Text Box 9"/>
            <p:cNvSpPr txBox="1">
              <a:spLocks noChangeArrowheads="1"/>
            </p:cNvSpPr>
            <p:nvPr/>
          </p:nvSpPr>
          <p:spPr bwMode="auto">
            <a:xfrm>
              <a:off x="1311166" y="2928372"/>
              <a:ext cx="2895650" cy="221599"/>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1800" i="1">
                  <a:solidFill>
                    <a:srgbClr val="FF0000"/>
                  </a:solidFill>
                  <a:latin typeface="Consolas" pitchFamily="49" charset="0"/>
                  <a:ea typeface="仿宋" pitchFamily="49" charset="-122"/>
                  <a:cs typeface="Consolas" pitchFamily="49" charset="0"/>
                </a:rPr>
                <a:t>a</a:t>
              </a:r>
              <a:r>
                <a:rPr lang="en-US" altLang="zh-CN" sz="1800" baseline="-25000">
                  <a:solidFill>
                    <a:srgbClr val="FF0000"/>
                  </a:solidFill>
                  <a:latin typeface="Consolas" pitchFamily="49" charset="0"/>
                  <a:ea typeface="仿宋" pitchFamily="49" charset="-122"/>
                  <a:cs typeface="Consolas" pitchFamily="49" charset="0"/>
                </a:rPr>
                <a:t>0</a:t>
              </a:r>
              <a:r>
                <a:rPr lang="en-US" altLang="zh-CN" sz="1800">
                  <a:solidFill>
                    <a:srgbClr val="0000FF"/>
                  </a:solidFill>
                  <a:latin typeface="Consolas" pitchFamily="49" charset="0"/>
                  <a:ea typeface="仿宋" pitchFamily="49" charset="-122"/>
                  <a:cs typeface="Consolas" pitchFamily="49" charset="0"/>
                </a:rPr>
                <a:t> </a:t>
              </a:r>
              <a:r>
                <a:rPr lang="en-US" altLang="zh-CN" sz="1800" i="1" smtClean="0">
                  <a:solidFill>
                    <a:srgbClr val="0000FF"/>
                  </a:solidFill>
                  <a:latin typeface="Consolas" pitchFamily="49" charset="0"/>
                  <a:ea typeface="仿宋" pitchFamily="49" charset="-122"/>
                  <a:cs typeface="Consolas" pitchFamily="49" charset="0"/>
                </a:rPr>
                <a:t>a</a:t>
              </a:r>
              <a:r>
                <a:rPr lang="en-US" altLang="zh-CN" sz="1800" baseline="-25000" smtClean="0">
                  <a:solidFill>
                    <a:srgbClr val="0000FF"/>
                  </a:solidFill>
                  <a:latin typeface="Consolas" pitchFamily="49" charset="0"/>
                  <a:ea typeface="仿宋" pitchFamily="49" charset="-122"/>
                  <a:cs typeface="Consolas" pitchFamily="49" charset="0"/>
                </a:rPr>
                <a:t>1 </a:t>
              </a:r>
              <a:r>
                <a:rPr lang="en-US" altLang="zh-CN" sz="1800" smtClean="0">
                  <a:solidFill>
                    <a:srgbClr val="0000FF"/>
                  </a:solidFill>
                  <a:latin typeface="+mn-ea"/>
                  <a:ea typeface="+mn-ea"/>
                  <a:cs typeface="Consolas" pitchFamily="49" charset="0"/>
                </a:rPr>
                <a:t>… </a:t>
              </a:r>
              <a:r>
                <a:rPr lang="en-US" altLang="zh-CN" sz="1800" i="1" smtClean="0">
                  <a:solidFill>
                    <a:srgbClr val="0000FF"/>
                  </a:solidFill>
                  <a:latin typeface="Consolas" pitchFamily="49" charset="0"/>
                  <a:ea typeface="仿宋" pitchFamily="49" charset="-122"/>
                  <a:cs typeface="Consolas" pitchFamily="49" charset="0"/>
                </a:rPr>
                <a:t>a</a:t>
              </a:r>
              <a:r>
                <a:rPr lang="en-US" altLang="zh-CN" sz="1800" i="1" baseline="-25000" smtClean="0">
                  <a:solidFill>
                    <a:srgbClr val="0000FF"/>
                  </a:solidFill>
                  <a:latin typeface="Consolas" pitchFamily="49" charset="0"/>
                  <a:ea typeface="仿宋" pitchFamily="49" charset="-122"/>
                  <a:cs typeface="Consolas" pitchFamily="49" charset="0"/>
                </a:rPr>
                <a:t>k</a:t>
              </a:r>
              <a:r>
                <a:rPr lang="en-US" altLang="zh-CN" sz="1800" smtClean="0">
                  <a:solidFill>
                    <a:srgbClr val="0000FF"/>
                  </a:solidFill>
                  <a:latin typeface="Consolas" pitchFamily="49" charset="0"/>
                  <a:ea typeface="仿宋" pitchFamily="49" charset="-122"/>
                  <a:cs typeface="Consolas" pitchFamily="49" charset="0"/>
                </a:rPr>
                <a:t>   </a:t>
              </a:r>
              <a:r>
                <a:rPr lang="en-US" altLang="zh-CN" sz="1800" i="1" smtClean="0">
                  <a:solidFill>
                    <a:srgbClr val="0000FF"/>
                  </a:solidFill>
                  <a:latin typeface="Consolas" pitchFamily="49" charset="0"/>
                  <a:ea typeface="仿宋" pitchFamily="49" charset="-122"/>
                  <a:cs typeface="Consolas" pitchFamily="49" charset="0"/>
                </a:rPr>
                <a:t>a</a:t>
              </a:r>
              <a:r>
                <a:rPr lang="en-US" altLang="zh-CN" sz="1800" i="1" baseline="-25000" smtClean="0">
                  <a:solidFill>
                    <a:srgbClr val="0000FF"/>
                  </a:solidFill>
                  <a:latin typeface="Consolas" pitchFamily="49" charset="0"/>
                  <a:ea typeface="仿宋" pitchFamily="49" charset="-122"/>
                  <a:cs typeface="Consolas" pitchFamily="49" charset="0"/>
                </a:rPr>
                <a:t>k</a:t>
              </a:r>
              <a:r>
                <a:rPr lang="en-US" altLang="zh-CN" sz="1800" baseline="-25000" smtClean="0">
                  <a:solidFill>
                    <a:srgbClr val="0000FF"/>
                  </a:solidFill>
                  <a:latin typeface="Consolas" pitchFamily="49" charset="0"/>
                  <a:ea typeface="仿宋" pitchFamily="49" charset="-122"/>
                  <a:cs typeface="Consolas" pitchFamily="49" charset="0"/>
                </a:rPr>
                <a:t>+1</a:t>
              </a:r>
              <a:r>
                <a:rPr lang="en-US" altLang="zh-CN" sz="1800" smtClean="0">
                  <a:solidFill>
                    <a:srgbClr val="0000FF"/>
                  </a:solidFill>
                  <a:latin typeface="+mn-ea"/>
                  <a:ea typeface="+mn-ea"/>
                  <a:cs typeface="Consolas" pitchFamily="49" charset="0"/>
                </a:rPr>
                <a:t>…</a:t>
              </a:r>
              <a:r>
                <a:rPr lang="en-US" altLang="zh-CN" sz="1800" i="1" smtClean="0">
                  <a:solidFill>
                    <a:srgbClr val="0000FF"/>
                  </a:solidFill>
                  <a:latin typeface="Consolas" pitchFamily="49" charset="0"/>
                  <a:ea typeface="仿宋" pitchFamily="49" charset="-122"/>
                  <a:cs typeface="Consolas" pitchFamily="49" charset="0"/>
                </a:rPr>
                <a:t>a</a:t>
              </a:r>
              <a:r>
                <a:rPr lang="en-US" altLang="zh-CN" sz="1800" i="1" baseline="-25000" smtClean="0">
                  <a:solidFill>
                    <a:srgbClr val="0000FF"/>
                  </a:solidFill>
                  <a:latin typeface="Consolas" pitchFamily="49" charset="0"/>
                  <a:ea typeface="仿宋" pitchFamily="49" charset="-122"/>
                  <a:cs typeface="Consolas" pitchFamily="49" charset="0"/>
                </a:rPr>
                <a:t>n</a:t>
              </a:r>
              <a:r>
                <a:rPr lang="en-US" altLang="zh-CN" sz="1800" baseline="-25000" smtClean="0">
                  <a:solidFill>
                    <a:srgbClr val="0000FF"/>
                  </a:solidFill>
                  <a:latin typeface="Consolas" pitchFamily="49" charset="0"/>
                  <a:ea typeface="仿宋" pitchFamily="49" charset="-122"/>
                  <a:cs typeface="Consolas" pitchFamily="49" charset="0"/>
                </a:rPr>
                <a:t>-1</a:t>
              </a:r>
              <a:endParaRPr lang="en-US" altLang="en-US" sz="1800" baseline="-25000">
                <a:solidFill>
                  <a:srgbClr val="0000FF"/>
                </a:solidFill>
                <a:latin typeface="Consolas" pitchFamily="49" charset="0"/>
                <a:ea typeface="仿宋" pitchFamily="49" charset="-122"/>
                <a:cs typeface="Consolas" pitchFamily="49" charset="0"/>
              </a:endParaRPr>
            </a:p>
          </p:txBody>
        </p:sp>
        <p:sp>
          <p:nvSpPr>
            <p:cNvPr id="12" name="Text Box 12"/>
            <p:cNvSpPr txBox="1">
              <a:spLocks noChangeArrowheads="1"/>
            </p:cNvSpPr>
            <p:nvPr/>
          </p:nvSpPr>
          <p:spPr bwMode="auto">
            <a:xfrm>
              <a:off x="5521298" y="3504635"/>
              <a:ext cx="952485" cy="590931"/>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1600">
                  <a:solidFill>
                    <a:srgbClr val="0000FF"/>
                  </a:solidFill>
                  <a:latin typeface="Consolas" pitchFamily="49" charset="0"/>
                  <a:ea typeface="仿宋" pitchFamily="49" charset="-122"/>
                  <a:cs typeface="Consolas" pitchFamily="49" charset="0"/>
                </a:rPr>
                <a:t>左子树中序序列，有</a:t>
              </a:r>
              <a:r>
                <a:rPr lang="en-US" altLang="zh-CN" sz="1600" i="1">
                  <a:solidFill>
                    <a:srgbClr val="0000FF"/>
                  </a:solidFill>
                  <a:latin typeface="Consolas" pitchFamily="49" charset="0"/>
                  <a:ea typeface="仿宋" pitchFamily="49" charset="-122"/>
                  <a:cs typeface="Consolas" pitchFamily="49" charset="0"/>
                </a:rPr>
                <a:t>k</a:t>
              </a:r>
              <a:r>
                <a:rPr lang="zh-CN" altLang="en-US" sz="1600">
                  <a:solidFill>
                    <a:srgbClr val="0000FF"/>
                  </a:solidFill>
                  <a:latin typeface="Consolas" pitchFamily="49" charset="0"/>
                  <a:ea typeface="仿宋" pitchFamily="49" charset="-122"/>
                  <a:cs typeface="Consolas" pitchFamily="49" charset="0"/>
                </a:rPr>
                <a:t>个结点</a:t>
              </a:r>
            </a:p>
          </p:txBody>
        </p:sp>
        <p:sp>
          <p:nvSpPr>
            <p:cNvPr id="13" name="Text Box 13"/>
            <p:cNvSpPr txBox="1">
              <a:spLocks noChangeArrowheads="1"/>
            </p:cNvSpPr>
            <p:nvPr/>
          </p:nvSpPr>
          <p:spPr bwMode="auto">
            <a:xfrm>
              <a:off x="7196110" y="3504635"/>
              <a:ext cx="939796" cy="787908"/>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1600">
                  <a:solidFill>
                    <a:srgbClr val="0000FF"/>
                  </a:solidFill>
                  <a:latin typeface="Consolas" pitchFamily="49" charset="0"/>
                  <a:ea typeface="仿宋" pitchFamily="49" charset="-122"/>
                  <a:cs typeface="Consolas" pitchFamily="49" charset="0"/>
                </a:rPr>
                <a:t>右子树中序序列，有</a:t>
              </a:r>
              <a:r>
                <a:rPr lang="en-US" altLang="zh-CN" sz="1600" i="1">
                  <a:solidFill>
                    <a:srgbClr val="0000FF"/>
                  </a:solidFill>
                  <a:latin typeface="Consolas" pitchFamily="49" charset="0"/>
                  <a:ea typeface="仿宋" pitchFamily="49" charset="-122"/>
                  <a:cs typeface="Consolas" pitchFamily="49" charset="0"/>
                </a:rPr>
                <a:t>n</a:t>
              </a:r>
              <a:r>
                <a:rPr lang="en-US" altLang="zh-CN"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k</a:t>
              </a:r>
              <a:r>
                <a:rPr lang="en-US" altLang="zh-CN" sz="1600">
                  <a:solidFill>
                    <a:srgbClr val="0000FF"/>
                  </a:solidFill>
                  <a:latin typeface="Consolas" pitchFamily="49" charset="0"/>
                  <a:ea typeface="仿宋" pitchFamily="49" charset="-122"/>
                  <a:cs typeface="Consolas" pitchFamily="49" charset="0"/>
                </a:rPr>
                <a:t>-1</a:t>
              </a:r>
              <a:r>
                <a:rPr lang="zh-CN" altLang="en-US" sz="1600">
                  <a:solidFill>
                    <a:srgbClr val="0000FF"/>
                  </a:solidFill>
                  <a:latin typeface="Consolas" pitchFamily="49" charset="0"/>
                  <a:ea typeface="仿宋" pitchFamily="49" charset="-122"/>
                  <a:cs typeface="Consolas" pitchFamily="49" charset="0"/>
                </a:rPr>
                <a:t>个结点</a:t>
              </a:r>
            </a:p>
          </p:txBody>
        </p:sp>
        <p:sp>
          <p:nvSpPr>
            <p:cNvPr id="14" name="Text Box 14"/>
            <p:cNvSpPr txBox="1">
              <a:spLocks noChangeArrowheads="1"/>
            </p:cNvSpPr>
            <p:nvPr/>
          </p:nvSpPr>
          <p:spPr bwMode="auto">
            <a:xfrm>
              <a:off x="4706882" y="2814061"/>
              <a:ext cx="785818" cy="443198"/>
            </a:xfrm>
            <a:prstGeom prst="rect">
              <a:avLst/>
            </a:prstGeom>
            <a:noFill/>
            <a:ln w="9525" algn="ctr">
              <a:noFill/>
              <a:miter lim="800000"/>
              <a:headEnd/>
              <a:tailEnd type="none" w="med" len="lg"/>
            </a:ln>
            <a:effectLst/>
          </p:spPr>
          <p:txBody>
            <a:bodyPr wrap="square" lIns="0" tIns="0" rIns="0" bIns="0">
              <a:spAutoFit/>
            </a:bodyPr>
            <a:lstStyle/>
            <a:p>
              <a:pPr algn="l">
                <a:spcBef>
                  <a:spcPts val="0"/>
                </a:spcBef>
              </a:pPr>
              <a:r>
                <a:rPr lang="zh-CN" altLang="en-US" sz="1800">
                  <a:solidFill>
                    <a:srgbClr val="00B0F0"/>
                  </a:solidFill>
                  <a:latin typeface="Consolas" pitchFamily="49" charset="0"/>
                  <a:ea typeface="仿宋" pitchFamily="49" charset="-122"/>
                  <a:cs typeface="Consolas" pitchFamily="49" charset="0"/>
                </a:rPr>
                <a:t>中</a:t>
              </a:r>
              <a:r>
                <a:rPr lang="zh-CN" altLang="en-US" sz="1800" smtClean="0">
                  <a:solidFill>
                    <a:srgbClr val="00B0F0"/>
                  </a:solidFill>
                  <a:latin typeface="Consolas" pitchFamily="49" charset="0"/>
                  <a:ea typeface="仿宋" pitchFamily="49" charset="-122"/>
                  <a:cs typeface="Consolas" pitchFamily="49" charset="0"/>
                </a:rPr>
                <a:t>序</a:t>
              </a:r>
              <a:endParaRPr lang="en-US" altLang="zh-CN" sz="1800" smtClean="0">
                <a:solidFill>
                  <a:srgbClr val="00B0F0"/>
                </a:solidFill>
                <a:latin typeface="Consolas" pitchFamily="49" charset="0"/>
                <a:ea typeface="仿宋" pitchFamily="49" charset="-122"/>
                <a:cs typeface="Consolas" pitchFamily="49" charset="0"/>
              </a:endParaRPr>
            </a:p>
            <a:p>
              <a:pPr algn="l">
                <a:spcBef>
                  <a:spcPts val="0"/>
                </a:spcBef>
              </a:pPr>
              <a:r>
                <a:rPr lang="zh-CN" altLang="en-US" sz="1800" smtClean="0">
                  <a:solidFill>
                    <a:srgbClr val="00B0F0"/>
                  </a:solidFill>
                  <a:latin typeface="Consolas" pitchFamily="49" charset="0"/>
                  <a:ea typeface="仿宋" pitchFamily="49" charset="-122"/>
                  <a:cs typeface="Consolas" pitchFamily="49" charset="0"/>
                </a:rPr>
                <a:t>序列</a:t>
              </a:r>
              <a:r>
                <a:rPr lang="zh-CN" altLang="en-US" sz="1800">
                  <a:solidFill>
                    <a:srgbClr val="00B0F0"/>
                  </a:solidFill>
                  <a:latin typeface="Consolas" pitchFamily="49" charset="0"/>
                  <a:ea typeface="仿宋" pitchFamily="49" charset="-122"/>
                  <a:cs typeface="Consolas" pitchFamily="49" charset="0"/>
                </a:rPr>
                <a:t>：</a:t>
              </a:r>
            </a:p>
          </p:txBody>
        </p:sp>
        <p:sp>
          <p:nvSpPr>
            <p:cNvPr id="15" name="Text Box 15"/>
            <p:cNvSpPr txBox="1">
              <a:spLocks noChangeArrowheads="1"/>
            </p:cNvSpPr>
            <p:nvPr/>
          </p:nvSpPr>
          <p:spPr bwMode="auto">
            <a:xfrm>
              <a:off x="5421262" y="2945835"/>
              <a:ext cx="2579762" cy="221599"/>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1800" i="1">
                  <a:solidFill>
                    <a:srgbClr val="0000FF"/>
                  </a:solidFill>
                  <a:latin typeface="Consolas" pitchFamily="49" charset="0"/>
                  <a:ea typeface="仿宋" pitchFamily="49" charset="-122"/>
                  <a:cs typeface="Consolas" pitchFamily="49" charset="0"/>
                </a:rPr>
                <a:t>b</a:t>
              </a:r>
              <a:r>
                <a:rPr lang="en-US" altLang="zh-CN" sz="1800" baseline="-25000">
                  <a:solidFill>
                    <a:srgbClr val="0000FF"/>
                  </a:solidFill>
                  <a:latin typeface="Consolas" pitchFamily="49" charset="0"/>
                  <a:ea typeface="仿宋" pitchFamily="49" charset="-122"/>
                  <a:cs typeface="Consolas" pitchFamily="49" charset="0"/>
                </a:rPr>
                <a:t>0</a:t>
              </a:r>
              <a:r>
                <a:rPr lang="en-US" altLang="zh-CN" sz="1800">
                  <a:solidFill>
                    <a:srgbClr val="0000FF"/>
                  </a:solidFill>
                  <a:latin typeface="Consolas" pitchFamily="49" charset="0"/>
                  <a:ea typeface="仿宋" pitchFamily="49" charset="-122"/>
                  <a:cs typeface="Consolas" pitchFamily="49" charset="0"/>
                </a:rPr>
                <a:t> </a:t>
              </a:r>
              <a:r>
                <a:rPr lang="en-US" altLang="zh-CN" sz="1800" i="1" smtClean="0">
                  <a:solidFill>
                    <a:srgbClr val="0000FF"/>
                  </a:solidFill>
                  <a:latin typeface="Consolas" pitchFamily="49" charset="0"/>
                  <a:ea typeface="仿宋" pitchFamily="49" charset="-122"/>
                  <a:cs typeface="Consolas" pitchFamily="49" charset="0"/>
                </a:rPr>
                <a:t>b</a:t>
              </a:r>
              <a:r>
                <a:rPr lang="en-US" altLang="zh-CN" sz="1800" baseline="-25000" smtClean="0">
                  <a:solidFill>
                    <a:srgbClr val="0000FF"/>
                  </a:solidFill>
                  <a:latin typeface="Consolas" pitchFamily="49" charset="0"/>
                  <a:ea typeface="仿宋" pitchFamily="49" charset="-122"/>
                  <a:cs typeface="Consolas" pitchFamily="49" charset="0"/>
                </a:rPr>
                <a:t>1</a:t>
              </a:r>
              <a:r>
                <a:rPr lang="en-US" altLang="zh-CN" sz="1800" smtClean="0">
                  <a:solidFill>
                    <a:srgbClr val="0000FF"/>
                  </a:solidFill>
                  <a:latin typeface="+mj-ea"/>
                  <a:ea typeface="+mj-ea"/>
                  <a:cs typeface="Consolas" pitchFamily="49" charset="0"/>
                </a:rPr>
                <a:t>…</a:t>
              </a:r>
              <a:r>
                <a:rPr lang="en-US" altLang="zh-CN" sz="1800" i="1" smtClean="0">
                  <a:solidFill>
                    <a:srgbClr val="0000FF"/>
                  </a:solidFill>
                  <a:latin typeface="Consolas" pitchFamily="49" charset="0"/>
                  <a:ea typeface="仿宋" pitchFamily="49" charset="-122"/>
                  <a:cs typeface="Consolas" pitchFamily="49" charset="0"/>
                </a:rPr>
                <a:t>b</a:t>
              </a:r>
              <a:r>
                <a:rPr lang="en-US" altLang="zh-CN" sz="1800" i="1" baseline="-25000" smtClean="0">
                  <a:solidFill>
                    <a:srgbClr val="0000FF"/>
                  </a:solidFill>
                  <a:latin typeface="Consolas" pitchFamily="49" charset="0"/>
                  <a:ea typeface="仿宋" pitchFamily="49" charset="-122"/>
                  <a:cs typeface="Consolas" pitchFamily="49" charset="0"/>
                </a:rPr>
                <a:t>k</a:t>
              </a:r>
              <a:r>
                <a:rPr lang="en-US" altLang="zh-CN" sz="1800" baseline="-25000" smtClean="0">
                  <a:solidFill>
                    <a:srgbClr val="0000FF"/>
                  </a:solidFill>
                  <a:latin typeface="Consolas" pitchFamily="49" charset="0"/>
                  <a:ea typeface="仿宋" pitchFamily="49" charset="-122"/>
                  <a:cs typeface="Consolas" pitchFamily="49" charset="0"/>
                </a:rPr>
                <a:t>-1 </a:t>
              </a:r>
              <a:r>
                <a:rPr lang="en-US" altLang="zh-CN" sz="1800" i="1" smtClean="0">
                  <a:solidFill>
                    <a:srgbClr val="FF0000"/>
                  </a:solidFill>
                  <a:latin typeface="Consolas" pitchFamily="49" charset="0"/>
                  <a:ea typeface="仿宋" pitchFamily="49" charset="-122"/>
                  <a:cs typeface="Consolas" pitchFamily="49" charset="0"/>
                </a:rPr>
                <a:t>b</a:t>
              </a:r>
              <a:r>
                <a:rPr lang="en-US" altLang="zh-CN" sz="1800" i="1" baseline="-25000" smtClean="0">
                  <a:solidFill>
                    <a:srgbClr val="FF0000"/>
                  </a:solidFill>
                  <a:latin typeface="Consolas" pitchFamily="49" charset="0"/>
                  <a:ea typeface="仿宋" pitchFamily="49" charset="-122"/>
                  <a:cs typeface="Consolas" pitchFamily="49" charset="0"/>
                </a:rPr>
                <a:t>k</a:t>
              </a:r>
              <a:r>
                <a:rPr lang="en-US" altLang="zh-CN" sz="1800" smtClean="0">
                  <a:solidFill>
                    <a:srgbClr val="0000FF"/>
                  </a:solidFill>
                  <a:latin typeface="Consolas" pitchFamily="49" charset="0"/>
                  <a:ea typeface="仿宋" pitchFamily="49" charset="-122"/>
                  <a:cs typeface="Consolas" pitchFamily="49" charset="0"/>
                </a:rPr>
                <a:t> </a:t>
              </a:r>
              <a:r>
                <a:rPr lang="en-US" altLang="zh-CN" sz="1800" i="1" smtClean="0">
                  <a:solidFill>
                    <a:srgbClr val="0000FF"/>
                  </a:solidFill>
                  <a:latin typeface="Consolas" pitchFamily="49" charset="0"/>
                  <a:ea typeface="仿宋" pitchFamily="49" charset="-122"/>
                  <a:cs typeface="Consolas" pitchFamily="49" charset="0"/>
                </a:rPr>
                <a:t>b</a:t>
              </a:r>
              <a:r>
                <a:rPr lang="en-US" altLang="zh-CN" sz="1800" i="1" baseline="-25000" smtClean="0">
                  <a:solidFill>
                    <a:srgbClr val="0000FF"/>
                  </a:solidFill>
                  <a:latin typeface="Consolas" pitchFamily="49" charset="0"/>
                  <a:ea typeface="仿宋" pitchFamily="49" charset="-122"/>
                  <a:cs typeface="Consolas" pitchFamily="49" charset="0"/>
                </a:rPr>
                <a:t>k</a:t>
              </a:r>
              <a:r>
                <a:rPr lang="en-US" altLang="zh-CN" sz="1800" baseline="-25000" smtClean="0">
                  <a:solidFill>
                    <a:srgbClr val="0000FF"/>
                  </a:solidFill>
                  <a:latin typeface="Consolas" pitchFamily="49" charset="0"/>
                  <a:ea typeface="仿宋" pitchFamily="49" charset="-122"/>
                  <a:cs typeface="Consolas" pitchFamily="49" charset="0"/>
                </a:rPr>
                <a:t>+1</a:t>
              </a:r>
              <a:r>
                <a:rPr lang="en-US" altLang="zh-CN" sz="1800" smtClean="0">
                  <a:solidFill>
                    <a:srgbClr val="0000FF"/>
                  </a:solidFill>
                  <a:latin typeface="+mj-ea"/>
                  <a:ea typeface="+mj-ea"/>
                  <a:cs typeface="Consolas" pitchFamily="49" charset="0"/>
                </a:rPr>
                <a:t>…</a:t>
              </a:r>
              <a:r>
                <a:rPr lang="en-US" altLang="zh-CN" sz="1800" i="1" smtClean="0">
                  <a:solidFill>
                    <a:srgbClr val="0000FF"/>
                  </a:solidFill>
                  <a:latin typeface="Consolas" pitchFamily="49" charset="0"/>
                  <a:ea typeface="仿宋" pitchFamily="49" charset="-122"/>
                  <a:cs typeface="Consolas" pitchFamily="49" charset="0"/>
                </a:rPr>
                <a:t>b</a:t>
              </a:r>
              <a:r>
                <a:rPr lang="en-US" altLang="zh-CN" sz="1800" i="1" baseline="-25000" smtClean="0">
                  <a:solidFill>
                    <a:srgbClr val="0000FF"/>
                  </a:solidFill>
                  <a:latin typeface="Consolas" pitchFamily="49" charset="0"/>
                  <a:ea typeface="仿宋" pitchFamily="49" charset="-122"/>
                  <a:cs typeface="Consolas" pitchFamily="49" charset="0"/>
                </a:rPr>
                <a:t>n</a:t>
              </a:r>
              <a:r>
                <a:rPr lang="en-US" altLang="zh-CN" sz="1800" baseline="-25000" smtClean="0">
                  <a:solidFill>
                    <a:srgbClr val="0000FF"/>
                  </a:solidFill>
                  <a:latin typeface="Consolas" pitchFamily="49" charset="0"/>
                  <a:ea typeface="仿宋" pitchFamily="49" charset="-122"/>
                  <a:cs typeface="Consolas" pitchFamily="49" charset="0"/>
                </a:rPr>
                <a:t>-1</a:t>
              </a:r>
              <a:endParaRPr lang="en-US" altLang="en-US" sz="1800" baseline="-25000">
                <a:solidFill>
                  <a:srgbClr val="0000FF"/>
                </a:solidFill>
                <a:latin typeface="Consolas" pitchFamily="49" charset="0"/>
                <a:ea typeface="仿宋" pitchFamily="49" charset="-122"/>
                <a:cs typeface="Consolas" pitchFamily="49" charset="0"/>
              </a:endParaRPr>
            </a:p>
          </p:txBody>
        </p:sp>
        <p:sp>
          <p:nvSpPr>
            <p:cNvPr id="18" name="Line 18"/>
            <p:cNvSpPr>
              <a:spLocks noChangeShapeType="1"/>
            </p:cNvSpPr>
            <p:nvPr/>
          </p:nvSpPr>
          <p:spPr bwMode="auto">
            <a:xfrm>
              <a:off x="1369934" y="2633097"/>
              <a:ext cx="0" cy="323850"/>
            </a:xfrm>
            <a:prstGeom prst="line">
              <a:avLst/>
            </a:prstGeom>
            <a:ln w="19050">
              <a:headEnd/>
              <a:tailEnd type="stealth" w="med" len="lg"/>
            </a:ln>
          </p:spPr>
          <p:style>
            <a:lnRef idx="2">
              <a:schemeClr val="accent1"/>
            </a:lnRef>
            <a:fillRef idx="0">
              <a:schemeClr val="accent1"/>
            </a:fillRef>
            <a:effectRef idx="1">
              <a:schemeClr val="accent1"/>
            </a:effectRef>
            <a:fontRef idx="minor">
              <a:schemeClr val="tx1"/>
            </a:fontRef>
          </p:style>
          <p:txBody>
            <a:bodyPr wrap="none"/>
            <a:lstStyle/>
            <a:p>
              <a:pPr algn="l"/>
              <a:endParaRPr lang="zh-CN" altLang="en-US" sz="1800">
                <a:latin typeface="Consolas" pitchFamily="49" charset="0"/>
                <a:ea typeface="仿宋" pitchFamily="49" charset="-122"/>
                <a:cs typeface="Consolas" pitchFamily="49" charset="0"/>
              </a:endParaRPr>
            </a:p>
          </p:txBody>
        </p:sp>
        <p:sp>
          <p:nvSpPr>
            <p:cNvPr id="19" name="Line 19"/>
            <p:cNvSpPr>
              <a:spLocks noChangeShapeType="1"/>
            </p:cNvSpPr>
            <p:nvPr/>
          </p:nvSpPr>
          <p:spPr bwMode="auto">
            <a:xfrm>
              <a:off x="1383346" y="2633097"/>
              <a:ext cx="5320800" cy="0"/>
            </a:xfrm>
            <a:prstGeom prst="line">
              <a:avLst/>
            </a:prstGeom>
            <a:ln w="19050">
              <a:headEnd/>
              <a:tailEnd type="none" w="med" len="lg"/>
            </a:ln>
          </p:spPr>
          <p:style>
            <a:lnRef idx="2">
              <a:schemeClr val="accent1"/>
            </a:lnRef>
            <a:fillRef idx="0">
              <a:schemeClr val="accent1"/>
            </a:fillRef>
            <a:effectRef idx="1">
              <a:schemeClr val="accent1"/>
            </a:effectRef>
            <a:fontRef idx="minor">
              <a:schemeClr val="tx1"/>
            </a:fontRef>
          </p:style>
          <p:txBody>
            <a:bodyPr wrap="none"/>
            <a:lstStyle/>
            <a:p>
              <a:pPr algn="l"/>
              <a:endParaRPr lang="zh-CN" altLang="en-US" sz="1800">
                <a:latin typeface="Consolas" pitchFamily="49" charset="0"/>
                <a:ea typeface="仿宋" pitchFamily="49" charset="-122"/>
                <a:cs typeface="Consolas" pitchFamily="49" charset="0"/>
              </a:endParaRPr>
            </a:p>
          </p:txBody>
        </p:sp>
        <p:sp>
          <p:nvSpPr>
            <p:cNvPr id="20" name="Line 20"/>
            <p:cNvSpPr>
              <a:spLocks noChangeShapeType="1"/>
            </p:cNvSpPr>
            <p:nvPr/>
          </p:nvSpPr>
          <p:spPr bwMode="auto">
            <a:xfrm>
              <a:off x="6692858" y="2614047"/>
              <a:ext cx="0" cy="323850"/>
            </a:xfrm>
            <a:prstGeom prst="line">
              <a:avLst/>
            </a:prstGeom>
            <a:ln w="19050">
              <a:headEnd/>
              <a:tailEnd type="stealth" w="med" len="lg"/>
            </a:ln>
          </p:spPr>
          <p:style>
            <a:lnRef idx="2">
              <a:schemeClr val="accent1"/>
            </a:lnRef>
            <a:fillRef idx="0">
              <a:schemeClr val="accent1"/>
            </a:fillRef>
            <a:effectRef idx="1">
              <a:schemeClr val="accent1"/>
            </a:effectRef>
            <a:fontRef idx="minor">
              <a:schemeClr val="tx1"/>
            </a:fontRef>
          </p:style>
          <p:txBody>
            <a:bodyPr wrap="none"/>
            <a:lstStyle/>
            <a:p>
              <a:pPr algn="l"/>
              <a:endParaRPr lang="zh-CN" altLang="en-US" sz="1800">
                <a:latin typeface="Consolas" pitchFamily="49" charset="0"/>
                <a:ea typeface="仿宋" pitchFamily="49" charset="-122"/>
                <a:cs typeface="Consolas" pitchFamily="49" charset="0"/>
              </a:endParaRPr>
            </a:p>
          </p:txBody>
        </p:sp>
        <p:sp>
          <p:nvSpPr>
            <p:cNvPr id="21" name="Text Box 22"/>
            <p:cNvSpPr txBox="1">
              <a:spLocks noChangeArrowheads="1"/>
            </p:cNvSpPr>
            <p:nvPr/>
          </p:nvSpPr>
          <p:spPr bwMode="auto">
            <a:xfrm>
              <a:off x="2516159" y="2350145"/>
              <a:ext cx="3889375" cy="221599"/>
            </a:xfrm>
            <a:prstGeom prst="rect">
              <a:avLst/>
            </a:prstGeom>
            <a:noFill/>
            <a:ln w="9525" algn="ctr">
              <a:noFill/>
              <a:miter lim="800000"/>
              <a:headEnd/>
              <a:tailEnd type="none" w="med" len="lg"/>
            </a:ln>
            <a:effectLst/>
          </p:spPr>
          <p:txBody>
            <a:bodyPr lIns="0" tIns="0" rIns="0" bIns="0">
              <a:spAutoFit/>
            </a:bodyPr>
            <a:lstStyle/>
            <a:p>
              <a:pPr algn="l">
                <a:spcBef>
                  <a:spcPct val="50000"/>
                </a:spcBef>
              </a:pPr>
              <a:r>
                <a:rPr lang="zh-CN" altLang="en-US" sz="1800" dirty="0">
                  <a:solidFill>
                    <a:srgbClr val="0000FF"/>
                  </a:solidFill>
                  <a:latin typeface="Consolas" pitchFamily="49" charset="0"/>
                  <a:ea typeface="仿宋" pitchFamily="49" charset="-122"/>
                  <a:cs typeface="Consolas" pitchFamily="49" charset="0"/>
                </a:rPr>
                <a:t>通过</a:t>
              </a:r>
              <a:r>
                <a:rPr lang="zh-CN" altLang="en-US" sz="1800" dirty="0" smtClean="0">
                  <a:solidFill>
                    <a:srgbClr val="0000FF"/>
                  </a:solidFill>
                  <a:latin typeface="Consolas" pitchFamily="49" charset="0"/>
                  <a:ea typeface="仿宋" pitchFamily="49" charset="-122"/>
                  <a:cs typeface="Consolas" pitchFamily="49" charset="0"/>
                </a:rPr>
                <a:t>根结点</a:t>
              </a:r>
              <a:r>
                <a:rPr lang="en-US" altLang="zh-CN" sz="1800" i="1" dirty="0" err="1" smtClean="0">
                  <a:solidFill>
                    <a:srgbClr val="0000FF"/>
                  </a:solidFill>
                  <a:latin typeface="Consolas" pitchFamily="49" charset="0"/>
                  <a:ea typeface="仿宋" pitchFamily="49" charset="-122"/>
                  <a:cs typeface="Consolas" pitchFamily="49" charset="0"/>
                </a:rPr>
                <a:t>a</a:t>
              </a:r>
              <a:r>
                <a:rPr lang="en-US" altLang="zh-CN" sz="1800" baseline="-25000" dirty="0" err="1" smtClean="0">
                  <a:solidFill>
                    <a:srgbClr val="0000FF"/>
                  </a:solidFill>
                  <a:latin typeface="Consolas" pitchFamily="49" charset="0"/>
                  <a:ea typeface="仿宋" pitchFamily="49" charset="-122"/>
                  <a:cs typeface="Consolas" pitchFamily="49" charset="0"/>
                </a:rPr>
                <a:t>0</a:t>
              </a:r>
              <a:r>
                <a:rPr lang="zh-CN" altLang="en-US" sz="1800" dirty="0">
                  <a:solidFill>
                    <a:srgbClr val="0000FF"/>
                  </a:solidFill>
                  <a:latin typeface="Consolas" pitchFamily="49" charset="0"/>
                  <a:ea typeface="仿宋" pitchFamily="49" charset="-122"/>
                  <a:cs typeface="Consolas" pitchFamily="49" charset="0"/>
                </a:rPr>
                <a:t>在中序序列中找到</a:t>
              </a:r>
              <a:r>
                <a:rPr lang="en-US" altLang="zh-CN" sz="1800" i="1" dirty="0" err="1">
                  <a:solidFill>
                    <a:srgbClr val="0000FF"/>
                  </a:solidFill>
                  <a:latin typeface="Consolas" pitchFamily="49" charset="0"/>
                  <a:ea typeface="仿宋" pitchFamily="49" charset="-122"/>
                  <a:cs typeface="Consolas" pitchFamily="49" charset="0"/>
                </a:rPr>
                <a:t>b</a:t>
              </a:r>
              <a:r>
                <a:rPr lang="en-US" altLang="zh-CN" sz="1800" i="1" baseline="-25000" dirty="0" err="1">
                  <a:solidFill>
                    <a:srgbClr val="0000FF"/>
                  </a:solidFill>
                  <a:latin typeface="Consolas" pitchFamily="49" charset="0"/>
                  <a:ea typeface="仿宋" pitchFamily="49" charset="-122"/>
                  <a:cs typeface="Consolas" pitchFamily="49" charset="0"/>
                </a:rPr>
                <a:t>k</a:t>
              </a:r>
              <a:endParaRPr lang="en-US" altLang="zh-CN" sz="1800" i="1" baseline="-25000" dirty="0">
                <a:solidFill>
                  <a:srgbClr val="0000FF"/>
                </a:solidFill>
                <a:latin typeface="Consolas" pitchFamily="49" charset="0"/>
                <a:ea typeface="仿宋" pitchFamily="49" charset="-122"/>
                <a:cs typeface="Consolas" pitchFamily="49" charset="0"/>
              </a:endParaRPr>
            </a:p>
          </p:txBody>
        </p:sp>
        <p:sp>
          <p:nvSpPr>
            <p:cNvPr id="10" name="AutoShape 10"/>
            <p:cNvSpPr>
              <a:spLocks/>
            </p:cNvSpPr>
            <p:nvPr/>
          </p:nvSpPr>
          <p:spPr bwMode="auto">
            <a:xfrm rot="16200000">
              <a:off x="1996267" y="2878365"/>
              <a:ext cx="144462" cy="863600"/>
            </a:xfrm>
            <a:prstGeom prst="leftBrace">
              <a:avLst>
                <a:gd name="adj1" fmla="val 49817"/>
                <a:gd name="adj2" fmla="val 50000"/>
              </a:avLst>
            </a:prstGeom>
            <a:ln w="19050">
              <a:headEnd/>
              <a:tailEnd type="none" w="med" len="lg"/>
            </a:ln>
          </p:spPr>
          <p:style>
            <a:lnRef idx="3">
              <a:schemeClr val="dk1"/>
            </a:lnRef>
            <a:fillRef idx="0">
              <a:schemeClr val="dk1"/>
            </a:fillRef>
            <a:effectRef idx="2">
              <a:schemeClr val="dk1"/>
            </a:effectRef>
            <a:fontRef idx="minor">
              <a:schemeClr val="tx1"/>
            </a:fontRef>
          </p:style>
          <p:txBody>
            <a:bodyPr wrap="none" anchor="ctr"/>
            <a:lstStyle/>
            <a:p>
              <a:pPr algn="l"/>
              <a:endParaRPr lang="zh-CN" altLang="en-US" sz="1800">
                <a:latin typeface="Consolas" pitchFamily="49" charset="0"/>
                <a:ea typeface="仿宋" pitchFamily="49" charset="-122"/>
                <a:cs typeface="Consolas" pitchFamily="49" charset="0"/>
              </a:endParaRPr>
            </a:p>
          </p:txBody>
        </p:sp>
        <p:sp>
          <p:nvSpPr>
            <p:cNvPr id="11" name="AutoShape 11"/>
            <p:cNvSpPr>
              <a:spLocks/>
            </p:cNvSpPr>
            <p:nvPr/>
          </p:nvSpPr>
          <p:spPr bwMode="auto">
            <a:xfrm rot="16200000">
              <a:off x="3292889" y="2842166"/>
              <a:ext cx="144462" cy="936000"/>
            </a:xfrm>
            <a:prstGeom prst="leftBrace">
              <a:avLst>
                <a:gd name="adj1" fmla="val 49817"/>
                <a:gd name="adj2" fmla="val 50000"/>
              </a:avLst>
            </a:prstGeom>
            <a:ln w="19050">
              <a:headEnd/>
              <a:tailEnd type="none" w="med" len="lg"/>
            </a:ln>
          </p:spPr>
          <p:style>
            <a:lnRef idx="3">
              <a:schemeClr val="dk1"/>
            </a:lnRef>
            <a:fillRef idx="0">
              <a:schemeClr val="dk1"/>
            </a:fillRef>
            <a:effectRef idx="2">
              <a:schemeClr val="dk1"/>
            </a:effectRef>
            <a:fontRef idx="minor">
              <a:schemeClr val="tx1"/>
            </a:fontRef>
          </p:style>
          <p:txBody>
            <a:bodyPr wrap="none" anchor="ctr"/>
            <a:lstStyle/>
            <a:p>
              <a:pPr algn="l"/>
              <a:endParaRPr lang="zh-CN" altLang="en-US" sz="1800">
                <a:latin typeface="Consolas" pitchFamily="49" charset="0"/>
                <a:ea typeface="仿宋" pitchFamily="49" charset="-122"/>
                <a:cs typeface="Consolas" pitchFamily="49" charset="0"/>
              </a:endParaRPr>
            </a:p>
          </p:txBody>
        </p:sp>
        <p:sp>
          <p:nvSpPr>
            <p:cNvPr id="16" name="AutoShape 16"/>
            <p:cNvSpPr>
              <a:spLocks/>
            </p:cNvSpPr>
            <p:nvPr/>
          </p:nvSpPr>
          <p:spPr bwMode="auto">
            <a:xfrm rot="16200000">
              <a:off x="5866557" y="2878366"/>
              <a:ext cx="144463" cy="863600"/>
            </a:xfrm>
            <a:prstGeom prst="leftBrace">
              <a:avLst>
                <a:gd name="adj1" fmla="val 49817"/>
                <a:gd name="adj2" fmla="val 50000"/>
              </a:avLst>
            </a:prstGeom>
            <a:ln w="19050">
              <a:headEnd/>
              <a:tailEnd type="none" w="med" len="lg"/>
            </a:ln>
          </p:spPr>
          <p:style>
            <a:lnRef idx="3">
              <a:schemeClr val="dk1"/>
            </a:lnRef>
            <a:fillRef idx="0">
              <a:schemeClr val="dk1"/>
            </a:fillRef>
            <a:effectRef idx="2">
              <a:schemeClr val="dk1"/>
            </a:effectRef>
            <a:fontRef idx="minor">
              <a:schemeClr val="tx1"/>
            </a:fontRef>
          </p:style>
          <p:txBody>
            <a:bodyPr wrap="none" anchor="ctr"/>
            <a:lstStyle/>
            <a:p>
              <a:pPr algn="l"/>
              <a:endParaRPr lang="zh-CN" altLang="en-US" sz="1800">
                <a:latin typeface="Consolas" pitchFamily="49" charset="0"/>
                <a:ea typeface="仿宋" pitchFamily="49" charset="-122"/>
                <a:cs typeface="Consolas" pitchFamily="49" charset="0"/>
              </a:endParaRPr>
            </a:p>
          </p:txBody>
        </p:sp>
        <p:sp>
          <p:nvSpPr>
            <p:cNvPr id="17" name="AutoShape 17"/>
            <p:cNvSpPr>
              <a:spLocks/>
            </p:cNvSpPr>
            <p:nvPr/>
          </p:nvSpPr>
          <p:spPr bwMode="auto">
            <a:xfrm rot="16200000">
              <a:off x="7395338" y="2878366"/>
              <a:ext cx="144463" cy="863600"/>
            </a:xfrm>
            <a:prstGeom prst="leftBrace">
              <a:avLst>
                <a:gd name="adj1" fmla="val 49817"/>
                <a:gd name="adj2" fmla="val 50000"/>
              </a:avLst>
            </a:prstGeom>
            <a:ln w="19050">
              <a:headEnd/>
              <a:tailEnd type="none" w="med" len="lg"/>
            </a:ln>
          </p:spPr>
          <p:style>
            <a:lnRef idx="3">
              <a:schemeClr val="dk1"/>
            </a:lnRef>
            <a:fillRef idx="0">
              <a:schemeClr val="dk1"/>
            </a:fillRef>
            <a:effectRef idx="2">
              <a:schemeClr val="dk1"/>
            </a:effectRef>
            <a:fontRef idx="minor">
              <a:schemeClr val="tx1"/>
            </a:fontRef>
          </p:style>
          <p:txBody>
            <a:bodyPr wrap="none" anchor="ctr"/>
            <a:lstStyle/>
            <a:p>
              <a:pPr algn="l"/>
              <a:endParaRPr lang="zh-CN" altLang="en-US" sz="1800">
                <a:latin typeface="Consolas" pitchFamily="49" charset="0"/>
                <a:ea typeface="仿宋" pitchFamily="49" charset="-122"/>
                <a:cs typeface="Consolas" pitchFamily="49" charset="0"/>
              </a:endParaRPr>
            </a:p>
          </p:txBody>
        </p:sp>
      </p:grpSp>
      <p:sp>
        <p:nvSpPr>
          <p:cNvPr id="26" name="TextBox 25"/>
          <p:cNvSpPr txBox="1"/>
          <p:nvPr/>
        </p:nvSpPr>
        <p:spPr>
          <a:xfrm>
            <a:off x="428596" y="1285860"/>
            <a:ext cx="85725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en-US" sz="2000"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cs typeface="Consolas" pitchFamily="49" charset="0"/>
              </a:rPr>
              <a:t>证明</a:t>
            </a:r>
          </a:p>
        </p:txBody>
      </p:sp>
      <p:sp>
        <p:nvSpPr>
          <p:cNvPr id="27" name="灯片编号占位符 26"/>
          <p:cNvSpPr>
            <a:spLocks noGrp="1"/>
          </p:cNvSpPr>
          <p:nvPr>
            <p:ph type="sldNum" sz="quarter" idx="12"/>
          </p:nvPr>
        </p:nvSpPr>
        <p:spPr/>
        <p:txBody>
          <a:bodyPr/>
          <a:lstStyle/>
          <a:p>
            <a:fld id="{67864EE2-EAB3-4814-A7EB-820BD7610F1E}" type="slidenum">
              <a:rPr lang="en-US" altLang="zh-CN" smtClean="0"/>
              <a:pPr/>
              <a:t>21</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835824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仿宋" pitchFamily="49" charset="-122"/>
                <a:cs typeface="Consolas" pitchFamily="49" charset="0"/>
              </a:rPr>
              <a:t>已知先序序列为</a:t>
            </a:r>
            <a:r>
              <a:rPr lang="en-US" altLang="zh-CN" sz="2000" smtClean="0">
                <a:solidFill>
                  <a:srgbClr val="0000FF"/>
                </a:solidFill>
                <a:latin typeface="Consolas" pitchFamily="49" charset="0"/>
                <a:ea typeface="仿宋" pitchFamily="49" charset="-122"/>
                <a:cs typeface="Consolas" pitchFamily="49" charset="0"/>
              </a:rPr>
              <a:t>ABDGCEF</a:t>
            </a:r>
            <a:r>
              <a:rPr lang="zh-CN" altLang="zh-CN" sz="2000" smtClean="0">
                <a:solidFill>
                  <a:srgbClr val="0000FF"/>
                </a:solidFill>
                <a:latin typeface="Consolas" pitchFamily="49" charset="0"/>
                <a:ea typeface="仿宋" pitchFamily="49" charset="-122"/>
                <a:cs typeface="Consolas" pitchFamily="49" charset="0"/>
              </a:rPr>
              <a:t>，中序序列为</a:t>
            </a:r>
            <a:r>
              <a:rPr lang="en-US" altLang="zh-CN" sz="2000" smtClean="0">
                <a:solidFill>
                  <a:srgbClr val="0000FF"/>
                </a:solidFill>
                <a:latin typeface="Consolas" pitchFamily="49" charset="0"/>
                <a:ea typeface="仿宋" pitchFamily="49" charset="-122"/>
                <a:cs typeface="Consolas" pitchFamily="49" charset="0"/>
              </a:rPr>
              <a:t>DGBAECF</a:t>
            </a:r>
            <a:r>
              <a:rPr lang="zh-CN" altLang="zh-CN" sz="2000" smtClean="0">
                <a:solidFill>
                  <a:srgbClr val="0000FF"/>
                </a:solidFill>
                <a:latin typeface="Consolas" pitchFamily="49" charset="0"/>
                <a:ea typeface="仿宋" pitchFamily="49" charset="-122"/>
                <a:cs typeface="Consolas" pitchFamily="49" charset="0"/>
              </a:rPr>
              <a:t>，则构造二叉树的过程</a:t>
            </a:r>
            <a:r>
              <a:rPr lang="zh-CN" altLang="en-US" sz="2000" smtClean="0">
                <a:solidFill>
                  <a:srgbClr val="0000FF"/>
                </a:solidFill>
                <a:latin typeface="Consolas" pitchFamily="49" charset="0"/>
                <a:ea typeface="仿宋" pitchFamily="49" charset="-122"/>
                <a:cs typeface="Consolas" pitchFamily="49" charset="0"/>
              </a:rPr>
              <a:t>：</a:t>
            </a:r>
          </a:p>
        </p:txBody>
      </p:sp>
      <p:sp>
        <p:nvSpPr>
          <p:cNvPr id="18448"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0" name="组合 19"/>
          <p:cNvGrpSpPr/>
          <p:nvPr/>
        </p:nvGrpSpPr>
        <p:grpSpPr>
          <a:xfrm>
            <a:off x="1008139" y="1142984"/>
            <a:ext cx="6699094" cy="5162564"/>
            <a:chOff x="1008139" y="1293903"/>
            <a:chExt cx="6699094" cy="5162564"/>
          </a:xfrm>
        </p:grpSpPr>
        <p:sp>
          <p:nvSpPr>
            <p:cNvPr id="18446" name="Line 14"/>
            <p:cNvSpPr>
              <a:spLocks noChangeShapeType="1"/>
            </p:cNvSpPr>
            <p:nvPr/>
          </p:nvSpPr>
          <p:spPr bwMode="auto">
            <a:xfrm>
              <a:off x="5888038" y="3588504"/>
              <a:ext cx="543232" cy="628516"/>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2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8445" name="Line 13"/>
            <p:cNvSpPr>
              <a:spLocks noChangeShapeType="1"/>
            </p:cNvSpPr>
            <p:nvPr/>
          </p:nvSpPr>
          <p:spPr bwMode="auto">
            <a:xfrm flipH="1">
              <a:off x="4613223" y="3612633"/>
              <a:ext cx="543232" cy="628516"/>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2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8444" name="Line 12"/>
            <p:cNvSpPr>
              <a:spLocks noChangeShapeType="1"/>
            </p:cNvSpPr>
            <p:nvPr/>
          </p:nvSpPr>
          <p:spPr bwMode="auto">
            <a:xfrm>
              <a:off x="2251945" y="4945501"/>
              <a:ext cx="542083" cy="627367"/>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2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8443" name="Line 11"/>
            <p:cNvSpPr>
              <a:spLocks noChangeShapeType="1"/>
            </p:cNvSpPr>
            <p:nvPr/>
          </p:nvSpPr>
          <p:spPr bwMode="auto">
            <a:xfrm flipH="1">
              <a:off x="2276063" y="3644806"/>
              <a:ext cx="361772" cy="628516"/>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2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8442" name="Freeform 10"/>
            <p:cNvSpPr>
              <a:spLocks/>
            </p:cNvSpPr>
            <p:nvPr/>
          </p:nvSpPr>
          <p:spPr bwMode="auto">
            <a:xfrm>
              <a:off x="5003707" y="2208526"/>
              <a:ext cx="414602" cy="537743"/>
            </a:xfrm>
            <a:custGeom>
              <a:avLst/>
              <a:gdLst/>
              <a:ahLst/>
              <a:cxnLst>
                <a:cxn ang="0">
                  <a:pos x="0" y="0"/>
                </a:cxn>
                <a:cxn ang="0">
                  <a:pos x="412" y="535"/>
                </a:cxn>
              </a:cxnLst>
              <a:rect l="0" t="0" r="r" b="b"/>
              <a:pathLst>
                <a:path w="412" h="535">
                  <a:moveTo>
                    <a:pt x="0" y="0"/>
                  </a:moveTo>
                  <a:lnTo>
                    <a:pt x="412" y="535"/>
                  </a:lnTo>
                </a:path>
              </a:pathLst>
            </a:cu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2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8441" name="Line 9"/>
            <p:cNvSpPr>
              <a:spLocks noChangeShapeType="1"/>
            </p:cNvSpPr>
            <p:nvPr/>
          </p:nvSpPr>
          <p:spPr bwMode="auto">
            <a:xfrm flipH="1">
              <a:off x="3181067" y="2208526"/>
              <a:ext cx="723543" cy="627367"/>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2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8440" name="Rectangle 8"/>
            <p:cNvSpPr>
              <a:spLocks noChangeArrowheads="1"/>
            </p:cNvSpPr>
            <p:nvPr/>
          </p:nvSpPr>
          <p:spPr bwMode="auto">
            <a:xfrm>
              <a:off x="3361378" y="1293903"/>
              <a:ext cx="2172927" cy="912325"/>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2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:BDG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:DGB</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:CEF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:ECF</a:t>
              </a:r>
            </a:p>
          </p:txBody>
        </p:sp>
        <p:sp>
          <p:nvSpPr>
            <p:cNvPr id="18439" name="Rectangle 7"/>
            <p:cNvSpPr>
              <a:spLocks noChangeArrowheads="1"/>
            </p:cNvSpPr>
            <p:nvPr/>
          </p:nvSpPr>
          <p:spPr bwMode="auto">
            <a:xfrm>
              <a:off x="1732831" y="2718693"/>
              <a:ext cx="1991467" cy="912325"/>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2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:DG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:DG</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200"/>
                </a:lnSpc>
                <a:spcBef>
                  <a:spcPct val="0"/>
                </a:spcBef>
                <a:spcAft>
                  <a:spcPct val="0"/>
                </a:spcAft>
                <a:buClrTx/>
                <a:buSzTx/>
                <a:buFontTx/>
                <a:buNone/>
                <a:tabLst/>
              </a:pPr>
              <a:endPar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8438" name="Rectangle 6"/>
            <p:cNvSpPr>
              <a:spLocks noChangeArrowheads="1"/>
            </p:cNvSpPr>
            <p:nvPr/>
          </p:nvSpPr>
          <p:spPr bwMode="auto">
            <a:xfrm>
              <a:off x="1008139" y="4115905"/>
              <a:ext cx="1991467" cy="912325"/>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2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:G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a:p>
              <a:pPr marL="0" marR="0" lvl="0" algn="l" defTabSz="914400" rtl="0" eaLnBrk="0" fontAlgn="base" latinLnBrk="0" hangingPunct="0">
                <a:lnSpc>
                  <a:spcPts val="2200"/>
                </a:lnSpc>
                <a:spcBef>
                  <a:spcPct val="0"/>
                </a:spcBef>
                <a:spcAft>
                  <a:spcPct val="0"/>
                </a:spcAft>
                <a:buClrTx/>
                <a:buSzTx/>
                <a:buFontTx/>
                <a:buNone/>
                <a:tabLst/>
              </a:pPr>
              <a:endPar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8437" name="Rectangle 5"/>
            <p:cNvSpPr>
              <a:spLocks noChangeArrowheads="1"/>
            </p:cNvSpPr>
            <p:nvPr/>
          </p:nvSpPr>
          <p:spPr bwMode="auto">
            <a:xfrm>
              <a:off x="2094603" y="5544142"/>
              <a:ext cx="1810007" cy="912325"/>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2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200"/>
                </a:lnSpc>
                <a:spcBef>
                  <a:spcPct val="0"/>
                </a:spcBef>
                <a:spcAft>
                  <a:spcPct val="0"/>
                </a:spcAft>
                <a:buClrTx/>
                <a:buSzTx/>
                <a:buFontTx/>
                <a:buNone/>
                <a:tabLst/>
              </a:pPr>
              <a:endPar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8436" name="Rectangle 4"/>
            <p:cNvSpPr>
              <a:spLocks noChangeArrowheads="1"/>
            </p:cNvSpPr>
            <p:nvPr/>
          </p:nvSpPr>
          <p:spPr bwMode="auto">
            <a:xfrm>
              <a:off x="4629302" y="2703755"/>
              <a:ext cx="1629695" cy="912325"/>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16740" tIns="0" rIns="0" bIns="0" numCol="1" anchor="t" anchorCtr="0" compatLnSpc="1">
              <a:prstTxWarp prst="textNoShape">
                <a:avLst/>
              </a:prstTxWarp>
            </a:bodyPr>
            <a:lstStyle/>
            <a:p>
              <a:pPr marL="0" marR="0" lvl="0" algn="l" defTabSz="914400" rtl="0" eaLnBrk="1" fontAlgn="base" latinLnBrk="0" hangingPunct="1">
                <a:lnSpc>
                  <a:spcPts val="22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:E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:F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a:p>
              <a:pPr marL="0" marR="0" lvl="0" algn="l" defTabSz="914400" rtl="0" eaLnBrk="0" fontAlgn="base" latinLnBrk="0" hangingPunct="0">
                <a:lnSpc>
                  <a:spcPts val="2200"/>
                </a:lnSpc>
                <a:spcBef>
                  <a:spcPct val="0"/>
                </a:spcBef>
                <a:spcAft>
                  <a:spcPct val="0"/>
                </a:spcAft>
                <a:buClrTx/>
                <a:buSzTx/>
                <a:buFontTx/>
                <a:buNone/>
                <a:tabLst/>
              </a:pPr>
              <a:endPar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8435" name="Rectangle 3"/>
            <p:cNvSpPr>
              <a:spLocks noChangeArrowheads="1"/>
            </p:cNvSpPr>
            <p:nvPr/>
          </p:nvSpPr>
          <p:spPr bwMode="auto">
            <a:xfrm>
              <a:off x="3904610" y="4115905"/>
              <a:ext cx="1811156" cy="912325"/>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2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200"/>
                </a:lnSpc>
                <a:spcBef>
                  <a:spcPct val="0"/>
                </a:spcBef>
                <a:spcAft>
                  <a:spcPct val="0"/>
                </a:spcAft>
                <a:buClrTx/>
                <a:buSzTx/>
                <a:buFontTx/>
                <a:buNone/>
                <a:tabLst/>
              </a:pPr>
              <a:endPar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8434" name="Rectangle 2"/>
            <p:cNvSpPr>
              <a:spLocks noChangeArrowheads="1"/>
            </p:cNvSpPr>
            <p:nvPr/>
          </p:nvSpPr>
          <p:spPr bwMode="auto">
            <a:xfrm>
              <a:off x="5896077" y="4115905"/>
              <a:ext cx="1811156" cy="912325"/>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16740" tIns="0" rIns="0" bIns="0" numCol="1" anchor="t" anchorCtr="0" compatLnSpc="1">
              <a:prstTxWarp prst="textNoShape">
                <a:avLst/>
              </a:prstTxWarp>
            </a:bodyPr>
            <a:lstStyle/>
            <a:p>
              <a:pPr marL="0" marR="0" lvl="0" algn="l" defTabSz="914400" rtl="0" eaLnBrk="1" fontAlgn="base" latinLnBrk="0" hangingPunct="1">
                <a:lnSpc>
                  <a:spcPts val="22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2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右先序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200"/>
                </a:lnSpc>
                <a:spcBef>
                  <a:spcPct val="0"/>
                </a:spcBef>
                <a:spcAft>
                  <a:spcPct val="0"/>
                </a:spcAft>
                <a:buClrTx/>
                <a:buSzTx/>
                <a:buFontTx/>
                <a:buNone/>
                <a:tabLst/>
              </a:pPr>
              <a:endPar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grpSp>
      <p:sp>
        <p:nvSpPr>
          <p:cNvPr id="21" name="灯片编号占位符 20"/>
          <p:cNvSpPr>
            <a:spLocks noGrp="1"/>
          </p:cNvSpPr>
          <p:nvPr>
            <p:ph type="sldNum" sz="quarter" idx="12"/>
          </p:nvPr>
        </p:nvSpPr>
        <p:spPr/>
        <p:txBody>
          <a:bodyPr/>
          <a:lstStyle/>
          <a:p>
            <a:fld id="{67864EE2-EAB3-4814-A7EB-820BD7610F1E}" type="slidenum">
              <a:rPr lang="en-US" altLang="zh-CN" smtClean="0"/>
              <a:pPr/>
              <a:t>22</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357158" y="928670"/>
            <a:ext cx="8429684" cy="195678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CreateBTree1</a:t>
            </a:r>
            <a:r>
              <a:rPr lang="en-US" altLang="zh-CN" sz="1800" smtClean="0">
                <a:solidFill>
                  <a:srgbClr val="0000FF"/>
                </a:solidFill>
                <a:latin typeface="Consolas" pitchFamily="49" charset="0"/>
                <a:ea typeface="仿宋" pitchFamily="49" charset="-122"/>
                <a:cs typeface="Consolas" pitchFamily="49" charset="0"/>
              </a:rPr>
              <a:t>(BTree&amp; bt,vector&lt;char&gt; pres,vector&lt;char&gt; ins)</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FF00FF"/>
                </a:solidFill>
                <a:latin typeface="Consolas" pitchFamily="49" charset="0"/>
                <a:ea typeface="仿宋" pitchFamily="49" charset="-122"/>
                <a:cs typeface="Consolas" pitchFamily="49" charset="0"/>
              </a:rPr>
              <a:t>//</a:t>
            </a:r>
            <a:r>
              <a:rPr lang="zh-CN" altLang="zh-CN" sz="1800" smtClean="0">
                <a:solidFill>
                  <a:srgbClr val="FF00FF"/>
                </a:solidFill>
                <a:latin typeface="Consolas" pitchFamily="49" charset="0"/>
                <a:ea typeface="仿宋" pitchFamily="49" charset="-122"/>
                <a:cs typeface="Consolas" pitchFamily="49" charset="0"/>
              </a:rPr>
              <a:t>由先序序列</a:t>
            </a:r>
            <a:r>
              <a:rPr lang="en-US" altLang="zh-CN" sz="1800" smtClean="0">
                <a:solidFill>
                  <a:srgbClr val="FF00FF"/>
                </a:solidFill>
                <a:latin typeface="Consolas" pitchFamily="49" charset="0"/>
                <a:ea typeface="仿宋" pitchFamily="49" charset="-122"/>
                <a:cs typeface="Consolas" pitchFamily="49" charset="0"/>
              </a:rPr>
              <a:t>pres</a:t>
            </a:r>
            <a:r>
              <a:rPr lang="zh-CN" altLang="zh-CN" sz="1800" smtClean="0">
                <a:solidFill>
                  <a:srgbClr val="FF00FF"/>
                </a:solidFill>
                <a:latin typeface="Consolas" pitchFamily="49" charset="0"/>
                <a:ea typeface="仿宋" pitchFamily="49" charset="-122"/>
                <a:cs typeface="Consolas" pitchFamily="49" charset="0"/>
              </a:rPr>
              <a:t>和中序序列</a:t>
            </a:r>
            <a:r>
              <a:rPr lang="en-US" altLang="zh-CN" sz="1800" smtClean="0">
                <a:solidFill>
                  <a:srgbClr val="FF00FF"/>
                </a:solidFill>
                <a:latin typeface="Consolas" pitchFamily="49" charset="0"/>
                <a:ea typeface="仿宋" pitchFamily="49" charset="-122"/>
                <a:cs typeface="Consolas" pitchFamily="49" charset="0"/>
              </a:rPr>
              <a:t>ins</a:t>
            </a:r>
            <a:r>
              <a:rPr lang="zh-CN" altLang="zh-CN" sz="1800" smtClean="0">
                <a:solidFill>
                  <a:srgbClr val="FF00FF"/>
                </a:solidFill>
                <a:latin typeface="Consolas" pitchFamily="49" charset="0"/>
                <a:ea typeface="仿宋" pitchFamily="49" charset="-122"/>
                <a:cs typeface="Consolas" pitchFamily="49" charset="0"/>
              </a:rPr>
              <a:t>构造二叉链</a:t>
            </a:r>
          </a:p>
          <a:p>
            <a:pPr algn="l"/>
            <a:r>
              <a:rPr lang="en-US" altLang="zh-CN" sz="1800" smtClean="0">
                <a:solidFill>
                  <a:srgbClr val="0000FF"/>
                </a:solidFill>
                <a:latin typeface="Consolas" pitchFamily="49" charset="0"/>
                <a:ea typeface="仿宋" pitchFamily="49" charset="-122"/>
                <a:cs typeface="Consolas" pitchFamily="49" charset="0"/>
              </a:rPr>
              <a:t>{  int n=pres.size();</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bt.r=</a:t>
            </a:r>
            <a:r>
              <a:rPr lang="en-US" altLang="zh-CN" sz="1800" smtClean="0">
                <a:solidFill>
                  <a:srgbClr val="FF0000"/>
                </a:solidFill>
                <a:latin typeface="Consolas" pitchFamily="49" charset="0"/>
                <a:ea typeface="仿宋" pitchFamily="49" charset="-122"/>
                <a:cs typeface="Consolas" pitchFamily="49" charset="0"/>
              </a:rPr>
              <a:t>CreateBTree11</a:t>
            </a:r>
            <a:r>
              <a:rPr lang="en-US" altLang="zh-CN" sz="1800" smtClean="0">
                <a:solidFill>
                  <a:srgbClr val="0000FF"/>
                </a:solidFill>
                <a:latin typeface="Consolas" pitchFamily="49" charset="0"/>
                <a:ea typeface="仿宋" pitchFamily="49" charset="-122"/>
                <a:cs typeface="Consolas" pitchFamily="49" charset="0"/>
              </a:rPr>
              <a:t>(pres,0,ins,0,n);</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23</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71406" y="3133521"/>
            <a:ext cx="8929750" cy="329587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BTNode* </a:t>
            </a:r>
            <a:r>
              <a:rPr lang="en-US" altLang="zh-CN" sz="1800" smtClean="0">
                <a:solidFill>
                  <a:srgbClr val="FF0000"/>
                </a:solidFill>
                <a:latin typeface="Consolas" pitchFamily="49" charset="0"/>
                <a:ea typeface="仿宋" pitchFamily="49" charset="-122"/>
                <a:cs typeface="Consolas" pitchFamily="49" charset="0"/>
              </a:rPr>
              <a:t>CreateBTree11</a:t>
            </a:r>
            <a:r>
              <a:rPr lang="en-US" altLang="zh-CN" sz="1800" smtClean="0">
                <a:solidFill>
                  <a:srgbClr val="0000FF"/>
                </a:solidFill>
                <a:latin typeface="Consolas" pitchFamily="49" charset="0"/>
                <a:ea typeface="仿宋" pitchFamily="49" charset="-122"/>
                <a:cs typeface="Consolas" pitchFamily="49" charset="0"/>
              </a:rPr>
              <a:t>(vector&lt;char&gt; pres,int i,</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vector&lt;char&gt; ins,int j,int n) </a:t>
            </a:r>
            <a:r>
              <a:rPr lang="en-US" altLang="zh-CN" sz="1800" smtClean="0">
                <a:solidFill>
                  <a:srgbClr val="FF00FF"/>
                </a:solidFill>
                <a:latin typeface="Consolas" pitchFamily="49" charset="0"/>
                <a:ea typeface="仿宋" pitchFamily="49" charset="-122"/>
                <a:cs typeface="Consolas" pitchFamily="49" charset="0"/>
              </a:rPr>
              <a:t>//</a:t>
            </a:r>
            <a:r>
              <a:rPr lang="zh-CN" altLang="zh-CN" sz="1800" smtClean="0">
                <a:solidFill>
                  <a:srgbClr val="FF00FF"/>
                </a:solidFill>
                <a:latin typeface="Consolas" pitchFamily="49" charset="0"/>
                <a:ea typeface="仿宋" pitchFamily="49" charset="-122"/>
                <a:cs typeface="Consolas" pitchFamily="49" charset="0"/>
              </a:rPr>
              <a:t>被</a:t>
            </a:r>
            <a:r>
              <a:rPr lang="en-US" altLang="zh-CN" sz="1800" smtClean="0">
                <a:solidFill>
                  <a:srgbClr val="FF00FF"/>
                </a:solidFill>
                <a:latin typeface="Consolas" pitchFamily="49" charset="0"/>
                <a:ea typeface="仿宋" pitchFamily="49" charset="-122"/>
                <a:cs typeface="Consolas" pitchFamily="49" charset="0"/>
              </a:rPr>
              <a:t>CreateBTree1</a:t>
            </a:r>
            <a:r>
              <a:rPr lang="zh-CN" altLang="zh-CN" sz="1800" smtClean="0">
                <a:solidFill>
                  <a:srgbClr val="FF00FF"/>
                </a:solidFill>
                <a:latin typeface="Consolas" pitchFamily="49" charset="0"/>
                <a:ea typeface="仿宋" pitchFamily="49" charset="-122"/>
                <a:cs typeface="Consolas" pitchFamily="49" charset="0"/>
              </a:rPr>
              <a:t>调用</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if (n&lt;=0) return NULL;</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char d=pres[i];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取根结点值</a:t>
            </a:r>
            <a:r>
              <a:rPr lang="en-US" altLang="zh-CN" sz="1800" smtClean="0">
                <a:solidFill>
                  <a:schemeClr val="bg1">
                    <a:lumMod val="50000"/>
                  </a:schemeClr>
                </a:solidFill>
                <a:latin typeface="Consolas" pitchFamily="49" charset="0"/>
                <a:ea typeface="仿宋" pitchFamily="49" charset="-122"/>
                <a:cs typeface="Consolas" pitchFamily="49" charset="0"/>
              </a:rPr>
              <a:t>d</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BTNode* b=new BTNode(d);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创建根结点</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值为</a:t>
            </a:r>
            <a:r>
              <a:rPr lang="en-US" altLang="zh-CN" sz="1800" smtClean="0">
                <a:solidFill>
                  <a:schemeClr val="bg1">
                    <a:lumMod val="50000"/>
                  </a:schemeClr>
                </a:solidFill>
                <a:latin typeface="Consolas" pitchFamily="49" charset="0"/>
                <a:ea typeface="仿宋" pitchFamily="49" charset="-122"/>
                <a:cs typeface="Consolas" pitchFamily="49" charset="0"/>
              </a:rPr>
              <a:t>d)</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int p=j;</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(ins[p]!=d) p++;				</a:t>
            </a:r>
            <a:r>
              <a:rPr lang="en-US" altLang="zh-CN" sz="1800" smtClean="0">
                <a:solidFill>
                  <a:schemeClr val="bg1">
                    <a:lumMod val="50000"/>
                  </a:schemeClr>
                </a:solidFill>
                <a:latin typeface="Consolas" pitchFamily="49" charset="0"/>
                <a:ea typeface="仿宋" pitchFamily="49" charset="-122"/>
                <a:cs typeface="Consolas" pitchFamily="49" charset="0"/>
              </a:rPr>
              <a:t>//ins</a:t>
            </a:r>
            <a:r>
              <a:rPr lang="zh-CN" altLang="zh-CN" sz="1800" smtClean="0">
                <a:solidFill>
                  <a:schemeClr val="bg1">
                    <a:lumMod val="50000"/>
                  </a:schemeClr>
                </a:solidFill>
                <a:latin typeface="Consolas" pitchFamily="49" charset="0"/>
                <a:ea typeface="仿宋" pitchFamily="49" charset="-122"/>
                <a:cs typeface="Consolas" pitchFamily="49" charset="0"/>
              </a:rPr>
              <a:t>中找根索引</a:t>
            </a:r>
            <a:r>
              <a:rPr lang="en-US" altLang="zh-CN" sz="1800" smtClean="0">
                <a:solidFill>
                  <a:schemeClr val="bg1">
                    <a:lumMod val="50000"/>
                  </a:schemeClr>
                </a:solidFill>
                <a:latin typeface="Consolas" pitchFamily="49" charset="0"/>
                <a:ea typeface="仿宋" pitchFamily="49" charset="-122"/>
                <a:cs typeface="Consolas" pitchFamily="49" charset="0"/>
              </a:rPr>
              <a:t>p</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int k=p-j;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左子树中结点个数</a:t>
            </a:r>
            <a:r>
              <a:rPr lang="en-US" altLang="zh-CN" sz="1800" smtClean="0">
                <a:solidFill>
                  <a:schemeClr val="bg1">
                    <a:lumMod val="50000"/>
                  </a:schemeClr>
                </a:solidFill>
                <a:latin typeface="Consolas" pitchFamily="49" charset="0"/>
                <a:ea typeface="仿宋" pitchFamily="49" charset="-122"/>
                <a:cs typeface="Consolas" pitchFamily="49" charset="0"/>
              </a:rPr>
              <a:t>k</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b-&gt;lchild=</a:t>
            </a:r>
            <a:r>
              <a:rPr lang="en-US" altLang="zh-CN" sz="1800" smtClean="0">
                <a:solidFill>
                  <a:srgbClr val="FF0000"/>
                </a:solidFill>
                <a:latin typeface="Consolas" pitchFamily="49" charset="0"/>
                <a:ea typeface="仿宋" pitchFamily="49" charset="-122"/>
                <a:cs typeface="Consolas" pitchFamily="49" charset="0"/>
              </a:rPr>
              <a:t>CreateBTree11</a:t>
            </a:r>
            <a:r>
              <a:rPr lang="en-US" altLang="zh-CN" sz="1800" smtClean="0">
                <a:solidFill>
                  <a:srgbClr val="0000FF"/>
                </a:solidFill>
                <a:latin typeface="Consolas" pitchFamily="49" charset="0"/>
                <a:ea typeface="仿宋" pitchFamily="49" charset="-122"/>
                <a:cs typeface="Consolas" pitchFamily="49" charset="0"/>
              </a:rPr>
              <a:t>(pres,i+1,ins,j,k);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递归构造左子树</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b-&gt;rchild=</a:t>
            </a:r>
            <a:r>
              <a:rPr lang="en-US" altLang="zh-CN" sz="1800" smtClean="0">
                <a:solidFill>
                  <a:srgbClr val="FF0000"/>
                </a:solidFill>
                <a:latin typeface="Consolas" pitchFamily="49" charset="0"/>
                <a:ea typeface="仿宋" pitchFamily="49" charset="-122"/>
                <a:cs typeface="Consolas" pitchFamily="49" charset="0"/>
              </a:rPr>
              <a:t>CreateBTree11</a:t>
            </a:r>
            <a:r>
              <a:rPr lang="en-US" altLang="zh-CN" sz="1800" smtClean="0">
                <a:solidFill>
                  <a:srgbClr val="0000FF"/>
                </a:solidFill>
                <a:latin typeface="Consolas" pitchFamily="49" charset="0"/>
                <a:ea typeface="仿宋" pitchFamily="49" charset="-122"/>
                <a:cs typeface="Consolas" pitchFamily="49" charset="0"/>
              </a:rPr>
              <a:t>(pres,i+k+1,ins,p+1,n-k-1);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递归构造右子树</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b;</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428596" y="273586"/>
            <a:ext cx="800105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仿宋" pitchFamily="49" charset="-122"/>
                <a:cs typeface="Consolas" pitchFamily="49" charset="0"/>
              </a:rPr>
              <a:t>由先序序列</a:t>
            </a:r>
            <a:r>
              <a:rPr lang="en-US" altLang="zh-CN" sz="2000" smtClean="0">
                <a:solidFill>
                  <a:srgbClr val="0000FF"/>
                </a:solidFill>
                <a:latin typeface="Consolas" pitchFamily="49" charset="0"/>
                <a:ea typeface="仿宋" pitchFamily="49" charset="-122"/>
                <a:cs typeface="Consolas" pitchFamily="49" charset="0"/>
              </a:rPr>
              <a:t>pres[</a:t>
            </a:r>
            <a:r>
              <a:rPr lang="en-US" altLang="zh-CN" sz="2000" i="1" smtClean="0">
                <a:solidFill>
                  <a:srgbClr val="0000FF"/>
                </a:solidFill>
                <a:latin typeface="Consolas" pitchFamily="49" charset="0"/>
                <a:ea typeface="仿宋" pitchFamily="49" charset="-122"/>
                <a:cs typeface="Consolas" pitchFamily="49" charset="0"/>
              </a:rPr>
              <a:t>i</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i</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和中序序列</a:t>
            </a:r>
            <a:r>
              <a:rPr lang="en-US" altLang="zh-CN" sz="2000" smtClean="0">
                <a:solidFill>
                  <a:srgbClr val="0000FF"/>
                </a:solidFill>
                <a:latin typeface="Consolas" pitchFamily="49" charset="0"/>
                <a:ea typeface="仿宋" pitchFamily="49" charset="-122"/>
                <a:cs typeface="Consolas" pitchFamily="49" charset="0"/>
              </a:rPr>
              <a:t>ins[</a:t>
            </a:r>
            <a:r>
              <a:rPr lang="en-US" altLang="zh-CN" sz="2000" i="1" smtClean="0">
                <a:solidFill>
                  <a:srgbClr val="0000FF"/>
                </a:solidFill>
                <a:latin typeface="Consolas" pitchFamily="49" charset="0"/>
                <a:ea typeface="仿宋" pitchFamily="49" charset="-122"/>
                <a:cs typeface="Consolas" pitchFamily="49" charset="0"/>
              </a:rPr>
              <a:t>j</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j</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创建二叉链</a:t>
            </a:r>
            <a:r>
              <a:rPr lang="en-US" altLang="zh-CN" sz="2000" i="1" smtClean="0">
                <a:solidFill>
                  <a:srgbClr val="0000FF"/>
                </a:solidFill>
                <a:latin typeface="Consolas" pitchFamily="49" charset="0"/>
                <a:ea typeface="仿宋" pitchFamily="49" charset="-122"/>
                <a:cs typeface="Consolas" pitchFamily="49" charset="0"/>
              </a:rPr>
              <a:t>b</a:t>
            </a:r>
            <a:endParaRPr lang="zh-CN" altLang="en-US" sz="2000" smtClean="0">
              <a:solidFill>
                <a:srgbClr val="0000FF"/>
              </a:solidFill>
              <a:latin typeface="Consolas" pitchFamily="49" charset="0"/>
              <a:ea typeface="仿宋" pitchFamily="49" charset="-122"/>
              <a:cs typeface="Consolas" pitchFamily="49" charset="0"/>
            </a:endParaRPr>
          </a:p>
        </p:txBody>
      </p:sp>
      <p:grpSp>
        <p:nvGrpSpPr>
          <p:cNvPr id="28" name="组合 27"/>
          <p:cNvGrpSpPr/>
          <p:nvPr/>
        </p:nvGrpSpPr>
        <p:grpSpPr>
          <a:xfrm>
            <a:off x="1142976" y="879805"/>
            <a:ext cx="5857916" cy="2049129"/>
            <a:chOff x="1142976" y="879805"/>
            <a:chExt cx="5857916" cy="2049129"/>
          </a:xfrm>
        </p:grpSpPr>
        <p:sp>
          <p:nvSpPr>
            <p:cNvPr id="7" name="TextBox 6"/>
            <p:cNvSpPr txBox="1"/>
            <p:nvPr/>
          </p:nvSpPr>
          <p:spPr>
            <a:xfrm>
              <a:off x="1142976" y="1427296"/>
              <a:ext cx="5857916" cy="289310"/>
            </a:xfrm>
            <a:prstGeom prst="rect">
              <a:avLst/>
            </a:prstGeom>
            <a:noFill/>
          </p:spPr>
          <p:txBody>
            <a:bodyPr wrap="square" rtlCol="0">
              <a:spAutoFit/>
            </a:bodyPr>
            <a:lstStyle/>
            <a:p>
              <a:pPr algn="l"/>
              <a:r>
                <a:rPr lang="zh-CN" altLang="en-US" sz="1600" smtClean="0">
                  <a:solidFill>
                    <a:srgbClr val="0000FF"/>
                  </a:solidFill>
                  <a:latin typeface="Consolas" pitchFamily="49" charset="0"/>
                  <a:ea typeface="楷体" pitchFamily="49" charset="-122"/>
                  <a:cs typeface="Consolas" pitchFamily="49" charset="0"/>
                </a:rPr>
                <a:t>先序</a:t>
              </a:r>
              <a:r>
                <a:rPr lang="en-US" altLang="zh-CN" sz="1600" smtClean="0">
                  <a:solidFill>
                    <a:srgbClr val="0000FF"/>
                  </a:solidFill>
                  <a:latin typeface="Consolas" pitchFamily="49" charset="0"/>
                  <a:ea typeface="楷体" pitchFamily="49" charset="-122"/>
                  <a:cs typeface="Consolas" pitchFamily="49" charset="0"/>
                </a:rPr>
                <a:t>pres</a:t>
              </a:r>
              <a:r>
                <a:rPr lang="zh-CN" altLang="en-US" sz="1600" smtClean="0">
                  <a:solidFill>
                    <a:srgbClr val="0000FF"/>
                  </a:solidFill>
                  <a:latin typeface="Consolas" pitchFamily="49" charset="0"/>
                  <a:ea typeface="楷体" pitchFamily="49" charset="-122"/>
                  <a:cs typeface="Consolas" pitchFamily="49" charset="0"/>
                </a:rPr>
                <a:t>：</a:t>
              </a:r>
              <a:r>
                <a:rPr lang="en-US" altLang="zh-CN" sz="1600" i="1" smtClean="0">
                  <a:solidFill>
                    <a:srgbClr val="FF0000"/>
                  </a:solidFill>
                  <a:latin typeface="Consolas" pitchFamily="49" charset="0"/>
                  <a:ea typeface="楷体" pitchFamily="49" charset="-122"/>
                  <a:cs typeface="Consolas" pitchFamily="49" charset="0"/>
                </a:rPr>
                <a:t>a</a:t>
              </a:r>
              <a:r>
                <a:rPr lang="en-US" altLang="zh-CN" sz="1600" baseline="-25000" smtClean="0">
                  <a:solidFill>
                    <a:srgbClr val="FF0000"/>
                  </a:solidFill>
                  <a:latin typeface="Consolas" pitchFamily="49" charset="0"/>
                  <a:ea typeface="楷体" pitchFamily="49" charset="-122"/>
                  <a:cs typeface="Consolas" pitchFamily="49" charset="0"/>
                </a:rPr>
                <a:t>0</a:t>
              </a:r>
              <a:r>
                <a:rPr lang="en-US" altLang="zh-CN" sz="1600" smtClean="0">
                  <a:latin typeface="Consolas" pitchFamily="49" charset="0"/>
                  <a:ea typeface="楷体" pitchFamily="49" charset="-122"/>
                  <a:cs typeface="Consolas" pitchFamily="49" charset="0"/>
                </a:rPr>
                <a:t> </a:t>
              </a:r>
              <a:r>
                <a:rPr lang="en-US" altLang="zh-CN" sz="1600" i="1" smtClean="0">
                  <a:solidFill>
                    <a:srgbClr val="003300"/>
                  </a:solidFill>
                  <a:latin typeface="Consolas" pitchFamily="49" charset="0"/>
                  <a:ea typeface="楷体" pitchFamily="49" charset="-122"/>
                  <a:cs typeface="Consolas" pitchFamily="49" charset="0"/>
                </a:rPr>
                <a:t>a</a:t>
              </a:r>
              <a:r>
                <a:rPr lang="en-US" altLang="zh-CN" sz="1600" baseline="-25000" smtClean="0">
                  <a:solidFill>
                    <a:srgbClr val="003300"/>
                  </a:solidFill>
                  <a:latin typeface="Consolas" pitchFamily="49" charset="0"/>
                  <a:ea typeface="楷体" pitchFamily="49" charset="-122"/>
                  <a:cs typeface="Consolas" pitchFamily="49" charset="0"/>
                </a:rPr>
                <a:t>1</a:t>
              </a:r>
              <a:r>
                <a:rPr lang="en-US" altLang="zh-CN" sz="1600" smtClean="0">
                  <a:solidFill>
                    <a:srgbClr val="003300"/>
                  </a:solidFill>
                  <a:latin typeface="Consolas" pitchFamily="49" charset="0"/>
                  <a:ea typeface="楷体" pitchFamily="49" charset="-122"/>
                  <a:cs typeface="Consolas" pitchFamily="49" charset="0"/>
                </a:rPr>
                <a:t>  </a:t>
              </a:r>
              <a:r>
                <a:rPr lang="en-US" altLang="zh-CN" sz="1600" smtClean="0">
                  <a:solidFill>
                    <a:srgbClr val="003300"/>
                  </a:solidFill>
                  <a:latin typeface="+mn-ea"/>
                  <a:ea typeface="+mn-ea"/>
                  <a:cs typeface="Consolas" pitchFamily="49" charset="0"/>
                </a:rPr>
                <a:t>…</a:t>
              </a:r>
              <a:r>
                <a:rPr lang="en-US" altLang="zh-CN" sz="1600" smtClean="0">
                  <a:solidFill>
                    <a:srgbClr val="003300"/>
                  </a:solidFill>
                  <a:latin typeface="Consolas" pitchFamily="49" charset="0"/>
                  <a:ea typeface="楷体" pitchFamily="49" charset="-122"/>
                  <a:cs typeface="Consolas" pitchFamily="49" charset="0"/>
                </a:rPr>
                <a:t>  </a:t>
              </a:r>
              <a:r>
                <a:rPr lang="en-US" altLang="zh-CN" sz="1600" i="1" smtClean="0">
                  <a:solidFill>
                    <a:srgbClr val="003300"/>
                  </a:solidFill>
                  <a:latin typeface="Consolas" pitchFamily="49" charset="0"/>
                  <a:ea typeface="楷体" pitchFamily="49" charset="-122"/>
                  <a:cs typeface="Consolas" pitchFamily="49" charset="0"/>
                </a:rPr>
                <a:t>a</a:t>
              </a:r>
              <a:r>
                <a:rPr lang="en-US" altLang="zh-CN" sz="1600" i="1" baseline="-25000" smtClean="0">
                  <a:solidFill>
                    <a:srgbClr val="003300"/>
                  </a:solidFill>
                  <a:latin typeface="Consolas" pitchFamily="49" charset="0"/>
                  <a:ea typeface="楷体" pitchFamily="49" charset="-122"/>
                  <a:cs typeface="Consolas" pitchFamily="49" charset="0"/>
                </a:rPr>
                <a:t>k</a:t>
              </a:r>
              <a:r>
                <a:rPr lang="en-US" altLang="zh-CN" sz="1600" baseline="-25000" smtClean="0">
                  <a:solidFill>
                    <a:srgbClr val="003300"/>
                  </a:solidFill>
                  <a:latin typeface="Consolas" pitchFamily="49" charset="0"/>
                  <a:ea typeface="楷体" pitchFamily="49" charset="-122"/>
                  <a:cs typeface="Consolas" pitchFamily="49" charset="0"/>
                </a:rPr>
                <a:t>-1   </a:t>
              </a:r>
              <a:r>
                <a:rPr lang="en-US" altLang="zh-CN" sz="1600" i="1" smtClean="0">
                  <a:solidFill>
                    <a:srgbClr val="003300"/>
                  </a:solidFill>
                  <a:latin typeface="Consolas" pitchFamily="49" charset="0"/>
                  <a:ea typeface="楷体" pitchFamily="49" charset="-122"/>
                  <a:cs typeface="Consolas" pitchFamily="49" charset="0"/>
                </a:rPr>
                <a:t>a</a:t>
              </a:r>
              <a:r>
                <a:rPr lang="en-US" altLang="zh-CN" sz="1600" i="1" baseline="-25000" smtClean="0">
                  <a:solidFill>
                    <a:srgbClr val="003300"/>
                  </a:solidFill>
                  <a:latin typeface="Consolas" pitchFamily="49" charset="0"/>
                  <a:ea typeface="楷体" pitchFamily="49" charset="-122"/>
                  <a:cs typeface="Consolas" pitchFamily="49" charset="0"/>
                </a:rPr>
                <a:t>k</a:t>
              </a:r>
              <a:r>
                <a:rPr lang="en-US" altLang="zh-CN" sz="1600" smtClean="0">
                  <a:latin typeface="Consolas" pitchFamily="49" charset="0"/>
                  <a:ea typeface="楷体" pitchFamily="49" charset="-122"/>
                  <a:cs typeface="Consolas" pitchFamily="49" charset="0"/>
                </a:rPr>
                <a:t>  </a:t>
              </a:r>
              <a:r>
                <a:rPr lang="en-US" altLang="zh-CN" sz="1600" i="1" smtClean="0">
                  <a:solidFill>
                    <a:srgbClr val="CC00FF"/>
                  </a:solidFill>
                  <a:latin typeface="Consolas" pitchFamily="49" charset="0"/>
                  <a:ea typeface="楷体" pitchFamily="49" charset="-122"/>
                  <a:cs typeface="Consolas" pitchFamily="49" charset="0"/>
                </a:rPr>
                <a:t>a</a:t>
              </a:r>
              <a:r>
                <a:rPr lang="en-US" altLang="zh-CN" sz="1600" i="1" baseline="-25000" smtClean="0">
                  <a:solidFill>
                    <a:srgbClr val="CC00FF"/>
                  </a:solidFill>
                  <a:latin typeface="Consolas" pitchFamily="49" charset="0"/>
                  <a:ea typeface="楷体" pitchFamily="49" charset="-122"/>
                  <a:cs typeface="Consolas" pitchFamily="49" charset="0"/>
                </a:rPr>
                <a:t>k</a:t>
              </a:r>
              <a:r>
                <a:rPr lang="en-US" altLang="zh-CN" sz="1600" baseline="-25000" smtClean="0">
                  <a:solidFill>
                    <a:srgbClr val="CC00FF"/>
                  </a:solidFill>
                  <a:latin typeface="Consolas" pitchFamily="49" charset="0"/>
                  <a:ea typeface="楷体" pitchFamily="49" charset="-122"/>
                  <a:cs typeface="Consolas" pitchFamily="49" charset="0"/>
                </a:rPr>
                <a:t>+1  </a:t>
              </a:r>
              <a:r>
                <a:rPr lang="en-US" altLang="zh-CN" sz="1600" smtClean="0">
                  <a:solidFill>
                    <a:srgbClr val="CC00FF"/>
                  </a:solidFill>
                  <a:latin typeface="+mn-ea"/>
                  <a:ea typeface="+mn-ea"/>
                  <a:cs typeface="Consolas" pitchFamily="49" charset="0"/>
                </a:rPr>
                <a:t>…</a:t>
              </a:r>
              <a:r>
                <a:rPr lang="en-US" altLang="zh-CN" sz="1600" smtClean="0">
                  <a:solidFill>
                    <a:srgbClr val="CC00FF"/>
                  </a:solidFill>
                  <a:latin typeface="Consolas" pitchFamily="49" charset="0"/>
                  <a:ea typeface="楷体" pitchFamily="49" charset="-122"/>
                  <a:cs typeface="Consolas" pitchFamily="49" charset="0"/>
                </a:rPr>
                <a:t>  </a:t>
              </a:r>
              <a:r>
                <a:rPr lang="en-US" altLang="zh-CN" sz="1600" i="1" smtClean="0">
                  <a:solidFill>
                    <a:srgbClr val="CC00FF"/>
                  </a:solidFill>
                  <a:latin typeface="Consolas" pitchFamily="49" charset="0"/>
                  <a:ea typeface="楷体" pitchFamily="49" charset="-122"/>
                  <a:cs typeface="Consolas" pitchFamily="49" charset="0"/>
                </a:rPr>
                <a:t>a</a:t>
              </a:r>
              <a:r>
                <a:rPr lang="en-US" altLang="zh-CN" sz="1600" i="1" baseline="-25000" smtClean="0">
                  <a:solidFill>
                    <a:srgbClr val="CC00FF"/>
                  </a:solidFill>
                  <a:latin typeface="Consolas" pitchFamily="49" charset="0"/>
                  <a:ea typeface="楷体" pitchFamily="49" charset="-122"/>
                  <a:cs typeface="Consolas" pitchFamily="49" charset="0"/>
                </a:rPr>
                <a:t>n</a:t>
              </a:r>
              <a:r>
                <a:rPr lang="en-US" altLang="zh-CN" sz="1600" baseline="-25000" smtClean="0">
                  <a:solidFill>
                    <a:srgbClr val="CC00FF"/>
                  </a:solidFill>
                  <a:latin typeface="Consolas" pitchFamily="49" charset="0"/>
                  <a:ea typeface="楷体" pitchFamily="49" charset="-122"/>
                  <a:cs typeface="Consolas" pitchFamily="49" charset="0"/>
                </a:rPr>
                <a:t>-2   </a:t>
              </a:r>
              <a:r>
                <a:rPr lang="en-US" altLang="zh-CN" sz="1600" i="1" smtClean="0">
                  <a:solidFill>
                    <a:srgbClr val="CC00FF"/>
                  </a:solidFill>
                  <a:latin typeface="Consolas" pitchFamily="49" charset="0"/>
                  <a:ea typeface="楷体" pitchFamily="49" charset="-122"/>
                  <a:cs typeface="Consolas" pitchFamily="49" charset="0"/>
                </a:rPr>
                <a:t>a</a:t>
              </a:r>
              <a:r>
                <a:rPr lang="en-US" altLang="zh-CN" sz="1600" i="1" baseline="-25000" smtClean="0">
                  <a:solidFill>
                    <a:srgbClr val="CC00FF"/>
                  </a:solidFill>
                  <a:latin typeface="Consolas" pitchFamily="49" charset="0"/>
                  <a:ea typeface="楷体" pitchFamily="49" charset="-122"/>
                  <a:cs typeface="Consolas" pitchFamily="49" charset="0"/>
                </a:rPr>
                <a:t>n</a:t>
              </a:r>
              <a:r>
                <a:rPr lang="en-US" altLang="zh-CN" sz="1600" baseline="-25000" smtClean="0">
                  <a:solidFill>
                    <a:srgbClr val="CC00FF"/>
                  </a:solidFill>
                  <a:latin typeface="Consolas" pitchFamily="49" charset="0"/>
                  <a:ea typeface="楷体" pitchFamily="49" charset="-122"/>
                  <a:cs typeface="Consolas" pitchFamily="49" charset="0"/>
                </a:rPr>
                <a:t>-1</a:t>
              </a:r>
              <a:endParaRPr lang="zh-CN" altLang="en-US" sz="1600">
                <a:solidFill>
                  <a:srgbClr val="CC00FF"/>
                </a:solidFill>
                <a:latin typeface="Consolas" pitchFamily="49" charset="0"/>
                <a:ea typeface="楷体" pitchFamily="49" charset="-122"/>
                <a:cs typeface="Consolas" pitchFamily="49" charset="0"/>
              </a:endParaRPr>
            </a:p>
          </p:txBody>
        </p:sp>
        <p:sp>
          <p:nvSpPr>
            <p:cNvPr id="8" name="TextBox 7"/>
            <p:cNvSpPr txBox="1"/>
            <p:nvPr/>
          </p:nvSpPr>
          <p:spPr>
            <a:xfrm>
              <a:off x="1142976" y="2027318"/>
              <a:ext cx="5786478" cy="289310"/>
            </a:xfrm>
            <a:prstGeom prst="rect">
              <a:avLst/>
            </a:prstGeom>
            <a:noFill/>
          </p:spPr>
          <p:txBody>
            <a:bodyPr wrap="square" rtlCol="0">
              <a:spAutoFit/>
            </a:bodyPr>
            <a:lstStyle/>
            <a:p>
              <a:pPr algn="l">
                <a:spcBef>
                  <a:spcPct val="50000"/>
                </a:spcBef>
              </a:pPr>
              <a:r>
                <a:rPr lang="zh-CN" altLang="en-US" sz="1600" smtClean="0">
                  <a:solidFill>
                    <a:srgbClr val="0000FF"/>
                  </a:solidFill>
                  <a:latin typeface="Consolas" pitchFamily="49" charset="0"/>
                  <a:ea typeface="楷体" pitchFamily="49" charset="-122"/>
                  <a:cs typeface="Consolas" pitchFamily="49" charset="0"/>
                </a:rPr>
                <a:t>中序</a:t>
              </a:r>
              <a:r>
                <a:rPr lang="en-US" altLang="zh-CN" sz="1600" smtClean="0">
                  <a:solidFill>
                    <a:srgbClr val="0000FF"/>
                  </a:solidFill>
                  <a:latin typeface="Consolas" pitchFamily="49" charset="0"/>
                  <a:ea typeface="楷体" pitchFamily="49" charset="-122"/>
                  <a:cs typeface="Consolas" pitchFamily="49" charset="0"/>
                </a:rPr>
                <a:t>ins</a:t>
              </a:r>
              <a:r>
                <a:rPr lang="zh-CN" altLang="en-US" sz="1600" smtClean="0">
                  <a:latin typeface="Consolas" pitchFamily="49" charset="0"/>
                  <a:ea typeface="楷体" pitchFamily="49" charset="-122"/>
                  <a:cs typeface="Consolas" pitchFamily="49" charset="0"/>
                </a:rPr>
                <a:t>： </a:t>
              </a:r>
              <a:r>
                <a:rPr lang="en-US" altLang="zh-CN" sz="1600" i="1" smtClean="0">
                  <a:solidFill>
                    <a:srgbClr val="003300"/>
                  </a:solidFill>
                  <a:latin typeface="Consolas" pitchFamily="49" charset="0"/>
                  <a:cs typeface="Consolas" pitchFamily="49" charset="0"/>
                </a:rPr>
                <a:t>b</a:t>
              </a:r>
              <a:r>
                <a:rPr lang="en-US" altLang="zh-CN" sz="1600" baseline="-25000" smtClean="0">
                  <a:solidFill>
                    <a:srgbClr val="003300"/>
                  </a:solidFill>
                  <a:latin typeface="Consolas" pitchFamily="49" charset="0"/>
                  <a:cs typeface="Consolas" pitchFamily="49" charset="0"/>
                </a:rPr>
                <a:t>0</a:t>
              </a:r>
              <a:r>
                <a:rPr lang="en-US" altLang="zh-CN" sz="1600" smtClean="0">
                  <a:solidFill>
                    <a:srgbClr val="003300"/>
                  </a:solidFill>
                  <a:latin typeface="Consolas" pitchFamily="49" charset="0"/>
                  <a:cs typeface="Consolas" pitchFamily="49" charset="0"/>
                </a:rPr>
                <a:t> </a:t>
              </a:r>
              <a:r>
                <a:rPr lang="en-US" altLang="zh-CN" sz="1600" i="1" smtClean="0">
                  <a:solidFill>
                    <a:srgbClr val="003300"/>
                  </a:solidFill>
                  <a:latin typeface="Consolas" pitchFamily="49" charset="0"/>
                  <a:cs typeface="Consolas" pitchFamily="49" charset="0"/>
                </a:rPr>
                <a:t>b</a:t>
              </a:r>
              <a:r>
                <a:rPr lang="en-US" altLang="zh-CN" sz="1600" baseline="-25000" smtClean="0">
                  <a:solidFill>
                    <a:srgbClr val="003300"/>
                  </a:solidFill>
                  <a:latin typeface="Consolas" pitchFamily="49" charset="0"/>
                  <a:cs typeface="Consolas" pitchFamily="49" charset="0"/>
                </a:rPr>
                <a:t>1</a:t>
              </a:r>
              <a:r>
                <a:rPr lang="en-US" altLang="zh-CN" sz="1600" smtClean="0">
                  <a:solidFill>
                    <a:srgbClr val="003300"/>
                  </a:solidFill>
                  <a:latin typeface="Consolas" pitchFamily="49" charset="0"/>
                  <a:cs typeface="Consolas" pitchFamily="49" charset="0"/>
                </a:rPr>
                <a:t>  </a:t>
              </a:r>
              <a:r>
                <a:rPr lang="en-US" altLang="zh-CN" sz="1600" smtClean="0">
                  <a:solidFill>
                    <a:srgbClr val="003300"/>
                  </a:solidFill>
                  <a:latin typeface="+mn-ea"/>
                  <a:ea typeface="+mn-ea"/>
                  <a:cs typeface="Consolas" pitchFamily="49" charset="0"/>
                </a:rPr>
                <a:t>…</a:t>
              </a:r>
              <a:r>
                <a:rPr lang="en-US" altLang="zh-CN" sz="1600" smtClean="0">
                  <a:solidFill>
                    <a:srgbClr val="003300"/>
                  </a:solidFill>
                  <a:latin typeface="Consolas" pitchFamily="49" charset="0"/>
                  <a:ea typeface="宋体" pitchFamily="2" charset="-122"/>
                  <a:cs typeface="Consolas" pitchFamily="49" charset="0"/>
                </a:rPr>
                <a:t>  </a:t>
              </a:r>
              <a:r>
                <a:rPr lang="en-US" altLang="zh-CN" sz="1600" i="1" smtClean="0">
                  <a:solidFill>
                    <a:srgbClr val="003300"/>
                  </a:solidFill>
                  <a:latin typeface="Consolas" pitchFamily="49" charset="0"/>
                  <a:ea typeface="宋体" pitchFamily="2" charset="-122"/>
                  <a:cs typeface="Consolas" pitchFamily="49" charset="0"/>
                </a:rPr>
                <a:t>b</a:t>
              </a:r>
              <a:r>
                <a:rPr lang="en-US" altLang="zh-CN" sz="1600" i="1" baseline="-25000" smtClean="0">
                  <a:solidFill>
                    <a:srgbClr val="003300"/>
                  </a:solidFill>
                  <a:latin typeface="Consolas" pitchFamily="49" charset="0"/>
                  <a:ea typeface="宋体" pitchFamily="2" charset="-122"/>
                  <a:cs typeface="Consolas" pitchFamily="49" charset="0"/>
                </a:rPr>
                <a:t>k</a:t>
              </a:r>
              <a:r>
                <a:rPr lang="en-US" altLang="zh-CN" sz="1600" baseline="-25000" smtClean="0">
                  <a:solidFill>
                    <a:srgbClr val="003300"/>
                  </a:solidFill>
                  <a:latin typeface="Consolas" pitchFamily="49" charset="0"/>
                  <a:ea typeface="宋体" pitchFamily="2" charset="-122"/>
                  <a:cs typeface="Consolas" pitchFamily="49" charset="0"/>
                </a:rPr>
                <a:t>-1   </a:t>
              </a:r>
              <a:r>
                <a:rPr lang="en-US" altLang="zh-CN" sz="1600" i="1" smtClean="0">
                  <a:solidFill>
                    <a:srgbClr val="FF0000"/>
                  </a:solidFill>
                  <a:latin typeface="Consolas" pitchFamily="49" charset="0"/>
                  <a:cs typeface="Consolas" pitchFamily="49" charset="0"/>
                </a:rPr>
                <a:t>b</a:t>
              </a:r>
              <a:r>
                <a:rPr lang="en-US" altLang="zh-CN" sz="1600" i="1" baseline="-25000" smtClean="0">
                  <a:solidFill>
                    <a:srgbClr val="FF0000"/>
                  </a:solidFill>
                  <a:latin typeface="Consolas" pitchFamily="49" charset="0"/>
                  <a:cs typeface="Consolas" pitchFamily="49" charset="0"/>
                </a:rPr>
                <a:t>k</a:t>
              </a:r>
              <a:r>
                <a:rPr lang="en-US" altLang="zh-CN" sz="1600" smtClean="0">
                  <a:latin typeface="Consolas" pitchFamily="49" charset="0"/>
                  <a:cs typeface="Consolas" pitchFamily="49" charset="0"/>
                </a:rPr>
                <a:t>  </a:t>
              </a:r>
              <a:r>
                <a:rPr lang="en-US" altLang="zh-CN" sz="1600" i="1" smtClean="0">
                  <a:solidFill>
                    <a:srgbClr val="CC00FF"/>
                  </a:solidFill>
                  <a:latin typeface="Consolas" pitchFamily="49" charset="0"/>
                  <a:cs typeface="Consolas" pitchFamily="49" charset="0"/>
                </a:rPr>
                <a:t>b</a:t>
              </a:r>
              <a:r>
                <a:rPr lang="en-US" altLang="zh-CN" sz="1600" i="1" baseline="-25000" smtClean="0">
                  <a:solidFill>
                    <a:srgbClr val="CC00FF"/>
                  </a:solidFill>
                  <a:latin typeface="Consolas" pitchFamily="49" charset="0"/>
                  <a:cs typeface="Consolas" pitchFamily="49" charset="0"/>
                </a:rPr>
                <a:t>k</a:t>
              </a:r>
              <a:r>
                <a:rPr lang="en-US" altLang="zh-CN" sz="1600" baseline="-25000" smtClean="0">
                  <a:solidFill>
                    <a:srgbClr val="CC00FF"/>
                  </a:solidFill>
                  <a:latin typeface="Consolas" pitchFamily="49" charset="0"/>
                  <a:cs typeface="Consolas" pitchFamily="49" charset="0"/>
                </a:rPr>
                <a:t>+1  </a:t>
              </a:r>
              <a:r>
                <a:rPr lang="en-US" altLang="zh-CN" sz="1600" smtClean="0">
                  <a:solidFill>
                    <a:srgbClr val="CC00FF"/>
                  </a:solidFill>
                  <a:latin typeface="+mn-ea"/>
                  <a:ea typeface="+mn-ea"/>
                  <a:cs typeface="Consolas" pitchFamily="49" charset="0"/>
                </a:rPr>
                <a:t>…</a:t>
              </a:r>
              <a:r>
                <a:rPr lang="en-US" altLang="zh-CN" sz="1600" smtClean="0">
                  <a:solidFill>
                    <a:srgbClr val="CC00FF"/>
                  </a:solidFill>
                  <a:latin typeface="Consolas" pitchFamily="49" charset="0"/>
                  <a:ea typeface="宋体" pitchFamily="2" charset="-122"/>
                  <a:cs typeface="Consolas" pitchFamily="49" charset="0"/>
                </a:rPr>
                <a:t>  </a:t>
              </a:r>
              <a:r>
                <a:rPr lang="en-US" altLang="zh-CN" sz="1600" i="1" smtClean="0">
                  <a:solidFill>
                    <a:srgbClr val="CC00FF"/>
                  </a:solidFill>
                  <a:latin typeface="Consolas" pitchFamily="49" charset="0"/>
                  <a:ea typeface="宋体" pitchFamily="2" charset="-122"/>
                  <a:cs typeface="Consolas" pitchFamily="49" charset="0"/>
                </a:rPr>
                <a:t>b</a:t>
              </a:r>
              <a:r>
                <a:rPr lang="en-US" altLang="zh-CN" sz="1600" i="1" baseline="-25000" smtClean="0">
                  <a:solidFill>
                    <a:srgbClr val="CC00FF"/>
                  </a:solidFill>
                  <a:latin typeface="Consolas" pitchFamily="49" charset="0"/>
                  <a:ea typeface="宋体" pitchFamily="2" charset="-122"/>
                  <a:cs typeface="Consolas" pitchFamily="49" charset="0"/>
                </a:rPr>
                <a:t>n</a:t>
              </a:r>
              <a:r>
                <a:rPr lang="en-US" altLang="zh-CN" sz="1600" baseline="-25000" smtClean="0">
                  <a:solidFill>
                    <a:srgbClr val="CC00FF"/>
                  </a:solidFill>
                  <a:latin typeface="Consolas" pitchFamily="49" charset="0"/>
                  <a:ea typeface="宋体" pitchFamily="2" charset="-122"/>
                  <a:cs typeface="Consolas" pitchFamily="49" charset="0"/>
                </a:rPr>
                <a:t>-2</a:t>
              </a:r>
              <a:r>
                <a:rPr lang="en-US" altLang="zh-CN" sz="1600" smtClean="0">
                  <a:solidFill>
                    <a:srgbClr val="CC00FF"/>
                  </a:solidFill>
                  <a:latin typeface="Consolas" pitchFamily="49" charset="0"/>
                  <a:cs typeface="Consolas" pitchFamily="49" charset="0"/>
                </a:rPr>
                <a:t>  </a:t>
              </a:r>
              <a:r>
                <a:rPr lang="en-US" altLang="zh-CN" sz="1600" i="1" smtClean="0">
                  <a:solidFill>
                    <a:srgbClr val="CC00FF"/>
                  </a:solidFill>
                  <a:latin typeface="Consolas" pitchFamily="49" charset="0"/>
                  <a:cs typeface="Consolas" pitchFamily="49" charset="0"/>
                </a:rPr>
                <a:t>b</a:t>
              </a:r>
              <a:r>
                <a:rPr lang="en-US" altLang="zh-CN" sz="1600" i="1" baseline="-25000" smtClean="0">
                  <a:solidFill>
                    <a:srgbClr val="CC00FF"/>
                  </a:solidFill>
                  <a:latin typeface="Consolas" pitchFamily="49" charset="0"/>
                  <a:cs typeface="Consolas" pitchFamily="49" charset="0"/>
                </a:rPr>
                <a:t>n</a:t>
              </a:r>
              <a:r>
                <a:rPr lang="en-US" altLang="zh-CN" sz="1600" baseline="-25000" smtClean="0">
                  <a:solidFill>
                    <a:srgbClr val="CC00FF"/>
                  </a:solidFill>
                  <a:latin typeface="Consolas" pitchFamily="49" charset="0"/>
                  <a:cs typeface="Consolas" pitchFamily="49" charset="0"/>
                </a:rPr>
                <a:t>-1</a:t>
              </a:r>
              <a:endParaRPr lang="en-US" altLang="en-US" sz="1600" baseline="-25000" dirty="0">
                <a:solidFill>
                  <a:srgbClr val="CC00FF"/>
                </a:solidFill>
                <a:latin typeface="Consolas" pitchFamily="49" charset="0"/>
                <a:cs typeface="Consolas" pitchFamily="49" charset="0"/>
              </a:endParaRPr>
            </a:p>
          </p:txBody>
        </p:sp>
        <p:grpSp>
          <p:nvGrpSpPr>
            <p:cNvPr id="9" name="组合 21"/>
            <p:cNvGrpSpPr/>
            <p:nvPr/>
          </p:nvGrpSpPr>
          <p:grpSpPr>
            <a:xfrm>
              <a:off x="3906758" y="2341087"/>
              <a:ext cx="285752" cy="538436"/>
              <a:chOff x="3935333" y="1988927"/>
              <a:chExt cx="285752" cy="538436"/>
            </a:xfrm>
          </p:grpSpPr>
          <p:cxnSp>
            <p:nvCxnSpPr>
              <p:cNvPr id="10" name="直接箭头连接符 9"/>
              <p:cNvCxnSpPr/>
              <p:nvPr/>
            </p:nvCxnSpPr>
            <p:spPr>
              <a:xfrm rot="5400000" flipH="1" flipV="1">
                <a:off x="3925089" y="2131009"/>
                <a:ext cx="285752" cy="158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sp>
            <p:nvSpPr>
              <p:cNvPr id="11" name="TextBox 10"/>
              <p:cNvSpPr txBox="1"/>
              <p:nvPr/>
            </p:nvSpPr>
            <p:spPr>
              <a:xfrm>
                <a:off x="3935333" y="2330386"/>
                <a:ext cx="285752" cy="196977"/>
              </a:xfrm>
              <a:prstGeom prst="rect">
                <a:avLst/>
              </a:prstGeom>
              <a:noFill/>
            </p:spPr>
            <p:txBody>
              <a:bodyPr wrap="square" lIns="0" tIns="0" rIns="0" bIns="0" rtlCol="0">
                <a:spAutoFit/>
              </a:bodyPr>
              <a:lstStyle/>
              <a:p>
                <a:r>
                  <a:rPr lang="en-US" altLang="zh-CN" sz="1600" i="1" smtClean="0">
                    <a:latin typeface="Consolas" pitchFamily="49" charset="0"/>
                    <a:cs typeface="Consolas" pitchFamily="49" charset="0"/>
                  </a:rPr>
                  <a:t>p</a:t>
                </a:r>
                <a:endParaRPr lang="zh-CN" altLang="en-US" sz="1600" i="1">
                  <a:latin typeface="Consolas" pitchFamily="49" charset="0"/>
                  <a:cs typeface="Consolas" pitchFamily="49" charset="0"/>
                </a:endParaRPr>
              </a:p>
            </p:txBody>
          </p:sp>
        </p:grpSp>
        <p:grpSp>
          <p:nvGrpSpPr>
            <p:cNvPr id="12" name="组合 24"/>
            <p:cNvGrpSpPr/>
            <p:nvPr/>
          </p:nvGrpSpPr>
          <p:grpSpPr>
            <a:xfrm>
              <a:off x="2428860" y="879805"/>
              <a:ext cx="428628" cy="561779"/>
              <a:chOff x="2285984" y="739756"/>
              <a:chExt cx="428628" cy="561779"/>
            </a:xfrm>
          </p:grpSpPr>
          <p:cxnSp>
            <p:nvCxnSpPr>
              <p:cNvPr id="13" name="直接箭头连接符 12"/>
              <p:cNvCxnSpPr/>
              <p:nvPr/>
            </p:nvCxnSpPr>
            <p:spPr>
              <a:xfrm rot="5400000">
                <a:off x="2365668" y="1157865"/>
                <a:ext cx="28575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2285984" y="739756"/>
                <a:ext cx="428628" cy="196977"/>
              </a:xfrm>
              <a:prstGeom prst="rect">
                <a:avLst/>
              </a:prstGeom>
              <a:noFill/>
            </p:spPr>
            <p:txBody>
              <a:bodyPr wrap="square" lIns="0" tIns="0" rIns="0" bIns="0" rtlCol="0">
                <a:spAutoFit/>
              </a:bodyPr>
              <a:lstStyle/>
              <a:p>
                <a:r>
                  <a:rPr lang="en-US" altLang="zh-CN" sz="1600" i="1" smtClean="0">
                    <a:latin typeface="Consolas" pitchFamily="49" charset="0"/>
                    <a:cs typeface="Consolas" pitchFamily="49" charset="0"/>
                  </a:rPr>
                  <a:t>i</a:t>
                </a: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grpSp>
        <p:grpSp>
          <p:nvGrpSpPr>
            <p:cNvPr id="15" name="组合 25"/>
            <p:cNvGrpSpPr/>
            <p:nvPr/>
          </p:nvGrpSpPr>
          <p:grpSpPr>
            <a:xfrm>
              <a:off x="4000496" y="879805"/>
              <a:ext cx="1000132" cy="540637"/>
              <a:chOff x="3714744" y="714356"/>
              <a:chExt cx="1000132" cy="540637"/>
            </a:xfrm>
          </p:grpSpPr>
          <p:cxnSp>
            <p:nvCxnSpPr>
              <p:cNvPr id="16" name="直接箭头连接符 15"/>
              <p:cNvCxnSpPr/>
              <p:nvPr/>
            </p:nvCxnSpPr>
            <p:spPr>
              <a:xfrm rot="5400000">
                <a:off x="4098128" y="1111323"/>
                <a:ext cx="28575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7" name="TextBox 16"/>
              <p:cNvSpPr txBox="1"/>
              <p:nvPr/>
            </p:nvSpPr>
            <p:spPr>
              <a:xfrm>
                <a:off x="3714744" y="714356"/>
                <a:ext cx="1000132" cy="200504"/>
              </a:xfrm>
              <a:prstGeom prst="rect">
                <a:avLst/>
              </a:prstGeom>
              <a:noFill/>
            </p:spPr>
            <p:txBody>
              <a:bodyPr wrap="square" lIns="0" tIns="0" rIns="0" bIns="0" rtlCol="0">
                <a:spAutoFit/>
              </a:bodyPr>
              <a:lstStyle/>
              <a:p>
                <a:r>
                  <a:rPr lang="en-US" altLang="zh-CN" sz="1600" i="1" smtClean="0">
                    <a:latin typeface="Consolas" pitchFamily="49" charset="0"/>
                    <a:cs typeface="Consolas" pitchFamily="49" charset="0"/>
                  </a:rPr>
                  <a:t>i</a:t>
                </a:r>
                <a:r>
                  <a:rPr lang="en-US" altLang="zh-CN" sz="1600" smtClean="0">
                    <a:latin typeface="Consolas" pitchFamily="49" charset="0"/>
                    <a:cs typeface="Consolas" pitchFamily="49" charset="0"/>
                  </a:rPr>
                  <a:t>+</a:t>
                </a:r>
                <a:r>
                  <a:rPr lang="en-US" altLang="zh-CN" sz="1600" i="1" smtClean="0">
                    <a:latin typeface="Consolas" pitchFamily="49" charset="0"/>
                    <a:cs typeface="Consolas" pitchFamily="49" charset="0"/>
                  </a:rPr>
                  <a:t>k</a:t>
                </a: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grpSp>
        <p:grpSp>
          <p:nvGrpSpPr>
            <p:cNvPr id="18" name="组合 23"/>
            <p:cNvGrpSpPr/>
            <p:nvPr/>
          </p:nvGrpSpPr>
          <p:grpSpPr>
            <a:xfrm>
              <a:off x="4296296" y="2331039"/>
              <a:ext cx="500066" cy="548484"/>
              <a:chOff x="4439172" y="1976227"/>
              <a:chExt cx="500066" cy="548484"/>
            </a:xfrm>
          </p:grpSpPr>
          <p:cxnSp>
            <p:nvCxnSpPr>
              <p:cNvPr id="19" name="直接箭头连接符 18"/>
              <p:cNvCxnSpPr/>
              <p:nvPr/>
            </p:nvCxnSpPr>
            <p:spPr>
              <a:xfrm rot="5400000" flipH="1" flipV="1">
                <a:off x="4501356" y="2118309"/>
                <a:ext cx="285752" cy="158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sp>
            <p:nvSpPr>
              <p:cNvPr id="20" name="TextBox 19"/>
              <p:cNvSpPr txBox="1"/>
              <p:nvPr/>
            </p:nvSpPr>
            <p:spPr>
              <a:xfrm>
                <a:off x="4439172" y="2327734"/>
                <a:ext cx="500066" cy="196977"/>
              </a:xfrm>
              <a:prstGeom prst="rect">
                <a:avLst/>
              </a:prstGeom>
              <a:noFill/>
            </p:spPr>
            <p:txBody>
              <a:bodyPr wrap="square" lIns="0" tIns="0" rIns="0" bIns="0" rtlCol="0">
                <a:spAutoFit/>
              </a:bodyPr>
              <a:lstStyle/>
              <a:p>
                <a:r>
                  <a:rPr lang="en-US" altLang="zh-CN" sz="1600" i="1" smtClean="0">
                    <a:latin typeface="Consolas" pitchFamily="49" charset="0"/>
                    <a:cs typeface="Consolas" pitchFamily="49" charset="0"/>
                  </a:rPr>
                  <a:t>p</a:t>
                </a: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grpSp>
        <p:grpSp>
          <p:nvGrpSpPr>
            <p:cNvPr id="21" name="组合 26"/>
            <p:cNvGrpSpPr/>
            <p:nvPr/>
          </p:nvGrpSpPr>
          <p:grpSpPr>
            <a:xfrm>
              <a:off x="2204498" y="2372333"/>
              <a:ext cx="328614" cy="556601"/>
              <a:chOff x="2100246" y="1976227"/>
              <a:chExt cx="328614" cy="556601"/>
            </a:xfrm>
          </p:grpSpPr>
          <p:cxnSp>
            <p:nvCxnSpPr>
              <p:cNvPr id="22" name="直接箭头连接符 21"/>
              <p:cNvCxnSpPr/>
              <p:nvPr/>
            </p:nvCxnSpPr>
            <p:spPr>
              <a:xfrm rot="5400000" flipH="1" flipV="1">
                <a:off x="2129615" y="2118309"/>
                <a:ext cx="285752" cy="1588"/>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sp>
            <p:nvSpPr>
              <p:cNvPr id="23" name="TextBox 22"/>
              <p:cNvSpPr txBox="1"/>
              <p:nvPr/>
            </p:nvSpPr>
            <p:spPr>
              <a:xfrm>
                <a:off x="2100246" y="2332324"/>
                <a:ext cx="328614" cy="200504"/>
              </a:xfrm>
              <a:prstGeom prst="rect">
                <a:avLst/>
              </a:prstGeom>
              <a:noFill/>
            </p:spPr>
            <p:txBody>
              <a:bodyPr wrap="square" lIns="0" tIns="0" rIns="0" bIns="0" rtlCol="0">
                <a:spAutoFit/>
              </a:bodyPr>
              <a:lstStyle/>
              <a:p>
                <a:r>
                  <a:rPr lang="en-US" altLang="zh-CN" sz="1600" i="1" smtClean="0">
                    <a:latin typeface="Consolas" pitchFamily="49" charset="0"/>
                    <a:cs typeface="Consolas" pitchFamily="49" charset="0"/>
                  </a:rPr>
                  <a:t>j</a:t>
                </a:r>
                <a:endParaRPr lang="zh-CN" altLang="en-US" sz="1600" i="1">
                  <a:latin typeface="Consolas" pitchFamily="49" charset="0"/>
                  <a:cs typeface="Consolas" pitchFamily="49" charset="0"/>
                </a:endParaRPr>
              </a:p>
            </p:txBody>
          </p:sp>
        </p:grpSp>
        <p:grpSp>
          <p:nvGrpSpPr>
            <p:cNvPr id="24" name="组合 24"/>
            <p:cNvGrpSpPr/>
            <p:nvPr/>
          </p:nvGrpSpPr>
          <p:grpSpPr>
            <a:xfrm>
              <a:off x="1899752" y="898203"/>
              <a:ext cx="447622" cy="551731"/>
              <a:chOff x="2398716" y="739756"/>
              <a:chExt cx="447622" cy="551731"/>
            </a:xfrm>
          </p:grpSpPr>
          <p:cxnSp>
            <p:nvCxnSpPr>
              <p:cNvPr id="25" name="直接箭头连接符 24"/>
              <p:cNvCxnSpPr/>
              <p:nvPr/>
            </p:nvCxnSpPr>
            <p:spPr>
              <a:xfrm rot="16200000" flipH="1">
                <a:off x="2534962" y="980111"/>
                <a:ext cx="346040" cy="276712"/>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2398716" y="739756"/>
                <a:ext cx="214314" cy="196977"/>
              </a:xfrm>
              <a:prstGeom prst="rect">
                <a:avLst/>
              </a:prstGeom>
              <a:noFill/>
            </p:spPr>
            <p:txBody>
              <a:bodyPr wrap="square" lIns="0" tIns="0" rIns="0" bIns="0" rtlCol="0">
                <a:spAutoFit/>
              </a:bodyPr>
              <a:lstStyle/>
              <a:p>
                <a:r>
                  <a:rPr lang="en-US" altLang="zh-CN" sz="1600" i="1" smtClean="0">
                    <a:latin typeface="Consolas" pitchFamily="49" charset="0"/>
                    <a:cs typeface="Consolas" pitchFamily="49" charset="0"/>
                  </a:rPr>
                  <a:t>i</a:t>
                </a:r>
                <a:endParaRPr lang="zh-CN" altLang="en-US" sz="1600">
                  <a:latin typeface="Consolas" pitchFamily="49" charset="0"/>
                  <a:cs typeface="Consolas" pitchFamily="49" charset="0"/>
                </a:endParaRPr>
              </a:p>
            </p:txBody>
          </p:sp>
        </p:grpSp>
      </p:grpSp>
      <p:sp>
        <p:nvSpPr>
          <p:cNvPr id="30" name="任意多边形 29"/>
          <p:cNvSpPr/>
          <p:nvPr/>
        </p:nvSpPr>
        <p:spPr>
          <a:xfrm>
            <a:off x="991569" y="1738365"/>
            <a:ext cx="2917240" cy="3526971"/>
          </a:xfrm>
          <a:custGeom>
            <a:avLst/>
            <a:gdLst>
              <a:gd name="connsiteX0" fmla="*/ 1947706 w 3203750"/>
              <a:gd name="connsiteY0" fmla="*/ 0 h 3526971"/>
              <a:gd name="connsiteX1" fmla="*/ 1807029 w 3203750"/>
              <a:gd name="connsiteY1" fmla="*/ 140677 h 3526971"/>
              <a:gd name="connsiteX2" fmla="*/ 561033 w 3203750"/>
              <a:gd name="connsiteY2" fmla="*/ 200967 h 3526971"/>
              <a:gd name="connsiteX3" fmla="*/ 440453 w 3203750"/>
              <a:gd name="connsiteY3" fmla="*/ 813916 h 3526971"/>
              <a:gd name="connsiteX4" fmla="*/ 3203750 w 3203750"/>
              <a:gd name="connsiteY4" fmla="*/ 3526971 h 3526971"/>
              <a:gd name="connsiteX0" fmla="*/ 1944412 w 3200456"/>
              <a:gd name="connsiteY0" fmla="*/ 0 h 3526971"/>
              <a:gd name="connsiteX1" fmla="*/ 1803735 w 3200456"/>
              <a:gd name="connsiteY1" fmla="*/ 140677 h 3526971"/>
              <a:gd name="connsiteX2" fmla="*/ 577499 w 3200456"/>
              <a:gd name="connsiteY2" fmla="*/ 118999 h 3526971"/>
              <a:gd name="connsiteX3" fmla="*/ 437159 w 3200456"/>
              <a:gd name="connsiteY3" fmla="*/ 813916 h 3526971"/>
              <a:gd name="connsiteX4" fmla="*/ 3200456 w 3200456"/>
              <a:gd name="connsiteY4" fmla="*/ 3526971 h 3526971"/>
              <a:gd name="connsiteX0" fmla="*/ 1944412 w 3200456"/>
              <a:gd name="connsiteY0" fmla="*/ 0 h 3526971"/>
              <a:gd name="connsiteX1" fmla="*/ 1506193 w 3200456"/>
              <a:gd name="connsiteY1" fmla="*/ 118999 h 3526971"/>
              <a:gd name="connsiteX2" fmla="*/ 577499 w 3200456"/>
              <a:gd name="connsiteY2" fmla="*/ 118999 h 3526971"/>
              <a:gd name="connsiteX3" fmla="*/ 437159 w 3200456"/>
              <a:gd name="connsiteY3" fmla="*/ 813916 h 3526971"/>
              <a:gd name="connsiteX4" fmla="*/ 3200456 w 3200456"/>
              <a:gd name="connsiteY4" fmla="*/ 3526971 h 3526971"/>
              <a:gd name="connsiteX0" fmla="*/ 1661196 w 2917240"/>
              <a:gd name="connsiteY0" fmla="*/ 71502 h 3598473"/>
              <a:gd name="connsiteX1" fmla="*/ 1222977 w 2917240"/>
              <a:gd name="connsiteY1" fmla="*/ 190501 h 3598473"/>
              <a:gd name="connsiteX2" fmla="*/ 294283 w 2917240"/>
              <a:gd name="connsiteY2" fmla="*/ 190501 h 3598473"/>
              <a:gd name="connsiteX3" fmla="*/ 437159 w 2917240"/>
              <a:gd name="connsiteY3" fmla="*/ 1333509 h 3598473"/>
              <a:gd name="connsiteX4" fmla="*/ 2917240 w 2917240"/>
              <a:gd name="connsiteY4" fmla="*/ 3598473 h 3598473"/>
              <a:gd name="connsiteX0" fmla="*/ 1661196 w 2917240"/>
              <a:gd name="connsiteY0" fmla="*/ 0 h 3526971"/>
              <a:gd name="connsiteX1" fmla="*/ 1222977 w 2917240"/>
              <a:gd name="connsiteY1" fmla="*/ 118999 h 3526971"/>
              <a:gd name="connsiteX2" fmla="*/ 294283 w 2917240"/>
              <a:gd name="connsiteY2" fmla="*/ 261875 h 3526971"/>
              <a:gd name="connsiteX3" fmla="*/ 437159 w 2917240"/>
              <a:gd name="connsiteY3" fmla="*/ 1262007 h 3526971"/>
              <a:gd name="connsiteX4" fmla="*/ 2917240 w 2917240"/>
              <a:gd name="connsiteY4" fmla="*/ 3526971 h 3526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7240" h="3526971">
                <a:moveTo>
                  <a:pt x="1661196" y="0"/>
                </a:moveTo>
                <a:cubicBezTo>
                  <a:pt x="1706413" y="53591"/>
                  <a:pt x="1450796" y="75353"/>
                  <a:pt x="1222977" y="118999"/>
                </a:cubicBezTo>
                <a:cubicBezTo>
                  <a:pt x="995158" y="162645"/>
                  <a:pt x="425253" y="71374"/>
                  <a:pt x="294283" y="261875"/>
                </a:cubicBezTo>
                <a:cubicBezTo>
                  <a:pt x="163313" y="452376"/>
                  <a:pt x="0" y="717824"/>
                  <a:pt x="437159" y="1262007"/>
                </a:cubicBezTo>
                <a:cubicBezTo>
                  <a:pt x="874318" y="1806190"/>
                  <a:pt x="1755818" y="2447610"/>
                  <a:pt x="2917240" y="3526971"/>
                </a:cubicBezTo>
              </a:path>
            </a:pathLst>
          </a:custGeom>
          <a:ln w="19050">
            <a:solidFill>
              <a:srgbClr val="FF3399"/>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1" name="任意多边形 30"/>
          <p:cNvSpPr/>
          <p:nvPr/>
        </p:nvSpPr>
        <p:spPr>
          <a:xfrm>
            <a:off x="2363875" y="2336242"/>
            <a:ext cx="2388995" cy="2939144"/>
          </a:xfrm>
          <a:custGeom>
            <a:avLst/>
            <a:gdLst>
              <a:gd name="connsiteX0" fmla="*/ 135652 w 2456821"/>
              <a:gd name="connsiteY0" fmla="*/ 90435 h 2984361"/>
              <a:gd name="connsiteX1" fmla="*/ 386861 w 2456821"/>
              <a:gd name="connsiteY1" fmla="*/ 482321 h 2984361"/>
              <a:gd name="connsiteX2" fmla="*/ 2456821 w 2456821"/>
              <a:gd name="connsiteY2" fmla="*/ 2984361 h 2984361"/>
              <a:gd name="connsiteX0" fmla="*/ 67826 w 2388995"/>
              <a:gd name="connsiteY0" fmla="*/ 45218 h 2939144"/>
              <a:gd name="connsiteX1" fmla="*/ 1708059 w 2388995"/>
              <a:gd name="connsiteY1" fmla="*/ 878445 h 2939144"/>
              <a:gd name="connsiteX2" fmla="*/ 2388995 w 2388995"/>
              <a:gd name="connsiteY2" fmla="*/ 2939144 h 2939144"/>
            </a:gdLst>
            <a:ahLst/>
            <a:cxnLst>
              <a:cxn ang="0">
                <a:pos x="connsiteX0" y="connsiteY0"/>
              </a:cxn>
              <a:cxn ang="0">
                <a:pos x="connsiteX1" y="connsiteY1"/>
              </a:cxn>
              <a:cxn ang="0">
                <a:pos x="connsiteX2" y="connsiteY2"/>
              </a:cxn>
            </a:cxnLst>
            <a:rect l="l" t="t" r="r" b="b"/>
            <a:pathLst>
              <a:path w="2388995" h="2939144">
                <a:moveTo>
                  <a:pt x="67826" y="45218"/>
                </a:moveTo>
                <a:cubicBezTo>
                  <a:pt x="0" y="0"/>
                  <a:pt x="1321198" y="396124"/>
                  <a:pt x="1708059" y="878445"/>
                </a:cubicBezTo>
                <a:cubicBezTo>
                  <a:pt x="2094920" y="1360766"/>
                  <a:pt x="1547445" y="1929284"/>
                  <a:pt x="2388995" y="2939144"/>
                </a:cubicBezTo>
              </a:path>
            </a:pathLst>
          </a:custGeom>
          <a:ln w="19050">
            <a:solidFill>
              <a:srgbClr val="FF3399"/>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2" name="任意多边形 31"/>
          <p:cNvSpPr/>
          <p:nvPr/>
        </p:nvSpPr>
        <p:spPr>
          <a:xfrm>
            <a:off x="4049486" y="1708220"/>
            <a:ext cx="381837" cy="3888712"/>
          </a:xfrm>
          <a:custGeom>
            <a:avLst/>
            <a:gdLst>
              <a:gd name="connsiteX0" fmla="*/ 381837 w 381837"/>
              <a:gd name="connsiteY0" fmla="*/ 0 h 3888712"/>
              <a:gd name="connsiteX1" fmla="*/ 241160 w 381837"/>
              <a:gd name="connsiteY1" fmla="*/ 291402 h 3888712"/>
              <a:gd name="connsiteX2" fmla="*/ 120580 w 381837"/>
              <a:gd name="connsiteY2" fmla="*/ 934496 h 3888712"/>
              <a:gd name="connsiteX3" fmla="*/ 0 w 381837"/>
              <a:gd name="connsiteY3" fmla="*/ 3888712 h 3888712"/>
              <a:gd name="connsiteX0" fmla="*/ 381837 w 381837"/>
              <a:gd name="connsiteY0" fmla="*/ 0 h 3888712"/>
              <a:gd name="connsiteX1" fmla="*/ 241160 w 381837"/>
              <a:gd name="connsiteY1" fmla="*/ 291402 h 3888712"/>
              <a:gd name="connsiteX2" fmla="*/ 93886 w 381837"/>
              <a:gd name="connsiteY2" fmla="*/ 1006400 h 3888712"/>
              <a:gd name="connsiteX3" fmla="*/ 0 w 381837"/>
              <a:gd name="connsiteY3" fmla="*/ 3888712 h 3888712"/>
            </a:gdLst>
            <a:ahLst/>
            <a:cxnLst>
              <a:cxn ang="0">
                <a:pos x="connsiteX0" y="connsiteY0"/>
              </a:cxn>
              <a:cxn ang="0">
                <a:pos x="connsiteX1" y="connsiteY1"/>
              </a:cxn>
              <a:cxn ang="0">
                <a:pos x="connsiteX2" y="connsiteY2"/>
              </a:cxn>
              <a:cxn ang="0">
                <a:pos x="connsiteX3" y="connsiteY3"/>
              </a:cxn>
            </a:cxnLst>
            <a:rect l="l" t="t" r="r" b="b"/>
            <a:pathLst>
              <a:path w="381837" h="3888712">
                <a:moveTo>
                  <a:pt x="381837" y="0"/>
                </a:moveTo>
                <a:cubicBezTo>
                  <a:pt x="333270" y="67826"/>
                  <a:pt x="289152" y="123669"/>
                  <a:pt x="241160" y="291402"/>
                </a:cubicBezTo>
                <a:cubicBezTo>
                  <a:pt x="193168" y="459135"/>
                  <a:pt x="134079" y="406848"/>
                  <a:pt x="93886" y="1006400"/>
                </a:cubicBezTo>
                <a:cubicBezTo>
                  <a:pt x="53693" y="1605952"/>
                  <a:pt x="40193" y="2711380"/>
                  <a:pt x="0" y="3888712"/>
                </a:cubicBezTo>
              </a:path>
            </a:pathLst>
          </a:custGeom>
          <a:ln w="19050">
            <a:solidFill>
              <a:srgbClr val="FF3399"/>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4" name="任意多边形 33"/>
          <p:cNvSpPr/>
          <p:nvPr/>
        </p:nvSpPr>
        <p:spPr>
          <a:xfrm>
            <a:off x="4592097" y="2361363"/>
            <a:ext cx="572756" cy="3255666"/>
          </a:xfrm>
          <a:custGeom>
            <a:avLst/>
            <a:gdLst>
              <a:gd name="connsiteX0" fmla="*/ 0 w 572756"/>
              <a:gd name="connsiteY0" fmla="*/ 0 h 3255666"/>
              <a:gd name="connsiteX1" fmla="*/ 271305 w 572756"/>
              <a:gd name="connsiteY1" fmla="*/ 1155560 h 3255666"/>
              <a:gd name="connsiteX2" fmla="*/ 572756 w 572756"/>
              <a:gd name="connsiteY2" fmla="*/ 3255666 h 3255666"/>
            </a:gdLst>
            <a:ahLst/>
            <a:cxnLst>
              <a:cxn ang="0">
                <a:pos x="connsiteX0" y="connsiteY0"/>
              </a:cxn>
              <a:cxn ang="0">
                <a:pos x="connsiteX1" y="connsiteY1"/>
              </a:cxn>
              <a:cxn ang="0">
                <a:pos x="connsiteX2" y="connsiteY2"/>
              </a:cxn>
            </a:cxnLst>
            <a:rect l="l" t="t" r="r" b="b"/>
            <a:pathLst>
              <a:path w="572756" h="3255666">
                <a:moveTo>
                  <a:pt x="0" y="0"/>
                </a:moveTo>
                <a:cubicBezTo>
                  <a:pt x="87923" y="306474"/>
                  <a:pt x="175846" y="612949"/>
                  <a:pt x="271305" y="1155560"/>
                </a:cubicBezTo>
                <a:cubicBezTo>
                  <a:pt x="366764" y="1698171"/>
                  <a:pt x="469760" y="2476918"/>
                  <a:pt x="572756" y="3255666"/>
                </a:cubicBezTo>
              </a:path>
            </a:pathLst>
          </a:custGeom>
          <a:ln w="19050">
            <a:solidFill>
              <a:srgbClr val="FF3399"/>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5" name="灯片编号占位符 34"/>
          <p:cNvSpPr>
            <a:spLocks noGrp="1"/>
          </p:cNvSpPr>
          <p:nvPr>
            <p:ph type="sldNum" sz="quarter" idx="12"/>
          </p:nvPr>
        </p:nvSpPr>
        <p:spPr/>
        <p:txBody>
          <a:bodyPr/>
          <a:lstStyle/>
          <a:p>
            <a:fld id="{67864EE2-EAB3-4814-A7EB-820BD7610F1E}" type="slidenum">
              <a:rPr lang="en-US" altLang="zh-CN" smtClean="0"/>
              <a:pPr/>
              <a:t>24</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12"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strips(downLeft)">
                                      <p:cBhvr>
                                        <p:cTn id="15" dur="1000"/>
                                        <p:tgtEl>
                                          <p:spTgt spid="30"/>
                                        </p:tgtEl>
                                      </p:cBhvr>
                                    </p:animEffect>
                                  </p:childTnLst>
                                </p:cTn>
                              </p:par>
                              <p:par>
                                <p:cTn id="16" presetID="18" presetClass="entr" presetSubtype="12"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strips(downLeft)">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4" fill="hold" grpId="1" nodeType="clickEffect">
                                  <p:stCondLst>
                                    <p:cond delay="0"/>
                                  </p:stCondLst>
                                  <p:childTnLst>
                                    <p:animEffect transition="out" filter="wipe(down)">
                                      <p:cBhvr>
                                        <p:cTn id="22" dur="500"/>
                                        <p:tgtEl>
                                          <p:spTgt spid="30"/>
                                        </p:tgtEl>
                                      </p:cBhvr>
                                    </p:animEffect>
                                    <p:set>
                                      <p:cBhvr>
                                        <p:cTn id="23" dur="1" fill="hold">
                                          <p:stCondLst>
                                            <p:cond delay="499"/>
                                          </p:stCondLst>
                                        </p:cTn>
                                        <p:tgtEl>
                                          <p:spTgt spid="30"/>
                                        </p:tgtEl>
                                        <p:attrNameLst>
                                          <p:attrName>style.visibility</p:attrName>
                                        </p:attrNameLst>
                                      </p:cBhvr>
                                      <p:to>
                                        <p:strVal val="hidden"/>
                                      </p:to>
                                    </p:set>
                                  </p:childTnLst>
                                </p:cTn>
                              </p:par>
                              <p:par>
                                <p:cTn id="24" presetID="22" presetClass="exit" presetSubtype="4" fill="hold" grpId="1" nodeType="withEffect">
                                  <p:stCondLst>
                                    <p:cond delay="0"/>
                                  </p:stCondLst>
                                  <p:childTnLst>
                                    <p:animEffect transition="out" filter="wipe(down)">
                                      <p:cBhvr>
                                        <p:cTn id="25" dur="500"/>
                                        <p:tgtEl>
                                          <p:spTgt spid="31"/>
                                        </p:tgtEl>
                                      </p:cBhvr>
                                    </p:animEffect>
                                    <p:set>
                                      <p:cBhvr>
                                        <p:cTn id="26" dur="1" fill="hold">
                                          <p:stCondLst>
                                            <p:cond delay="499"/>
                                          </p:stCondLst>
                                        </p:cTn>
                                        <p:tgtEl>
                                          <p:spTgt spid="31"/>
                                        </p:tgtEl>
                                        <p:attrNameLst>
                                          <p:attrName>style.visibility</p:attrName>
                                        </p:attrNameLst>
                                      </p:cBhvr>
                                      <p:to>
                                        <p:strVal val="hidden"/>
                                      </p:to>
                                    </p:set>
                                  </p:childTnLst>
                                </p:cTn>
                              </p:par>
                            </p:childTnLst>
                          </p:cTn>
                        </p:par>
                        <p:par>
                          <p:cTn id="27" fill="hold">
                            <p:stCondLst>
                              <p:cond delay="500"/>
                            </p:stCondLst>
                            <p:childTnLst>
                              <p:par>
                                <p:cTn id="28" presetID="18" presetClass="entr" presetSubtype="12" fill="hold" grpId="0" nodeType="after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strips(downLeft)">
                                      <p:cBhvr>
                                        <p:cTn id="30" dur="500"/>
                                        <p:tgtEl>
                                          <p:spTgt spid="34"/>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0" grpId="0" animBg="1"/>
      <p:bldP spid="30" grpId="1" animBg="1"/>
      <p:bldP spid="31" grpId="0" animBg="1"/>
      <p:bldP spid="31" grpId="1" animBg="1"/>
      <p:bldP spid="32" grpId="0" animBg="1"/>
      <p:bldP spid="3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14282" y="142852"/>
            <a:ext cx="8358246" cy="892552"/>
          </a:xfrm>
          <a:prstGeom prst="rect">
            <a:avLst/>
          </a:prstGeom>
          <a:noFill/>
          <a:ln w="9525">
            <a:noFill/>
            <a:miter lim="800000"/>
            <a:headEnd/>
            <a:tailEnd/>
          </a:ln>
        </p:spPr>
        <p:txBody>
          <a:bodyPr wrap="square">
            <a:spAutoFit/>
          </a:bodyPr>
          <a:lstStyle/>
          <a:p>
            <a:pPr algn="just">
              <a:lnSpc>
                <a:spcPct val="130000"/>
              </a:lnSpc>
            </a:pPr>
            <a:r>
              <a:rPr kumimoji="1" lang="en-US" altLang="zh-CN" sz="2000">
                <a:solidFill>
                  <a:srgbClr val="0000FF"/>
                </a:solidFill>
                <a:latin typeface="Consolas" pitchFamily="49" charset="0"/>
                <a:ea typeface="楷体" pitchFamily="49" charset="-122"/>
                <a:cs typeface="Consolas" pitchFamily="49" charset="0"/>
              </a:rPr>
              <a:t>    </a:t>
            </a:r>
            <a:r>
              <a:rPr lang="zh-CN" altLang="en-US" sz="2000" smtClean="0">
                <a:solidFill>
                  <a:srgbClr val="FF0000"/>
                </a:solidFill>
                <a:latin typeface="Consolas" pitchFamily="49" charset="0"/>
                <a:ea typeface="楷体" pitchFamily="49" charset="-122"/>
                <a:cs typeface="Consolas" pitchFamily="49" charset="0"/>
              </a:rPr>
              <a:t>定理</a:t>
            </a:r>
            <a:r>
              <a:rPr lang="en-US" altLang="zh-CN" sz="2000" smtClean="0">
                <a:solidFill>
                  <a:srgbClr val="FF0000"/>
                </a:solidFill>
                <a:latin typeface="Consolas" pitchFamily="49" charset="0"/>
                <a:ea typeface="楷体" pitchFamily="49" charset="-122"/>
                <a:cs typeface="Consolas" pitchFamily="49" charset="0"/>
              </a:rPr>
              <a:t>7.2 </a:t>
            </a:r>
            <a:r>
              <a:rPr kumimoji="1" lang="zh-CN" altLang="en-US" sz="2000" smtClean="0">
                <a:solidFill>
                  <a:srgbClr val="0000FF"/>
                </a:solidFill>
                <a:latin typeface="Consolas" pitchFamily="49" charset="0"/>
                <a:ea typeface="楷体" pitchFamily="49" charset="-122"/>
                <a:cs typeface="Consolas" pitchFamily="49" charset="0"/>
              </a:rPr>
              <a:t>任何</a:t>
            </a:r>
            <a:r>
              <a:rPr kumimoji="1" lang="en-US" altLang="zh-CN" sz="2000" i="1" dirty="0">
                <a:solidFill>
                  <a:srgbClr val="0000FF"/>
                </a:solidFill>
                <a:latin typeface="Consolas" pitchFamily="49" charset="0"/>
                <a:ea typeface="楷体" pitchFamily="49" charset="-122"/>
                <a:cs typeface="Consolas" pitchFamily="49" charset="0"/>
              </a:rPr>
              <a:t>n</a:t>
            </a:r>
            <a:r>
              <a:rPr kumimoji="1" lang="zh-CN" altLang="en-US" sz="2000">
                <a:solidFill>
                  <a:srgbClr val="0000FF"/>
                </a:solidFill>
                <a:latin typeface="Consolas" pitchFamily="49" charset="0"/>
                <a:ea typeface="楷体" pitchFamily="49" charset="-122"/>
                <a:cs typeface="Consolas" pitchFamily="49" charset="0"/>
              </a:rPr>
              <a:t>（</a:t>
            </a:r>
            <a:r>
              <a:rPr kumimoji="1"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mj-ea"/>
                <a:ea typeface="+mj-ea"/>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0</a:t>
            </a:r>
            <a:r>
              <a:rPr kumimoji="1" lang="zh-CN" altLang="en-US" sz="2000" dirty="0">
                <a:solidFill>
                  <a:srgbClr val="0000FF"/>
                </a:solidFill>
                <a:latin typeface="Consolas" pitchFamily="49" charset="0"/>
                <a:ea typeface="楷体" pitchFamily="49" charset="-122"/>
                <a:cs typeface="Consolas" pitchFamily="49" charset="0"/>
              </a:rPr>
              <a:t>）个</a:t>
            </a:r>
            <a:r>
              <a:rPr kumimoji="1" lang="zh-CN" altLang="en-US" sz="2000" dirty="0" smtClean="0">
                <a:solidFill>
                  <a:srgbClr val="0000FF"/>
                </a:solidFill>
                <a:latin typeface="Consolas" pitchFamily="49" charset="0"/>
                <a:ea typeface="楷体" pitchFamily="49" charset="-122"/>
                <a:cs typeface="Consolas" pitchFamily="49" charset="0"/>
              </a:rPr>
              <a:t>不同结点的</a:t>
            </a:r>
            <a:r>
              <a:rPr kumimoji="1" lang="zh-CN" altLang="en-US" sz="2000" dirty="0">
                <a:solidFill>
                  <a:srgbClr val="0000FF"/>
                </a:solidFill>
                <a:latin typeface="Consolas" pitchFamily="49" charset="0"/>
                <a:ea typeface="楷体" pitchFamily="49" charset="-122"/>
                <a:cs typeface="Consolas" pitchFamily="49" charset="0"/>
              </a:rPr>
              <a:t>二又树，都可由它的中序序列和后序序列唯一地</a:t>
            </a:r>
            <a:r>
              <a:rPr kumimoji="1" lang="zh-CN" altLang="en-US" sz="2000">
                <a:solidFill>
                  <a:srgbClr val="0000FF"/>
                </a:solidFill>
                <a:latin typeface="Consolas" pitchFamily="49" charset="0"/>
                <a:ea typeface="楷体" pitchFamily="49" charset="-122"/>
                <a:cs typeface="Consolas" pitchFamily="49" charset="0"/>
              </a:rPr>
              <a:t>确定</a:t>
            </a:r>
            <a:r>
              <a:rPr kumimoji="1" lang="zh-CN" altLang="en-US" sz="2000" smtClean="0">
                <a:solidFill>
                  <a:srgbClr val="0000FF"/>
                </a:solidFill>
                <a:latin typeface="Consolas" pitchFamily="49" charset="0"/>
                <a:ea typeface="楷体" pitchFamily="49" charset="-122"/>
                <a:cs typeface="Consolas" pitchFamily="49" charset="0"/>
              </a:rPr>
              <a:t>。</a:t>
            </a:r>
            <a:endParaRPr kumimoji="1" lang="zh-CN" altLang="en-US" sz="2000" dirty="0">
              <a:solidFill>
                <a:srgbClr val="0000FF"/>
              </a:solidFill>
              <a:latin typeface="Consolas" pitchFamily="49" charset="0"/>
              <a:ea typeface="楷体" pitchFamily="49" charset="-122"/>
              <a:cs typeface="Consolas" pitchFamily="49" charset="0"/>
            </a:endParaRPr>
          </a:p>
        </p:txBody>
      </p:sp>
      <p:grpSp>
        <p:nvGrpSpPr>
          <p:cNvPr id="23" name="组合 22"/>
          <p:cNvGrpSpPr/>
          <p:nvPr/>
        </p:nvGrpSpPr>
        <p:grpSpPr>
          <a:xfrm>
            <a:off x="500034" y="2357430"/>
            <a:ext cx="8001056" cy="2162566"/>
            <a:chOff x="785786" y="2000241"/>
            <a:chExt cx="7858180" cy="1805376"/>
          </a:xfrm>
        </p:grpSpPr>
        <p:sp>
          <p:nvSpPr>
            <p:cNvPr id="5" name="Text Box 6"/>
            <p:cNvSpPr txBox="1">
              <a:spLocks noChangeArrowheads="1"/>
            </p:cNvSpPr>
            <p:nvPr/>
          </p:nvSpPr>
          <p:spPr bwMode="auto">
            <a:xfrm>
              <a:off x="1571605" y="3214686"/>
              <a:ext cx="988490" cy="590931"/>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1600">
                  <a:solidFill>
                    <a:srgbClr val="0000FF"/>
                  </a:solidFill>
                  <a:latin typeface="Consolas" pitchFamily="49" charset="0"/>
                  <a:ea typeface="仿宋" pitchFamily="49" charset="-122"/>
                  <a:cs typeface="Consolas" pitchFamily="49" charset="0"/>
                </a:rPr>
                <a:t>左子树后序序列，有</a:t>
              </a:r>
              <a:r>
                <a:rPr lang="en-US" altLang="zh-CN" sz="1600" i="1">
                  <a:solidFill>
                    <a:srgbClr val="0000FF"/>
                  </a:solidFill>
                  <a:latin typeface="Consolas" pitchFamily="49" charset="0"/>
                  <a:ea typeface="仿宋" pitchFamily="49" charset="-122"/>
                  <a:cs typeface="Consolas" pitchFamily="49" charset="0"/>
                </a:rPr>
                <a:t>k</a:t>
              </a:r>
              <a:r>
                <a:rPr lang="zh-CN" altLang="en-US" sz="1600">
                  <a:solidFill>
                    <a:srgbClr val="0000FF"/>
                  </a:solidFill>
                  <a:latin typeface="Consolas" pitchFamily="49" charset="0"/>
                  <a:ea typeface="仿宋" pitchFamily="49" charset="-122"/>
                  <a:cs typeface="Consolas" pitchFamily="49" charset="0"/>
                </a:rPr>
                <a:t>个结点</a:t>
              </a:r>
            </a:p>
          </p:txBody>
        </p:sp>
        <p:sp>
          <p:nvSpPr>
            <p:cNvPr id="6" name="Text Box 7"/>
            <p:cNvSpPr txBox="1">
              <a:spLocks noChangeArrowheads="1"/>
            </p:cNvSpPr>
            <p:nvPr/>
          </p:nvSpPr>
          <p:spPr bwMode="auto">
            <a:xfrm>
              <a:off x="2900351" y="3214686"/>
              <a:ext cx="1049363" cy="590931"/>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1600">
                  <a:solidFill>
                    <a:srgbClr val="0000FF"/>
                  </a:solidFill>
                  <a:latin typeface="Consolas" pitchFamily="49" charset="0"/>
                  <a:ea typeface="仿宋" pitchFamily="49" charset="-122"/>
                  <a:cs typeface="Consolas" pitchFamily="49" charset="0"/>
                </a:rPr>
                <a:t>右子树后序序列，有</a:t>
              </a:r>
              <a:r>
                <a:rPr lang="en-US" altLang="zh-CN" sz="1600" i="1">
                  <a:solidFill>
                    <a:srgbClr val="0000FF"/>
                  </a:solidFill>
                  <a:latin typeface="Consolas" pitchFamily="49" charset="0"/>
                  <a:ea typeface="仿宋" pitchFamily="49" charset="-122"/>
                  <a:cs typeface="Consolas" pitchFamily="49" charset="0"/>
                </a:rPr>
                <a:t>n</a:t>
              </a:r>
              <a:r>
                <a:rPr lang="en-US" altLang="zh-CN"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k</a:t>
              </a:r>
              <a:r>
                <a:rPr lang="en-US" altLang="zh-CN" sz="1600">
                  <a:solidFill>
                    <a:srgbClr val="0000FF"/>
                  </a:solidFill>
                  <a:latin typeface="Consolas" pitchFamily="49" charset="0"/>
                  <a:ea typeface="仿宋" pitchFamily="49" charset="-122"/>
                  <a:cs typeface="Consolas" pitchFamily="49" charset="0"/>
                </a:rPr>
                <a:t>-1</a:t>
              </a:r>
              <a:r>
                <a:rPr lang="zh-CN" altLang="en-US" sz="1600">
                  <a:solidFill>
                    <a:srgbClr val="0000FF"/>
                  </a:solidFill>
                  <a:latin typeface="Consolas" pitchFamily="49" charset="0"/>
                  <a:ea typeface="仿宋" pitchFamily="49" charset="-122"/>
                  <a:cs typeface="Consolas" pitchFamily="49" charset="0"/>
                </a:rPr>
                <a:t>个结点</a:t>
              </a:r>
            </a:p>
          </p:txBody>
        </p:sp>
        <p:sp>
          <p:nvSpPr>
            <p:cNvPr id="7" name="Text Box 8"/>
            <p:cNvSpPr txBox="1">
              <a:spLocks noChangeArrowheads="1"/>
            </p:cNvSpPr>
            <p:nvPr/>
          </p:nvSpPr>
          <p:spPr bwMode="auto">
            <a:xfrm>
              <a:off x="785786" y="2582219"/>
              <a:ext cx="804515" cy="443198"/>
            </a:xfrm>
            <a:prstGeom prst="rect">
              <a:avLst/>
            </a:prstGeom>
            <a:noFill/>
            <a:ln w="9525" algn="ctr">
              <a:noFill/>
              <a:miter lim="800000"/>
              <a:headEnd/>
              <a:tailEnd type="none" w="med" len="lg"/>
            </a:ln>
            <a:effectLst/>
          </p:spPr>
          <p:txBody>
            <a:bodyPr wrap="square" lIns="0" tIns="0" rIns="0" bIns="0">
              <a:spAutoFit/>
            </a:bodyPr>
            <a:lstStyle/>
            <a:p>
              <a:pPr algn="l">
                <a:spcBef>
                  <a:spcPts val="0"/>
                </a:spcBef>
              </a:pPr>
              <a:r>
                <a:rPr lang="zh-CN" altLang="en-US" sz="1800" smtClean="0">
                  <a:solidFill>
                    <a:srgbClr val="00B0F0"/>
                  </a:solidFill>
                  <a:latin typeface="Consolas" pitchFamily="49" charset="0"/>
                  <a:ea typeface="仿宋" pitchFamily="49" charset="-122"/>
                  <a:cs typeface="Consolas" pitchFamily="49" charset="0"/>
                </a:rPr>
                <a:t>后序</a:t>
              </a:r>
              <a:endParaRPr lang="en-US" altLang="zh-CN" sz="1800" smtClean="0">
                <a:solidFill>
                  <a:srgbClr val="00B0F0"/>
                </a:solidFill>
                <a:latin typeface="Consolas" pitchFamily="49" charset="0"/>
                <a:ea typeface="仿宋" pitchFamily="49" charset="-122"/>
                <a:cs typeface="Consolas" pitchFamily="49" charset="0"/>
              </a:endParaRPr>
            </a:p>
            <a:p>
              <a:pPr algn="l">
                <a:spcBef>
                  <a:spcPts val="0"/>
                </a:spcBef>
              </a:pPr>
              <a:r>
                <a:rPr lang="zh-CN" altLang="en-US" sz="1800" smtClean="0">
                  <a:solidFill>
                    <a:srgbClr val="00B0F0"/>
                  </a:solidFill>
                  <a:latin typeface="Consolas" pitchFamily="49" charset="0"/>
                  <a:ea typeface="仿宋" pitchFamily="49" charset="-122"/>
                  <a:cs typeface="Consolas" pitchFamily="49" charset="0"/>
                </a:rPr>
                <a:t>序列</a:t>
              </a:r>
              <a:r>
                <a:rPr lang="zh-CN" altLang="en-US" sz="1800" dirty="0">
                  <a:solidFill>
                    <a:srgbClr val="00B0F0"/>
                  </a:solidFill>
                  <a:latin typeface="Consolas" pitchFamily="49" charset="0"/>
                  <a:ea typeface="仿宋" pitchFamily="49" charset="-122"/>
                  <a:cs typeface="Consolas" pitchFamily="49" charset="0"/>
                </a:rPr>
                <a:t>：</a:t>
              </a:r>
            </a:p>
          </p:txBody>
        </p:sp>
        <p:sp>
          <p:nvSpPr>
            <p:cNvPr id="8" name="Text Box 9"/>
            <p:cNvSpPr txBox="1">
              <a:spLocks noChangeArrowheads="1"/>
            </p:cNvSpPr>
            <p:nvPr/>
          </p:nvSpPr>
          <p:spPr bwMode="auto">
            <a:xfrm>
              <a:off x="1355167" y="2673660"/>
              <a:ext cx="3357586" cy="221599"/>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1800" i="1">
                  <a:solidFill>
                    <a:srgbClr val="0000FF"/>
                  </a:solidFill>
                  <a:latin typeface="Consolas" pitchFamily="49" charset="0"/>
                  <a:ea typeface="仿宋" pitchFamily="49" charset="-122"/>
                  <a:cs typeface="Consolas" pitchFamily="49" charset="0"/>
                </a:rPr>
                <a:t>a</a:t>
              </a:r>
              <a:r>
                <a:rPr lang="en-US" altLang="zh-CN" sz="1800" baseline="-25000">
                  <a:solidFill>
                    <a:srgbClr val="0000FF"/>
                  </a:solidFill>
                  <a:latin typeface="Consolas" pitchFamily="49" charset="0"/>
                  <a:ea typeface="仿宋" pitchFamily="49" charset="-122"/>
                  <a:cs typeface="Consolas" pitchFamily="49" charset="0"/>
                </a:rPr>
                <a:t>0</a:t>
              </a:r>
              <a:r>
                <a:rPr lang="en-US" altLang="zh-CN" sz="1800">
                  <a:solidFill>
                    <a:srgbClr val="0000FF"/>
                  </a:solidFill>
                  <a:latin typeface="Consolas" pitchFamily="49" charset="0"/>
                  <a:ea typeface="仿宋" pitchFamily="49" charset="-122"/>
                  <a:cs typeface="Consolas" pitchFamily="49" charset="0"/>
                </a:rPr>
                <a:t> </a:t>
              </a:r>
              <a:r>
                <a:rPr lang="en-US" altLang="zh-CN" sz="1800" i="1" smtClean="0">
                  <a:solidFill>
                    <a:srgbClr val="0000FF"/>
                  </a:solidFill>
                  <a:latin typeface="Consolas" pitchFamily="49" charset="0"/>
                  <a:ea typeface="仿宋" pitchFamily="49" charset="-122"/>
                  <a:cs typeface="Consolas" pitchFamily="49" charset="0"/>
                </a:rPr>
                <a:t>a</a:t>
              </a:r>
              <a:r>
                <a:rPr lang="en-US" altLang="zh-CN" sz="1800" baseline="-25000" smtClean="0">
                  <a:solidFill>
                    <a:srgbClr val="0000FF"/>
                  </a:solidFill>
                  <a:latin typeface="Consolas" pitchFamily="49" charset="0"/>
                  <a:ea typeface="仿宋" pitchFamily="49" charset="-122"/>
                  <a:cs typeface="Consolas" pitchFamily="49" charset="0"/>
                </a:rPr>
                <a:t>1</a:t>
              </a:r>
              <a:r>
                <a:rPr lang="en-US" altLang="zh-CN" sz="1800" smtClean="0">
                  <a:solidFill>
                    <a:srgbClr val="0000FF"/>
                  </a:solidFill>
                  <a:latin typeface="Consolas" pitchFamily="49" charset="0"/>
                  <a:ea typeface="仿宋" pitchFamily="49" charset="-122"/>
                  <a:cs typeface="Consolas" pitchFamily="49" charset="0"/>
                </a:rPr>
                <a:t> </a:t>
              </a:r>
              <a:r>
                <a:rPr lang="en-US" altLang="zh-CN" sz="1800">
                  <a:solidFill>
                    <a:srgbClr val="0000FF"/>
                  </a:solidFill>
                  <a:latin typeface="+mj-ea"/>
                  <a:ea typeface="+mj-ea"/>
                  <a:cs typeface="Consolas" pitchFamily="49" charset="0"/>
                </a:rPr>
                <a:t>…</a:t>
              </a:r>
              <a:r>
                <a:rPr lang="en-US" altLang="zh-CN" sz="1800">
                  <a:solidFill>
                    <a:srgbClr val="0000FF"/>
                  </a:solidFill>
                  <a:latin typeface="Consolas" pitchFamily="49" charset="0"/>
                  <a:ea typeface="仿宋" pitchFamily="49" charset="-122"/>
                  <a:cs typeface="Consolas" pitchFamily="49" charset="0"/>
                </a:rPr>
                <a:t> </a:t>
              </a:r>
              <a:r>
                <a:rPr lang="en-US" altLang="zh-CN" sz="1800" i="1">
                  <a:solidFill>
                    <a:srgbClr val="0000FF"/>
                  </a:solidFill>
                  <a:latin typeface="Consolas" pitchFamily="49" charset="0"/>
                  <a:ea typeface="仿宋" pitchFamily="49" charset="-122"/>
                  <a:cs typeface="Consolas" pitchFamily="49" charset="0"/>
                </a:rPr>
                <a:t>a</a:t>
              </a:r>
              <a:r>
                <a:rPr lang="en-US" altLang="zh-CN" sz="1800" i="1" baseline="-25000">
                  <a:solidFill>
                    <a:srgbClr val="0000FF"/>
                  </a:solidFill>
                  <a:latin typeface="Consolas" pitchFamily="49" charset="0"/>
                  <a:ea typeface="仿宋" pitchFamily="49" charset="-122"/>
                  <a:cs typeface="Consolas" pitchFamily="49" charset="0"/>
                </a:rPr>
                <a:t>k</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 </a:t>
              </a:r>
              <a:r>
                <a:rPr lang="en-US" altLang="zh-CN" sz="1800" i="1">
                  <a:solidFill>
                    <a:srgbClr val="0000FF"/>
                  </a:solidFill>
                  <a:latin typeface="Consolas" pitchFamily="49" charset="0"/>
                  <a:ea typeface="仿宋" pitchFamily="49" charset="-122"/>
                  <a:cs typeface="Consolas" pitchFamily="49" charset="0"/>
                </a:rPr>
                <a:t>a</a:t>
              </a:r>
              <a:r>
                <a:rPr lang="en-US" altLang="zh-CN" sz="1800" i="1" baseline="-25000">
                  <a:solidFill>
                    <a:srgbClr val="0000FF"/>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 </a:t>
              </a:r>
              <a:r>
                <a:rPr lang="en-US" altLang="zh-CN" sz="1800" smtClean="0">
                  <a:solidFill>
                    <a:srgbClr val="0000FF"/>
                  </a:solidFill>
                  <a:latin typeface="+mj-ea"/>
                  <a:ea typeface="+mj-ea"/>
                  <a:cs typeface="Consolas" pitchFamily="49" charset="0"/>
                </a:rPr>
                <a:t>… </a:t>
              </a:r>
              <a:r>
                <a:rPr lang="en-US" altLang="zh-CN" sz="1800" i="1" smtClean="0">
                  <a:solidFill>
                    <a:srgbClr val="0000FF"/>
                  </a:solidFill>
                  <a:latin typeface="Consolas" pitchFamily="49" charset="0"/>
                  <a:ea typeface="仿宋" pitchFamily="49" charset="-122"/>
                  <a:cs typeface="Consolas" pitchFamily="49" charset="0"/>
                </a:rPr>
                <a:t>a</a:t>
              </a:r>
              <a:r>
                <a:rPr lang="en-US" altLang="zh-CN" sz="1800" i="1" baseline="-25000" smtClean="0">
                  <a:solidFill>
                    <a:srgbClr val="0000FF"/>
                  </a:solidFill>
                  <a:latin typeface="Consolas" pitchFamily="49" charset="0"/>
                  <a:ea typeface="仿宋" pitchFamily="49" charset="-122"/>
                  <a:cs typeface="Consolas" pitchFamily="49" charset="0"/>
                </a:rPr>
                <a:t>n</a:t>
              </a:r>
              <a:r>
                <a:rPr lang="en-US" altLang="zh-CN" sz="1800" baseline="-25000" smtClean="0">
                  <a:solidFill>
                    <a:srgbClr val="0000FF"/>
                  </a:solidFill>
                  <a:latin typeface="Consolas" pitchFamily="49" charset="0"/>
                  <a:ea typeface="仿宋" pitchFamily="49" charset="-122"/>
                  <a:cs typeface="Consolas" pitchFamily="49" charset="0"/>
                </a:rPr>
                <a:t>-2</a:t>
              </a:r>
              <a:r>
                <a:rPr lang="en-US" altLang="zh-CN" sz="1800" smtClean="0">
                  <a:solidFill>
                    <a:srgbClr val="0000FF"/>
                  </a:solidFill>
                  <a:latin typeface="Consolas" pitchFamily="49" charset="0"/>
                  <a:ea typeface="仿宋" pitchFamily="49" charset="-122"/>
                  <a:cs typeface="Consolas" pitchFamily="49" charset="0"/>
                </a:rPr>
                <a:t> </a:t>
              </a:r>
              <a:r>
                <a:rPr lang="en-US" altLang="zh-CN" sz="1800" i="1">
                  <a:solidFill>
                    <a:srgbClr val="FF0000"/>
                  </a:solidFill>
                  <a:latin typeface="Consolas" pitchFamily="49" charset="0"/>
                  <a:ea typeface="仿宋" pitchFamily="49" charset="-122"/>
                  <a:cs typeface="Consolas" pitchFamily="49" charset="0"/>
                </a:rPr>
                <a:t>a</a:t>
              </a:r>
              <a:r>
                <a:rPr lang="en-US" altLang="zh-CN" sz="1800" i="1" baseline="-25000">
                  <a:solidFill>
                    <a:srgbClr val="FF0000"/>
                  </a:solidFill>
                  <a:latin typeface="Consolas" pitchFamily="49" charset="0"/>
                  <a:ea typeface="仿宋" pitchFamily="49" charset="-122"/>
                  <a:cs typeface="Consolas" pitchFamily="49" charset="0"/>
                </a:rPr>
                <a:t>n</a:t>
              </a:r>
              <a:r>
                <a:rPr lang="en-US" altLang="zh-CN" sz="1800" baseline="-25000">
                  <a:solidFill>
                    <a:srgbClr val="FF0000"/>
                  </a:solidFill>
                  <a:latin typeface="Consolas" pitchFamily="49" charset="0"/>
                  <a:ea typeface="仿宋" pitchFamily="49" charset="-122"/>
                  <a:cs typeface="Consolas" pitchFamily="49" charset="0"/>
                </a:rPr>
                <a:t>-1</a:t>
              </a:r>
              <a:endParaRPr lang="en-US" altLang="en-US" sz="1800" baseline="-25000">
                <a:solidFill>
                  <a:srgbClr val="FF0000"/>
                </a:solidFill>
                <a:latin typeface="Consolas" pitchFamily="49" charset="0"/>
                <a:ea typeface="仿宋" pitchFamily="49" charset="-122"/>
                <a:cs typeface="Consolas" pitchFamily="49" charset="0"/>
              </a:endParaRPr>
            </a:p>
          </p:txBody>
        </p:sp>
        <p:sp>
          <p:nvSpPr>
            <p:cNvPr id="9" name="AutoShape 10"/>
            <p:cNvSpPr>
              <a:spLocks/>
            </p:cNvSpPr>
            <p:nvPr/>
          </p:nvSpPr>
          <p:spPr bwMode="auto">
            <a:xfrm rot="16200000">
              <a:off x="2029051" y="2533276"/>
              <a:ext cx="144000" cy="1080000"/>
            </a:xfrm>
            <a:prstGeom prst="leftBrace">
              <a:avLst>
                <a:gd name="adj1" fmla="val 49817"/>
                <a:gd name="adj2" fmla="val 50000"/>
              </a:avLst>
            </a:prstGeom>
            <a:ln w="19050">
              <a:headEnd/>
              <a:tailEnd type="none" w="med" len="lg"/>
            </a:ln>
          </p:spPr>
          <p:style>
            <a:lnRef idx="2">
              <a:schemeClr val="dk1"/>
            </a:lnRef>
            <a:fillRef idx="0">
              <a:schemeClr val="dk1"/>
            </a:fillRef>
            <a:effectRef idx="1">
              <a:schemeClr val="dk1"/>
            </a:effectRef>
            <a:fontRef idx="minor">
              <a:schemeClr val="tx1"/>
            </a:fontRef>
          </p:style>
          <p:txBody>
            <a:bodyPr wrap="none" anchor="ctr"/>
            <a:lstStyle/>
            <a:p>
              <a:pPr algn="l"/>
              <a:endParaRPr lang="zh-CN" altLang="en-US" sz="1800">
                <a:latin typeface="Consolas" pitchFamily="49" charset="0"/>
                <a:ea typeface="仿宋" pitchFamily="49" charset="-122"/>
                <a:cs typeface="Consolas" pitchFamily="49" charset="0"/>
              </a:endParaRPr>
            </a:p>
          </p:txBody>
        </p:sp>
        <p:sp>
          <p:nvSpPr>
            <p:cNvPr id="10" name="AutoShape 11"/>
            <p:cNvSpPr>
              <a:spLocks/>
            </p:cNvSpPr>
            <p:nvPr/>
          </p:nvSpPr>
          <p:spPr bwMode="auto">
            <a:xfrm rot="16200000">
              <a:off x="3317070" y="2641707"/>
              <a:ext cx="144462" cy="863600"/>
            </a:xfrm>
            <a:prstGeom prst="leftBrace">
              <a:avLst>
                <a:gd name="adj1" fmla="val 49817"/>
                <a:gd name="adj2" fmla="val 50000"/>
              </a:avLst>
            </a:prstGeom>
            <a:ln w="19050">
              <a:headEnd/>
              <a:tailEnd type="none" w="med" len="lg"/>
            </a:ln>
          </p:spPr>
          <p:style>
            <a:lnRef idx="2">
              <a:schemeClr val="dk1"/>
            </a:lnRef>
            <a:fillRef idx="0">
              <a:schemeClr val="dk1"/>
            </a:fillRef>
            <a:effectRef idx="1">
              <a:schemeClr val="dk1"/>
            </a:effectRef>
            <a:fontRef idx="minor">
              <a:schemeClr val="tx1"/>
            </a:fontRef>
          </p:style>
          <p:txBody>
            <a:bodyPr wrap="none" anchor="ctr"/>
            <a:lstStyle/>
            <a:p>
              <a:pPr algn="l"/>
              <a:endParaRPr lang="zh-CN" altLang="en-US" sz="1800">
                <a:latin typeface="Consolas" pitchFamily="49" charset="0"/>
                <a:ea typeface="仿宋" pitchFamily="49" charset="-122"/>
                <a:cs typeface="Consolas" pitchFamily="49" charset="0"/>
              </a:endParaRPr>
            </a:p>
          </p:txBody>
        </p:sp>
        <p:sp>
          <p:nvSpPr>
            <p:cNvPr id="11" name="Text Box 12"/>
            <p:cNvSpPr txBox="1">
              <a:spLocks noChangeArrowheads="1"/>
            </p:cNvSpPr>
            <p:nvPr/>
          </p:nvSpPr>
          <p:spPr bwMode="auto">
            <a:xfrm>
              <a:off x="5612836" y="3214686"/>
              <a:ext cx="1030866" cy="590931"/>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1600">
                  <a:solidFill>
                    <a:srgbClr val="0000FF"/>
                  </a:solidFill>
                  <a:latin typeface="Consolas" pitchFamily="49" charset="0"/>
                  <a:ea typeface="仿宋" pitchFamily="49" charset="-122"/>
                  <a:cs typeface="Consolas" pitchFamily="49" charset="0"/>
                </a:rPr>
                <a:t>左子树中序序列，有</a:t>
              </a:r>
              <a:r>
                <a:rPr lang="en-US" altLang="zh-CN" sz="1600" i="1">
                  <a:solidFill>
                    <a:srgbClr val="0000FF"/>
                  </a:solidFill>
                  <a:latin typeface="Consolas" pitchFamily="49" charset="0"/>
                  <a:ea typeface="仿宋" pitchFamily="49" charset="-122"/>
                  <a:cs typeface="Consolas" pitchFamily="49" charset="0"/>
                </a:rPr>
                <a:t>k</a:t>
              </a:r>
              <a:r>
                <a:rPr lang="zh-CN" altLang="en-US" sz="1600">
                  <a:solidFill>
                    <a:srgbClr val="0000FF"/>
                  </a:solidFill>
                  <a:latin typeface="Consolas" pitchFamily="49" charset="0"/>
                  <a:ea typeface="仿宋" pitchFamily="49" charset="-122"/>
                  <a:cs typeface="Consolas" pitchFamily="49" charset="0"/>
                </a:rPr>
                <a:t>个结点</a:t>
              </a:r>
            </a:p>
          </p:txBody>
        </p:sp>
        <p:sp>
          <p:nvSpPr>
            <p:cNvPr id="12" name="Text Box 13"/>
            <p:cNvSpPr txBox="1">
              <a:spLocks noChangeArrowheads="1"/>
            </p:cNvSpPr>
            <p:nvPr/>
          </p:nvSpPr>
          <p:spPr bwMode="auto">
            <a:xfrm>
              <a:off x="7355959" y="3214686"/>
              <a:ext cx="1216569" cy="590931"/>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1600">
                  <a:solidFill>
                    <a:srgbClr val="0000FF"/>
                  </a:solidFill>
                  <a:latin typeface="Consolas" pitchFamily="49" charset="0"/>
                  <a:ea typeface="仿宋" pitchFamily="49" charset="-122"/>
                  <a:cs typeface="Consolas" pitchFamily="49" charset="0"/>
                </a:rPr>
                <a:t>右子树中序序列，有</a:t>
              </a:r>
              <a:r>
                <a:rPr lang="en-US" altLang="zh-CN" sz="1600" i="1">
                  <a:solidFill>
                    <a:srgbClr val="0000FF"/>
                  </a:solidFill>
                  <a:latin typeface="Consolas" pitchFamily="49" charset="0"/>
                  <a:ea typeface="仿宋" pitchFamily="49" charset="-122"/>
                  <a:cs typeface="Consolas" pitchFamily="49" charset="0"/>
                </a:rPr>
                <a:t>n</a:t>
              </a:r>
              <a:r>
                <a:rPr lang="en-US" altLang="zh-CN" sz="1600">
                  <a:solidFill>
                    <a:srgbClr val="0000FF"/>
                  </a:solidFill>
                  <a:latin typeface="Consolas" pitchFamily="49" charset="0"/>
                  <a:ea typeface="仿宋" pitchFamily="49" charset="-122"/>
                  <a:cs typeface="Consolas" pitchFamily="49" charset="0"/>
                </a:rPr>
                <a:t>-</a:t>
              </a:r>
              <a:r>
                <a:rPr lang="en-US" altLang="zh-CN" sz="1600" i="1">
                  <a:solidFill>
                    <a:srgbClr val="0000FF"/>
                  </a:solidFill>
                  <a:latin typeface="Consolas" pitchFamily="49" charset="0"/>
                  <a:ea typeface="仿宋" pitchFamily="49" charset="-122"/>
                  <a:cs typeface="Consolas" pitchFamily="49" charset="0"/>
                </a:rPr>
                <a:t>k</a:t>
              </a:r>
              <a:r>
                <a:rPr lang="en-US" altLang="zh-CN" sz="1600">
                  <a:solidFill>
                    <a:srgbClr val="0000FF"/>
                  </a:solidFill>
                  <a:latin typeface="Consolas" pitchFamily="49" charset="0"/>
                  <a:ea typeface="仿宋" pitchFamily="49" charset="-122"/>
                  <a:cs typeface="Consolas" pitchFamily="49" charset="0"/>
                </a:rPr>
                <a:t>-1</a:t>
              </a:r>
              <a:r>
                <a:rPr lang="zh-CN" altLang="en-US" sz="1600">
                  <a:solidFill>
                    <a:srgbClr val="0000FF"/>
                  </a:solidFill>
                  <a:latin typeface="Consolas" pitchFamily="49" charset="0"/>
                  <a:ea typeface="仿宋" pitchFamily="49" charset="-122"/>
                  <a:cs typeface="Consolas" pitchFamily="49" charset="0"/>
                </a:rPr>
                <a:t>个结点</a:t>
              </a:r>
            </a:p>
          </p:txBody>
        </p:sp>
        <p:sp>
          <p:nvSpPr>
            <p:cNvPr id="13" name="Text Box 14"/>
            <p:cNvSpPr txBox="1">
              <a:spLocks noChangeArrowheads="1"/>
            </p:cNvSpPr>
            <p:nvPr/>
          </p:nvSpPr>
          <p:spPr bwMode="auto">
            <a:xfrm>
              <a:off x="4771945" y="2582219"/>
              <a:ext cx="820775" cy="443198"/>
            </a:xfrm>
            <a:prstGeom prst="rect">
              <a:avLst/>
            </a:prstGeom>
            <a:noFill/>
            <a:ln w="9525" algn="ctr">
              <a:noFill/>
              <a:miter lim="800000"/>
              <a:headEnd/>
              <a:tailEnd type="none" w="med" len="lg"/>
            </a:ln>
            <a:effectLst/>
          </p:spPr>
          <p:txBody>
            <a:bodyPr wrap="square" lIns="0" tIns="0" rIns="0" bIns="0">
              <a:spAutoFit/>
            </a:bodyPr>
            <a:lstStyle/>
            <a:p>
              <a:pPr algn="l">
                <a:spcBef>
                  <a:spcPts val="0"/>
                </a:spcBef>
              </a:pPr>
              <a:r>
                <a:rPr lang="zh-CN" altLang="en-US" sz="1800">
                  <a:solidFill>
                    <a:srgbClr val="00B0F0"/>
                  </a:solidFill>
                  <a:latin typeface="Consolas" pitchFamily="49" charset="0"/>
                  <a:ea typeface="仿宋" pitchFamily="49" charset="-122"/>
                  <a:cs typeface="Consolas" pitchFamily="49" charset="0"/>
                </a:rPr>
                <a:t>中</a:t>
              </a:r>
              <a:r>
                <a:rPr lang="zh-CN" altLang="en-US" sz="1800" smtClean="0">
                  <a:solidFill>
                    <a:srgbClr val="00B0F0"/>
                  </a:solidFill>
                  <a:latin typeface="Consolas" pitchFamily="49" charset="0"/>
                  <a:ea typeface="仿宋" pitchFamily="49" charset="-122"/>
                  <a:cs typeface="Consolas" pitchFamily="49" charset="0"/>
                </a:rPr>
                <a:t>序</a:t>
              </a:r>
              <a:endParaRPr lang="en-US" altLang="zh-CN" sz="1800" smtClean="0">
                <a:solidFill>
                  <a:srgbClr val="00B0F0"/>
                </a:solidFill>
                <a:latin typeface="Consolas" pitchFamily="49" charset="0"/>
                <a:ea typeface="仿宋" pitchFamily="49" charset="-122"/>
                <a:cs typeface="Consolas" pitchFamily="49" charset="0"/>
              </a:endParaRPr>
            </a:p>
            <a:p>
              <a:pPr algn="l">
                <a:spcBef>
                  <a:spcPts val="0"/>
                </a:spcBef>
              </a:pPr>
              <a:r>
                <a:rPr lang="zh-CN" altLang="en-US" sz="1800" smtClean="0">
                  <a:solidFill>
                    <a:srgbClr val="00B0F0"/>
                  </a:solidFill>
                  <a:latin typeface="Consolas" pitchFamily="49" charset="0"/>
                  <a:ea typeface="仿宋" pitchFamily="49" charset="-122"/>
                  <a:cs typeface="Consolas" pitchFamily="49" charset="0"/>
                </a:rPr>
                <a:t>序列</a:t>
              </a:r>
              <a:r>
                <a:rPr lang="zh-CN" altLang="en-US" sz="1800">
                  <a:solidFill>
                    <a:srgbClr val="00B0F0"/>
                  </a:solidFill>
                  <a:latin typeface="Consolas" pitchFamily="49" charset="0"/>
                  <a:ea typeface="仿宋" pitchFamily="49" charset="-122"/>
                  <a:cs typeface="Consolas" pitchFamily="49" charset="0"/>
                </a:rPr>
                <a:t>：</a:t>
              </a:r>
            </a:p>
          </p:txBody>
        </p:sp>
        <p:sp>
          <p:nvSpPr>
            <p:cNvPr id="14" name="Text Box 15"/>
            <p:cNvSpPr txBox="1">
              <a:spLocks noChangeArrowheads="1"/>
            </p:cNvSpPr>
            <p:nvPr/>
          </p:nvSpPr>
          <p:spPr bwMode="auto">
            <a:xfrm>
              <a:off x="5390652" y="2691123"/>
              <a:ext cx="3253314" cy="221599"/>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1800" i="1">
                  <a:solidFill>
                    <a:srgbClr val="0000FF"/>
                  </a:solidFill>
                  <a:latin typeface="Consolas" pitchFamily="49" charset="0"/>
                  <a:ea typeface="仿宋" pitchFamily="49" charset="-122"/>
                  <a:cs typeface="Consolas" pitchFamily="49" charset="0"/>
                </a:rPr>
                <a:t>b</a:t>
              </a:r>
              <a:r>
                <a:rPr lang="en-US" altLang="zh-CN" sz="1800" baseline="-25000">
                  <a:solidFill>
                    <a:srgbClr val="0000FF"/>
                  </a:solidFill>
                  <a:latin typeface="Consolas" pitchFamily="49" charset="0"/>
                  <a:ea typeface="仿宋" pitchFamily="49" charset="-122"/>
                  <a:cs typeface="Consolas" pitchFamily="49" charset="0"/>
                </a:rPr>
                <a:t>0</a:t>
              </a:r>
              <a:r>
                <a:rPr lang="en-US" altLang="zh-CN" sz="1800">
                  <a:solidFill>
                    <a:srgbClr val="0000FF"/>
                  </a:solidFill>
                  <a:latin typeface="Consolas" pitchFamily="49" charset="0"/>
                  <a:ea typeface="仿宋" pitchFamily="49" charset="-122"/>
                  <a:cs typeface="Consolas" pitchFamily="49" charset="0"/>
                </a:rPr>
                <a:t> </a:t>
              </a:r>
              <a:r>
                <a:rPr lang="en-US" altLang="zh-CN" sz="1800" i="1" smtClean="0">
                  <a:solidFill>
                    <a:srgbClr val="0000FF"/>
                  </a:solidFill>
                  <a:latin typeface="Consolas" pitchFamily="49" charset="0"/>
                  <a:ea typeface="仿宋" pitchFamily="49" charset="-122"/>
                  <a:cs typeface="Consolas" pitchFamily="49" charset="0"/>
                </a:rPr>
                <a:t>b</a:t>
              </a:r>
              <a:r>
                <a:rPr lang="en-US" altLang="zh-CN" sz="1800" baseline="-25000" smtClean="0">
                  <a:solidFill>
                    <a:srgbClr val="0000FF"/>
                  </a:solidFill>
                  <a:latin typeface="Consolas" pitchFamily="49" charset="0"/>
                  <a:ea typeface="仿宋" pitchFamily="49" charset="-122"/>
                  <a:cs typeface="Consolas" pitchFamily="49" charset="0"/>
                </a:rPr>
                <a:t>1</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0000FF"/>
                  </a:solidFill>
                  <a:latin typeface="+mj-ea"/>
                  <a:ea typeface="+mj-ea"/>
                  <a:cs typeface="Consolas" pitchFamily="49" charset="0"/>
                </a:rPr>
                <a:t>… </a:t>
              </a:r>
              <a:r>
                <a:rPr lang="en-US" altLang="zh-CN" sz="1800" i="1" smtClean="0">
                  <a:solidFill>
                    <a:srgbClr val="0000FF"/>
                  </a:solidFill>
                  <a:latin typeface="Consolas" pitchFamily="49" charset="0"/>
                  <a:ea typeface="仿宋" pitchFamily="49" charset="-122"/>
                  <a:cs typeface="Consolas" pitchFamily="49" charset="0"/>
                </a:rPr>
                <a:t>b</a:t>
              </a:r>
              <a:r>
                <a:rPr lang="en-US" altLang="zh-CN" sz="1800" i="1" baseline="-25000" smtClean="0">
                  <a:solidFill>
                    <a:srgbClr val="0000FF"/>
                  </a:solidFill>
                  <a:latin typeface="Consolas" pitchFamily="49" charset="0"/>
                  <a:ea typeface="仿宋" pitchFamily="49" charset="-122"/>
                  <a:cs typeface="Consolas" pitchFamily="49" charset="0"/>
                </a:rPr>
                <a:t>k</a:t>
              </a:r>
              <a:r>
                <a:rPr lang="en-US" altLang="zh-CN" sz="1800" baseline="-25000" smtClean="0">
                  <a:solidFill>
                    <a:srgbClr val="0000FF"/>
                  </a:solidFill>
                  <a:latin typeface="Consolas" pitchFamily="49" charset="0"/>
                  <a:ea typeface="仿宋" pitchFamily="49" charset="-122"/>
                  <a:cs typeface="Consolas" pitchFamily="49" charset="0"/>
                </a:rPr>
                <a:t>-1</a:t>
              </a:r>
              <a:r>
                <a:rPr lang="en-US" altLang="zh-CN" sz="1800" smtClean="0">
                  <a:solidFill>
                    <a:srgbClr val="0000FF"/>
                  </a:solidFill>
                  <a:latin typeface="Consolas" pitchFamily="49" charset="0"/>
                  <a:ea typeface="仿宋" pitchFamily="49" charset="-122"/>
                  <a:cs typeface="Consolas" pitchFamily="49" charset="0"/>
                </a:rPr>
                <a:t> </a:t>
              </a:r>
              <a:r>
                <a:rPr lang="en-US" altLang="zh-CN" sz="1800" i="1">
                  <a:solidFill>
                    <a:srgbClr val="FF0000"/>
                  </a:solidFill>
                  <a:latin typeface="Consolas" pitchFamily="49" charset="0"/>
                  <a:ea typeface="仿宋" pitchFamily="49" charset="-122"/>
                  <a:cs typeface="Consolas" pitchFamily="49" charset="0"/>
                </a:rPr>
                <a:t>b</a:t>
              </a:r>
              <a:r>
                <a:rPr lang="en-US" altLang="zh-CN" sz="1800" i="1" baseline="-25000">
                  <a:solidFill>
                    <a:srgbClr val="FF0000"/>
                  </a:solidFill>
                  <a:latin typeface="Consolas" pitchFamily="49" charset="0"/>
                  <a:ea typeface="仿宋" pitchFamily="49" charset="-122"/>
                  <a:cs typeface="Consolas" pitchFamily="49" charset="0"/>
                </a:rPr>
                <a:t>k</a:t>
              </a:r>
              <a:r>
                <a:rPr lang="en-US" altLang="zh-CN" sz="1800">
                  <a:solidFill>
                    <a:srgbClr val="0000FF"/>
                  </a:solidFill>
                  <a:latin typeface="Consolas" pitchFamily="49" charset="0"/>
                  <a:ea typeface="仿宋" pitchFamily="49" charset="-122"/>
                  <a:cs typeface="Consolas" pitchFamily="49" charset="0"/>
                </a:rPr>
                <a:t> </a:t>
              </a:r>
              <a:r>
                <a:rPr lang="en-US" altLang="zh-CN" sz="1800" i="1">
                  <a:solidFill>
                    <a:srgbClr val="0000FF"/>
                  </a:solidFill>
                  <a:latin typeface="Consolas" pitchFamily="49" charset="0"/>
                  <a:ea typeface="仿宋" pitchFamily="49" charset="-122"/>
                  <a:cs typeface="Consolas" pitchFamily="49" charset="0"/>
                </a:rPr>
                <a:t>b</a:t>
              </a:r>
              <a:r>
                <a:rPr lang="en-US" altLang="zh-CN" sz="1800" i="1" baseline="-25000">
                  <a:solidFill>
                    <a:srgbClr val="0000FF"/>
                  </a:solidFill>
                  <a:latin typeface="Consolas" pitchFamily="49" charset="0"/>
                  <a:ea typeface="仿宋" pitchFamily="49" charset="-122"/>
                  <a:cs typeface="Consolas" pitchFamily="49" charset="0"/>
                </a:rPr>
                <a:t>k</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00FF"/>
                  </a:solidFill>
                  <a:latin typeface="+mj-ea"/>
                  <a:ea typeface="+mj-ea"/>
                  <a:cs typeface="Consolas" pitchFamily="49" charset="0"/>
                </a:rPr>
                <a:t>…</a:t>
              </a:r>
              <a:r>
                <a:rPr lang="en-US" altLang="zh-CN" sz="1800">
                  <a:solidFill>
                    <a:srgbClr val="0000FF"/>
                  </a:solidFill>
                  <a:latin typeface="Consolas" pitchFamily="49" charset="0"/>
                  <a:ea typeface="仿宋" pitchFamily="49" charset="-122"/>
                  <a:cs typeface="Consolas" pitchFamily="49" charset="0"/>
                </a:rPr>
                <a:t> </a:t>
              </a:r>
              <a:r>
                <a:rPr lang="en-US" altLang="zh-CN" sz="1800" i="1">
                  <a:solidFill>
                    <a:srgbClr val="0000FF"/>
                  </a:solidFill>
                  <a:latin typeface="Consolas" pitchFamily="49" charset="0"/>
                  <a:ea typeface="仿宋" pitchFamily="49" charset="-122"/>
                  <a:cs typeface="Consolas" pitchFamily="49" charset="0"/>
                </a:rPr>
                <a:t>b</a:t>
              </a:r>
              <a:r>
                <a:rPr lang="en-US" altLang="zh-CN" sz="1800" i="1" baseline="-25000">
                  <a:solidFill>
                    <a:srgbClr val="0000FF"/>
                  </a:solidFill>
                  <a:latin typeface="Consolas" pitchFamily="49" charset="0"/>
                  <a:ea typeface="仿宋" pitchFamily="49" charset="-122"/>
                  <a:cs typeface="Consolas" pitchFamily="49" charset="0"/>
                </a:rPr>
                <a:t>n</a:t>
              </a:r>
              <a:r>
                <a:rPr lang="en-US" altLang="zh-CN" sz="1800" baseline="-25000">
                  <a:solidFill>
                    <a:srgbClr val="0000FF"/>
                  </a:solidFill>
                  <a:latin typeface="Consolas" pitchFamily="49" charset="0"/>
                  <a:ea typeface="仿宋" pitchFamily="49" charset="-122"/>
                  <a:cs typeface="Consolas" pitchFamily="49" charset="0"/>
                </a:rPr>
                <a:t>-1</a:t>
              </a:r>
              <a:endParaRPr lang="en-US" altLang="en-US" sz="1800" baseline="-25000">
                <a:solidFill>
                  <a:srgbClr val="0000FF"/>
                </a:solidFill>
                <a:latin typeface="Consolas" pitchFamily="49" charset="0"/>
                <a:ea typeface="仿宋" pitchFamily="49" charset="-122"/>
                <a:cs typeface="Consolas" pitchFamily="49" charset="0"/>
              </a:endParaRPr>
            </a:p>
          </p:txBody>
        </p:sp>
        <p:sp>
          <p:nvSpPr>
            <p:cNvPr id="15" name="AutoShape 16"/>
            <p:cNvSpPr>
              <a:spLocks/>
            </p:cNvSpPr>
            <p:nvPr/>
          </p:nvSpPr>
          <p:spPr bwMode="auto">
            <a:xfrm rot="16200000">
              <a:off x="5985390" y="2533507"/>
              <a:ext cx="144463" cy="1080000"/>
            </a:xfrm>
            <a:prstGeom prst="leftBrace">
              <a:avLst>
                <a:gd name="adj1" fmla="val 49817"/>
                <a:gd name="adj2" fmla="val 50000"/>
              </a:avLst>
            </a:prstGeom>
            <a:ln w="19050">
              <a:headEnd/>
              <a:tailEnd type="none" w="med" len="lg"/>
            </a:ln>
          </p:spPr>
          <p:style>
            <a:lnRef idx="2">
              <a:schemeClr val="dk1"/>
            </a:lnRef>
            <a:fillRef idx="0">
              <a:schemeClr val="dk1"/>
            </a:fillRef>
            <a:effectRef idx="1">
              <a:schemeClr val="dk1"/>
            </a:effectRef>
            <a:fontRef idx="minor">
              <a:schemeClr val="tx1"/>
            </a:fontRef>
          </p:style>
          <p:txBody>
            <a:bodyPr wrap="none" anchor="ctr"/>
            <a:lstStyle/>
            <a:p>
              <a:pPr algn="l"/>
              <a:endParaRPr lang="zh-CN" altLang="en-US" sz="1800">
                <a:latin typeface="Consolas" pitchFamily="49" charset="0"/>
                <a:ea typeface="仿宋" pitchFamily="49" charset="-122"/>
                <a:cs typeface="Consolas" pitchFamily="49" charset="0"/>
              </a:endParaRPr>
            </a:p>
          </p:txBody>
        </p:sp>
        <p:sp>
          <p:nvSpPr>
            <p:cNvPr id="16" name="AutoShape 17"/>
            <p:cNvSpPr>
              <a:spLocks/>
            </p:cNvSpPr>
            <p:nvPr/>
          </p:nvSpPr>
          <p:spPr bwMode="auto">
            <a:xfrm rot="16200000">
              <a:off x="7765032" y="2533507"/>
              <a:ext cx="144463" cy="1080000"/>
            </a:xfrm>
            <a:prstGeom prst="leftBrace">
              <a:avLst>
                <a:gd name="adj1" fmla="val 49817"/>
                <a:gd name="adj2" fmla="val 50000"/>
              </a:avLst>
            </a:prstGeom>
            <a:ln w="19050">
              <a:headEnd/>
              <a:tailEnd type="none" w="med" len="lg"/>
            </a:ln>
          </p:spPr>
          <p:style>
            <a:lnRef idx="2">
              <a:schemeClr val="dk1"/>
            </a:lnRef>
            <a:fillRef idx="0">
              <a:schemeClr val="dk1"/>
            </a:fillRef>
            <a:effectRef idx="1">
              <a:schemeClr val="dk1"/>
            </a:effectRef>
            <a:fontRef idx="minor">
              <a:schemeClr val="tx1"/>
            </a:fontRef>
          </p:style>
          <p:txBody>
            <a:bodyPr wrap="none" anchor="ctr"/>
            <a:lstStyle/>
            <a:p>
              <a:pPr algn="l"/>
              <a:endParaRPr lang="zh-CN" altLang="en-US" sz="1800">
                <a:latin typeface="Consolas" pitchFamily="49" charset="0"/>
                <a:ea typeface="仿宋" pitchFamily="49" charset="-122"/>
                <a:cs typeface="Consolas" pitchFamily="49" charset="0"/>
              </a:endParaRPr>
            </a:p>
          </p:txBody>
        </p:sp>
        <p:sp>
          <p:nvSpPr>
            <p:cNvPr id="17" name="Line 18"/>
            <p:cNvSpPr>
              <a:spLocks noChangeShapeType="1"/>
            </p:cNvSpPr>
            <p:nvPr/>
          </p:nvSpPr>
          <p:spPr bwMode="auto">
            <a:xfrm>
              <a:off x="4212687" y="2349810"/>
              <a:ext cx="0" cy="323850"/>
            </a:xfrm>
            <a:prstGeom prst="line">
              <a:avLst/>
            </a:prstGeom>
            <a:ln w="19050">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pPr algn="l"/>
              <a:endParaRPr lang="zh-CN" altLang="en-US" sz="1800">
                <a:latin typeface="Consolas" pitchFamily="49" charset="0"/>
                <a:ea typeface="仿宋" pitchFamily="49" charset="-122"/>
                <a:cs typeface="Consolas" pitchFamily="49" charset="0"/>
              </a:endParaRPr>
            </a:p>
          </p:txBody>
        </p:sp>
        <p:sp>
          <p:nvSpPr>
            <p:cNvPr id="18" name="Freeform 19"/>
            <p:cNvSpPr>
              <a:spLocks/>
            </p:cNvSpPr>
            <p:nvPr/>
          </p:nvSpPr>
          <p:spPr bwMode="auto">
            <a:xfrm>
              <a:off x="4230886" y="2338698"/>
              <a:ext cx="2736000" cy="1587"/>
            </a:xfrm>
            <a:custGeom>
              <a:avLst/>
              <a:gdLst/>
              <a:ahLst/>
              <a:cxnLst>
                <a:cxn ang="0">
                  <a:pos x="0" y="5"/>
                </a:cxn>
                <a:cxn ang="0">
                  <a:pos x="2012" y="0"/>
                </a:cxn>
              </a:cxnLst>
              <a:rect l="0" t="0" r="r" b="b"/>
              <a:pathLst>
                <a:path w="2012" h="5">
                  <a:moveTo>
                    <a:pt x="0" y="5"/>
                  </a:moveTo>
                  <a:lnTo>
                    <a:pt x="2012" y="0"/>
                  </a:lnTo>
                </a:path>
              </a:pathLst>
            </a:custGeom>
            <a:ln w="19050">
              <a:headEnd type="none" w="med" len="med"/>
              <a:tailEnd type="none" w="med" len="lg"/>
            </a:ln>
          </p:spPr>
          <p:style>
            <a:lnRef idx="2">
              <a:schemeClr val="accent5"/>
            </a:lnRef>
            <a:fillRef idx="0">
              <a:schemeClr val="accent5"/>
            </a:fillRef>
            <a:effectRef idx="1">
              <a:schemeClr val="accent5"/>
            </a:effectRef>
            <a:fontRef idx="minor">
              <a:schemeClr val="tx1"/>
            </a:fontRef>
          </p:style>
          <p:txBody>
            <a:bodyPr wrap="none"/>
            <a:lstStyle/>
            <a:p>
              <a:pPr algn="l"/>
              <a:endParaRPr lang="zh-CN" altLang="en-US" sz="1800">
                <a:latin typeface="Consolas" pitchFamily="49" charset="0"/>
                <a:ea typeface="仿宋" pitchFamily="49" charset="-122"/>
                <a:cs typeface="Consolas" pitchFamily="49" charset="0"/>
              </a:endParaRPr>
            </a:p>
          </p:txBody>
        </p:sp>
        <p:sp>
          <p:nvSpPr>
            <p:cNvPr id="19" name="Line 20"/>
            <p:cNvSpPr>
              <a:spLocks noChangeShapeType="1"/>
            </p:cNvSpPr>
            <p:nvPr/>
          </p:nvSpPr>
          <p:spPr bwMode="auto">
            <a:xfrm>
              <a:off x="6981842" y="2327585"/>
              <a:ext cx="0" cy="323850"/>
            </a:xfrm>
            <a:prstGeom prst="line">
              <a:avLst/>
            </a:prstGeom>
            <a:ln w="19050">
              <a:headEnd/>
              <a:tailEnd type="stealth" w="med" len="lg"/>
            </a:ln>
          </p:spPr>
          <p:style>
            <a:lnRef idx="2">
              <a:schemeClr val="accent5"/>
            </a:lnRef>
            <a:fillRef idx="0">
              <a:schemeClr val="accent5"/>
            </a:fillRef>
            <a:effectRef idx="1">
              <a:schemeClr val="accent5"/>
            </a:effectRef>
            <a:fontRef idx="minor">
              <a:schemeClr val="tx1"/>
            </a:fontRef>
          </p:style>
          <p:txBody>
            <a:bodyPr wrap="none"/>
            <a:lstStyle/>
            <a:p>
              <a:pPr algn="l"/>
              <a:endParaRPr lang="zh-CN" altLang="en-US" sz="1800">
                <a:latin typeface="Consolas" pitchFamily="49" charset="0"/>
                <a:ea typeface="仿宋" pitchFamily="49" charset="-122"/>
                <a:cs typeface="Consolas" pitchFamily="49" charset="0"/>
              </a:endParaRPr>
            </a:p>
          </p:txBody>
        </p:sp>
        <p:sp>
          <p:nvSpPr>
            <p:cNvPr id="20" name="Text Box 21"/>
            <p:cNvSpPr txBox="1">
              <a:spLocks noChangeArrowheads="1"/>
            </p:cNvSpPr>
            <p:nvPr/>
          </p:nvSpPr>
          <p:spPr bwMode="auto">
            <a:xfrm>
              <a:off x="3824312" y="2000241"/>
              <a:ext cx="3819522" cy="221599"/>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zh-CN" altLang="en-US" sz="1800" dirty="0">
                  <a:solidFill>
                    <a:srgbClr val="0000FF"/>
                  </a:solidFill>
                  <a:latin typeface="Consolas" pitchFamily="49" charset="0"/>
                  <a:ea typeface="仿宋" pitchFamily="49" charset="-122"/>
                  <a:cs typeface="Consolas" pitchFamily="49" charset="0"/>
                </a:rPr>
                <a:t>通过</a:t>
              </a:r>
              <a:r>
                <a:rPr lang="zh-CN" altLang="en-US" sz="1800" dirty="0" smtClean="0">
                  <a:solidFill>
                    <a:srgbClr val="0000FF"/>
                  </a:solidFill>
                  <a:latin typeface="Consolas" pitchFamily="49" charset="0"/>
                  <a:ea typeface="仿宋" pitchFamily="49" charset="-122"/>
                  <a:cs typeface="Consolas" pitchFamily="49" charset="0"/>
                </a:rPr>
                <a:t>根结点</a:t>
              </a:r>
              <a:r>
                <a:rPr lang="en-US" altLang="zh-CN" sz="1800" i="1" dirty="0" smtClean="0">
                  <a:solidFill>
                    <a:srgbClr val="0000FF"/>
                  </a:solidFill>
                  <a:latin typeface="Consolas" pitchFamily="49" charset="0"/>
                  <a:ea typeface="仿宋" pitchFamily="49" charset="-122"/>
                  <a:cs typeface="Consolas" pitchFamily="49" charset="0"/>
                </a:rPr>
                <a:t>a</a:t>
              </a:r>
              <a:r>
                <a:rPr lang="en-US" altLang="zh-CN" sz="1800" i="1" baseline="-25000" dirty="0" smtClean="0">
                  <a:solidFill>
                    <a:srgbClr val="0000FF"/>
                  </a:solidFill>
                  <a:latin typeface="Consolas" pitchFamily="49" charset="0"/>
                  <a:ea typeface="仿宋" pitchFamily="49" charset="-122"/>
                  <a:cs typeface="Consolas" pitchFamily="49" charset="0"/>
                </a:rPr>
                <a:t>n</a:t>
              </a:r>
              <a:r>
                <a:rPr lang="en-US" altLang="zh-CN" sz="1800" baseline="-25000" dirty="0" smtClean="0">
                  <a:solidFill>
                    <a:srgbClr val="0000FF"/>
                  </a:solidFill>
                  <a:latin typeface="Consolas" pitchFamily="49" charset="0"/>
                  <a:ea typeface="仿宋" pitchFamily="49" charset="-122"/>
                  <a:cs typeface="Consolas" pitchFamily="49" charset="0"/>
                </a:rPr>
                <a:t>-1</a:t>
              </a:r>
              <a:r>
                <a:rPr lang="zh-CN" altLang="en-US" sz="1800" dirty="0">
                  <a:solidFill>
                    <a:srgbClr val="0000FF"/>
                  </a:solidFill>
                  <a:latin typeface="Consolas" pitchFamily="49" charset="0"/>
                  <a:ea typeface="仿宋" pitchFamily="49" charset="-122"/>
                  <a:cs typeface="Consolas" pitchFamily="49" charset="0"/>
                </a:rPr>
                <a:t>在中序序列中找到</a:t>
              </a:r>
              <a:r>
                <a:rPr lang="en-US" altLang="zh-CN" sz="1800" i="1" dirty="0" err="1">
                  <a:solidFill>
                    <a:srgbClr val="0000FF"/>
                  </a:solidFill>
                  <a:latin typeface="Consolas" pitchFamily="49" charset="0"/>
                  <a:ea typeface="仿宋" pitchFamily="49" charset="-122"/>
                  <a:cs typeface="Consolas" pitchFamily="49" charset="0"/>
                </a:rPr>
                <a:t>b</a:t>
              </a:r>
              <a:r>
                <a:rPr lang="en-US" altLang="zh-CN" sz="1800" i="1" baseline="-25000" dirty="0" err="1">
                  <a:solidFill>
                    <a:srgbClr val="0000FF"/>
                  </a:solidFill>
                  <a:latin typeface="Consolas" pitchFamily="49" charset="0"/>
                  <a:ea typeface="仿宋" pitchFamily="49" charset="-122"/>
                  <a:cs typeface="Consolas" pitchFamily="49" charset="0"/>
                </a:rPr>
                <a:t>k</a:t>
              </a:r>
              <a:endParaRPr lang="en-US" altLang="zh-CN" sz="1800" i="1" baseline="-25000" dirty="0">
                <a:solidFill>
                  <a:srgbClr val="0000FF"/>
                </a:solidFill>
                <a:latin typeface="Consolas" pitchFamily="49" charset="0"/>
                <a:ea typeface="仿宋" pitchFamily="49" charset="-122"/>
                <a:cs typeface="Consolas" pitchFamily="49" charset="0"/>
              </a:endParaRPr>
            </a:p>
          </p:txBody>
        </p:sp>
      </p:grpSp>
      <p:sp>
        <p:nvSpPr>
          <p:cNvPr id="21" name="TextBox 20"/>
          <p:cNvSpPr txBox="1"/>
          <p:nvPr/>
        </p:nvSpPr>
        <p:spPr>
          <a:xfrm>
            <a:off x="571472" y="1689933"/>
            <a:ext cx="3645461" cy="45318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marL="457200" indent="-457200" algn="l">
              <a:lnSpc>
                <a:spcPct val="100000"/>
              </a:lnSpc>
              <a:buBlip>
                <a:blip r:embed="rId2"/>
              </a:buBlip>
            </a:pPr>
            <a:r>
              <a:rPr lang="zh-CN" altLang="en-US" sz="2000" smtClean="0">
                <a:solidFill>
                  <a:srgbClr val="0000FF"/>
                </a:solidFill>
                <a:latin typeface="Consolas" pitchFamily="49" charset="0"/>
                <a:ea typeface="仿宋" pitchFamily="49" charset="-122"/>
                <a:cs typeface="Consolas" pitchFamily="49" charset="0"/>
              </a:rPr>
              <a:t>由</a:t>
            </a:r>
            <a:r>
              <a:rPr lang="en-US" altLang="zh-CN" sz="2000" i="1" smtClean="0">
                <a:solidFill>
                  <a:srgbClr val="0000FF"/>
                </a:solidFill>
                <a:latin typeface="Consolas" pitchFamily="49" charset="0"/>
                <a:ea typeface="仿宋" pitchFamily="49" charset="-122"/>
                <a:cs typeface="Consolas" pitchFamily="49" charset="0"/>
              </a:rPr>
              <a:t>a</a:t>
            </a:r>
            <a:r>
              <a:rPr lang="en-US" altLang="zh-CN" sz="2000" i="1" baseline="-25000"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（根结点）找到</a:t>
            </a:r>
            <a:r>
              <a:rPr lang="en-US" altLang="zh-CN" sz="2000" i="1" smtClean="0">
                <a:solidFill>
                  <a:srgbClr val="0000FF"/>
                </a:solidFill>
                <a:latin typeface="Consolas" pitchFamily="49" charset="0"/>
                <a:ea typeface="仿宋" pitchFamily="49" charset="-122"/>
                <a:cs typeface="Consolas" pitchFamily="49" charset="0"/>
              </a:rPr>
              <a:t>b</a:t>
            </a:r>
            <a:r>
              <a:rPr lang="en-US" altLang="zh-CN" sz="2000" i="1" baseline="-25000" smtClean="0">
                <a:solidFill>
                  <a:srgbClr val="0000FF"/>
                </a:solidFill>
                <a:latin typeface="Consolas" pitchFamily="49" charset="0"/>
                <a:ea typeface="仿宋" pitchFamily="49" charset="-122"/>
                <a:cs typeface="Consolas" pitchFamily="49" charset="0"/>
              </a:rPr>
              <a:t>k</a:t>
            </a:r>
            <a:r>
              <a:rPr lang="zh-CN" altLang="en-US" sz="2000" smtClean="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sp>
        <p:nvSpPr>
          <p:cNvPr id="22" name="TextBox 21"/>
          <p:cNvSpPr txBox="1"/>
          <p:nvPr/>
        </p:nvSpPr>
        <p:spPr>
          <a:xfrm>
            <a:off x="500034" y="4759637"/>
            <a:ext cx="8429684" cy="13765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marL="457200" indent="-457200" algn="l">
              <a:lnSpc>
                <a:spcPct val="1000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若</a:t>
            </a:r>
            <a:r>
              <a:rPr lang="en-US" altLang="zh-CN" sz="2000" i="1" smtClean="0">
                <a:solidFill>
                  <a:srgbClr val="0000FF"/>
                </a:solidFill>
                <a:latin typeface="Consolas" pitchFamily="49" charset="0"/>
                <a:ea typeface="仿宋" pitchFamily="49" charset="-122"/>
                <a:cs typeface="Consolas" pitchFamily="49" charset="0"/>
              </a:rPr>
              <a:t>b</a:t>
            </a:r>
            <a:r>
              <a:rPr lang="en-US" altLang="zh-CN" sz="2000" i="1" baseline="-25000" smtClean="0">
                <a:solidFill>
                  <a:srgbClr val="0000FF"/>
                </a:solidFill>
                <a:latin typeface="Consolas" pitchFamily="49" charset="0"/>
                <a:ea typeface="仿宋" pitchFamily="49" charset="-122"/>
                <a:cs typeface="Consolas" pitchFamily="49" charset="0"/>
              </a:rPr>
              <a:t>k</a:t>
            </a:r>
            <a:r>
              <a:rPr lang="zh-CN" altLang="en-US" sz="2000" smtClean="0">
                <a:solidFill>
                  <a:srgbClr val="0000FF"/>
                </a:solidFill>
                <a:latin typeface="Consolas" pitchFamily="49" charset="0"/>
                <a:ea typeface="仿宋" pitchFamily="49" charset="-122"/>
                <a:cs typeface="Consolas" pitchFamily="49" charset="0"/>
              </a:rPr>
              <a:t>前面有</a:t>
            </a:r>
            <a:r>
              <a:rPr lang="en-US" altLang="zh-CN" sz="2000" i="1" smtClean="0">
                <a:solidFill>
                  <a:srgbClr val="0000FF"/>
                </a:solidFill>
                <a:latin typeface="Consolas" pitchFamily="49" charset="0"/>
                <a:ea typeface="仿宋" pitchFamily="49" charset="-122"/>
                <a:cs typeface="Consolas" pitchFamily="49" charset="0"/>
              </a:rPr>
              <a:t>k</a:t>
            </a:r>
            <a:r>
              <a:rPr lang="zh-CN" altLang="en-US" sz="2000" smtClean="0">
                <a:solidFill>
                  <a:srgbClr val="0000FF"/>
                </a:solidFill>
                <a:latin typeface="Consolas" pitchFamily="49" charset="0"/>
                <a:ea typeface="仿宋" pitchFamily="49" charset="-122"/>
                <a:cs typeface="Consolas" pitchFamily="49" charset="0"/>
              </a:rPr>
              <a:t>个结点，则左子树有</a:t>
            </a:r>
            <a:r>
              <a:rPr lang="en-US" altLang="zh-CN" sz="2000" i="1" smtClean="0">
                <a:solidFill>
                  <a:srgbClr val="0000FF"/>
                </a:solidFill>
                <a:latin typeface="Consolas" pitchFamily="49" charset="0"/>
                <a:ea typeface="仿宋" pitchFamily="49" charset="-122"/>
                <a:cs typeface="Consolas" pitchFamily="49" charset="0"/>
              </a:rPr>
              <a:t>k</a:t>
            </a:r>
            <a:r>
              <a:rPr lang="zh-CN" altLang="en-US" sz="2000" smtClean="0">
                <a:solidFill>
                  <a:srgbClr val="0000FF"/>
                </a:solidFill>
                <a:latin typeface="Consolas" pitchFamily="49" charset="0"/>
                <a:ea typeface="仿宋" pitchFamily="49" charset="-122"/>
                <a:cs typeface="Consolas" pitchFamily="49" charset="0"/>
              </a:rPr>
              <a:t>个结点，右子树有</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k</a:t>
            </a:r>
            <a:r>
              <a:rPr lang="en-US" altLang="zh-CN"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个结点。</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ct val="1000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可以求出左右子树的</a:t>
            </a:r>
            <a:r>
              <a:rPr kumimoji="1" lang="zh-CN" altLang="en-US" sz="2000" smtClean="0">
                <a:solidFill>
                  <a:srgbClr val="FF00FF"/>
                </a:solidFill>
                <a:latin typeface="Consolas" pitchFamily="49" charset="0"/>
                <a:ea typeface="仿宋" pitchFamily="49" charset="-122"/>
                <a:cs typeface="Consolas" pitchFamily="49" charset="0"/>
              </a:rPr>
              <a:t>中序序列</a:t>
            </a:r>
            <a:r>
              <a:rPr kumimoji="1" lang="zh-CN" altLang="en-US" sz="2000" smtClean="0">
                <a:solidFill>
                  <a:srgbClr val="0000FF"/>
                </a:solidFill>
                <a:latin typeface="Consolas" pitchFamily="49" charset="0"/>
                <a:ea typeface="仿宋" pitchFamily="49" charset="-122"/>
                <a:cs typeface="Consolas" pitchFamily="49" charset="0"/>
              </a:rPr>
              <a:t>和</a:t>
            </a:r>
            <a:r>
              <a:rPr kumimoji="1" lang="zh-CN" altLang="en-US" sz="2000" smtClean="0">
                <a:solidFill>
                  <a:srgbClr val="FF00FF"/>
                </a:solidFill>
                <a:latin typeface="Consolas" pitchFamily="49" charset="0"/>
                <a:ea typeface="仿宋" pitchFamily="49" charset="-122"/>
                <a:cs typeface="Consolas" pitchFamily="49" charset="0"/>
              </a:rPr>
              <a:t>后序序列</a:t>
            </a:r>
            <a:r>
              <a:rPr kumimoji="1"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ct val="1000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这样根结点是确定的，左右子树也是确定的，则该二叉树是确定的。</a:t>
            </a:r>
            <a:endParaRPr lang="zh-CN" altLang="en-US" sz="2000">
              <a:solidFill>
                <a:srgbClr val="0000FF"/>
              </a:solidFill>
              <a:latin typeface="Consolas" pitchFamily="49" charset="0"/>
              <a:ea typeface="仿宋" pitchFamily="49" charset="-122"/>
              <a:cs typeface="Consolas" pitchFamily="49" charset="0"/>
            </a:endParaRPr>
          </a:p>
        </p:txBody>
      </p:sp>
      <p:sp>
        <p:nvSpPr>
          <p:cNvPr id="25" name="TextBox 24"/>
          <p:cNvSpPr txBox="1"/>
          <p:nvPr/>
        </p:nvSpPr>
        <p:spPr>
          <a:xfrm>
            <a:off x="428596" y="1142984"/>
            <a:ext cx="85725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en-US" sz="2000"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cs typeface="Consolas" pitchFamily="49" charset="0"/>
              </a:rPr>
              <a:t>证明</a:t>
            </a:r>
          </a:p>
        </p:txBody>
      </p:sp>
      <p:sp>
        <p:nvSpPr>
          <p:cNvPr id="26" name="灯片编号占位符 25"/>
          <p:cNvSpPr>
            <a:spLocks noGrp="1"/>
          </p:cNvSpPr>
          <p:nvPr>
            <p:ph type="sldNum" sz="quarter" idx="12"/>
          </p:nvPr>
        </p:nvSpPr>
        <p:spPr/>
        <p:txBody>
          <a:bodyPr/>
          <a:lstStyle/>
          <a:p>
            <a:fld id="{67864EE2-EAB3-4814-A7EB-820BD7610F1E}" type="slidenum">
              <a:rPr lang="en-US" altLang="zh-CN" smtClean="0"/>
              <a:pPr/>
              <a:t>25</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814393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仿宋" pitchFamily="49" charset="-122"/>
                <a:cs typeface="Consolas" pitchFamily="49" charset="0"/>
              </a:rPr>
              <a:t>已知中序序列为</a:t>
            </a:r>
            <a:r>
              <a:rPr lang="en-US" altLang="zh-CN" sz="2000" smtClean="0">
                <a:solidFill>
                  <a:srgbClr val="0000FF"/>
                </a:solidFill>
                <a:latin typeface="Consolas" pitchFamily="49" charset="0"/>
                <a:ea typeface="仿宋" pitchFamily="49" charset="-122"/>
                <a:cs typeface="Consolas" pitchFamily="49" charset="0"/>
              </a:rPr>
              <a:t>DGBAECF</a:t>
            </a:r>
            <a:r>
              <a:rPr lang="zh-CN" altLang="zh-CN" sz="2000" smtClean="0">
                <a:solidFill>
                  <a:srgbClr val="0000FF"/>
                </a:solidFill>
                <a:latin typeface="Consolas" pitchFamily="49" charset="0"/>
                <a:ea typeface="仿宋" pitchFamily="49" charset="-122"/>
                <a:cs typeface="Consolas" pitchFamily="49" charset="0"/>
              </a:rPr>
              <a:t>，后序序列为</a:t>
            </a:r>
            <a:r>
              <a:rPr lang="en-US" altLang="zh-CN" sz="2000" smtClean="0">
                <a:solidFill>
                  <a:srgbClr val="0000FF"/>
                </a:solidFill>
                <a:latin typeface="Consolas" pitchFamily="49" charset="0"/>
                <a:ea typeface="仿宋" pitchFamily="49" charset="-122"/>
                <a:cs typeface="Consolas" pitchFamily="49" charset="0"/>
              </a:rPr>
              <a:t>GDBEFCA</a:t>
            </a:r>
            <a:r>
              <a:rPr lang="zh-CN" altLang="zh-CN" sz="2000" smtClean="0">
                <a:solidFill>
                  <a:srgbClr val="0000FF"/>
                </a:solidFill>
                <a:latin typeface="Consolas" pitchFamily="49" charset="0"/>
                <a:ea typeface="仿宋" pitchFamily="49" charset="-122"/>
                <a:cs typeface="Consolas" pitchFamily="49" charset="0"/>
              </a:rPr>
              <a:t>，则构造二叉树的过程</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537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0" name="组合 19"/>
          <p:cNvGrpSpPr/>
          <p:nvPr/>
        </p:nvGrpSpPr>
        <p:grpSpPr>
          <a:xfrm>
            <a:off x="865389" y="1079713"/>
            <a:ext cx="6413090" cy="5230249"/>
            <a:chOff x="865389" y="1079713"/>
            <a:chExt cx="6413090" cy="5230249"/>
          </a:xfrm>
        </p:grpSpPr>
        <p:sp>
          <p:nvSpPr>
            <p:cNvPr id="15374" name="Line 14"/>
            <p:cNvSpPr>
              <a:spLocks noChangeShapeType="1"/>
            </p:cNvSpPr>
            <p:nvPr/>
          </p:nvSpPr>
          <p:spPr bwMode="auto">
            <a:xfrm flipH="1">
              <a:off x="2887997" y="1995561"/>
              <a:ext cx="551726" cy="637010"/>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36000" tIns="36000" rIns="91440" bIns="45720" numCol="1" anchor="t" anchorCtr="0" compatLnSpc="1">
              <a:prstTxWarp prst="textNoShape">
                <a:avLst/>
              </a:prstTxWarp>
            </a:bodyPr>
            <a:lstStyle/>
            <a:p>
              <a:pPr>
                <a:lnSpc>
                  <a:spcPts val="20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5373" name="Line 13"/>
            <p:cNvSpPr>
              <a:spLocks noChangeShapeType="1"/>
            </p:cNvSpPr>
            <p:nvPr/>
          </p:nvSpPr>
          <p:spPr bwMode="auto">
            <a:xfrm>
              <a:off x="4543176" y="2011894"/>
              <a:ext cx="551726" cy="637010"/>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36000" tIns="36000" rIns="91440" bIns="45720" numCol="1" anchor="t" anchorCtr="0" compatLnSpc="1">
              <a:prstTxWarp prst="textNoShape">
                <a:avLst/>
              </a:prstTxWarp>
            </a:bodyPr>
            <a:lstStyle/>
            <a:p>
              <a:pPr>
                <a:lnSpc>
                  <a:spcPts val="20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5372" name="Line 12"/>
            <p:cNvSpPr>
              <a:spLocks noChangeShapeType="1"/>
            </p:cNvSpPr>
            <p:nvPr/>
          </p:nvSpPr>
          <p:spPr bwMode="auto">
            <a:xfrm flipH="1">
              <a:off x="1968842" y="3470251"/>
              <a:ext cx="367429" cy="638177"/>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36000" tIns="36000" rIns="91440" bIns="45720" numCol="1" anchor="t" anchorCtr="0" compatLnSpc="1">
              <a:prstTxWarp prst="textNoShape">
                <a:avLst/>
              </a:prstTxWarp>
            </a:bodyPr>
            <a:lstStyle/>
            <a:p>
              <a:pPr>
                <a:lnSpc>
                  <a:spcPts val="20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5371" name="Line 11"/>
            <p:cNvSpPr>
              <a:spLocks noChangeShapeType="1"/>
            </p:cNvSpPr>
            <p:nvPr/>
          </p:nvSpPr>
          <p:spPr bwMode="auto">
            <a:xfrm>
              <a:off x="2144974" y="4872606"/>
              <a:ext cx="551726" cy="637010"/>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36000" tIns="36000" rIns="91440" bIns="45720" numCol="1" anchor="t" anchorCtr="0" compatLnSpc="1">
              <a:prstTxWarp prst="textNoShape">
                <a:avLst/>
              </a:prstTxWarp>
            </a:bodyPr>
            <a:lstStyle/>
            <a:p>
              <a:pPr>
                <a:lnSpc>
                  <a:spcPts val="20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5370" name="Line 10"/>
            <p:cNvSpPr>
              <a:spLocks noChangeShapeType="1"/>
            </p:cNvSpPr>
            <p:nvPr/>
          </p:nvSpPr>
          <p:spPr bwMode="auto">
            <a:xfrm flipH="1">
              <a:off x="4358878" y="3437583"/>
              <a:ext cx="551726" cy="638177"/>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36000" tIns="36000" rIns="91440" bIns="45720" numCol="1" anchor="t" anchorCtr="0" compatLnSpc="1">
              <a:prstTxWarp prst="textNoShape">
                <a:avLst/>
              </a:prstTxWarp>
            </a:bodyPr>
            <a:lstStyle/>
            <a:p>
              <a:pPr>
                <a:lnSpc>
                  <a:spcPts val="20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5369" name="Line 9"/>
            <p:cNvSpPr>
              <a:spLocks noChangeShapeType="1"/>
            </p:cNvSpPr>
            <p:nvPr/>
          </p:nvSpPr>
          <p:spPr bwMode="auto">
            <a:xfrm>
              <a:off x="5616301" y="3437583"/>
              <a:ext cx="551726" cy="638177"/>
            </a:xfrm>
            <a:prstGeom prst="line">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36000" tIns="36000" rIns="91440" bIns="45720" numCol="1" anchor="t" anchorCtr="0" compatLnSpc="1">
              <a:prstTxWarp prst="textNoShape">
                <a:avLst/>
              </a:prstTxWarp>
            </a:bodyPr>
            <a:lstStyle/>
            <a:p>
              <a:pPr>
                <a:lnSpc>
                  <a:spcPts val="2000"/>
                </a:lnSpc>
              </a:pPr>
              <a:endParaRPr lang="zh-CN" altLang="en-US" sz="1400">
                <a:solidFill>
                  <a:srgbClr val="0000FF"/>
                </a:solidFill>
                <a:latin typeface="Consolas" pitchFamily="49" charset="0"/>
                <a:ea typeface="仿宋" pitchFamily="49" charset="-122"/>
                <a:cs typeface="Consolas" pitchFamily="49" charset="0"/>
              </a:endParaRPr>
            </a:p>
          </p:txBody>
        </p:sp>
        <p:sp>
          <p:nvSpPr>
            <p:cNvPr id="15368" name="Rectangle 8"/>
            <p:cNvSpPr>
              <a:spLocks noChangeArrowheads="1"/>
            </p:cNvSpPr>
            <p:nvPr/>
          </p:nvSpPr>
          <p:spPr bwMode="auto">
            <a:xfrm>
              <a:off x="2829675" y="1079713"/>
              <a:ext cx="2282724" cy="926348"/>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:DGB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:GDB</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:ECF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:EFC</a:t>
              </a:r>
            </a:p>
            <a:p>
              <a:pPr marL="0" marR="0" lvl="0" algn="l" defTabSz="914400" rtl="0" eaLnBrk="0" fontAlgn="base" latinLnBrk="0" hangingPunct="0">
                <a:lnSpc>
                  <a:spcPts val="2000"/>
                </a:lnSpc>
                <a:spcBef>
                  <a:spcPct val="0"/>
                </a:spcBef>
                <a:spcAft>
                  <a:spcPct val="0"/>
                </a:spcAft>
                <a:buClrTx/>
                <a:buSzTx/>
                <a:buFontTx/>
                <a:buNone/>
                <a:tabLst/>
              </a:pPr>
              <a:endPar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5367" name="Rectangle 7"/>
            <p:cNvSpPr>
              <a:spLocks noChangeArrowheads="1"/>
            </p:cNvSpPr>
            <p:nvPr/>
          </p:nvSpPr>
          <p:spPr bwMode="auto">
            <a:xfrm>
              <a:off x="1784544" y="2529902"/>
              <a:ext cx="1961953" cy="926348"/>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:DG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:GD</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右后序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000"/>
                </a:lnSpc>
                <a:spcBef>
                  <a:spcPct val="0"/>
                </a:spcBef>
                <a:spcAft>
                  <a:spcPct val="0"/>
                </a:spcAft>
                <a:buClrTx/>
                <a:buSzTx/>
                <a:buFontTx/>
                <a:buNone/>
                <a:tabLst/>
              </a:pPr>
              <a:endPar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5366" name="Rectangle 6"/>
            <p:cNvSpPr>
              <a:spLocks noChangeArrowheads="1"/>
            </p:cNvSpPr>
            <p:nvPr/>
          </p:nvSpPr>
          <p:spPr bwMode="auto">
            <a:xfrm>
              <a:off x="865389" y="3948592"/>
              <a:ext cx="1783488" cy="926348"/>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左后序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:G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a:p>
              <a:pPr marL="0" marR="0" lvl="0" algn="l" defTabSz="914400" rtl="0" eaLnBrk="0" fontAlgn="base" latinLnBrk="0" hangingPunct="0">
                <a:lnSpc>
                  <a:spcPts val="2000"/>
                </a:lnSpc>
                <a:spcBef>
                  <a:spcPct val="0"/>
                </a:spcBef>
                <a:spcAft>
                  <a:spcPct val="0"/>
                </a:spcAft>
                <a:buClrTx/>
                <a:buSzTx/>
                <a:buFontTx/>
                <a:buNone/>
                <a:tabLst/>
              </a:pPr>
              <a:endPar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5365" name="Rectangle 5"/>
            <p:cNvSpPr>
              <a:spLocks noChangeArrowheads="1"/>
            </p:cNvSpPr>
            <p:nvPr/>
          </p:nvSpPr>
          <p:spPr bwMode="auto">
            <a:xfrm>
              <a:off x="2153139" y="5383614"/>
              <a:ext cx="1783488" cy="926348"/>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左后序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右后序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000"/>
                </a:lnSpc>
                <a:spcBef>
                  <a:spcPct val="0"/>
                </a:spcBef>
                <a:spcAft>
                  <a:spcPct val="0"/>
                </a:spcAft>
                <a:buClrTx/>
                <a:buSzTx/>
                <a:buFontTx/>
                <a:buNone/>
                <a:tabLst/>
              </a:pPr>
              <a:endPar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5364" name="Rectangle 4"/>
            <p:cNvSpPr>
              <a:spLocks noChangeArrowheads="1"/>
            </p:cNvSpPr>
            <p:nvPr/>
          </p:nvSpPr>
          <p:spPr bwMode="auto">
            <a:xfrm>
              <a:off x="4473190" y="2514735"/>
              <a:ext cx="1628351" cy="926348"/>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:E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:F </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a:p>
              <a:pPr marL="0" marR="0" lvl="0" algn="l" defTabSz="914400" rtl="0" eaLnBrk="0" fontAlgn="base" latinLnBrk="0" hangingPunct="0">
                <a:lnSpc>
                  <a:spcPts val="2000"/>
                </a:lnSpc>
                <a:spcBef>
                  <a:spcPct val="0"/>
                </a:spcBef>
                <a:spcAft>
                  <a:spcPct val="0"/>
                </a:spcAft>
                <a:buClrTx/>
                <a:buSzTx/>
                <a:buFontTx/>
                <a:buNone/>
                <a:tabLst/>
              </a:pPr>
              <a:endPar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5363" name="Rectangle 3"/>
            <p:cNvSpPr>
              <a:spLocks noChangeArrowheads="1"/>
            </p:cNvSpPr>
            <p:nvPr/>
          </p:nvSpPr>
          <p:spPr bwMode="auto">
            <a:xfrm>
              <a:off x="3302083" y="3948592"/>
              <a:ext cx="1783488" cy="926348"/>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左后序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右后序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000"/>
                </a:lnSpc>
                <a:spcBef>
                  <a:spcPct val="0"/>
                </a:spcBef>
                <a:spcAft>
                  <a:spcPct val="0"/>
                </a:spcAft>
                <a:buClrTx/>
                <a:buSzTx/>
                <a:buFontTx/>
                <a:buNone/>
                <a:tabLst/>
              </a:pPr>
              <a:endPar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5362" name="Rectangle 2"/>
            <p:cNvSpPr>
              <a:spLocks noChangeArrowheads="1"/>
            </p:cNvSpPr>
            <p:nvPr/>
          </p:nvSpPr>
          <p:spPr bwMode="auto">
            <a:xfrm>
              <a:off x="5494991" y="3948592"/>
              <a:ext cx="1783488" cy="926348"/>
            </a:xfrm>
            <a:prstGeom prst="rect">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36000" tIns="36000" rIns="0" bIns="0" numCol="1" anchor="t" anchorCtr="0" compatLnSpc="1">
              <a:prstTxWarp prst="textNoShape">
                <a:avLst/>
              </a:prstTxWarp>
            </a:bodyPr>
            <a:lstStyle/>
            <a:p>
              <a:pPr marL="0" marR="0" lvl="0" algn="l" defTabSz="914400" rtl="0" eaLnBrk="1" fontAlgn="base" latinLnBrk="0" hangingPunct="1">
                <a:lnSpc>
                  <a:spcPts val="2000"/>
                </a:lnSpc>
                <a:spcBef>
                  <a:spcPct val="0"/>
                </a:spcBef>
                <a:spcAft>
                  <a:spcPct val="0"/>
                </a:spcAft>
                <a:buClrTx/>
                <a:buSzTx/>
                <a:buFontTx/>
                <a:buNone/>
                <a:tabLst/>
              </a:pPr>
              <a:r>
                <a:rPr kumimoji="0" 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根结点：</a:t>
              </a: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左中序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左后序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000"/>
                </a:lnSpc>
                <a:spcBef>
                  <a:spcPct val="0"/>
                </a:spcBef>
                <a:spcAft>
                  <a:spcPct val="0"/>
                </a:spcAft>
                <a:buClrTx/>
                <a:buSzTx/>
                <a:buFontTx/>
                <a:buNone/>
                <a:tabLst/>
              </a:pP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右中序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 右后序</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空</a:t>
              </a:r>
            </a:p>
            <a:p>
              <a:pPr marL="0" marR="0" lvl="0" algn="l" defTabSz="914400" rtl="0" eaLnBrk="0" fontAlgn="base" latinLnBrk="0" hangingPunct="0">
                <a:lnSpc>
                  <a:spcPts val="2000"/>
                </a:lnSpc>
                <a:spcBef>
                  <a:spcPct val="0"/>
                </a:spcBef>
                <a:spcAft>
                  <a:spcPct val="0"/>
                </a:spcAft>
                <a:buClrTx/>
                <a:buSzTx/>
                <a:buFontTx/>
                <a:buNone/>
                <a:tabLst/>
              </a:pPr>
              <a:endPar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grpSp>
      <p:sp>
        <p:nvSpPr>
          <p:cNvPr id="21" name="灯片编号占位符 20"/>
          <p:cNvSpPr>
            <a:spLocks noGrp="1"/>
          </p:cNvSpPr>
          <p:nvPr>
            <p:ph type="sldNum" sz="quarter" idx="12"/>
          </p:nvPr>
        </p:nvSpPr>
        <p:spPr/>
        <p:txBody>
          <a:bodyPr/>
          <a:lstStyle/>
          <a:p>
            <a:fld id="{67864EE2-EAB3-4814-A7EB-820BD7610F1E}" type="slidenum">
              <a:rPr lang="en-US" altLang="zh-CN" smtClean="0"/>
              <a:pPr/>
              <a:t>26</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428596" y="1071546"/>
            <a:ext cx="8358246" cy="195280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CreateBTree2</a:t>
            </a:r>
            <a:r>
              <a:rPr lang="en-US" altLang="zh-CN" sz="1800" smtClean="0">
                <a:solidFill>
                  <a:srgbClr val="0000FF"/>
                </a:solidFill>
                <a:latin typeface="Consolas" pitchFamily="49" charset="0"/>
                <a:ea typeface="仿宋" pitchFamily="49" charset="-122"/>
                <a:cs typeface="Consolas" pitchFamily="49" charset="0"/>
              </a:rPr>
              <a:t>(BTree&amp; bt,vector&lt;char&gt; posts,vector&lt;char&gt; ins)</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FF00FF"/>
                </a:solidFill>
                <a:latin typeface="Consolas" pitchFamily="49" charset="0"/>
                <a:ea typeface="仿宋" pitchFamily="49" charset="-122"/>
                <a:cs typeface="Consolas" pitchFamily="49" charset="0"/>
              </a:rPr>
              <a:t>//</a:t>
            </a:r>
            <a:r>
              <a:rPr lang="zh-CN" altLang="zh-CN" sz="1800" smtClean="0">
                <a:solidFill>
                  <a:srgbClr val="FF00FF"/>
                </a:solidFill>
                <a:latin typeface="Consolas" pitchFamily="49" charset="0"/>
                <a:ea typeface="仿宋" pitchFamily="49" charset="-122"/>
                <a:cs typeface="Consolas" pitchFamily="49" charset="0"/>
              </a:rPr>
              <a:t>由后序序列</a:t>
            </a:r>
            <a:r>
              <a:rPr lang="en-US" altLang="zh-CN" sz="1800" smtClean="0">
                <a:solidFill>
                  <a:srgbClr val="FF00FF"/>
                </a:solidFill>
                <a:latin typeface="Consolas" pitchFamily="49" charset="0"/>
                <a:ea typeface="仿宋" pitchFamily="49" charset="-122"/>
                <a:cs typeface="Consolas" pitchFamily="49" charset="0"/>
              </a:rPr>
              <a:t>posts</a:t>
            </a:r>
            <a:r>
              <a:rPr lang="zh-CN" altLang="zh-CN" sz="1800" smtClean="0">
                <a:solidFill>
                  <a:srgbClr val="FF00FF"/>
                </a:solidFill>
                <a:latin typeface="Consolas" pitchFamily="49" charset="0"/>
                <a:ea typeface="仿宋" pitchFamily="49" charset="-122"/>
                <a:cs typeface="Consolas" pitchFamily="49" charset="0"/>
              </a:rPr>
              <a:t>和中序序列</a:t>
            </a:r>
            <a:r>
              <a:rPr lang="en-US" altLang="zh-CN" sz="1800" smtClean="0">
                <a:solidFill>
                  <a:srgbClr val="FF00FF"/>
                </a:solidFill>
                <a:latin typeface="Consolas" pitchFamily="49" charset="0"/>
                <a:ea typeface="仿宋" pitchFamily="49" charset="-122"/>
                <a:cs typeface="Consolas" pitchFamily="49" charset="0"/>
              </a:rPr>
              <a:t>ins</a:t>
            </a:r>
            <a:r>
              <a:rPr lang="zh-CN" altLang="zh-CN" sz="1800" smtClean="0">
                <a:solidFill>
                  <a:srgbClr val="FF00FF"/>
                </a:solidFill>
                <a:latin typeface="Consolas" pitchFamily="49" charset="0"/>
                <a:ea typeface="仿宋" pitchFamily="49" charset="-122"/>
                <a:cs typeface="Consolas" pitchFamily="49" charset="0"/>
              </a:rPr>
              <a:t>构造二叉链</a:t>
            </a:r>
          </a:p>
          <a:p>
            <a:pPr algn="l"/>
            <a:r>
              <a:rPr lang="en-US" altLang="zh-CN" sz="1800" smtClean="0">
                <a:solidFill>
                  <a:srgbClr val="0000FF"/>
                </a:solidFill>
                <a:latin typeface="Consolas" pitchFamily="49" charset="0"/>
                <a:ea typeface="仿宋" pitchFamily="49" charset="-122"/>
                <a:cs typeface="Consolas" pitchFamily="49" charset="0"/>
              </a:rPr>
              <a:t>{  int n=posts.size();</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bt.r=</a:t>
            </a:r>
            <a:r>
              <a:rPr lang="en-US" altLang="zh-CN" sz="1800" smtClean="0">
                <a:solidFill>
                  <a:srgbClr val="FF00FF"/>
                </a:solidFill>
                <a:latin typeface="Consolas" pitchFamily="49" charset="0"/>
                <a:ea typeface="仿宋" pitchFamily="49" charset="-122"/>
                <a:cs typeface="Consolas" pitchFamily="49" charset="0"/>
              </a:rPr>
              <a:t>CreateBTree21</a:t>
            </a:r>
            <a:r>
              <a:rPr lang="en-US" altLang="zh-CN" sz="1800" smtClean="0">
                <a:solidFill>
                  <a:srgbClr val="0000FF"/>
                </a:solidFill>
                <a:latin typeface="Consolas" pitchFamily="49" charset="0"/>
                <a:ea typeface="仿宋" pitchFamily="49" charset="-122"/>
                <a:cs typeface="Consolas" pitchFamily="49" charset="0"/>
              </a:rPr>
              <a:t>(posts,0,ins,0,n);</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27</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142876" y="1053337"/>
            <a:ext cx="8929718" cy="421973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BTNode* </a:t>
            </a:r>
            <a:r>
              <a:rPr lang="en-US" altLang="zh-CN" sz="1800" smtClean="0">
                <a:solidFill>
                  <a:srgbClr val="FF0000"/>
                </a:solidFill>
                <a:latin typeface="Consolas" pitchFamily="49" charset="0"/>
                <a:ea typeface="仿宋" pitchFamily="49" charset="-122"/>
                <a:cs typeface="Consolas" pitchFamily="49" charset="0"/>
              </a:rPr>
              <a:t>CreateBTree21</a:t>
            </a:r>
            <a:r>
              <a:rPr lang="en-US" altLang="zh-CN" sz="1800" smtClean="0">
                <a:solidFill>
                  <a:srgbClr val="0000FF"/>
                </a:solidFill>
                <a:latin typeface="Consolas" pitchFamily="49" charset="0"/>
                <a:ea typeface="仿宋" pitchFamily="49" charset="-122"/>
                <a:cs typeface="Consolas" pitchFamily="49" charset="0"/>
              </a:rPr>
              <a:t>(vector&lt;char&gt; posts,int i,</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vector&lt;char&gt; ins,int j,int n)</a:t>
            </a:r>
          </a:p>
          <a:p>
            <a:pPr algn="l">
              <a:lnSpc>
                <a:spcPts val="2500"/>
              </a:lnSpc>
              <a:spcBef>
                <a:spcPts val="0"/>
              </a:spcBef>
            </a:pPr>
            <a:r>
              <a:rPr lang="en-US" altLang="zh-CN" sz="1800" smtClean="0">
                <a:solidFill>
                  <a:srgbClr val="FF00FF"/>
                </a:solidFill>
                <a:latin typeface="Consolas" pitchFamily="49" charset="0"/>
                <a:ea typeface="仿宋" pitchFamily="49" charset="-122"/>
                <a:cs typeface="Consolas" pitchFamily="49" charset="0"/>
              </a:rPr>
              <a:t>//</a:t>
            </a:r>
            <a:r>
              <a:rPr lang="zh-CN" altLang="zh-CN" sz="1800" smtClean="0">
                <a:solidFill>
                  <a:srgbClr val="FF00FF"/>
                </a:solidFill>
                <a:latin typeface="Consolas" pitchFamily="49" charset="0"/>
                <a:ea typeface="仿宋" pitchFamily="49" charset="-122"/>
                <a:cs typeface="Consolas" pitchFamily="49" charset="0"/>
              </a:rPr>
              <a:t>被</a:t>
            </a:r>
            <a:r>
              <a:rPr lang="en-US" altLang="zh-CN" sz="1800" smtClean="0">
                <a:solidFill>
                  <a:srgbClr val="FF00FF"/>
                </a:solidFill>
                <a:latin typeface="Consolas" pitchFamily="49" charset="0"/>
                <a:ea typeface="仿宋" pitchFamily="49" charset="-122"/>
                <a:cs typeface="Consolas" pitchFamily="49" charset="0"/>
              </a:rPr>
              <a:t>CreateBTree2</a:t>
            </a:r>
            <a:r>
              <a:rPr lang="zh-CN" altLang="zh-CN" sz="1800" smtClean="0">
                <a:solidFill>
                  <a:srgbClr val="FF00FF"/>
                </a:solidFill>
                <a:latin typeface="Consolas" pitchFamily="49" charset="0"/>
                <a:ea typeface="仿宋" pitchFamily="49" charset="-122"/>
                <a:cs typeface="Consolas" pitchFamily="49" charset="0"/>
              </a:rPr>
              <a:t>调用</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(n&lt;=0) return NULL;</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char d=posts[i+n-1];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取后序序列尾元素即根值</a:t>
            </a:r>
            <a:r>
              <a:rPr lang="en-US" altLang="zh-CN" sz="1800" smtClean="0">
                <a:solidFill>
                  <a:schemeClr val="bg1">
                    <a:lumMod val="50000"/>
                  </a:schemeClr>
                </a:solidFill>
                <a:latin typeface="Consolas" pitchFamily="49" charset="0"/>
                <a:ea typeface="仿宋" pitchFamily="49" charset="-122"/>
                <a:cs typeface="Consolas" pitchFamily="49" charset="0"/>
              </a:rPr>
              <a:t>d</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BTNode* b=new BTNode(d);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创建根结点</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结点值为</a:t>
            </a:r>
            <a:r>
              <a:rPr lang="en-US" altLang="zh-CN" sz="1800" smtClean="0">
                <a:solidFill>
                  <a:schemeClr val="bg1">
                    <a:lumMod val="50000"/>
                  </a:schemeClr>
                </a:solidFill>
                <a:latin typeface="Consolas" pitchFamily="49" charset="0"/>
                <a:ea typeface="仿宋" pitchFamily="49" charset="-122"/>
                <a:cs typeface="Consolas" pitchFamily="49" charset="0"/>
              </a:rPr>
              <a:t>d)</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p=j;</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(ins[p]!=d) p++;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在</a:t>
            </a:r>
            <a:r>
              <a:rPr lang="en-US" altLang="zh-CN" sz="1800" smtClean="0">
                <a:solidFill>
                  <a:schemeClr val="bg1">
                    <a:lumMod val="50000"/>
                  </a:schemeClr>
                </a:solidFill>
                <a:latin typeface="Consolas" pitchFamily="49" charset="0"/>
                <a:ea typeface="仿宋" pitchFamily="49" charset="-122"/>
                <a:cs typeface="Consolas" pitchFamily="49" charset="0"/>
              </a:rPr>
              <a:t>ins</a:t>
            </a:r>
            <a:r>
              <a:rPr lang="zh-CN" altLang="zh-CN" sz="1800" smtClean="0">
                <a:solidFill>
                  <a:schemeClr val="bg1">
                    <a:lumMod val="50000"/>
                  </a:schemeClr>
                </a:solidFill>
                <a:latin typeface="Consolas" pitchFamily="49" charset="0"/>
                <a:ea typeface="仿宋" pitchFamily="49" charset="-122"/>
                <a:cs typeface="Consolas" pitchFamily="49" charset="0"/>
              </a:rPr>
              <a:t>中找到根结点的索引</a:t>
            </a:r>
            <a:r>
              <a:rPr lang="en-US" altLang="zh-CN" sz="1800" smtClean="0">
                <a:solidFill>
                  <a:schemeClr val="bg1">
                    <a:lumMod val="50000"/>
                  </a:schemeClr>
                </a:solidFill>
                <a:latin typeface="Consolas" pitchFamily="49" charset="0"/>
                <a:ea typeface="仿宋" pitchFamily="49" charset="-122"/>
                <a:cs typeface="Consolas" pitchFamily="49" charset="0"/>
              </a:rPr>
              <a:t>p</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k=p-j;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确定左子树中结点个数</a:t>
            </a:r>
            <a:r>
              <a:rPr lang="en-US" altLang="zh-CN" sz="1800" smtClean="0">
                <a:solidFill>
                  <a:schemeClr val="bg1">
                    <a:lumMod val="50000"/>
                  </a:schemeClr>
                </a:solidFill>
                <a:latin typeface="Consolas" pitchFamily="49" charset="0"/>
                <a:ea typeface="仿宋" pitchFamily="49" charset="-122"/>
                <a:cs typeface="Consolas" pitchFamily="49" charset="0"/>
              </a:rPr>
              <a:t>k</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b-&gt;lchild=</a:t>
            </a:r>
            <a:r>
              <a:rPr lang="en-US" altLang="zh-CN" sz="1800" smtClean="0">
                <a:solidFill>
                  <a:srgbClr val="FF0000"/>
                </a:solidFill>
                <a:latin typeface="Consolas" pitchFamily="49" charset="0"/>
                <a:ea typeface="仿宋" pitchFamily="49" charset="-122"/>
                <a:cs typeface="Consolas" pitchFamily="49" charset="0"/>
              </a:rPr>
              <a:t>CreateBTree21</a:t>
            </a:r>
            <a:r>
              <a:rPr lang="en-US" altLang="zh-CN" sz="1800" smtClean="0">
                <a:solidFill>
                  <a:srgbClr val="0000FF"/>
                </a:solidFill>
                <a:latin typeface="Consolas" pitchFamily="49" charset="0"/>
                <a:ea typeface="仿宋" pitchFamily="49" charset="-122"/>
                <a:cs typeface="Consolas" pitchFamily="49" charset="0"/>
              </a:rPr>
              <a:t>(posts,i,ins,j,k);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递归构造左子树</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b-&gt;rchild=</a:t>
            </a:r>
            <a:r>
              <a:rPr lang="en-US" altLang="zh-CN" sz="1800" smtClean="0">
                <a:solidFill>
                  <a:srgbClr val="FF0000"/>
                </a:solidFill>
                <a:latin typeface="Consolas" pitchFamily="49" charset="0"/>
                <a:ea typeface="仿宋" pitchFamily="49" charset="-122"/>
                <a:cs typeface="Consolas" pitchFamily="49" charset="0"/>
              </a:rPr>
              <a:t>CreateBTree21</a:t>
            </a:r>
            <a:r>
              <a:rPr lang="en-US" altLang="zh-CN" sz="1800" smtClean="0">
                <a:solidFill>
                  <a:srgbClr val="0000FF"/>
                </a:solidFill>
                <a:latin typeface="Consolas" pitchFamily="49" charset="0"/>
                <a:ea typeface="仿宋" pitchFamily="49" charset="-122"/>
                <a:cs typeface="Consolas" pitchFamily="49" charset="0"/>
              </a:rPr>
              <a:t>(posts,i+k,ins,p+1,n-k-1);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递归构造右子树</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b;</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357158" y="345024"/>
            <a:ext cx="814393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仿宋" pitchFamily="49" charset="-122"/>
                <a:cs typeface="Consolas" pitchFamily="49" charset="0"/>
              </a:rPr>
              <a:t>由</a:t>
            </a:r>
            <a:r>
              <a:rPr lang="zh-CN" altLang="en-US" sz="2000" smtClean="0">
                <a:solidFill>
                  <a:srgbClr val="0000FF"/>
                </a:solidFill>
                <a:latin typeface="Consolas" pitchFamily="49" charset="0"/>
                <a:ea typeface="仿宋" pitchFamily="49" charset="-122"/>
                <a:cs typeface="Consolas" pitchFamily="49" charset="0"/>
              </a:rPr>
              <a:t>后</a:t>
            </a:r>
            <a:r>
              <a:rPr lang="zh-CN" altLang="zh-CN" sz="2000" smtClean="0">
                <a:solidFill>
                  <a:srgbClr val="0000FF"/>
                </a:solidFill>
                <a:latin typeface="Consolas" pitchFamily="49" charset="0"/>
                <a:ea typeface="仿宋" pitchFamily="49" charset="-122"/>
                <a:cs typeface="Consolas" pitchFamily="49" charset="0"/>
              </a:rPr>
              <a:t>序序列</a:t>
            </a:r>
            <a:r>
              <a:rPr lang="en-US" altLang="zh-CN" sz="2000" smtClean="0">
                <a:solidFill>
                  <a:srgbClr val="0000FF"/>
                </a:solidFill>
                <a:latin typeface="Consolas" pitchFamily="49" charset="0"/>
                <a:ea typeface="仿宋" pitchFamily="49" charset="-122"/>
                <a:cs typeface="Consolas" pitchFamily="49" charset="0"/>
              </a:rPr>
              <a:t>posts[</a:t>
            </a:r>
            <a:r>
              <a:rPr lang="en-US" altLang="zh-CN" sz="2000" i="1" smtClean="0">
                <a:solidFill>
                  <a:srgbClr val="0000FF"/>
                </a:solidFill>
                <a:latin typeface="Consolas" pitchFamily="49" charset="0"/>
                <a:ea typeface="仿宋" pitchFamily="49" charset="-122"/>
                <a:cs typeface="Consolas" pitchFamily="49" charset="0"/>
              </a:rPr>
              <a:t>i</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i</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和中序序列</a:t>
            </a:r>
            <a:r>
              <a:rPr lang="en-US" altLang="zh-CN" sz="2000" smtClean="0">
                <a:solidFill>
                  <a:srgbClr val="0000FF"/>
                </a:solidFill>
                <a:latin typeface="Consolas" pitchFamily="49" charset="0"/>
                <a:ea typeface="仿宋" pitchFamily="49" charset="-122"/>
                <a:cs typeface="Consolas" pitchFamily="49" charset="0"/>
              </a:rPr>
              <a:t>ins[</a:t>
            </a:r>
            <a:r>
              <a:rPr lang="en-US" altLang="zh-CN" sz="2000" i="1" smtClean="0">
                <a:solidFill>
                  <a:srgbClr val="0000FF"/>
                </a:solidFill>
                <a:latin typeface="Consolas" pitchFamily="49" charset="0"/>
                <a:ea typeface="仿宋" pitchFamily="49" charset="-122"/>
                <a:cs typeface="Consolas" pitchFamily="49" charset="0"/>
              </a:rPr>
              <a:t>j</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j</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创建二叉链</a:t>
            </a:r>
            <a:r>
              <a:rPr lang="en-US" altLang="zh-CN" sz="2000" i="1" smtClean="0">
                <a:solidFill>
                  <a:srgbClr val="0000FF"/>
                </a:solidFill>
                <a:latin typeface="Consolas" pitchFamily="49" charset="0"/>
                <a:ea typeface="仿宋" pitchFamily="49" charset="-122"/>
                <a:cs typeface="Consolas" pitchFamily="49" charset="0"/>
              </a:rPr>
              <a:t>b</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pPr/>
              <a:t>28</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714356"/>
            <a:ext cx="7929618"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FF0000"/>
                </a:solidFill>
                <a:latin typeface="Consolas" pitchFamily="49" charset="0"/>
                <a:ea typeface="楷体" pitchFamily="49" charset="-122"/>
                <a:cs typeface="Consolas" pitchFamily="49" charset="0"/>
              </a:rPr>
              <a:t>【例</a:t>
            </a:r>
            <a:r>
              <a:rPr lang="en-US" altLang="zh-CN" sz="2000" smtClean="0">
                <a:solidFill>
                  <a:srgbClr val="FF0000"/>
                </a:solidFill>
                <a:latin typeface="Consolas" pitchFamily="49" charset="0"/>
                <a:ea typeface="楷体" pitchFamily="49" charset="-122"/>
                <a:cs typeface="Consolas" pitchFamily="49" charset="0"/>
              </a:rPr>
              <a:t>7.19</a:t>
            </a:r>
            <a:r>
              <a:rPr lang="zh-CN" altLang="zh-CN" sz="2000" smtClean="0">
                <a:solidFill>
                  <a:srgbClr val="FF0000"/>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若某非空二叉树的先序序列和后序序列正好相同，则该二叉树的形态是什么？</a:t>
            </a:r>
          </a:p>
        </p:txBody>
      </p:sp>
      <p:sp>
        <p:nvSpPr>
          <p:cNvPr id="5" name="TextBox 4"/>
          <p:cNvSpPr txBox="1"/>
          <p:nvPr/>
        </p:nvSpPr>
        <p:spPr>
          <a:xfrm>
            <a:off x="1142976" y="2578238"/>
            <a:ext cx="5786478"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itchFamily="49" charset="0"/>
                <a:ea typeface="仿宋" pitchFamily="49" charset="-122"/>
                <a:cs typeface="Consolas" pitchFamily="49" charset="0"/>
              </a:rPr>
              <a:t>二叉树的先序序列是</a:t>
            </a:r>
            <a:r>
              <a:rPr lang="en-US" altLang="zh-CN" sz="2000" smtClean="0">
                <a:solidFill>
                  <a:srgbClr val="0000FF"/>
                </a:solidFill>
                <a:latin typeface="Consolas" pitchFamily="49" charset="0"/>
                <a:ea typeface="仿宋" pitchFamily="49" charset="-122"/>
                <a:cs typeface="Consolas" pitchFamily="49" charset="0"/>
              </a:rPr>
              <a:t>NLR</a:t>
            </a:r>
            <a:r>
              <a:rPr lang="zh-CN" altLang="zh-CN" sz="2000" smtClean="0">
                <a:solidFill>
                  <a:srgbClr val="0000FF"/>
                </a:solidFill>
                <a:latin typeface="Consolas" pitchFamily="49" charset="0"/>
                <a:ea typeface="仿宋" pitchFamily="49" charset="-122"/>
                <a:cs typeface="Consolas" pitchFamily="49" charset="0"/>
              </a:rPr>
              <a:t>，后序序列是</a:t>
            </a:r>
            <a:r>
              <a:rPr lang="en-US" altLang="zh-CN" sz="2000" smtClean="0">
                <a:solidFill>
                  <a:srgbClr val="0000FF"/>
                </a:solidFill>
                <a:latin typeface="Consolas" pitchFamily="49" charset="0"/>
                <a:ea typeface="仿宋" pitchFamily="49" charset="-122"/>
                <a:cs typeface="Consolas" pitchFamily="49" charset="0"/>
              </a:rPr>
              <a:t>LRN</a:t>
            </a:r>
            <a:r>
              <a:rPr lang="zh-CN" altLang="zh-CN" sz="2000" smtClean="0">
                <a:solidFill>
                  <a:srgbClr val="0000FF"/>
                </a:solidFill>
                <a:latin typeface="Consolas" pitchFamily="49" charset="0"/>
                <a:ea typeface="仿宋" pitchFamily="49" charset="-122"/>
                <a:cs typeface="Consolas" pitchFamily="49" charset="0"/>
              </a:rPr>
              <a:t>。</a:t>
            </a:r>
          </a:p>
        </p:txBody>
      </p:sp>
      <p:sp>
        <p:nvSpPr>
          <p:cNvPr id="6" name="TextBox 5"/>
          <p:cNvSpPr txBox="1"/>
          <p:nvPr/>
        </p:nvSpPr>
        <p:spPr>
          <a:xfrm>
            <a:off x="2786050" y="3149742"/>
            <a:ext cx="2428892"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cs typeface="Consolas" pitchFamily="49" charset="0"/>
              </a:rPr>
              <a:t>N L R = L R N</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1142976" y="3935560"/>
            <a:ext cx="6715172"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itchFamily="49" charset="0"/>
                <a:ea typeface="仿宋" pitchFamily="49" charset="-122"/>
                <a:cs typeface="Consolas" pitchFamily="49" charset="0"/>
              </a:rPr>
              <a:t>则</a:t>
            </a:r>
            <a:r>
              <a:rPr lang="en-US" altLang="zh-CN" sz="2000" smtClean="0">
                <a:solidFill>
                  <a:srgbClr val="0000FF"/>
                </a:solidFill>
                <a:latin typeface="Consolas" pitchFamily="49" charset="0"/>
                <a:ea typeface="仿宋" pitchFamily="49" charset="-122"/>
                <a:cs typeface="Consolas" pitchFamily="49" charset="0"/>
              </a:rPr>
              <a:t>L</a:t>
            </a:r>
            <a:r>
              <a:rPr lang="zh-CN" altLang="zh-CN" sz="2000" smtClean="0">
                <a:solidFill>
                  <a:srgbClr val="0000FF"/>
                </a:solidFill>
                <a:latin typeface="Consolas" pitchFamily="49" charset="0"/>
                <a:ea typeface="仿宋" pitchFamily="49" charset="-122"/>
                <a:cs typeface="Consolas" pitchFamily="49" charset="0"/>
              </a:rPr>
              <a:t>和</a:t>
            </a:r>
            <a:r>
              <a:rPr lang="en-US" altLang="zh-CN" sz="2000" smtClean="0">
                <a:solidFill>
                  <a:srgbClr val="0000FF"/>
                </a:solidFill>
                <a:latin typeface="Consolas" pitchFamily="49" charset="0"/>
                <a:ea typeface="仿宋" pitchFamily="49" charset="-122"/>
                <a:cs typeface="Consolas" pitchFamily="49" charset="0"/>
              </a:rPr>
              <a:t>R</a:t>
            </a:r>
            <a:r>
              <a:rPr lang="zh-CN" altLang="zh-CN" sz="2000" smtClean="0">
                <a:solidFill>
                  <a:srgbClr val="0000FF"/>
                </a:solidFill>
                <a:latin typeface="Consolas" pitchFamily="49" charset="0"/>
                <a:ea typeface="仿宋" pitchFamily="49" charset="-122"/>
                <a:cs typeface="Consolas" pitchFamily="49" charset="0"/>
              </a:rPr>
              <a:t>均为空。所以满足条件的二叉树只有一个根结点。</a:t>
            </a:r>
          </a:p>
        </p:txBody>
      </p:sp>
      <p:pic>
        <p:nvPicPr>
          <p:cNvPr id="9" name="Picture 2"/>
          <p:cNvPicPr>
            <a:picLocks noChangeAspect="1" noChangeArrowheads="1"/>
          </p:cNvPicPr>
          <p:nvPr/>
        </p:nvPicPr>
        <p:blipFill>
          <a:blip r:embed="rId2" cstate="print"/>
          <a:srcRect/>
          <a:stretch>
            <a:fillRect/>
          </a:stretch>
        </p:blipFill>
        <p:spPr bwMode="auto">
          <a:xfrm>
            <a:off x="857224" y="1643050"/>
            <a:ext cx="1643074" cy="796023"/>
          </a:xfrm>
          <a:prstGeom prst="rect">
            <a:avLst/>
          </a:prstGeom>
          <a:noFill/>
          <a:ln w="9525">
            <a:noFill/>
            <a:miter lim="800000"/>
            <a:headEnd/>
            <a:tailEnd/>
          </a:ln>
        </p:spPr>
      </p:pic>
      <p:sp>
        <p:nvSpPr>
          <p:cNvPr id="10" name="灯片编号占位符 9"/>
          <p:cNvSpPr>
            <a:spLocks noGrp="1"/>
          </p:cNvSpPr>
          <p:nvPr>
            <p:ph type="sldNum" sz="quarter" idx="12"/>
          </p:nvPr>
        </p:nvSpPr>
        <p:spPr/>
        <p:txBody>
          <a:bodyPr/>
          <a:lstStyle/>
          <a:p>
            <a:fld id="{67864EE2-EAB3-4814-A7EB-820BD7610F1E}" type="slidenum">
              <a:rPr lang="en-US" altLang="zh-CN" smtClean="0"/>
              <a:pPr/>
              <a:t>29</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428604"/>
            <a:ext cx="414340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7.5.2* </a:t>
            </a:r>
            <a:r>
              <a:rPr lang="zh-CN" altLang="zh-CN" smtClean="0">
                <a:latin typeface="Consolas" pitchFamily="49" charset="0"/>
                <a:ea typeface="微软雅黑" pitchFamily="34" charset="-122"/>
                <a:cs typeface="Consolas" pitchFamily="49" charset="0"/>
              </a:rPr>
              <a:t>序列化和反序列化</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grpSp>
        <p:nvGrpSpPr>
          <p:cNvPr id="70" name="组合 69"/>
          <p:cNvGrpSpPr/>
          <p:nvPr/>
        </p:nvGrpSpPr>
        <p:grpSpPr>
          <a:xfrm>
            <a:off x="1000100" y="1927538"/>
            <a:ext cx="2357454" cy="1963280"/>
            <a:chOff x="1214414" y="2427604"/>
            <a:chExt cx="2357454" cy="1963280"/>
          </a:xfrm>
        </p:grpSpPr>
        <p:sp>
          <p:nvSpPr>
            <p:cNvPr id="7" name="Freeform 45"/>
            <p:cNvSpPr>
              <a:spLocks/>
            </p:cNvSpPr>
            <p:nvPr/>
          </p:nvSpPr>
          <p:spPr bwMode="auto">
            <a:xfrm>
              <a:off x="2726081" y="3203407"/>
              <a:ext cx="208179" cy="328087"/>
            </a:xfrm>
            <a:custGeom>
              <a:avLst/>
              <a:gdLst/>
              <a:ahLst/>
              <a:cxnLst>
                <a:cxn ang="0">
                  <a:pos x="233" y="0"/>
                </a:cxn>
                <a:cxn ang="0">
                  <a:pos x="0" y="383"/>
                </a:cxn>
              </a:cxnLst>
              <a:rect l="0" t="0" r="r" b="b"/>
              <a:pathLst>
                <a:path w="233" h="383">
                  <a:moveTo>
                    <a:pt x="233" y="0"/>
                  </a:moveTo>
                  <a:lnTo>
                    <a:pt x="0" y="38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8" name="Line 44"/>
            <p:cNvSpPr>
              <a:spLocks noChangeShapeType="1"/>
            </p:cNvSpPr>
            <p:nvPr/>
          </p:nvSpPr>
          <p:spPr bwMode="auto">
            <a:xfrm>
              <a:off x="1433314" y="3761070"/>
              <a:ext cx="308248" cy="334084"/>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9" name="Freeform 43"/>
            <p:cNvSpPr>
              <a:spLocks/>
            </p:cNvSpPr>
            <p:nvPr/>
          </p:nvSpPr>
          <p:spPr bwMode="auto">
            <a:xfrm>
              <a:off x="3101339" y="3172569"/>
              <a:ext cx="234983" cy="365779"/>
            </a:xfrm>
            <a:custGeom>
              <a:avLst/>
              <a:gdLst/>
              <a:ahLst/>
              <a:cxnLst>
                <a:cxn ang="0">
                  <a:pos x="0" y="0"/>
                </a:cxn>
                <a:cxn ang="0">
                  <a:pos x="263" y="427"/>
                </a:cxn>
              </a:cxnLst>
              <a:rect l="0" t="0" r="r" b="b"/>
              <a:pathLst>
                <a:path w="263" h="427">
                  <a:moveTo>
                    <a:pt x="0" y="0"/>
                  </a:moveTo>
                  <a:lnTo>
                    <a:pt x="263" y="42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0" name="Line 42"/>
            <p:cNvSpPr>
              <a:spLocks noChangeShapeType="1"/>
            </p:cNvSpPr>
            <p:nvPr/>
          </p:nvSpPr>
          <p:spPr bwMode="auto">
            <a:xfrm flipH="1">
              <a:off x="1360943" y="3138304"/>
              <a:ext cx="285911" cy="40689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2" name="Oval 40"/>
            <p:cNvSpPr>
              <a:spLocks noChangeArrowheads="1"/>
            </p:cNvSpPr>
            <p:nvPr/>
          </p:nvSpPr>
          <p:spPr bwMode="auto">
            <a:xfrm>
              <a:off x="2247736" y="242760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13" name="Oval 39"/>
            <p:cNvSpPr>
              <a:spLocks noChangeArrowheads="1"/>
            </p:cNvSpPr>
            <p:nvPr/>
          </p:nvSpPr>
          <p:spPr bwMode="auto">
            <a:xfrm>
              <a:off x="1550359" y="291558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14" name="Oval 38"/>
            <p:cNvSpPr>
              <a:spLocks noChangeArrowheads="1"/>
            </p:cNvSpPr>
            <p:nvPr/>
          </p:nvSpPr>
          <p:spPr bwMode="auto">
            <a:xfrm>
              <a:off x="2878865" y="2954128"/>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p>
          </p:txBody>
        </p:sp>
        <p:sp>
          <p:nvSpPr>
            <p:cNvPr id="15" name="Oval 37"/>
            <p:cNvSpPr>
              <a:spLocks noChangeArrowheads="1"/>
            </p:cNvSpPr>
            <p:nvPr/>
          </p:nvSpPr>
          <p:spPr bwMode="auto">
            <a:xfrm>
              <a:off x="2586699" y="353235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p:txBody>
        </p:sp>
        <p:sp>
          <p:nvSpPr>
            <p:cNvPr id="16" name="Oval 36"/>
            <p:cNvSpPr>
              <a:spLocks noChangeArrowheads="1"/>
            </p:cNvSpPr>
            <p:nvPr/>
          </p:nvSpPr>
          <p:spPr bwMode="auto">
            <a:xfrm>
              <a:off x="3247868" y="353235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p:txBody>
        </p:sp>
        <p:sp>
          <p:nvSpPr>
            <p:cNvPr id="17" name="Oval 35"/>
            <p:cNvSpPr>
              <a:spLocks noChangeArrowheads="1"/>
            </p:cNvSpPr>
            <p:nvPr/>
          </p:nvSpPr>
          <p:spPr bwMode="auto">
            <a:xfrm>
              <a:off x="1214414" y="3545199"/>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p>
          </p:txBody>
        </p:sp>
        <p:sp>
          <p:nvSpPr>
            <p:cNvPr id="18" name="Oval 33"/>
            <p:cNvSpPr>
              <a:spLocks noChangeArrowheads="1"/>
            </p:cNvSpPr>
            <p:nvPr/>
          </p:nvSpPr>
          <p:spPr bwMode="auto">
            <a:xfrm>
              <a:off x="1632558" y="406688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p:txBody>
        </p:sp>
        <p:cxnSp>
          <p:nvCxnSpPr>
            <p:cNvPr id="20" name="直接连接符 19"/>
            <p:cNvCxnSpPr>
              <a:endCxn id="13" idx="7"/>
            </p:cNvCxnSpPr>
            <p:nvPr/>
          </p:nvCxnSpPr>
          <p:spPr>
            <a:xfrm rot="10800000" flipV="1">
              <a:off x="1826910" y="2656277"/>
              <a:ext cx="439876" cy="30675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2" name="直接连接符 21"/>
            <p:cNvCxnSpPr>
              <a:endCxn id="14" idx="1"/>
            </p:cNvCxnSpPr>
            <p:nvPr/>
          </p:nvCxnSpPr>
          <p:spPr>
            <a:xfrm>
              <a:off x="2571736" y="2675329"/>
              <a:ext cx="354578" cy="326248"/>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42" name="TextBox 41"/>
          <p:cNvSpPr txBox="1"/>
          <p:nvPr/>
        </p:nvSpPr>
        <p:spPr>
          <a:xfrm>
            <a:off x="785786" y="1214422"/>
            <a:ext cx="435771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itchFamily="49" charset="0"/>
                <a:ea typeface="仿宋" pitchFamily="49" charset="-122"/>
                <a:cs typeface="Consolas" pitchFamily="49" charset="0"/>
              </a:rPr>
              <a:t>仅仅讨论</a:t>
            </a:r>
            <a:r>
              <a:rPr lang="zh-CN" altLang="zh-CN" sz="2000" smtClean="0">
                <a:solidFill>
                  <a:srgbClr val="0000FF"/>
                </a:solidFill>
                <a:latin typeface="Consolas" pitchFamily="49" charset="0"/>
                <a:ea typeface="仿宋" pitchFamily="49" charset="-122"/>
                <a:cs typeface="Consolas" pitchFamily="49" charset="0"/>
              </a:rPr>
              <a:t>先序遍历序列化和反序列化</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p:txBody>
      </p:sp>
      <p:grpSp>
        <p:nvGrpSpPr>
          <p:cNvPr id="69" name="组合 68"/>
          <p:cNvGrpSpPr/>
          <p:nvPr/>
        </p:nvGrpSpPr>
        <p:grpSpPr>
          <a:xfrm>
            <a:off x="5124453" y="1643050"/>
            <a:ext cx="3019447" cy="2501594"/>
            <a:chOff x="4410073" y="2214554"/>
            <a:chExt cx="3019447" cy="2501594"/>
          </a:xfrm>
        </p:grpSpPr>
        <p:sp>
          <p:nvSpPr>
            <p:cNvPr id="29" name="Freeform 45"/>
            <p:cNvSpPr>
              <a:spLocks/>
            </p:cNvSpPr>
            <p:nvPr/>
          </p:nvSpPr>
          <p:spPr bwMode="auto">
            <a:xfrm>
              <a:off x="6281749" y="2963388"/>
              <a:ext cx="285752" cy="357189"/>
            </a:xfrm>
            <a:custGeom>
              <a:avLst/>
              <a:gdLst/>
              <a:ahLst/>
              <a:cxnLst>
                <a:cxn ang="0">
                  <a:pos x="233" y="0"/>
                </a:cxn>
                <a:cxn ang="0">
                  <a:pos x="0" y="383"/>
                </a:cxn>
              </a:cxnLst>
              <a:rect l="0" t="0" r="r" b="b"/>
              <a:pathLst>
                <a:path w="233" h="383">
                  <a:moveTo>
                    <a:pt x="233" y="0"/>
                  </a:moveTo>
                  <a:lnTo>
                    <a:pt x="0" y="38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30" name="Line 44"/>
            <p:cNvSpPr>
              <a:spLocks noChangeShapeType="1"/>
            </p:cNvSpPr>
            <p:nvPr/>
          </p:nvSpPr>
          <p:spPr bwMode="auto">
            <a:xfrm>
              <a:off x="4929013" y="3548020"/>
              <a:ext cx="308248" cy="334084"/>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31" name="Freeform 43"/>
            <p:cNvSpPr>
              <a:spLocks/>
            </p:cNvSpPr>
            <p:nvPr/>
          </p:nvSpPr>
          <p:spPr bwMode="auto">
            <a:xfrm>
              <a:off x="6710377" y="2963388"/>
              <a:ext cx="307383" cy="361910"/>
            </a:xfrm>
            <a:custGeom>
              <a:avLst/>
              <a:gdLst/>
              <a:ahLst/>
              <a:cxnLst>
                <a:cxn ang="0">
                  <a:pos x="0" y="0"/>
                </a:cxn>
                <a:cxn ang="0">
                  <a:pos x="263" y="427"/>
                </a:cxn>
              </a:cxnLst>
              <a:rect l="0" t="0" r="r" b="b"/>
              <a:pathLst>
                <a:path w="263" h="427">
                  <a:moveTo>
                    <a:pt x="0" y="0"/>
                  </a:moveTo>
                  <a:lnTo>
                    <a:pt x="263" y="42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32" name="Line 42"/>
            <p:cNvSpPr>
              <a:spLocks noChangeShapeType="1"/>
            </p:cNvSpPr>
            <p:nvPr/>
          </p:nvSpPr>
          <p:spPr bwMode="auto">
            <a:xfrm flipH="1">
              <a:off x="4856642" y="2925254"/>
              <a:ext cx="285911" cy="40689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33" name="Oval 40"/>
            <p:cNvSpPr>
              <a:spLocks noChangeArrowheads="1"/>
            </p:cNvSpPr>
            <p:nvPr/>
          </p:nvSpPr>
          <p:spPr bwMode="auto">
            <a:xfrm>
              <a:off x="5743435" y="221455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34" name="Oval 39"/>
            <p:cNvSpPr>
              <a:spLocks noChangeArrowheads="1"/>
            </p:cNvSpPr>
            <p:nvPr/>
          </p:nvSpPr>
          <p:spPr bwMode="auto">
            <a:xfrm>
              <a:off x="5046058" y="270253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35" name="Oval 38"/>
            <p:cNvSpPr>
              <a:spLocks noChangeArrowheads="1"/>
            </p:cNvSpPr>
            <p:nvPr/>
          </p:nvSpPr>
          <p:spPr bwMode="auto">
            <a:xfrm>
              <a:off x="6443528" y="2741078"/>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p>
          </p:txBody>
        </p:sp>
        <p:sp>
          <p:nvSpPr>
            <p:cNvPr id="36" name="Oval 37"/>
            <p:cNvSpPr>
              <a:spLocks noChangeArrowheads="1"/>
            </p:cNvSpPr>
            <p:nvPr/>
          </p:nvSpPr>
          <p:spPr bwMode="auto">
            <a:xfrm>
              <a:off x="6082398" y="331930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p:txBody>
        </p:sp>
        <p:sp>
          <p:nvSpPr>
            <p:cNvPr id="37" name="Oval 36"/>
            <p:cNvSpPr>
              <a:spLocks noChangeArrowheads="1"/>
            </p:cNvSpPr>
            <p:nvPr/>
          </p:nvSpPr>
          <p:spPr bwMode="auto">
            <a:xfrm>
              <a:off x="6929306" y="331930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p:txBody>
        </p:sp>
        <p:sp>
          <p:nvSpPr>
            <p:cNvPr id="38" name="Oval 35"/>
            <p:cNvSpPr>
              <a:spLocks noChangeArrowheads="1"/>
            </p:cNvSpPr>
            <p:nvPr/>
          </p:nvSpPr>
          <p:spPr bwMode="auto">
            <a:xfrm>
              <a:off x="4710113" y="3332149"/>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p>
          </p:txBody>
        </p:sp>
        <p:sp>
          <p:nvSpPr>
            <p:cNvPr id="39" name="Oval 33"/>
            <p:cNvSpPr>
              <a:spLocks noChangeArrowheads="1"/>
            </p:cNvSpPr>
            <p:nvPr/>
          </p:nvSpPr>
          <p:spPr bwMode="auto">
            <a:xfrm>
              <a:off x="5128257" y="385383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p:txBody>
        </p:sp>
        <p:cxnSp>
          <p:nvCxnSpPr>
            <p:cNvPr id="40" name="直接连接符 39"/>
            <p:cNvCxnSpPr>
              <a:endCxn id="34" idx="7"/>
            </p:cNvCxnSpPr>
            <p:nvPr/>
          </p:nvCxnSpPr>
          <p:spPr>
            <a:xfrm rot="10800000" flipV="1">
              <a:off x="5322609" y="2443227"/>
              <a:ext cx="439876" cy="30675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1" name="直接连接符 40"/>
            <p:cNvCxnSpPr>
              <a:endCxn id="35" idx="1"/>
            </p:cNvCxnSpPr>
            <p:nvPr/>
          </p:nvCxnSpPr>
          <p:spPr>
            <a:xfrm>
              <a:off x="6060199" y="2452754"/>
              <a:ext cx="430778" cy="335773"/>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3" name="矩形 42"/>
            <p:cNvSpPr/>
            <p:nvPr/>
          </p:nvSpPr>
          <p:spPr bwMode="auto">
            <a:xfrm>
              <a:off x="4943891" y="4392148"/>
              <a:ext cx="252000" cy="324000"/>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45720" rIns="0" bIns="45720" numCol="1" rtlCol="0" anchor="t" anchorCtr="0" compatLnSpc="1">
              <a:prstTxWarp prst="textNoShape">
                <a:avLst/>
              </a:prstTxWarp>
            </a:bodyPr>
            <a:lstStyle/>
            <a:p>
              <a:pPr algn="ctr">
                <a:lnSpc>
                  <a:spcPts val="2000"/>
                </a:lnSpc>
              </a:pPr>
              <a:r>
                <a:rPr lang="en-US" altLang="zh-CN" sz="1600" b="0" smtClean="0">
                  <a:solidFill>
                    <a:srgbClr val="0000FF"/>
                  </a:solidFill>
                  <a:latin typeface="Consolas" pitchFamily="49" charset="0"/>
                  <a:ea typeface="仿宋" pitchFamily="49" charset="-122"/>
                  <a:cs typeface="Consolas" pitchFamily="49" charset="0"/>
                </a:rPr>
                <a:t>#</a:t>
              </a:r>
              <a:endParaRPr lang="zh-CN" altLang="en-US" sz="1600" b="0">
                <a:solidFill>
                  <a:srgbClr val="0000FF"/>
                </a:solidFill>
                <a:latin typeface="Consolas" pitchFamily="49" charset="0"/>
                <a:ea typeface="仿宋" pitchFamily="49" charset="-122"/>
                <a:cs typeface="Consolas" pitchFamily="49" charset="0"/>
              </a:endParaRPr>
            </a:p>
          </p:txBody>
        </p:sp>
        <p:sp>
          <p:nvSpPr>
            <p:cNvPr id="44" name="矩形 43"/>
            <p:cNvSpPr/>
            <p:nvPr/>
          </p:nvSpPr>
          <p:spPr bwMode="auto">
            <a:xfrm>
              <a:off x="5386807" y="4392148"/>
              <a:ext cx="252000" cy="324000"/>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45720" rIns="0" bIns="45720" numCol="1" rtlCol="0" anchor="t" anchorCtr="0" compatLnSpc="1">
              <a:prstTxWarp prst="textNoShape">
                <a:avLst/>
              </a:prstTxWarp>
            </a:bodyPr>
            <a:lstStyle/>
            <a:p>
              <a:pPr algn="ctr">
                <a:lnSpc>
                  <a:spcPts val="2000"/>
                </a:lnSpc>
              </a:pPr>
              <a:r>
                <a:rPr lang="en-US" altLang="zh-CN" sz="1600" b="0" smtClean="0">
                  <a:solidFill>
                    <a:srgbClr val="0000FF"/>
                  </a:solidFill>
                  <a:latin typeface="Consolas" pitchFamily="49" charset="0"/>
                  <a:ea typeface="仿宋" pitchFamily="49" charset="-122"/>
                  <a:cs typeface="Consolas" pitchFamily="49" charset="0"/>
                </a:rPr>
                <a:t>#</a:t>
              </a:r>
              <a:endParaRPr lang="zh-CN" altLang="en-US" sz="1600" b="0">
                <a:solidFill>
                  <a:srgbClr val="0000FF"/>
                </a:solidFill>
                <a:latin typeface="Consolas" pitchFamily="49" charset="0"/>
                <a:ea typeface="仿宋" pitchFamily="49" charset="-122"/>
                <a:cs typeface="Consolas" pitchFamily="49" charset="0"/>
              </a:endParaRPr>
            </a:p>
          </p:txBody>
        </p:sp>
        <p:sp>
          <p:nvSpPr>
            <p:cNvPr id="45" name="矩形 44"/>
            <p:cNvSpPr/>
            <p:nvPr/>
          </p:nvSpPr>
          <p:spPr bwMode="auto">
            <a:xfrm>
              <a:off x="5920210" y="3877794"/>
              <a:ext cx="252000" cy="324000"/>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45720" rIns="0" bIns="45720" numCol="1" rtlCol="0" anchor="t" anchorCtr="0" compatLnSpc="1">
              <a:prstTxWarp prst="textNoShape">
                <a:avLst/>
              </a:prstTxWarp>
            </a:bodyPr>
            <a:lstStyle/>
            <a:p>
              <a:pPr algn="ctr">
                <a:lnSpc>
                  <a:spcPts val="2000"/>
                </a:lnSpc>
              </a:pPr>
              <a:r>
                <a:rPr lang="en-US" altLang="zh-CN" sz="1600" b="0" smtClean="0">
                  <a:solidFill>
                    <a:srgbClr val="0000FF"/>
                  </a:solidFill>
                  <a:latin typeface="Consolas" pitchFamily="49" charset="0"/>
                  <a:ea typeface="仿宋" pitchFamily="49" charset="-122"/>
                  <a:cs typeface="Consolas" pitchFamily="49" charset="0"/>
                </a:rPr>
                <a:t>#</a:t>
              </a:r>
              <a:endParaRPr lang="zh-CN" altLang="en-US" sz="1600" b="0">
                <a:solidFill>
                  <a:srgbClr val="0000FF"/>
                </a:solidFill>
                <a:latin typeface="Consolas" pitchFamily="49" charset="0"/>
                <a:ea typeface="仿宋" pitchFamily="49" charset="-122"/>
                <a:cs typeface="Consolas" pitchFamily="49" charset="0"/>
              </a:endParaRPr>
            </a:p>
          </p:txBody>
        </p:sp>
        <p:sp>
          <p:nvSpPr>
            <p:cNvPr id="46" name="矩形 45"/>
            <p:cNvSpPr/>
            <p:nvPr/>
          </p:nvSpPr>
          <p:spPr bwMode="auto">
            <a:xfrm>
              <a:off x="6310738" y="3877794"/>
              <a:ext cx="252000" cy="324000"/>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45720" rIns="0" bIns="45720" numCol="1" rtlCol="0" anchor="t" anchorCtr="0" compatLnSpc="1">
              <a:prstTxWarp prst="textNoShape">
                <a:avLst/>
              </a:prstTxWarp>
            </a:bodyPr>
            <a:lstStyle/>
            <a:p>
              <a:pPr algn="ctr">
                <a:lnSpc>
                  <a:spcPts val="2000"/>
                </a:lnSpc>
              </a:pPr>
              <a:r>
                <a:rPr lang="en-US" altLang="zh-CN" sz="1600" b="0" smtClean="0">
                  <a:solidFill>
                    <a:srgbClr val="0000FF"/>
                  </a:solidFill>
                  <a:latin typeface="Consolas" pitchFamily="49" charset="0"/>
                  <a:ea typeface="仿宋" pitchFamily="49" charset="-122"/>
                  <a:cs typeface="Consolas" pitchFamily="49" charset="0"/>
                </a:rPr>
                <a:t>#</a:t>
              </a:r>
              <a:endParaRPr lang="zh-CN" altLang="en-US" sz="1600" b="0">
                <a:solidFill>
                  <a:srgbClr val="0000FF"/>
                </a:solidFill>
                <a:latin typeface="Consolas" pitchFamily="49" charset="0"/>
                <a:ea typeface="仿宋" pitchFamily="49" charset="-122"/>
                <a:cs typeface="Consolas" pitchFamily="49" charset="0"/>
              </a:endParaRPr>
            </a:p>
          </p:txBody>
        </p:sp>
        <p:sp>
          <p:nvSpPr>
            <p:cNvPr id="47" name="矩形 46"/>
            <p:cNvSpPr/>
            <p:nvPr/>
          </p:nvSpPr>
          <p:spPr bwMode="auto">
            <a:xfrm>
              <a:off x="6786992" y="3877794"/>
              <a:ext cx="252000" cy="324000"/>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45720" rIns="0" bIns="45720" numCol="1" rtlCol="0" anchor="t" anchorCtr="0" compatLnSpc="1">
              <a:prstTxWarp prst="textNoShape">
                <a:avLst/>
              </a:prstTxWarp>
            </a:bodyPr>
            <a:lstStyle/>
            <a:p>
              <a:pPr algn="ctr">
                <a:lnSpc>
                  <a:spcPts val="2000"/>
                </a:lnSpc>
              </a:pPr>
              <a:r>
                <a:rPr lang="en-US" altLang="zh-CN" sz="1600" b="0" smtClean="0">
                  <a:solidFill>
                    <a:srgbClr val="0000FF"/>
                  </a:solidFill>
                  <a:latin typeface="Consolas" pitchFamily="49" charset="0"/>
                  <a:ea typeface="仿宋" pitchFamily="49" charset="-122"/>
                  <a:cs typeface="Consolas" pitchFamily="49" charset="0"/>
                </a:rPr>
                <a:t>#</a:t>
              </a:r>
              <a:endParaRPr lang="zh-CN" altLang="en-US" sz="1600" b="0">
                <a:solidFill>
                  <a:srgbClr val="0000FF"/>
                </a:solidFill>
                <a:latin typeface="Consolas" pitchFamily="49" charset="0"/>
                <a:ea typeface="仿宋" pitchFamily="49" charset="-122"/>
                <a:cs typeface="Consolas" pitchFamily="49" charset="0"/>
              </a:endParaRPr>
            </a:p>
          </p:txBody>
        </p:sp>
        <p:sp>
          <p:nvSpPr>
            <p:cNvPr id="48" name="矩形 47"/>
            <p:cNvSpPr/>
            <p:nvPr/>
          </p:nvSpPr>
          <p:spPr bwMode="auto">
            <a:xfrm>
              <a:off x="7177520" y="3877794"/>
              <a:ext cx="252000" cy="324000"/>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45720" rIns="0" bIns="45720" numCol="1" rtlCol="0" anchor="t" anchorCtr="0" compatLnSpc="1">
              <a:prstTxWarp prst="textNoShape">
                <a:avLst/>
              </a:prstTxWarp>
            </a:bodyPr>
            <a:lstStyle/>
            <a:p>
              <a:pPr algn="ctr">
                <a:lnSpc>
                  <a:spcPts val="2000"/>
                </a:lnSpc>
              </a:pPr>
              <a:r>
                <a:rPr lang="en-US" altLang="zh-CN" sz="1600" b="0" smtClean="0">
                  <a:solidFill>
                    <a:srgbClr val="0000FF"/>
                  </a:solidFill>
                  <a:latin typeface="Consolas" pitchFamily="49" charset="0"/>
                  <a:ea typeface="仿宋" pitchFamily="49" charset="-122"/>
                  <a:cs typeface="Consolas" pitchFamily="49" charset="0"/>
                </a:rPr>
                <a:t>#</a:t>
              </a:r>
              <a:endParaRPr lang="zh-CN" altLang="en-US" sz="1600" b="0">
                <a:solidFill>
                  <a:srgbClr val="0000FF"/>
                </a:solidFill>
                <a:latin typeface="Consolas" pitchFamily="49" charset="0"/>
                <a:ea typeface="仿宋" pitchFamily="49" charset="-122"/>
                <a:cs typeface="Consolas" pitchFamily="49" charset="0"/>
              </a:endParaRPr>
            </a:p>
          </p:txBody>
        </p:sp>
        <p:cxnSp>
          <p:nvCxnSpPr>
            <p:cNvPr id="50" name="直接连接符 49"/>
            <p:cNvCxnSpPr>
              <a:stCxn id="36" idx="3"/>
              <a:endCxn id="45" idx="0"/>
            </p:cNvCxnSpPr>
            <p:nvPr/>
          </p:nvCxnSpPr>
          <p:spPr>
            <a:xfrm rot="5400000">
              <a:off x="5947058" y="3695004"/>
              <a:ext cx="281943" cy="83637"/>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52" name="直接连接符 51"/>
            <p:cNvCxnSpPr>
              <a:stCxn id="36" idx="5"/>
              <a:endCxn id="46" idx="0"/>
            </p:cNvCxnSpPr>
            <p:nvPr/>
          </p:nvCxnSpPr>
          <p:spPr>
            <a:xfrm rot="16200000" flipH="1">
              <a:off x="6256872" y="3697927"/>
              <a:ext cx="281943" cy="77789"/>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54" name="直接连接符 53"/>
            <p:cNvCxnSpPr>
              <a:stCxn id="37" idx="3"/>
              <a:endCxn id="47" idx="0"/>
            </p:cNvCxnSpPr>
            <p:nvPr/>
          </p:nvCxnSpPr>
          <p:spPr>
            <a:xfrm rot="5400000">
              <a:off x="6803903" y="3704941"/>
              <a:ext cx="281943" cy="63763"/>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56" name="直接连接符 55"/>
            <p:cNvCxnSpPr>
              <a:stCxn id="37" idx="5"/>
              <a:endCxn id="48" idx="0"/>
            </p:cNvCxnSpPr>
            <p:nvPr/>
          </p:nvCxnSpPr>
          <p:spPr>
            <a:xfrm rot="16200000" flipH="1">
              <a:off x="7113717" y="3687990"/>
              <a:ext cx="281943" cy="97663"/>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58" name="直接连接符 57"/>
            <p:cNvCxnSpPr>
              <a:stCxn id="39" idx="3"/>
              <a:endCxn id="43" idx="0"/>
            </p:cNvCxnSpPr>
            <p:nvPr/>
          </p:nvCxnSpPr>
          <p:spPr>
            <a:xfrm rot="5400000">
              <a:off x="4991918" y="4208359"/>
              <a:ext cx="261763" cy="105815"/>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60" name="直接连接符 59"/>
            <p:cNvCxnSpPr>
              <a:stCxn id="39" idx="5"/>
              <a:endCxn id="44" idx="0"/>
            </p:cNvCxnSpPr>
            <p:nvPr/>
          </p:nvCxnSpPr>
          <p:spPr>
            <a:xfrm rot="16200000" flipH="1">
              <a:off x="5327926" y="4207266"/>
              <a:ext cx="261763" cy="107999"/>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63" name="矩形 62"/>
            <p:cNvSpPr/>
            <p:nvPr/>
          </p:nvSpPr>
          <p:spPr bwMode="auto">
            <a:xfrm>
              <a:off x="5482057" y="3282330"/>
              <a:ext cx="252000" cy="324000"/>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45720" rIns="0" bIns="45720" numCol="1" rtlCol="0" anchor="t" anchorCtr="0" compatLnSpc="1">
              <a:prstTxWarp prst="textNoShape">
                <a:avLst/>
              </a:prstTxWarp>
            </a:bodyPr>
            <a:lstStyle/>
            <a:p>
              <a:pPr algn="ctr">
                <a:lnSpc>
                  <a:spcPts val="2000"/>
                </a:lnSpc>
              </a:pPr>
              <a:r>
                <a:rPr lang="en-US" altLang="zh-CN" sz="1600" b="0" smtClean="0">
                  <a:solidFill>
                    <a:srgbClr val="0000FF"/>
                  </a:solidFill>
                  <a:latin typeface="Consolas" pitchFamily="49" charset="0"/>
                  <a:ea typeface="仿宋" pitchFamily="49" charset="-122"/>
                  <a:cs typeface="Consolas" pitchFamily="49" charset="0"/>
                </a:rPr>
                <a:t>#</a:t>
              </a:r>
              <a:endParaRPr lang="zh-CN" altLang="en-US" sz="1600" b="0">
                <a:solidFill>
                  <a:srgbClr val="0000FF"/>
                </a:solidFill>
                <a:latin typeface="Consolas" pitchFamily="49" charset="0"/>
                <a:ea typeface="仿宋" pitchFamily="49" charset="-122"/>
                <a:cs typeface="Consolas" pitchFamily="49" charset="0"/>
              </a:endParaRPr>
            </a:p>
          </p:txBody>
        </p:sp>
        <p:sp>
          <p:nvSpPr>
            <p:cNvPr id="64" name="矩形 63"/>
            <p:cNvSpPr/>
            <p:nvPr/>
          </p:nvSpPr>
          <p:spPr bwMode="auto">
            <a:xfrm>
              <a:off x="4410073" y="3910984"/>
              <a:ext cx="252000" cy="324000"/>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45720" rIns="0" bIns="45720" numCol="1" rtlCol="0" anchor="t" anchorCtr="0" compatLnSpc="1">
              <a:prstTxWarp prst="textNoShape">
                <a:avLst/>
              </a:prstTxWarp>
            </a:bodyPr>
            <a:lstStyle/>
            <a:p>
              <a:pPr algn="ctr">
                <a:lnSpc>
                  <a:spcPts val="2000"/>
                </a:lnSpc>
              </a:pPr>
              <a:r>
                <a:rPr lang="en-US" altLang="zh-CN" sz="1600" b="0" smtClean="0">
                  <a:solidFill>
                    <a:srgbClr val="0000FF"/>
                  </a:solidFill>
                  <a:latin typeface="Consolas" pitchFamily="49" charset="0"/>
                  <a:ea typeface="仿宋" pitchFamily="49" charset="-122"/>
                  <a:cs typeface="Consolas" pitchFamily="49" charset="0"/>
                </a:rPr>
                <a:t>#</a:t>
              </a:r>
              <a:endParaRPr lang="zh-CN" altLang="en-US" sz="1600" b="0">
                <a:solidFill>
                  <a:srgbClr val="0000FF"/>
                </a:solidFill>
                <a:latin typeface="Consolas" pitchFamily="49" charset="0"/>
                <a:ea typeface="仿宋" pitchFamily="49" charset="-122"/>
                <a:cs typeface="Consolas" pitchFamily="49" charset="0"/>
              </a:endParaRPr>
            </a:p>
          </p:txBody>
        </p:sp>
        <p:cxnSp>
          <p:nvCxnSpPr>
            <p:cNvPr id="66" name="直接连接符 65"/>
            <p:cNvCxnSpPr>
              <a:stCxn id="38" idx="3"/>
              <a:endCxn id="64" idx="0"/>
            </p:cNvCxnSpPr>
            <p:nvPr/>
          </p:nvCxnSpPr>
          <p:spPr>
            <a:xfrm rot="5400000">
              <a:off x="4495676" y="3649098"/>
              <a:ext cx="302284" cy="221489"/>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68" name="直接连接符 67"/>
            <p:cNvCxnSpPr>
              <a:stCxn id="34" idx="5"/>
              <a:endCxn id="63" idx="0"/>
            </p:cNvCxnSpPr>
            <p:nvPr/>
          </p:nvCxnSpPr>
          <p:spPr>
            <a:xfrm rot="16200000" flipH="1">
              <a:off x="5313709" y="2987981"/>
              <a:ext cx="303249" cy="285448"/>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71" name="右箭头 70"/>
          <p:cNvSpPr/>
          <p:nvPr/>
        </p:nvSpPr>
        <p:spPr bwMode="auto">
          <a:xfrm>
            <a:off x="3786182" y="2714620"/>
            <a:ext cx="1214446" cy="214314"/>
          </a:xfrm>
          <a:prstGeom prst="rightArrow">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lnSpc>
                <a:spcPts val="2000"/>
              </a:lnSpc>
            </a:pPr>
            <a:endParaRPr lang="zh-CN" altLang="en-US" sz="1800" i="1">
              <a:solidFill>
                <a:srgbClr val="0000FF"/>
              </a:solidFill>
              <a:latin typeface="Consolas" pitchFamily="49" charset="0"/>
              <a:ea typeface="仿宋" pitchFamily="49" charset="-122"/>
              <a:cs typeface="Consolas" pitchFamily="49" charset="0"/>
            </a:endParaRPr>
          </a:p>
        </p:txBody>
      </p:sp>
      <p:sp>
        <p:nvSpPr>
          <p:cNvPr id="72" name="TextBox 71"/>
          <p:cNvSpPr txBox="1"/>
          <p:nvPr/>
        </p:nvSpPr>
        <p:spPr>
          <a:xfrm>
            <a:off x="3643306" y="2357430"/>
            <a:ext cx="1714512" cy="369332"/>
          </a:xfrm>
          <a:prstGeom prst="rect">
            <a:avLst/>
          </a:prstGeom>
          <a:noFill/>
        </p:spPr>
        <p:txBody>
          <a:bodyPr wrap="square" rtlCol="0">
            <a:spAutoFit/>
          </a:bodyPr>
          <a:lstStyle/>
          <a:p>
            <a:pPr algn="l">
              <a:lnSpc>
                <a:spcPct val="100000"/>
              </a:lnSpc>
              <a:spcBef>
                <a:spcPts val="0"/>
              </a:spcBef>
            </a:pPr>
            <a:r>
              <a:rPr lang="zh-CN" altLang="en-US" sz="1800" smtClean="0">
                <a:solidFill>
                  <a:srgbClr val="0000FF"/>
                </a:solidFill>
                <a:latin typeface="Consolas" pitchFamily="49" charset="0"/>
                <a:ea typeface="仿宋" pitchFamily="49" charset="-122"/>
                <a:cs typeface="Consolas" pitchFamily="49" charset="0"/>
              </a:rPr>
              <a:t>加上外部结点</a:t>
            </a:r>
          </a:p>
        </p:txBody>
      </p:sp>
      <p:sp>
        <p:nvSpPr>
          <p:cNvPr id="73" name="TextBox 72"/>
          <p:cNvSpPr txBox="1"/>
          <p:nvPr/>
        </p:nvSpPr>
        <p:spPr>
          <a:xfrm>
            <a:off x="5500694" y="5000636"/>
            <a:ext cx="2857520"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cs typeface="Consolas" pitchFamily="49" charset="0"/>
              </a:rPr>
              <a:t>"</a:t>
            </a:r>
            <a:r>
              <a:rPr lang="en-US" altLang="zh-CN" sz="2000" b="0" smtClean="0">
                <a:solidFill>
                  <a:srgbClr val="0000FF"/>
                </a:solidFill>
                <a:latin typeface="Consolas" pitchFamily="49" charset="0"/>
                <a:cs typeface="Consolas" pitchFamily="49" charset="0"/>
              </a:rPr>
              <a:t>ABD#G###CE##F##</a:t>
            </a:r>
            <a:r>
              <a:rPr lang="en-US" altLang="zh-CN" sz="2000" smtClean="0">
                <a:solidFill>
                  <a:srgbClr val="0000FF"/>
                </a:solidFill>
                <a:latin typeface="Consolas" pitchFamily="49" charset="0"/>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74" name="下箭头 73"/>
          <p:cNvSpPr/>
          <p:nvPr/>
        </p:nvSpPr>
        <p:spPr bwMode="auto">
          <a:xfrm>
            <a:off x="6500826" y="4286256"/>
            <a:ext cx="214314" cy="428628"/>
          </a:xfrm>
          <a:prstGeom prst="downArrow">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lnSpc>
                <a:spcPts val="2000"/>
              </a:lnSpc>
            </a:pPr>
            <a:endParaRPr lang="zh-CN" altLang="en-US" sz="1800" i="1">
              <a:solidFill>
                <a:srgbClr val="0000FF"/>
              </a:solidFill>
              <a:latin typeface="Consolas" pitchFamily="49" charset="0"/>
              <a:ea typeface="仿宋" pitchFamily="49" charset="-122"/>
              <a:cs typeface="Consolas" pitchFamily="49" charset="0"/>
            </a:endParaRPr>
          </a:p>
        </p:txBody>
      </p:sp>
      <p:sp>
        <p:nvSpPr>
          <p:cNvPr id="75" name="TextBox 74"/>
          <p:cNvSpPr txBox="1"/>
          <p:nvPr/>
        </p:nvSpPr>
        <p:spPr>
          <a:xfrm>
            <a:off x="6786578" y="4286256"/>
            <a:ext cx="1643074" cy="369332"/>
          </a:xfrm>
          <a:prstGeom prst="rect">
            <a:avLst/>
          </a:prstGeom>
          <a:noFill/>
        </p:spPr>
        <p:txBody>
          <a:bodyPr wrap="square" rtlCol="0">
            <a:spAutoFit/>
          </a:bodyPr>
          <a:lstStyle/>
          <a:p>
            <a:pPr algn="l">
              <a:lnSpc>
                <a:spcPct val="100000"/>
              </a:lnSpc>
              <a:spcBef>
                <a:spcPts val="0"/>
              </a:spcBef>
            </a:pPr>
            <a:r>
              <a:rPr lang="zh-CN" altLang="en-US" sz="1800" smtClean="0">
                <a:solidFill>
                  <a:srgbClr val="0000FF"/>
                </a:solidFill>
                <a:latin typeface="Consolas" pitchFamily="49" charset="0"/>
                <a:ea typeface="仿宋" pitchFamily="49" charset="-122"/>
                <a:cs typeface="Consolas" pitchFamily="49" charset="0"/>
              </a:rPr>
              <a:t>先序遍历</a:t>
            </a:r>
          </a:p>
        </p:txBody>
      </p:sp>
      <p:sp>
        <p:nvSpPr>
          <p:cNvPr id="76" name="TextBox 75"/>
          <p:cNvSpPr txBox="1"/>
          <p:nvPr/>
        </p:nvSpPr>
        <p:spPr>
          <a:xfrm>
            <a:off x="3376604" y="5010161"/>
            <a:ext cx="150019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华文中宋" pitchFamily="2" charset="-122"/>
                <a:ea typeface="华文中宋" pitchFamily="2" charset="-122"/>
              </a:rPr>
              <a:t>序列化序列</a:t>
            </a:r>
            <a:endParaRPr lang="zh-CN" altLang="en-US" sz="2000" smtClean="0">
              <a:solidFill>
                <a:srgbClr val="0000FF"/>
              </a:solidFill>
              <a:latin typeface="华文中宋" pitchFamily="2" charset="-122"/>
              <a:ea typeface="华文中宋" pitchFamily="2" charset="-122"/>
              <a:cs typeface="Consolas" pitchFamily="49" charset="0"/>
            </a:endParaRPr>
          </a:p>
        </p:txBody>
      </p:sp>
      <p:cxnSp>
        <p:nvCxnSpPr>
          <p:cNvPr id="78" name="直接箭头连接符 77"/>
          <p:cNvCxnSpPr/>
          <p:nvPr/>
        </p:nvCxnSpPr>
        <p:spPr>
          <a:xfrm>
            <a:off x="4780694" y="5204352"/>
            <a:ext cx="720000"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9" name="灯片编号占位符 58"/>
          <p:cNvSpPr>
            <a:spLocks noGrp="1"/>
          </p:cNvSpPr>
          <p:nvPr>
            <p:ph type="sldNum" sz="quarter" idx="12"/>
          </p:nvPr>
        </p:nvSpPr>
        <p:spPr/>
        <p:txBody>
          <a:bodyPr/>
          <a:lstStyle/>
          <a:p>
            <a:fld id="{67864EE2-EAB3-4814-A7EB-820BD7610F1E}" type="slidenum">
              <a:rPr lang="en-US" altLang="zh-CN" smtClean="0"/>
              <a:pPr/>
              <a:t>30</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642910" y="928670"/>
            <a:ext cx="7929618" cy="345824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string </a:t>
            </a:r>
            <a:r>
              <a:rPr lang="en-US" altLang="zh-CN" sz="1800" smtClean="0">
                <a:solidFill>
                  <a:srgbClr val="FF0000"/>
                </a:solidFill>
                <a:latin typeface="Consolas" pitchFamily="49" charset="0"/>
                <a:ea typeface="仿宋" pitchFamily="49" charset="-122"/>
                <a:cs typeface="Consolas" pitchFamily="49" charset="0"/>
              </a:rPr>
              <a:t>PreOrderSeq</a:t>
            </a:r>
            <a:r>
              <a:rPr lang="en-US" altLang="zh-CN" sz="1800" smtClean="0">
                <a:solidFill>
                  <a:srgbClr val="0000FF"/>
                </a:solidFill>
                <a:latin typeface="Consolas" pitchFamily="49" charset="0"/>
                <a:ea typeface="仿宋" pitchFamily="49" charset="-122"/>
                <a:cs typeface="Consolas" pitchFamily="49" charset="0"/>
              </a:rPr>
              <a:t>(BTree&amp; bt)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二叉树</a:t>
            </a:r>
            <a:r>
              <a:rPr lang="en-US" altLang="zh-CN" sz="1800" smtClean="0">
                <a:solidFill>
                  <a:schemeClr val="bg1">
                    <a:lumMod val="50000"/>
                  </a:schemeClr>
                </a:solidFill>
                <a:latin typeface="Consolas" pitchFamily="49" charset="0"/>
                <a:ea typeface="仿宋" pitchFamily="49" charset="-122"/>
                <a:cs typeface="Consolas" pitchFamily="49" charset="0"/>
              </a:rPr>
              <a:t>bt</a:t>
            </a:r>
            <a:r>
              <a:rPr lang="zh-CN" altLang="zh-CN" sz="1800" smtClean="0">
                <a:solidFill>
                  <a:schemeClr val="bg1">
                    <a:lumMod val="50000"/>
                  </a:schemeClr>
                </a:solidFill>
                <a:latin typeface="Consolas" pitchFamily="49" charset="0"/>
                <a:ea typeface="仿宋" pitchFamily="49" charset="-122"/>
                <a:cs typeface="Consolas" pitchFamily="49" charset="0"/>
              </a:rPr>
              <a:t>的序列化</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PreOrderSeq1(bt.r);</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endParaRPr lang="en-US"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string </a:t>
            </a:r>
            <a:r>
              <a:rPr lang="en-US" altLang="zh-CN" sz="1800" smtClean="0">
                <a:solidFill>
                  <a:srgbClr val="FF0000"/>
                </a:solidFill>
                <a:latin typeface="Consolas" pitchFamily="49" charset="0"/>
                <a:ea typeface="仿宋" pitchFamily="49" charset="-122"/>
                <a:cs typeface="Consolas" pitchFamily="49" charset="0"/>
              </a:rPr>
              <a:t>PreOrderSeq1</a:t>
            </a:r>
            <a:r>
              <a:rPr lang="en-US" altLang="zh-CN" sz="1800" smtClean="0">
                <a:solidFill>
                  <a:srgbClr val="0000FF"/>
                </a:solidFill>
                <a:latin typeface="Consolas" pitchFamily="49" charset="0"/>
                <a:ea typeface="仿宋" pitchFamily="49" charset="-122"/>
                <a:cs typeface="Consolas" pitchFamily="49" charset="0"/>
              </a:rPr>
              <a:t>(BTNode* b)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被</a:t>
            </a:r>
            <a:r>
              <a:rPr lang="en-US" altLang="zh-CN" sz="1800" smtClean="0">
                <a:solidFill>
                  <a:schemeClr val="bg1">
                    <a:lumMod val="50000"/>
                  </a:schemeClr>
                </a:solidFill>
                <a:latin typeface="Consolas" pitchFamily="49" charset="0"/>
                <a:ea typeface="仿宋" pitchFamily="49" charset="-122"/>
                <a:cs typeface="Consolas" pitchFamily="49" charset="0"/>
              </a:rPr>
              <a:t>PreOrderSeq</a:t>
            </a:r>
            <a:r>
              <a:rPr lang="zh-CN" altLang="zh-CN" sz="1800" smtClean="0">
                <a:solidFill>
                  <a:schemeClr val="bg1">
                    <a:lumMod val="50000"/>
                  </a:schemeClr>
                </a:solidFill>
                <a:latin typeface="Consolas" pitchFamily="49" charset="0"/>
                <a:ea typeface="仿宋" pitchFamily="49" charset="-122"/>
                <a:cs typeface="Consolas" pitchFamily="49" charset="0"/>
              </a:rPr>
              <a:t>调用</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if (b==NULL) return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string s(1,b-&gt;data);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含根结点</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s+=</a:t>
            </a:r>
            <a:r>
              <a:rPr lang="en-US" altLang="zh-CN" sz="1800" smtClean="0">
                <a:solidFill>
                  <a:srgbClr val="FF0000"/>
                </a:solidFill>
                <a:latin typeface="Consolas" pitchFamily="49" charset="0"/>
                <a:ea typeface="仿宋" pitchFamily="49" charset="-122"/>
                <a:cs typeface="Consolas" pitchFamily="49" charset="0"/>
              </a:rPr>
              <a:t>PreOrderSeq1</a:t>
            </a:r>
            <a:r>
              <a:rPr lang="en-US" altLang="zh-CN" sz="1800" smtClean="0">
                <a:solidFill>
                  <a:srgbClr val="0000FF"/>
                </a:solidFill>
                <a:latin typeface="Consolas" pitchFamily="49" charset="0"/>
                <a:ea typeface="仿宋" pitchFamily="49" charset="-122"/>
                <a:cs typeface="Consolas" pitchFamily="49" charset="0"/>
              </a:rPr>
              <a:t>(b-&gt;lchild);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产生左子树的序列化序列</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s+=</a:t>
            </a:r>
            <a:r>
              <a:rPr lang="en-US" altLang="zh-CN" sz="1800" smtClean="0">
                <a:solidFill>
                  <a:srgbClr val="FF0000"/>
                </a:solidFill>
                <a:latin typeface="Consolas" pitchFamily="49" charset="0"/>
                <a:ea typeface="仿宋" pitchFamily="49" charset="-122"/>
                <a:cs typeface="Consolas" pitchFamily="49" charset="0"/>
              </a:rPr>
              <a:t>PreOrderSeq1</a:t>
            </a:r>
            <a:r>
              <a:rPr lang="en-US" altLang="zh-CN" sz="1800" smtClean="0">
                <a:solidFill>
                  <a:srgbClr val="0000FF"/>
                </a:solidFill>
                <a:latin typeface="Consolas" pitchFamily="49" charset="0"/>
                <a:ea typeface="仿宋" pitchFamily="49" charset="-122"/>
                <a:cs typeface="Consolas" pitchFamily="49" charset="0"/>
              </a:rPr>
              <a:t>(b-&gt;rchild);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产生右子树的序列化序列</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s;</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31</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500306"/>
            <a:ext cx="271464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cs typeface="Consolas" pitchFamily="49" charset="0"/>
              </a:rPr>
              <a:t>"</a:t>
            </a:r>
            <a:r>
              <a:rPr lang="en-US" altLang="zh-CN" sz="2000" b="0" smtClean="0">
                <a:solidFill>
                  <a:srgbClr val="0000FF"/>
                </a:solidFill>
                <a:latin typeface="Consolas" pitchFamily="49" charset="0"/>
                <a:cs typeface="Consolas" pitchFamily="49" charset="0"/>
              </a:rPr>
              <a:t>ABD#G###CE##F##</a:t>
            </a:r>
            <a:r>
              <a:rPr lang="en-US" altLang="zh-CN" sz="2000" smtClean="0">
                <a:solidFill>
                  <a:srgbClr val="0000FF"/>
                </a:solidFill>
                <a:latin typeface="Consolas" pitchFamily="49" charset="0"/>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785786" y="1857364"/>
            <a:ext cx="150019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华文中宋" pitchFamily="2" charset="-122"/>
                <a:ea typeface="华文中宋" pitchFamily="2" charset="-122"/>
              </a:rPr>
              <a:t>序列化序列</a:t>
            </a:r>
            <a:endParaRPr lang="zh-CN" altLang="en-US" sz="2000" smtClean="0">
              <a:solidFill>
                <a:srgbClr val="0000FF"/>
              </a:solidFill>
              <a:latin typeface="华文中宋" pitchFamily="2" charset="-122"/>
              <a:ea typeface="华文中宋" pitchFamily="2" charset="-122"/>
              <a:cs typeface="Consolas" pitchFamily="49" charset="0"/>
            </a:endParaRPr>
          </a:p>
        </p:txBody>
      </p:sp>
      <p:grpSp>
        <p:nvGrpSpPr>
          <p:cNvPr id="7" name="组合 6"/>
          <p:cNvGrpSpPr/>
          <p:nvPr/>
        </p:nvGrpSpPr>
        <p:grpSpPr>
          <a:xfrm>
            <a:off x="5072066" y="1643050"/>
            <a:ext cx="2357454" cy="1963280"/>
            <a:chOff x="1214414" y="2427604"/>
            <a:chExt cx="2357454" cy="1963280"/>
          </a:xfrm>
        </p:grpSpPr>
        <p:sp>
          <p:nvSpPr>
            <p:cNvPr id="8" name="Freeform 45"/>
            <p:cNvSpPr>
              <a:spLocks/>
            </p:cNvSpPr>
            <p:nvPr/>
          </p:nvSpPr>
          <p:spPr bwMode="auto">
            <a:xfrm>
              <a:off x="2726081" y="3203407"/>
              <a:ext cx="208179" cy="328087"/>
            </a:xfrm>
            <a:custGeom>
              <a:avLst/>
              <a:gdLst/>
              <a:ahLst/>
              <a:cxnLst>
                <a:cxn ang="0">
                  <a:pos x="233" y="0"/>
                </a:cxn>
                <a:cxn ang="0">
                  <a:pos x="0" y="383"/>
                </a:cxn>
              </a:cxnLst>
              <a:rect l="0" t="0" r="r" b="b"/>
              <a:pathLst>
                <a:path w="233" h="383">
                  <a:moveTo>
                    <a:pt x="233" y="0"/>
                  </a:moveTo>
                  <a:lnTo>
                    <a:pt x="0" y="38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9" name="Line 44"/>
            <p:cNvSpPr>
              <a:spLocks noChangeShapeType="1"/>
            </p:cNvSpPr>
            <p:nvPr/>
          </p:nvSpPr>
          <p:spPr bwMode="auto">
            <a:xfrm>
              <a:off x="1433314" y="3761070"/>
              <a:ext cx="308248" cy="334084"/>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0" name="Freeform 43"/>
            <p:cNvSpPr>
              <a:spLocks/>
            </p:cNvSpPr>
            <p:nvPr/>
          </p:nvSpPr>
          <p:spPr bwMode="auto">
            <a:xfrm>
              <a:off x="3101339" y="3172569"/>
              <a:ext cx="234983" cy="365779"/>
            </a:xfrm>
            <a:custGeom>
              <a:avLst/>
              <a:gdLst/>
              <a:ahLst/>
              <a:cxnLst>
                <a:cxn ang="0">
                  <a:pos x="0" y="0"/>
                </a:cxn>
                <a:cxn ang="0">
                  <a:pos x="263" y="427"/>
                </a:cxn>
              </a:cxnLst>
              <a:rect l="0" t="0" r="r" b="b"/>
              <a:pathLst>
                <a:path w="263" h="427">
                  <a:moveTo>
                    <a:pt x="0" y="0"/>
                  </a:moveTo>
                  <a:lnTo>
                    <a:pt x="263" y="42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1" name="Line 42"/>
            <p:cNvSpPr>
              <a:spLocks noChangeShapeType="1"/>
            </p:cNvSpPr>
            <p:nvPr/>
          </p:nvSpPr>
          <p:spPr bwMode="auto">
            <a:xfrm flipH="1">
              <a:off x="1360943" y="3138304"/>
              <a:ext cx="285911" cy="40689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2" name="Oval 40"/>
            <p:cNvSpPr>
              <a:spLocks noChangeArrowheads="1"/>
            </p:cNvSpPr>
            <p:nvPr/>
          </p:nvSpPr>
          <p:spPr bwMode="auto">
            <a:xfrm>
              <a:off x="2247736" y="242760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13" name="Oval 39"/>
            <p:cNvSpPr>
              <a:spLocks noChangeArrowheads="1"/>
            </p:cNvSpPr>
            <p:nvPr/>
          </p:nvSpPr>
          <p:spPr bwMode="auto">
            <a:xfrm>
              <a:off x="1550359" y="291558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14" name="Oval 38"/>
            <p:cNvSpPr>
              <a:spLocks noChangeArrowheads="1"/>
            </p:cNvSpPr>
            <p:nvPr/>
          </p:nvSpPr>
          <p:spPr bwMode="auto">
            <a:xfrm>
              <a:off x="2878865" y="2954128"/>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p>
          </p:txBody>
        </p:sp>
        <p:sp>
          <p:nvSpPr>
            <p:cNvPr id="15" name="Oval 37"/>
            <p:cNvSpPr>
              <a:spLocks noChangeArrowheads="1"/>
            </p:cNvSpPr>
            <p:nvPr/>
          </p:nvSpPr>
          <p:spPr bwMode="auto">
            <a:xfrm>
              <a:off x="2586699" y="353235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p:txBody>
        </p:sp>
        <p:sp>
          <p:nvSpPr>
            <p:cNvPr id="16" name="Oval 36"/>
            <p:cNvSpPr>
              <a:spLocks noChangeArrowheads="1"/>
            </p:cNvSpPr>
            <p:nvPr/>
          </p:nvSpPr>
          <p:spPr bwMode="auto">
            <a:xfrm>
              <a:off x="3247868" y="353235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p:txBody>
        </p:sp>
        <p:sp>
          <p:nvSpPr>
            <p:cNvPr id="17" name="Oval 35"/>
            <p:cNvSpPr>
              <a:spLocks noChangeArrowheads="1"/>
            </p:cNvSpPr>
            <p:nvPr/>
          </p:nvSpPr>
          <p:spPr bwMode="auto">
            <a:xfrm>
              <a:off x="1214414" y="3545199"/>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p>
          </p:txBody>
        </p:sp>
        <p:sp>
          <p:nvSpPr>
            <p:cNvPr id="18" name="Oval 33"/>
            <p:cNvSpPr>
              <a:spLocks noChangeArrowheads="1"/>
            </p:cNvSpPr>
            <p:nvPr/>
          </p:nvSpPr>
          <p:spPr bwMode="auto">
            <a:xfrm>
              <a:off x="1632558" y="406688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p:txBody>
        </p:sp>
        <p:cxnSp>
          <p:nvCxnSpPr>
            <p:cNvPr id="19" name="直接连接符 18"/>
            <p:cNvCxnSpPr>
              <a:endCxn id="13" idx="7"/>
            </p:cNvCxnSpPr>
            <p:nvPr/>
          </p:nvCxnSpPr>
          <p:spPr>
            <a:xfrm rot="10800000" flipV="1">
              <a:off x="1826910" y="2656277"/>
              <a:ext cx="439876" cy="30675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0" name="直接连接符 19"/>
            <p:cNvCxnSpPr>
              <a:endCxn id="14" idx="1"/>
            </p:cNvCxnSpPr>
            <p:nvPr/>
          </p:nvCxnSpPr>
          <p:spPr>
            <a:xfrm>
              <a:off x="2571736" y="2675329"/>
              <a:ext cx="354578" cy="326248"/>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21" name="右箭头 20"/>
          <p:cNvSpPr/>
          <p:nvPr/>
        </p:nvSpPr>
        <p:spPr bwMode="auto">
          <a:xfrm>
            <a:off x="3000364" y="2500306"/>
            <a:ext cx="1357322" cy="285752"/>
          </a:xfrm>
          <a:prstGeom prst="rightArrow">
            <a:avLst/>
          </a:prstGeom>
          <a:ln>
            <a:headEnd/>
            <a:tailEn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lnSpc>
                <a:spcPts val="2000"/>
              </a:lnSpc>
            </a:pPr>
            <a:endParaRPr lang="zh-CN" altLang="en-US" sz="1800" i="1">
              <a:solidFill>
                <a:srgbClr val="0000FF"/>
              </a:solidFill>
              <a:latin typeface="Consolas" pitchFamily="49" charset="0"/>
              <a:ea typeface="仿宋" pitchFamily="49" charset="-122"/>
              <a:cs typeface="Consolas" pitchFamily="49" charset="0"/>
            </a:endParaRPr>
          </a:p>
        </p:txBody>
      </p:sp>
      <p:sp>
        <p:nvSpPr>
          <p:cNvPr id="22" name="TextBox 21"/>
          <p:cNvSpPr txBox="1"/>
          <p:nvPr/>
        </p:nvSpPr>
        <p:spPr>
          <a:xfrm>
            <a:off x="3071802" y="2130974"/>
            <a:ext cx="1285884"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仿宋" pitchFamily="49" charset="-122"/>
                <a:ea typeface="仿宋" pitchFamily="49" charset="-122"/>
              </a:rPr>
              <a:t>反</a:t>
            </a:r>
            <a:r>
              <a:rPr lang="zh-CN" altLang="zh-CN" sz="2000" smtClean="0">
                <a:solidFill>
                  <a:srgbClr val="0000FF"/>
                </a:solidFill>
                <a:latin typeface="仿宋" pitchFamily="49" charset="-122"/>
                <a:ea typeface="仿宋" pitchFamily="49" charset="-122"/>
              </a:rPr>
              <a:t>序列化</a:t>
            </a:r>
            <a:endParaRPr lang="zh-CN" altLang="en-US" sz="2000" smtClean="0">
              <a:solidFill>
                <a:srgbClr val="0000FF"/>
              </a:solidFill>
              <a:latin typeface="仿宋" pitchFamily="49" charset="-122"/>
              <a:ea typeface="仿宋" pitchFamily="49" charset="-122"/>
              <a:cs typeface="Consolas" pitchFamily="49" charset="0"/>
            </a:endParaRPr>
          </a:p>
        </p:txBody>
      </p:sp>
      <p:sp>
        <p:nvSpPr>
          <p:cNvPr id="24" name="灯片编号占位符 23"/>
          <p:cNvSpPr>
            <a:spLocks noGrp="1"/>
          </p:cNvSpPr>
          <p:nvPr>
            <p:ph type="sldNum" sz="quarter" idx="12"/>
          </p:nvPr>
        </p:nvSpPr>
        <p:spPr/>
        <p:txBody>
          <a:bodyPr/>
          <a:lstStyle/>
          <a:p>
            <a:fld id="{67864EE2-EAB3-4814-A7EB-820BD7610F1E}" type="slidenum">
              <a:rPr lang="en-US" altLang="zh-CN" smtClean="0"/>
              <a:pPr/>
              <a:t>32</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p:cNvSpPr>
          <p:nvPr/>
        </p:nvSpPr>
        <p:spPr>
          <a:xfrm>
            <a:off x="214282" y="214290"/>
            <a:ext cx="8572560" cy="539964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CreateBTree3</a:t>
            </a:r>
            <a:r>
              <a:rPr lang="en-US" altLang="zh-CN" sz="1800" smtClean="0">
                <a:solidFill>
                  <a:srgbClr val="0000FF"/>
                </a:solidFill>
                <a:latin typeface="Consolas" pitchFamily="49" charset="0"/>
                <a:ea typeface="仿宋" pitchFamily="49" charset="-122"/>
                <a:cs typeface="Consolas" pitchFamily="49" charset="0"/>
              </a:rPr>
              <a:t>(BTree&amp; bt,string s)</a:t>
            </a:r>
          </a:p>
          <a:p>
            <a:pPr algn="l">
              <a:lnSpc>
                <a:spcPts val="2500"/>
              </a:lnSpc>
              <a:spcBef>
                <a:spcPts val="0"/>
              </a:spcBef>
            </a:pPr>
            <a:r>
              <a:rPr lang="en-US" altLang="zh-CN" sz="1800" smtClean="0">
                <a:solidFill>
                  <a:srgbClr val="C00000"/>
                </a:solidFill>
                <a:latin typeface="Consolas" pitchFamily="49" charset="0"/>
                <a:ea typeface="仿宋" pitchFamily="49" charset="-122"/>
                <a:cs typeface="Consolas" pitchFamily="49" charset="0"/>
              </a:rPr>
              <a:t>//</a:t>
            </a:r>
            <a:r>
              <a:rPr lang="zh-CN" altLang="zh-CN" sz="1800" smtClean="0">
                <a:solidFill>
                  <a:srgbClr val="C00000"/>
                </a:solidFill>
                <a:latin typeface="Consolas" pitchFamily="49" charset="0"/>
                <a:ea typeface="仿宋" pitchFamily="49" charset="-122"/>
                <a:cs typeface="Consolas" pitchFamily="49" charset="0"/>
              </a:rPr>
              <a:t>由序列化序列</a:t>
            </a:r>
            <a:r>
              <a:rPr lang="en-US" altLang="zh-CN" sz="1800" smtClean="0">
                <a:solidFill>
                  <a:srgbClr val="C00000"/>
                </a:solidFill>
                <a:latin typeface="Consolas" pitchFamily="49" charset="0"/>
                <a:ea typeface="仿宋" pitchFamily="49" charset="-122"/>
                <a:cs typeface="Consolas" pitchFamily="49" charset="0"/>
              </a:rPr>
              <a:t>s</a:t>
            </a:r>
            <a:r>
              <a:rPr lang="zh-CN" altLang="zh-CN" sz="1800" smtClean="0">
                <a:solidFill>
                  <a:srgbClr val="C00000"/>
                </a:solidFill>
                <a:latin typeface="Consolas" pitchFamily="49" charset="0"/>
                <a:ea typeface="仿宋" pitchFamily="49" charset="-122"/>
                <a:cs typeface="Consolas" pitchFamily="49" charset="0"/>
              </a:rPr>
              <a:t>创建二叉链：反序列化</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int i=0;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bt.r=CreateBTree31(s,i);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endParaRPr lang="en-US"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BTNode* </a:t>
            </a:r>
            <a:r>
              <a:rPr lang="en-US" altLang="zh-CN" sz="1800" smtClean="0">
                <a:solidFill>
                  <a:srgbClr val="FF0000"/>
                </a:solidFill>
                <a:latin typeface="Consolas" pitchFamily="49" charset="0"/>
                <a:ea typeface="仿宋" pitchFamily="49" charset="-122"/>
                <a:cs typeface="Consolas" pitchFamily="49" charset="0"/>
              </a:rPr>
              <a:t>CreateBTree31</a:t>
            </a:r>
            <a:r>
              <a:rPr lang="en-US" altLang="zh-CN" sz="1800" smtClean="0">
                <a:solidFill>
                  <a:srgbClr val="0000FF"/>
                </a:solidFill>
                <a:latin typeface="Consolas" pitchFamily="49" charset="0"/>
                <a:ea typeface="仿宋" pitchFamily="49" charset="-122"/>
                <a:cs typeface="Consolas" pitchFamily="49" charset="0"/>
              </a:rPr>
              <a:t>(string s,int&amp; i)</a:t>
            </a:r>
          </a:p>
          <a:p>
            <a:pPr algn="l">
              <a:lnSpc>
                <a:spcPts val="2500"/>
              </a:lnSpc>
              <a:spcBef>
                <a:spcPts val="0"/>
              </a:spcBef>
            </a:pPr>
            <a:r>
              <a:rPr lang="en-US" altLang="zh-CN" sz="1800" smtClean="0">
                <a:solidFill>
                  <a:srgbClr val="C00000"/>
                </a:solidFill>
                <a:latin typeface="Consolas" pitchFamily="49" charset="0"/>
                <a:ea typeface="仿宋" pitchFamily="49" charset="-122"/>
                <a:cs typeface="Consolas" pitchFamily="49" charset="0"/>
              </a:rPr>
              <a:t>//</a:t>
            </a:r>
            <a:r>
              <a:rPr lang="zh-CN" altLang="zh-CN" sz="1800" smtClean="0">
                <a:solidFill>
                  <a:srgbClr val="C00000"/>
                </a:solidFill>
                <a:latin typeface="Consolas" pitchFamily="49" charset="0"/>
                <a:ea typeface="仿宋" pitchFamily="49" charset="-122"/>
                <a:cs typeface="Consolas" pitchFamily="49" charset="0"/>
              </a:rPr>
              <a:t>被</a:t>
            </a:r>
            <a:r>
              <a:rPr lang="en-US" altLang="zh-CN" sz="1800" smtClean="0">
                <a:solidFill>
                  <a:srgbClr val="C00000"/>
                </a:solidFill>
                <a:latin typeface="Consolas" pitchFamily="49" charset="0"/>
                <a:ea typeface="仿宋" pitchFamily="49" charset="-122"/>
                <a:cs typeface="Consolas" pitchFamily="49" charset="0"/>
              </a:rPr>
              <a:t>CreateBTree3</a:t>
            </a:r>
            <a:r>
              <a:rPr lang="zh-CN" altLang="zh-CN" sz="1800" smtClean="0">
                <a:solidFill>
                  <a:srgbClr val="C00000"/>
                </a:solidFill>
                <a:latin typeface="Consolas" pitchFamily="49" charset="0"/>
                <a:ea typeface="仿宋" pitchFamily="49" charset="-122"/>
                <a:cs typeface="Consolas" pitchFamily="49" charset="0"/>
              </a:rPr>
              <a:t>调用，其中参数</a:t>
            </a:r>
            <a:r>
              <a:rPr lang="en-US" altLang="zh-CN" sz="1800" smtClean="0">
                <a:solidFill>
                  <a:srgbClr val="C00000"/>
                </a:solidFill>
                <a:latin typeface="Consolas" pitchFamily="49" charset="0"/>
                <a:ea typeface="仿宋" pitchFamily="49" charset="-122"/>
                <a:cs typeface="Consolas" pitchFamily="49" charset="0"/>
              </a:rPr>
              <a:t>i</a:t>
            </a:r>
            <a:r>
              <a:rPr lang="zh-CN" altLang="zh-CN" sz="1800" smtClean="0">
                <a:solidFill>
                  <a:srgbClr val="C00000"/>
                </a:solidFill>
                <a:latin typeface="Consolas" pitchFamily="49" charset="0"/>
                <a:ea typeface="仿宋" pitchFamily="49" charset="-122"/>
                <a:cs typeface="Consolas" pitchFamily="49" charset="0"/>
              </a:rPr>
              <a:t>相当于全局变量</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(i&gt;=s.length()) return NULL;		</a:t>
            </a:r>
            <a:r>
              <a:rPr lang="en-US" altLang="zh-CN" sz="1800" smtClean="0">
                <a:solidFill>
                  <a:schemeClr val="bg1">
                    <a:lumMod val="50000"/>
                  </a:schemeClr>
                </a:solidFill>
                <a:latin typeface="Consolas" pitchFamily="49" charset="0"/>
                <a:ea typeface="仿宋" pitchFamily="49" charset="-122"/>
                <a:cs typeface="Consolas" pitchFamily="49" charset="0"/>
              </a:rPr>
              <a:t>//i</a:t>
            </a:r>
            <a:r>
              <a:rPr lang="zh-CN" altLang="zh-CN" sz="1800" smtClean="0">
                <a:solidFill>
                  <a:schemeClr val="bg1">
                    <a:lumMod val="50000"/>
                  </a:schemeClr>
                </a:solidFill>
                <a:latin typeface="Consolas" pitchFamily="49" charset="0"/>
                <a:ea typeface="仿宋" pitchFamily="49" charset="-122"/>
                <a:cs typeface="Consolas" pitchFamily="49" charset="0"/>
              </a:rPr>
              <a:t>超界返回</a:t>
            </a:r>
            <a:r>
              <a:rPr lang="en-US" altLang="zh-CN" sz="1800" smtClean="0">
                <a:solidFill>
                  <a:schemeClr val="bg1">
                    <a:lumMod val="50000"/>
                  </a:schemeClr>
                </a:solidFill>
                <a:latin typeface="Consolas" pitchFamily="49" charset="0"/>
                <a:ea typeface="仿宋" pitchFamily="49" charset="-122"/>
                <a:cs typeface="Consolas" pitchFamily="49" charset="0"/>
              </a:rPr>
              <a:t>NULL </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char d=s[i]; i++;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取</a:t>
            </a:r>
            <a:r>
              <a:rPr lang="en-US" altLang="zh-CN" sz="1800" smtClean="0">
                <a:solidFill>
                  <a:schemeClr val="bg1">
                    <a:lumMod val="50000"/>
                  </a:schemeClr>
                </a:solidFill>
                <a:latin typeface="Consolas" pitchFamily="49" charset="0"/>
                <a:ea typeface="仿宋" pitchFamily="49" charset="-122"/>
                <a:cs typeface="Consolas" pitchFamily="49" charset="0"/>
              </a:rPr>
              <a:t>s[i]</a:t>
            </a:r>
            <a:r>
              <a:rPr lang="zh-CN" altLang="zh-CN" sz="1800" smtClean="0">
                <a:solidFill>
                  <a:schemeClr val="bg1">
                    <a:lumMod val="50000"/>
                  </a:schemeClr>
                </a:solidFill>
                <a:latin typeface="Consolas" pitchFamily="49" charset="0"/>
                <a:ea typeface="仿宋" pitchFamily="49" charset="-122"/>
                <a:cs typeface="Consolas" pitchFamily="49" charset="0"/>
              </a:rPr>
              <a:t>的值</a:t>
            </a:r>
            <a:r>
              <a:rPr lang="en-US" altLang="zh-CN" sz="1800" smtClean="0">
                <a:solidFill>
                  <a:schemeClr val="bg1">
                    <a:lumMod val="50000"/>
                  </a:schemeClr>
                </a:solidFill>
                <a:latin typeface="Consolas" pitchFamily="49" charset="0"/>
                <a:ea typeface="仿宋" pitchFamily="49" charset="-122"/>
                <a:cs typeface="Consolas" pitchFamily="49" charset="0"/>
              </a:rPr>
              <a:t>d </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if (d=='#') return NULL;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若为</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，返回</a:t>
            </a:r>
            <a:r>
              <a:rPr lang="en-US" altLang="zh-CN" sz="1800" smtClean="0">
                <a:solidFill>
                  <a:schemeClr val="bg1">
                    <a:lumMod val="50000"/>
                  </a:schemeClr>
                </a:solidFill>
                <a:latin typeface="Consolas" pitchFamily="49" charset="0"/>
                <a:ea typeface="仿宋" pitchFamily="49" charset="-122"/>
                <a:cs typeface="Consolas" pitchFamily="49" charset="0"/>
              </a:rPr>
              <a:t>NULL</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BTNode* b=new BTNode(d);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创建根结点</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结点值为</a:t>
            </a:r>
            <a:r>
              <a:rPr lang="en-US" altLang="zh-CN" sz="1800" smtClean="0">
                <a:solidFill>
                  <a:schemeClr val="bg1">
                    <a:lumMod val="50000"/>
                  </a:schemeClr>
                </a:solidFill>
                <a:latin typeface="Consolas" pitchFamily="49" charset="0"/>
                <a:ea typeface="仿宋" pitchFamily="49" charset="-122"/>
                <a:cs typeface="Consolas" pitchFamily="49" charset="0"/>
              </a:rPr>
              <a:t>d)</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b-&gt;lchild=</a:t>
            </a:r>
            <a:r>
              <a:rPr lang="en-US" altLang="zh-CN" sz="1800" smtClean="0">
                <a:solidFill>
                  <a:srgbClr val="FF0000"/>
                </a:solidFill>
                <a:latin typeface="Consolas" pitchFamily="49" charset="0"/>
                <a:ea typeface="仿宋" pitchFamily="49" charset="-122"/>
                <a:cs typeface="Consolas" pitchFamily="49" charset="0"/>
              </a:rPr>
              <a:t>CreateBTree31</a:t>
            </a:r>
            <a:r>
              <a:rPr lang="en-US" altLang="zh-CN" sz="1800" smtClean="0">
                <a:solidFill>
                  <a:srgbClr val="0000FF"/>
                </a:solidFill>
                <a:latin typeface="Consolas" pitchFamily="49" charset="0"/>
                <a:ea typeface="仿宋" pitchFamily="49" charset="-122"/>
                <a:cs typeface="Consolas" pitchFamily="49" charset="0"/>
              </a:rPr>
              <a:t>(s,i);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递归构造左子树</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b-&gt;rchild=</a:t>
            </a:r>
            <a:r>
              <a:rPr lang="en-US" altLang="zh-CN" sz="1800" smtClean="0">
                <a:solidFill>
                  <a:srgbClr val="FF0000"/>
                </a:solidFill>
                <a:latin typeface="Consolas" pitchFamily="49" charset="0"/>
                <a:ea typeface="仿宋" pitchFamily="49" charset="-122"/>
                <a:cs typeface="Consolas" pitchFamily="49" charset="0"/>
              </a:rPr>
              <a:t>CreateBTree31</a:t>
            </a:r>
            <a:r>
              <a:rPr lang="en-US" altLang="zh-CN" sz="1800" smtClean="0">
                <a:solidFill>
                  <a:srgbClr val="0000FF"/>
                </a:solidFill>
                <a:latin typeface="Consolas" pitchFamily="49" charset="0"/>
                <a:ea typeface="仿宋" pitchFamily="49" charset="-122"/>
                <a:cs typeface="Consolas" pitchFamily="49" charset="0"/>
              </a:rPr>
              <a:t>(s,i);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递归构造右子树</a:t>
            </a: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b;</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smtClean="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33</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28662" y="1500174"/>
            <a:ext cx="7572428"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itchFamily="49" charset="0"/>
                <a:ea typeface="华文中宋" pitchFamily="2" charset="-122"/>
                <a:cs typeface="Consolas" pitchFamily="49" charset="0"/>
              </a:rPr>
              <a:t>    </a:t>
            </a:r>
            <a:r>
              <a:rPr lang="zh-CN" altLang="zh-CN" sz="2000" smtClean="0">
                <a:solidFill>
                  <a:srgbClr val="0000FF"/>
                </a:solidFill>
                <a:latin typeface="Consolas" pitchFamily="49" charset="0"/>
                <a:ea typeface="华文中宋" pitchFamily="2" charset="-122"/>
                <a:cs typeface="Consolas" pitchFamily="49" charset="0"/>
              </a:rPr>
              <a:t>由于反序列化构造二叉树过程中不像先序</a:t>
            </a:r>
            <a:r>
              <a:rPr lang="en-US" altLang="zh-CN" sz="2000" smtClean="0">
                <a:solidFill>
                  <a:srgbClr val="0000FF"/>
                </a:solidFill>
                <a:latin typeface="Consolas" pitchFamily="49" charset="0"/>
                <a:ea typeface="华文中宋" pitchFamily="2" charset="-122"/>
                <a:cs typeface="Consolas" pitchFamily="49" charset="0"/>
              </a:rPr>
              <a:t>/</a:t>
            </a:r>
            <a:r>
              <a:rPr lang="zh-CN" altLang="zh-CN" sz="2000" smtClean="0">
                <a:solidFill>
                  <a:srgbClr val="0000FF"/>
                </a:solidFill>
                <a:latin typeface="Consolas" pitchFamily="49" charset="0"/>
                <a:ea typeface="华文中宋" pitchFamily="2" charset="-122"/>
                <a:cs typeface="Consolas" pitchFamily="49" charset="0"/>
              </a:rPr>
              <a:t>中序和后序</a:t>
            </a:r>
            <a:r>
              <a:rPr lang="en-US" altLang="zh-CN" sz="2000" smtClean="0">
                <a:solidFill>
                  <a:srgbClr val="0000FF"/>
                </a:solidFill>
                <a:latin typeface="Consolas" pitchFamily="49" charset="0"/>
                <a:ea typeface="华文中宋" pitchFamily="2" charset="-122"/>
                <a:cs typeface="Consolas" pitchFamily="49" charset="0"/>
              </a:rPr>
              <a:t>/</a:t>
            </a:r>
            <a:r>
              <a:rPr lang="zh-CN" altLang="zh-CN" sz="2000" smtClean="0">
                <a:solidFill>
                  <a:srgbClr val="0000FF"/>
                </a:solidFill>
                <a:latin typeface="Consolas" pitchFamily="49" charset="0"/>
                <a:ea typeface="华文中宋" pitchFamily="2" charset="-122"/>
                <a:cs typeface="Consolas" pitchFamily="49" charset="0"/>
              </a:rPr>
              <a:t>中序那样需要根结点值的比较，所以适合构造结点值相同的二叉树。</a:t>
            </a:r>
            <a:endParaRPr lang="zh-CN" altLang="en-US" sz="2000" smtClean="0">
              <a:solidFill>
                <a:srgbClr val="0000FF"/>
              </a:solidFill>
              <a:latin typeface="Consolas" pitchFamily="49" charset="0"/>
              <a:ea typeface="华文中宋" pitchFamily="2" charset="-122"/>
              <a:cs typeface="Consolas" pitchFamily="49" charset="0"/>
            </a:endParaRPr>
          </a:p>
        </p:txBody>
      </p:sp>
      <p:grpSp>
        <p:nvGrpSpPr>
          <p:cNvPr id="5" name="组合 4"/>
          <p:cNvGrpSpPr/>
          <p:nvPr/>
        </p:nvGrpSpPr>
        <p:grpSpPr>
          <a:xfrm>
            <a:off x="1000100" y="571480"/>
            <a:ext cx="896901" cy="896901"/>
            <a:chOff x="388951" y="5103867"/>
            <a:chExt cx="896901" cy="896901"/>
          </a:xfrm>
        </p:grpSpPr>
        <p:sp>
          <p:nvSpPr>
            <p:cNvPr id="6" name="椭圆 5"/>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7" name="椭圆 6"/>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8" name="文本框 14"/>
            <p:cNvSpPr txBox="1"/>
            <p:nvPr/>
          </p:nvSpPr>
          <p:spPr>
            <a:xfrm>
              <a:off x="525185" y="5431228"/>
              <a:ext cx="646332" cy="313932"/>
            </a:xfrm>
            <a:prstGeom prst="rect">
              <a:avLst/>
            </a:prstGeom>
            <a:noFill/>
          </p:spPr>
          <p:txBody>
            <a:bodyPr wrap="none" rtlCol="0">
              <a:spAutoFit/>
            </a:bodyPr>
            <a:lstStyle/>
            <a:p>
              <a:r>
                <a:rPr lang="zh-CN" altLang="en-US" sz="1800" b="1" smtClean="0">
                  <a:solidFill>
                    <a:srgbClr val="FF0000"/>
                  </a:solidFill>
                  <a:latin typeface="微软雅黑" pitchFamily="34" charset="-122"/>
                  <a:ea typeface="微软雅黑" pitchFamily="34" charset="-122"/>
                </a:rPr>
                <a:t>说明</a:t>
              </a:r>
              <a:endParaRPr lang="zh-CN" altLang="en-US" sz="1800" b="1" dirty="0">
                <a:solidFill>
                  <a:srgbClr val="FF0000"/>
                </a:solidFill>
                <a:latin typeface="微软雅黑" pitchFamily="34" charset="-122"/>
                <a:ea typeface="微软雅黑" pitchFamily="34" charset="-122"/>
              </a:endParaRPr>
            </a:p>
          </p:txBody>
        </p:sp>
      </p:grpSp>
      <p:grpSp>
        <p:nvGrpSpPr>
          <p:cNvPr id="29" name="组合 28"/>
          <p:cNvGrpSpPr/>
          <p:nvPr/>
        </p:nvGrpSpPr>
        <p:grpSpPr>
          <a:xfrm>
            <a:off x="1214414" y="2928934"/>
            <a:ext cx="6767560" cy="1963280"/>
            <a:chOff x="1214414" y="2928934"/>
            <a:chExt cx="6767560" cy="1963280"/>
          </a:xfrm>
        </p:grpSpPr>
        <p:grpSp>
          <p:nvGrpSpPr>
            <p:cNvPr id="9" name="组合 8"/>
            <p:cNvGrpSpPr/>
            <p:nvPr/>
          </p:nvGrpSpPr>
          <p:grpSpPr>
            <a:xfrm>
              <a:off x="1214414" y="2928934"/>
              <a:ext cx="2357454" cy="1963280"/>
              <a:chOff x="1214414" y="2427604"/>
              <a:chExt cx="2357454" cy="1963280"/>
            </a:xfrm>
          </p:grpSpPr>
          <p:sp>
            <p:nvSpPr>
              <p:cNvPr id="10" name="Freeform 45"/>
              <p:cNvSpPr>
                <a:spLocks/>
              </p:cNvSpPr>
              <p:nvPr/>
            </p:nvSpPr>
            <p:spPr bwMode="auto">
              <a:xfrm>
                <a:off x="2726081" y="3203407"/>
                <a:ext cx="208179" cy="328087"/>
              </a:xfrm>
              <a:custGeom>
                <a:avLst/>
                <a:gdLst/>
                <a:ahLst/>
                <a:cxnLst>
                  <a:cxn ang="0">
                    <a:pos x="233" y="0"/>
                  </a:cxn>
                  <a:cxn ang="0">
                    <a:pos x="0" y="383"/>
                  </a:cxn>
                </a:cxnLst>
                <a:rect l="0" t="0" r="r" b="b"/>
                <a:pathLst>
                  <a:path w="233" h="383">
                    <a:moveTo>
                      <a:pt x="233" y="0"/>
                    </a:moveTo>
                    <a:lnTo>
                      <a:pt x="0" y="38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1" name="Line 44"/>
              <p:cNvSpPr>
                <a:spLocks noChangeShapeType="1"/>
              </p:cNvSpPr>
              <p:nvPr/>
            </p:nvSpPr>
            <p:spPr bwMode="auto">
              <a:xfrm>
                <a:off x="1433314" y="3761070"/>
                <a:ext cx="308248" cy="334084"/>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2" name="Freeform 43"/>
              <p:cNvSpPr>
                <a:spLocks/>
              </p:cNvSpPr>
              <p:nvPr/>
            </p:nvSpPr>
            <p:spPr bwMode="auto">
              <a:xfrm>
                <a:off x="3101339" y="3172569"/>
                <a:ext cx="234983" cy="365779"/>
              </a:xfrm>
              <a:custGeom>
                <a:avLst/>
                <a:gdLst/>
                <a:ahLst/>
                <a:cxnLst>
                  <a:cxn ang="0">
                    <a:pos x="0" y="0"/>
                  </a:cxn>
                  <a:cxn ang="0">
                    <a:pos x="263" y="427"/>
                  </a:cxn>
                </a:cxnLst>
                <a:rect l="0" t="0" r="r" b="b"/>
                <a:pathLst>
                  <a:path w="263" h="427">
                    <a:moveTo>
                      <a:pt x="0" y="0"/>
                    </a:moveTo>
                    <a:lnTo>
                      <a:pt x="263" y="42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3" name="Line 42"/>
              <p:cNvSpPr>
                <a:spLocks noChangeShapeType="1"/>
              </p:cNvSpPr>
              <p:nvPr/>
            </p:nvSpPr>
            <p:spPr bwMode="auto">
              <a:xfrm flipH="1">
                <a:off x="1360943" y="3138304"/>
                <a:ext cx="285911" cy="40689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4" name="Oval 40"/>
              <p:cNvSpPr>
                <a:spLocks noChangeArrowheads="1"/>
              </p:cNvSpPr>
              <p:nvPr/>
            </p:nvSpPr>
            <p:spPr bwMode="auto">
              <a:xfrm>
                <a:off x="2247736" y="242760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E</a:t>
                </a:r>
                <a:endPar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5" name="Oval 39"/>
              <p:cNvSpPr>
                <a:spLocks noChangeArrowheads="1"/>
              </p:cNvSpPr>
              <p:nvPr/>
            </p:nvSpPr>
            <p:spPr bwMode="auto">
              <a:xfrm>
                <a:off x="1550359" y="2915580"/>
                <a:ext cx="324000" cy="32400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16" name="Oval 38"/>
              <p:cNvSpPr>
                <a:spLocks noChangeArrowheads="1"/>
              </p:cNvSpPr>
              <p:nvPr/>
            </p:nvSpPr>
            <p:spPr bwMode="auto">
              <a:xfrm>
                <a:off x="2878865" y="2954128"/>
                <a:ext cx="324000" cy="32400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B</a:t>
                </a:r>
                <a:endPar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7" name="Oval 37"/>
              <p:cNvSpPr>
                <a:spLocks noChangeArrowheads="1"/>
              </p:cNvSpPr>
              <p:nvPr/>
            </p:nvSpPr>
            <p:spPr bwMode="auto">
              <a:xfrm>
                <a:off x="2586699" y="3532350"/>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p:txBody>
          </p:sp>
          <p:sp>
            <p:nvSpPr>
              <p:cNvPr id="18" name="Oval 36"/>
              <p:cNvSpPr>
                <a:spLocks noChangeArrowheads="1"/>
              </p:cNvSpPr>
              <p:nvPr/>
            </p:nvSpPr>
            <p:spPr bwMode="auto">
              <a:xfrm>
                <a:off x="3247868" y="3532350"/>
                <a:ext cx="324000" cy="324000"/>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D</a:t>
                </a:r>
                <a:endPar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9" name="Oval 35"/>
              <p:cNvSpPr>
                <a:spLocks noChangeArrowheads="1"/>
              </p:cNvSpPr>
              <p:nvPr/>
            </p:nvSpPr>
            <p:spPr bwMode="auto">
              <a:xfrm>
                <a:off x="1214414" y="3545199"/>
                <a:ext cx="324000" cy="324000"/>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p>
            </p:txBody>
          </p:sp>
          <p:sp>
            <p:nvSpPr>
              <p:cNvPr id="20" name="Oval 33"/>
              <p:cNvSpPr>
                <a:spLocks noChangeArrowheads="1"/>
              </p:cNvSpPr>
              <p:nvPr/>
            </p:nvSpPr>
            <p:spPr bwMode="auto">
              <a:xfrm>
                <a:off x="1632558" y="4066884"/>
                <a:ext cx="324000" cy="32400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B</a:t>
                </a:r>
                <a:endParaRPr kumimoji="0" lang="en-US" altLang="zh-CN" sz="1600" b="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cxnSp>
            <p:nvCxnSpPr>
              <p:cNvPr id="21" name="直接连接符 20"/>
              <p:cNvCxnSpPr>
                <a:endCxn id="15" idx="7"/>
              </p:cNvCxnSpPr>
              <p:nvPr/>
            </p:nvCxnSpPr>
            <p:spPr>
              <a:xfrm rot="10800000" flipV="1">
                <a:off x="1826910" y="2656277"/>
                <a:ext cx="439876" cy="30675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2" name="直接连接符 21"/>
              <p:cNvCxnSpPr>
                <a:endCxn id="16" idx="1"/>
              </p:cNvCxnSpPr>
              <p:nvPr/>
            </p:nvCxnSpPr>
            <p:spPr>
              <a:xfrm>
                <a:off x="2571736" y="2675329"/>
                <a:ext cx="354578" cy="326248"/>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23" name="TextBox 22"/>
            <p:cNvSpPr txBox="1"/>
            <p:nvPr/>
          </p:nvSpPr>
          <p:spPr>
            <a:xfrm>
              <a:off x="4052884" y="3438525"/>
              <a:ext cx="3929090" cy="369332"/>
            </a:xfrm>
            <a:prstGeom prst="rect">
              <a:avLst/>
            </a:prstGeom>
            <a:noFill/>
          </p:spPr>
          <p:txBody>
            <a:bodyPr wrap="square" rtlCol="0">
              <a:spAutoFit/>
            </a:bodyPr>
            <a:lstStyle/>
            <a:p>
              <a:pPr algn="l">
                <a:lnSpc>
                  <a:spcPct val="100000"/>
                </a:lnSpc>
                <a:spcBef>
                  <a:spcPts val="0"/>
                </a:spcBef>
              </a:pPr>
              <a:r>
                <a:rPr lang="zh-CN" altLang="en-US" sz="1800" smtClean="0">
                  <a:solidFill>
                    <a:srgbClr val="0000FF"/>
                  </a:solidFill>
                  <a:latin typeface="Consolas" pitchFamily="49" charset="0"/>
                  <a:ea typeface="仿宋" pitchFamily="49" charset="-122"/>
                  <a:cs typeface="Consolas" pitchFamily="49" charset="0"/>
                </a:rPr>
                <a:t>无法由先序序列和中序序列构造！</a:t>
              </a:r>
            </a:p>
          </p:txBody>
        </p:sp>
        <p:cxnSp>
          <p:nvCxnSpPr>
            <p:cNvPr id="27" name="直接箭头连接符 26"/>
            <p:cNvCxnSpPr/>
            <p:nvPr/>
          </p:nvCxnSpPr>
          <p:spPr>
            <a:xfrm rot="10800000" flipV="1">
              <a:off x="3571868" y="3633789"/>
              <a:ext cx="500066"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8" name="TextBox 27"/>
            <p:cNvSpPr txBox="1"/>
            <p:nvPr/>
          </p:nvSpPr>
          <p:spPr>
            <a:xfrm>
              <a:off x="3929058" y="4071942"/>
              <a:ext cx="2643206" cy="646331"/>
            </a:xfrm>
            <a:prstGeom prst="rect">
              <a:avLst/>
            </a:prstGeom>
            <a:noFill/>
          </p:spPr>
          <p:txBody>
            <a:bodyPr wrap="square" rtlCol="0">
              <a:spAutoFit/>
            </a:bodyPr>
            <a:lstStyle/>
            <a:p>
              <a:pPr algn="l">
                <a:lnSpc>
                  <a:spcPct val="100000"/>
                </a:lnSpc>
                <a:spcBef>
                  <a:spcPts val="0"/>
                </a:spcBef>
              </a:pPr>
              <a:r>
                <a:rPr lang="zh-CN" altLang="en-US" sz="1800" smtClean="0">
                  <a:solidFill>
                    <a:srgbClr val="0000FF"/>
                  </a:solidFill>
                  <a:latin typeface="Consolas" pitchFamily="49" charset="0"/>
                  <a:ea typeface="仿宋" pitchFamily="49" charset="-122"/>
                  <a:cs typeface="Consolas" pitchFamily="49" charset="0"/>
                </a:rPr>
                <a:t>先序序列：</a:t>
              </a:r>
              <a:r>
                <a:rPr lang="en-US" altLang="zh-CN" sz="1800" smtClean="0">
                  <a:solidFill>
                    <a:srgbClr val="0000FF"/>
                  </a:solidFill>
                  <a:latin typeface="Consolas" pitchFamily="49" charset="0"/>
                  <a:ea typeface="仿宋" pitchFamily="49" charset="-122"/>
                  <a:cs typeface="Consolas" pitchFamily="49" charset="0"/>
                </a:rPr>
                <a:t>EBDBBED</a:t>
              </a:r>
            </a:p>
            <a:p>
              <a:pPr algn="l">
                <a:lnSpc>
                  <a:spcPct val="100000"/>
                </a:lnSpc>
                <a:spcBef>
                  <a:spcPts val="0"/>
                </a:spcBef>
              </a:pPr>
              <a:r>
                <a:rPr lang="zh-CN" altLang="en-US" sz="1800" smtClean="0">
                  <a:solidFill>
                    <a:srgbClr val="0000FF"/>
                  </a:solidFill>
                  <a:latin typeface="Consolas" pitchFamily="49" charset="0"/>
                  <a:ea typeface="仿宋" pitchFamily="49" charset="-122"/>
                  <a:cs typeface="Consolas" pitchFamily="49" charset="0"/>
                </a:rPr>
                <a:t>中序序列：</a:t>
              </a:r>
              <a:r>
                <a:rPr lang="en-US" altLang="zh-CN" sz="1800" smtClean="0">
                  <a:solidFill>
                    <a:srgbClr val="0000FF"/>
                  </a:solidFill>
                  <a:latin typeface="Consolas" pitchFamily="49" charset="0"/>
                  <a:ea typeface="仿宋" pitchFamily="49" charset="-122"/>
                  <a:cs typeface="Consolas" pitchFamily="49" charset="0"/>
                </a:rPr>
                <a:t>DBBEEBD</a:t>
              </a:r>
              <a:endParaRPr lang="zh-CN" altLang="en-US" sz="1800" smtClean="0">
                <a:solidFill>
                  <a:srgbClr val="0000FF"/>
                </a:solidFill>
                <a:latin typeface="Consolas" pitchFamily="49" charset="0"/>
                <a:ea typeface="仿宋" pitchFamily="49" charset="-122"/>
                <a:cs typeface="Consolas" pitchFamily="49" charset="0"/>
              </a:endParaRPr>
            </a:p>
          </p:txBody>
        </p:sp>
      </p:grpSp>
      <p:sp>
        <p:nvSpPr>
          <p:cNvPr id="30" name="灯片编号占位符 29"/>
          <p:cNvSpPr>
            <a:spLocks noGrp="1"/>
          </p:cNvSpPr>
          <p:nvPr>
            <p:ph type="sldNum" sz="quarter" idx="12"/>
          </p:nvPr>
        </p:nvSpPr>
        <p:spPr/>
        <p:txBody>
          <a:bodyPr/>
          <a:lstStyle/>
          <a:p>
            <a:fld id="{67864EE2-EAB3-4814-A7EB-820BD7610F1E}" type="slidenum">
              <a:rPr lang="en-US" altLang="zh-CN" smtClean="0"/>
              <a:pPr/>
              <a:t>34</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571472" y="1571612"/>
            <a:ext cx="400052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7.6.1 </a:t>
            </a:r>
            <a:r>
              <a:rPr lang="zh-CN" altLang="zh-CN" smtClean="0">
                <a:latin typeface="Consolas" pitchFamily="49" charset="0"/>
                <a:ea typeface="微软雅黑" pitchFamily="34" charset="-122"/>
                <a:cs typeface="Consolas" pitchFamily="49" charset="0"/>
              </a:rPr>
              <a:t>线索二叉树的定义</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15" name="TextBox 14"/>
          <p:cNvSpPr txBox="1"/>
          <p:nvPr/>
        </p:nvSpPr>
        <p:spPr>
          <a:xfrm>
            <a:off x="2428860" y="428604"/>
            <a:ext cx="4214842"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7.6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线索二叉树</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6" name="Text Box 4"/>
          <p:cNvSpPr txBox="1">
            <a:spLocks noChangeArrowheads="1"/>
          </p:cNvSpPr>
          <p:nvPr/>
        </p:nvSpPr>
        <p:spPr bwMode="auto">
          <a:xfrm>
            <a:off x="785786" y="2500306"/>
            <a:ext cx="8001056" cy="2834210"/>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457200" indent="-457200" algn="l">
              <a:lnSpc>
                <a:spcPts val="28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对于</a:t>
            </a:r>
            <a:r>
              <a:rPr lang="en-US" altLang="zh-CN" sz="2000" i="1" smtClean="0">
                <a:solidFill>
                  <a:srgbClr val="0000FF"/>
                </a:solidFill>
                <a:latin typeface="Consolas" pitchFamily="49" charset="0"/>
                <a:ea typeface="仿宋" pitchFamily="49" charset="-122"/>
                <a:cs typeface="Consolas" pitchFamily="49" charset="0"/>
              </a:rPr>
              <a:t>n</a:t>
            </a:r>
            <a:r>
              <a:rPr lang="zh-CN" altLang="en-US" sz="2000" smtClean="0">
                <a:solidFill>
                  <a:srgbClr val="0000FF"/>
                </a:solidFill>
                <a:latin typeface="Consolas" pitchFamily="49" charset="0"/>
                <a:ea typeface="仿宋" pitchFamily="49" charset="-122"/>
                <a:cs typeface="Consolas" pitchFamily="49" charset="0"/>
              </a:rPr>
              <a:t>个结点的二叉树，在二叉链存储结构中有</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个空链域。</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利用这些空链域存放在某种遍历次序下该结点的前驱结点和后继结点的指针，这些指针称为</a:t>
            </a:r>
            <a:r>
              <a:rPr lang="zh-CN" altLang="en-US" sz="2000" smtClean="0">
                <a:solidFill>
                  <a:srgbClr val="FF0000"/>
                </a:solidFill>
                <a:latin typeface="Consolas" pitchFamily="49" charset="0"/>
                <a:ea typeface="仿宋" pitchFamily="49" charset="-122"/>
                <a:cs typeface="Consolas" pitchFamily="49" charset="0"/>
              </a:rPr>
              <a:t>线索</a:t>
            </a:r>
            <a:r>
              <a:rPr lang="zh-CN" altLang="en-US" sz="2000" smtClean="0">
                <a:solidFill>
                  <a:srgbClr val="0000FF"/>
                </a:solidFill>
                <a:latin typeface="Consolas" pitchFamily="49" charset="0"/>
                <a:ea typeface="仿宋" pitchFamily="49" charset="-122"/>
                <a:cs typeface="Consolas" pitchFamily="49" charset="0"/>
              </a:rPr>
              <a:t>，加上线索的二叉树称为</a:t>
            </a:r>
            <a:r>
              <a:rPr lang="zh-CN" altLang="en-US" sz="2000" smtClean="0">
                <a:solidFill>
                  <a:srgbClr val="FF0000"/>
                </a:solidFill>
                <a:latin typeface="Consolas" pitchFamily="49" charset="0"/>
                <a:ea typeface="仿宋" pitchFamily="49" charset="-122"/>
                <a:cs typeface="Consolas" pitchFamily="49" charset="0"/>
              </a:rPr>
              <a:t>线索二叉树</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线索二叉树分为先序、中序和后序线索二叉树。</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1200"/>
              </a:spcBef>
              <a:buBlip>
                <a:blip r:embed="rId2"/>
              </a:buBlip>
            </a:pPr>
            <a:r>
              <a:rPr lang="zh-CN" altLang="zh-CN" sz="2000" smtClean="0">
                <a:solidFill>
                  <a:srgbClr val="0000FF"/>
                </a:solidFill>
                <a:latin typeface="仿宋" pitchFamily="49" charset="-122"/>
                <a:ea typeface="仿宋" pitchFamily="49" charset="-122"/>
              </a:rPr>
              <a:t>对二叉树以某种方式遍历使其变为线索二叉树的过程称为</a:t>
            </a:r>
            <a:r>
              <a:rPr lang="zh-CN" altLang="zh-CN" sz="2000" smtClean="0">
                <a:solidFill>
                  <a:srgbClr val="FF0000"/>
                </a:solidFill>
                <a:latin typeface="仿宋" pitchFamily="49" charset="-122"/>
                <a:ea typeface="仿宋" pitchFamily="49" charset="-122"/>
              </a:rPr>
              <a:t>线索化</a:t>
            </a:r>
            <a:r>
              <a:rPr lang="zh-CN" altLang="zh-CN" sz="2000" smtClean="0">
                <a:solidFill>
                  <a:srgbClr val="0000FF"/>
                </a:solidFill>
                <a:latin typeface="仿宋" pitchFamily="49" charset="-122"/>
                <a:ea typeface="仿宋" pitchFamily="49" charset="-122"/>
              </a:rPr>
              <a:t>。</a:t>
            </a:r>
            <a:endParaRPr lang="zh-CN" altLang="en-US" sz="2000" dirty="0">
              <a:solidFill>
                <a:srgbClr val="0000FF"/>
              </a:solidFill>
              <a:latin typeface="仿宋" pitchFamily="49" charset="-122"/>
              <a:ea typeface="仿宋" pitchFamily="49" charset="-122"/>
              <a:cs typeface="Consolas"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35</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Box 2"/>
          <p:cNvSpPr txBox="1">
            <a:spLocks noChangeArrowheads="1"/>
          </p:cNvSpPr>
          <p:nvPr/>
        </p:nvSpPr>
        <p:spPr bwMode="auto">
          <a:xfrm>
            <a:off x="1928794" y="857232"/>
            <a:ext cx="2643206" cy="338554"/>
          </a:xfrm>
          <a:prstGeom prst="rect">
            <a:avLst/>
          </a:prstGeom>
          <a:noFill/>
          <a:ln w="9525">
            <a:noFill/>
            <a:miter lim="800000"/>
            <a:headEnd/>
            <a:tailEnd/>
          </a:ln>
        </p:spPr>
        <p:txBody>
          <a:bodyPr wrap="square">
            <a:spAutoFit/>
          </a:bodyPr>
          <a:lstStyle/>
          <a:p>
            <a:pPr algn="l">
              <a:spcBef>
                <a:spcPct val="50000"/>
              </a:spcBef>
            </a:pPr>
            <a:r>
              <a:rPr lang="zh-CN" altLang="en-US" sz="2000" smtClean="0">
                <a:solidFill>
                  <a:srgbClr val="0000FF"/>
                </a:solidFill>
                <a:latin typeface="Consolas" pitchFamily="49" charset="0"/>
                <a:ea typeface="仿宋" pitchFamily="49" charset="-122"/>
                <a:cs typeface="Consolas" pitchFamily="49" charset="0"/>
              </a:rPr>
              <a:t>图</a:t>
            </a:r>
            <a:r>
              <a:rPr lang="zh-CN" altLang="en-US" sz="2000" dirty="0">
                <a:solidFill>
                  <a:srgbClr val="0000FF"/>
                </a:solidFill>
                <a:latin typeface="Consolas" pitchFamily="49" charset="0"/>
                <a:ea typeface="仿宋" pitchFamily="49" charset="-122"/>
                <a:cs typeface="Consolas" pitchFamily="49" charset="0"/>
              </a:rPr>
              <a:t>中虚线为线索。 </a:t>
            </a:r>
          </a:p>
        </p:txBody>
      </p:sp>
      <p:grpSp>
        <p:nvGrpSpPr>
          <p:cNvPr id="2" name="组合 55"/>
          <p:cNvGrpSpPr/>
          <p:nvPr/>
        </p:nvGrpSpPr>
        <p:grpSpPr>
          <a:xfrm>
            <a:off x="785786" y="1559470"/>
            <a:ext cx="1928826" cy="2457072"/>
            <a:chOff x="785786" y="1559470"/>
            <a:chExt cx="1928826" cy="2457072"/>
          </a:xfrm>
        </p:grpSpPr>
        <p:sp>
          <p:nvSpPr>
            <p:cNvPr id="21" name="椭圆 20"/>
            <p:cNvSpPr/>
            <p:nvPr/>
          </p:nvSpPr>
          <p:spPr>
            <a:xfrm>
              <a:off x="1357290" y="1559470"/>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A</a:t>
              </a:r>
              <a:endParaRPr lang="zh-CN" altLang="en-US" sz="1800" b="0">
                <a:solidFill>
                  <a:srgbClr val="0000FF"/>
                </a:solidFill>
                <a:latin typeface="Consolas" pitchFamily="49" charset="0"/>
                <a:ea typeface="仿宋" pitchFamily="49" charset="-122"/>
                <a:cs typeface="Consolas" pitchFamily="49" charset="0"/>
              </a:endParaRPr>
            </a:p>
          </p:txBody>
        </p:sp>
        <p:sp>
          <p:nvSpPr>
            <p:cNvPr id="22" name="椭圆 21"/>
            <p:cNvSpPr/>
            <p:nvPr/>
          </p:nvSpPr>
          <p:spPr>
            <a:xfrm>
              <a:off x="785786" y="2416726"/>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B</a:t>
              </a:r>
              <a:endParaRPr lang="zh-CN" altLang="en-US" sz="1800" b="0">
                <a:solidFill>
                  <a:srgbClr val="0000FF"/>
                </a:solidFill>
                <a:latin typeface="Consolas" pitchFamily="49" charset="0"/>
                <a:ea typeface="仿宋" pitchFamily="49" charset="-122"/>
                <a:cs typeface="Consolas" pitchFamily="49" charset="0"/>
              </a:endParaRPr>
            </a:p>
          </p:txBody>
        </p:sp>
        <p:sp>
          <p:nvSpPr>
            <p:cNvPr id="23" name="椭圆 22"/>
            <p:cNvSpPr/>
            <p:nvPr/>
          </p:nvSpPr>
          <p:spPr>
            <a:xfrm>
              <a:off x="1142976" y="3131106"/>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D</a:t>
              </a:r>
              <a:endParaRPr lang="zh-CN" altLang="en-US" sz="1800" b="0">
                <a:solidFill>
                  <a:srgbClr val="0000FF"/>
                </a:solidFill>
                <a:latin typeface="Consolas" pitchFamily="49" charset="0"/>
                <a:ea typeface="仿宋" pitchFamily="49" charset="-122"/>
                <a:cs typeface="Consolas" pitchFamily="49" charset="0"/>
              </a:endParaRPr>
            </a:p>
          </p:txBody>
        </p:sp>
        <p:sp>
          <p:nvSpPr>
            <p:cNvPr id="24" name="椭圆 23"/>
            <p:cNvSpPr/>
            <p:nvPr/>
          </p:nvSpPr>
          <p:spPr>
            <a:xfrm>
              <a:off x="2000232" y="2416726"/>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C</a:t>
              </a:r>
              <a:endParaRPr lang="zh-CN" altLang="en-US" sz="1800" b="0">
                <a:solidFill>
                  <a:srgbClr val="0000FF"/>
                </a:solidFill>
                <a:latin typeface="Consolas" pitchFamily="49" charset="0"/>
                <a:ea typeface="仿宋" pitchFamily="49" charset="-122"/>
                <a:cs typeface="Consolas" pitchFamily="49" charset="0"/>
              </a:endParaRPr>
            </a:p>
          </p:txBody>
        </p:sp>
        <p:sp>
          <p:nvSpPr>
            <p:cNvPr id="25" name="椭圆 24"/>
            <p:cNvSpPr/>
            <p:nvPr/>
          </p:nvSpPr>
          <p:spPr>
            <a:xfrm>
              <a:off x="1643042" y="3131106"/>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E</a:t>
              </a:r>
              <a:endParaRPr lang="zh-CN" altLang="en-US" sz="1800" b="0">
                <a:solidFill>
                  <a:srgbClr val="0000FF"/>
                </a:solidFill>
                <a:latin typeface="Consolas" pitchFamily="49" charset="0"/>
                <a:ea typeface="仿宋" pitchFamily="49" charset="-122"/>
                <a:cs typeface="Consolas" pitchFamily="49" charset="0"/>
              </a:endParaRPr>
            </a:p>
          </p:txBody>
        </p:sp>
        <p:sp>
          <p:nvSpPr>
            <p:cNvPr id="26" name="椭圆 25"/>
            <p:cNvSpPr/>
            <p:nvPr/>
          </p:nvSpPr>
          <p:spPr>
            <a:xfrm>
              <a:off x="2357422" y="3131106"/>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F</a:t>
              </a:r>
              <a:endParaRPr lang="zh-CN" altLang="en-US" sz="1800" b="0">
                <a:solidFill>
                  <a:srgbClr val="0000FF"/>
                </a:solidFill>
                <a:latin typeface="Consolas" pitchFamily="49" charset="0"/>
                <a:ea typeface="仿宋" pitchFamily="49" charset="-122"/>
                <a:cs typeface="Consolas" pitchFamily="49" charset="0"/>
              </a:endParaRPr>
            </a:p>
          </p:txBody>
        </p:sp>
        <p:cxnSp>
          <p:nvCxnSpPr>
            <p:cNvPr id="27" name="直接连接符 26"/>
            <p:cNvCxnSpPr>
              <a:endCxn id="22" idx="0"/>
            </p:cNvCxnSpPr>
            <p:nvPr/>
          </p:nvCxnSpPr>
          <p:spPr>
            <a:xfrm rot="5400000">
              <a:off x="898429" y="1943654"/>
              <a:ext cx="539025" cy="407119"/>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8" name="直接连接符 27"/>
            <p:cNvCxnSpPr>
              <a:endCxn id="24" idx="0"/>
            </p:cNvCxnSpPr>
            <p:nvPr/>
          </p:nvCxnSpPr>
          <p:spPr>
            <a:xfrm rot="16200000" flipH="1">
              <a:off x="1670037" y="1907935"/>
              <a:ext cx="539025" cy="478555"/>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9" name="直接连接符 28"/>
            <p:cNvCxnSpPr>
              <a:stCxn id="22" idx="5"/>
              <a:endCxn id="23" idx="0"/>
            </p:cNvCxnSpPr>
            <p:nvPr/>
          </p:nvCxnSpPr>
          <p:spPr>
            <a:xfrm rot="16200000" flipH="1">
              <a:off x="1031858" y="2841392"/>
              <a:ext cx="348523" cy="23090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0" name="直接连接符 29"/>
            <p:cNvCxnSpPr>
              <a:stCxn id="24" idx="3"/>
              <a:endCxn id="25" idx="0"/>
            </p:cNvCxnSpPr>
            <p:nvPr/>
          </p:nvCxnSpPr>
          <p:spPr>
            <a:xfrm rot="5400000">
              <a:off x="1762828" y="2841392"/>
              <a:ext cx="348523" cy="23090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1" name="直接连接符 30"/>
            <p:cNvCxnSpPr>
              <a:stCxn id="24" idx="5"/>
              <a:endCxn id="26" idx="0"/>
            </p:cNvCxnSpPr>
            <p:nvPr/>
          </p:nvCxnSpPr>
          <p:spPr>
            <a:xfrm rot="16200000" flipH="1">
              <a:off x="2246304" y="2841392"/>
              <a:ext cx="348523" cy="23090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2" name="TextBox 31"/>
            <p:cNvSpPr txBox="1"/>
            <p:nvPr/>
          </p:nvSpPr>
          <p:spPr>
            <a:xfrm>
              <a:off x="1285852" y="3702610"/>
              <a:ext cx="1071570" cy="313932"/>
            </a:xfrm>
            <a:prstGeom prst="rect">
              <a:avLst/>
            </a:prstGeom>
            <a:noFill/>
          </p:spPr>
          <p:txBody>
            <a:bodyPr wrap="square" rtlCol="0">
              <a:spAutoFit/>
            </a:bodyPr>
            <a:lstStyle/>
            <a:p>
              <a:r>
                <a:rPr lang="zh-CN" altLang="en-US" sz="1800" smtClean="0">
                  <a:solidFill>
                    <a:srgbClr val="0000FF"/>
                  </a:solidFill>
                  <a:latin typeface="Consolas" pitchFamily="49" charset="0"/>
                  <a:ea typeface="仿宋" pitchFamily="49" charset="-122"/>
                  <a:cs typeface="Consolas" pitchFamily="49" charset="0"/>
                </a:rPr>
                <a:t>二叉树</a:t>
              </a:r>
              <a:endParaRPr lang="zh-CN" altLang="en-US" sz="1800">
                <a:solidFill>
                  <a:srgbClr val="0000FF"/>
                </a:solidFill>
                <a:latin typeface="Consolas" pitchFamily="49" charset="0"/>
                <a:ea typeface="仿宋" pitchFamily="49" charset="-122"/>
                <a:cs typeface="Consolas" pitchFamily="49" charset="0"/>
              </a:endParaRPr>
            </a:p>
          </p:txBody>
        </p:sp>
      </p:grpSp>
      <p:sp>
        <p:nvSpPr>
          <p:cNvPr id="44" name="TextBox 43"/>
          <p:cNvSpPr txBox="1"/>
          <p:nvPr/>
        </p:nvSpPr>
        <p:spPr>
          <a:xfrm>
            <a:off x="5715008" y="4429132"/>
            <a:ext cx="2500330" cy="338554"/>
          </a:xfrm>
          <a:prstGeom prst="rect">
            <a:avLst/>
          </a:prstGeom>
          <a:noFill/>
        </p:spPr>
        <p:txBody>
          <a:bodyPr wrap="square" rtlCol="0">
            <a:spAutoFit/>
          </a:bodyPr>
          <a:lstStyle/>
          <a:p>
            <a:r>
              <a:rPr lang="zh-CN" altLang="en-US" sz="2000" smtClean="0">
                <a:solidFill>
                  <a:srgbClr val="0000FF"/>
                </a:solidFill>
                <a:latin typeface="Consolas" pitchFamily="49" charset="0"/>
                <a:ea typeface="仿宋" pitchFamily="49" charset="-122"/>
                <a:cs typeface="Consolas" pitchFamily="49" charset="0"/>
              </a:rPr>
              <a:t>先序序列：</a:t>
            </a:r>
            <a:r>
              <a:rPr lang="en-US" altLang="zh-CN" sz="2000" smtClean="0">
                <a:solidFill>
                  <a:srgbClr val="0000FF"/>
                </a:solidFill>
                <a:latin typeface="Consolas" pitchFamily="49" charset="0"/>
                <a:ea typeface="仿宋" pitchFamily="49" charset="-122"/>
                <a:cs typeface="Consolas" pitchFamily="49" charset="0"/>
              </a:rPr>
              <a:t>ABDCEF</a:t>
            </a:r>
            <a:endParaRPr lang="zh-CN" altLang="en-US" sz="2000">
              <a:solidFill>
                <a:srgbClr val="0000FF"/>
              </a:solidFill>
              <a:latin typeface="Consolas" pitchFamily="49" charset="0"/>
              <a:ea typeface="仿宋" pitchFamily="49" charset="-122"/>
              <a:cs typeface="Consolas" pitchFamily="49" charset="0"/>
            </a:endParaRPr>
          </a:p>
        </p:txBody>
      </p:sp>
      <p:sp>
        <p:nvSpPr>
          <p:cNvPr id="52" name="右箭头 51"/>
          <p:cNvSpPr/>
          <p:nvPr/>
        </p:nvSpPr>
        <p:spPr>
          <a:xfrm>
            <a:off x="3000364" y="2571744"/>
            <a:ext cx="2071702" cy="214314"/>
          </a:xfrm>
          <a:prstGeom prst="rightArrow">
            <a:avLst/>
          </a:prstGeom>
          <a:ln>
            <a:tailEnd type="arrow"/>
          </a:ln>
        </p:spPr>
        <p:style>
          <a:lnRef idx="1">
            <a:schemeClr val="accent3"/>
          </a:lnRef>
          <a:fillRef idx="3">
            <a:schemeClr val="accent3"/>
          </a:fillRef>
          <a:effectRef idx="2">
            <a:schemeClr val="accent3"/>
          </a:effectRef>
          <a:fontRef idx="minor">
            <a:schemeClr val="lt1"/>
          </a:fontRef>
        </p:style>
        <p:txBody>
          <a:bodyPr rtlCol="0" anchor="ctr"/>
          <a:lstStyle/>
          <a:p>
            <a:pPr algn="l"/>
            <a:endParaRPr lang="zh-CN" altLang="en-US">
              <a:solidFill>
                <a:srgbClr val="0000FF"/>
              </a:solidFill>
              <a:latin typeface="Consolas" pitchFamily="49" charset="0"/>
              <a:ea typeface="仿宋" pitchFamily="49" charset="-122"/>
              <a:cs typeface="Consolas" pitchFamily="49" charset="0"/>
            </a:endParaRPr>
          </a:p>
        </p:txBody>
      </p:sp>
      <p:sp>
        <p:nvSpPr>
          <p:cNvPr id="53" name="TextBox 52"/>
          <p:cNvSpPr txBox="1"/>
          <p:nvPr/>
        </p:nvSpPr>
        <p:spPr>
          <a:xfrm>
            <a:off x="2928926" y="2028758"/>
            <a:ext cx="2000264" cy="338554"/>
          </a:xfrm>
          <a:prstGeom prst="rect">
            <a:avLst/>
          </a:prstGeom>
          <a:noFill/>
        </p:spPr>
        <p:txBody>
          <a:bodyPr wrap="square" rtlCol="0">
            <a:spAutoFit/>
          </a:bodyPr>
          <a:lstStyle/>
          <a:p>
            <a:pPr algn="l"/>
            <a:r>
              <a:rPr lang="zh-CN" altLang="en-US" sz="2000" smtClean="0">
                <a:solidFill>
                  <a:srgbClr val="0000FF"/>
                </a:solidFill>
                <a:latin typeface="Consolas" pitchFamily="49" charset="0"/>
                <a:ea typeface="仿宋" pitchFamily="49" charset="-122"/>
                <a:cs typeface="Consolas" pitchFamily="49" charset="0"/>
              </a:rPr>
              <a:t>先序线索二叉树</a:t>
            </a:r>
            <a:endParaRPr lang="zh-CN" altLang="en-US" sz="2000">
              <a:solidFill>
                <a:srgbClr val="0000FF"/>
              </a:solidFill>
              <a:latin typeface="Consolas" pitchFamily="49" charset="0"/>
              <a:ea typeface="仿宋" pitchFamily="49" charset="-122"/>
              <a:cs typeface="Consolas" pitchFamily="49" charset="0"/>
            </a:endParaRPr>
          </a:p>
        </p:txBody>
      </p:sp>
      <p:grpSp>
        <p:nvGrpSpPr>
          <p:cNvPr id="3" name="组合 54"/>
          <p:cNvGrpSpPr/>
          <p:nvPr/>
        </p:nvGrpSpPr>
        <p:grpSpPr>
          <a:xfrm>
            <a:off x="5610937" y="1428736"/>
            <a:ext cx="2429691" cy="2511440"/>
            <a:chOff x="5610937" y="1428736"/>
            <a:chExt cx="2429691" cy="2511440"/>
          </a:xfrm>
        </p:grpSpPr>
        <p:sp>
          <p:nvSpPr>
            <p:cNvPr id="33" name="椭圆 32"/>
            <p:cNvSpPr/>
            <p:nvPr/>
          </p:nvSpPr>
          <p:spPr>
            <a:xfrm>
              <a:off x="6429388" y="1428736"/>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A</a:t>
              </a:r>
              <a:endParaRPr lang="zh-CN" altLang="en-US" sz="1800" b="0">
                <a:solidFill>
                  <a:srgbClr val="0000FF"/>
                </a:solidFill>
                <a:latin typeface="Consolas" pitchFamily="49" charset="0"/>
                <a:ea typeface="仿宋" pitchFamily="49" charset="-122"/>
                <a:cs typeface="Consolas" pitchFamily="49" charset="0"/>
              </a:endParaRPr>
            </a:p>
          </p:txBody>
        </p:sp>
        <p:sp>
          <p:nvSpPr>
            <p:cNvPr id="34" name="椭圆 33"/>
            <p:cNvSpPr/>
            <p:nvPr/>
          </p:nvSpPr>
          <p:spPr>
            <a:xfrm>
              <a:off x="5786446" y="2285992"/>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B</a:t>
              </a:r>
              <a:endParaRPr lang="zh-CN" altLang="en-US" sz="1800" b="0">
                <a:solidFill>
                  <a:srgbClr val="0000FF"/>
                </a:solidFill>
                <a:latin typeface="Consolas" pitchFamily="49" charset="0"/>
                <a:ea typeface="仿宋" pitchFamily="49" charset="-122"/>
                <a:cs typeface="Consolas" pitchFamily="49" charset="0"/>
              </a:endParaRPr>
            </a:p>
          </p:txBody>
        </p:sp>
        <p:sp>
          <p:nvSpPr>
            <p:cNvPr id="35" name="椭圆 34"/>
            <p:cNvSpPr/>
            <p:nvPr/>
          </p:nvSpPr>
          <p:spPr>
            <a:xfrm>
              <a:off x="6143636" y="3000372"/>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D</a:t>
              </a:r>
              <a:endParaRPr lang="zh-CN" altLang="en-US" sz="1800" b="0">
                <a:solidFill>
                  <a:srgbClr val="0000FF"/>
                </a:solidFill>
                <a:latin typeface="Consolas" pitchFamily="49" charset="0"/>
                <a:ea typeface="仿宋" pitchFamily="49" charset="-122"/>
                <a:cs typeface="Consolas" pitchFamily="49" charset="0"/>
              </a:endParaRPr>
            </a:p>
          </p:txBody>
        </p:sp>
        <p:sp>
          <p:nvSpPr>
            <p:cNvPr id="36" name="椭圆 35"/>
            <p:cNvSpPr/>
            <p:nvPr/>
          </p:nvSpPr>
          <p:spPr>
            <a:xfrm>
              <a:off x="7143768" y="2285992"/>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C</a:t>
              </a:r>
              <a:endParaRPr lang="zh-CN" altLang="en-US" sz="1800" b="0">
                <a:solidFill>
                  <a:srgbClr val="0000FF"/>
                </a:solidFill>
                <a:latin typeface="Consolas" pitchFamily="49" charset="0"/>
                <a:ea typeface="仿宋" pitchFamily="49" charset="-122"/>
                <a:cs typeface="Consolas" pitchFamily="49" charset="0"/>
              </a:endParaRPr>
            </a:p>
          </p:txBody>
        </p:sp>
        <p:sp>
          <p:nvSpPr>
            <p:cNvPr id="37" name="椭圆 36"/>
            <p:cNvSpPr/>
            <p:nvPr/>
          </p:nvSpPr>
          <p:spPr>
            <a:xfrm>
              <a:off x="6786578" y="3000372"/>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E</a:t>
              </a:r>
              <a:endParaRPr lang="zh-CN" altLang="en-US" sz="1800" b="0">
                <a:solidFill>
                  <a:srgbClr val="0000FF"/>
                </a:solidFill>
                <a:latin typeface="Consolas" pitchFamily="49" charset="0"/>
                <a:ea typeface="仿宋" pitchFamily="49" charset="-122"/>
                <a:cs typeface="Consolas" pitchFamily="49" charset="0"/>
              </a:endParaRPr>
            </a:p>
          </p:txBody>
        </p:sp>
        <p:sp>
          <p:nvSpPr>
            <p:cNvPr id="38" name="椭圆 37"/>
            <p:cNvSpPr/>
            <p:nvPr/>
          </p:nvSpPr>
          <p:spPr>
            <a:xfrm>
              <a:off x="7500958" y="3000372"/>
              <a:ext cx="357190" cy="428628"/>
            </a:xfrm>
            <a:prstGeom prst="ellipse">
              <a:avLst/>
            </a:prstGeom>
            <a:solidFill>
              <a:schemeClr val="accent4">
                <a:lumMod val="20000"/>
                <a:lumOff val="80000"/>
              </a:schemeClr>
            </a:solidFill>
          </p:spPr>
          <p:style>
            <a:lnRef idx="1">
              <a:schemeClr val="dk1"/>
            </a:lnRef>
            <a:fillRef idx="2">
              <a:schemeClr val="dk1"/>
            </a:fillRef>
            <a:effectRef idx="1">
              <a:schemeClr val="dk1"/>
            </a:effectRef>
            <a:fontRef idx="minor">
              <a:schemeClr val="dk1"/>
            </a:fontRef>
          </p:style>
          <p:txBody>
            <a:bodyPr rtlCol="0" anchor="ctr"/>
            <a:lstStyle/>
            <a:p>
              <a:r>
                <a:rPr lang="en-US" altLang="zh-CN" sz="1800" b="0" smtClean="0">
                  <a:solidFill>
                    <a:srgbClr val="0000FF"/>
                  </a:solidFill>
                  <a:latin typeface="Consolas" pitchFamily="49" charset="0"/>
                  <a:ea typeface="仿宋" pitchFamily="49" charset="-122"/>
                  <a:cs typeface="Consolas" pitchFamily="49" charset="0"/>
                </a:rPr>
                <a:t>F</a:t>
              </a:r>
              <a:endParaRPr lang="zh-CN" altLang="en-US" sz="1800" b="0">
                <a:solidFill>
                  <a:srgbClr val="0000FF"/>
                </a:solidFill>
                <a:latin typeface="Consolas" pitchFamily="49" charset="0"/>
                <a:ea typeface="仿宋" pitchFamily="49" charset="-122"/>
                <a:cs typeface="Consolas" pitchFamily="49" charset="0"/>
              </a:endParaRPr>
            </a:p>
          </p:txBody>
        </p:sp>
        <p:cxnSp>
          <p:nvCxnSpPr>
            <p:cNvPr id="39" name="直接连接符 38"/>
            <p:cNvCxnSpPr>
              <a:endCxn id="34" idx="0"/>
            </p:cNvCxnSpPr>
            <p:nvPr/>
          </p:nvCxnSpPr>
          <p:spPr>
            <a:xfrm rot="5400000">
              <a:off x="5920520" y="1772438"/>
              <a:ext cx="558075" cy="46903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0" name="直接连接符 39"/>
            <p:cNvCxnSpPr>
              <a:endCxn id="36" idx="0"/>
            </p:cNvCxnSpPr>
            <p:nvPr/>
          </p:nvCxnSpPr>
          <p:spPr>
            <a:xfrm rot="16200000" flipH="1">
              <a:off x="6768329" y="1731957"/>
              <a:ext cx="558075" cy="549993"/>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1" name="直接连接符 40"/>
            <p:cNvCxnSpPr>
              <a:stCxn id="34" idx="5"/>
              <a:endCxn id="35" idx="0"/>
            </p:cNvCxnSpPr>
            <p:nvPr/>
          </p:nvCxnSpPr>
          <p:spPr>
            <a:xfrm rot="16200000" flipH="1">
              <a:off x="6032518" y="2710658"/>
              <a:ext cx="348523" cy="23090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2" name="直接连接符 41"/>
            <p:cNvCxnSpPr>
              <a:stCxn id="36" idx="3"/>
              <a:endCxn id="37" idx="0"/>
            </p:cNvCxnSpPr>
            <p:nvPr/>
          </p:nvCxnSpPr>
          <p:spPr>
            <a:xfrm rot="5400000">
              <a:off x="6906364" y="2710658"/>
              <a:ext cx="348523" cy="23090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3" name="直接连接符 42"/>
            <p:cNvCxnSpPr>
              <a:stCxn id="36" idx="5"/>
              <a:endCxn id="38" idx="0"/>
            </p:cNvCxnSpPr>
            <p:nvPr/>
          </p:nvCxnSpPr>
          <p:spPr>
            <a:xfrm rot="16200000" flipH="1">
              <a:off x="7389840" y="2710658"/>
              <a:ext cx="348523" cy="23090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5" name="任意多边形 44"/>
            <p:cNvSpPr/>
            <p:nvPr/>
          </p:nvSpPr>
          <p:spPr>
            <a:xfrm>
              <a:off x="5610937" y="1693671"/>
              <a:ext cx="783771" cy="1090748"/>
            </a:xfrm>
            <a:custGeom>
              <a:avLst/>
              <a:gdLst>
                <a:gd name="connsiteX0" fmla="*/ 209006 w 783771"/>
                <a:gd name="connsiteY0" fmla="*/ 986245 h 1090748"/>
                <a:gd name="connsiteX1" fmla="*/ 65314 w 783771"/>
                <a:gd name="connsiteY1" fmla="*/ 1025434 h 1090748"/>
                <a:gd name="connsiteX2" fmla="*/ 78377 w 783771"/>
                <a:gd name="connsiteY2" fmla="*/ 594360 h 1090748"/>
                <a:gd name="connsiteX3" fmla="*/ 535577 w 783771"/>
                <a:gd name="connsiteY3" fmla="*/ 97971 h 1090748"/>
                <a:gd name="connsiteX4" fmla="*/ 783771 w 783771"/>
                <a:gd name="connsiteY4" fmla="*/ 6531 h 1090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3771" h="1090748">
                  <a:moveTo>
                    <a:pt x="209006" y="986245"/>
                  </a:moveTo>
                  <a:cubicBezTo>
                    <a:pt x="148046" y="1038496"/>
                    <a:pt x="87086" y="1090748"/>
                    <a:pt x="65314" y="1025434"/>
                  </a:cubicBezTo>
                  <a:cubicBezTo>
                    <a:pt x="43543" y="960120"/>
                    <a:pt x="0" y="748937"/>
                    <a:pt x="78377" y="594360"/>
                  </a:cubicBezTo>
                  <a:cubicBezTo>
                    <a:pt x="156754" y="439783"/>
                    <a:pt x="418011" y="195942"/>
                    <a:pt x="535577" y="97971"/>
                  </a:cubicBezTo>
                  <a:cubicBezTo>
                    <a:pt x="653143" y="0"/>
                    <a:pt x="718457" y="3265"/>
                    <a:pt x="783771" y="6531"/>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endParaRPr lang="zh-CN" altLang="en-US" b="0">
                <a:solidFill>
                  <a:srgbClr val="0000FF"/>
                </a:solidFill>
                <a:latin typeface="Consolas" pitchFamily="49" charset="0"/>
                <a:ea typeface="仿宋" pitchFamily="49" charset="-122"/>
                <a:cs typeface="Consolas" pitchFamily="49" charset="0"/>
              </a:endParaRPr>
            </a:p>
          </p:txBody>
        </p:sp>
        <p:sp>
          <p:nvSpPr>
            <p:cNvPr id="46" name="任意多边形 45"/>
            <p:cNvSpPr/>
            <p:nvPr/>
          </p:nvSpPr>
          <p:spPr>
            <a:xfrm>
              <a:off x="5928800" y="2745231"/>
              <a:ext cx="296091" cy="929640"/>
            </a:xfrm>
            <a:custGeom>
              <a:avLst/>
              <a:gdLst>
                <a:gd name="connsiteX0" fmla="*/ 296091 w 296091"/>
                <a:gd name="connsiteY0" fmla="*/ 640080 h 929640"/>
                <a:gd name="connsiteX1" fmla="*/ 47897 w 296091"/>
                <a:gd name="connsiteY1" fmla="*/ 822960 h 929640"/>
                <a:gd name="connsiteX2" fmla="*/ 8708 w 296091"/>
                <a:gd name="connsiteY2" fmla="*/ 0 h 929640"/>
              </a:gdLst>
              <a:ahLst/>
              <a:cxnLst>
                <a:cxn ang="0">
                  <a:pos x="connsiteX0" y="connsiteY0"/>
                </a:cxn>
                <a:cxn ang="0">
                  <a:pos x="connsiteX1" y="connsiteY1"/>
                </a:cxn>
                <a:cxn ang="0">
                  <a:pos x="connsiteX2" y="connsiteY2"/>
                </a:cxn>
              </a:cxnLst>
              <a:rect l="l" t="t" r="r" b="b"/>
              <a:pathLst>
                <a:path w="296091" h="929640">
                  <a:moveTo>
                    <a:pt x="296091" y="640080"/>
                  </a:moveTo>
                  <a:cubicBezTo>
                    <a:pt x="195942" y="784860"/>
                    <a:pt x="95794" y="929640"/>
                    <a:pt x="47897" y="822960"/>
                  </a:cubicBezTo>
                  <a:cubicBezTo>
                    <a:pt x="0" y="716280"/>
                    <a:pt x="4354" y="358140"/>
                    <a:pt x="8708" y="0"/>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endParaRPr lang="zh-CN" altLang="en-US" b="0">
                <a:solidFill>
                  <a:srgbClr val="0000FF"/>
                </a:solidFill>
                <a:latin typeface="Consolas" pitchFamily="49" charset="0"/>
                <a:ea typeface="仿宋" pitchFamily="49" charset="-122"/>
                <a:cs typeface="Consolas" pitchFamily="49" charset="0"/>
              </a:endParaRPr>
            </a:p>
          </p:txBody>
        </p:sp>
        <p:sp>
          <p:nvSpPr>
            <p:cNvPr id="47" name="任意多边形 46"/>
            <p:cNvSpPr/>
            <p:nvPr/>
          </p:nvSpPr>
          <p:spPr>
            <a:xfrm>
              <a:off x="6368583" y="2409950"/>
              <a:ext cx="775185" cy="1243150"/>
            </a:xfrm>
            <a:custGeom>
              <a:avLst/>
              <a:gdLst>
                <a:gd name="connsiteX0" fmla="*/ 0 w 757645"/>
                <a:gd name="connsiteY0" fmla="*/ 1014549 h 1243150"/>
                <a:gd name="connsiteX1" fmla="*/ 117565 w 757645"/>
                <a:gd name="connsiteY1" fmla="*/ 1158241 h 1243150"/>
                <a:gd name="connsiteX2" fmla="*/ 274320 w 757645"/>
                <a:gd name="connsiteY2" fmla="*/ 505098 h 1243150"/>
                <a:gd name="connsiteX3" fmla="*/ 444137 w 757645"/>
                <a:gd name="connsiteY3" fmla="*/ 74023 h 1243150"/>
                <a:gd name="connsiteX4" fmla="*/ 757645 w 757645"/>
                <a:gd name="connsiteY4" fmla="*/ 60961 h 1243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645" h="1243150">
                  <a:moveTo>
                    <a:pt x="0" y="1014549"/>
                  </a:moveTo>
                  <a:cubicBezTo>
                    <a:pt x="35922" y="1128849"/>
                    <a:pt x="71845" y="1243150"/>
                    <a:pt x="117565" y="1158241"/>
                  </a:cubicBezTo>
                  <a:cubicBezTo>
                    <a:pt x="163285" y="1073333"/>
                    <a:pt x="219891" y="685801"/>
                    <a:pt x="274320" y="505098"/>
                  </a:cubicBezTo>
                  <a:cubicBezTo>
                    <a:pt x="328749" y="324395"/>
                    <a:pt x="363583" y="148046"/>
                    <a:pt x="444137" y="74023"/>
                  </a:cubicBezTo>
                  <a:cubicBezTo>
                    <a:pt x="524691" y="0"/>
                    <a:pt x="641168" y="30480"/>
                    <a:pt x="757645" y="60961"/>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endParaRPr lang="zh-CN" altLang="en-US" b="0">
                <a:solidFill>
                  <a:srgbClr val="0000FF"/>
                </a:solidFill>
                <a:latin typeface="Consolas" pitchFamily="49" charset="0"/>
                <a:ea typeface="仿宋" pitchFamily="49" charset="-122"/>
                <a:cs typeface="Consolas" pitchFamily="49" charset="0"/>
              </a:endParaRPr>
            </a:p>
          </p:txBody>
        </p:sp>
        <p:sp>
          <p:nvSpPr>
            <p:cNvPr id="48" name="任意多边形 47"/>
            <p:cNvSpPr/>
            <p:nvPr/>
          </p:nvSpPr>
          <p:spPr>
            <a:xfrm>
              <a:off x="6649434" y="2562351"/>
              <a:ext cx="515983" cy="1034143"/>
            </a:xfrm>
            <a:custGeom>
              <a:avLst/>
              <a:gdLst>
                <a:gd name="connsiteX0" fmla="*/ 202474 w 515983"/>
                <a:gd name="connsiteY0" fmla="*/ 849085 h 1034143"/>
                <a:gd name="connsiteX1" fmla="*/ 71846 w 515983"/>
                <a:gd name="connsiteY1" fmla="*/ 1005840 h 1034143"/>
                <a:gd name="connsiteX2" fmla="*/ 19594 w 515983"/>
                <a:gd name="connsiteY2" fmla="*/ 679268 h 1034143"/>
                <a:gd name="connsiteX3" fmla="*/ 189411 w 515983"/>
                <a:gd name="connsiteY3" fmla="*/ 300445 h 1034143"/>
                <a:gd name="connsiteX4" fmla="*/ 515983 w 515983"/>
                <a:gd name="connsiteY4" fmla="*/ 0 h 1034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983" h="1034143">
                  <a:moveTo>
                    <a:pt x="202474" y="849085"/>
                  </a:moveTo>
                  <a:cubicBezTo>
                    <a:pt x="152400" y="941614"/>
                    <a:pt x="102326" y="1034143"/>
                    <a:pt x="71846" y="1005840"/>
                  </a:cubicBezTo>
                  <a:cubicBezTo>
                    <a:pt x="41366" y="977537"/>
                    <a:pt x="0" y="796834"/>
                    <a:pt x="19594" y="679268"/>
                  </a:cubicBezTo>
                  <a:cubicBezTo>
                    <a:pt x="39188" y="561702"/>
                    <a:pt x="106680" y="413656"/>
                    <a:pt x="189411" y="300445"/>
                  </a:cubicBezTo>
                  <a:cubicBezTo>
                    <a:pt x="272142" y="187234"/>
                    <a:pt x="394062" y="93617"/>
                    <a:pt x="515983" y="0"/>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endParaRPr lang="zh-CN" altLang="en-US" b="0">
                <a:solidFill>
                  <a:srgbClr val="0000FF"/>
                </a:solidFill>
                <a:latin typeface="Consolas" pitchFamily="49" charset="0"/>
                <a:ea typeface="仿宋" pitchFamily="49" charset="-122"/>
                <a:cs typeface="Consolas" pitchFamily="49" charset="0"/>
              </a:endParaRPr>
            </a:p>
          </p:txBody>
        </p:sp>
        <p:sp>
          <p:nvSpPr>
            <p:cNvPr id="49" name="任意多边形 48"/>
            <p:cNvSpPr/>
            <p:nvPr/>
          </p:nvSpPr>
          <p:spPr>
            <a:xfrm>
              <a:off x="7047851" y="3064183"/>
              <a:ext cx="509452" cy="449580"/>
            </a:xfrm>
            <a:custGeom>
              <a:avLst/>
              <a:gdLst>
                <a:gd name="connsiteX0" fmla="*/ 0 w 509452"/>
                <a:gd name="connsiteY0" fmla="*/ 367937 h 572589"/>
                <a:gd name="connsiteX1" fmla="*/ 91440 w 509452"/>
                <a:gd name="connsiteY1" fmla="*/ 524692 h 572589"/>
                <a:gd name="connsiteX2" fmla="*/ 300446 w 509452"/>
                <a:gd name="connsiteY2" fmla="*/ 80554 h 572589"/>
                <a:gd name="connsiteX3" fmla="*/ 509452 w 509452"/>
                <a:gd name="connsiteY3" fmla="*/ 41366 h 572589"/>
                <a:gd name="connsiteX0" fmla="*/ 0 w 509452"/>
                <a:gd name="connsiteY0" fmla="*/ 347254 h 449580"/>
                <a:gd name="connsiteX1" fmla="*/ 238793 w 509452"/>
                <a:gd name="connsiteY1" fmla="*/ 364818 h 449580"/>
                <a:gd name="connsiteX2" fmla="*/ 300446 w 509452"/>
                <a:gd name="connsiteY2" fmla="*/ 59871 h 449580"/>
                <a:gd name="connsiteX3" fmla="*/ 509452 w 509452"/>
                <a:gd name="connsiteY3" fmla="*/ 20683 h 449580"/>
              </a:gdLst>
              <a:ahLst/>
              <a:cxnLst>
                <a:cxn ang="0">
                  <a:pos x="connsiteX0" y="connsiteY0"/>
                </a:cxn>
                <a:cxn ang="0">
                  <a:pos x="connsiteX1" y="connsiteY1"/>
                </a:cxn>
                <a:cxn ang="0">
                  <a:pos x="connsiteX2" y="connsiteY2"/>
                </a:cxn>
                <a:cxn ang="0">
                  <a:pos x="connsiteX3" y="connsiteY3"/>
                </a:cxn>
              </a:cxnLst>
              <a:rect l="l" t="t" r="r" b="b"/>
              <a:pathLst>
                <a:path w="509452" h="449580">
                  <a:moveTo>
                    <a:pt x="0" y="347254"/>
                  </a:moveTo>
                  <a:cubicBezTo>
                    <a:pt x="20683" y="449580"/>
                    <a:pt x="188719" y="412715"/>
                    <a:pt x="238793" y="364818"/>
                  </a:cubicBezTo>
                  <a:cubicBezTo>
                    <a:pt x="288867" y="316921"/>
                    <a:pt x="255336" y="117227"/>
                    <a:pt x="300446" y="59871"/>
                  </a:cubicBezTo>
                  <a:cubicBezTo>
                    <a:pt x="345556" y="2515"/>
                    <a:pt x="439783" y="0"/>
                    <a:pt x="509452" y="20683"/>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endParaRPr lang="zh-CN" altLang="en-US" b="0">
                <a:solidFill>
                  <a:srgbClr val="0000FF"/>
                </a:solidFill>
                <a:latin typeface="Consolas" pitchFamily="49" charset="0"/>
                <a:ea typeface="仿宋" pitchFamily="49" charset="-122"/>
                <a:cs typeface="Consolas" pitchFamily="49" charset="0"/>
              </a:endParaRPr>
            </a:p>
          </p:txBody>
        </p:sp>
        <p:sp>
          <p:nvSpPr>
            <p:cNvPr id="51" name="任意多边形 50"/>
            <p:cNvSpPr/>
            <p:nvPr/>
          </p:nvSpPr>
          <p:spPr>
            <a:xfrm>
              <a:off x="7753245" y="3319996"/>
              <a:ext cx="287383" cy="276497"/>
            </a:xfrm>
            <a:custGeom>
              <a:avLst/>
              <a:gdLst>
                <a:gd name="connsiteX0" fmla="*/ 0 w 287383"/>
                <a:gd name="connsiteY0" fmla="*/ 91440 h 276497"/>
                <a:gd name="connsiteX1" fmla="*/ 130629 w 287383"/>
                <a:gd name="connsiteY1" fmla="*/ 261257 h 276497"/>
                <a:gd name="connsiteX2" fmla="*/ 287383 w 287383"/>
                <a:gd name="connsiteY2" fmla="*/ 0 h 276497"/>
              </a:gdLst>
              <a:ahLst/>
              <a:cxnLst>
                <a:cxn ang="0">
                  <a:pos x="connsiteX0" y="connsiteY0"/>
                </a:cxn>
                <a:cxn ang="0">
                  <a:pos x="connsiteX1" y="connsiteY1"/>
                </a:cxn>
                <a:cxn ang="0">
                  <a:pos x="connsiteX2" y="connsiteY2"/>
                </a:cxn>
              </a:cxnLst>
              <a:rect l="l" t="t" r="r" b="b"/>
              <a:pathLst>
                <a:path w="287383" h="276497">
                  <a:moveTo>
                    <a:pt x="0" y="91440"/>
                  </a:moveTo>
                  <a:cubicBezTo>
                    <a:pt x="41366" y="183968"/>
                    <a:pt x="82732" y="276497"/>
                    <a:pt x="130629" y="261257"/>
                  </a:cubicBezTo>
                  <a:cubicBezTo>
                    <a:pt x="178526" y="246017"/>
                    <a:pt x="232954" y="123008"/>
                    <a:pt x="287383" y="0"/>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endParaRPr lang="zh-CN" altLang="en-US" b="0">
                <a:solidFill>
                  <a:srgbClr val="0000FF"/>
                </a:solidFill>
                <a:latin typeface="Consolas" pitchFamily="49" charset="0"/>
                <a:ea typeface="仿宋" pitchFamily="49" charset="-122"/>
                <a:cs typeface="Consolas" pitchFamily="49" charset="0"/>
              </a:endParaRPr>
            </a:p>
          </p:txBody>
        </p:sp>
        <p:sp>
          <p:nvSpPr>
            <p:cNvPr id="54" name="任意多边形 53"/>
            <p:cNvSpPr/>
            <p:nvPr/>
          </p:nvSpPr>
          <p:spPr>
            <a:xfrm>
              <a:off x="6962775" y="3448050"/>
              <a:ext cx="685800" cy="492126"/>
            </a:xfrm>
            <a:custGeom>
              <a:avLst/>
              <a:gdLst>
                <a:gd name="connsiteX0" fmla="*/ 685800 w 685800"/>
                <a:gd name="connsiteY0" fmla="*/ 0 h 576262"/>
                <a:gd name="connsiteX1" fmla="*/ 666750 w 685800"/>
                <a:gd name="connsiteY1" fmla="*/ 152400 h 576262"/>
                <a:gd name="connsiteX2" fmla="*/ 571500 w 685800"/>
                <a:gd name="connsiteY2" fmla="*/ 371475 h 576262"/>
                <a:gd name="connsiteX3" fmla="*/ 381000 w 685800"/>
                <a:gd name="connsiteY3" fmla="*/ 485775 h 576262"/>
                <a:gd name="connsiteX4" fmla="*/ 200025 w 685800"/>
                <a:gd name="connsiteY4" fmla="*/ 495300 h 576262"/>
                <a:gd name="connsiteX5" fmla="*/ 0 w 685800"/>
                <a:gd name="connsiteY5" fmla="*/ 0 h 576262"/>
                <a:gd name="connsiteX0" fmla="*/ 685800 w 685800"/>
                <a:gd name="connsiteY0" fmla="*/ 0 h 492125"/>
                <a:gd name="connsiteX1" fmla="*/ 666750 w 685800"/>
                <a:gd name="connsiteY1" fmla="*/ 152400 h 492125"/>
                <a:gd name="connsiteX2" fmla="*/ 571500 w 685800"/>
                <a:gd name="connsiteY2" fmla="*/ 371475 h 492125"/>
                <a:gd name="connsiteX3" fmla="*/ 381000 w 685800"/>
                <a:gd name="connsiteY3" fmla="*/ 485775 h 492125"/>
                <a:gd name="connsiteX4" fmla="*/ 252431 w 685800"/>
                <a:gd name="connsiteY4" fmla="*/ 409578 h 492125"/>
                <a:gd name="connsiteX5" fmla="*/ 0 w 685800"/>
                <a:gd name="connsiteY5" fmla="*/ 0 h 492125"/>
                <a:gd name="connsiteX0" fmla="*/ 685800 w 685800"/>
                <a:gd name="connsiteY0" fmla="*/ 0 h 492126"/>
                <a:gd name="connsiteX1" fmla="*/ 666750 w 685800"/>
                <a:gd name="connsiteY1" fmla="*/ 152400 h 492126"/>
                <a:gd name="connsiteX2" fmla="*/ 571500 w 685800"/>
                <a:gd name="connsiteY2" fmla="*/ 371475 h 492126"/>
                <a:gd name="connsiteX3" fmla="*/ 381000 w 685800"/>
                <a:gd name="connsiteY3" fmla="*/ 485775 h 492126"/>
                <a:gd name="connsiteX4" fmla="*/ 109555 w 685800"/>
                <a:gd name="connsiteY4" fmla="*/ 409579 h 492126"/>
                <a:gd name="connsiteX5" fmla="*/ 0 w 685800"/>
                <a:gd name="connsiteY5" fmla="*/ 0 h 492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 h="492126">
                  <a:moveTo>
                    <a:pt x="685800" y="0"/>
                  </a:moveTo>
                  <a:cubicBezTo>
                    <a:pt x="685800" y="45243"/>
                    <a:pt x="685800" y="90487"/>
                    <a:pt x="666750" y="152400"/>
                  </a:cubicBezTo>
                  <a:cubicBezTo>
                    <a:pt x="647700" y="214313"/>
                    <a:pt x="619125" y="315913"/>
                    <a:pt x="571500" y="371475"/>
                  </a:cubicBezTo>
                  <a:cubicBezTo>
                    <a:pt x="523875" y="427037"/>
                    <a:pt x="457991" y="479424"/>
                    <a:pt x="381000" y="485775"/>
                  </a:cubicBezTo>
                  <a:cubicBezTo>
                    <a:pt x="304009" y="492126"/>
                    <a:pt x="173055" y="490541"/>
                    <a:pt x="109555" y="409579"/>
                  </a:cubicBezTo>
                  <a:cubicBezTo>
                    <a:pt x="46055" y="328617"/>
                    <a:pt x="68262" y="207169"/>
                    <a:pt x="0" y="0"/>
                  </a:cubicBezTo>
                </a:path>
              </a:pathLst>
            </a:cu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b="0"/>
            </a:p>
          </p:txBody>
        </p:sp>
      </p:grpSp>
      <p:sp>
        <p:nvSpPr>
          <p:cNvPr id="55" name="灯片编号占位符 54"/>
          <p:cNvSpPr>
            <a:spLocks noGrp="1"/>
          </p:cNvSpPr>
          <p:nvPr>
            <p:ph type="sldNum" sz="quarter" idx="12"/>
          </p:nvPr>
        </p:nvSpPr>
        <p:spPr/>
        <p:txBody>
          <a:bodyPr/>
          <a:lstStyle/>
          <a:p>
            <a:fld id="{67864EE2-EAB3-4814-A7EB-820BD7610F1E}" type="slidenum">
              <a:rPr lang="en-US" altLang="zh-CN" smtClean="0"/>
              <a:pPr/>
              <a:t>36</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857224" y="785794"/>
            <a:ext cx="5572163" cy="338554"/>
          </a:xfrm>
          <a:prstGeom prst="rect">
            <a:avLst/>
          </a:prstGeom>
          <a:noFill/>
          <a:ln w="9525">
            <a:noFill/>
            <a:miter lim="800000"/>
            <a:headEnd/>
            <a:tailEnd/>
          </a:ln>
        </p:spPr>
        <p:txBody>
          <a:bodyPr wrap="square">
            <a:spAutoFit/>
          </a:bodyPr>
          <a:lstStyle/>
          <a:p>
            <a:pPr algn="l">
              <a:spcBef>
                <a:spcPct val="50000"/>
              </a:spcBef>
            </a:pPr>
            <a:r>
              <a:rPr lang="zh-CN" altLang="en-US" sz="2000" dirty="0">
                <a:solidFill>
                  <a:srgbClr val="0000FF"/>
                </a:solidFill>
                <a:latin typeface="Consolas" pitchFamily="49" charset="0"/>
                <a:ea typeface="仿宋" pitchFamily="49" charset="-122"/>
                <a:cs typeface="Consolas" pitchFamily="49" charset="0"/>
              </a:rPr>
              <a:t>在原二叉链中增加了</a:t>
            </a:r>
            <a:r>
              <a:rPr lang="en-US" altLang="zh-CN" sz="2000" dirty="0" err="1">
                <a:solidFill>
                  <a:srgbClr val="0000FF"/>
                </a:solidFill>
                <a:latin typeface="Consolas" pitchFamily="49" charset="0"/>
                <a:ea typeface="仿宋" pitchFamily="49" charset="-122"/>
                <a:cs typeface="Consolas" pitchFamily="49" charset="0"/>
              </a:rPr>
              <a:t>ltag</a:t>
            </a:r>
            <a:r>
              <a:rPr lang="zh-CN" altLang="en-US" sz="2000" dirty="0">
                <a:solidFill>
                  <a:srgbClr val="0000FF"/>
                </a:solidFill>
                <a:latin typeface="Consolas" pitchFamily="49" charset="0"/>
                <a:ea typeface="仿宋" pitchFamily="49" charset="-122"/>
                <a:cs typeface="Consolas" pitchFamily="49" charset="0"/>
              </a:rPr>
              <a:t>和</a:t>
            </a:r>
            <a:r>
              <a:rPr lang="en-US" altLang="zh-CN" sz="2000" dirty="0" err="1">
                <a:solidFill>
                  <a:srgbClr val="0000FF"/>
                </a:solidFill>
                <a:latin typeface="Consolas" pitchFamily="49" charset="0"/>
                <a:ea typeface="仿宋" pitchFamily="49" charset="-122"/>
                <a:cs typeface="Consolas" pitchFamily="49" charset="0"/>
              </a:rPr>
              <a:t>rtag</a:t>
            </a:r>
            <a:r>
              <a:rPr lang="zh-CN" altLang="en-US" sz="2000" dirty="0">
                <a:solidFill>
                  <a:srgbClr val="0000FF"/>
                </a:solidFill>
                <a:latin typeface="Consolas" pitchFamily="49" charset="0"/>
                <a:ea typeface="仿宋" pitchFamily="49" charset="-122"/>
                <a:cs typeface="Consolas" pitchFamily="49" charset="0"/>
              </a:rPr>
              <a:t>两个标志域。</a:t>
            </a:r>
          </a:p>
        </p:txBody>
      </p:sp>
      <p:sp>
        <p:nvSpPr>
          <p:cNvPr id="6" name="矩形 5"/>
          <p:cNvSpPr/>
          <p:nvPr/>
        </p:nvSpPr>
        <p:spPr>
          <a:xfrm>
            <a:off x="967369" y="1671568"/>
            <a:ext cx="817853" cy="313932"/>
          </a:xfrm>
          <a:prstGeom prst="rect">
            <a:avLst/>
          </a:prstGeom>
        </p:spPr>
        <p:txBody>
          <a:bodyPr wrap="none">
            <a:spAutoFit/>
          </a:bodyPr>
          <a:lstStyle/>
          <a:p>
            <a:pPr algn="l"/>
            <a:r>
              <a:rPr lang="en-US" sz="1800" smtClean="0">
                <a:solidFill>
                  <a:srgbClr val="0000FF"/>
                </a:solidFill>
                <a:latin typeface="Consolas" pitchFamily="49" charset="0"/>
                <a:ea typeface="仿宋" pitchFamily="49" charset="-122"/>
                <a:cs typeface="Consolas" pitchFamily="49" charset="0"/>
              </a:rPr>
              <a:t>ltag=</a:t>
            </a:r>
            <a:endParaRPr lang="zh-CN" altLang="en-US" sz="180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2071670" y="1357298"/>
            <a:ext cx="5429288" cy="1061829"/>
          </a:xfrm>
          <a:prstGeom prst="rect">
            <a:avLst/>
          </a:prstGeom>
          <a:noFill/>
        </p:spPr>
        <p:txBody>
          <a:bodyPr wrap="square" rtlCol="0">
            <a:spAutoFit/>
          </a:bodyPr>
          <a:lstStyle/>
          <a:p>
            <a:pPr algn="l">
              <a:lnSpc>
                <a:spcPct val="150000"/>
              </a:lnSpc>
            </a:pPr>
            <a:r>
              <a:rPr lang="en-US" altLang="zh-CN" sz="1800" smtClean="0">
                <a:solidFill>
                  <a:srgbClr val="0000FF"/>
                </a:solidFill>
                <a:latin typeface="Consolas" pitchFamily="49" charset="0"/>
                <a:ea typeface="仿宋" pitchFamily="49" charset="-122"/>
                <a:cs typeface="Consolas" pitchFamily="49" charset="0"/>
              </a:rPr>
              <a:t>0  </a:t>
            </a:r>
            <a:r>
              <a:rPr lang="zh-CN" altLang="en-US" sz="1800" smtClean="0">
                <a:solidFill>
                  <a:srgbClr val="0000FF"/>
                </a:solidFill>
                <a:latin typeface="Consolas" pitchFamily="49" charset="0"/>
                <a:ea typeface="仿宋" pitchFamily="49" charset="-122"/>
                <a:cs typeface="Consolas" pitchFamily="49" charset="0"/>
              </a:rPr>
              <a:t>表示</a:t>
            </a:r>
            <a:r>
              <a:rPr lang="en-US" sz="1800" smtClean="0">
                <a:solidFill>
                  <a:srgbClr val="0000FF"/>
                </a:solidFill>
                <a:latin typeface="Consolas" pitchFamily="49" charset="0"/>
                <a:ea typeface="仿宋" pitchFamily="49" charset="-122"/>
                <a:cs typeface="Consolas" pitchFamily="49" charset="0"/>
              </a:rPr>
              <a:t>lchild</a:t>
            </a:r>
            <a:r>
              <a:rPr lang="zh-CN" altLang="en-US" sz="1800" smtClean="0">
                <a:solidFill>
                  <a:srgbClr val="0000FF"/>
                </a:solidFill>
                <a:latin typeface="Consolas" pitchFamily="49" charset="0"/>
                <a:ea typeface="仿宋" pitchFamily="49" charset="-122"/>
                <a:cs typeface="Consolas" pitchFamily="49" charset="0"/>
              </a:rPr>
              <a:t>指向结点的左孩子</a:t>
            </a:r>
          </a:p>
          <a:p>
            <a:pPr algn="l">
              <a:lnSpc>
                <a:spcPct val="150000"/>
              </a:lnSpc>
            </a:pPr>
            <a:r>
              <a:rPr lang="en-US" sz="1800" smtClean="0">
                <a:solidFill>
                  <a:srgbClr val="0000FF"/>
                </a:solidFill>
                <a:latin typeface="Consolas" pitchFamily="49" charset="0"/>
                <a:ea typeface="仿宋" pitchFamily="49" charset="-122"/>
                <a:cs typeface="Consolas" pitchFamily="49" charset="0"/>
              </a:rPr>
              <a:t>1  </a:t>
            </a:r>
            <a:r>
              <a:rPr lang="zh-CN" altLang="en-US" sz="1800" smtClean="0">
                <a:solidFill>
                  <a:srgbClr val="0000FF"/>
                </a:solidFill>
                <a:latin typeface="Consolas" pitchFamily="49" charset="0"/>
                <a:ea typeface="仿宋" pitchFamily="49" charset="-122"/>
                <a:cs typeface="Consolas" pitchFamily="49" charset="0"/>
              </a:rPr>
              <a:t>表示</a:t>
            </a:r>
            <a:r>
              <a:rPr lang="en-US" sz="1800" smtClean="0">
                <a:solidFill>
                  <a:srgbClr val="0000FF"/>
                </a:solidFill>
                <a:latin typeface="Consolas" pitchFamily="49" charset="0"/>
                <a:ea typeface="仿宋" pitchFamily="49" charset="-122"/>
                <a:cs typeface="Consolas" pitchFamily="49" charset="0"/>
              </a:rPr>
              <a:t>lchild</a:t>
            </a:r>
            <a:r>
              <a:rPr lang="zh-CN" altLang="en-US" sz="1800" smtClean="0">
                <a:solidFill>
                  <a:srgbClr val="0000FF"/>
                </a:solidFill>
                <a:latin typeface="Consolas" pitchFamily="49" charset="0"/>
                <a:ea typeface="仿宋" pitchFamily="49" charset="-122"/>
                <a:cs typeface="Consolas" pitchFamily="49" charset="0"/>
              </a:rPr>
              <a:t>指向结点的前驱结点即为线索</a:t>
            </a:r>
            <a:endParaRPr lang="zh-CN" altLang="en-US" sz="1800">
              <a:solidFill>
                <a:srgbClr val="0000FF"/>
              </a:solidFill>
              <a:latin typeface="Consolas" pitchFamily="49" charset="0"/>
              <a:ea typeface="仿宋" pitchFamily="49" charset="-122"/>
              <a:cs typeface="Consolas" pitchFamily="49" charset="0"/>
            </a:endParaRPr>
          </a:p>
        </p:txBody>
      </p:sp>
      <p:sp>
        <p:nvSpPr>
          <p:cNvPr id="8" name="左大括号 7"/>
          <p:cNvSpPr/>
          <p:nvPr/>
        </p:nvSpPr>
        <p:spPr>
          <a:xfrm>
            <a:off x="1857356" y="1571612"/>
            <a:ext cx="142876" cy="642942"/>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l"/>
            <a:endParaRPr lang="zh-CN" altLang="en-US" sz="1800">
              <a:latin typeface="Consolas" pitchFamily="49" charset="0"/>
              <a:ea typeface="仿宋" pitchFamily="49" charset="-122"/>
              <a:cs typeface="Consolas" pitchFamily="49" charset="0"/>
            </a:endParaRPr>
          </a:p>
        </p:txBody>
      </p:sp>
      <p:sp>
        <p:nvSpPr>
          <p:cNvPr id="9" name="矩形 8"/>
          <p:cNvSpPr/>
          <p:nvPr/>
        </p:nvSpPr>
        <p:spPr>
          <a:xfrm>
            <a:off x="928662" y="3084797"/>
            <a:ext cx="817853" cy="313932"/>
          </a:xfrm>
          <a:prstGeom prst="rect">
            <a:avLst/>
          </a:prstGeom>
        </p:spPr>
        <p:txBody>
          <a:bodyPr wrap="none">
            <a:spAutoFit/>
          </a:bodyPr>
          <a:lstStyle/>
          <a:p>
            <a:pPr algn="l"/>
            <a:r>
              <a:rPr lang="en-US" sz="1800" smtClean="0">
                <a:solidFill>
                  <a:srgbClr val="0000FF"/>
                </a:solidFill>
                <a:latin typeface="Consolas" pitchFamily="49" charset="0"/>
                <a:ea typeface="仿宋" pitchFamily="49" charset="-122"/>
                <a:cs typeface="Consolas" pitchFamily="49" charset="0"/>
              </a:rPr>
              <a:t>rtag=</a:t>
            </a:r>
            <a:endParaRPr lang="zh-CN" altLang="en-US" sz="1800">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2032963" y="2770527"/>
            <a:ext cx="5429288" cy="1061829"/>
          </a:xfrm>
          <a:prstGeom prst="rect">
            <a:avLst/>
          </a:prstGeom>
          <a:noFill/>
        </p:spPr>
        <p:txBody>
          <a:bodyPr wrap="square" rtlCol="0">
            <a:spAutoFit/>
          </a:bodyPr>
          <a:lstStyle/>
          <a:p>
            <a:pPr algn="l">
              <a:lnSpc>
                <a:spcPct val="150000"/>
              </a:lnSpc>
            </a:pPr>
            <a:r>
              <a:rPr lang="en-US" altLang="zh-CN" sz="1800" smtClean="0">
                <a:solidFill>
                  <a:srgbClr val="0000FF"/>
                </a:solidFill>
                <a:latin typeface="Consolas" pitchFamily="49" charset="0"/>
                <a:ea typeface="仿宋" pitchFamily="49" charset="-122"/>
                <a:cs typeface="Consolas" pitchFamily="49" charset="0"/>
              </a:rPr>
              <a:t>0  </a:t>
            </a:r>
            <a:r>
              <a:rPr lang="zh-CN" altLang="en-US" sz="1800" smtClean="0">
                <a:solidFill>
                  <a:srgbClr val="0000FF"/>
                </a:solidFill>
                <a:latin typeface="Consolas" pitchFamily="49" charset="0"/>
                <a:ea typeface="仿宋" pitchFamily="49" charset="-122"/>
                <a:cs typeface="Consolas" pitchFamily="49" charset="0"/>
              </a:rPr>
              <a:t>表示</a:t>
            </a:r>
            <a:r>
              <a:rPr lang="en-US" altLang="zh-CN" sz="1800" smtClean="0">
                <a:solidFill>
                  <a:srgbClr val="0000FF"/>
                </a:solidFill>
                <a:latin typeface="Consolas" pitchFamily="49" charset="0"/>
                <a:ea typeface="仿宋" pitchFamily="49" charset="-122"/>
                <a:cs typeface="Consolas" pitchFamily="49" charset="0"/>
              </a:rPr>
              <a:t>r</a:t>
            </a:r>
            <a:r>
              <a:rPr lang="en-US" sz="1800" smtClean="0">
                <a:solidFill>
                  <a:srgbClr val="0000FF"/>
                </a:solidFill>
                <a:latin typeface="Consolas" pitchFamily="49" charset="0"/>
                <a:ea typeface="仿宋" pitchFamily="49" charset="-122"/>
                <a:cs typeface="Consolas" pitchFamily="49" charset="0"/>
              </a:rPr>
              <a:t>child</a:t>
            </a:r>
            <a:r>
              <a:rPr lang="zh-CN" altLang="en-US" sz="1800" smtClean="0">
                <a:solidFill>
                  <a:srgbClr val="0000FF"/>
                </a:solidFill>
                <a:latin typeface="Consolas" pitchFamily="49" charset="0"/>
                <a:ea typeface="仿宋" pitchFamily="49" charset="-122"/>
                <a:cs typeface="Consolas" pitchFamily="49" charset="0"/>
              </a:rPr>
              <a:t>指向结点的左孩子</a:t>
            </a:r>
          </a:p>
          <a:p>
            <a:pPr algn="l">
              <a:lnSpc>
                <a:spcPct val="150000"/>
              </a:lnSpc>
            </a:pPr>
            <a:r>
              <a:rPr lang="en-US" sz="1800" smtClean="0">
                <a:solidFill>
                  <a:srgbClr val="0000FF"/>
                </a:solidFill>
                <a:latin typeface="Consolas" pitchFamily="49" charset="0"/>
                <a:ea typeface="仿宋" pitchFamily="49" charset="-122"/>
                <a:cs typeface="Consolas" pitchFamily="49" charset="0"/>
              </a:rPr>
              <a:t>1  </a:t>
            </a:r>
            <a:r>
              <a:rPr lang="zh-CN" altLang="en-US" sz="1800" smtClean="0">
                <a:solidFill>
                  <a:srgbClr val="0000FF"/>
                </a:solidFill>
                <a:latin typeface="Consolas" pitchFamily="49" charset="0"/>
                <a:ea typeface="仿宋" pitchFamily="49" charset="-122"/>
                <a:cs typeface="Consolas" pitchFamily="49" charset="0"/>
              </a:rPr>
              <a:t>表示</a:t>
            </a:r>
            <a:r>
              <a:rPr lang="en-US" altLang="zh-CN" sz="1800" smtClean="0">
                <a:solidFill>
                  <a:srgbClr val="0000FF"/>
                </a:solidFill>
                <a:latin typeface="Consolas" pitchFamily="49" charset="0"/>
                <a:ea typeface="仿宋" pitchFamily="49" charset="-122"/>
                <a:cs typeface="Consolas" pitchFamily="49" charset="0"/>
              </a:rPr>
              <a:t>r</a:t>
            </a:r>
            <a:r>
              <a:rPr lang="en-US" sz="1800" smtClean="0">
                <a:solidFill>
                  <a:srgbClr val="0000FF"/>
                </a:solidFill>
                <a:latin typeface="Consolas" pitchFamily="49" charset="0"/>
                <a:ea typeface="仿宋" pitchFamily="49" charset="-122"/>
                <a:cs typeface="Consolas" pitchFamily="49" charset="0"/>
              </a:rPr>
              <a:t>child</a:t>
            </a:r>
            <a:r>
              <a:rPr lang="zh-CN" altLang="en-US" sz="1800" smtClean="0">
                <a:solidFill>
                  <a:srgbClr val="0000FF"/>
                </a:solidFill>
                <a:latin typeface="Consolas" pitchFamily="49" charset="0"/>
                <a:ea typeface="仿宋" pitchFamily="49" charset="-122"/>
                <a:cs typeface="Consolas" pitchFamily="49" charset="0"/>
              </a:rPr>
              <a:t>指向结点的后继结点即为线索</a:t>
            </a:r>
            <a:endParaRPr lang="zh-CN" altLang="en-US" sz="1800">
              <a:solidFill>
                <a:srgbClr val="0000FF"/>
              </a:solidFill>
              <a:latin typeface="Consolas" pitchFamily="49" charset="0"/>
              <a:ea typeface="仿宋" pitchFamily="49" charset="-122"/>
              <a:cs typeface="Consolas" pitchFamily="49" charset="0"/>
            </a:endParaRPr>
          </a:p>
        </p:txBody>
      </p:sp>
      <p:sp>
        <p:nvSpPr>
          <p:cNvPr id="11" name="左大括号 10"/>
          <p:cNvSpPr/>
          <p:nvPr/>
        </p:nvSpPr>
        <p:spPr>
          <a:xfrm>
            <a:off x="1818649" y="2984841"/>
            <a:ext cx="142876" cy="642942"/>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l"/>
            <a:endParaRPr lang="zh-CN" altLang="en-US" sz="1800">
              <a:latin typeface="Consolas" pitchFamily="49" charset="0"/>
              <a:ea typeface="仿宋" pitchFamily="49" charset="-122"/>
              <a:cs typeface="Consolas" pitchFamily="49" charset="0"/>
            </a:endParaRPr>
          </a:p>
        </p:txBody>
      </p:sp>
      <p:graphicFrame>
        <p:nvGraphicFramePr>
          <p:cNvPr id="12" name="表格 11"/>
          <p:cNvGraphicFramePr>
            <a:graphicFrameLocks noGrp="1"/>
          </p:cNvGraphicFramePr>
          <p:nvPr/>
        </p:nvGraphicFramePr>
        <p:xfrm>
          <a:off x="1785918" y="4570422"/>
          <a:ext cx="4643470" cy="430214"/>
        </p:xfrm>
        <a:graphic>
          <a:graphicData uri="http://schemas.openxmlformats.org/drawingml/2006/table">
            <a:tbl>
              <a:tblPr/>
              <a:tblGrid>
                <a:gridCol w="807560"/>
                <a:gridCol w="1009450"/>
                <a:gridCol w="1009450"/>
                <a:gridCol w="1009450"/>
                <a:gridCol w="807560"/>
              </a:tblGrid>
              <a:tr h="430214">
                <a:tc>
                  <a:txBody>
                    <a:bodyPr/>
                    <a:lstStyle/>
                    <a:p>
                      <a:pPr indent="-3810" algn="ctr">
                        <a:lnSpc>
                          <a:spcPct val="150000"/>
                        </a:lnSpc>
                        <a:spcAft>
                          <a:spcPts val="300"/>
                        </a:spcAft>
                      </a:pPr>
                      <a:r>
                        <a:rPr lang="en-US" sz="1800" kern="100">
                          <a:solidFill>
                            <a:srgbClr val="0000FF"/>
                          </a:solidFill>
                          <a:latin typeface="Consolas" pitchFamily="49" charset="0"/>
                          <a:ea typeface="宋体"/>
                          <a:cs typeface="Consolas" pitchFamily="49" charset="0"/>
                        </a:rPr>
                        <a:t>ltag</a:t>
                      </a:r>
                      <a:endParaRPr lang="zh-CN" sz="1800" kern="100">
                        <a:solidFill>
                          <a:srgbClr val="0000FF"/>
                        </a:solidFill>
                        <a:latin typeface="Consolas" pitchFamily="49" charset="0"/>
                        <a:ea typeface="宋体"/>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3810" algn="ctr">
                        <a:lnSpc>
                          <a:spcPct val="150000"/>
                        </a:lnSpc>
                        <a:spcAft>
                          <a:spcPts val="300"/>
                        </a:spcAft>
                      </a:pPr>
                      <a:r>
                        <a:rPr lang="en-US" sz="1800" kern="100">
                          <a:solidFill>
                            <a:srgbClr val="0000FF"/>
                          </a:solidFill>
                          <a:latin typeface="Consolas" pitchFamily="49" charset="0"/>
                          <a:ea typeface="宋体"/>
                          <a:cs typeface="Consolas" pitchFamily="49" charset="0"/>
                        </a:rPr>
                        <a:t>lchild</a:t>
                      </a:r>
                      <a:endParaRPr lang="zh-CN" sz="1800" kern="100">
                        <a:solidFill>
                          <a:srgbClr val="0000FF"/>
                        </a:solidFill>
                        <a:latin typeface="Consolas" pitchFamily="49" charset="0"/>
                        <a:ea typeface="宋体"/>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3810" algn="ctr">
                        <a:lnSpc>
                          <a:spcPct val="150000"/>
                        </a:lnSpc>
                        <a:spcAft>
                          <a:spcPts val="300"/>
                        </a:spcAft>
                      </a:pPr>
                      <a:r>
                        <a:rPr lang="en-US" sz="1800" kern="100">
                          <a:solidFill>
                            <a:srgbClr val="0000FF"/>
                          </a:solidFill>
                          <a:latin typeface="Consolas" pitchFamily="49" charset="0"/>
                          <a:ea typeface="宋体"/>
                          <a:cs typeface="Consolas" pitchFamily="49" charset="0"/>
                        </a:rPr>
                        <a:t>data</a:t>
                      </a:r>
                      <a:endParaRPr lang="zh-CN" sz="1800" kern="100">
                        <a:solidFill>
                          <a:srgbClr val="0000FF"/>
                        </a:solidFill>
                        <a:latin typeface="Consolas" pitchFamily="49" charset="0"/>
                        <a:ea typeface="宋体"/>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3810" algn="ctr">
                        <a:lnSpc>
                          <a:spcPct val="150000"/>
                        </a:lnSpc>
                        <a:spcAft>
                          <a:spcPts val="300"/>
                        </a:spcAft>
                      </a:pPr>
                      <a:r>
                        <a:rPr lang="en-US" sz="1800" kern="100">
                          <a:solidFill>
                            <a:srgbClr val="0000FF"/>
                          </a:solidFill>
                          <a:latin typeface="Consolas" pitchFamily="49" charset="0"/>
                          <a:ea typeface="宋体"/>
                          <a:cs typeface="Consolas" pitchFamily="49" charset="0"/>
                        </a:rPr>
                        <a:t>rchild</a:t>
                      </a:r>
                      <a:endParaRPr lang="zh-CN" sz="1800" kern="100">
                        <a:solidFill>
                          <a:srgbClr val="0000FF"/>
                        </a:solidFill>
                        <a:latin typeface="Consolas" pitchFamily="49" charset="0"/>
                        <a:ea typeface="宋体"/>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indent="-3810" algn="ctr">
                        <a:lnSpc>
                          <a:spcPct val="150000"/>
                        </a:lnSpc>
                        <a:spcAft>
                          <a:spcPts val="300"/>
                        </a:spcAft>
                      </a:pPr>
                      <a:r>
                        <a:rPr lang="en-US" sz="1800" kern="100">
                          <a:solidFill>
                            <a:srgbClr val="0000FF"/>
                          </a:solidFill>
                          <a:latin typeface="Consolas" pitchFamily="49" charset="0"/>
                          <a:ea typeface="宋体"/>
                          <a:cs typeface="Consolas" pitchFamily="49" charset="0"/>
                        </a:rPr>
                        <a:t>rtag</a:t>
                      </a:r>
                      <a:endParaRPr lang="zh-CN" sz="1800" kern="100">
                        <a:solidFill>
                          <a:srgbClr val="0000FF"/>
                        </a:solidFill>
                        <a:latin typeface="Consolas" pitchFamily="49" charset="0"/>
                        <a:ea typeface="宋体"/>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r>
            </a:tbl>
          </a:graphicData>
        </a:graphic>
      </p:graphicFrame>
      <p:sp>
        <p:nvSpPr>
          <p:cNvPr id="14" name="灯片编号占位符 13"/>
          <p:cNvSpPr>
            <a:spLocks noGrp="1"/>
          </p:cNvSpPr>
          <p:nvPr>
            <p:ph type="sldNum" sz="quarter" idx="12"/>
          </p:nvPr>
        </p:nvSpPr>
        <p:spPr/>
        <p:txBody>
          <a:bodyPr/>
          <a:lstStyle/>
          <a:p>
            <a:fld id="{67864EE2-EAB3-4814-A7EB-820BD7610F1E}" type="slidenum">
              <a:rPr lang="en-US" altLang="zh-CN" smtClean="0"/>
              <a:pPr/>
              <a:t>37</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385901" y="2500306"/>
            <a:ext cx="1900083" cy="1925032"/>
            <a:chOff x="1150124" y="3032607"/>
            <a:chExt cx="1900083" cy="1925032"/>
          </a:xfrm>
        </p:grpSpPr>
        <p:sp>
          <p:nvSpPr>
            <p:cNvPr id="5" name="Line 34"/>
            <p:cNvSpPr>
              <a:spLocks noChangeShapeType="1"/>
            </p:cNvSpPr>
            <p:nvPr/>
          </p:nvSpPr>
          <p:spPr bwMode="auto">
            <a:xfrm>
              <a:off x="2214546" y="3286124"/>
              <a:ext cx="201626" cy="255318"/>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6" name="Freeform 45"/>
            <p:cNvSpPr>
              <a:spLocks/>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7" name="Line 44"/>
            <p:cNvSpPr>
              <a:spLocks noChangeShapeType="1"/>
            </p:cNvSpPr>
            <p:nvPr/>
          </p:nvSpPr>
          <p:spPr bwMode="auto">
            <a:xfrm>
              <a:off x="1369024" y="4327825"/>
              <a:ext cx="308248" cy="334084"/>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8" name="Freeform 43"/>
            <p:cNvSpPr>
              <a:spLocks/>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9" name="Line 42"/>
            <p:cNvSpPr>
              <a:spLocks noChangeShapeType="1"/>
            </p:cNvSpPr>
            <p:nvPr/>
          </p:nvSpPr>
          <p:spPr bwMode="auto">
            <a:xfrm flipH="1">
              <a:off x="1296653" y="3705059"/>
              <a:ext cx="285911" cy="40689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10" name="Line 41"/>
            <p:cNvSpPr>
              <a:spLocks noChangeShapeType="1"/>
            </p:cNvSpPr>
            <p:nvPr/>
          </p:nvSpPr>
          <p:spPr bwMode="auto">
            <a:xfrm flipH="1">
              <a:off x="1632598" y="3155105"/>
              <a:ext cx="477114" cy="40946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2000"/>
                </a:lnSpc>
              </a:pPr>
              <a:endParaRPr lang="zh-CN" altLang="en-US" sz="1800" b="0">
                <a:solidFill>
                  <a:srgbClr val="0000FF"/>
                </a:solidFill>
                <a:latin typeface="Consolas" pitchFamily="49" charset="0"/>
                <a:ea typeface="仿宋" pitchFamily="49" charset="-122"/>
                <a:cs typeface="Consolas" pitchFamily="49" charset="0"/>
              </a:endParaRPr>
            </a:p>
          </p:txBody>
        </p:sp>
        <p:sp>
          <p:nvSpPr>
            <p:cNvPr id="11" name="Oval 40"/>
            <p:cNvSpPr>
              <a:spLocks noChangeArrowheads="1"/>
            </p:cNvSpPr>
            <p:nvPr/>
          </p:nvSpPr>
          <p:spPr bwMode="auto">
            <a:xfrm>
              <a:off x="1955141" y="3032607"/>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12" name="Oval 39"/>
            <p:cNvSpPr>
              <a:spLocks noChangeArrowheads="1"/>
            </p:cNvSpPr>
            <p:nvPr/>
          </p:nvSpPr>
          <p:spPr bwMode="auto">
            <a:xfrm>
              <a:off x="1486069" y="3482335"/>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13" name="Oval 38"/>
            <p:cNvSpPr>
              <a:spLocks noChangeArrowheads="1"/>
            </p:cNvSpPr>
            <p:nvPr/>
          </p:nvSpPr>
          <p:spPr bwMode="auto">
            <a:xfrm>
              <a:off x="2357204" y="3520883"/>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p>
          </p:txBody>
        </p:sp>
        <p:sp>
          <p:nvSpPr>
            <p:cNvPr id="14" name="Oval 37"/>
            <p:cNvSpPr>
              <a:spLocks noChangeArrowheads="1"/>
            </p:cNvSpPr>
            <p:nvPr/>
          </p:nvSpPr>
          <p:spPr bwMode="auto">
            <a:xfrm>
              <a:off x="2065038" y="4099105"/>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E</a:t>
              </a:r>
            </a:p>
          </p:txBody>
        </p:sp>
        <p:sp>
          <p:nvSpPr>
            <p:cNvPr id="15" name="Oval 36"/>
            <p:cNvSpPr>
              <a:spLocks noChangeArrowheads="1"/>
            </p:cNvSpPr>
            <p:nvPr/>
          </p:nvSpPr>
          <p:spPr bwMode="auto">
            <a:xfrm>
              <a:off x="2726207" y="4099105"/>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F</a:t>
              </a:r>
            </a:p>
          </p:txBody>
        </p:sp>
        <p:sp>
          <p:nvSpPr>
            <p:cNvPr id="16" name="Oval 35"/>
            <p:cNvSpPr>
              <a:spLocks noChangeArrowheads="1"/>
            </p:cNvSpPr>
            <p:nvPr/>
          </p:nvSpPr>
          <p:spPr bwMode="auto">
            <a:xfrm>
              <a:off x="1150124" y="4111954"/>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p>
          </p:txBody>
        </p:sp>
        <p:sp>
          <p:nvSpPr>
            <p:cNvPr id="17" name="Oval 33"/>
            <p:cNvSpPr>
              <a:spLocks noChangeArrowheads="1"/>
            </p:cNvSpPr>
            <p:nvPr/>
          </p:nvSpPr>
          <p:spPr bwMode="auto">
            <a:xfrm>
              <a:off x="1568268" y="4633639"/>
              <a:ext cx="324000" cy="32400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800" b="0" u="none" strike="noStrike" cap="none" normalizeH="0" baseline="0" smtClean="0">
                  <a:ln>
                    <a:noFill/>
                  </a:ln>
                  <a:solidFill>
                    <a:srgbClr val="0000FF"/>
                  </a:solidFill>
                  <a:effectLst/>
                  <a:latin typeface="Consolas" pitchFamily="49" charset="0"/>
                  <a:ea typeface="仿宋" pitchFamily="49" charset="-122"/>
                  <a:cs typeface="Consolas" pitchFamily="49" charset="0"/>
                </a:rPr>
                <a:t>G</a:t>
              </a:r>
            </a:p>
          </p:txBody>
        </p:sp>
      </p:grpSp>
      <p:sp>
        <p:nvSpPr>
          <p:cNvPr id="18" name="TextBox 17"/>
          <p:cNvSpPr txBox="1"/>
          <p:nvPr/>
        </p:nvSpPr>
        <p:spPr>
          <a:xfrm>
            <a:off x="285720" y="857232"/>
            <a:ext cx="314327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仿宋" pitchFamily="49" charset="-122"/>
                <a:cs typeface="Consolas" pitchFamily="49" charset="0"/>
              </a:rPr>
              <a:t>以中序线索二叉树为例</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53" name="右箭头 152"/>
          <p:cNvSpPr/>
          <p:nvPr/>
        </p:nvSpPr>
        <p:spPr>
          <a:xfrm>
            <a:off x="2500298" y="3143248"/>
            <a:ext cx="571504" cy="285752"/>
          </a:xfrm>
          <a:prstGeom prst="rightArrow">
            <a:avLst/>
          </a:prstGeom>
          <a:ln>
            <a:tailEnd type="arrow"/>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rgbClr val="0000FF"/>
              </a:solidFill>
              <a:latin typeface="Consolas" pitchFamily="49" charset="0"/>
              <a:ea typeface="仿宋" pitchFamily="49" charset="-122"/>
              <a:cs typeface="Consolas" pitchFamily="49" charset="0"/>
            </a:endParaRPr>
          </a:p>
        </p:txBody>
      </p:sp>
      <p:grpSp>
        <p:nvGrpSpPr>
          <p:cNvPr id="3" name="组合 119"/>
          <p:cNvGrpSpPr/>
          <p:nvPr/>
        </p:nvGrpSpPr>
        <p:grpSpPr>
          <a:xfrm>
            <a:off x="3013100" y="428604"/>
            <a:ext cx="5059362" cy="5916634"/>
            <a:chOff x="3013100" y="428604"/>
            <a:chExt cx="5059362" cy="5916634"/>
          </a:xfrm>
        </p:grpSpPr>
        <p:grpSp>
          <p:nvGrpSpPr>
            <p:cNvPr id="4" name="组合 82"/>
            <p:cNvGrpSpPr/>
            <p:nvPr/>
          </p:nvGrpSpPr>
          <p:grpSpPr>
            <a:xfrm>
              <a:off x="4928556" y="2071678"/>
              <a:ext cx="1004628" cy="714380"/>
              <a:chOff x="5212694" y="2071678"/>
              <a:chExt cx="1004628" cy="714380"/>
            </a:xfrm>
          </p:grpSpPr>
          <p:sp>
            <p:nvSpPr>
              <p:cNvPr id="210" name="矩形 209"/>
              <p:cNvSpPr/>
              <p:nvPr/>
            </p:nvSpPr>
            <p:spPr>
              <a:xfrm>
                <a:off x="5500694" y="2071678"/>
                <a:ext cx="432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smtClean="0">
                    <a:solidFill>
                      <a:srgbClr val="0000FF"/>
                    </a:solidFill>
                    <a:latin typeface="Consolas" pitchFamily="49" charset="0"/>
                    <a:ea typeface="仿宋" pitchFamily="49" charset="-122"/>
                    <a:cs typeface="Consolas" pitchFamily="49" charset="0"/>
                  </a:rPr>
                  <a:t>A</a:t>
                </a:r>
                <a:endParaRPr lang="zh-CN" altLang="en-US" sz="1800" b="0">
                  <a:solidFill>
                    <a:srgbClr val="0000FF"/>
                  </a:solidFill>
                  <a:latin typeface="Consolas" pitchFamily="49" charset="0"/>
                  <a:ea typeface="仿宋" pitchFamily="49" charset="-122"/>
                  <a:cs typeface="Consolas" pitchFamily="49" charset="0"/>
                </a:endParaRPr>
              </a:p>
            </p:txBody>
          </p:sp>
          <p:sp>
            <p:nvSpPr>
              <p:cNvPr id="211" name="矩形 210"/>
              <p:cNvSpPr/>
              <p:nvPr/>
            </p:nvSpPr>
            <p:spPr>
              <a:xfrm>
                <a:off x="5929322"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212" name="矩形 211"/>
              <p:cNvSpPr/>
              <p:nvPr/>
            </p:nvSpPr>
            <p:spPr>
              <a:xfrm>
                <a:off x="5212694"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213" name="矩形 212"/>
              <p:cNvSpPr/>
              <p:nvPr/>
            </p:nvSpPr>
            <p:spPr>
              <a:xfrm>
                <a:off x="5212694"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14" name="矩形 213"/>
              <p:cNvSpPr/>
              <p:nvPr/>
            </p:nvSpPr>
            <p:spPr>
              <a:xfrm>
                <a:off x="5713322"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grpSp>
        <p:grpSp>
          <p:nvGrpSpPr>
            <p:cNvPr id="19" name="组合 83"/>
            <p:cNvGrpSpPr/>
            <p:nvPr/>
          </p:nvGrpSpPr>
          <p:grpSpPr>
            <a:xfrm>
              <a:off x="3930672" y="3214686"/>
              <a:ext cx="1004628" cy="714380"/>
              <a:chOff x="5212694" y="2071678"/>
              <a:chExt cx="1004628" cy="714380"/>
            </a:xfrm>
          </p:grpSpPr>
          <p:sp>
            <p:nvSpPr>
              <p:cNvPr id="205" name="矩形 204"/>
              <p:cNvSpPr/>
              <p:nvPr/>
            </p:nvSpPr>
            <p:spPr>
              <a:xfrm>
                <a:off x="5500694" y="2071678"/>
                <a:ext cx="432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smtClean="0">
                    <a:solidFill>
                      <a:srgbClr val="0000FF"/>
                    </a:solidFill>
                    <a:latin typeface="Consolas" pitchFamily="49" charset="0"/>
                    <a:ea typeface="仿宋" pitchFamily="49" charset="-122"/>
                    <a:cs typeface="Consolas" pitchFamily="49" charset="0"/>
                  </a:rPr>
                  <a:t>B</a:t>
                </a:r>
                <a:endParaRPr lang="zh-CN" altLang="en-US" sz="1800" b="0">
                  <a:solidFill>
                    <a:srgbClr val="0000FF"/>
                  </a:solidFill>
                  <a:latin typeface="Consolas" pitchFamily="49" charset="0"/>
                  <a:ea typeface="仿宋" pitchFamily="49" charset="-122"/>
                  <a:cs typeface="Consolas" pitchFamily="49" charset="0"/>
                </a:endParaRPr>
              </a:p>
            </p:txBody>
          </p:sp>
          <p:sp>
            <p:nvSpPr>
              <p:cNvPr id="206" name="矩形 205"/>
              <p:cNvSpPr/>
              <p:nvPr/>
            </p:nvSpPr>
            <p:spPr>
              <a:xfrm>
                <a:off x="5929322"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207" name="矩形 206"/>
              <p:cNvSpPr/>
              <p:nvPr/>
            </p:nvSpPr>
            <p:spPr>
              <a:xfrm>
                <a:off x="5212694"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208" name="矩形 207"/>
              <p:cNvSpPr/>
              <p:nvPr/>
            </p:nvSpPr>
            <p:spPr>
              <a:xfrm>
                <a:off x="5212694"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09" name="矩形 208"/>
              <p:cNvSpPr/>
              <p:nvPr/>
            </p:nvSpPr>
            <p:spPr>
              <a:xfrm>
                <a:off x="5713322"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grpSp>
        <p:grpSp>
          <p:nvGrpSpPr>
            <p:cNvPr id="20" name="组合 89"/>
            <p:cNvGrpSpPr/>
            <p:nvPr/>
          </p:nvGrpSpPr>
          <p:grpSpPr>
            <a:xfrm>
              <a:off x="6216688" y="3214686"/>
              <a:ext cx="1004628" cy="714380"/>
              <a:chOff x="5212694" y="2071678"/>
              <a:chExt cx="1004628" cy="714380"/>
            </a:xfrm>
          </p:grpSpPr>
          <p:sp>
            <p:nvSpPr>
              <p:cNvPr id="200" name="矩形 199"/>
              <p:cNvSpPr/>
              <p:nvPr/>
            </p:nvSpPr>
            <p:spPr>
              <a:xfrm>
                <a:off x="5500694" y="2071678"/>
                <a:ext cx="432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smtClean="0">
                    <a:solidFill>
                      <a:srgbClr val="0000FF"/>
                    </a:solidFill>
                    <a:latin typeface="Consolas" pitchFamily="49" charset="0"/>
                    <a:ea typeface="仿宋" pitchFamily="49" charset="-122"/>
                    <a:cs typeface="Consolas" pitchFamily="49" charset="0"/>
                  </a:rPr>
                  <a:t>C</a:t>
                </a:r>
                <a:endParaRPr lang="zh-CN" altLang="en-US" sz="1800" b="0">
                  <a:solidFill>
                    <a:srgbClr val="0000FF"/>
                  </a:solidFill>
                  <a:latin typeface="Consolas" pitchFamily="49" charset="0"/>
                  <a:ea typeface="仿宋" pitchFamily="49" charset="-122"/>
                  <a:cs typeface="Consolas" pitchFamily="49" charset="0"/>
                </a:endParaRPr>
              </a:p>
            </p:txBody>
          </p:sp>
          <p:sp>
            <p:nvSpPr>
              <p:cNvPr id="201" name="矩形 200"/>
              <p:cNvSpPr/>
              <p:nvPr/>
            </p:nvSpPr>
            <p:spPr>
              <a:xfrm>
                <a:off x="5929322"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202" name="矩形 201"/>
              <p:cNvSpPr/>
              <p:nvPr/>
            </p:nvSpPr>
            <p:spPr>
              <a:xfrm>
                <a:off x="5212694"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203" name="矩形 202"/>
              <p:cNvSpPr/>
              <p:nvPr/>
            </p:nvSpPr>
            <p:spPr>
              <a:xfrm>
                <a:off x="5212694"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04" name="矩形 203"/>
              <p:cNvSpPr/>
              <p:nvPr/>
            </p:nvSpPr>
            <p:spPr>
              <a:xfrm>
                <a:off x="5713322"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grpSp>
        <p:grpSp>
          <p:nvGrpSpPr>
            <p:cNvPr id="21" name="组合 95"/>
            <p:cNvGrpSpPr/>
            <p:nvPr/>
          </p:nvGrpSpPr>
          <p:grpSpPr>
            <a:xfrm>
              <a:off x="3287730" y="4357694"/>
              <a:ext cx="1004628" cy="714380"/>
              <a:chOff x="5212694" y="2071678"/>
              <a:chExt cx="1004628" cy="714380"/>
            </a:xfrm>
          </p:grpSpPr>
          <p:sp>
            <p:nvSpPr>
              <p:cNvPr id="195" name="矩形 194"/>
              <p:cNvSpPr/>
              <p:nvPr/>
            </p:nvSpPr>
            <p:spPr>
              <a:xfrm>
                <a:off x="5500694" y="2071678"/>
                <a:ext cx="432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smtClean="0">
                    <a:solidFill>
                      <a:srgbClr val="0000FF"/>
                    </a:solidFill>
                    <a:latin typeface="Consolas" pitchFamily="49" charset="0"/>
                    <a:ea typeface="仿宋" pitchFamily="49" charset="-122"/>
                    <a:cs typeface="Consolas" pitchFamily="49" charset="0"/>
                  </a:rPr>
                  <a:t>D</a:t>
                </a:r>
                <a:endParaRPr lang="zh-CN" altLang="en-US" sz="1800" b="0">
                  <a:solidFill>
                    <a:srgbClr val="0000FF"/>
                  </a:solidFill>
                  <a:latin typeface="Consolas" pitchFamily="49" charset="0"/>
                  <a:ea typeface="仿宋" pitchFamily="49" charset="-122"/>
                  <a:cs typeface="Consolas" pitchFamily="49" charset="0"/>
                </a:endParaRPr>
              </a:p>
            </p:txBody>
          </p:sp>
          <p:sp>
            <p:nvSpPr>
              <p:cNvPr id="196" name="矩形 195"/>
              <p:cNvSpPr/>
              <p:nvPr/>
            </p:nvSpPr>
            <p:spPr>
              <a:xfrm>
                <a:off x="5929322"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197" name="矩形 196"/>
              <p:cNvSpPr/>
              <p:nvPr/>
            </p:nvSpPr>
            <p:spPr>
              <a:xfrm>
                <a:off x="5212694"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198" name="矩形 197"/>
              <p:cNvSpPr/>
              <p:nvPr/>
            </p:nvSpPr>
            <p:spPr>
              <a:xfrm>
                <a:off x="5212694"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99" name="矩形 198"/>
              <p:cNvSpPr/>
              <p:nvPr/>
            </p:nvSpPr>
            <p:spPr>
              <a:xfrm>
                <a:off x="5713322"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grpSp>
        <p:grpSp>
          <p:nvGrpSpPr>
            <p:cNvPr id="22" name="组合 101"/>
            <p:cNvGrpSpPr/>
            <p:nvPr/>
          </p:nvGrpSpPr>
          <p:grpSpPr>
            <a:xfrm>
              <a:off x="4359300" y="5429264"/>
              <a:ext cx="1004628" cy="714380"/>
              <a:chOff x="5212694" y="2071678"/>
              <a:chExt cx="1004628" cy="714380"/>
            </a:xfrm>
          </p:grpSpPr>
          <p:sp>
            <p:nvSpPr>
              <p:cNvPr id="190" name="矩形 189"/>
              <p:cNvSpPr/>
              <p:nvPr/>
            </p:nvSpPr>
            <p:spPr>
              <a:xfrm>
                <a:off x="5500694" y="2071678"/>
                <a:ext cx="432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smtClean="0">
                    <a:solidFill>
                      <a:srgbClr val="0000FF"/>
                    </a:solidFill>
                    <a:latin typeface="Consolas" pitchFamily="49" charset="0"/>
                    <a:ea typeface="仿宋" pitchFamily="49" charset="-122"/>
                    <a:cs typeface="Consolas" pitchFamily="49" charset="0"/>
                  </a:rPr>
                  <a:t>G</a:t>
                </a:r>
                <a:endParaRPr lang="zh-CN" altLang="en-US" sz="1800" b="0">
                  <a:solidFill>
                    <a:srgbClr val="0000FF"/>
                  </a:solidFill>
                  <a:latin typeface="Consolas" pitchFamily="49" charset="0"/>
                  <a:ea typeface="仿宋" pitchFamily="49" charset="-122"/>
                  <a:cs typeface="Consolas" pitchFamily="49" charset="0"/>
                </a:endParaRPr>
              </a:p>
            </p:txBody>
          </p:sp>
          <p:sp>
            <p:nvSpPr>
              <p:cNvPr id="191" name="矩形 190"/>
              <p:cNvSpPr/>
              <p:nvPr/>
            </p:nvSpPr>
            <p:spPr>
              <a:xfrm>
                <a:off x="5929322"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192" name="矩形 191"/>
              <p:cNvSpPr/>
              <p:nvPr/>
            </p:nvSpPr>
            <p:spPr>
              <a:xfrm>
                <a:off x="5212694"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193" name="矩形 192"/>
              <p:cNvSpPr/>
              <p:nvPr/>
            </p:nvSpPr>
            <p:spPr>
              <a:xfrm>
                <a:off x="5212694"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94" name="矩形 193"/>
              <p:cNvSpPr/>
              <p:nvPr/>
            </p:nvSpPr>
            <p:spPr>
              <a:xfrm>
                <a:off x="5713322"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grpSp>
        <p:grpSp>
          <p:nvGrpSpPr>
            <p:cNvPr id="23" name="组合 107"/>
            <p:cNvGrpSpPr/>
            <p:nvPr/>
          </p:nvGrpSpPr>
          <p:grpSpPr>
            <a:xfrm>
              <a:off x="5359432" y="4357694"/>
              <a:ext cx="1004628" cy="714380"/>
              <a:chOff x="5212694" y="2071678"/>
              <a:chExt cx="1004628" cy="714380"/>
            </a:xfrm>
          </p:grpSpPr>
          <p:sp>
            <p:nvSpPr>
              <p:cNvPr id="185" name="矩形 184"/>
              <p:cNvSpPr/>
              <p:nvPr/>
            </p:nvSpPr>
            <p:spPr>
              <a:xfrm>
                <a:off x="5500694" y="2071678"/>
                <a:ext cx="432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smtClean="0">
                    <a:solidFill>
                      <a:srgbClr val="0000FF"/>
                    </a:solidFill>
                    <a:latin typeface="Consolas" pitchFamily="49" charset="0"/>
                    <a:ea typeface="仿宋" pitchFamily="49" charset="-122"/>
                    <a:cs typeface="Consolas" pitchFamily="49" charset="0"/>
                  </a:rPr>
                  <a:t>E</a:t>
                </a:r>
                <a:endParaRPr lang="zh-CN" altLang="en-US" sz="1800" b="0">
                  <a:solidFill>
                    <a:srgbClr val="0000FF"/>
                  </a:solidFill>
                  <a:latin typeface="Consolas" pitchFamily="49" charset="0"/>
                  <a:ea typeface="仿宋" pitchFamily="49" charset="-122"/>
                  <a:cs typeface="Consolas" pitchFamily="49" charset="0"/>
                </a:endParaRPr>
              </a:p>
            </p:txBody>
          </p:sp>
          <p:sp>
            <p:nvSpPr>
              <p:cNvPr id="186" name="矩形 185"/>
              <p:cNvSpPr/>
              <p:nvPr/>
            </p:nvSpPr>
            <p:spPr>
              <a:xfrm>
                <a:off x="5929322"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187" name="矩形 186"/>
              <p:cNvSpPr/>
              <p:nvPr/>
            </p:nvSpPr>
            <p:spPr>
              <a:xfrm>
                <a:off x="5212694"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188" name="矩形 187"/>
              <p:cNvSpPr/>
              <p:nvPr/>
            </p:nvSpPr>
            <p:spPr>
              <a:xfrm>
                <a:off x="5212694"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89" name="矩形 188"/>
              <p:cNvSpPr/>
              <p:nvPr/>
            </p:nvSpPr>
            <p:spPr>
              <a:xfrm>
                <a:off x="5713322"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grpSp>
        <p:grpSp>
          <p:nvGrpSpPr>
            <p:cNvPr id="24" name="组合 113"/>
            <p:cNvGrpSpPr/>
            <p:nvPr/>
          </p:nvGrpSpPr>
          <p:grpSpPr>
            <a:xfrm>
              <a:off x="6859630" y="4357694"/>
              <a:ext cx="1004628" cy="714380"/>
              <a:chOff x="5212694" y="2071678"/>
              <a:chExt cx="1004628" cy="714380"/>
            </a:xfrm>
          </p:grpSpPr>
          <p:sp>
            <p:nvSpPr>
              <p:cNvPr id="180" name="矩形 179"/>
              <p:cNvSpPr/>
              <p:nvPr/>
            </p:nvSpPr>
            <p:spPr>
              <a:xfrm>
                <a:off x="5500694" y="2071678"/>
                <a:ext cx="432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b="0" smtClean="0">
                    <a:solidFill>
                      <a:srgbClr val="0000FF"/>
                    </a:solidFill>
                    <a:latin typeface="Consolas" pitchFamily="49" charset="0"/>
                    <a:ea typeface="仿宋" pitchFamily="49" charset="-122"/>
                    <a:cs typeface="Consolas" pitchFamily="49" charset="0"/>
                  </a:rPr>
                  <a:t>F</a:t>
                </a:r>
                <a:endParaRPr lang="zh-CN" altLang="en-US" sz="1800" b="0">
                  <a:solidFill>
                    <a:srgbClr val="0000FF"/>
                  </a:solidFill>
                  <a:latin typeface="Consolas" pitchFamily="49" charset="0"/>
                  <a:ea typeface="仿宋" pitchFamily="49" charset="-122"/>
                  <a:cs typeface="Consolas" pitchFamily="49" charset="0"/>
                </a:endParaRPr>
              </a:p>
            </p:txBody>
          </p:sp>
          <p:sp>
            <p:nvSpPr>
              <p:cNvPr id="181" name="矩形 180"/>
              <p:cNvSpPr/>
              <p:nvPr/>
            </p:nvSpPr>
            <p:spPr>
              <a:xfrm>
                <a:off x="5929322"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182" name="矩形 181"/>
              <p:cNvSpPr/>
              <p:nvPr/>
            </p:nvSpPr>
            <p:spPr>
              <a:xfrm>
                <a:off x="5212694" y="2071678"/>
                <a:ext cx="288000" cy="357190"/>
              </a:xfrm>
              <a:prstGeom prst="rect">
                <a:avLst/>
              </a:prstGeom>
              <a:ln>
                <a:tailEnd type="arrow"/>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183" name="矩形 182"/>
              <p:cNvSpPr/>
              <p:nvPr/>
            </p:nvSpPr>
            <p:spPr>
              <a:xfrm>
                <a:off x="5212694"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84" name="矩形 183"/>
              <p:cNvSpPr/>
              <p:nvPr/>
            </p:nvSpPr>
            <p:spPr>
              <a:xfrm>
                <a:off x="5713322" y="2428868"/>
                <a:ext cx="504000" cy="357190"/>
              </a:xfrm>
              <a:prstGeom prst="rect">
                <a:avLst/>
              </a:prstGeom>
              <a:ln>
                <a:tailEnd type="arrow"/>
              </a:ln>
            </p:spPr>
            <p:style>
              <a:lnRef idx="1">
                <a:schemeClr val="accent5"/>
              </a:lnRef>
              <a:fillRef idx="2">
                <a:schemeClr val="accent5"/>
              </a:fillRef>
              <a:effectRef idx="1">
                <a:schemeClr val="accent5"/>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grpSp>
        <p:cxnSp>
          <p:nvCxnSpPr>
            <p:cNvPr id="155" name="直接连接符 154"/>
            <p:cNvCxnSpPr/>
            <p:nvPr/>
          </p:nvCxnSpPr>
          <p:spPr>
            <a:xfrm rot="5400000">
              <a:off x="4609333" y="2678901"/>
              <a:ext cx="571504" cy="500066"/>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56" name="直接连接符 155"/>
            <p:cNvCxnSpPr>
              <a:endCxn id="195" idx="0"/>
            </p:cNvCxnSpPr>
            <p:nvPr/>
          </p:nvCxnSpPr>
          <p:spPr>
            <a:xfrm rot="5400000">
              <a:off x="3718325" y="3859595"/>
              <a:ext cx="571504" cy="42469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57" name="直接连接符 156"/>
            <p:cNvCxnSpPr>
              <a:endCxn id="192" idx="0"/>
            </p:cNvCxnSpPr>
            <p:nvPr/>
          </p:nvCxnSpPr>
          <p:spPr>
            <a:xfrm rot="16200000" flipH="1">
              <a:off x="4038391" y="4964355"/>
              <a:ext cx="500066" cy="42975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58" name="直接连接符 157"/>
            <p:cNvCxnSpPr>
              <a:endCxn id="202" idx="0"/>
            </p:cNvCxnSpPr>
            <p:nvPr/>
          </p:nvCxnSpPr>
          <p:spPr>
            <a:xfrm>
              <a:off x="5716622" y="2571744"/>
              <a:ext cx="644066" cy="64294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59" name="直接连接符 158"/>
            <p:cNvCxnSpPr>
              <a:endCxn id="185" idx="0"/>
            </p:cNvCxnSpPr>
            <p:nvPr/>
          </p:nvCxnSpPr>
          <p:spPr>
            <a:xfrm rot="5400000">
              <a:off x="5825746" y="3752438"/>
              <a:ext cx="642942" cy="56757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60" name="直接连接符 159"/>
            <p:cNvCxnSpPr>
              <a:endCxn id="180" idx="0"/>
            </p:cNvCxnSpPr>
            <p:nvPr/>
          </p:nvCxnSpPr>
          <p:spPr>
            <a:xfrm rot="16200000" flipH="1">
              <a:off x="6861597" y="3855661"/>
              <a:ext cx="642942" cy="361124"/>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cxnSp>
        <p:grpSp>
          <p:nvGrpSpPr>
            <p:cNvPr id="25" name="组合 131"/>
            <p:cNvGrpSpPr/>
            <p:nvPr/>
          </p:nvGrpSpPr>
          <p:grpSpPr>
            <a:xfrm>
              <a:off x="4930804" y="928670"/>
              <a:ext cx="1004628" cy="714380"/>
              <a:chOff x="5212694" y="2071678"/>
              <a:chExt cx="1004628" cy="714380"/>
            </a:xfrm>
          </p:grpSpPr>
          <p:sp>
            <p:nvSpPr>
              <p:cNvPr id="175" name="矩形 174"/>
              <p:cNvSpPr/>
              <p:nvPr/>
            </p:nvSpPr>
            <p:spPr>
              <a:xfrm>
                <a:off x="5500694" y="2071678"/>
                <a:ext cx="432000" cy="357190"/>
              </a:xfrm>
              <a:prstGeom prst="rect">
                <a:avLst/>
              </a:prstGeom>
              <a:ln>
                <a:tailEnd type="arrow"/>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1800" i="1">
                  <a:solidFill>
                    <a:srgbClr val="0000FF"/>
                  </a:solidFill>
                  <a:latin typeface="Consolas" pitchFamily="49" charset="0"/>
                  <a:ea typeface="仿宋" pitchFamily="49" charset="-122"/>
                  <a:cs typeface="Consolas" pitchFamily="49" charset="0"/>
                </a:endParaRPr>
              </a:p>
            </p:txBody>
          </p:sp>
          <p:sp>
            <p:nvSpPr>
              <p:cNvPr id="176" name="矩形 175"/>
              <p:cNvSpPr/>
              <p:nvPr/>
            </p:nvSpPr>
            <p:spPr>
              <a:xfrm>
                <a:off x="5929322" y="2071678"/>
                <a:ext cx="288000" cy="357190"/>
              </a:xfrm>
              <a:prstGeom prst="rect">
                <a:avLst/>
              </a:prstGeom>
              <a:ln>
                <a:tailEnd type="arrow"/>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177" name="矩形 176"/>
              <p:cNvSpPr/>
              <p:nvPr/>
            </p:nvSpPr>
            <p:spPr>
              <a:xfrm>
                <a:off x="5212694" y="2071678"/>
                <a:ext cx="288000" cy="357190"/>
              </a:xfrm>
              <a:prstGeom prst="rect">
                <a:avLst/>
              </a:prstGeom>
              <a:ln>
                <a:tailEnd type="arrow"/>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0</a:t>
                </a:r>
                <a:endParaRPr lang="zh-CN" altLang="en-US" sz="1600">
                  <a:solidFill>
                    <a:srgbClr val="0000FF"/>
                  </a:solidFill>
                  <a:latin typeface="Consolas" pitchFamily="49" charset="0"/>
                  <a:ea typeface="仿宋" pitchFamily="49" charset="-122"/>
                  <a:cs typeface="Consolas" pitchFamily="49" charset="0"/>
                </a:endParaRPr>
              </a:p>
            </p:txBody>
          </p:sp>
          <p:sp>
            <p:nvSpPr>
              <p:cNvPr id="178" name="矩形 177"/>
              <p:cNvSpPr/>
              <p:nvPr/>
            </p:nvSpPr>
            <p:spPr>
              <a:xfrm>
                <a:off x="5212694" y="2428868"/>
                <a:ext cx="504000" cy="357190"/>
              </a:xfrm>
              <a:prstGeom prst="rect">
                <a:avLst/>
              </a:prstGeom>
              <a:ln>
                <a:tailEnd type="arrow"/>
              </a:ln>
            </p:spPr>
            <p:style>
              <a:lnRef idx="1">
                <a:schemeClr val="accent2"/>
              </a:lnRef>
              <a:fillRef idx="2">
                <a:schemeClr val="accent2"/>
              </a:fillRef>
              <a:effectRef idx="1">
                <a:schemeClr val="accent2"/>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79" name="矩形 178"/>
              <p:cNvSpPr/>
              <p:nvPr/>
            </p:nvSpPr>
            <p:spPr>
              <a:xfrm>
                <a:off x="5713322" y="2428868"/>
                <a:ext cx="504000" cy="357190"/>
              </a:xfrm>
              <a:prstGeom prst="rect">
                <a:avLst/>
              </a:prstGeom>
              <a:ln>
                <a:tailEnd type="arrow"/>
              </a:ln>
            </p:spPr>
            <p:style>
              <a:lnRef idx="1">
                <a:schemeClr val="accent2"/>
              </a:lnRef>
              <a:fillRef idx="2">
                <a:schemeClr val="accent2"/>
              </a:fillRef>
              <a:effectRef idx="1">
                <a:schemeClr val="accent2"/>
              </a:effectRef>
              <a:fontRef idx="minor">
                <a:schemeClr val="dk1"/>
              </a:fontRef>
            </p:style>
            <p:txBody>
              <a:bodyPr rtlCol="0" anchor="ctr"/>
              <a:lstStyle/>
              <a:p>
                <a:endParaRPr lang="zh-CN" altLang="en-US" sz="1600">
                  <a:solidFill>
                    <a:srgbClr val="0000FF"/>
                  </a:solidFill>
                  <a:latin typeface="Consolas" pitchFamily="49" charset="0"/>
                  <a:ea typeface="仿宋" pitchFamily="49" charset="-122"/>
                  <a:cs typeface="Consolas" pitchFamily="49" charset="0"/>
                </a:endParaRPr>
              </a:p>
            </p:txBody>
          </p:sp>
        </p:grpSp>
        <p:cxnSp>
          <p:nvCxnSpPr>
            <p:cNvPr id="162" name="直接箭头连接符 161"/>
            <p:cNvCxnSpPr>
              <a:endCxn id="175" idx="0"/>
            </p:cNvCxnSpPr>
            <p:nvPr/>
          </p:nvCxnSpPr>
          <p:spPr>
            <a:xfrm rot="16200000" flipH="1">
              <a:off x="5182804" y="676670"/>
              <a:ext cx="285752" cy="21824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63" name="TextBox 162"/>
            <p:cNvSpPr txBox="1"/>
            <p:nvPr/>
          </p:nvSpPr>
          <p:spPr>
            <a:xfrm>
              <a:off x="4645052" y="428604"/>
              <a:ext cx="785818" cy="338554"/>
            </a:xfrm>
            <a:prstGeom prst="rect">
              <a:avLst/>
            </a:prstGeom>
            <a:noFill/>
          </p:spPr>
          <p:txBody>
            <a:bodyPr wrap="square" rtlCol="0">
              <a:spAutoFit/>
            </a:bodyPr>
            <a:lstStyle/>
            <a:p>
              <a:pPr algn="l">
                <a:lnSpc>
                  <a:spcPct val="100000"/>
                </a:lnSpc>
                <a:spcBef>
                  <a:spcPts val="0"/>
                </a:spcBef>
              </a:pPr>
              <a:r>
                <a:rPr lang="en-US" altLang="zh-CN" sz="1600" smtClean="0">
                  <a:solidFill>
                    <a:srgbClr val="0000FF"/>
                  </a:solidFill>
                  <a:latin typeface="Consolas" pitchFamily="49" charset="0"/>
                  <a:ea typeface="仿宋" pitchFamily="49" charset="-122"/>
                  <a:cs typeface="Consolas" pitchFamily="49" charset="0"/>
                </a:rPr>
                <a:t>root</a:t>
              </a:r>
              <a:endParaRPr lang="zh-CN" altLang="en-US" sz="1600" smtClean="0">
                <a:solidFill>
                  <a:srgbClr val="0000FF"/>
                </a:solidFill>
                <a:latin typeface="Consolas" pitchFamily="49" charset="0"/>
                <a:ea typeface="仿宋" pitchFamily="49" charset="-122"/>
                <a:cs typeface="Consolas" pitchFamily="49" charset="0"/>
              </a:endParaRPr>
            </a:p>
          </p:txBody>
        </p:sp>
        <p:cxnSp>
          <p:nvCxnSpPr>
            <p:cNvPr id="164" name="直接箭头连接符 163"/>
            <p:cNvCxnSpPr/>
            <p:nvPr/>
          </p:nvCxnSpPr>
          <p:spPr>
            <a:xfrm rot="5400000">
              <a:off x="4859366" y="1724013"/>
              <a:ext cx="57150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65" name="任意多边形 164"/>
            <p:cNvSpPr/>
            <p:nvPr/>
          </p:nvSpPr>
          <p:spPr>
            <a:xfrm>
              <a:off x="3013100" y="1381125"/>
              <a:ext cx="1912937" cy="3903662"/>
            </a:xfrm>
            <a:custGeom>
              <a:avLst/>
              <a:gdLst>
                <a:gd name="connsiteX0" fmla="*/ 503237 w 1912937"/>
                <a:gd name="connsiteY0" fmla="*/ 3524250 h 3903662"/>
                <a:gd name="connsiteX1" fmla="*/ 465137 w 1912937"/>
                <a:gd name="connsiteY1" fmla="*/ 3800475 h 3903662"/>
                <a:gd name="connsiteX2" fmla="*/ 160337 w 1912937"/>
                <a:gd name="connsiteY2" fmla="*/ 3848100 h 3903662"/>
                <a:gd name="connsiteX3" fmla="*/ 7937 w 1912937"/>
                <a:gd name="connsiteY3" fmla="*/ 3467100 h 3903662"/>
                <a:gd name="connsiteX4" fmla="*/ 207962 w 1912937"/>
                <a:gd name="connsiteY4" fmla="*/ 2628900 h 3903662"/>
                <a:gd name="connsiteX5" fmla="*/ 1055687 w 1912937"/>
                <a:gd name="connsiteY5" fmla="*/ 1038225 h 3903662"/>
                <a:gd name="connsiteX6" fmla="*/ 1912937 w 1912937"/>
                <a:gd name="connsiteY6" fmla="*/ 0 h 3903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937" h="3903662">
                  <a:moveTo>
                    <a:pt x="503237" y="3524250"/>
                  </a:moveTo>
                  <a:cubicBezTo>
                    <a:pt x="512762" y="3635375"/>
                    <a:pt x="522287" y="3746500"/>
                    <a:pt x="465137" y="3800475"/>
                  </a:cubicBezTo>
                  <a:cubicBezTo>
                    <a:pt x="407987" y="3854450"/>
                    <a:pt x="236537" y="3903662"/>
                    <a:pt x="160337" y="3848100"/>
                  </a:cubicBezTo>
                  <a:cubicBezTo>
                    <a:pt x="84137" y="3792538"/>
                    <a:pt x="0" y="3670300"/>
                    <a:pt x="7937" y="3467100"/>
                  </a:cubicBezTo>
                  <a:cubicBezTo>
                    <a:pt x="15874" y="3263900"/>
                    <a:pt x="33337" y="3033712"/>
                    <a:pt x="207962" y="2628900"/>
                  </a:cubicBezTo>
                  <a:cubicBezTo>
                    <a:pt x="382587" y="2224088"/>
                    <a:pt x="771525" y="1476375"/>
                    <a:pt x="1055687" y="1038225"/>
                  </a:cubicBezTo>
                  <a:cubicBezTo>
                    <a:pt x="1339849" y="600075"/>
                    <a:pt x="1626393" y="300037"/>
                    <a:pt x="1912937" y="0"/>
                  </a:cubicBezTo>
                </a:path>
              </a:pathLst>
            </a:custGeom>
            <a:ln w="19050">
              <a:solidFill>
                <a:srgbClr val="FF00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66" name="任意多边形 165"/>
            <p:cNvSpPr/>
            <p:nvPr/>
          </p:nvSpPr>
          <p:spPr>
            <a:xfrm>
              <a:off x="3878287" y="5105400"/>
              <a:ext cx="685800" cy="1239838"/>
            </a:xfrm>
            <a:custGeom>
              <a:avLst/>
              <a:gdLst>
                <a:gd name="connsiteX0" fmla="*/ 685800 w 685800"/>
                <a:gd name="connsiteY0" fmla="*/ 876300 h 1239838"/>
                <a:gd name="connsiteX1" fmla="*/ 628650 w 685800"/>
                <a:gd name="connsiteY1" fmla="*/ 1133475 h 1239838"/>
                <a:gd name="connsiteX2" fmla="*/ 400050 w 685800"/>
                <a:gd name="connsiteY2" fmla="*/ 1190625 h 1239838"/>
                <a:gd name="connsiteX3" fmla="*/ 228600 w 685800"/>
                <a:gd name="connsiteY3" fmla="*/ 838200 h 1239838"/>
                <a:gd name="connsiteX4" fmla="*/ 0 w 685800"/>
                <a:gd name="connsiteY4" fmla="*/ 0 h 1239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 h="1239838">
                  <a:moveTo>
                    <a:pt x="685800" y="876300"/>
                  </a:moveTo>
                  <a:cubicBezTo>
                    <a:pt x="681037" y="978694"/>
                    <a:pt x="676275" y="1081088"/>
                    <a:pt x="628650" y="1133475"/>
                  </a:cubicBezTo>
                  <a:cubicBezTo>
                    <a:pt x="581025" y="1185863"/>
                    <a:pt x="466725" y="1239838"/>
                    <a:pt x="400050" y="1190625"/>
                  </a:cubicBezTo>
                  <a:cubicBezTo>
                    <a:pt x="333375" y="1141413"/>
                    <a:pt x="295275" y="1036638"/>
                    <a:pt x="228600" y="838200"/>
                  </a:cubicBezTo>
                  <a:cubicBezTo>
                    <a:pt x="161925" y="639763"/>
                    <a:pt x="80962" y="319881"/>
                    <a:pt x="0" y="0"/>
                  </a:cubicBezTo>
                </a:path>
              </a:pathLst>
            </a:custGeom>
            <a:ln w="19050">
              <a:solidFill>
                <a:srgbClr val="FF00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67" name="任意多边形 166"/>
            <p:cNvSpPr/>
            <p:nvPr/>
          </p:nvSpPr>
          <p:spPr>
            <a:xfrm>
              <a:off x="4602187" y="3971925"/>
              <a:ext cx="879475" cy="2338387"/>
            </a:xfrm>
            <a:custGeom>
              <a:avLst/>
              <a:gdLst>
                <a:gd name="connsiteX0" fmla="*/ 542925 w 879475"/>
                <a:gd name="connsiteY0" fmla="*/ 2009775 h 2338387"/>
                <a:gd name="connsiteX1" fmla="*/ 581025 w 879475"/>
                <a:gd name="connsiteY1" fmla="*/ 2228850 h 2338387"/>
                <a:gd name="connsiteX2" fmla="*/ 790575 w 879475"/>
                <a:gd name="connsiteY2" fmla="*/ 2286000 h 2338387"/>
                <a:gd name="connsiteX3" fmla="*/ 876300 w 879475"/>
                <a:gd name="connsiteY3" fmla="*/ 1914525 h 2338387"/>
                <a:gd name="connsiteX4" fmla="*/ 771525 w 879475"/>
                <a:gd name="connsiteY4" fmla="*/ 1381125 h 2338387"/>
                <a:gd name="connsiteX5" fmla="*/ 504825 w 879475"/>
                <a:gd name="connsiteY5" fmla="*/ 1171575 h 2338387"/>
                <a:gd name="connsiteX6" fmla="*/ 0 w 879475"/>
                <a:gd name="connsiteY6" fmla="*/ 0 h 233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9475" h="2338387">
                  <a:moveTo>
                    <a:pt x="542925" y="2009775"/>
                  </a:moveTo>
                  <a:cubicBezTo>
                    <a:pt x="541337" y="2096294"/>
                    <a:pt x="539750" y="2182813"/>
                    <a:pt x="581025" y="2228850"/>
                  </a:cubicBezTo>
                  <a:cubicBezTo>
                    <a:pt x="622300" y="2274887"/>
                    <a:pt x="741363" y="2338387"/>
                    <a:pt x="790575" y="2286000"/>
                  </a:cubicBezTo>
                  <a:cubicBezTo>
                    <a:pt x="839787" y="2233613"/>
                    <a:pt x="879475" y="2065337"/>
                    <a:pt x="876300" y="1914525"/>
                  </a:cubicBezTo>
                  <a:cubicBezTo>
                    <a:pt x="873125" y="1763713"/>
                    <a:pt x="833438" y="1504950"/>
                    <a:pt x="771525" y="1381125"/>
                  </a:cubicBezTo>
                  <a:cubicBezTo>
                    <a:pt x="709613" y="1257300"/>
                    <a:pt x="633413" y="1401763"/>
                    <a:pt x="504825" y="1171575"/>
                  </a:cubicBezTo>
                  <a:cubicBezTo>
                    <a:pt x="376238" y="941388"/>
                    <a:pt x="188119" y="470694"/>
                    <a:pt x="0" y="0"/>
                  </a:cubicBezTo>
                </a:path>
              </a:pathLst>
            </a:custGeom>
            <a:ln w="19050">
              <a:solidFill>
                <a:srgbClr val="FF00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68" name="任意多边形 167"/>
            <p:cNvSpPr/>
            <p:nvPr/>
          </p:nvSpPr>
          <p:spPr>
            <a:xfrm>
              <a:off x="5202511" y="2786057"/>
              <a:ext cx="380752" cy="2467773"/>
            </a:xfrm>
            <a:custGeom>
              <a:avLst/>
              <a:gdLst>
                <a:gd name="connsiteX0" fmla="*/ 800100 w 800100"/>
                <a:gd name="connsiteY0" fmla="*/ 952500 h 1235075"/>
                <a:gd name="connsiteX1" fmla="*/ 752475 w 800100"/>
                <a:gd name="connsiteY1" fmla="*/ 1171575 h 1235075"/>
                <a:gd name="connsiteX2" fmla="*/ 571500 w 800100"/>
                <a:gd name="connsiteY2" fmla="*/ 1209675 h 1235075"/>
                <a:gd name="connsiteX3" fmla="*/ 428625 w 800100"/>
                <a:gd name="connsiteY3" fmla="*/ 1019175 h 1235075"/>
                <a:gd name="connsiteX4" fmla="*/ 0 w 800100"/>
                <a:gd name="connsiteY4" fmla="*/ 0 h 1235075"/>
                <a:gd name="connsiteX0" fmla="*/ 372001 w 372001"/>
                <a:gd name="connsiteY0" fmla="*/ 2057404 h 2509842"/>
                <a:gd name="connsiteX1" fmla="*/ 324376 w 372001"/>
                <a:gd name="connsiteY1" fmla="*/ 2276479 h 2509842"/>
                <a:gd name="connsiteX2" fmla="*/ 143401 w 372001"/>
                <a:gd name="connsiteY2" fmla="*/ 2314579 h 2509842"/>
                <a:gd name="connsiteX3" fmla="*/ 526 w 372001"/>
                <a:gd name="connsiteY3" fmla="*/ 2124079 h 2509842"/>
                <a:gd name="connsiteX4" fmla="*/ 146557 w 372001"/>
                <a:gd name="connsiteY4" fmla="*/ 0 h 2509842"/>
                <a:gd name="connsiteX0" fmla="*/ 368846 w 368846"/>
                <a:gd name="connsiteY0" fmla="*/ 2057404 h 2396334"/>
                <a:gd name="connsiteX1" fmla="*/ 321221 w 368846"/>
                <a:gd name="connsiteY1" fmla="*/ 2276479 h 2396334"/>
                <a:gd name="connsiteX2" fmla="*/ 140246 w 368846"/>
                <a:gd name="connsiteY2" fmla="*/ 2314579 h 2396334"/>
                <a:gd name="connsiteX3" fmla="*/ 526 w 368846"/>
                <a:gd name="connsiteY3" fmla="*/ 1785949 h 2396334"/>
                <a:gd name="connsiteX4" fmla="*/ 143402 w 368846"/>
                <a:gd name="connsiteY4" fmla="*/ 0 h 2396334"/>
                <a:gd name="connsiteX0" fmla="*/ 392658 w 476776"/>
                <a:gd name="connsiteY0" fmla="*/ 2128843 h 2467773"/>
                <a:gd name="connsiteX1" fmla="*/ 345033 w 476776"/>
                <a:gd name="connsiteY1" fmla="*/ 2347918 h 2467773"/>
                <a:gd name="connsiteX2" fmla="*/ 164058 w 476776"/>
                <a:gd name="connsiteY2" fmla="*/ 2386018 h 2467773"/>
                <a:gd name="connsiteX3" fmla="*/ 24338 w 476776"/>
                <a:gd name="connsiteY3" fmla="*/ 1857388 h 2467773"/>
                <a:gd name="connsiteX4" fmla="*/ 310089 w 476776"/>
                <a:gd name="connsiteY4" fmla="*/ 0 h 2467773"/>
                <a:gd name="connsiteX0" fmla="*/ 380752 w 380752"/>
                <a:gd name="connsiteY0" fmla="*/ 2128843 h 2467773"/>
                <a:gd name="connsiteX1" fmla="*/ 333127 w 380752"/>
                <a:gd name="connsiteY1" fmla="*/ 2347918 h 2467773"/>
                <a:gd name="connsiteX2" fmla="*/ 152152 w 380752"/>
                <a:gd name="connsiteY2" fmla="*/ 2386018 h 2467773"/>
                <a:gd name="connsiteX3" fmla="*/ 12432 w 380752"/>
                <a:gd name="connsiteY3" fmla="*/ 1857388 h 2467773"/>
                <a:gd name="connsiteX4" fmla="*/ 226745 w 380752"/>
                <a:gd name="connsiteY4" fmla="*/ 714381 h 2467773"/>
                <a:gd name="connsiteX5" fmla="*/ 298183 w 380752"/>
                <a:gd name="connsiteY5" fmla="*/ 0 h 2467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752" h="2467773">
                  <a:moveTo>
                    <a:pt x="380752" y="2128843"/>
                  </a:moveTo>
                  <a:cubicBezTo>
                    <a:pt x="375989" y="2216949"/>
                    <a:pt x="371227" y="2305056"/>
                    <a:pt x="333127" y="2347918"/>
                  </a:cubicBezTo>
                  <a:cubicBezTo>
                    <a:pt x="295027" y="2390780"/>
                    <a:pt x="205601" y="2467773"/>
                    <a:pt x="152152" y="2386018"/>
                  </a:cubicBezTo>
                  <a:cubicBezTo>
                    <a:pt x="98703" y="2304263"/>
                    <a:pt x="0" y="2135994"/>
                    <a:pt x="12432" y="1857388"/>
                  </a:cubicBezTo>
                  <a:cubicBezTo>
                    <a:pt x="24864" y="1578782"/>
                    <a:pt x="179120" y="1023946"/>
                    <a:pt x="226745" y="714381"/>
                  </a:cubicBezTo>
                  <a:cubicBezTo>
                    <a:pt x="274370" y="404816"/>
                    <a:pt x="298976" y="89695"/>
                    <a:pt x="298183" y="0"/>
                  </a:cubicBezTo>
                </a:path>
              </a:pathLst>
            </a:custGeom>
            <a:ln w="19050">
              <a:solidFill>
                <a:srgbClr val="FF00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solidFill>
                  <a:srgbClr val="FF00FF"/>
                </a:solidFill>
              </a:endParaRPr>
            </a:p>
          </p:txBody>
        </p:sp>
        <p:sp>
          <p:nvSpPr>
            <p:cNvPr id="169" name="任意多边形 168"/>
            <p:cNvSpPr/>
            <p:nvPr/>
          </p:nvSpPr>
          <p:spPr>
            <a:xfrm>
              <a:off x="6145237" y="3971925"/>
              <a:ext cx="330200" cy="1250950"/>
            </a:xfrm>
            <a:custGeom>
              <a:avLst/>
              <a:gdLst>
                <a:gd name="connsiteX0" fmla="*/ 0 w 330200"/>
                <a:gd name="connsiteY0" fmla="*/ 971550 h 1250950"/>
                <a:gd name="connsiteX1" fmla="*/ 142875 w 330200"/>
                <a:gd name="connsiteY1" fmla="*/ 1219200 h 1250950"/>
                <a:gd name="connsiteX2" fmla="*/ 285750 w 330200"/>
                <a:gd name="connsiteY2" fmla="*/ 1162050 h 1250950"/>
                <a:gd name="connsiteX3" fmla="*/ 323850 w 330200"/>
                <a:gd name="connsiteY3" fmla="*/ 790575 h 1250950"/>
                <a:gd name="connsiteX4" fmla="*/ 323850 w 330200"/>
                <a:gd name="connsiteY4" fmla="*/ 0 h 1250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200" h="1250950">
                  <a:moveTo>
                    <a:pt x="0" y="971550"/>
                  </a:moveTo>
                  <a:cubicBezTo>
                    <a:pt x="47625" y="1079500"/>
                    <a:pt x="95250" y="1187450"/>
                    <a:pt x="142875" y="1219200"/>
                  </a:cubicBezTo>
                  <a:cubicBezTo>
                    <a:pt x="190500" y="1250950"/>
                    <a:pt x="255588" y="1233488"/>
                    <a:pt x="285750" y="1162050"/>
                  </a:cubicBezTo>
                  <a:cubicBezTo>
                    <a:pt x="315913" y="1090613"/>
                    <a:pt x="317500" y="984250"/>
                    <a:pt x="323850" y="790575"/>
                  </a:cubicBezTo>
                  <a:cubicBezTo>
                    <a:pt x="330200" y="596900"/>
                    <a:pt x="327025" y="298450"/>
                    <a:pt x="323850" y="0"/>
                  </a:cubicBezTo>
                </a:path>
              </a:pathLst>
            </a:custGeom>
            <a:ln w="19050">
              <a:solidFill>
                <a:srgbClr val="FF00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0" name="任意多边形 169"/>
            <p:cNvSpPr/>
            <p:nvPr/>
          </p:nvSpPr>
          <p:spPr>
            <a:xfrm>
              <a:off x="5707087" y="1457325"/>
              <a:ext cx="1914525" cy="2876550"/>
            </a:xfrm>
            <a:custGeom>
              <a:avLst/>
              <a:gdLst>
                <a:gd name="connsiteX0" fmla="*/ 0 w 1914525"/>
                <a:gd name="connsiteY0" fmla="*/ 0 h 2876550"/>
                <a:gd name="connsiteX1" fmla="*/ 590550 w 1914525"/>
                <a:gd name="connsiteY1" fmla="*/ 781050 h 2876550"/>
                <a:gd name="connsiteX2" fmla="*/ 1314450 w 1914525"/>
                <a:gd name="connsiteY2" fmla="*/ 1495425 h 2876550"/>
                <a:gd name="connsiteX3" fmla="*/ 1771650 w 1914525"/>
                <a:gd name="connsiteY3" fmla="*/ 1800225 h 2876550"/>
                <a:gd name="connsiteX4" fmla="*/ 1914525 w 1914525"/>
                <a:gd name="connsiteY4" fmla="*/ 2876550 h 2876550"/>
                <a:gd name="connsiteX0" fmla="*/ 0 w 1914525"/>
                <a:gd name="connsiteY0" fmla="*/ 0 h 2876550"/>
                <a:gd name="connsiteX1" fmla="*/ 590550 w 1914525"/>
                <a:gd name="connsiteY1" fmla="*/ 781050 h 2876550"/>
                <a:gd name="connsiteX2" fmla="*/ 1314450 w 1914525"/>
                <a:gd name="connsiteY2" fmla="*/ 1495425 h 2876550"/>
                <a:gd name="connsiteX3" fmla="*/ 1652609 w 1914525"/>
                <a:gd name="connsiteY3" fmla="*/ 2043113 h 2876550"/>
                <a:gd name="connsiteX4" fmla="*/ 1914525 w 1914525"/>
                <a:gd name="connsiteY4" fmla="*/ 2876550 h 2876550"/>
                <a:gd name="connsiteX0" fmla="*/ 0 w 1914525"/>
                <a:gd name="connsiteY0" fmla="*/ 0 h 2876550"/>
                <a:gd name="connsiteX1" fmla="*/ 590550 w 1914525"/>
                <a:gd name="connsiteY1" fmla="*/ 781050 h 2876550"/>
                <a:gd name="connsiteX2" fmla="*/ 1314450 w 1914525"/>
                <a:gd name="connsiteY2" fmla="*/ 1495425 h 2876550"/>
                <a:gd name="connsiteX3" fmla="*/ 1652609 w 1914525"/>
                <a:gd name="connsiteY3" fmla="*/ 2043113 h 2876550"/>
                <a:gd name="connsiteX4" fmla="*/ 1914525 w 1914525"/>
                <a:gd name="connsiteY4" fmla="*/ 2876550 h 2876550"/>
                <a:gd name="connsiteX0" fmla="*/ 0 w 1914525"/>
                <a:gd name="connsiteY0" fmla="*/ 0 h 2876550"/>
                <a:gd name="connsiteX1" fmla="*/ 590550 w 1914525"/>
                <a:gd name="connsiteY1" fmla="*/ 781050 h 2876550"/>
                <a:gd name="connsiteX2" fmla="*/ 1295419 w 1914525"/>
                <a:gd name="connsiteY2" fmla="*/ 1471609 h 2876550"/>
                <a:gd name="connsiteX3" fmla="*/ 1652609 w 1914525"/>
                <a:gd name="connsiteY3" fmla="*/ 2043113 h 2876550"/>
                <a:gd name="connsiteX4" fmla="*/ 1914525 w 1914525"/>
                <a:gd name="connsiteY4" fmla="*/ 2876550 h 2876550"/>
                <a:gd name="connsiteX0" fmla="*/ 0 w 1914525"/>
                <a:gd name="connsiteY0" fmla="*/ 0 h 2876550"/>
                <a:gd name="connsiteX1" fmla="*/ 590550 w 1914525"/>
                <a:gd name="connsiteY1" fmla="*/ 781050 h 2876550"/>
                <a:gd name="connsiteX2" fmla="*/ 1295419 w 1914525"/>
                <a:gd name="connsiteY2" fmla="*/ 1471609 h 2876550"/>
                <a:gd name="connsiteX3" fmla="*/ 1724047 w 1914525"/>
                <a:gd name="connsiteY3" fmla="*/ 2043113 h 2876550"/>
                <a:gd name="connsiteX4" fmla="*/ 1914525 w 1914525"/>
                <a:gd name="connsiteY4" fmla="*/ 2876550 h 2876550"/>
                <a:gd name="connsiteX0" fmla="*/ 0 w 1914525"/>
                <a:gd name="connsiteY0" fmla="*/ 0 h 2876550"/>
                <a:gd name="connsiteX1" fmla="*/ 590550 w 1914525"/>
                <a:gd name="connsiteY1" fmla="*/ 781050 h 2876550"/>
                <a:gd name="connsiteX2" fmla="*/ 1295419 w 1914525"/>
                <a:gd name="connsiteY2" fmla="*/ 1471609 h 2876550"/>
                <a:gd name="connsiteX3" fmla="*/ 1795485 w 1914525"/>
                <a:gd name="connsiteY3" fmla="*/ 2114551 h 2876550"/>
                <a:gd name="connsiteX4" fmla="*/ 1914525 w 1914525"/>
                <a:gd name="connsiteY4" fmla="*/ 2876550 h 2876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525" h="2876550">
                  <a:moveTo>
                    <a:pt x="0" y="0"/>
                  </a:moveTo>
                  <a:cubicBezTo>
                    <a:pt x="185737" y="265906"/>
                    <a:pt x="374647" y="535782"/>
                    <a:pt x="590550" y="781050"/>
                  </a:cubicBezTo>
                  <a:cubicBezTo>
                    <a:pt x="806453" y="1026318"/>
                    <a:pt x="1094597" y="1249359"/>
                    <a:pt x="1295419" y="1471609"/>
                  </a:cubicBezTo>
                  <a:cubicBezTo>
                    <a:pt x="1496241" y="1693859"/>
                    <a:pt x="1724027" y="1808165"/>
                    <a:pt x="1795485" y="2114551"/>
                  </a:cubicBezTo>
                  <a:cubicBezTo>
                    <a:pt x="1895497" y="2344738"/>
                    <a:pt x="1893093" y="2453481"/>
                    <a:pt x="1914525" y="2876550"/>
                  </a:cubicBezTo>
                </a:path>
              </a:pathLst>
            </a:custGeom>
            <a:ln w="19050">
              <a:solidFill>
                <a:srgbClr val="FF00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1" name="任意多边形 170"/>
            <p:cNvSpPr/>
            <p:nvPr/>
          </p:nvSpPr>
          <p:spPr>
            <a:xfrm>
              <a:off x="6729437" y="3971925"/>
              <a:ext cx="357187" cy="1300162"/>
            </a:xfrm>
            <a:custGeom>
              <a:avLst/>
              <a:gdLst>
                <a:gd name="connsiteX0" fmla="*/ 349250 w 357187"/>
                <a:gd name="connsiteY0" fmla="*/ 914400 h 1300162"/>
                <a:gd name="connsiteX1" fmla="*/ 320675 w 357187"/>
                <a:gd name="connsiteY1" fmla="*/ 1162050 h 1300162"/>
                <a:gd name="connsiteX2" fmla="*/ 130175 w 357187"/>
                <a:gd name="connsiteY2" fmla="*/ 1266825 h 1300162"/>
                <a:gd name="connsiteX3" fmla="*/ 15875 w 357187"/>
                <a:gd name="connsiteY3" fmla="*/ 962025 h 1300162"/>
                <a:gd name="connsiteX4" fmla="*/ 34925 w 357187"/>
                <a:gd name="connsiteY4" fmla="*/ 0 h 1300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187" h="1300162">
                  <a:moveTo>
                    <a:pt x="349250" y="914400"/>
                  </a:moveTo>
                  <a:cubicBezTo>
                    <a:pt x="353218" y="1008856"/>
                    <a:pt x="357187" y="1103313"/>
                    <a:pt x="320675" y="1162050"/>
                  </a:cubicBezTo>
                  <a:cubicBezTo>
                    <a:pt x="284163" y="1220787"/>
                    <a:pt x="180975" y="1300162"/>
                    <a:pt x="130175" y="1266825"/>
                  </a:cubicBezTo>
                  <a:cubicBezTo>
                    <a:pt x="79375" y="1233488"/>
                    <a:pt x="31750" y="1173162"/>
                    <a:pt x="15875" y="962025"/>
                  </a:cubicBezTo>
                  <a:cubicBezTo>
                    <a:pt x="0" y="750888"/>
                    <a:pt x="17462" y="375444"/>
                    <a:pt x="34925" y="0"/>
                  </a:cubicBezTo>
                </a:path>
              </a:pathLst>
            </a:custGeom>
            <a:ln w="19050">
              <a:solidFill>
                <a:srgbClr val="FF00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2" name="任意多边形 171"/>
            <p:cNvSpPr/>
            <p:nvPr/>
          </p:nvSpPr>
          <p:spPr>
            <a:xfrm>
              <a:off x="5954737" y="1476375"/>
              <a:ext cx="2117725" cy="3844925"/>
            </a:xfrm>
            <a:custGeom>
              <a:avLst/>
              <a:gdLst>
                <a:gd name="connsiteX0" fmla="*/ 1638300 w 2117725"/>
                <a:gd name="connsiteY0" fmla="*/ 3438525 h 3844925"/>
                <a:gd name="connsiteX1" fmla="*/ 1819275 w 2117725"/>
                <a:gd name="connsiteY1" fmla="*/ 3695700 h 3844925"/>
                <a:gd name="connsiteX2" fmla="*/ 2085975 w 2117725"/>
                <a:gd name="connsiteY2" fmla="*/ 3733800 h 3844925"/>
                <a:gd name="connsiteX3" fmla="*/ 2009775 w 2117725"/>
                <a:gd name="connsiteY3" fmla="*/ 3028950 h 3844925"/>
                <a:gd name="connsiteX4" fmla="*/ 1781175 w 2117725"/>
                <a:gd name="connsiteY4" fmla="*/ 2028825 h 3844925"/>
                <a:gd name="connsiteX5" fmla="*/ 1714500 w 2117725"/>
                <a:gd name="connsiteY5" fmla="*/ 1485900 h 3844925"/>
                <a:gd name="connsiteX6" fmla="*/ 0 w 2117725"/>
                <a:gd name="connsiteY6" fmla="*/ 0 h 3844925"/>
                <a:gd name="connsiteX0" fmla="*/ 1638300 w 2117725"/>
                <a:gd name="connsiteY0" fmla="*/ 3438525 h 3844925"/>
                <a:gd name="connsiteX1" fmla="*/ 1819275 w 2117725"/>
                <a:gd name="connsiteY1" fmla="*/ 3695700 h 3844925"/>
                <a:gd name="connsiteX2" fmla="*/ 2085975 w 2117725"/>
                <a:gd name="connsiteY2" fmla="*/ 3733800 h 3844925"/>
                <a:gd name="connsiteX3" fmla="*/ 2009775 w 2117725"/>
                <a:gd name="connsiteY3" fmla="*/ 3028950 h 3844925"/>
                <a:gd name="connsiteX4" fmla="*/ 1781175 w 2117725"/>
                <a:gd name="connsiteY4" fmla="*/ 2028825 h 3844925"/>
                <a:gd name="connsiteX5" fmla="*/ 1333521 w 2117725"/>
                <a:gd name="connsiteY5" fmla="*/ 1238245 h 3844925"/>
                <a:gd name="connsiteX6" fmla="*/ 0 w 2117725"/>
                <a:gd name="connsiteY6" fmla="*/ 0 h 384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7725" h="3844925">
                  <a:moveTo>
                    <a:pt x="1638300" y="3438525"/>
                  </a:moveTo>
                  <a:cubicBezTo>
                    <a:pt x="1691481" y="3542506"/>
                    <a:pt x="1744663" y="3646488"/>
                    <a:pt x="1819275" y="3695700"/>
                  </a:cubicBezTo>
                  <a:cubicBezTo>
                    <a:pt x="1893887" y="3744912"/>
                    <a:pt x="2054225" y="3844925"/>
                    <a:pt x="2085975" y="3733800"/>
                  </a:cubicBezTo>
                  <a:cubicBezTo>
                    <a:pt x="2117725" y="3622675"/>
                    <a:pt x="2060575" y="3313113"/>
                    <a:pt x="2009775" y="3028950"/>
                  </a:cubicBezTo>
                  <a:cubicBezTo>
                    <a:pt x="1958975" y="2744788"/>
                    <a:pt x="1893884" y="2327276"/>
                    <a:pt x="1781175" y="2028825"/>
                  </a:cubicBezTo>
                  <a:cubicBezTo>
                    <a:pt x="1668466" y="1730374"/>
                    <a:pt x="1630384" y="1576383"/>
                    <a:pt x="1333521" y="1238245"/>
                  </a:cubicBezTo>
                  <a:cubicBezTo>
                    <a:pt x="1036659" y="900108"/>
                    <a:pt x="708819" y="573881"/>
                    <a:pt x="0" y="0"/>
                  </a:cubicBezTo>
                </a:path>
              </a:pathLst>
            </a:custGeom>
            <a:ln w="19050">
              <a:solidFill>
                <a:srgbClr val="FF00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3" name="TextBox 172"/>
            <p:cNvSpPr txBox="1"/>
            <p:nvPr/>
          </p:nvSpPr>
          <p:spPr>
            <a:xfrm>
              <a:off x="5930936" y="928670"/>
              <a:ext cx="1071570" cy="369332"/>
            </a:xfrm>
            <a:prstGeom prst="rect">
              <a:avLst/>
            </a:prstGeom>
            <a:noFill/>
          </p:spPr>
          <p:txBody>
            <a:bodyPr wrap="square" rtlCol="0">
              <a:spAutoFit/>
            </a:bodyPr>
            <a:lstStyle/>
            <a:p>
              <a:pPr algn="l">
                <a:lnSpc>
                  <a:spcPct val="100000"/>
                </a:lnSpc>
                <a:spcBef>
                  <a:spcPts val="0"/>
                </a:spcBef>
              </a:pPr>
              <a:r>
                <a:rPr lang="zh-CN" altLang="en-US" sz="1800" smtClean="0">
                  <a:solidFill>
                    <a:srgbClr val="0000FF"/>
                  </a:solidFill>
                  <a:latin typeface="Consolas" pitchFamily="49" charset="0"/>
                  <a:ea typeface="仿宋" pitchFamily="49" charset="-122"/>
                  <a:cs typeface="Consolas" pitchFamily="49" charset="0"/>
                </a:rPr>
                <a:t>头结点</a:t>
              </a:r>
            </a:p>
          </p:txBody>
        </p:sp>
        <p:sp>
          <p:nvSpPr>
            <p:cNvPr id="174" name="任意多边形 173"/>
            <p:cNvSpPr/>
            <p:nvPr/>
          </p:nvSpPr>
          <p:spPr>
            <a:xfrm>
              <a:off x="4743450" y="2790825"/>
              <a:ext cx="552450" cy="1325563"/>
            </a:xfrm>
            <a:custGeom>
              <a:avLst/>
              <a:gdLst>
                <a:gd name="connsiteX0" fmla="*/ 0 w 552450"/>
                <a:gd name="connsiteY0" fmla="*/ 1009650 h 1325563"/>
                <a:gd name="connsiteX1" fmla="*/ 209550 w 552450"/>
                <a:gd name="connsiteY1" fmla="*/ 1314450 h 1325563"/>
                <a:gd name="connsiteX2" fmla="*/ 371475 w 552450"/>
                <a:gd name="connsiteY2" fmla="*/ 1076325 h 1325563"/>
                <a:gd name="connsiteX3" fmla="*/ 552450 w 552450"/>
                <a:gd name="connsiteY3" fmla="*/ 0 h 1325563"/>
              </a:gdLst>
              <a:ahLst/>
              <a:cxnLst>
                <a:cxn ang="0">
                  <a:pos x="connsiteX0" y="connsiteY0"/>
                </a:cxn>
                <a:cxn ang="0">
                  <a:pos x="connsiteX1" y="connsiteY1"/>
                </a:cxn>
                <a:cxn ang="0">
                  <a:pos x="connsiteX2" y="connsiteY2"/>
                </a:cxn>
                <a:cxn ang="0">
                  <a:pos x="connsiteX3" y="connsiteY3"/>
                </a:cxn>
              </a:cxnLst>
              <a:rect l="l" t="t" r="r" b="b"/>
              <a:pathLst>
                <a:path w="552450" h="1325563">
                  <a:moveTo>
                    <a:pt x="0" y="1009650"/>
                  </a:moveTo>
                  <a:cubicBezTo>
                    <a:pt x="73818" y="1156493"/>
                    <a:pt x="147637" y="1303337"/>
                    <a:pt x="209550" y="1314450"/>
                  </a:cubicBezTo>
                  <a:cubicBezTo>
                    <a:pt x="271463" y="1325563"/>
                    <a:pt x="314325" y="1295400"/>
                    <a:pt x="371475" y="1076325"/>
                  </a:cubicBezTo>
                  <a:cubicBezTo>
                    <a:pt x="428625" y="857250"/>
                    <a:pt x="490537" y="428625"/>
                    <a:pt x="552450" y="0"/>
                  </a:cubicBezTo>
                </a:path>
              </a:pathLst>
            </a:custGeom>
            <a:ln w="19050">
              <a:solidFill>
                <a:srgbClr val="C00000"/>
              </a:solidFill>
              <a:prstDash val="dash"/>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sp>
        <p:nvSpPr>
          <p:cNvPr id="88" name="灯片编号占位符 87"/>
          <p:cNvSpPr>
            <a:spLocks noGrp="1"/>
          </p:cNvSpPr>
          <p:nvPr>
            <p:ph type="sldNum" sz="quarter" idx="12"/>
          </p:nvPr>
        </p:nvSpPr>
        <p:spPr/>
        <p:txBody>
          <a:bodyPr/>
          <a:lstStyle/>
          <a:p>
            <a:fld id="{67864EE2-EAB3-4814-A7EB-820BD7610F1E}" type="slidenum">
              <a:rPr lang="en-US" altLang="zh-CN" smtClean="0"/>
              <a:pPr/>
              <a:t>38</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428736"/>
            <a:ext cx="400052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7.7.1 </a:t>
            </a:r>
            <a:r>
              <a:rPr lang="zh-CN" altLang="zh-CN" smtClean="0">
                <a:latin typeface="Consolas" pitchFamily="49" charset="0"/>
                <a:ea typeface="微软雅黑" pitchFamily="34" charset="-122"/>
                <a:cs typeface="Consolas" pitchFamily="49" charset="0"/>
              </a:rPr>
              <a:t>哈夫曼树的定义</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2428860" y="428604"/>
            <a:ext cx="4214842"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7.7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哈夫曼树</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1000100" y="2285992"/>
            <a:ext cx="7215238" cy="339846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应用中常</a:t>
            </a:r>
            <a:r>
              <a:rPr lang="zh-CN" altLang="en-US" sz="2000" smtClean="0">
                <a:solidFill>
                  <a:srgbClr val="0000FF"/>
                </a:solidFill>
                <a:latin typeface="Consolas" pitchFamily="49" charset="0"/>
                <a:ea typeface="仿宋" pitchFamily="49" charset="-122"/>
                <a:cs typeface="Consolas" pitchFamily="49" charset="0"/>
              </a:rPr>
              <a:t>给</a:t>
            </a:r>
            <a:r>
              <a:rPr lang="zh-CN" altLang="zh-CN" sz="2000" smtClean="0">
                <a:solidFill>
                  <a:srgbClr val="0000FF"/>
                </a:solidFill>
                <a:latin typeface="Consolas" pitchFamily="49" charset="0"/>
                <a:ea typeface="仿宋" pitchFamily="49" charset="-122"/>
                <a:cs typeface="Consolas" pitchFamily="49" charset="0"/>
              </a:rPr>
              <a:t>树中的结点赋上一个有着某种意义的数值</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FF0000"/>
                </a:solidFill>
                <a:latin typeface="Consolas" pitchFamily="49" charset="0"/>
                <a:ea typeface="仿宋" pitchFamily="49" charset="-122"/>
                <a:cs typeface="Consolas" pitchFamily="49" charset="0"/>
              </a:rPr>
              <a:t>权</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从树根结点到</a:t>
            </a:r>
            <a:r>
              <a:rPr lang="zh-CN" altLang="en-US" sz="2000" smtClean="0">
                <a:solidFill>
                  <a:srgbClr val="0000FF"/>
                </a:solidFill>
                <a:latin typeface="Consolas" pitchFamily="49" charset="0"/>
                <a:ea typeface="仿宋" pitchFamily="49" charset="-122"/>
                <a:cs typeface="Consolas" pitchFamily="49" charset="0"/>
              </a:rPr>
              <a:t>某个</a:t>
            </a:r>
            <a:r>
              <a:rPr lang="zh-CN" altLang="zh-CN" sz="2000" smtClean="0">
                <a:solidFill>
                  <a:srgbClr val="0000FF"/>
                </a:solidFill>
                <a:latin typeface="Consolas" pitchFamily="49" charset="0"/>
                <a:ea typeface="仿宋" pitchFamily="49" charset="-122"/>
                <a:cs typeface="Consolas" pitchFamily="49" charset="0"/>
              </a:rPr>
              <a:t>结点之间的路径长度与该结点权的乘积称为结点的</a:t>
            </a:r>
            <a:r>
              <a:rPr lang="zh-CN" altLang="zh-CN" sz="2000" smtClean="0">
                <a:solidFill>
                  <a:srgbClr val="FF0000"/>
                </a:solidFill>
                <a:latin typeface="Consolas" pitchFamily="49" charset="0"/>
                <a:ea typeface="仿宋" pitchFamily="49" charset="-122"/>
                <a:cs typeface="Consolas" pitchFamily="49" charset="0"/>
              </a:rPr>
              <a:t>带权路径长度</a:t>
            </a:r>
            <a:r>
              <a:rPr lang="zh-CN" altLang="zh-CN"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一棵二叉树树中所有叶子结点的带权路径长度之和称为该树的带权路径长度，通常记为：</a:t>
            </a:r>
          </a:p>
          <a:p>
            <a:pPr marL="342900" indent="-342900" algn="l">
              <a:lnSpc>
                <a:spcPts val="2800"/>
              </a:lnSpc>
              <a:spcBef>
                <a:spcPts val="600"/>
              </a:spcBef>
              <a:buBlip>
                <a:blip r:embed="rId2"/>
              </a:buBlip>
            </a:pP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在</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个带权叶子结点构成的所有二叉树中，带权路径长度</a:t>
            </a:r>
            <a:r>
              <a:rPr lang="en-US" altLang="zh-CN" sz="2000" smtClean="0">
                <a:solidFill>
                  <a:srgbClr val="0000FF"/>
                </a:solidFill>
                <a:latin typeface="Consolas" pitchFamily="49" charset="0"/>
                <a:ea typeface="仿宋" pitchFamily="49" charset="-122"/>
                <a:cs typeface="Consolas" pitchFamily="49" charset="0"/>
              </a:rPr>
              <a:t>WPL</a:t>
            </a:r>
            <a:r>
              <a:rPr lang="zh-CN" altLang="zh-CN" sz="2000" smtClean="0">
                <a:solidFill>
                  <a:srgbClr val="0000FF"/>
                </a:solidFill>
                <a:latin typeface="Consolas" pitchFamily="49" charset="0"/>
                <a:ea typeface="仿宋" pitchFamily="49" charset="-122"/>
                <a:cs typeface="Consolas" pitchFamily="49" charset="0"/>
              </a:rPr>
              <a:t>最小的二叉树称为哈夫曼树（或最优二叉树）</a:t>
            </a:r>
            <a:r>
              <a:rPr lang="zh-CN" altLang="en-US" sz="2000" smtClean="0">
                <a:solidFill>
                  <a:srgbClr val="0000FF"/>
                </a:solidFill>
                <a:latin typeface="Consolas" pitchFamily="49" charset="0"/>
                <a:ea typeface="仿宋" pitchFamily="49" charset="-122"/>
                <a:cs typeface="Consolas" pitchFamily="49" charset="0"/>
              </a:rPr>
              <a:t>。</a:t>
            </a:r>
          </a:p>
        </p:txBody>
      </p:sp>
      <p:pic>
        <p:nvPicPr>
          <p:cNvPr id="1026" name="Picture 2"/>
          <p:cNvPicPr>
            <a:picLocks noChangeAspect="1" noChangeArrowheads="1"/>
          </p:cNvPicPr>
          <p:nvPr/>
        </p:nvPicPr>
        <p:blipFill>
          <a:blip r:embed="rId3" cstate="print"/>
          <a:srcRect/>
          <a:stretch>
            <a:fillRect/>
          </a:stretch>
        </p:blipFill>
        <p:spPr bwMode="auto">
          <a:xfrm>
            <a:off x="4586300" y="3910022"/>
            <a:ext cx="1771650" cy="876300"/>
          </a:xfrm>
          <a:prstGeom prst="rect">
            <a:avLst/>
          </a:prstGeom>
          <a:noFill/>
          <a:ln w="9525">
            <a:noFill/>
            <a:miter lim="800000"/>
            <a:headEnd/>
            <a:tailEnd/>
          </a:ln>
        </p:spPr>
      </p:pic>
      <p:sp>
        <p:nvSpPr>
          <p:cNvPr id="8" name="灯片编号占位符 7"/>
          <p:cNvSpPr>
            <a:spLocks noGrp="1"/>
          </p:cNvSpPr>
          <p:nvPr>
            <p:ph type="sldNum" sz="quarter" idx="12"/>
          </p:nvPr>
        </p:nvSpPr>
        <p:spPr/>
        <p:txBody>
          <a:bodyPr/>
          <a:lstStyle/>
          <a:p>
            <a:fld id="{67864EE2-EAB3-4814-A7EB-820BD7610F1E}" type="slidenum">
              <a:rPr lang="en-US" altLang="zh-CN" smtClean="0"/>
              <a:pPr/>
              <a:t>39</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871543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仿宋" pitchFamily="49" charset="-122"/>
                <a:cs typeface="Consolas" pitchFamily="49" charset="0"/>
              </a:rPr>
              <a:t>给定</a:t>
            </a:r>
            <a:r>
              <a:rPr lang="en-US" altLang="zh-CN" sz="2000" smtClean="0">
                <a:solidFill>
                  <a:srgbClr val="0000FF"/>
                </a:solidFill>
                <a:latin typeface="Consolas" pitchFamily="49" charset="0"/>
                <a:ea typeface="仿宋" pitchFamily="49" charset="-122"/>
                <a:cs typeface="Consolas" pitchFamily="49" charset="0"/>
              </a:rPr>
              <a:t>4</a:t>
            </a:r>
            <a:r>
              <a:rPr lang="zh-CN" altLang="zh-CN" sz="2000" smtClean="0">
                <a:solidFill>
                  <a:srgbClr val="0000FF"/>
                </a:solidFill>
                <a:latin typeface="Consolas" pitchFamily="49" charset="0"/>
                <a:ea typeface="仿宋" pitchFamily="49" charset="-122"/>
                <a:cs typeface="Consolas" pitchFamily="49" charset="0"/>
              </a:rPr>
              <a:t>个叶子结点，设其权值分别为</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3</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5</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7</a:t>
            </a:r>
            <a:r>
              <a:rPr lang="zh-CN" altLang="zh-CN" sz="2000" smtClean="0">
                <a:solidFill>
                  <a:srgbClr val="0000FF"/>
                </a:solidFill>
                <a:latin typeface="Consolas" pitchFamily="49" charset="0"/>
                <a:ea typeface="仿宋" pitchFamily="49" charset="-122"/>
                <a:cs typeface="Consolas" pitchFamily="49" charset="0"/>
              </a:rPr>
              <a:t>，可以构造</a:t>
            </a:r>
            <a:r>
              <a:rPr lang="zh-CN" altLang="en-US" sz="2000" smtClean="0">
                <a:solidFill>
                  <a:srgbClr val="0000FF"/>
                </a:solidFill>
                <a:latin typeface="Consolas" pitchFamily="49" charset="0"/>
                <a:ea typeface="仿宋" pitchFamily="49" charset="-122"/>
                <a:cs typeface="Consolas" pitchFamily="49" charset="0"/>
              </a:rPr>
              <a:t>这样</a:t>
            </a:r>
            <a:r>
              <a:rPr lang="zh-CN" altLang="zh-CN" sz="2000" smtClean="0">
                <a:solidFill>
                  <a:srgbClr val="0000FF"/>
                </a:solidFill>
                <a:latin typeface="Consolas" pitchFamily="49" charset="0"/>
                <a:ea typeface="仿宋" pitchFamily="49" charset="-122"/>
                <a:cs typeface="Consolas" pitchFamily="49" charset="0"/>
              </a:rPr>
              <a:t>的</a:t>
            </a:r>
            <a:r>
              <a:rPr lang="en-US" altLang="zh-CN" sz="2000" smtClean="0">
                <a:solidFill>
                  <a:srgbClr val="0000FF"/>
                </a:solidFill>
                <a:latin typeface="Consolas" pitchFamily="49" charset="0"/>
                <a:ea typeface="仿宋" pitchFamily="49" charset="-122"/>
                <a:cs typeface="Consolas" pitchFamily="49" charset="0"/>
              </a:rPr>
              <a:t>4</a:t>
            </a:r>
            <a:r>
              <a:rPr lang="zh-CN" altLang="zh-CN" sz="2000" smtClean="0">
                <a:solidFill>
                  <a:srgbClr val="0000FF"/>
                </a:solidFill>
                <a:latin typeface="Consolas" pitchFamily="49" charset="0"/>
                <a:ea typeface="仿宋" pitchFamily="49" charset="-122"/>
                <a:cs typeface="Consolas" pitchFamily="49" charset="0"/>
              </a:rPr>
              <a:t>棵二叉树</a:t>
            </a:r>
            <a:r>
              <a:rPr lang="zh-CN" altLang="en-US" sz="2000" smtClean="0">
                <a:solidFill>
                  <a:srgbClr val="0000FF"/>
                </a:solidFill>
                <a:latin typeface="Consolas" pitchFamily="49" charset="0"/>
                <a:ea typeface="仿宋" pitchFamily="49" charset="-122"/>
                <a:cs typeface="Consolas" pitchFamily="49" charset="0"/>
              </a:rPr>
              <a:t>。</a:t>
            </a:r>
          </a:p>
        </p:txBody>
      </p:sp>
      <p:sp>
        <p:nvSpPr>
          <p:cNvPr id="23611" name="Rectangle 5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63"/>
          <p:cNvGrpSpPr/>
          <p:nvPr/>
        </p:nvGrpSpPr>
        <p:grpSpPr>
          <a:xfrm>
            <a:off x="571472" y="1315734"/>
            <a:ext cx="1933567" cy="2541894"/>
            <a:chOff x="785786" y="1315734"/>
            <a:chExt cx="1933567" cy="2541894"/>
          </a:xfrm>
        </p:grpSpPr>
        <p:sp>
          <p:nvSpPr>
            <p:cNvPr id="23608" name="Freeform 56"/>
            <p:cNvSpPr>
              <a:spLocks/>
            </p:cNvSpPr>
            <p:nvPr/>
          </p:nvSpPr>
          <p:spPr bwMode="auto">
            <a:xfrm>
              <a:off x="1916299" y="1506668"/>
              <a:ext cx="333956" cy="427329"/>
            </a:xfrm>
            <a:custGeom>
              <a:avLst/>
              <a:gdLst/>
              <a:ahLst/>
              <a:cxnLst>
                <a:cxn ang="0">
                  <a:pos x="0" y="0"/>
                </a:cxn>
                <a:cxn ang="0">
                  <a:pos x="293" y="375"/>
                </a:cxn>
              </a:cxnLst>
              <a:rect l="0" t="0" r="r" b="b"/>
              <a:pathLst>
                <a:path w="293" h="375">
                  <a:moveTo>
                    <a:pt x="0" y="0"/>
                  </a:moveTo>
                  <a:lnTo>
                    <a:pt x="293" y="375"/>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607" name="Oval 55"/>
            <p:cNvSpPr>
              <a:spLocks noChangeArrowheads="1"/>
            </p:cNvSpPr>
            <p:nvPr/>
          </p:nvSpPr>
          <p:spPr bwMode="auto">
            <a:xfrm>
              <a:off x="1666807" y="1315734"/>
              <a:ext cx="322261" cy="3545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16</a:t>
              </a:r>
            </a:p>
          </p:txBody>
        </p:sp>
        <p:sp>
          <p:nvSpPr>
            <p:cNvPr id="23606" name="Oval 54"/>
            <p:cNvSpPr>
              <a:spLocks noChangeArrowheads="1"/>
            </p:cNvSpPr>
            <p:nvPr/>
          </p:nvSpPr>
          <p:spPr bwMode="auto">
            <a:xfrm>
              <a:off x="1102850" y="1879445"/>
              <a:ext cx="301470" cy="300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4</a:t>
              </a:r>
            </a:p>
          </p:txBody>
        </p:sp>
        <p:sp>
          <p:nvSpPr>
            <p:cNvPr id="23605" name="Oval 53"/>
            <p:cNvSpPr>
              <a:spLocks noChangeArrowheads="1"/>
            </p:cNvSpPr>
            <p:nvPr/>
          </p:nvSpPr>
          <p:spPr bwMode="auto">
            <a:xfrm>
              <a:off x="2109916" y="1879445"/>
              <a:ext cx="301470" cy="300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12</a:t>
              </a:r>
            </a:p>
          </p:txBody>
        </p:sp>
        <p:sp>
          <p:nvSpPr>
            <p:cNvPr id="23604" name="Oval 52"/>
            <p:cNvSpPr>
              <a:spLocks noChangeArrowheads="1"/>
            </p:cNvSpPr>
            <p:nvPr/>
          </p:nvSpPr>
          <p:spPr bwMode="auto">
            <a:xfrm>
              <a:off x="785786" y="2453547"/>
              <a:ext cx="3014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a:t>
              </a:r>
            </a:p>
          </p:txBody>
        </p:sp>
        <p:sp>
          <p:nvSpPr>
            <p:cNvPr id="23603" name="Oval 51"/>
            <p:cNvSpPr>
              <a:spLocks noChangeArrowheads="1"/>
            </p:cNvSpPr>
            <p:nvPr/>
          </p:nvSpPr>
          <p:spPr bwMode="auto">
            <a:xfrm>
              <a:off x="1364037" y="2445753"/>
              <a:ext cx="3027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3</a:t>
              </a:r>
            </a:p>
          </p:txBody>
        </p:sp>
        <p:sp>
          <p:nvSpPr>
            <p:cNvPr id="23602" name="Oval 50"/>
            <p:cNvSpPr>
              <a:spLocks noChangeArrowheads="1"/>
            </p:cNvSpPr>
            <p:nvPr/>
          </p:nvSpPr>
          <p:spPr bwMode="auto">
            <a:xfrm>
              <a:off x="1865621" y="2448351"/>
              <a:ext cx="301470" cy="301338"/>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5</a:t>
              </a:r>
            </a:p>
          </p:txBody>
        </p:sp>
        <p:sp>
          <p:nvSpPr>
            <p:cNvPr id="23601" name="Oval 49"/>
            <p:cNvSpPr>
              <a:spLocks noChangeArrowheads="1"/>
            </p:cNvSpPr>
            <p:nvPr/>
          </p:nvSpPr>
          <p:spPr bwMode="auto">
            <a:xfrm>
              <a:off x="2417883" y="2443156"/>
              <a:ext cx="3014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7</a:t>
              </a:r>
            </a:p>
          </p:txBody>
        </p:sp>
        <p:sp>
          <p:nvSpPr>
            <p:cNvPr id="23600" name="Line 48"/>
            <p:cNvSpPr>
              <a:spLocks noChangeShapeType="1"/>
            </p:cNvSpPr>
            <p:nvPr/>
          </p:nvSpPr>
          <p:spPr bwMode="auto">
            <a:xfrm flipH="1">
              <a:off x="1318557" y="1520956"/>
              <a:ext cx="365143" cy="361087"/>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99" name="Freeform 47"/>
            <p:cNvSpPr>
              <a:spLocks/>
            </p:cNvSpPr>
            <p:nvPr/>
          </p:nvSpPr>
          <p:spPr bwMode="auto">
            <a:xfrm>
              <a:off x="953414" y="2152208"/>
              <a:ext cx="194916" cy="306534"/>
            </a:xfrm>
            <a:custGeom>
              <a:avLst/>
              <a:gdLst/>
              <a:ahLst/>
              <a:cxnLst>
                <a:cxn ang="0">
                  <a:pos x="171" y="0"/>
                </a:cxn>
                <a:cxn ang="0">
                  <a:pos x="0" y="270"/>
                </a:cxn>
              </a:cxnLst>
              <a:rect l="0" t="0" r="r" b="b"/>
              <a:pathLst>
                <a:path w="171" h="270">
                  <a:moveTo>
                    <a:pt x="171" y="0"/>
                  </a:moveTo>
                  <a:lnTo>
                    <a:pt x="0" y="270"/>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98" name="Freeform 46"/>
            <p:cNvSpPr>
              <a:spLocks/>
            </p:cNvSpPr>
            <p:nvPr/>
          </p:nvSpPr>
          <p:spPr bwMode="auto">
            <a:xfrm>
              <a:off x="1353642" y="2148311"/>
              <a:ext cx="165029" cy="297442"/>
            </a:xfrm>
            <a:custGeom>
              <a:avLst/>
              <a:gdLst/>
              <a:ahLst/>
              <a:cxnLst>
                <a:cxn ang="0">
                  <a:pos x="0" y="0"/>
                </a:cxn>
                <a:cxn ang="0">
                  <a:pos x="145" y="261"/>
                </a:cxn>
              </a:cxnLst>
              <a:rect l="0" t="0" r="r" b="b"/>
              <a:pathLst>
                <a:path w="145" h="261">
                  <a:moveTo>
                    <a:pt x="0" y="0"/>
                  </a:moveTo>
                  <a:lnTo>
                    <a:pt x="145" y="261"/>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97" name="Freeform 45"/>
            <p:cNvSpPr>
              <a:spLocks/>
            </p:cNvSpPr>
            <p:nvPr/>
          </p:nvSpPr>
          <p:spPr bwMode="auto">
            <a:xfrm>
              <a:off x="2018955" y="2148311"/>
              <a:ext cx="153334" cy="294844"/>
            </a:xfrm>
            <a:custGeom>
              <a:avLst/>
              <a:gdLst/>
              <a:ahLst/>
              <a:cxnLst>
                <a:cxn ang="0">
                  <a:pos x="135" y="0"/>
                </a:cxn>
                <a:cxn ang="0">
                  <a:pos x="0" y="259"/>
                </a:cxn>
              </a:cxnLst>
              <a:rect l="0" t="0" r="r" b="b"/>
              <a:pathLst>
                <a:path w="135" h="259">
                  <a:moveTo>
                    <a:pt x="135" y="0"/>
                  </a:moveTo>
                  <a:lnTo>
                    <a:pt x="0" y="259"/>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96" name="Freeform 44"/>
            <p:cNvSpPr>
              <a:spLocks/>
            </p:cNvSpPr>
            <p:nvPr/>
          </p:nvSpPr>
          <p:spPr bwMode="auto">
            <a:xfrm>
              <a:off x="2371103" y="2137921"/>
              <a:ext cx="187119" cy="307833"/>
            </a:xfrm>
            <a:custGeom>
              <a:avLst/>
              <a:gdLst/>
              <a:ahLst/>
              <a:cxnLst>
                <a:cxn ang="0">
                  <a:pos x="0" y="0"/>
                </a:cxn>
                <a:cxn ang="0">
                  <a:pos x="165" y="270"/>
                </a:cxn>
              </a:cxnLst>
              <a:rect l="0" t="0" r="r" b="b"/>
              <a:pathLst>
                <a:path w="165" h="270">
                  <a:moveTo>
                    <a:pt x="0" y="0"/>
                  </a:moveTo>
                  <a:lnTo>
                    <a:pt x="165" y="270"/>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63" name="Text Box 11"/>
            <p:cNvSpPr txBox="1">
              <a:spLocks noChangeArrowheads="1"/>
            </p:cNvSpPr>
            <p:nvPr/>
          </p:nvSpPr>
          <p:spPr bwMode="auto">
            <a:xfrm>
              <a:off x="1495281" y="3599152"/>
              <a:ext cx="614635" cy="25847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grpSp>
      <p:grpSp>
        <p:nvGrpSpPr>
          <p:cNvPr id="4" name="组合 64"/>
          <p:cNvGrpSpPr/>
          <p:nvPr/>
        </p:nvGrpSpPr>
        <p:grpSpPr>
          <a:xfrm>
            <a:off x="2786050" y="1294952"/>
            <a:ext cx="1376107" cy="2544492"/>
            <a:chOff x="3094892" y="1294952"/>
            <a:chExt cx="1376107" cy="2544492"/>
          </a:xfrm>
        </p:grpSpPr>
        <p:sp>
          <p:nvSpPr>
            <p:cNvPr id="23609" name="Freeform 57"/>
            <p:cNvSpPr>
              <a:spLocks/>
            </p:cNvSpPr>
            <p:nvPr/>
          </p:nvSpPr>
          <p:spPr bwMode="auto">
            <a:xfrm>
              <a:off x="3589979" y="1523554"/>
              <a:ext cx="289775" cy="384466"/>
            </a:xfrm>
            <a:custGeom>
              <a:avLst/>
              <a:gdLst/>
              <a:ahLst/>
              <a:cxnLst>
                <a:cxn ang="0">
                  <a:pos x="255" y="0"/>
                </a:cxn>
                <a:cxn ang="0">
                  <a:pos x="0" y="338"/>
                </a:cxn>
              </a:cxnLst>
              <a:rect l="0" t="0" r="r" b="b"/>
              <a:pathLst>
                <a:path w="255" h="338">
                  <a:moveTo>
                    <a:pt x="255" y="0"/>
                  </a:moveTo>
                  <a:lnTo>
                    <a:pt x="0" y="338"/>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95" name="Freeform 43"/>
            <p:cNvSpPr>
              <a:spLocks/>
            </p:cNvSpPr>
            <p:nvPr/>
          </p:nvSpPr>
          <p:spPr bwMode="auto">
            <a:xfrm>
              <a:off x="4077269" y="1544336"/>
              <a:ext cx="214408" cy="374075"/>
            </a:xfrm>
            <a:custGeom>
              <a:avLst/>
              <a:gdLst/>
              <a:ahLst/>
              <a:cxnLst>
                <a:cxn ang="0">
                  <a:pos x="0" y="0"/>
                </a:cxn>
                <a:cxn ang="0">
                  <a:pos x="188" y="329"/>
                </a:cxn>
              </a:cxnLst>
              <a:rect l="0" t="0" r="r" b="b"/>
              <a:pathLst>
                <a:path w="188" h="329">
                  <a:moveTo>
                    <a:pt x="0" y="0"/>
                  </a:moveTo>
                  <a:lnTo>
                    <a:pt x="188" y="329"/>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94" name="Oval 42"/>
            <p:cNvSpPr>
              <a:spLocks noChangeArrowheads="1"/>
            </p:cNvSpPr>
            <p:nvPr/>
          </p:nvSpPr>
          <p:spPr bwMode="auto">
            <a:xfrm>
              <a:off x="3817381" y="1294952"/>
              <a:ext cx="322261" cy="3545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16</a:t>
              </a:r>
            </a:p>
          </p:txBody>
        </p:sp>
        <p:sp>
          <p:nvSpPr>
            <p:cNvPr id="23593" name="Oval 41"/>
            <p:cNvSpPr>
              <a:spLocks noChangeArrowheads="1"/>
            </p:cNvSpPr>
            <p:nvPr/>
          </p:nvSpPr>
          <p:spPr bwMode="auto">
            <a:xfrm>
              <a:off x="3408057" y="1879445"/>
              <a:ext cx="301470" cy="300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9</a:t>
              </a:r>
            </a:p>
          </p:txBody>
        </p:sp>
        <p:sp>
          <p:nvSpPr>
            <p:cNvPr id="23592" name="Oval 40"/>
            <p:cNvSpPr>
              <a:spLocks noChangeArrowheads="1"/>
            </p:cNvSpPr>
            <p:nvPr/>
          </p:nvSpPr>
          <p:spPr bwMode="auto">
            <a:xfrm>
              <a:off x="4169529" y="1879445"/>
              <a:ext cx="301470" cy="300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7</a:t>
              </a:r>
            </a:p>
          </p:txBody>
        </p:sp>
        <p:sp>
          <p:nvSpPr>
            <p:cNvPr id="23591" name="Oval 39"/>
            <p:cNvSpPr>
              <a:spLocks noChangeArrowheads="1"/>
            </p:cNvSpPr>
            <p:nvPr/>
          </p:nvSpPr>
          <p:spPr bwMode="auto">
            <a:xfrm>
              <a:off x="3094892" y="2469133"/>
              <a:ext cx="3014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a:t>
              </a:r>
            </a:p>
          </p:txBody>
        </p:sp>
        <p:sp>
          <p:nvSpPr>
            <p:cNvPr id="23590" name="Oval 38"/>
            <p:cNvSpPr>
              <a:spLocks noChangeArrowheads="1"/>
            </p:cNvSpPr>
            <p:nvPr/>
          </p:nvSpPr>
          <p:spPr bwMode="auto">
            <a:xfrm>
              <a:off x="3669244" y="2445753"/>
              <a:ext cx="301470" cy="300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8</a:t>
              </a:r>
            </a:p>
          </p:txBody>
        </p:sp>
        <p:sp>
          <p:nvSpPr>
            <p:cNvPr id="23589" name="Oval 37"/>
            <p:cNvSpPr>
              <a:spLocks noChangeArrowheads="1"/>
            </p:cNvSpPr>
            <p:nvPr/>
          </p:nvSpPr>
          <p:spPr bwMode="auto">
            <a:xfrm>
              <a:off x="3419752" y="3038039"/>
              <a:ext cx="3014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3</a:t>
              </a:r>
            </a:p>
          </p:txBody>
        </p:sp>
        <p:sp>
          <p:nvSpPr>
            <p:cNvPr id="23588" name="Oval 36"/>
            <p:cNvSpPr>
              <a:spLocks noChangeArrowheads="1"/>
            </p:cNvSpPr>
            <p:nvPr/>
          </p:nvSpPr>
          <p:spPr bwMode="auto">
            <a:xfrm>
              <a:off x="3968116" y="3032844"/>
              <a:ext cx="3014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5</a:t>
              </a:r>
            </a:p>
          </p:txBody>
        </p:sp>
        <p:sp>
          <p:nvSpPr>
            <p:cNvPr id="23587" name="Freeform 35"/>
            <p:cNvSpPr>
              <a:spLocks/>
            </p:cNvSpPr>
            <p:nvPr/>
          </p:nvSpPr>
          <p:spPr bwMode="auto">
            <a:xfrm>
              <a:off x="3279412" y="2145714"/>
              <a:ext cx="183221" cy="323419"/>
            </a:xfrm>
            <a:custGeom>
              <a:avLst/>
              <a:gdLst/>
              <a:ahLst/>
              <a:cxnLst>
                <a:cxn ang="0">
                  <a:pos x="162" y="0"/>
                </a:cxn>
                <a:cxn ang="0">
                  <a:pos x="0" y="285"/>
                </a:cxn>
              </a:cxnLst>
              <a:rect l="0" t="0" r="r" b="b"/>
              <a:pathLst>
                <a:path w="162" h="285">
                  <a:moveTo>
                    <a:pt x="162" y="0"/>
                  </a:moveTo>
                  <a:lnTo>
                    <a:pt x="0" y="285"/>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86" name="Freeform 34"/>
            <p:cNvSpPr>
              <a:spLocks/>
            </p:cNvSpPr>
            <p:nvPr/>
          </p:nvSpPr>
          <p:spPr bwMode="auto">
            <a:xfrm>
              <a:off x="3645854" y="2162599"/>
              <a:ext cx="128645" cy="289649"/>
            </a:xfrm>
            <a:custGeom>
              <a:avLst/>
              <a:gdLst/>
              <a:ahLst/>
              <a:cxnLst>
                <a:cxn ang="0">
                  <a:pos x="0" y="0"/>
                </a:cxn>
                <a:cxn ang="0">
                  <a:pos x="112" y="255"/>
                </a:cxn>
              </a:cxnLst>
              <a:rect l="0" t="0" r="r" b="b"/>
              <a:pathLst>
                <a:path w="112" h="255">
                  <a:moveTo>
                    <a:pt x="0" y="0"/>
                  </a:moveTo>
                  <a:lnTo>
                    <a:pt x="112" y="255"/>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85" name="Freeform 33"/>
            <p:cNvSpPr>
              <a:spLocks/>
            </p:cNvSpPr>
            <p:nvPr/>
          </p:nvSpPr>
          <p:spPr bwMode="auto">
            <a:xfrm>
              <a:off x="3582182" y="2721114"/>
              <a:ext cx="153334" cy="314327"/>
            </a:xfrm>
            <a:custGeom>
              <a:avLst/>
              <a:gdLst/>
              <a:ahLst/>
              <a:cxnLst>
                <a:cxn ang="0">
                  <a:pos x="135" y="0"/>
                </a:cxn>
                <a:cxn ang="0">
                  <a:pos x="0" y="277"/>
                </a:cxn>
              </a:cxnLst>
              <a:rect l="0" t="0" r="r" b="b"/>
              <a:pathLst>
                <a:path w="135" h="277">
                  <a:moveTo>
                    <a:pt x="135" y="0"/>
                  </a:moveTo>
                  <a:lnTo>
                    <a:pt x="0" y="27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84" name="Freeform 32"/>
            <p:cNvSpPr>
              <a:spLocks/>
            </p:cNvSpPr>
            <p:nvPr/>
          </p:nvSpPr>
          <p:spPr bwMode="auto">
            <a:xfrm>
              <a:off x="3929132" y="2713321"/>
              <a:ext cx="152035" cy="326017"/>
            </a:xfrm>
            <a:custGeom>
              <a:avLst/>
              <a:gdLst/>
              <a:ahLst/>
              <a:cxnLst>
                <a:cxn ang="0">
                  <a:pos x="0" y="0"/>
                </a:cxn>
                <a:cxn ang="0">
                  <a:pos x="134" y="287"/>
                </a:cxn>
              </a:cxnLst>
              <a:rect l="0" t="0" r="r" b="b"/>
              <a:pathLst>
                <a:path w="134" h="287">
                  <a:moveTo>
                    <a:pt x="0" y="0"/>
                  </a:moveTo>
                  <a:lnTo>
                    <a:pt x="134" y="28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62" name="Text Box 10"/>
            <p:cNvSpPr txBox="1">
              <a:spLocks noChangeArrowheads="1"/>
            </p:cNvSpPr>
            <p:nvPr/>
          </p:nvSpPr>
          <p:spPr bwMode="auto">
            <a:xfrm>
              <a:off x="3544498" y="3582267"/>
              <a:ext cx="614635" cy="25717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grpSp>
      <p:grpSp>
        <p:nvGrpSpPr>
          <p:cNvPr id="5" name="组合 65"/>
          <p:cNvGrpSpPr/>
          <p:nvPr/>
        </p:nvGrpSpPr>
        <p:grpSpPr>
          <a:xfrm>
            <a:off x="4755577" y="1326125"/>
            <a:ext cx="1417689" cy="2531503"/>
            <a:chOff x="4755577" y="1326125"/>
            <a:chExt cx="1417689" cy="2531503"/>
          </a:xfrm>
        </p:grpSpPr>
        <p:sp>
          <p:nvSpPr>
            <p:cNvPr id="23583" name="Oval 31"/>
            <p:cNvSpPr>
              <a:spLocks noChangeArrowheads="1"/>
            </p:cNvSpPr>
            <p:nvPr/>
          </p:nvSpPr>
          <p:spPr bwMode="auto">
            <a:xfrm>
              <a:off x="5557331" y="1326125"/>
              <a:ext cx="322261" cy="3545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16</a:t>
              </a:r>
            </a:p>
          </p:txBody>
        </p:sp>
        <p:sp>
          <p:nvSpPr>
            <p:cNvPr id="23582" name="Oval 30"/>
            <p:cNvSpPr>
              <a:spLocks noChangeArrowheads="1"/>
            </p:cNvSpPr>
            <p:nvPr/>
          </p:nvSpPr>
          <p:spPr bwMode="auto">
            <a:xfrm>
              <a:off x="5290946" y="1909319"/>
              <a:ext cx="301470" cy="300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15</a:t>
              </a:r>
            </a:p>
          </p:txBody>
        </p:sp>
        <p:sp>
          <p:nvSpPr>
            <p:cNvPr id="23581" name="Oval 29"/>
            <p:cNvSpPr>
              <a:spLocks noChangeArrowheads="1"/>
            </p:cNvSpPr>
            <p:nvPr/>
          </p:nvSpPr>
          <p:spPr bwMode="auto">
            <a:xfrm>
              <a:off x="5029759" y="2521088"/>
              <a:ext cx="301470" cy="300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12</a:t>
              </a:r>
            </a:p>
          </p:txBody>
        </p:sp>
        <p:sp>
          <p:nvSpPr>
            <p:cNvPr id="23580" name="Oval 28"/>
            <p:cNvSpPr>
              <a:spLocks noChangeArrowheads="1"/>
            </p:cNvSpPr>
            <p:nvPr/>
          </p:nvSpPr>
          <p:spPr bwMode="auto">
            <a:xfrm>
              <a:off x="4755577" y="3121167"/>
              <a:ext cx="3014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7</a:t>
              </a:r>
            </a:p>
          </p:txBody>
        </p:sp>
        <p:sp>
          <p:nvSpPr>
            <p:cNvPr id="23579" name="Oval 27"/>
            <p:cNvSpPr>
              <a:spLocks noChangeArrowheads="1"/>
            </p:cNvSpPr>
            <p:nvPr/>
          </p:nvSpPr>
          <p:spPr bwMode="auto">
            <a:xfrm>
              <a:off x="5871796" y="1892434"/>
              <a:ext cx="3014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a:t>
              </a:r>
            </a:p>
          </p:txBody>
        </p:sp>
        <p:sp>
          <p:nvSpPr>
            <p:cNvPr id="23578" name="Oval 26"/>
            <p:cNvSpPr>
              <a:spLocks noChangeArrowheads="1"/>
            </p:cNvSpPr>
            <p:nvPr/>
          </p:nvSpPr>
          <p:spPr bwMode="auto">
            <a:xfrm>
              <a:off x="5592416" y="2530180"/>
              <a:ext cx="301470" cy="301338"/>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3</a:t>
              </a:r>
            </a:p>
          </p:txBody>
        </p:sp>
        <p:sp>
          <p:nvSpPr>
            <p:cNvPr id="23577" name="Oval 25"/>
            <p:cNvSpPr>
              <a:spLocks noChangeArrowheads="1"/>
            </p:cNvSpPr>
            <p:nvPr/>
          </p:nvSpPr>
          <p:spPr bwMode="auto">
            <a:xfrm>
              <a:off x="5267556" y="3117271"/>
              <a:ext cx="3027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5</a:t>
              </a:r>
            </a:p>
          </p:txBody>
        </p:sp>
        <p:sp>
          <p:nvSpPr>
            <p:cNvPr id="23576" name="Freeform 24"/>
            <p:cNvSpPr>
              <a:spLocks/>
            </p:cNvSpPr>
            <p:nvPr/>
          </p:nvSpPr>
          <p:spPr bwMode="auto">
            <a:xfrm>
              <a:off x="5849705" y="1589796"/>
              <a:ext cx="148136" cy="290947"/>
            </a:xfrm>
            <a:custGeom>
              <a:avLst/>
              <a:gdLst/>
              <a:ahLst/>
              <a:cxnLst>
                <a:cxn ang="0">
                  <a:pos x="0" y="0"/>
                </a:cxn>
                <a:cxn ang="0">
                  <a:pos x="130" y="256"/>
                </a:cxn>
              </a:cxnLst>
              <a:rect l="0" t="0" r="r" b="b"/>
              <a:pathLst>
                <a:path w="130" h="256">
                  <a:moveTo>
                    <a:pt x="0" y="0"/>
                  </a:moveTo>
                  <a:lnTo>
                    <a:pt x="130" y="256"/>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75" name="Freeform 23"/>
            <p:cNvSpPr>
              <a:spLocks/>
            </p:cNvSpPr>
            <p:nvPr/>
          </p:nvSpPr>
          <p:spPr bwMode="auto">
            <a:xfrm>
              <a:off x="5543037" y="2175588"/>
              <a:ext cx="187119" cy="354592"/>
            </a:xfrm>
            <a:custGeom>
              <a:avLst/>
              <a:gdLst/>
              <a:ahLst/>
              <a:cxnLst>
                <a:cxn ang="0">
                  <a:pos x="0" y="0"/>
                </a:cxn>
                <a:cxn ang="0">
                  <a:pos x="164" y="312"/>
                </a:cxn>
              </a:cxnLst>
              <a:rect l="0" t="0" r="r" b="b"/>
              <a:pathLst>
                <a:path w="164" h="312">
                  <a:moveTo>
                    <a:pt x="0" y="0"/>
                  </a:moveTo>
                  <a:lnTo>
                    <a:pt x="164" y="312"/>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74" name="Freeform 22"/>
            <p:cNvSpPr>
              <a:spLocks/>
            </p:cNvSpPr>
            <p:nvPr/>
          </p:nvSpPr>
          <p:spPr bwMode="auto">
            <a:xfrm>
              <a:off x="5258460" y="2800346"/>
              <a:ext cx="150735" cy="314327"/>
            </a:xfrm>
            <a:custGeom>
              <a:avLst/>
              <a:gdLst/>
              <a:ahLst/>
              <a:cxnLst>
                <a:cxn ang="0">
                  <a:pos x="0" y="0"/>
                </a:cxn>
                <a:cxn ang="0">
                  <a:pos x="132" y="276"/>
                </a:cxn>
              </a:cxnLst>
              <a:rect l="0" t="0" r="r" b="b"/>
              <a:pathLst>
                <a:path w="132" h="276">
                  <a:moveTo>
                    <a:pt x="0" y="0"/>
                  </a:moveTo>
                  <a:lnTo>
                    <a:pt x="132" y="276"/>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61" name="Text Box 9"/>
            <p:cNvSpPr txBox="1">
              <a:spLocks noChangeArrowheads="1"/>
            </p:cNvSpPr>
            <p:nvPr/>
          </p:nvSpPr>
          <p:spPr bwMode="auto">
            <a:xfrm>
              <a:off x="4994674" y="3599152"/>
              <a:ext cx="614635" cy="25847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sp>
          <p:nvSpPr>
            <p:cNvPr id="23559" name="Freeform 7"/>
            <p:cNvSpPr>
              <a:spLocks/>
            </p:cNvSpPr>
            <p:nvPr/>
          </p:nvSpPr>
          <p:spPr bwMode="auto">
            <a:xfrm>
              <a:off x="5457274" y="1632659"/>
              <a:ext cx="158532" cy="276660"/>
            </a:xfrm>
            <a:custGeom>
              <a:avLst/>
              <a:gdLst/>
              <a:ahLst/>
              <a:cxnLst>
                <a:cxn ang="0">
                  <a:pos x="139" y="0"/>
                </a:cxn>
                <a:cxn ang="0">
                  <a:pos x="0" y="243"/>
                </a:cxn>
              </a:cxnLst>
              <a:rect l="0" t="0" r="r" b="b"/>
              <a:pathLst>
                <a:path w="139" h="243">
                  <a:moveTo>
                    <a:pt x="139" y="0"/>
                  </a:moveTo>
                  <a:lnTo>
                    <a:pt x="0" y="24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58" name="Freeform 6"/>
            <p:cNvSpPr>
              <a:spLocks/>
            </p:cNvSpPr>
            <p:nvPr/>
          </p:nvSpPr>
          <p:spPr bwMode="auto">
            <a:xfrm>
              <a:off x="5197386" y="2182082"/>
              <a:ext cx="153334" cy="335109"/>
            </a:xfrm>
            <a:custGeom>
              <a:avLst/>
              <a:gdLst/>
              <a:ahLst/>
              <a:cxnLst>
                <a:cxn ang="0">
                  <a:pos x="135" y="0"/>
                </a:cxn>
                <a:cxn ang="0">
                  <a:pos x="0" y="294"/>
                </a:cxn>
              </a:cxnLst>
              <a:rect l="0" t="0" r="r" b="b"/>
              <a:pathLst>
                <a:path w="135" h="294">
                  <a:moveTo>
                    <a:pt x="135" y="0"/>
                  </a:moveTo>
                  <a:lnTo>
                    <a:pt x="0" y="294"/>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57" name="Freeform 5"/>
            <p:cNvSpPr>
              <a:spLocks/>
            </p:cNvSpPr>
            <p:nvPr/>
          </p:nvSpPr>
          <p:spPr bwMode="auto">
            <a:xfrm>
              <a:off x="4931001" y="2783460"/>
              <a:ext cx="146837" cy="337707"/>
            </a:xfrm>
            <a:custGeom>
              <a:avLst/>
              <a:gdLst/>
              <a:ahLst/>
              <a:cxnLst>
                <a:cxn ang="0">
                  <a:pos x="129" y="0"/>
                </a:cxn>
                <a:cxn ang="0">
                  <a:pos x="0" y="297"/>
                </a:cxn>
              </a:cxnLst>
              <a:rect l="0" t="0" r="r" b="b"/>
              <a:pathLst>
                <a:path w="129" h="297">
                  <a:moveTo>
                    <a:pt x="129" y="0"/>
                  </a:moveTo>
                  <a:lnTo>
                    <a:pt x="0" y="29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grpSp>
      <p:grpSp>
        <p:nvGrpSpPr>
          <p:cNvPr id="6" name="组合 66"/>
          <p:cNvGrpSpPr/>
          <p:nvPr/>
        </p:nvGrpSpPr>
        <p:grpSpPr>
          <a:xfrm>
            <a:off x="6506699" y="1332619"/>
            <a:ext cx="1422887" cy="2506825"/>
            <a:chOff x="6506699" y="1332619"/>
            <a:chExt cx="1422887" cy="2506825"/>
          </a:xfrm>
        </p:grpSpPr>
        <p:sp>
          <p:nvSpPr>
            <p:cNvPr id="23573" name="Oval 21"/>
            <p:cNvSpPr>
              <a:spLocks noChangeArrowheads="1"/>
            </p:cNvSpPr>
            <p:nvPr/>
          </p:nvSpPr>
          <p:spPr bwMode="auto">
            <a:xfrm>
              <a:off x="7321448" y="1332619"/>
              <a:ext cx="322261" cy="3545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16</a:t>
              </a:r>
            </a:p>
          </p:txBody>
        </p:sp>
        <p:sp>
          <p:nvSpPr>
            <p:cNvPr id="23572" name="Oval 20"/>
            <p:cNvSpPr>
              <a:spLocks noChangeArrowheads="1"/>
            </p:cNvSpPr>
            <p:nvPr/>
          </p:nvSpPr>
          <p:spPr bwMode="auto">
            <a:xfrm>
              <a:off x="7047266" y="1909319"/>
              <a:ext cx="302770" cy="300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9</a:t>
              </a:r>
            </a:p>
          </p:txBody>
        </p:sp>
        <p:sp>
          <p:nvSpPr>
            <p:cNvPr id="23571" name="Oval 19"/>
            <p:cNvSpPr>
              <a:spLocks noChangeArrowheads="1"/>
            </p:cNvSpPr>
            <p:nvPr/>
          </p:nvSpPr>
          <p:spPr bwMode="auto">
            <a:xfrm>
              <a:off x="6786078" y="2521088"/>
              <a:ext cx="301470" cy="300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4</a:t>
              </a:r>
            </a:p>
          </p:txBody>
        </p:sp>
        <p:sp>
          <p:nvSpPr>
            <p:cNvPr id="23570" name="Oval 18"/>
            <p:cNvSpPr>
              <a:spLocks noChangeArrowheads="1"/>
            </p:cNvSpPr>
            <p:nvPr/>
          </p:nvSpPr>
          <p:spPr bwMode="auto">
            <a:xfrm>
              <a:off x="6506699" y="3121167"/>
              <a:ext cx="3014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a:t>
              </a:r>
            </a:p>
          </p:txBody>
        </p:sp>
        <p:sp>
          <p:nvSpPr>
            <p:cNvPr id="23569" name="Oval 17"/>
            <p:cNvSpPr>
              <a:spLocks noChangeArrowheads="1"/>
            </p:cNvSpPr>
            <p:nvPr/>
          </p:nvSpPr>
          <p:spPr bwMode="auto">
            <a:xfrm>
              <a:off x="7628116" y="1892434"/>
              <a:ext cx="3014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7</a:t>
              </a:r>
            </a:p>
          </p:txBody>
        </p:sp>
        <p:sp>
          <p:nvSpPr>
            <p:cNvPr id="23568" name="Oval 16"/>
            <p:cNvSpPr>
              <a:spLocks noChangeArrowheads="1"/>
            </p:cNvSpPr>
            <p:nvPr/>
          </p:nvSpPr>
          <p:spPr bwMode="auto">
            <a:xfrm>
              <a:off x="7350035" y="2530180"/>
              <a:ext cx="301470" cy="301338"/>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5</a:t>
              </a:r>
            </a:p>
          </p:txBody>
        </p:sp>
        <p:sp>
          <p:nvSpPr>
            <p:cNvPr id="23567" name="Oval 15"/>
            <p:cNvSpPr>
              <a:spLocks noChangeArrowheads="1"/>
            </p:cNvSpPr>
            <p:nvPr/>
          </p:nvSpPr>
          <p:spPr bwMode="auto">
            <a:xfrm>
              <a:off x="7042068" y="3117271"/>
              <a:ext cx="301470" cy="300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3</a:t>
              </a:r>
            </a:p>
          </p:txBody>
        </p:sp>
        <p:sp>
          <p:nvSpPr>
            <p:cNvPr id="23566" name="Freeform 14"/>
            <p:cNvSpPr>
              <a:spLocks/>
            </p:cNvSpPr>
            <p:nvPr/>
          </p:nvSpPr>
          <p:spPr bwMode="auto">
            <a:xfrm>
              <a:off x="7615121" y="1632659"/>
              <a:ext cx="120848" cy="263671"/>
            </a:xfrm>
            <a:custGeom>
              <a:avLst/>
              <a:gdLst/>
              <a:ahLst/>
              <a:cxnLst>
                <a:cxn ang="0">
                  <a:pos x="0" y="0"/>
                </a:cxn>
                <a:cxn ang="0">
                  <a:pos x="106" y="232"/>
                </a:cxn>
              </a:cxnLst>
              <a:rect l="0" t="0" r="r" b="b"/>
              <a:pathLst>
                <a:path w="106" h="232">
                  <a:moveTo>
                    <a:pt x="0" y="0"/>
                  </a:moveTo>
                  <a:lnTo>
                    <a:pt x="106" y="232"/>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65" name="Freeform 13"/>
            <p:cNvSpPr>
              <a:spLocks/>
            </p:cNvSpPr>
            <p:nvPr/>
          </p:nvSpPr>
          <p:spPr bwMode="auto">
            <a:xfrm>
              <a:off x="7288962" y="2182082"/>
              <a:ext cx="157232" cy="358489"/>
            </a:xfrm>
            <a:custGeom>
              <a:avLst/>
              <a:gdLst/>
              <a:ahLst/>
              <a:cxnLst>
                <a:cxn ang="0">
                  <a:pos x="0" y="0"/>
                </a:cxn>
                <a:cxn ang="0">
                  <a:pos x="138" y="315"/>
                </a:cxn>
              </a:cxnLst>
              <a:rect l="0" t="0" r="r" b="b"/>
              <a:pathLst>
                <a:path w="138" h="315">
                  <a:moveTo>
                    <a:pt x="0" y="0"/>
                  </a:moveTo>
                  <a:lnTo>
                    <a:pt x="138" y="315"/>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64" name="Freeform 12"/>
            <p:cNvSpPr>
              <a:spLocks/>
            </p:cNvSpPr>
            <p:nvPr/>
          </p:nvSpPr>
          <p:spPr bwMode="auto">
            <a:xfrm>
              <a:off x="7023876" y="2793851"/>
              <a:ext cx="162430" cy="323419"/>
            </a:xfrm>
            <a:custGeom>
              <a:avLst/>
              <a:gdLst/>
              <a:ahLst/>
              <a:cxnLst>
                <a:cxn ang="0">
                  <a:pos x="0" y="0"/>
                </a:cxn>
                <a:cxn ang="0">
                  <a:pos x="143" y="285"/>
                </a:cxn>
              </a:cxnLst>
              <a:rect l="0" t="0" r="r" b="b"/>
              <a:pathLst>
                <a:path w="143" h="285">
                  <a:moveTo>
                    <a:pt x="0" y="0"/>
                  </a:moveTo>
                  <a:lnTo>
                    <a:pt x="143" y="285"/>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60" name="Text Box 8"/>
            <p:cNvSpPr txBox="1">
              <a:spLocks noChangeArrowheads="1"/>
            </p:cNvSpPr>
            <p:nvPr/>
          </p:nvSpPr>
          <p:spPr bwMode="auto">
            <a:xfrm>
              <a:off x="7127831" y="3582267"/>
              <a:ext cx="614635" cy="25717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sp>
          <p:nvSpPr>
            <p:cNvPr id="23556" name="Freeform 4"/>
            <p:cNvSpPr>
              <a:spLocks/>
            </p:cNvSpPr>
            <p:nvPr/>
          </p:nvSpPr>
          <p:spPr bwMode="auto">
            <a:xfrm>
              <a:off x="7213594" y="1601486"/>
              <a:ext cx="145537" cy="307833"/>
            </a:xfrm>
            <a:custGeom>
              <a:avLst/>
              <a:gdLst/>
              <a:ahLst/>
              <a:cxnLst>
                <a:cxn ang="0">
                  <a:pos x="128" y="0"/>
                </a:cxn>
                <a:cxn ang="0">
                  <a:pos x="0" y="271"/>
                </a:cxn>
              </a:cxnLst>
              <a:rect l="0" t="0" r="r" b="b"/>
              <a:pathLst>
                <a:path w="128" h="271">
                  <a:moveTo>
                    <a:pt x="128" y="0"/>
                  </a:moveTo>
                  <a:lnTo>
                    <a:pt x="0" y="271"/>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55" name="Freeform 3"/>
            <p:cNvSpPr>
              <a:spLocks/>
            </p:cNvSpPr>
            <p:nvPr/>
          </p:nvSpPr>
          <p:spPr bwMode="auto">
            <a:xfrm>
              <a:off x="6961503" y="2198968"/>
              <a:ext cx="153334" cy="333810"/>
            </a:xfrm>
            <a:custGeom>
              <a:avLst/>
              <a:gdLst/>
              <a:ahLst/>
              <a:cxnLst>
                <a:cxn ang="0">
                  <a:pos x="135" y="0"/>
                </a:cxn>
                <a:cxn ang="0">
                  <a:pos x="0" y="294"/>
                </a:cxn>
              </a:cxnLst>
              <a:rect l="0" t="0" r="r" b="b"/>
              <a:pathLst>
                <a:path w="135" h="294">
                  <a:moveTo>
                    <a:pt x="135" y="0"/>
                  </a:moveTo>
                  <a:lnTo>
                    <a:pt x="0" y="294"/>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sp>
          <p:nvSpPr>
            <p:cNvPr id="23554" name="Freeform 2"/>
            <p:cNvSpPr>
              <a:spLocks/>
            </p:cNvSpPr>
            <p:nvPr/>
          </p:nvSpPr>
          <p:spPr bwMode="auto">
            <a:xfrm>
              <a:off x="6674326" y="2788656"/>
              <a:ext cx="167628" cy="328615"/>
            </a:xfrm>
            <a:custGeom>
              <a:avLst/>
              <a:gdLst/>
              <a:ahLst/>
              <a:cxnLst>
                <a:cxn ang="0">
                  <a:pos x="147" y="0"/>
                </a:cxn>
                <a:cxn ang="0">
                  <a:pos x="0" y="289"/>
                </a:cxn>
              </a:cxnLst>
              <a:rect l="0" t="0" r="r" b="b"/>
              <a:pathLst>
                <a:path w="147" h="289">
                  <a:moveTo>
                    <a:pt x="147" y="0"/>
                  </a:moveTo>
                  <a:lnTo>
                    <a:pt x="0" y="289"/>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400">
                <a:solidFill>
                  <a:srgbClr val="0000FF"/>
                </a:solidFill>
                <a:latin typeface="Consolas" pitchFamily="49" charset="0"/>
                <a:ea typeface="仿宋" pitchFamily="49" charset="-122"/>
                <a:cs typeface="Consolas" pitchFamily="49" charset="0"/>
              </a:endParaRPr>
            </a:p>
          </p:txBody>
        </p:sp>
      </p:grpSp>
      <p:sp>
        <p:nvSpPr>
          <p:cNvPr id="63" name="TextBox 62"/>
          <p:cNvSpPr txBox="1"/>
          <p:nvPr/>
        </p:nvSpPr>
        <p:spPr>
          <a:xfrm>
            <a:off x="2500298" y="4143380"/>
            <a:ext cx="5357850" cy="1785104"/>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a</a:t>
            </a: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WPL=1×2+3×2+5×2+7×2=32</a:t>
            </a:r>
            <a:endParaRPr lang="zh-CN" altLang="zh-CN" sz="2000" smtClean="0">
              <a:solidFill>
                <a:srgbClr val="0000FF"/>
              </a:solidFill>
              <a:latin typeface="Consolas" pitchFamily="49" charset="0"/>
              <a:cs typeface="Consolas" pitchFamily="49" charset="0"/>
            </a:endParaRPr>
          </a:p>
          <a:p>
            <a:pPr algn="l">
              <a:lnSpc>
                <a:spcPct val="100000"/>
              </a:lnSpc>
            </a:pP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b</a:t>
            </a: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WPL=1×2+3×3+5×3+7×1=33</a:t>
            </a:r>
            <a:endParaRPr lang="zh-CN" altLang="zh-CN" sz="2000" smtClean="0">
              <a:solidFill>
                <a:srgbClr val="0000FF"/>
              </a:solidFill>
              <a:latin typeface="Consolas" pitchFamily="49" charset="0"/>
              <a:cs typeface="Consolas" pitchFamily="49" charset="0"/>
            </a:endParaRPr>
          </a:p>
          <a:p>
            <a:pPr algn="l">
              <a:lnSpc>
                <a:spcPct val="100000"/>
              </a:lnSpc>
            </a:pP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c</a:t>
            </a: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WPL=7×3+5×3+3×2+1×1=43</a:t>
            </a:r>
            <a:endParaRPr lang="zh-CN" altLang="zh-CN" sz="2000" smtClean="0">
              <a:solidFill>
                <a:srgbClr val="0000FF"/>
              </a:solidFill>
              <a:latin typeface="Consolas" pitchFamily="49" charset="0"/>
              <a:cs typeface="Consolas" pitchFamily="49" charset="0"/>
            </a:endParaRPr>
          </a:p>
          <a:p>
            <a:pPr algn="l">
              <a:lnSpc>
                <a:spcPct val="100000"/>
              </a:lnSpc>
            </a:pP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d</a:t>
            </a: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WPL=1×3+3×3+5×2+7×1=29  </a:t>
            </a:r>
            <a:r>
              <a:rPr lang="en-US" altLang="zh-CN" sz="2000" smtClean="0">
                <a:solidFill>
                  <a:srgbClr val="FF0000"/>
                </a:solidFill>
                <a:latin typeface="Consolas" pitchFamily="49" charset="0"/>
                <a:cs typeface="Consolas" pitchFamily="49" charset="0"/>
              </a:rPr>
              <a:t>√</a:t>
            </a:r>
            <a:endParaRPr lang="zh-CN" altLang="zh-CN" sz="2000" smtClean="0">
              <a:solidFill>
                <a:srgbClr val="FF0000"/>
              </a:solidFill>
              <a:latin typeface="Consolas" pitchFamily="49" charset="0"/>
              <a:cs typeface="Consolas" pitchFamily="49" charset="0"/>
            </a:endParaRPr>
          </a:p>
        </p:txBody>
      </p:sp>
      <p:sp>
        <p:nvSpPr>
          <p:cNvPr id="66" name="灯片编号占位符 65"/>
          <p:cNvSpPr>
            <a:spLocks noGrp="1"/>
          </p:cNvSpPr>
          <p:nvPr>
            <p:ph type="sldNum" sz="quarter" idx="12"/>
          </p:nvPr>
        </p:nvSpPr>
        <p:spPr/>
        <p:txBody>
          <a:bodyPr/>
          <a:lstStyle/>
          <a:p>
            <a:fld id="{67864EE2-EAB3-4814-A7EB-820BD7610F1E}" type="slidenum">
              <a:rPr lang="en-US" altLang="zh-CN" smtClean="0"/>
              <a:pPr/>
              <a:t>40</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642918"/>
            <a:ext cx="414340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7.7.2 </a:t>
            </a:r>
            <a:r>
              <a:rPr lang="zh-CN" altLang="zh-CN" smtClean="0">
                <a:latin typeface="Consolas" pitchFamily="49" charset="0"/>
                <a:ea typeface="微软雅黑" pitchFamily="34" charset="-122"/>
                <a:cs typeface="Consolas" pitchFamily="49" charset="0"/>
              </a:rPr>
              <a:t>哈夫曼树的构造算法</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642910" y="1500174"/>
            <a:ext cx="7715304" cy="35753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ts val="28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）根据给定的</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个权值</a:t>
            </a:r>
            <a:r>
              <a:rPr lang="en-US" altLang="zh-CN" sz="2000" smtClean="0">
                <a:solidFill>
                  <a:srgbClr val="0000FF"/>
                </a:solidFill>
                <a:latin typeface="Consolas" pitchFamily="49" charset="0"/>
                <a:ea typeface="仿宋" pitchFamily="49" charset="-122"/>
                <a:cs typeface="Consolas" pitchFamily="49" charset="0"/>
              </a:rPr>
              <a:t>W=(</a:t>
            </a:r>
            <a:r>
              <a:rPr lang="en-US" altLang="zh-CN" sz="2000" i="1" smtClean="0">
                <a:solidFill>
                  <a:srgbClr val="0000FF"/>
                </a:solidFill>
                <a:latin typeface="Consolas" pitchFamily="49" charset="0"/>
                <a:ea typeface="仿宋" pitchFamily="49" charset="-122"/>
                <a:cs typeface="Consolas" pitchFamily="49" charset="0"/>
              </a:rPr>
              <a:t>w</a:t>
            </a:r>
            <a:r>
              <a:rPr lang="en-US" altLang="zh-CN" sz="2000" baseline="-25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w</a:t>
            </a:r>
            <a:r>
              <a:rPr lang="en-US" altLang="zh-CN" sz="2000" baseline="-25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mj-ea"/>
                <a:ea typeface="+mj-ea"/>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w</a:t>
            </a:r>
            <a:r>
              <a:rPr lang="en-US" altLang="zh-CN" sz="2000" i="1" baseline="-25000"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，对应结点构成</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棵二叉树的森林</a:t>
            </a:r>
            <a:r>
              <a:rPr lang="en-US" altLang="zh-CN" sz="2000" smtClean="0">
                <a:solidFill>
                  <a:srgbClr val="0000FF"/>
                </a:solidFill>
                <a:latin typeface="Consolas" pitchFamily="49" charset="0"/>
                <a:ea typeface="仿宋" pitchFamily="49" charset="-122"/>
                <a:cs typeface="Consolas" pitchFamily="49" charset="0"/>
              </a:rPr>
              <a:t>T=(T</a:t>
            </a:r>
            <a:r>
              <a:rPr lang="en-US" altLang="zh-CN" sz="2000" baseline="-25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T</a:t>
            </a:r>
            <a:r>
              <a:rPr lang="en-US" altLang="zh-CN" sz="2000" baseline="-25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mj-ea"/>
                <a:ea typeface="+mj-ea"/>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T</a:t>
            </a:r>
            <a:r>
              <a:rPr lang="en-US" altLang="zh-CN" sz="2000" i="1" baseline="-25000"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，其中每棵二叉树</a:t>
            </a:r>
            <a:r>
              <a:rPr lang="en-US" altLang="zh-CN" sz="2000" smtClean="0">
                <a:solidFill>
                  <a:srgbClr val="0000FF"/>
                </a:solidFill>
                <a:latin typeface="Consolas" pitchFamily="49" charset="0"/>
                <a:ea typeface="仿宋" pitchFamily="49" charset="-122"/>
                <a:cs typeface="Consolas" pitchFamily="49" charset="0"/>
              </a:rPr>
              <a:t>T</a:t>
            </a:r>
            <a:r>
              <a:rPr lang="en-US" altLang="zh-CN" sz="2000" i="1" baseline="-25000" smtClean="0">
                <a:solidFill>
                  <a:srgbClr val="0000FF"/>
                </a:solidFill>
                <a:latin typeface="Consolas" pitchFamily="49" charset="0"/>
                <a:ea typeface="仿宋" pitchFamily="49" charset="-122"/>
                <a:cs typeface="Consolas" pitchFamily="49" charset="0"/>
              </a:rPr>
              <a:t>i</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mj-ea"/>
                <a:ea typeface="+mj-ea"/>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i</a:t>
            </a:r>
            <a:r>
              <a:rPr lang="zh-CN" altLang="zh-CN" sz="2000" smtClean="0">
                <a:solidFill>
                  <a:srgbClr val="0000FF"/>
                </a:solidFill>
                <a:latin typeface="+mj-ea"/>
                <a:ea typeface="+mj-ea"/>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）中都只有一个带权值为</a:t>
            </a:r>
            <a:r>
              <a:rPr lang="en-US" altLang="zh-CN" sz="2000" i="1" smtClean="0">
                <a:solidFill>
                  <a:srgbClr val="0000FF"/>
                </a:solidFill>
                <a:latin typeface="Consolas" pitchFamily="49" charset="0"/>
                <a:ea typeface="仿宋" pitchFamily="49" charset="-122"/>
                <a:cs typeface="Consolas" pitchFamily="49" charset="0"/>
              </a:rPr>
              <a:t>w</a:t>
            </a:r>
            <a:r>
              <a:rPr lang="en-US" altLang="zh-CN" sz="2000" i="1" baseline="-25000" smtClean="0">
                <a:solidFill>
                  <a:srgbClr val="0000FF"/>
                </a:solidFill>
                <a:latin typeface="Consolas" pitchFamily="49" charset="0"/>
                <a:ea typeface="仿宋" pitchFamily="49" charset="-122"/>
                <a:cs typeface="Consolas" pitchFamily="49" charset="0"/>
              </a:rPr>
              <a:t>i</a:t>
            </a:r>
            <a:r>
              <a:rPr lang="zh-CN" altLang="zh-CN" sz="2000" smtClean="0">
                <a:solidFill>
                  <a:srgbClr val="0000FF"/>
                </a:solidFill>
                <a:latin typeface="Consolas" pitchFamily="49" charset="0"/>
                <a:ea typeface="仿宋" pitchFamily="49" charset="-122"/>
                <a:cs typeface="Consolas" pitchFamily="49" charset="0"/>
              </a:rPr>
              <a:t>的根结点，其左、右子树均为空。</a:t>
            </a:r>
          </a:p>
          <a:p>
            <a:pPr algn="l">
              <a:lnSpc>
                <a:spcPts val="28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）在森林</a:t>
            </a:r>
            <a:r>
              <a:rPr lang="en-US" altLang="zh-CN" sz="2000" smtClean="0">
                <a:solidFill>
                  <a:srgbClr val="0000FF"/>
                </a:solidFill>
                <a:latin typeface="Consolas" pitchFamily="49" charset="0"/>
                <a:ea typeface="仿宋" pitchFamily="49" charset="-122"/>
                <a:cs typeface="Consolas" pitchFamily="49" charset="0"/>
              </a:rPr>
              <a:t>T</a:t>
            </a:r>
            <a:r>
              <a:rPr lang="zh-CN" altLang="zh-CN" sz="2000" smtClean="0">
                <a:solidFill>
                  <a:srgbClr val="0000FF"/>
                </a:solidFill>
                <a:latin typeface="Consolas" pitchFamily="49" charset="0"/>
                <a:ea typeface="仿宋" pitchFamily="49" charset="-122"/>
                <a:cs typeface="Consolas" pitchFamily="49" charset="0"/>
              </a:rPr>
              <a:t>中选取两棵</a:t>
            </a:r>
            <a:r>
              <a:rPr lang="zh-CN" altLang="en-US" sz="2000" smtClean="0">
                <a:solidFill>
                  <a:srgbClr val="0000FF"/>
                </a:solidFill>
                <a:latin typeface="Consolas" pitchFamily="49" charset="0"/>
                <a:ea typeface="仿宋" pitchFamily="49" charset="-122"/>
                <a:cs typeface="Consolas" pitchFamily="49" charset="0"/>
              </a:rPr>
              <a:t>根</a:t>
            </a:r>
            <a:r>
              <a:rPr lang="zh-CN" altLang="zh-CN" sz="2000" smtClean="0">
                <a:solidFill>
                  <a:srgbClr val="0000FF"/>
                </a:solidFill>
                <a:latin typeface="Consolas" pitchFamily="49" charset="0"/>
                <a:ea typeface="仿宋" pitchFamily="49" charset="-122"/>
                <a:cs typeface="Consolas" pitchFamily="49" charset="0"/>
              </a:rPr>
              <a:t>结点权值最小的子树作为左、右子树构造一棵新的二叉树，且置新的二叉树的根结点的权值为其左、右子树上根的权值之和。称为合并，每合并一次</a:t>
            </a:r>
            <a:r>
              <a:rPr lang="en-US" altLang="zh-CN" sz="2000" smtClean="0">
                <a:solidFill>
                  <a:srgbClr val="0000FF"/>
                </a:solidFill>
                <a:latin typeface="Consolas" pitchFamily="49" charset="0"/>
                <a:ea typeface="仿宋" pitchFamily="49" charset="-122"/>
                <a:cs typeface="Consolas" pitchFamily="49" charset="0"/>
              </a:rPr>
              <a:t>T</a:t>
            </a:r>
            <a:r>
              <a:rPr lang="zh-CN" altLang="zh-CN" sz="2000" smtClean="0">
                <a:solidFill>
                  <a:srgbClr val="0000FF"/>
                </a:solidFill>
                <a:latin typeface="Consolas" pitchFamily="49" charset="0"/>
                <a:ea typeface="仿宋" pitchFamily="49" charset="-122"/>
                <a:cs typeface="Consolas" pitchFamily="49" charset="0"/>
              </a:rPr>
              <a:t>中减少一棵二叉树。</a:t>
            </a:r>
          </a:p>
          <a:p>
            <a:pPr algn="l">
              <a:lnSpc>
                <a:spcPts val="28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3</a:t>
            </a:r>
            <a:r>
              <a:rPr lang="zh-CN" altLang="zh-CN" sz="2000" smtClean="0">
                <a:solidFill>
                  <a:srgbClr val="0000FF"/>
                </a:solidFill>
                <a:latin typeface="Consolas" pitchFamily="49" charset="0"/>
                <a:ea typeface="仿宋" pitchFamily="49" charset="-122"/>
                <a:cs typeface="Consolas" pitchFamily="49" charset="0"/>
              </a:rPr>
              <a:t>）重复（</a:t>
            </a:r>
            <a:r>
              <a:rPr lang="en-US" altLang="zh-CN" sz="2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）直到</a:t>
            </a:r>
            <a:r>
              <a:rPr lang="en-US" altLang="zh-CN" sz="2000" smtClean="0">
                <a:solidFill>
                  <a:srgbClr val="0000FF"/>
                </a:solidFill>
                <a:latin typeface="Consolas" pitchFamily="49" charset="0"/>
                <a:ea typeface="仿宋" pitchFamily="49" charset="-122"/>
                <a:cs typeface="Consolas" pitchFamily="49" charset="0"/>
              </a:rPr>
              <a:t>T</a:t>
            </a:r>
            <a:r>
              <a:rPr lang="zh-CN" altLang="zh-CN" sz="2000" smtClean="0">
                <a:solidFill>
                  <a:srgbClr val="0000FF"/>
                </a:solidFill>
                <a:latin typeface="Consolas" pitchFamily="49" charset="0"/>
                <a:ea typeface="仿宋" pitchFamily="49" charset="-122"/>
                <a:cs typeface="Consolas" pitchFamily="49" charset="0"/>
              </a:rPr>
              <a:t>只含一棵树为止。这棵树便是</a:t>
            </a:r>
            <a:r>
              <a:rPr lang="zh-CN" altLang="zh-CN" sz="2000" smtClean="0">
                <a:solidFill>
                  <a:srgbClr val="FF0000"/>
                </a:solidFill>
                <a:latin typeface="Consolas" pitchFamily="49" charset="0"/>
                <a:ea typeface="仿宋" pitchFamily="49" charset="-122"/>
                <a:cs typeface="Consolas" pitchFamily="49" charset="0"/>
              </a:rPr>
              <a:t>哈夫曼树</a:t>
            </a:r>
            <a:r>
              <a:rPr lang="zh-CN" altLang="zh-CN" sz="2000" smtClean="0">
                <a:solidFill>
                  <a:srgbClr val="0000FF"/>
                </a:solidFill>
                <a:latin typeface="Consolas" pitchFamily="49" charset="0"/>
                <a:ea typeface="仿宋" pitchFamily="49" charset="-122"/>
                <a:cs typeface="Consolas" pitchFamily="49" charset="0"/>
              </a:rPr>
              <a:t>。</a:t>
            </a:r>
          </a:p>
        </p:txBody>
      </p:sp>
      <p:sp>
        <p:nvSpPr>
          <p:cNvPr id="7" name="TextBox 6"/>
          <p:cNvSpPr txBox="1"/>
          <p:nvPr/>
        </p:nvSpPr>
        <p:spPr>
          <a:xfrm>
            <a:off x="928662" y="5743534"/>
            <a:ext cx="6715172"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itchFamily="49" charset="0"/>
                <a:ea typeface="华文中宋" pitchFamily="2" charset="-122"/>
                <a:cs typeface="Consolas" pitchFamily="49" charset="0"/>
              </a:rPr>
              <a:t>每次都是两棵子树合并 </a:t>
            </a:r>
            <a:r>
              <a:rPr lang="zh-CN" altLang="en-US" sz="2000" smtClean="0">
                <a:solidFill>
                  <a:srgbClr val="0000FF"/>
                </a:solidFill>
                <a:latin typeface="Consolas" pitchFamily="49" charset="0"/>
                <a:ea typeface="华文中宋" pitchFamily="2" charset="-122"/>
                <a:cs typeface="Consolas" pitchFamily="49" charset="0"/>
                <a:sym typeface="Wingdings"/>
              </a:rPr>
              <a:t> 哈夫曼树中没有单分支结点</a:t>
            </a:r>
            <a:endParaRPr lang="zh-CN" altLang="en-US" sz="2000" smtClean="0">
              <a:solidFill>
                <a:srgbClr val="0000FF"/>
              </a:solidFill>
              <a:latin typeface="Consolas" pitchFamily="49" charset="0"/>
              <a:ea typeface="华文中宋" pitchFamily="2" charset="-122"/>
              <a:cs typeface="Consolas" pitchFamily="49" charset="0"/>
            </a:endParaRPr>
          </a:p>
        </p:txBody>
      </p:sp>
      <p:sp>
        <p:nvSpPr>
          <p:cNvPr id="8" name="下箭头 7"/>
          <p:cNvSpPr/>
          <p:nvPr/>
        </p:nvSpPr>
        <p:spPr>
          <a:xfrm>
            <a:off x="3929058" y="5143512"/>
            <a:ext cx="214314" cy="357190"/>
          </a:xfrm>
          <a:prstGeom prst="downArrow">
            <a:avLst/>
          </a:prstGeom>
          <a:ln>
            <a:tailEnd type="arrow"/>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41</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14356"/>
            <a:ext cx="557216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itchFamily="49" charset="0"/>
                <a:ea typeface="仿宋" pitchFamily="49" charset="-122"/>
                <a:cs typeface="Consolas" pitchFamily="49" charset="0"/>
              </a:rPr>
              <a:t>W=(1</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3</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5</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7)</a:t>
            </a:r>
            <a:r>
              <a:rPr lang="zh-CN" altLang="zh-CN" sz="2000" smtClean="0">
                <a:solidFill>
                  <a:srgbClr val="0000FF"/>
                </a:solidFill>
                <a:latin typeface="Consolas" pitchFamily="49" charset="0"/>
                <a:ea typeface="仿宋" pitchFamily="49" charset="-122"/>
                <a:cs typeface="Consolas" pitchFamily="49" charset="0"/>
              </a:rPr>
              <a:t>来构造一棵哈夫曼树</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21545" name="Rectangle 4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47"/>
          <p:cNvGrpSpPr/>
          <p:nvPr/>
        </p:nvGrpSpPr>
        <p:grpSpPr>
          <a:xfrm>
            <a:off x="6432135" y="1509576"/>
            <a:ext cx="1235117" cy="2759220"/>
            <a:chOff x="6432135" y="1509576"/>
            <a:chExt cx="1235117" cy="2759220"/>
          </a:xfrm>
        </p:grpSpPr>
        <p:sp>
          <p:nvSpPr>
            <p:cNvPr id="21543" name="Freeform 39"/>
            <p:cNvSpPr>
              <a:spLocks/>
            </p:cNvSpPr>
            <p:nvPr/>
          </p:nvSpPr>
          <p:spPr bwMode="auto">
            <a:xfrm>
              <a:off x="6987938" y="2968174"/>
              <a:ext cx="181240" cy="369350"/>
            </a:xfrm>
            <a:custGeom>
              <a:avLst/>
              <a:gdLst/>
              <a:ahLst/>
              <a:cxnLst>
                <a:cxn ang="0">
                  <a:pos x="0" y="0"/>
                </a:cxn>
                <a:cxn ang="0">
                  <a:pos x="154" y="314"/>
                </a:cxn>
              </a:cxnLst>
              <a:rect l="0" t="0" r="r" b="b"/>
              <a:pathLst>
                <a:path w="154" h="314">
                  <a:moveTo>
                    <a:pt x="0" y="0"/>
                  </a:moveTo>
                  <a:lnTo>
                    <a:pt x="154" y="314"/>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42" name="Freeform 38"/>
            <p:cNvSpPr>
              <a:spLocks/>
            </p:cNvSpPr>
            <p:nvPr/>
          </p:nvSpPr>
          <p:spPr bwMode="auto">
            <a:xfrm>
              <a:off x="6978540" y="1778194"/>
              <a:ext cx="194665" cy="370694"/>
            </a:xfrm>
            <a:custGeom>
              <a:avLst/>
              <a:gdLst/>
              <a:ahLst/>
              <a:cxnLst>
                <a:cxn ang="0">
                  <a:pos x="0" y="0"/>
                </a:cxn>
                <a:cxn ang="0">
                  <a:pos x="165" y="315"/>
                </a:cxn>
              </a:cxnLst>
              <a:rect l="0" t="0" r="r" b="b"/>
              <a:pathLst>
                <a:path w="165" h="315">
                  <a:moveTo>
                    <a:pt x="0" y="0"/>
                  </a:moveTo>
                  <a:lnTo>
                    <a:pt x="165" y="315"/>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41" name="Freeform 37"/>
            <p:cNvSpPr>
              <a:spLocks/>
            </p:cNvSpPr>
            <p:nvPr/>
          </p:nvSpPr>
          <p:spPr bwMode="auto">
            <a:xfrm>
              <a:off x="6936922" y="2343636"/>
              <a:ext cx="193323" cy="385468"/>
            </a:xfrm>
            <a:custGeom>
              <a:avLst/>
              <a:gdLst/>
              <a:ahLst/>
              <a:cxnLst>
                <a:cxn ang="0">
                  <a:pos x="164" y="0"/>
                </a:cxn>
                <a:cxn ang="0">
                  <a:pos x="0" y="328"/>
                </a:cxn>
              </a:cxnLst>
              <a:rect l="0" t="0" r="r" b="b"/>
              <a:pathLst>
                <a:path w="164" h="328">
                  <a:moveTo>
                    <a:pt x="164" y="0"/>
                  </a:moveTo>
                  <a:lnTo>
                    <a:pt x="0" y="328"/>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40" name="Freeform 36"/>
            <p:cNvSpPr>
              <a:spLocks/>
            </p:cNvSpPr>
            <p:nvPr/>
          </p:nvSpPr>
          <p:spPr bwMode="auto">
            <a:xfrm>
              <a:off x="6665733" y="3007124"/>
              <a:ext cx="171842" cy="353233"/>
            </a:xfrm>
            <a:custGeom>
              <a:avLst/>
              <a:gdLst/>
              <a:ahLst/>
              <a:cxnLst>
                <a:cxn ang="0">
                  <a:pos x="147" y="0"/>
                </a:cxn>
                <a:cxn ang="0">
                  <a:pos x="0" y="300"/>
                </a:cxn>
              </a:cxnLst>
              <a:rect l="0" t="0" r="r" b="b"/>
              <a:pathLst>
                <a:path w="147" h="300">
                  <a:moveTo>
                    <a:pt x="147" y="0"/>
                  </a:moveTo>
                  <a:lnTo>
                    <a:pt x="0" y="300"/>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30" name="Freeform 26"/>
            <p:cNvSpPr>
              <a:spLocks/>
            </p:cNvSpPr>
            <p:nvPr/>
          </p:nvSpPr>
          <p:spPr bwMode="auto">
            <a:xfrm>
              <a:off x="6573100" y="1751332"/>
              <a:ext cx="229571" cy="415016"/>
            </a:xfrm>
            <a:custGeom>
              <a:avLst/>
              <a:gdLst/>
              <a:ahLst/>
              <a:cxnLst>
                <a:cxn ang="0">
                  <a:pos x="195" y="0"/>
                </a:cxn>
                <a:cxn ang="0">
                  <a:pos x="0" y="353"/>
                </a:cxn>
              </a:cxnLst>
              <a:rect l="0" t="0" r="r" b="b"/>
              <a:pathLst>
                <a:path w="195" h="353">
                  <a:moveTo>
                    <a:pt x="195" y="0"/>
                  </a:moveTo>
                  <a:lnTo>
                    <a:pt x="0" y="35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29" name="Oval 25"/>
            <p:cNvSpPr>
              <a:spLocks noChangeArrowheads="1"/>
            </p:cNvSpPr>
            <p:nvPr/>
          </p:nvSpPr>
          <p:spPr bwMode="auto">
            <a:xfrm>
              <a:off x="6714064" y="1509576"/>
              <a:ext cx="353082" cy="35189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16</a:t>
              </a:r>
            </a:p>
          </p:txBody>
        </p:sp>
        <p:sp>
          <p:nvSpPr>
            <p:cNvPr id="21528" name="Oval 24"/>
            <p:cNvSpPr>
              <a:spLocks noChangeArrowheads="1"/>
            </p:cNvSpPr>
            <p:nvPr/>
          </p:nvSpPr>
          <p:spPr bwMode="auto">
            <a:xfrm>
              <a:off x="7044324" y="2096507"/>
              <a:ext cx="311464" cy="31159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9</a:t>
              </a:r>
            </a:p>
          </p:txBody>
        </p:sp>
        <p:sp>
          <p:nvSpPr>
            <p:cNvPr id="21527" name="Oval 23"/>
            <p:cNvSpPr>
              <a:spLocks noChangeArrowheads="1"/>
            </p:cNvSpPr>
            <p:nvPr/>
          </p:nvSpPr>
          <p:spPr bwMode="auto">
            <a:xfrm>
              <a:off x="6773135" y="2729104"/>
              <a:ext cx="311464" cy="310254"/>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4</a:t>
              </a:r>
            </a:p>
          </p:txBody>
        </p:sp>
        <p:sp>
          <p:nvSpPr>
            <p:cNvPr id="21526" name="Oval 22"/>
            <p:cNvSpPr>
              <a:spLocks noChangeArrowheads="1"/>
            </p:cNvSpPr>
            <p:nvPr/>
          </p:nvSpPr>
          <p:spPr bwMode="auto">
            <a:xfrm>
              <a:off x="6491206" y="3349612"/>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a:t>
              </a:r>
            </a:p>
          </p:txBody>
        </p:sp>
        <p:sp>
          <p:nvSpPr>
            <p:cNvPr id="21525" name="Oval 21"/>
            <p:cNvSpPr>
              <a:spLocks noChangeArrowheads="1"/>
            </p:cNvSpPr>
            <p:nvPr/>
          </p:nvSpPr>
          <p:spPr bwMode="auto">
            <a:xfrm>
              <a:off x="6432135" y="2079047"/>
              <a:ext cx="311464" cy="31159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7</a:t>
              </a:r>
            </a:p>
          </p:txBody>
        </p:sp>
        <p:sp>
          <p:nvSpPr>
            <p:cNvPr id="21524" name="Oval 20"/>
            <p:cNvSpPr>
              <a:spLocks noChangeArrowheads="1"/>
            </p:cNvSpPr>
            <p:nvPr/>
          </p:nvSpPr>
          <p:spPr bwMode="auto">
            <a:xfrm>
              <a:off x="7355788" y="2707614"/>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5</a:t>
              </a:r>
            </a:p>
          </p:txBody>
        </p:sp>
        <p:sp>
          <p:nvSpPr>
            <p:cNvPr id="21523" name="Oval 19"/>
            <p:cNvSpPr>
              <a:spLocks noChangeArrowheads="1"/>
            </p:cNvSpPr>
            <p:nvPr/>
          </p:nvSpPr>
          <p:spPr bwMode="auto">
            <a:xfrm>
              <a:off x="7020158" y="3346926"/>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3</a:t>
              </a:r>
            </a:p>
          </p:txBody>
        </p:sp>
        <p:sp>
          <p:nvSpPr>
            <p:cNvPr id="21522" name="Freeform 18"/>
            <p:cNvSpPr>
              <a:spLocks/>
            </p:cNvSpPr>
            <p:nvPr/>
          </p:nvSpPr>
          <p:spPr bwMode="auto">
            <a:xfrm>
              <a:off x="7292690" y="2375870"/>
              <a:ext cx="179898" cy="338459"/>
            </a:xfrm>
            <a:custGeom>
              <a:avLst/>
              <a:gdLst/>
              <a:ahLst/>
              <a:cxnLst>
                <a:cxn ang="0">
                  <a:pos x="0" y="0"/>
                </a:cxn>
                <a:cxn ang="0">
                  <a:pos x="153" y="288"/>
                </a:cxn>
              </a:cxnLst>
              <a:rect l="0" t="0" r="r" b="b"/>
              <a:pathLst>
                <a:path w="153" h="288">
                  <a:moveTo>
                    <a:pt x="0" y="0"/>
                  </a:moveTo>
                  <a:lnTo>
                    <a:pt x="153" y="288"/>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20" name="Text Box 16"/>
            <p:cNvSpPr txBox="1">
              <a:spLocks noChangeArrowheads="1"/>
            </p:cNvSpPr>
            <p:nvPr/>
          </p:nvSpPr>
          <p:spPr bwMode="auto">
            <a:xfrm>
              <a:off x="6715140" y="3969286"/>
              <a:ext cx="635011" cy="29951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d</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grpSp>
      <p:grpSp>
        <p:nvGrpSpPr>
          <p:cNvPr id="4" name="组合 44"/>
          <p:cNvGrpSpPr/>
          <p:nvPr/>
        </p:nvGrpSpPr>
        <p:grpSpPr>
          <a:xfrm>
            <a:off x="723746" y="2523610"/>
            <a:ext cx="1781522" cy="1762646"/>
            <a:chOff x="723746" y="2523610"/>
            <a:chExt cx="1781522" cy="1762646"/>
          </a:xfrm>
        </p:grpSpPr>
        <p:sp>
          <p:nvSpPr>
            <p:cNvPr id="21519" name="Oval 15"/>
            <p:cNvSpPr>
              <a:spLocks noChangeArrowheads="1"/>
            </p:cNvSpPr>
            <p:nvPr/>
          </p:nvSpPr>
          <p:spPr bwMode="auto">
            <a:xfrm>
              <a:off x="723746" y="2523610"/>
              <a:ext cx="311464" cy="31159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a:t>
              </a:r>
            </a:p>
          </p:txBody>
        </p:sp>
        <p:sp>
          <p:nvSpPr>
            <p:cNvPr id="21518" name="Oval 14"/>
            <p:cNvSpPr>
              <a:spLocks noChangeArrowheads="1"/>
            </p:cNvSpPr>
            <p:nvPr/>
          </p:nvSpPr>
          <p:spPr bwMode="auto">
            <a:xfrm>
              <a:off x="1217793" y="2523610"/>
              <a:ext cx="311464" cy="31159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3</a:t>
              </a:r>
            </a:p>
          </p:txBody>
        </p:sp>
        <p:sp>
          <p:nvSpPr>
            <p:cNvPr id="21517" name="Oval 13"/>
            <p:cNvSpPr>
              <a:spLocks noChangeArrowheads="1"/>
            </p:cNvSpPr>
            <p:nvPr/>
          </p:nvSpPr>
          <p:spPr bwMode="auto">
            <a:xfrm>
              <a:off x="1699757" y="2523610"/>
              <a:ext cx="311464" cy="31159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5</a:t>
              </a:r>
            </a:p>
          </p:txBody>
        </p:sp>
        <p:sp>
          <p:nvSpPr>
            <p:cNvPr id="21516" name="Oval 12"/>
            <p:cNvSpPr>
              <a:spLocks noChangeArrowheads="1"/>
            </p:cNvSpPr>
            <p:nvPr/>
          </p:nvSpPr>
          <p:spPr bwMode="auto">
            <a:xfrm>
              <a:off x="2193804" y="2523610"/>
              <a:ext cx="311464" cy="31159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7</a:t>
              </a:r>
            </a:p>
          </p:txBody>
        </p:sp>
        <p:sp>
          <p:nvSpPr>
            <p:cNvPr id="21508" name="Text Box 4"/>
            <p:cNvSpPr txBox="1">
              <a:spLocks noChangeArrowheads="1"/>
            </p:cNvSpPr>
            <p:nvPr/>
          </p:nvSpPr>
          <p:spPr bwMode="auto">
            <a:xfrm>
              <a:off x="1270151" y="3986746"/>
              <a:ext cx="635011" cy="29951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grpSp>
      <p:grpSp>
        <p:nvGrpSpPr>
          <p:cNvPr id="5" name="组合 45"/>
          <p:cNvGrpSpPr/>
          <p:nvPr/>
        </p:nvGrpSpPr>
        <p:grpSpPr>
          <a:xfrm>
            <a:off x="2842240" y="2224101"/>
            <a:ext cx="1580144" cy="2044695"/>
            <a:chOff x="2842240" y="2224101"/>
            <a:chExt cx="1580144" cy="2044695"/>
          </a:xfrm>
        </p:grpSpPr>
        <p:sp>
          <p:nvSpPr>
            <p:cNvPr id="21515" name="Oval 11"/>
            <p:cNvSpPr>
              <a:spLocks noChangeArrowheads="1"/>
            </p:cNvSpPr>
            <p:nvPr/>
          </p:nvSpPr>
          <p:spPr bwMode="auto">
            <a:xfrm>
              <a:off x="3106716" y="2224101"/>
              <a:ext cx="311464" cy="310254"/>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4</a:t>
              </a:r>
            </a:p>
          </p:txBody>
        </p:sp>
        <p:sp>
          <p:nvSpPr>
            <p:cNvPr id="21514" name="Oval 10"/>
            <p:cNvSpPr>
              <a:spLocks noChangeArrowheads="1"/>
            </p:cNvSpPr>
            <p:nvPr/>
          </p:nvSpPr>
          <p:spPr bwMode="auto">
            <a:xfrm>
              <a:off x="3616873" y="2224101"/>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5</a:t>
              </a:r>
            </a:p>
          </p:txBody>
        </p:sp>
        <p:sp>
          <p:nvSpPr>
            <p:cNvPr id="21513" name="Oval 9"/>
            <p:cNvSpPr>
              <a:spLocks noChangeArrowheads="1"/>
            </p:cNvSpPr>
            <p:nvPr/>
          </p:nvSpPr>
          <p:spPr bwMode="auto">
            <a:xfrm>
              <a:off x="4110920" y="2224101"/>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7</a:t>
              </a:r>
            </a:p>
          </p:txBody>
        </p:sp>
        <p:sp>
          <p:nvSpPr>
            <p:cNvPr id="21512" name="Oval 8"/>
            <p:cNvSpPr>
              <a:spLocks noChangeArrowheads="1"/>
            </p:cNvSpPr>
            <p:nvPr/>
          </p:nvSpPr>
          <p:spPr bwMode="auto">
            <a:xfrm>
              <a:off x="2842240" y="2859384"/>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a:t>
              </a:r>
            </a:p>
          </p:txBody>
        </p:sp>
        <p:sp>
          <p:nvSpPr>
            <p:cNvPr id="21511" name="Oval 7"/>
            <p:cNvSpPr>
              <a:spLocks noChangeArrowheads="1"/>
            </p:cNvSpPr>
            <p:nvPr/>
          </p:nvSpPr>
          <p:spPr bwMode="auto">
            <a:xfrm>
              <a:off x="3356425" y="2848639"/>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3</a:t>
              </a:r>
            </a:p>
          </p:txBody>
        </p:sp>
        <p:sp>
          <p:nvSpPr>
            <p:cNvPr id="21510" name="Freeform 6"/>
            <p:cNvSpPr>
              <a:spLocks/>
            </p:cNvSpPr>
            <p:nvPr/>
          </p:nvSpPr>
          <p:spPr bwMode="auto">
            <a:xfrm>
              <a:off x="3352397" y="2506150"/>
              <a:ext cx="150362" cy="345175"/>
            </a:xfrm>
            <a:custGeom>
              <a:avLst/>
              <a:gdLst/>
              <a:ahLst/>
              <a:cxnLst>
                <a:cxn ang="0">
                  <a:pos x="0" y="0"/>
                </a:cxn>
                <a:cxn ang="0">
                  <a:pos x="127" y="293"/>
                </a:cxn>
              </a:cxnLst>
              <a:rect l="0" t="0" r="r" b="b"/>
              <a:pathLst>
                <a:path w="127" h="293">
                  <a:moveTo>
                    <a:pt x="0" y="0"/>
                  </a:moveTo>
                  <a:lnTo>
                    <a:pt x="127" y="29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09" name="Freeform 5"/>
            <p:cNvSpPr>
              <a:spLocks/>
            </p:cNvSpPr>
            <p:nvPr/>
          </p:nvSpPr>
          <p:spPr bwMode="auto">
            <a:xfrm>
              <a:off x="3031535" y="2506150"/>
              <a:ext cx="138279" cy="357263"/>
            </a:xfrm>
            <a:custGeom>
              <a:avLst/>
              <a:gdLst/>
              <a:ahLst/>
              <a:cxnLst>
                <a:cxn ang="0">
                  <a:pos x="117" y="0"/>
                </a:cxn>
                <a:cxn ang="0">
                  <a:pos x="0" y="303"/>
                </a:cxn>
              </a:cxnLst>
              <a:rect l="0" t="0" r="r" b="b"/>
              <a:pathLst>
                <a:path w="117" h="303">
                  <a:moveTo>
                    <a:pt x="117" y="0"/>
                  </a:moveTo>
                  <a:lnTo>
                    <a:pt x="0" y="303"/>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07" name="Text Box 3"/>
            <p:cNvSpPr txBox="1">
              <a:spLocks noChangeArrowheads="1"/>
            </p:cNvSpPr>
            <p:nvPr/>
          </p:nvSpPr>
          <p:spPr bwMode="auto">
            <a:xfrm>
              <a:off x="3387303" y="3969286"/>
              <a:ext cx="635011" cy="29951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grpSp>
      <p:grpSp>
        <p:nvGrpSpPr>
          <p:cNvPr id="6" name="组合 46"/>
          <p:cNvGrpSpPr/>
          <p:nvPr/>
        </p:nvGrpSpPr>
        <p:grpSpPr>
          <a:xfrm>
            <a:off x="4833195" y="2096507"/>
            <a:ext cx="1176046" cy="2189749"/>
            <a:chOff x="4833195" y="2096507"/>
            <a:chExt cx="1176046" cy="2189749"/>
          </a:xfrm>
        </p:grpSpPr>
        <p:sp>
          <p:nvSpPr>
            <p:cNvPr id="21539" name="Freeform 35"/>
            <p:cNvSpPr>
              <a:spLocks/>
            </p:cNvSpPr>
            <p:nvPr/>
          </p:nvSpPr>
          <p:spPr bwMode="auto">
            <a:xfrm>
              <a:off x="5311132" y="2379900"/>
              <a:ext cx="136937" cy="349204"/>
            </a:xfrm>
            <a:custGeom>
              <a:avLst/>
              <a:gdLst/>
              <a:ahLst/>
              <a:cxnLst>
                <a:cxn ang="0">
                  <a:pos x="117" y="0"/>
                </a:cxn>
                <a:cxn ang="0">
                  <a:pos x="0" y="297"/>
                </a:cxn>
              </a:cxnLst>
              <a:rect l="0" t="0" r="r" b="b"/>
              <a:pathLst>
                <a:path w="117" h="297">
                  <a:moveTo>
                    <a:pt x="117" y="0"/>
                  </a:moveTo>
                  <a:lnTo>
                    <a:pt x="0" y="297"/>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38" name="Oval 34"/>
            <p:cNvSpPr>
              <a:spLocks noChangeArrowheads="1"/>
            </p:cNvSpPr>
            <p:nvPr/>
          </p:nvSpPr>
          <p:spPr bwMode="auto">
            <a:xfrm>
              <a:off x="5382286" y="2096507"/>
              <a:ext cx="311464" cy="31159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9</a:t>
              </a:r>
            </a:p>
          </p:txBody>
        </p:sp>
        <p:sp>
          <p:nvSpPr>
            <p:cNvPr id="21537" name="Oval 33"/>
            <p:cNvSpPr>
              <a:spLocks noChangeArrowheads="1"/>
            </p:cNvSpPr>
            <p:nvPr/>
          </p:nvSpPr>
          <p:spPr bwMode="auto">
            <a:xfrm>
              <a:off x="5115124" y="2729104"/>
              <a:ext cx="311464" cy="310254"/>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4</a:t>
              </a:r>
            </a:p>
          </p:txBody>
        </p:sp>
        <p:sp>
          <p:nvSpPr>
            <p:cNvPr id="21536" name="Oval 32"/>
            <p:cNvSpPr>
              <a:spLocks noChangeArrowheads="1"/>
            </p:cNvSpPr>
            <p:nvPr/>
          </p:nvSpPr>
          <p:spPr bwMode="auto">
            <a:xfrm>
              <a:off x="4833195" y="3349612"/>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1</a:t>
              </a:r>
            </a:p>
          </p:txBody>
        </p:sp>
        <p:sp>
          <p:nvSpPr>
            <p:cNvPr id="21535" name="Oval 31"/>
            <p:cNvSpPr>
              <a:spLocks noChangeArrowheads="1"/>
            </p:cNvSpPr>
            <p:nvPr/>
          </p:nvSpPr>
          <p:spPr bwMode="auto">
            <a:xfrm>
              <a:off x="4850648" y="2104566"/>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7</a:t>
              </a:r>
            </a:p>
          </p:txBody>
        </p:sp>
        <p:sp>
          <p:nvSpPr>
            <p:cNvPr id="21534" name="Oval 30"/>
            <p:cNvSpPr>
              <a:spLocks noChangeArrowheads="1"/>
            </p:cNvSpPr>
            <p:nvPr/>
          </p:nvSpPr>
          <p:spPr bwMode="auto">
            <a:xfrm>
              <a:off x="5697777" y="2718359"/>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5</a:t>
              </a:r>
            </a:p>
          </p:txBody>
        </p:sp>
        <p:sp>
          <p:nvSpPr>
            <p:cNvPr id="21533" name="Oval 29"/>
            <p:cNvSpPr>
              <a:spLocks noChangeArrowheads="1"/>
            </p:cNvSpPr>
            <p:nvPr/>
          </p:nvSpPr>
          <p:spPr bwMode="auto">
            <a:xfrm>
              <a:off x="5362148" y="3346926"/>
              <a:ext cx="311464" cy="31025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3</a:t>
              </a:r>
            </a:p>
          </p:txBody>
        </p:sp>
        <p:sp>
          <p:nvSpPr>
            <p:cNvPr id="21532" name="Freeform 28"/>
            <p:cNvSpPr>
              <a:spLocks/>
            </p:cNvSpPr>
            <p:nvPr/>
          </p:nvSpPr>
          <p:spPr bwMode="auto">
            <a:xfrm>
              <a:off x="5625281" y="2382586"/>
              <a:ext cx="182583" cy="346518"/>
            </a:xfrm>
            <a:custGeom>
              <a:avLst/>
              <a:gdLst/>
              <a:ahLst/>
              <a:cxnLst>
                <a:cxn ang="0">
                  <a:pos x="0" y="0"/>
                </a:cxn>
                <a:cxn ang="0">
                  <a:pos x="156" y="294"/>
                </a:cxn>
              </a:cxnLst>
              <a:rect l="0" t="0" r="r" b="b"/>
              <a:pathLst>
                <a:path w="156" h="294">
                  <a:moveTo>
                    <a:pt x="0" y="0"/>
                  </a:moveTo>
                  <a:lnTo>
                    <a:pt x="156" y="294"/>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31" name="Freeform 27"/>
            <p:cNvSpPr>
              <a:spLocks/>
            </p:cNvSpPr>
            <p:nvPr/>
          </p:nvSpPr>
          <p:spPr bwMode="auto">
            <a:xfrm>
              <a:off x="5370203" y="3007124"/>
              <a:ext cx="144992" cy="342489"/>
            </a:xfrm>
            <a:custGeom>
              <a:avLst/>
              <a:gdLst/>
              <a:ahLst/>
              <a:cxnLst>
                <a:cxn ang="0">
                  <a:pos x="0" y="0"/>
                </a:cxn>
                <a:cxn ang="0">
                  <a:pos x="123" y="291"/>
                </a:cxn>
              </a:cxnLst>
              <a:rect l="0" t="0" r="r" b="b"/>
              <a:pathLst>
                <a:path w="123" h="291">
                  <a:moveTo>
                    <a:pt x="0" y="0"/>
                  </a:moveTo>
                  <a:lnTo>
                    <a:pt x="123" y="291"/>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sp>
          <p:nvSpPr>
            <p:cNvPr id="21521" name="Text Box 17"/>
            <p:cNvSpPr txBox="1">
              <a:spLocks noChangeArrowheads="1"/>
            </p:cNvSpPr>
            <p:nvPr/>
          </p:nvSpPr>
          <p:spPr bwMode="auto">
            <a:xfrm>
              <a:off x="5144660" y="3986746"/>
              <a:ext cx="635011" cy="29951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1900"/>
                </a:lnSpc>
                <a:spcBef>
                  <a:spcPct val="0"/>
                </a:spcBef>
                <a:spcAft>
                  <a:spcPct val="0"/>
                </a:spcAft>
                <a:buClrTx/>
                <a:buSzTx/>
                <a:buFontTx/>
                <a:buNone/>
                <a:tabLst/>
              </a:pPr>
              <a:r>
                <a:rPr kumimoji="0" 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r>
                <a:rPr kumimoji="0" lang="en-US" altLang="zh-CN"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c</a:t>
              </a:r>
              <a:r>
                <a:rPr kumimoji="0" lang="zh-CN" altLang="en-US" sz="1400" i="0" u="none" strike="noStrike" cap="none" normalizeH="0" baseline="0" smtClean="0">
                  <a:ln>
                    <a:noFill/>
                  </a:ln>
                  <a:solidFill>
                    <a:srgbClr val="0000FF"/>
                  </a:solidFill>
                  <a:effectLst/>
                  <a:latin typeface="Consolas" pitchFamily="49" charset="0"/>
                  <a:ea typeface="仿宋" pitchFamily="49" charset="-122"/>
                  <a:cs typeface="Consolas" pitchFamily="49" charset="0"/>
                </a:rPr>
                <a:t>）</a:t>
              </a:r>
            </a:p>
          </p:txBody>
        </p:sp>
        <p:sp>
          <p:nvSpPr>
            <p:cNvPr id="21506" name="Freeform 2"/>
            <p:cNvSpPr>
              <a:spLocks/>
            </p:cNvSpPr>
            <p:nvPr/>
          </p:nvSpPr>
          <p:spPr bwMode="auto">
            <a:xfrm>
              <a:off x="5010408" y="3011153"/>
              <a:ext cx="162445" cy="338459"/>
            </a:xfrm>
            <a:custGeom>
              <a:avLst/>
              <a:gdLst/>
              <a:ahLst/>
              <a:cxnLst>
                <a:cxn ang="0">
                  <a:pos x="138" y="0"/>
                </a:cxn>
                <a:cxn ang="0">
                  <a:pos x="0" y="288"/>
                </a:cxn>
              </a:cxnLst>
              <a:rect l="0" t="0" r="r" b="b"/>
              <a:pathLst>
                <a:path w="138" h="288">
                  <a:moveTo>
                    <a:pt x="138" y="0"/>
                  </a:moveTo>
                  <a:lnTo>
                    <a:pt x="0" y="288"/>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nSpc>
                  <a:spcPts val="1900"/>
                </a:lnSpc>
              </a:pPr>
              <a:endParaRPr lang="zh-CN" altLang="en-US" sz="1400">
                <a:solidFill>
                  <a:srgbClr val="0000FF"/>
                </a:solidFill>
                <a:latin typeface="Consolas" pitchFamily="49" charset="0"/>
                <a:ea typeface="仿宋" pitchFamily="49" charset="-122"/>
                <a:cs typeface="Consolas" pitchFamily="49" charset="0"/>
              </a:endParaRPr>
            </a:p>
          </p:txBody>
        </p:sp>
      </p:grpSp>
      <p:sp>
        <p:nvSpPr>
          <p:cNvPr id="47" name="灯片编号占位符 46"/>
          <p:cNvSpPr>
            <a:spLocks noGrp="1"/>
          </p:cNvSpPr>
          <p:nvPr>
            <p:ph type="sldNum" sz="quarter" idx="12"/>
          </p:nvPr>
        </p:nvSpPr>
        <p:spPr/>
        <p:txBody>
          <a:bodyPr/>
          <a:lstStyle/>
          <a:p>
            <a:fld id="{67864EE2-EAB3-4814-A7EB-820BD7610F1E}" type="slidenum">
              <a:rPr lang="en-US" altLang="zh-CN" smtClean="0"/>
              <a:pPr/>
              <a:t>42</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857232"/>
            <a:ext cx="7715304" cy="2349361"/>
          </a:xfrm>
          <a:prstGeom prst="rect">
            <a:avLst/>
          </a:prstGeom>
          <a:noFill/>
        </p:spPr>
        <p:txBody>
          <a:bodyPr wrap="square" rtlCol="0">
            <a:spAutoFit/>
          </a:bodyPr>
          <a:lstStyle/>
          <a:p>
            <a:pPr algn="l">
              <a:lnSpc>
                <a:spcPts val="2800"/>
              </a:lnSpc>
              <a:spcBef>
                <a:spcPts val="1200"/>
              </a:spcBef>
            </a:pPr>
            <a:r>
              <a:rPr lang="zh-CN" altLang="zh-CN" sz="2000" smtClean="0">
                <a:solidFill>
                  <a:srgbClr val="FF0000"/>
                </a:solidFill>
                <a:latin typeface="微软雅黑" pitchFamily="34" charset="-122"/>
                <a:ea typeface="微软雅黑" pitchFamily="34" charset="-122"/>
                <a:cs typeface="Consolas" pitchFamily="49" charset="0"/>
              </a:rPr>
              <a:t>定理</a:t>
            </a:r>
            <a:r>
              <a:rPr lang="en-US" altLang="zh-CN" sz="2000" smtClean="0">
                <a:solidFill>
                  <a:srgbClr val="FF0000"/>
                </a:solidFill>
                <a:latin typeface="微软雅黑" pitchFamily="34" charset="-122"/>
                <a:ea typeface="微软雅黑" pitchFamily="34" charset="-122"/>
                <a:cs typeface="Consolas" pitchFamily="49" charset="0"/>
              </a:rPr>
              <a:t>7.3  </a:t>
            </a:r>
            <a:r>
              <a:rPr lang="zh-CN" altLang="zh-CN" sz="2000" smtClean="0">
                <a:solidFill>
                  <a:srgbClr val="0000FF"/>
                </a:solidFill>
                <a:latin typeface="Consolas" pitchFamily="49" charset="0"/>
                <a:ea typeface="仿宋" pitchFamily="49" charset="-122"/>
                <a:cs typeface="Consolas" pitchFamily="49" charset="0"/>
              </a:rPr>
              <a:t>对于具有</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个叶子结点的哈夫曼树，共有</a:t>
            </a:r>
            <a:r>
              <a:rPr lang="en-US" altLang="zh-CN" sz="2000" smtClean="0">
                <a:solidFill>
                  <a:srgbClr val="0000FF"/>
                </a:solidFill>
                <a:latin typeface="Consolas" pitchFamily="49" charset="0"/>
                <a:ea typeface="仿宋" pitchFamily="49" charset="-122"/>
                <a:cs typeface="Consolas" pitchFamily="49" charset="0"/>
              </a:rPr>
              <a:t>2</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个结点。</a:t>
            </a:r>
          </a:p>
          <a:p>
            <a:pPr algn="l">
              <a:lnSpc>
                <a:spcPts val="2800"/>
              </a:lnSpc>
              <a:spcBef>
                <a:spcPts val="1200"/>
              </a:spcBef>
            </a:pPr>
            <a:r>
              <a:rPr lang="zh-CN" altLang="zh-CN" sz="2000" smtClean="0">
                <a:solidFill>
                  <a:srgbClr val="FF0000"/>
                </a:solidFill>
                <a:latin typeface="微软雅黑" pitchFamily="34" charset="-122"/>
                <a:ea typeface="微软雅黑" pitchFamily="34" charset="-122"/>
                <a:cs typeface="Consolas" pitchFamily="49" charset="0"/>
              </a:rPr>
              <a:t>证明</a:t>
            </a:r>
            <a:r>
              <a:rPr lang="zh-CN" altLang="zh-CN" sz="2000" smtClean="0">
                <a:solidFill>
                  <a:srgbClr val="0000FF"/>
                </a:solidFill>
                <a:latin typeface="Consolas" pitchFamily="49" charset="0"/>
                <a:ea typeface="仿宋" pitchFamily="49" charset="-122"/>
                <a:cs typeface="Consolas" pitchFamily="49" charset="0"/>
              </a:rPr>
              <a:t>：从哈夫曼树的构造过程看出，每次合并都是将两棵二叉树合并为一个，所以哈夫曼树不存在度为</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的结点，即</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1</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algn="l">
              <a:lnSpc>
                <a:spcPts val="2800"/>
              </a:lnSpc>
              <a:spcBef>
                <a:spcPts val="12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由二叉树的性质</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可知</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2</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，即</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2</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en-US" altLang="zh-CN" sz="2000" smtClean="0">
                <a:solidFill>
                  <a:srgbClr val="0000FF"/>
                </a:solidFill>
                <a:latin typeface="Consolas" pitchFamily="49" charset="0"/>
                <a:ea typeface="仿宋" pitchFamily="49" charset="-122"/>
                <a:cs typeface="Consolas" pitchFamily="49" charset="0"/>
              </a:rPr>
              <a:t>-1</a:t>
            </a:r>
          </a:p>
          <a:p>
            <a:pPr algn="l">
              <a:lnSpc>
                <a:spcPts val="2800"/>
              </a:lnSpc>
              <a:spcBef>
                <a:spcPts val="12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0000FF"/>
                </a:solidFill>
                <a:latin typeface="Consolas" pitchFamily="49" charset="0"/>
                <a:ea typeface="仿宋" pitchFamily="49" charset="-122"/>
                <a:cs typeface="Consolas" pitchFamily="49" charset="0"/>
              </a:rPr>
              <a:t>则结点总数</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1</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2</a:t>
            </a:r>
            <a:r>
              <a:rPr lang="en-US" altLang="zh-CN" sz="2000" smtClean="0">
                <a:solidFill>
                  <a:srgbClr val="0000FF"/>
                </a:solidFill>
                <a:latin typeface="Consolas" pitchFamily="49" charset="0"/>
                <a:ea typeface="仿宋" pitchFamily="49" charset="-122"/>
                <a:cs typeface="Consolas" pitchFamily="49" charset="0"/>
              </a:rPr>
              <a:t>= </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2</a:t>
            </a:r>
            <a:r>
              <a:rPr lang="en-US"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en-US" altLang="zh-CN" sz="2000" smtClean="0">
                <a:solidFill>
                  <a:srgbClr val="0000FF"/>
                </a:solidFill>
                <a:latin typeface="Consolas" pitchFamily="49" charset="0"/>
                <a:ea typeface="仿宋" pitchFamily="49" charset="-122"/>
                <a:cs typeface="Consolas" pitchFamily="49" charset="0"/>
              </a:rPr>
              <a:t>+2</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en-US" altLang="zh-CN" sz="2000" smtClean="0">
                <a:solidFill>
                  <a:srgbClr val="0000FF"/>
                </a:solidFill>
                <a:latin typeface="Consolas" pitchFamily="49" charset="0"/>
                <a:ea typeface="仿宋" pitchFamily="49" charset="-122"/>
                <a:cs typeface="Consolas" pitchFamily="49" charset="0"/>
              </a:rPr>
              <a:t>-1=2</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baseline="-25000" smtClean="0">
                <a:solidFill>
                  <a:srgbClr val="0000FF"/>
                </a:solidFill>
                <a:latin typeface="Consolas" pitchFamily="49" charset="0"/>
                <a:ea typeface="仿宋" pitchFamily="49" charset="-122"/>
                <a:cs typeface="Consolas" pitchFamily="49" charset="0"/>
              </a:rPr>
              <a:t>0</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pPr/>
              <a:t>43</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1" name="Picture 1"/>
          <p:cNvPicPr>
            <a:picLocks noChangeAspect="1" noChangeArrowheads="1"/>
          </p:cNvPicPr>
          <p:nvPr/>
        </p:nvPicPr>
        <p:blipFill>
          <a:blip r:embed="rId2" cstate="print"/>
          <a:srcRect/>
          <a:stretch>
            <a:fillRect/>
          </a:stretch>
        </p:blipFill>
        <p:spPr bwMode="auto">
          <a:xfrm>
            <a:off x="500034" y="714356"/>
            <a:ext cx="1285884" cy="1206863"/>
          </a:xfrm>
          <a:prstGeom prst="rect">
            <a:avLst/>
          </a:prstGeom>
          <a:noFill/>
          <a:ln w="9525">
            <a:noFill/>
            <a:miter lim="800000"/>
            <a:headEnd/>
            <a:tailEnd/>
          </a:ln>
        </p:spPr>
      </p:pic>
      <p:sp>
        <p:nvSpPr>
          <p:cNvPr id="5" name="TextBox 4"/>
          <p:cNvSpPr txBox="1"/>
          <p:nvPr/>
        </p:nvSpPr>
        <p:spPr>
          <a:xfrm>
            <a:off x="714348" y="971533"/>
            <a:ext cx="857256" cy="400110"/>
          </a:xfrm>
          <a:prstGeom prst="rect">
            <a:avLst/>
          </a:prstGeom>
          <a:noFill/>
        </p:spPr>
        <p:txBody>
          <a:bodyPr wrap="square" lIns="0" rIns="0" rtlCol="0">
            <a:spAutoFit/>
          </a:bodyPr>
          <a:lstStyle/>
          <a:p>
            <a:pPr>
              <a:lnSpc>
                <a:spcPct val="100000"/>
              </a:lnSpc>
              <a:spcBef>
                <a:spcPts val="0"/>
              </a:spcBef>
            </a:pPr>
            <a:r>
              <a:rPr lang="zh-CN" altLang="en-US" sz="2000" smtClean="0">
                <a:solidFill>
                  <a:srgbClr val="FF0000"/>
                </a:solidFill>
                <a:latin typeface="Consolas" pitchFamily="49" charset="0"/>
                <a:ea typeface="微软雅黑" pitchFamily="34" charset="-122"/>
                <a:cs typeface="Consolas" pitchFamily="49" charset="0"/>
              </a:rPr>
              <a:t>提个醒</a:t>
            </a:r>
          </a:p>
        </p:txBody>
      </p:sp>
      <p:sp>
        <p:nvSpPr>
          <p:cNvPr id="6" name="TextBox 5"/>
          <p:cNvSpPr txBox="1"/>
          <p:nvPr/>
        </p:nvSpPr>
        <p:spPr>
          <a:xfrm>
            <a:off x="1928794" y="811980"/>
            <a:ext cx="6072230" cy="759632"/>
          </a:xfrm>
          <a:prstGeom prst="rect">
            <a:avLst/>
          </a:prstGeom>
          <a:noFill/>
        </p:spPr>
        <p:txBody>
          <a:bodyPr wrap="square" rtlCol="0">
            <a:spAutoFit/>
          </a:bodyPr>
          <a:lstStyle/>
          <a:p>
            <a:pPr algn="l">
              <a:lnSpc>
                <a:spcPts val="2800"/>
              </a:lnSpc>
              <a:spcBef>
                <a:spcPts val="0"/>
              </a:spcBef>
            </a:pPr>
            <a:r>
              <a:rPr lang="zh-CN" altLang="zh-CN" sz="2000" smtClean="0">
                <a:solidFill>
                  <a:srgbClr val="0000FF"/>
                </a:solidFill>
                <a:latin typeface="仿宋" pitchFamily="49" charset="-122"/>
                <a:ea typeface="仿宋" pitchFamily="49" charset="-122"/>
              </a:rPr>
              <a:t>在一组字符的哈夫曼编码中，任一字符的哈夫曼编码不可能是另一字符哈夫曼编码的前缀。</a:t>
            </a:r>
            <a:endParaRPr lang="zh-CN" altLang="en-US" sz="2000" smtClean="0">
              <a:solidFill>
                <a:srgbClr val="0000FF"/>
              </a:solidFill>
              <a:latin typeface="仿宋" pitchFamily="49" charset="-122"/>
              <a:ea typeface="仿宋" pitchFamily="49" charset="-122"/>
              <a:cs typeface="Consolas" pitchFamily="49" charset="0"/>
            </a:endParaRPr>
          </a:p>
        </p:txBody>
      </p:sp>
      <p:grpSp>
        <p:nvGrpSpPr>
          <p:cNvPr id="2" name="组合 13"/>
          <p:cNvGrpSpPr/>
          <p:nvPr/>
        </p:nvGrpSpPr>
        <p:grpSpPr>
          <a:xfrm>
            <a:off x="428628" y="2428868"/>
            <a:ext cx="7929586" cy="3116652"/>
            <a:chOff x="428628" y="2714620"/>
            <a:chExt cx="7929586" cy="3116652"/>
          </a:xfrm>
        </p:grpSpPr>
        <p:sp>
          <p:nvSpPr>
            <p:cNvPr id="7" name="TextBox 6"/>
            <p:cNvSpPr txBox="1"/>
            <p:nvPr/>
          </p:nvSpPr>
          <p:spPr>
            <a:xfrm>
              <a:off x="1571604" y="3286124"/>
              <a:ext cx="6786610" cy="2545148"/>
            </a:xfrm>
            <a:prstGeom prst="rect">
              <a:avLst/>
            </a:prstGeom>
            <a:solidFill>
              <a:schemeClr val="accent6">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180000" tIns="144000" bIns="144000" rtlCol="0">
              <a:spAutoFit/>
            </a:bodyPr>
            <a:lstStyle/>
            <a:p>
              <a:pPr algn="l">
                <a:lnSpc>
                  <a:spcPct val="150000"/>
                </a:lnSpc>
                <a:spcBef>
                  <a:spcPts val="0"/>
                </a:spcBef>
              </a:pPr>
              <a:r>
                <a:rPr lang="en-US" altLang="zh-CN" sz="2000" smtClean="0">
                  <a:solidFill>
                    <a:srgbClr val="0000FF"/>
                  </a:solidFill>
                  <a:latin typeface="Consolas" pitchFamily="49" charset="0"/>
                  <a:ea typeface="仿宋" pitchFamily="49" charset="-122"/>
                  <a:cs typeface="Consolas" pitchFamily="49" charset="0"/>
                </a:rPr>
                <a:t>6</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5</a:t>
              </a:r>
              <a:r>
                <a:rPr lang="zh-CN" altLang="en-US" sz="2000" smtClean="0">
                  <a:solidFill>
                    <a:srgbClr val="0000FF"/>
                  </a:solidFill>
                  <a:latin typeface="Consolas" pitchFamily="49" charset="0"/>
                  <a:ea typeface="仿宋" pitchFamily="49" charset="-122"/>
                  <a:cs typeface="Consolas" pitchFamily="49" charset="0"/>
                </a:rPr>
                <a:t>个字符有如下</a:t>
              </a:r>
              <a:r>
                <a:rPr lang="en-US" altLang="zh-CN" sz="2000" smtClean="0">
                  <a:solidFill>
                    <a:srgbClr val="0000FF"/>
                  </a:solidFill>
                  <a:latin typeface="Consolas" pitchFamily="49" charset="0"/>
                  <a:ea typeface="仿宋" pitchFamily="49" charset="-122"/>
                  <a:cs typeface="Consolas" pitchFamily="49" charset="0"/>
                </a:rPr>
                <a:t>4</a:t>
              </a:r>
              <a:r>
                <a:rPr lang="zh-CN" altLang="en-US" sz="2000" smtClean="0">
                  <a:solidFill>
                    <a:srgbClr val="0000FF"/>
                  </a:solidFill>
                  <a:latin typeface="Consolas" pitchFamily="49" charset="0"/>
                  <a:ea typeface="仿宋" pitchFamily="49" charset="-122"/>
                  <a:cs typeface="Consolas" pitchFamily="49" charset="0"/>
                </a:rPr>
                <a:t>种编码方案，不是前缀编码的是（ ）。   </a:t>
              </a:r>
              <a:endParaRPr lang="en-US" altLang="zh-CN" sz="2000" smtClean="0">
                <a:solidFill>
                  <a:srgbClr val="0000FF"/>
                </a:solidFill>
                <a:latin typeface="Consolas" pitchFamily="49" charset="0"/>
                <a:ea typeface="仿宋" pitchFamily="49" charset="-122"/>
                <a:cs typeface="Consolas" pitchFamily="49" charset="0"/>
              </a:endParaRPr>
            </a:p>
            <a:p>
              <a:pPr algn="l">
                <a:lnSpc>
                  <a:spcPct val="150000"/>
                </a:lnSpc>
                <a:spcBef>
                  <a:spcPts val="0"/>
                </a:spcBef>
              </a:pPr>
              <a:r>
                <a:rPr lang="en-US" altLang="zh-CN" sz="2000" smtClean="0">
                  <a:solidFill>
                    <a:srgbClr val="0000FF"/>
                  </a:solidFill>
                  <a:latin typeface="Consolas" pitchFamily="49" charset="0"/>
                  <a:ea typeface="仿宋" pitchFamily="49" charset="-122"/>
                  <a:cs typeface="Consolas" pitchFamily="49" charset="0"/>
                </a:rPr>
                <a:t>  A</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01,0000,0001,001,1</a:t>
              </a:r>
            </a:p>
            <a:p>
              <a:pPr algn="l">
                <a:lnSpc>
                  <a:spcPct val="150000"/>
                </a:lnSpc>
                <a:spcBef>
                  <a:spcPts val="0"/>
                </a:spcBef>
              </a:pPr>
              <a:r>
                <a:rPr lang="en-US" altLang="zh-CN" sz="2000" smtClean="0">
                  <a:solidFill>
                    <a:srgbClr val="0000FF"/>
                  </a:solidFill>
                  <a:latin typeface="Consolas" pitchFamily="49" charset="0"/>
                  <a:ea typeface="仿宋" pitchFamily="49" charset="-122"/>
                  <a:cs typeface="Consolas" pitchFamily="49" charset="0"/>
                </a:rPr>
                <a:t>  B</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011,000,001,010,1</a:t>
              </a:r>
            </a:p>
            <a:p>
              <a:pPr algn="l">
                <a:lnSpc>
                  <a:spcPct val="150000"/>
                </a:lnSpc>
                <a:spcBef>
                  <a:spcPts val="0"/>
                </a:spcBef>
              </a:pPr>
              <a:r>
                <a:rPr lang="en-US" altLang="zh-CN" sz="2000" smtClean="0">
                  <a:solidFill>
                    <a:srgbClr val="0000FF"/>
                  </a:solidFill>
                  <a:latin typeface="Consolas" pitchFamily="49" charset="0"/>
                  <a:ea typeface="仿宋" pitchFamily="49" charset="-122"/>
                  <a:cs typeface="Consolas" pitchFamily="49" charset="0"/>
                </a:rPr>
                <a:t>  C</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000,001,010,011,100</a:t>
              </a:r>
            </a:p>
            <a:p>
              <a:pPr algn="l">
                <a:lnSpc>
                  <a:spcPct val="150000"/>
                </a:lnSpc>
                <a:spcBef>
                  <a:spcPts val="0"/>
                </a:spcBef>
              </a:pPr>
              <a:r>
                <a:rPr lang="en-US" altLang="zh-CN" sz="2000" smtClean="0">
                  <a:solidFill>
                    <a:srgbClr val="0000FF"/>
                  </a:solidFill>
                  <a:latin typeface="Consolas" pitchFamily="49" charset="0"/>
                  <a:ea typeface="仿宋" pitchFamily="49" charset="-122"/>
                  <a:cs typeface="Consolas" pitchFamily="49" charset="0"/>
                </a:rPr>
                <a:t>  D</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0,100,</a:t>
              </a:r>
              <a:r>
                <a:rPr lang="en-US" altLang="zh-CN" sz="2000" smtClean="0">
                  <a:solidFill>
                    <a:srgbClr val="FF0000"/>
                  </a:solidFill>
                  <a:latin typeface="Consolas" pitchFamily="49" charset="0"/>
                  <a:ea typeface="仿宋" pitchFamily="49" charset="-122"/>
                  <a:cs typeface="Consolas" pitchFamily="49" charset="0"/>
                </a:rPr>
                <a:t>110</a:t>
              </a:r>
              <a:r>
                <a:rPr lang="en-US" altLang="zh-CN" sz="2000" smtClean="0">
                  <a:solidFill>
                    <a:srgbClr val="0000FF"/>
                  </a:solidFill>
                  <a:latin typeface="Consolas" pitchFamily="49" charset="0"/>
                  <a:ea typeface="仿宋" pitchFamily="49" charset="-122"/>
                  <a:cs typeface="Consolas" pitchFamily="49" charset="0"/>
                </a:rPr>
                <a:t>,1110,</a:t>
              </a:r>
              <a:r>
                <a:rPr lang="en-US" altLang="zh-CN" sz="2000" smtClean="0">
                  <a:solidFill>
                    <a:srgbClr val="FF0000"/>
                  </a:solidFill>
                  <a:latin typeface="Consolas" pitchFamily="49" charset="0"/>
                  <a:ea typeface="仿宋" pitchFamily="49" charset="-122"/>
                  <a:cs typeface="Consolas" pitchFamily="49" charset="0"/>
                </a:rPr>
                <a:t>110</a:t>
              </a:r>
              <a:r>
                <a:rPr lang="en-US" altLang="zh-CN" sz="2000" smtClean="0">
                  <a:solidFill>
                    <a:srgbClr val="0000FF"/>
                  </a:solidFill>
                  <a:latin typeface="Consolas" pitchFamily="49" charset="0"/>
                  <a:ea typeface="仿宋" pitchFamily="49" charset="-122"/>
                  <a:cs typeface="Consolas" pitchFamily="49" charset="0"/>
                </a:rPr>
                <a:t>0</a:t>
              </a:r>
              <a:endParaRPr lang="zh-CN" altLang="zh-CN" sz="200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1785918" y="2714620"/>
              <a:ext cx="5072098" cy="400110"/>
            </a:xfrm>
            <a:prstGeom prst="rect">
              <a:avLst/>
            </a:prstGeom>
            <a:noFill/>
          </p:spPr>
          <p:txBody>
            <a:bodyPr wrap="square" rtlCol="0">
              <a:spAutoFit/>
            </a:bodyPr>
            <a:lstStyle/>
            <a:p>
              <a:pPr algn="l">
                <a:lnSpc>
                  <a:spcPct val="100000"/>
                </a:lnSpc>
                <a:spcBef>
                  <a:spcPts val="0"/>
                </a:spcBef>
              </a:pPr>
              <a:r>
                <a:rPr lang="en-US" altLang="zh-CN" sz="20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Consolas" pitchFamily="49" charset="0"/>
                  <a:ea typeface="楷体" pitchFamily="49" charset="-122"/>
                  <a:cs typeface="Consolas" pitchFamily="49" charset="0"/>
                </a:rPr>
                <a:t>2014</a:t>
              </a:r>
              <a:r>
                <a:rPr lang="zh-CN" altLang="en-US" sz="20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Consolas" pitchFamily="49" charset="0"/>
                  <a:ea typeface="楷体" pitchFamily="49" charset="-122"/>
                  <a:cs typeface="Consolas" pitchFamily="49" charset="0"/>
                </a:rPr>
                <a:t>年全国硕士研究生入学统一考试题</a:t>
              </a:r>
              <a:endParaRPr lang="zh-CN" altLang="en-US" sz="2000" smtClean="0">
                <a:solidFill>
                  <a:srgbClr val="0000FF"/>
                </a:solidFill>
                <a:latin typeface="Consolas" pitchFamily="49" charset="0"/>
                <a:ea typeface="楷体" pitchFamily="49" charset="-122"/>
                <a:cs typeface="Consolas" pitchFamily="49" charset="0"/>
              </a:endParaRPr>
            </a:p>
          </p:txBody>
        </p:sp>
        <p:grpSp>
          <p:nvGrpSpPr>
            <p:cNvPr id="3" name="组合 8"/>
            <p:cNvGrpSpPr/>
            <p:nvPr/>
          </p:nvGrpSpPr>
          <p:grpSpPr>
            <a:xfrm>
              <a:off x="428628" y="3786191"/>
              <a:ext cx="1000100" cy="1071569"/>
              <a:chOff x="214282" y="142852"/>
              <a:chExt cx="1000100" cy="1071569"/>
            </a:xfrm>
          </p:grpSpPr>
          <p:sp>
            <p:nvSpPr>
              <p:cNvPr id="10" name="Oval 20"/>
              <p:cNvSpPr>
                <a:spLocks noChangeArrowheads="1"/>
              </p:cNvSpPr>
              <p:nvPr/>
            </p:nvSpPr>
            <p:spPr bwMode="gray">
              <a:xfrm>
                <a:off x="214282" y="142852"/>
                <a:ext cx="1000100" cy="1071569"/>
              </a:xfrm>
              <a:prstGeom prst="ellipse">
                <a:avLst/>
              </a:prstGeom>
              <a:solidFill>
                <a:srgbClr val="F8F8F8"/>
              </a:solidFill>
              <a:ln w="38100">
                <a:solidFill>
                  <a:srgbClr val="FF0000"/>
                </a:solidFill>
                <a:round/>
                <a:headEnd/>
                <a:tailEnd/>
              </a:ln>
            </p:spPr>
            <p:txBody>
              <a:bodyPr wrap="none" anchor="ctr"/>
              <a:lstStyle/>
              <a:p>
                <a:endParaRPr lang="zh-CN" altLang="zh-CN" sz="2000">
                  <a:latin typeface="Calibri" pitchFamily="34" charset="0"/>
                  <a:cs typeface="Arial" pitchFamily="34" charset="0"/>
                </a:endParaRPr>
              </a:p>
            </p:txBody>
          </p:sp>
          <p:sp>
            <p:nvSpPr>
              <p:cNvPr id="11" name="Oval 21"/>
              <p:cNvSpPr>
                <a:spLocks noChangeArrowheads="1"/>
              </p:cNvSpPr>
              <p:nvPr/>
            </p:nvSpPr>
            <p:spPr bwMode="gray">
              <a:xfrm>
                <a:off x="255399" y="186960"/>
                <a:ext cx="916658" cy="983353"/>
              </a:xfrm>
              <a:prstGeom prst="ellipse">
                <a:avLst/>
              </a:prstGeom>
              <a:solidFill>
                <a:schemeClr val="bg1">
                  <a:lumMod val="85000"/>
                </a:schemeClr>
              </a:solidFill>
              <a:ln w="38100">
                <a:solidFill>
                  <a:srgbClr val="FF0000">
                    <a:alpha val="70195"/>
                  </a:srgbClr>
                </a:solidFill>
                <a:round/>
                <a:headEnd/>
                <a:tailEnd/>
              </a:ln>
            </p:spPr>
            <p:txBody>
              <a:bodyPr wrap="none" anchor="ctr"/>
              <a:lstStyle/>
              <a:p>
                <a:endParaRPr lang="zh-CN" altLang="zh-CN" sz="2000">
                  <a:latin typeface="Calibri" pitchFamily="34" charset="0"/>
                  <a:cs typeface="Arial" pitchFamily="34" charset="0"/>
                </a:endParaRPr>
              </a:p>
            </p:txBody>
          </p:sp>
          <p:sp>
            <p:nvSpPr>
              <p:cNvPr id="12" name="Oval 22"/>
              <p:cNvSpPr>
                <a:spLocks noChangeArrowheads="1"/>
              </p:cNvSpPr>
              <p:nvPr/>
            </p:nvSpPr>
            <p:spPr bwMode="gray">
              <a:xfrm>
                <a:off x="296515" y="233663"/>
                <a:ext cx="834424" cy="895136"/>
              </a:xfrm>
              <a:prstGeom prst="ellipse">
                <a:avLst/>
              </a:prstGeom>
              <a:noFill/>
              <a:ln w="38100">
                <a:solidFill>
                  <a:srgbClr val="FF0000">
                    <a:alpha val="30196"/>
                  </a:srgbClr>
                </a:solidFill>
                <a:round/>
                <a:headEnd/>
                <a:tailEnd/>
              </a:ln>
            </p:spPr>
            <p:txBody>
              <a:bodyPr wrap="none" anchor="ctr"/>
              <a:lstStyle/>
              <a:p>
                <a:endParaRPr lang="zh-CN" altLang="zh-CN" sz="2000">
                  <a:latin typeface="Calibri" pitchFamily="34" charset="0"/>
                  <a:cs typeface="Arial" pitchFamily="34" charset="0"/>
                </a:endParaRPr>
              </a:p>
            </p:txBody>
          </p:sp>
          <p:sp>
            <p:nvSpPr>
              <p:cNvPr id="13" name="Text Box 23"/>
              <p:cNvSpPr txBox="1">
                <a:spLocks noChangeArrowheads="1"/>
              </p:cNvSpPr>
              <p:nvPr/>
            </p:nvSpPr>
            <p:spPr bwMode="gray">
              <a:xfrm>
                <a:off x="364012" y="538608"/>
                <a:ext cx="728120" cy="338554"/>
              </a:xfrm>
              <a:prstGeom prst="rect">
                <a:avLst/>
              </a:prstGeom>
              <a:noFill/>
              <a:ln w="9525" algn="ctr">
                <a:noFill/>
                <a:miter lim="800000"/>
                <a:headEnd/>
                <a:tailEnd/>
              </a:ln>
            </p:spPr>
            <p:txBody>
              <a:bodyPr wrap="square">
                <a:spAutoFit/>
              </a:bodyPr>
              <a:lstStyle/>
              <a:p>
                <a:pPr algn="ctr">
                  <a:spcBef>
                    <a:spcPct val="50000"/>
                  </a:spcBef>
                </a:pPr>
                <a:r>
                  <a:rPr lang="zh-CN" altLang="en-US" sz="2000" b="1" smtClean="0">
                    <a:solidFill>
                      <a:srgbClr val="FF0000"/>
                    </a:solidFill>
                    <a:latin typeface="微软雅黑" pitchFamily="34" charset="-122"/>
                    <a:ea typeface="微软雅黑" pitchFamily="34" charset="-122"/>
                    <a:cs typeface="Consolas" pitchFamily="49" charset="0"/>
                  </a:rPr>
                  <a:t>示例</a:t>
                </a:r>
                <a:endParaRPr lang="zh-CN" altLang="en-US" sz="2000" b="1">
                  <a:solidFill>
                    <a:srgbClr val="FF0000"/>
                  </a:solidFill>
                  <a:latin typeface="微软雅黑" pitchFamily="34" charset="-122"/>
                  <a:ea typeface="微软雅黑" pitchFamily="34" charset="-122"/>
                  <a:cs typeface="Consolas" pitchFamily="49" charset="0"/>
                </a:endParaRPr>
              </a:p>
            </p:txBody>
          </p:sp>
        </p:grpSp>
      </p:grpSp>
      <p:sp>
        <p:nvSpPr>
          <p:cNvPr id="14" name="灯片编号占位符 13"/>
          <p:cNvSpPr>
            <a:spLocks noGrp="1"/>
          </p:cNvSpPr>
          <p:nvPr>
            <p:ph type="sldNum" sz="quarter" idx="12"/>
          </p:nvPr>
        </p:nvSpPr>
        <p:spPr/>
        <p:txBody>
          <a:bodyPr/>
          <a:lstStyle/>
          <a:p>
            <a:fld id="{67864EE2-EAB3-4814-A7EB-820BD7610F1E}" type="slidenum">
              <a:rPr lang="en-US" altLang="zh-CN" smtClean="0"/>
              <a:pPr/>
              <a:t>44</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57290" y="428604"/>
            <a:ext cx="6357982"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7.8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树</a:t>
            </a: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森林</a:t>
            </a:r>
            <a:r>
              <a:rPr lang="zh-CN" altLang="en-US"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与</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二叉树的转换</a:t>
            </a:r>
            <a:r>
              <a:rPr lang="zh-CN" altLang="en-US"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及还原</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pic>
        <p:nvPicPr>
          <p:cNvPr id="1026" name="Picture 2"/>
          <p:cNvPicPr>
            <a:picLocks noChangeAspect="1" noChangeArrowheads="1"/>
          </p:cNvPicPr>
          <p:nvPr/>
        </p:nvPicPr>
        <p:blipFill>
          <a:blip r:embed="rId2" cstate="print"/>
          <a:srcRect/>
          <a:stretch>
            <a:fillRect/>
          </a:stretch>
        </p:blipFill>
        <p:spPr bwMode="auto">
          <a:xfrm>
            <a:off x="3214678" y="1643050"/>
            <a:ext cx="1962150" cy="1714500"/>
          </a:xfrm>
          <a:prstGeom prst="rect">
            <a:avLst/>
          </a:prstGeom>
          <a:noFill/>
          <a:ln w="9525">
            <a:noFill/>
            <a:miter lim="800000"/>
            <a:headEnd/>
            <a:tailEnd/>
          </a:ln>
        </p:spPr>
      </p:pic>
      <p:sp>
        <p:nvSpPr>
          <p:cNvPr id="14" name="TextBox 13"/>
          <p:cNvSpPr txBox="1"/>
          <p:nvPr/>
        </p:nvSpPr>
        <p:spPr>
          <a:xfrm>
            <a:off x="3857620" y="3571876"/>
            <a:ext cx="928694"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00"/>
                </a:solidFill>
                <a:latin typeface="楷体" pitchFamily="49" charset="-122"/>
                <a:ea typeface="楷体" pitchFamily="49" charset="-122"/>
                <a:cs typeface="Consolas" pitchFamily="49" charset="0"/>
              </a:rPr>
              <a:t>自学</a:t>
            </a:r>
          </a:p>
        </p:txBody>
      </p:sp>
      <p:sp>
        <p:nvSpPr>
          <p:cNvPr id="6" name="灯片编号占位符 5"/>
          <p:cNvSpPr>
            <a:spLocks noGrp="1"/>
          </p:cNvSpPr>
          <p:nvPr>
            <p:ph type="sldNum" sz="quarter" idx="12"/>
          </p:nvPr>
        </p:nvSpPr>
        <p:spPr/>
        <p:txBody>
          <a:bodyPr/>
          <a:lstStyle/>
          <a:p>
            <a:fld id="{67864EE2-EAB3-4814-A7EB-820BD7610F1E}" type="slidenum">
              <a:rPr lang="en-US" altLang="zh-CN" smtClean="0"/>
              <a:pPr/>
              <a:t>45</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500174"/>
            <a:ext cx="328614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7.9.1 </a:t>
            </a:r>
            <a:r>
              <a:rPr lang="zh-CN" altLang="zh-CN" smtClean="0">
                <a:latin typeface="Consolas" pitchFamily="49" charset="0"/>
                <a:ea typeface="微软雅黑" pitchFamily="34" charset="-122"/>
                <a:cs typeface="Consolas" pitchFamily="49" charset="0"/>
              </a:rPr>
              <a:t>并查集</a:t>
            </a:r>
            <a:r>
              <a:rPr lang="zh-CN" altLang="en-US" smtClean="0">
                <a:latin typeface="Consolas" pitchFamily="49" charset="0"/>
                <a:ea typeface="微软雅黑" pitchFamily="34" charset="-122"/>
                <a:cs typeface="Consolas" pitchFamily="49" charset="0"/>
              </a:rPr>
              <a:t>的定义</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7" name="TextBox 6"/>
          <p:cNvSpPr txBox="1"/>
          <p:nvPr/>
        </p:nvSpPr>
        <p:spPr>
          <a:xfrm>
            <a:off x="928662" y="2357430"/>
            <a:ext cx="7286676" cy="177994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给定</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个结点的集合，结点编号为</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，再给定一个等价关系，由等价关系产生所有结点的一个划分，每个结点属于一个等价类，所有等价类是不相交的。</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1200"/>
              </a:spcBef>
              <a:buBlip>
                <a:blip r:embed="rId2"/>
              </a:buBlip>
            </a:pPr>
            <a:r>
              <a:rPr lang="zh-CN" altLang="zh-CN" sz="2000" smtClean="0">
                <a:solidFill>
                  <a:srgbClr val="0000FF"/>
                </a:solidFill>
                <a:latin typeface="Consolas" pitchFamily="49" charset="0"/>
                <a:ea typeface="仿宋" pitchFamily="49" charset="-122"/>
                <a:cs typeface="Consolas" pitchFamily="49" charset="0"/>
              </a:rPr>
              <a:t>需要求一个结点所属的等价类，以及合并两个等价类。</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4" name="TextBox 13"/>
          <p:cNvSpPr txBox="1"/>
          <p:nvPr/>
        </p:nvSpPr>
        <p:spPr>
          <a:xfrm>
            <a:off x="3000364" y="500042"/>
            <a:ext cx="271464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7.9*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并查集</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46</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1"/>
          <p:cNvGrpSpPr/>
          <p:nvPr/>
        </p:nvGrpSpPr>
        <p:grpSpPr>
          <a:xfrm>
            <a:off x="785786" y="2571744"/>
            <a:ext cx="7572428" cy="1938269"/>
            <a:chOff x="928662" y="3500438"/>
            <a:chExt cx="7572428" cy="1938269"/>
          </a:xfrm>
        </p:grpSpPr>
        <p:sp>
          <p:nvSpPr>
            <p:cNvPr id="8" name="TextBox 7"/>
            <p:cNvSpPr txBox="1"/>
            <p:nvPr/>
          </p:nvSpPr>
          <p:spPr>
            <a:xfrm>
              <a:off x="928662" y="4143380"/>
              <a:ext cx="7572428" cy="12953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108000" bIns="108000" rtlCol="0">
              <a:spAutoFit/>
            </a:bodyPr>
            <a:lstStyle/>
            <a:p>
              <a:pPr algn="l">
                <a:lnSpc>
                  <a:spcPts val="2800"/>
                </a:lnSpc>
                <a:spcBef>
                  <a:spcPts val="0"/>
                </a:spcBef>
              </a:pP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FF0000"/>
                  </a:solidFill>
                  <a:latin typeface="Consolas" pitchFamily="49" charset="0"/>
                  <a:ea typeface="仿宋" pitchFamily="49" charset="-122"/>
                  <a:cs typeface="Consolas" pitchFamily="49" charset="0"/>
                </a:rPr>
                <a:t>Init</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：初始化。</a:t>
              </a:r>
            </a:p>
            <a:p>
              <a:pPr algn="l">
                <a:lnSpc>
                  <a:spcPts val="2800"/>
                </a:lnSpc>
                <a:spcBef>
                  <a:spcPts val="0"/>
                </a:spcBef>
              </a:pP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2</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FF0000"/>
                  </a:solidFill>
                  <a:latin typeface="Consolas" pitchFamily="49" charset="0"/>
                  <a:ea typeface="仿宋" pitchFamily="49" charset="-122"/>
                  <a:cs typeface="Consolas" pitchFamily="49" charset="0"/>
                </a:rPr>
                <a:t>Find</a:t>
              </a:r>
              <a:r>
                <a:rPr lang="en-US" altLang="zh-CN" sz="2000" smtClean="0">
                  <a:solidFill>
                    <a:srgbClr val="0000FF"/>
                  </a:solidFill>
                  <a:latin typeface="Consolas" pitchFamily="49" charset="0"/>
                  <a:ea typeface="仿宋" pitchFamily="49" charset="-122"/>
                  <a:cs typeface="Consolas" pitchFamily="49" charset="0"/>
                </a:rPr>
                <a:t>(int </a:t>
              </a:r>
              <a:r>
                <a:rPr lang="en-US" altLang="zh-CN" sz="2000" i="1" smtClean="0">
                  <a:solidFill>
                    <a:srgbClr val="0000FF"/>
                  </a:solidFill>
                  <a:latin typeface="Consolas" pitchFamily="49" charset="0"/>
                  <a:ea typeface="仿宋" pitchFamily="49" charset="-122"/>
                  <a:cs typeface="Consolas" pitchFamily="49" charset="0"/>
                </a:rPr>
                <a:t>x</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：查找</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结点所属的等价类。</a:t>
              </a:r>
            </a:p>
            <a:p>
              <a:pPr algn="l">
                <a:lnSpc>
                  <a:spcPts val="2800"/>
                </a:lnSpc>
                <a:spcBef>
                  <a:spcPts val="0"/>
                </a:spcBef>
              </a:pP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3</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FF0000"/>
                  </a:solidFill>
                  <a:latin typeface="Consolas" pitchFamily="49" charset="0"/>
                  <a:ea typeface="仿宋" pitchFamily="49" charset="-122"/>
                  <a:cs typeface="Consolas" pitchFamily="49" charset="0"/>
                </a:rPr>
                <a:t>Union</a:t>
              </a:r>
              <a:r>
                <a:rPr lang="en-US" altLang="zh-CN" sz="2000" smtClean="0">
                  <a:solidFill>
                    <a:srgbClr val="0000FF"/>
                  </a:solidFill>
                  <a:latin typeface="Consolas" pitchFamily="49" charset="0"/>
                  <a:ea typeface="仿宋" pitchFamily="49" charset="-122"/>
                  <a:cs typeface="Consolas" pitchFamily="49" charset="0"/>
                </a:rPr>
                <a:t>(int </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int </a:t>
              </a:r>
              <a:r>
                <a:rPr lang="en-US" altLang="zh-CN" sz="2000" i="1" smtClean="0">
                  <a:solidFill>
                    <a:srgbClr val="0000FF"/>
                  </a:solidFill>
                  <a:latin typeface="Consolas" pitchFamily="49" charset="0"/>
                  <a:ea typeface="仿宋" pitchFamily="49" charset="-122"/>
                  <a:cs typeface="Consolas" pitchFamily="49" charset="0"/>
                </a:rPr>
                <a:t>y</a:t>
              </a:r>
              <a:r>
                <a:rPr lang="en-US" altLang="zh-CN" sz="2000" smtClean="0">
                  <a:solidFill>
                    <a:srgbClr val="0000FF"/>
                  </a:solidFill>
                  <a:latin typeface="Consolas" pitchFamily="49" charset="0"/>
                  <a:ea typeface="仿宋" pitchFamily="49" charset="-122"/>
                  <a:cs typeface="Consolas" pitchFamily="49" charset="0"/>
                </a:rPr>
                <a:t>)</a:t>
              </a:r>
              <a:r>
                <a:rPr lang="zh-CN" altLang="zh-CN" sz="2000" smtClean="0">
                  <a:solidFill>
                    <a:srgbClr val="0000FF"/>
                  </a:solidFill>
                  <a:latin typeface="Consolas" pitchFamily="49" charset="0"/>
                  <a:ea typeface="仿宋" pitchFamily="49" charset="-122"/>
                  <a:cs typeface="Consolas" pitchFamily="49" charset="0"/>
                </a:rPr>
                <a:t>：将</a:t>
              </a:r>
              <a:r>
                <a:rPr lang="en-US" altLang="zh-CN" sz="2000" i="1" smtClean="0">
                  <a:solidFill>
                    <a:srgbClr val="0000FF"/>
                  </a:solidFill>
                  <a:latin typeface="Consolas" pitchFamily="49" charset="0"/>
                  <a:ea typeface="仿宋" pitchFamily="49" charset="-122"/>
                  <a:cs typeface="Consolas" pitchFamily="49" charset="0"/>
                </a:rPr>
                <a:t>x</a:t>
              </a:r>
              <a:r>
                <a:rPr lang="zh-CN" altLang="zh-CN" sz="2000" smtClean="0">
                  <a:solidFill>
                    <a:srgbClr val="0000FF"/>
                  </a:solidFill>
                  <a:latin typeface="Consolas" pitchFamily="49" charset="0"/>
                  <a:ea typeface="仿宋" pitchFamily="49" charset="-122"/>
                  <a:cs typeface="Consolas" pitchFamily="49" charset="0"/>
                </a:rPr>
                <a:t>和</a:t>
              </a:r>
              <a:r>
                <a:rPr lang="en-US" altLang="zh-CN" sz="2000" i="1" smtClean="0">
                  <a:solidFill>
                    <a:srgbClr val="0000FF"/>
                  </a:solidFill>
                  <a:latin typeface="Consolas" pitchFamily="49" charset="0"/>
                  <a:ea typeface="仿宋" pitchFamily="49" charset="-122"/>
                  <a:cs typeface="Consolas" pitchFamily="49" charset="0"/>
                </a:rPr>
                <a:t>y</a:t>
              </a:r>
              <a:r>
                <a:rPr lang="zh-CN" altLang="zh-CN" sz="2000" smtClean="0">
                  <a:solidFill>
                    <a:srgbClr val="0000FF"/>
                  </a:solidFill>
                  <a:latin typeface="Consolas" pitchFamily="49" charset="0"/>
                  <a:ea typeface="仿宋" pitchFamily="49" charset="-122"/>
                  <a:cs typeface="Consolas" pitchFamily="49" charset="0"/>
                </a:rPr>
                <a:t>所属的两个等价类合并。</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9" name="下箭头 8"/>
            <p:cNvSpPr/>
            <p:nvPr/>
          </p:nvSpPr>
          <p:spPr>
            <a:xfrm>
              <a:off x="3286116" y="3500438"/>
              <a:ext cx="214314" cy="571504"/>
            </a:xfrm>
            <a:prstGeom prst="downArrow">
              <a:avLst/>
            </a:prstGeom>
            <a:ln>
              <a:tailEnd type="arrow"/>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3500430" y="3571876"/>
              <a:ext cx="321471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仿宋" pitchFamily="49" charset="-122"/>
                  <a:ea typeface="仿宋" pitchFamily="49" charset="-122"/>
                </a:rPr>
                <a:t>求解该问题的基本运算</a:t>
              </a:r>
              <a:endParaRPr lang="zh-CN" altLang="en-US" sz="2000" smtClean="0">
                <a:solidFill>
                  <a:srgbClr val="0000FF"/>
                </a:solidFill>
                <a:latin typeface="仿宋" pitchFamily="49" charset="-122"/>
                <a:ea typeface="仿宋" pitchFamily="49" charset="-122"/>
                <a:cs typeface="Consolas" pitchFamily="49" charset="0"/>
              </a:endParaRPr>
            </a:p>
          </p:txBody>
        </p:sp>
      </p:grpSp>
      <p:sp>
        <p:nvSpPr>
          <p:cNvPr id="11" name="TextBox 10"/>
          <p:cNvSpPr txBox="1"/>
          <p:nvPr/>
        </p:nvSpPr>
        <p:spPr>
          <a:xfrm>
            <a:off x="2357422" y="4714884"/>
            <a:ext cx="314327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华文中宋" pitchFamily="2" charset="-122"/>
                <a:ea typeface="华文中宋" pitchFamily="2" charset="-122"/>
              </a:rPr>
              <a:t>上述数据结构称为</a:t>
            </a:r>
            <a:r>
              <a:rPr lang="zh-CN" altLang="zh-CN" sz="2000" smtClean="0">
                <a:solidFill>
                  <a:srgbClr val="FF0000"/>
                </a:solidFill>
                <a:latin typeface="华文中宋" pitchFamily="2" charset="-122"/>
                <a:ea typeface="华文中宋" pitchFamily="2" charset="-122"/>
              </a:rPr>
              <a:t>并查集</a:t>
            </a:r>
            <a:endParaRPr lang="zh-CN" altLang="en-US" sz="2000" smtClean="0">
              <a:solidFill>
                <a:srgbClr val="FF0000"/>
              </a:solidFill>
              <a:latin typeface="华文中宋" pitchFamily="2" charset="-122"/>
              <a:ea typeface="华文中宋" pitchFamily="2" charset="-122"/>
              <a:cs typeface="Consolas" pitchFamily="49" charset="0"/>
            </a:endParaRPr>
          </a:p>
        </p:txBody>
      </p:sp>
      <p:sp>
        <p:nvSpPr>
          <p:cNvPr id="12" name="TextBox 11"/>
          <p:cNvSpPr txBox="1"/>
          <p:nvPr/>
        </p:nvSpPr>
        <p:spPr>
          <a:xfrm>
            <a:off x="642910" y="714356"/>
            <a:ext cx="7072362" cy="173134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给定</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个结点的集合，结点编号为</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，再给定一个等价关系，由等价关系产生所有结点的一个划分，每个结点属于一个等价类，所有等价类是不相交的。</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需要求一个结点所属的等价类，以及合并两个等价类。</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14" name="灯片编号占位符 13"/>
          <p:cNvSpPr>
            <a:spLocks noGrp="1"/>
          </p:cNvSpPr>
          <p:nvPr>
            <p:ph type="sldNum" sz="quarter" idx="12"/>
          </p:nvPr>
        </p:nvSpPr>
        <p:spPr/>
        <p:txBody>
          <a:bodyPr/>
          <a:lstStyle/>
          <a:p>
            <a:fld id="{67864EE2-EAB3-4814-A7EB-820BD7610F1E}" type="slidenum">
              <a:rPr lang="en-US" altLang="zh-CN" smtClean="0"/>
              <a:pPr/>
              <a:t>47</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Text Box 5"/>
          <p:cNvSpPr txBox="1">
            <a:spLocks noChangeArrowheads="1"/>
          </p:cNvSpPr>
          <p:nvPr/>
        </p:nvSpPr>
        <p:spPr bwMode="auto">
          <a:xfrm>
            <a:off x="642910" y="1462477"/>
            <a:ext cx="7429552" cy="2808562"/>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algn="l">
              <a:lnSpc>
                <a:spcPts val="2800"/>
              </a:lnSpc>
              <a:spcBef>
                <a:spcPts val="600"/>
              </a:spcBef>
            </a:pPr>
            <a:r>
              <a:rPr lang="zh-CN" altLang="en-US" sz="2000" smtClean="0">
                <a:solidFill>
                  <a:srgbClr val="0000FF"/>
                </a:solidFill>
                <a:latin typeface="Consolas" pitchFamily="49" charset="0"/>
                <a:ea typeface="仿宋" pitchFamily="49" charset="-122"/>
                <a:cs typeface="Consolas" pitchFamily="49" charset="0"/>
              </a:rPr>
              <a:t>   </a:t>
            </a:r>
            <a:r>
              <a:rPr lang="zh-CN" altLang="en-US" sz="2000" smtClean="0">
                <a:solidFill>
                  <a:srgbClr val="FF0000"/>
                </a:solidFill>
                <a:latin typeface="Consolas" pitchFamily="49" charset="0"/>
                <a:ea typeface="仿宋" pitchFamily="49" charset="-122"/>
                <a:cs typeface="Consolas" pitchFamily="49" charset="0"/>
              </a:rPr>
              <a:t>问题描述</a:t>
            </a:r>
            <a:r>
              <a:rPr lang="zh-CN" altLang="en-US" sz="2000" smtClean="0">
                <a:solidFill>
                  <a:srgbClr val="0000FF"/>
                </a:solidFill>
                <a:latin typeface="Consolas" pitchFamily="49" charset="0"/>
                <a:ea typeface="仿宋" pitchFamily="49"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如果已经得到完整的</a:t>
            </a:r>
            <a:r>
              <a:rPr lang="zh-CN" altLang="en-US" sz="2000" smtClean="0">
                <a:solidFill>
                  <a:srgbClr val="0000FF"/>
                </a:solidFill>
                <a:latin typeface="Consolas" pitchFamily="49" charset="0"/>
                <a:ea typeface="仿宋" pitchFamily="49" charset="-122"/>
                <a:cs typeface="Consolas" pitchFamily="49" charset="0"/>
              </a:rPr>
              <a:t>家谱，判断</a:t>
            </a:r>
            <a:r>
              <a:rPr lang="zh-CN" altLang="en-US" sz="2000">
                <a:solidFill>
                  <a:srgbClr val="0000FF"/>
                </a:solidFill>
                <a:latin typeface="Consolas" pitchFamily="49" charset="0"/>
                <a:ea typeface="仿宋" pitchFamily="49" charset="-122"/>
                <a:cs typeface="Consolas" pitchFamily="49" charset="0"/>
              </a:rPr>
              <a:t>两个人是否亲戚应该是可行</a:t>
            </a:r>
            <a:r>
              <a:rPr lang="zh-CN" altLang="en-US" sz="2000" smtClean="0">
                <a:solidFill>
                  <a:srgbClr val="0000FF"/>
                </a:solidFill>
                <a:latin typeface="Consolas" pitchFamily="49" charset="0"/>
                <a:ea typeface="仿宋" pitchFamily="49" charset="-122"/>
                <a:cs typeface="Consolas" pitchFamily="49" charset="0"/>
              </a:rPr>
              <a:t>的，但</a:t>
            </a:r>
            <a:r>
              <a:rPr lang="zh-CN" altLang="en-US" sz="2000">
                <a:solidFill>
                  <a:srgbClr val="0000FF"/>
                </a:solidFill>
                <a:latin typeface="Consolas" pitchFamily="49" charset="0"/>
                <a:ea typeface="仿宋" pitchFamily="49" charset="-122"/>
                <a:cs typeface="Consolas" pitchFamily="49" charset="0"/>
              </a:rPr>
              <a:t>如果两个人的最近公共祖先与他们相隔好几</a:t>
            </a:r>
            <a:r>
              <a:rPr lang="zh-CN" altLang="en-US" sz="2000" smtClean="0">
                <a:solidFill>
                  <a:srgbClr val="0000FF"/>
                </a:solidFill>
                <a:latin typeface="Consolas" pitchFamily="49" charset="0"/>
                <a:ea typeface="仿宋" pitchFamily="49" charset="-122"/>
                <a:cs typeface="Consolas" pitchFamily="49" charset="0"/>
              </a:rPr>
              <a:t>代，使得</a:t>
            </a:r>
            <a:r>
              <a:rPr lang="zh-CN" altLang="en-US" sz="2000">
                <a:solidFill>
                  <a:srgbClr val="0000FF"/>
                </a:solidFill>
                <a:latin typeface="Consolas" pitchFamily="49" charset="0"/>
                <a:ea typeface="仿宋" pitchFamily="49" charset="-122"/>
                <a:cs typeface="Consolas" pitchFamily="49" charset="0"/>
              </a:rPr>
              <a:t>家谱十分</a:t>
            </a:r>
            <a:r>
              <a:rPr lang="zh-CN" altLang="en-US" sz="2000" smtClean="0">
                <a:solidFill>
                  <a:srgbClr val="0000FF"/>
                </a:solidFill>
                <a:latin typeface="Consolas" pitchFamily="49" charset="0"/>
                <a:ea typeface="仿宋" pitchFamily="49" charset="-122"/>
                <a:cs typeface="Consolas" pitchFamily="49" charset="0"/>
              </a:rPr>
              <a:t>庞大，那么</a:t>
            </a:r>
            <a:r>
              <a:rPr lang="zh-CN" altLang="en-US" sz="2000">
                <a:solidFill>
                  <a:srgbClr val="0000FF"/>
                </a:solidFill>
                <a:latin typeface="Consolas" pitchFamily="49" charset="0"/>
                <a:ea typeface="仿宋" pitchFamily="49" charset="-122"/>
                <a:cs typeface="Consolas" pitchFamily="49" charset="0"/>
              </a:rPr>
              <a:t>检验亲戚关系就十分复杂。在这种情况</a:t>
            </a:r>
            <a:r>
              <a:rPr lang="zh-CN" altLang="en-US" sz="2000" smtClean="0">
                <a:solidFill>
                  <a:srgbClr val="0000FF"/>
                </a:solidFill>
                <a:latin typeface="Consolas" pitchFamily="49" charset="0"/>
                <a:ea typeface="仿宋" pitchFamily="49" charset="-122"/>
                <a:cs typeface="Consolas" pitchFamily="49" charset="0"/>
              </a:rPr>
              <a:t>下，就</a:t>
            </a:r>
            <a:r>
              <a:rPr lang="zh-CN" altLang="en-US" sz="2000">
                <a:solidFill>
                  <a:srgbClr val="0000FF"/>
                </a:solidFill>
                <a:latin typeface="Consolas" pitchFamily="49" charset="0"/>
                <a:ea typeface="仿宋" pitchFamily="49" charset="-122"/>
                <a:cs typeface="Consolas" pitchFamily="49" charset="0"/>
              </a:rPr>
              <a:t>需要应用并查集。</a:t>
            </a:r>
          </a:p>
          <a:p>
            <a:pPr algn="l">
              <a:lnSpc>
                <a:spcPts val="2800"/>
              </a:lnSpc>
              <a:spcBef>
                <a:spcPts val="600"/>
              </a:spcBef>
            </a:pPr>
            <a:r>
              <a:rPr lang="zh-CN" altLang="en-US" sz="2000">
                <a:solidFill>
                  <a:srgbClr val="0000FF"/>
                </a:solidFill>
                <a:latin typeface="Consolas" pitchFamily="49" charset="0"/>
                <a:ea typeface="仿宋" pitchFamily="49" charset="-122"/>
                <a:cs typeface="Consolas" pitchFamily="49" charset="0"/>
              </a:rPr>
              <a:t>  </a:t>
            </a:r>
            <a:r>
              <a:rPr lang="zh-CN" altLang="en-US" sz="2000" smtClean="0">
                <a:solidFill>
                  <a:srgbClr val="0000FF"/>
                </a:solidFill>
                <a:latin typeface="Consolas" pitchFamily="49" charset="0"/>
                <a:ea typeface="仿宋" pitchFamily="49" charset="-122"/>
                <a:cs typeface="Consolas" pitchFamily="49" charset="0"/>
              </a:rPr>
              <a:t> 为了</a:t>
            </a:r>
            <a:r>
              <a:rPr lang="zh-CN" altLang="en-US" sz="2000">
                <a:solidFill>
                  <a:srgbClr val="0000FF"/>
                </a:solidFill>
                <a:latin typeface="Consolas" pitchFamily="49" charset="0"/>
                <a:ea typeface="仿宋" pitchFamily="49" charset="-122"/>
                <a:cs typeface="Consolas" pitchFamily="49" charset="0"/>
              </a:rPr>
              <a:t>将问题</a:t>
            </a:r>
            <a:r>
              <a:rPr lang="zh-CN" altLang="en-US" sz="2000" smtClean="0">
                <a:solidFill>
                  <a:srgbClr val="0000FF"/>
                </a:solidFill>
                <a:latin typeface="Consolas" pitchFamily="49" charset="0"/>
                <a:ea typeface="仿宋" pitchFamily="49" charset="-122"/>
                <a:cs typeface="Consolas" pitchFamily="49" charset="0"/>
              </a:rPr>
              <a:t>简化，将</a:t>
            </a:r>
            <a:r>
              <a:rPr lang="zh-CN" altLang="en-US" sz="2000">
                <a:solidFill>
                  <a:srgbClr val="0000FF"/>
                </a:solidFill>
                <a:latin typeface="Consolas" pitchFamily="49" charset="0"/>
                <a:ea typeface="仿宋" pitchFamily="49" charset="-122"/>
                <a:cs typeface="Consolas" pitchFamily="49" charset="0"/>
              </a:rPr>
              <a:t>得到一些亲戚关系的</a:t>
            </a:r>
            <a:r>
              <a:rPr lang="zh-CN" altLang="en-US" sz="2000" smtClean="0">
                <a:solidFill>
                  <a:srgbClr val="0000FF"/>
                </a:solidFill>
                <a:latin typeface="Consolas" pitchFamily="49" charset="0"/>
                <a:ea typeface="仿宋" pitchFamily="49" charset="-122"/>
                <a:cs typeface="Consolas" pitchFamily="49" charset="0"/>
              </a:rPr>
              <a:t>信息，如</a:t>
            </a:r>
            <a:r>
              <a:rPr lang="en-US" altLang="zh-CN" sz="2000">
                <a:solidFill>
                  <a:srgbClr val="0000FF"/>
                </a:solidFill>
                <a:latin typeface="Consolas" pitchFamily="49" charset="0"/>
                <a:ea typeface="仿宋" pitchFamily="49" charset="-122"/>
                <a:cs typeface="Consolas" pitchFamily="49" charset="0"/>
              </a:rPr>
              <a:t>Marry</a:t>
            </a:r>
            <a:r>
              <a:rPr lang="zh-CN" altLang="en-US" sz="2000">
                <a:solidFill>
                  <a:srgbClr val="0000FF"/>
                </a:solidFill>
                <a:latin typeface="Consolas" pitchFamily="49" charset="0"/>
                <a:ea typeface="仿宋" pitchFamily="49" charset="-122"/>
                <a:cs typeface="Consolas" pitchFamily="49" charset="0"/>
              </a:rPr>
              <a:t>和</a:t>
            </a:r>
            <a:r>
              <a:rPr lang="en-US" altLang="zh-CN" sz="2000">
                <a:solidFill>
                  <a:srgbClr val="0000FF"/>
                </a:solidFill>
                <a:latin typeface="Consolas" pitchFamily="49" charset="0"/>
                <a:ea typeface="仿宋" pitchFamily="49" charset="-122"/>
                <a:cs typeface="Consolas" pitchFamily="49" charset="0"/>
              </a:rPr>
              <a:t>Tom</a:t>
            </a:r>
            <a:r>
              <a:rPr lang="zh-CN" altLang="en-US" sz="2000">
                <a:solidFill>
                  <a:srgbClr val="0000FF"/>
                </a:solidFill>
                <a:latin typeface="Consolas" pitchFamily="49" charset="0"/>
                <a:ea typeface="仿宋" pitchFamily="49" charset="-122"/>
                <a:cs typeface="Consolas" pitchFamily="49" charset="0"/>
              </a:rPr>
              <a:t>是</a:t>
            </a:r>
            <a:r>
              <a:rPr lang="zh-CN" altLang="en-US" sz="2000" smtClean="0">
                <a:solidFill>
                  <a:srgbClr val="0000FF"/>
                </a:solidFill>
                <a:latin typeface="Consolas" pitchFamily="49" charset="0"/>
                <a:ea typeface="仿宋" pitchFamily="49" charset="-122"/>
                <a:cs typeface="Consolas" pitchFamily="49" charset="0"/>
              </a:rPr>
              <a:t>亲戚，</a:t>
            </a:r>
            <a:r>
              <a:rPr lang="en-US" altLang="zh-CN" sz="2000" smtClean="0">
                <a:solidFill>
                  <a:srgbClr val="0000FF"/>
                </a:solidFill>
                <a:latin typeface="Consolas" pitchFamily="49" charset="0"/>
                <a:ea typeface="仿宋" pitchFamily="49" charset="-122"/>
                <a:cs typeface="Consolas" pitchFamily="49" charset="0"/>
              </a:rPr>
              <a:t>Tom</a:t>
            </a:r>
            <a:r>
              <a:rPr lang="zh-CN" altLang="en-US" sz="2000">
                <a:solidFill>
                  <a:srgbClr val="0000FF"/>
                </a:solidFill>
                <a:latin typeface="Consolas" pitchFamily="49" charset="0"/>
                <a:ea typeface="仿宋" pitchFamily="49" charset="-122"/>
                <a:cs typeface="Consolas" pitchFamily="49" charset="0"/>
              </a:rPr>
              <a:t>和</a:t>
            </a:r>
            <a:r>
              <a:rPr lang="en-US" altLang="zh-CN" sz="2000">
                <a:solidFill>
                  <a:srgbClr val="0000FF"/>
                </a:solidFill>
                <a:latin typeface="Consolas" pitchFamily="49" charset="0"/>
                <a:ea typeface="仿宋" pitchFamily="49" charset="-122"/>
                <a:cs typeface="Consolas" pitchFamily="49" charset="0"/>
              </a:rPr>
              <a:t>Ben</a:t>
            </a:r>
            <a:r>
              <a:rPr lang="zh-CN" altLang="en-US" sz="2000">
                <a:solidFill>
                  <a:srgbClr val="0000FF"/>
                </a:solidFill>
                <a:latin typeface="Consolas" pitchFamily="49" charset="0"/>
                <a:ea typeface="仿宋" pitchFamily="49" charset="-122"/>
                <a:cs typeface="Consolas" pitchFamily="49" charset="0"/>
              </a:rPr>
              <a:t>是</a:t>
            </a:r>
            <a:r>
              <a:rPr lang="zh-CN" altLang="en-US" sz="2000" smtClean="0">
                <a:solidFill>
                  <a:srgbClr val="0000FF"/>
                </a:solidFill>
                <a:latin typeface="Consolas" pitchFamily="49" charset="0"/>
                <a:ea typeface="仿宋" pitchFamily="49" charset="-122"/>
                <a:cs typeface="Consolas" pitchFamily="49" charset="0"/>
              </a:rPr>
              <a:t>亲戚，等等</a:t>
            </a:r>
            <a:r>
              <a:rPr lang="zh-CN" altLang="en-US" sz="2000">
                <a:solidFill>
                  <a:srgbClr val="0000FF"/>
                </a:solidFill>
                <a:latin typeface="Consolas" pitchFamily="49" charset="0"/>
                <a:ea typeface="仿宋" pitchFamily="49" charset="-122"/>
                <a:cs typeface="Consolas" pitchFamily="49" charset="0"/>
              </a:rPr>
              <a:t>。从这些信息</a:t>
            </a:r>
            <a:r>
              <a:rPr lang="zh-CN" altLang="en-US" sz="2000" smtClean="0">
                <a:solidFill>
                  <a:srgbClr val="0000FF"/>
                </a:solidFill>
                <a:latin typeface="Consolas" pitchFamily="49" charset="0"/>
                <a:ea typeface="仿宋" pitchFamily="49" charset="-122"/>
                <a:cs typeface="Consolas" pitchFamily="49" charset="0"/>
              </a:rPr>
              <a:t>中，可以</a:t>
            </a:r>
            <a:r>
              <a:rPr lang="zh-CN" altLang="en-US" sz="2000">
                <a:solidFill>
                  <a:srgbClr val="0000FF"/>
                </a:solidFill>
                <a:latin typeface="Consolas" pitchFamily="49" charset="0"/>
                <a:ea typeface="仿宋" pitchFamily="49" charset="-122"/>
                <a:cs typeface="Consolas" pitchFamily="49" charset="0"/>
              </a:rPr>
              <a:t>推出</a:t>
            </a:r>
            <a:r>
              <a:rPr lang="en-US" altLang="zh-CN" sz="2000">
                <a:solidFill>
                  <a:srgbClr val="0000FF"/>
                </a:solidFill>
                <a:latin typeface="Consolas" pitchFamily="49" charset="0"/>
                <a:ea typeface="仿宋" pitchFamily="49" charset="-122"/>
                <a:cs typeface="Consolas" pitchFamily="49" charset="0"/>
              </a:rPr>
              <a:t>Marry</a:t>
            </a:r>
            <a:r>
              <a:rPr lang="zh-CN" altLang="en-US" sz="2000">
                <a:solidFill>
                  <a:srgbClr val="0000FF"/>
                </a:solidFill>
                <a:latin typeface="Consolas" pitchFamily="49" charset="0"/>
                <a:ea typeface="仿宋" pitchFamily="49" charset="-122"/>
                <a:cs typeface="Consolas" pitchFamily="49" charset="0"/>
              </a:rPr>
              <a:t>和</a:t>
            </a:r>
            <a:r>
              <a:rPr lang="en-US" altLang="zh-CN" sz="2000">
                <a:solidFill>
                  <a:srgbClr val="0000FF"/>
                </a:solidFill>
                <a:latin typeface="Consolas" pitchFamily="49" charset="0"/>
                <a:ea typeface="仿宋" pitchFamily="49" charset="-122"/>
                <a:cs typeface="Consolas" pitchFamily="49" charset="0"/>
              </a:rPr>
              <a:t>Ben</a:t>
            </a:r>
            <a:r>
              <a:rPr lang="zh-CN" altLang="en-US" sz="2000">
                <a:solidFill>
                  <a:srgbClr val="0000FF"/>
                </a:solidFill>
                <a:latin typeface="Consolas" pitchFamily="49" charset="0"/>
                <a:ea typeface="仿宋" pitchFamily="49" charset="-122"/>
                <a:cs typeface="Consolas" pitchFamily="49" charset="0"/>
              </a:rPr>
              <a:t>是亲戚。</a:t>
            </a:r>
          </a:p>
        </p:txBody>
      </p:sp>
      <p:grpSp>
        <p:nvGrpSpPr>
          <p:cNvPr id="2" name="组合 4"/>
          <p:cNvGrpSpPr/>
          <p:nvPr/>
        </p:nvGrpSpPr>
        <p:grpSpPr>
          <a:xfrm>
            <a:off x="785786" y="571480"/>
            <a:ext cx="1648906" cy="525815"/>
            <a:chOff x="814328" y="3219334"/>
            <a:chExt cx="1356392" cy="432536"/>
          </a:xfrm>
        </p:grpSpPr>
        <p:grpSp>
          <p:nvGrpSpPr>
            <p:cNvPr id="3" name="组合 66"/>
            <p:cNvGrpSpPr/>
            <p:nvPr/>
          </p:nvGrpSpPr>
          <p:grpSpPr>
            <a:xfrm>
              <a:off x="814328" y="3219334"/>
              <a:ext cx="1356392" cy="432536"/>
              <a:chOff x="4304043" y="1286668"/>
              <a:chExt cx="3837944" cy="2757793"/>
            </a:xfrm>
            <a:effectLst>
              <a:outerShdw blurRad="381000" dist="254000" dir="8100000" algn="tr" rotWithShape="0">
                <a:prstClr val="black">
                  <a:alpha val="40000"/>
                </a:prstClr>
              </a:outerShdw>
            </a:effectLst>
          </p:grpSpPr>
          <p:sp>
            <p:nvSpPr>
              <p:cNvPr id="10" name="圆角矩形 9"/>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p>
            </p:txBody>
          </p:sp>
          <p:sp>
            <p:nvSpPr>
              <p:cNvPr id="12" name="圆角矩形 11"/>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p>
            </p:txBody>
          </p:sp>
        </p:grpSp>
        <p:sp>
          <p:nvSpPr>
            <p:cNvPr id="9" name="TextBox 44"/>
            <p:cNvSpPr txBox="1"/>
            <p:nvPr/>
          </p:nvSpPr>
          <p:spPr>
            <a:xfrm>
              <a:off x="1074184" y="3356592"/>
              <a:ext cx="940240" cy="202542"/>
            </a:xfrm>
            <a:prstGeom prst="rect">
              <a:avLst/>
            </a:prstGeom>
            <a:noFill/>
          </p:spPr>
          <p:txBody>
            <a:bodyPr wrap="square" lIns="0" tIns="0" rIns="0" bIns="0" rtlCol="0">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r>
                <a:rPr lang="zh-CN" altLang="en-US" sz="2000" smtClean="0">
                  <a:solidFill>
                    <a:srgbClr val="FF0000"/>
                  </a:solidFill>
                  <a:latin typeface="微软雅黑" pitchFamily="34" charset="-122"/>
                  <a:ea typeface="微软雅黑" pitchFamily="34" charset="-122"/>
                </a:rPr>
                <a:t>经典示例</a:t>
              </a:r>
              <a:endParaRPr lang="zh-CN" altLang="en-US" sz="2000" dirty="0">
                <a:solidFill>
                  <a:srgbClr val="FF0000"/>
                </a:solidFill>
                <a:latin typeface="微软雅黑" pitchFamily="34" charset="-122"/>
                <a:ea typeface="微软雅黑" pitchFamily="34" charset="-122"/>
              </a:endParaRPr>
            </a:p>
          </p:txBody>
        </p:sp>
      </p:grpSp>
      <p:sp>
        <p:nvSpPr>
          <p:cNvPr id="13" name="灯片编号占位符 12"/>
          <p:cNvSpPr>
            <a:spLocks noGrp="1"/>
          </p:cNvSpPr>
          <p:nvPr>
            <p:ph type="sldNum" sz="quarter" idx="12"/>
          </p:nvPr>
        </p:nvSpPr>
        <p:spPr/>
        <p:txBody>
          <a:bodyPr/>
          <a:lstStyle/>
          <a:p>
            <a:fld id="{67864EE2-EAB3-4814-A7EB-820BD7610F1E}" type="slidenum">
              <a:rPr lang="en-US" altLang="zh-CN" smtClean="0"/>
              <a:pPr/>
              <a:t>48</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Text Box 4"/>
          <p:cNvSpPr txBox="1">
            <a:spLocks noChangeArrowheads="1"/>
          </p:cNvSpPr>
          <p:nvPr/>
        </p:nvSpPr>
        <p:spPr bwMode="auto">
          <a:xfrm>
            <a:off x="357158" y="836613"/>
            <a:ext cx="8215370" cy="3321523"/>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a:spAutoFit/>
          </a:bodyPr>
          <a:lstStyle/>
          <a:p>
            <a:pPr algn="l">
              <a:lnSpc>
                <a:spcPts val="2800"/>
              </a:lnSpc>
              <a:spcBef>
                <a:spcPts val="600"/>
              </a:spcBef>
            </a:pPr>
            <a:r>
              <a:rPr lang="en-US" altLang="zh-CN" sz="2000">
                <a:solidFill>
                  <a:srgbClr val="0000FF"/>
                </a:solidFill>
                <a:latin typeface="Consolas" pitchFamily="49" charset="0"/>
                <a:ea typeface="仿宋" pitchFamily="49" charset="-122"/>
                <a:cs typeface="Consolas" pitchFamily="49" charset="0"/>
              </a:rPr>
              <a:t>   </a:t>
            </a:r>
            <a:r>
              <a:rPr lang="zh-CN" altLang="en-US" sz="2000" smtClean="0">
                <a:solidFill>
                  <a:srgbClr val="FF0000"/>
                </a:solidFill>
                <a:latin typeface="Consolas" pitchFamily="49" charset="0"/>
                <a:ea typeface="仿宋" pitchFamily="49" charset="-122"/>
                <a:cs typeface="Consolas" pitchFamily="49" charset="0"/>
              </a:rPr>
              <a:t>输入</a:t>
            </a:r>
            <a:r>
              <a:rPr lang="zh-CN" altLang="en-US" sz="2000">
                <a:solidFill>
                  <a:srgbClr val="0000FF"/>
                </a:solidFill>
                <a:latin typeface="Consolas" pitchFamily="49" charset="0"/>
                <a:ea typeface="仿宋" pitchFamily="49" charset="-122"/>
                <a:cs typeface="Consolas" pitchFamily="49" charset="0"/>
              </a:rPr>
              <a:t>：第一部分以</a:t>
            </a:r>
            <a:r>
              <a:rPr lang="en-US" altLang="zh-CN" sz="2000" smtClean="0">
                <a:solidFill>
                  <a:srgbClr val="0000FF"/>
                </a:solidFill>
                <a:latin typeface="Consolas" pitchFamily="49" charset="0"/>
                <a:ea typeface="仿宋" pitchFamily="49" charset="-122"/>
                <a:cs typeface="Consolas" pitchFamily="49" charset="0"/>
              </a:rPr>
              <a:t>N</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M</a:t>
            </a:r>
            <a:r>
              <a:rPr lang="zh-CN" altLang="en-US" sz="2000">
                <a:solidFill>
                  <a:srgbClr val="0000FF"/>
                </a:solidFill>
                <a:latin typeface="Consolas" pitchFamily="49" charset="0"/>
                <a:ea typeface="仿宋" pitchFamily="49" charset="-122"/>
                <a:cs typeface="Consolas" pitchFamily="49" charset="0"/>
              </a:rPr>
              <a:t>开始。</a:t>
            </a:r>
            <a:r>
              <a:rPr lang="en-US" altLang="zh-CN" sz="2000">
                <a:solidFill>
                  <a:srgbClr val="0000FF"/>
                </a:solidFill>
                <a:latin typeface="Consolas" pitchFamily="49" charset="0"/>
                <a:ea typeface="仿宋" pitchFamily="49" charset="-122"/>
                <a:cs typeface="Consolas" pitchFamily="49" charset="0"/>
              </a:rPr>
              <a:t>N</a:t>
            </a:r>
            <a:r>
              <a:rPr lang="zh-CN" altLang="en-US" sz="2000">
                <a:solidFill>
                  <a:srgbClr val="0000FF"/>
                </a:solidFill>
                <a:latin typeface="Consolas" pitchFamily="49" charset="0"/>
                <a:ea typeface="仿宋" pitchFamily="49" charset="-122"/>
                <a:cs typeface="Consolas" pitchFamily="49" charset="0"/>
              </a:rPr>
              <a:t>为问题涉及的人的个数（</a:t>
            </a:r>
            <a:r>
              <a:rPr lang="en-US" altLang="zh-CN" sz="2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mn-ea"/>
                <a:ea typeface="+mn-ea"/>
                <a:cs typeface="Consolas" pitchFamily="49" charset="0"/>
              </a:rPr>
              <a:t>≤</a:t>
            </a:r>
            <a:r>
              <a:rPr lang="en-US" altLang="zh-CN" sz="2000">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mn-ea"/>
                <a:ea typeface="+mn-ea"/>
                <a:cs typeface="Consolas" pitchFamily="49" charset="0"/>
              </a:rPr>
              <a:t>≤</a:t>
            </a:r>
            <a:r>
              <a:rPr lang="en-US" altLang="zh-CN" sz="2000">
                <a:solidFill>
                  <a:srgbClr val="0000FF"/>
                </a:solidFill>
                <a:latin typeface="Consolas" pitchFamily="49" charset="0"/>
                <a:ea typeface="仿宋" pitchFamily="49" charset="-122"/>
                <a:cs typeface="Consolas" pitchFamily="49" charset="0"/>
              </a:rPr>
              <a:t>20000</a:t>
            </a:r>
            <a:r>
              <a:rPr lang="zh-CN" altLang="en-US" sz="2000">
                <a:solidFill>
                  <a:srgbClr val="0000FF"/>
                </a:solidFill>
                <a:latin typeface="Consolas" pitchFamily="49" charset="0"/>
                <a:ea typeface="仿宋" pitchFamily="49" charset="-122"/>
                <a:cs typeface="Consolas" pitchFamily="49" charset="0"/>
              </a:rPr>
              <a:t>）。这些人的编号为</a:t>
            </a:r>
            <a:r>
              <a:rPr lang="en-US" altLang="zh-CN"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2</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3</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mn-ea"/>
                <a:ea typeface="+mn-ea"/>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 </a:t>
            </a:r>
            <a:r>
              <a:rPr lang="en-US" altLang="zh-CN" sz="2000">
                <a:solidFill>
                  <a:srgbClr val="0000FF"/>
                </a:solidFill>
                <a:latin typeface="Consolas" pitchFamily="49" charset="0"/>
                <a:ea typeface="仿宋" pitchFamily="49" charset="-122"/>
                <a:cs typeface="Consolas" pitchFamily="49" charset="0"/>
              </a:rPr>
              <a:t>N</a:t>
            </a:r>
            <a:r>
              <a:rPr lang="zh-CN" altLang="en-US" sz="2000">
                <a:solidFill>
                  <a:srgbClr val="0000FF"/>
                </a:solidFill>
                <a:latin typeface="Consolas" pitchFamily="49" charset="0"/>
                <a:ea typeface="仿宋" pitchFamily="49" charset="-122"/>
                <a:cs typeface="Consolas" pitchFamily="49" charset="0"/>
              </a:rPr>
              <a:t>。</a:t>
            </a:r>
          </a:p>
          <a:p>
            <a:pPr algn="l">
              <a:lnSpc>
                <a:spcPts val="2800"/>
              </a:lnSpc>
              <a:spcBef>
                <a:spcPts val="600"/>
              </a:spcBef>
            </a:pPr>
            <a:r>
              <a:rPr lang="zh-CN" altLang="en-US" sz="2000">
                <a:solidFill>
                  <a:srgbClr val="0000FF"/>
                </a:solidFill>
                <a:latin typeface="Consolas" pitchFamily="49" charset="0"/>
                <a:ea typeface="仿宋" pitchFamily="49" charset="-122"/>
                <a:cs typeface="Consolas" pitchFamily="49" charset="0"/>
              </a:rPr>
              <a:t>   </a:t>
            </a:r>
            <a:r>
              <a:rPr lang="zh-CN" altLang="en-US" sz="2000" smtClean="0">
                <a:solidFill>
                  <a:srgbClr val="0000FF"/>
                </a:solidFill>
                <a:latin typeface="Consolas" pitchFamily="49" charset="0"/>
                <a:ea typeface="仿宋" pitchFamily="49" charset="-122"/>
                <a:cs typeface="Consolas" pitchFamily="49" charset="0"/>
              </a:rPr>
              <a:t>下</a:t>
            </a:r>
            <a:r>
              <a:rPr lang="zh-CN" altLang="en-US" sz="2000">
                <a:solidFill>
                  <a:srgbClr val="0000FF"/>
                </a:solidFill>
                <a:latin typeface="Consolas" pitchFamily="49" charset="0"/>
                <a:ea typeface="仿宋" pitchFamily="49" charset="-122"/>
                <a:cs typeface="Consolas" pitchFamily="49" charset="0"/>
              </a:rPr>
              <a:t>面有</a:t>
            </a:r>
            <a:r>
              <a:rPr lang="en-US" altLang="zh-CN" sz="2000">
                <a:solidFill>
                  <a:srgbClr val="0000FF"/>
                </a:solidFill>
                <a:latin typeface="Consolas" pitchFamily="49" charset="0"/>
                <a:ea typeface="仿宋" pitchFamily="49" charset="-122"/>
                <a:cs typeface="Consolas" pitchFamily="49" charset="0"/>
              </a:rPr>
              <a:t>M</a:t>
            </a:r>
            <a:r>
              <a:rPr lang="zh-CN" altLang="en-US" sz="2000">
                <a:solidFill>
                  <a:srgbClr val="0000FF"/>
                </a:solidFill>
                <a:latin typeface="Consolas" pitchFamily="49" charset="0"/>
                <a:ea typeface="仿宋" pitchFamily="49" charset="-122"/>
                <a:cs typeface="Consolas" pitchFamily="49" charset="0"/>
              </a:rPr>
              <a:t>行（</a:t>
            </a:r>
            <a:r>
              <a:rPr lang="en-US" altLang="zh-CN" sz="2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mj-ea"/>
                <a:ea typeface="+mj-ea"/>
                <a:cs typeface="Consolas" pitchFamily="49" charset="0"/>
              </a:rPr>
              <a:t>≤</a:t>
            </a:r>
            <a:r>
              <a:rPr lang="en-US" altLang="zh-CN" sz="2000">
                <a:solidFill>
                  <a:srgbClr val="0000FF"/>
                </a:solidFill>
                <a:latin typeface="Consolas" pitchFamily="49" charset="0"/>
                <a:ea typeface="仿宋" pitchFamily="49" charset="-122"/>
                <a:cs typeface="Consolas" pitchFamily="49" charset="0"/>
              </a:rPr>
              <a:t>M</a:t>
            </a:r>
            <a:r>
              <a:rPr lang="en-US" altLang="zh-CN" sz="2000">
                <a:solidFill>
                  <a:srgbClr val="0000FF"/>
                </a:solidFill>
                <a:latin typeface="+mj-ea"/>
                <a:ea typeface="+mj-ea"/>
                <a:cs typeface="Consolas" pitchFamily="49" charset="0"/>
              </a:rPr>
              <a:t>≤</a:t>
            </a:r>
            <a:r>
              <a:rPr lang="en-US" altLang="zh-CN" sz="2000">
                <a:solidFill>
                  <a:srgbClr val="0000FF"/>
                </a:solidFill>
                <a:latin typeface="Consolas" pitchFamily="49" charset="0"/>
                <a:ea typeface="仿宋" pitchFamily="49" charset="-122"/>
                <a:cs typeface="Consolas" pitchFamily="49" charset="0"/>
              </a:rPr>
              <a:t>1000000</a:t>
            </a:r>
            <a:r>
              <a:rPr lang="zh-CN" altLang="en-US" sz="2000" smtClean="0">
                <a:solidFill>
                  <a:srgbClr val="0000FF"/>
                </a:solidFill>
                <a:latin typeface="Consolas" pitchFamily="49" charset="0"/>
                <a:ea typeface="仿宋" pitchFamily="49" charset="-122"/>
                <a:cs typeface="Consolas" pitchFamily="49" charset="0"/>
              </a:rPr>
              <a:t>），每</a:t>
            </a:r>
            <a:r>
              <a:rPr lang="zh-CN" altLang="en-US" sz="2000">
                <a:solidFill>
                  <a:srgbClr val="0000FF"/>
                </a:solidFill>
                <a:latin typeface="Consolas" pitchFamily="49" charset="0"/>
                <a:ea typeface="仿宋" pitchFamily="49" charset="-122"/>
                <a:cs typeface="Consolas" pitchFamily="49" charset="0"/>
              </a:rPr>
              <a:t>行有两个数</a:t>
            </a:r>
            <a:r>
              <a:rPr lang="en-US" altLang="zh-CN" sz="2000" i="1">
                <a:solidFill>
                  <a:srgbClr val="0000FF"/>
                </a:solidFill>
                <a:latin typeface="Consolas" pitchFamily="49" charset="0"/>
                <a:ea typeface="仿宋" pitchFamily="49" charset="-122"/>
                <a:cs typeface="Consolas" pitchFamily="49" charset="0"/>
              </a:rPr>
              <a:t>a</a:t>
            </a:r>
            <a:r>
              <a:rPr lang="en-US" altLang="zh-CN" sz="2000" i="1" baseline="-25000">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b</a:t>
            </a:r>
            <a:r>
              <a:rPr lang="en-US" altLang="zh-CN" sz="2000" i="1" baseline="-25000" smtClean="0">
                <a:solidFill>
                  <a:srgbClr val="0000FF"/>
                </a:solidFill>
                <a:latin typeface="Consolas" pitchFamily="49" charset="0"/>
                <a:ea typeface="仿宋" pitchFamily="49" charset="-122"/>
                <a:cs typeface="Consolas" pitchFamily="49" charset="0"/>
              </a:rPr>
              <a:t>i</a:t>
            </a:r>
            <a:r>
              <a:rPr lang="zh-CN" altLang="en-US" sz="2000" smtClean="0">
                <a:solidFill>
                  <a:srgbClr val="0000FF"/>
                </a:solidFill>
                <a:latin typeface="Consolas" pitchFamily="49" charset="0"/>
                <a:ea typeface="仿宋" pitchFamily="49" charset="-122"/>
                <a:cs typeface="Consolas" pitchFamily="49" charset="0"/>
              </a:rPr>
              <a:t>，表示</a:t>
            </a:r>
            <a:r>
              <a:rPr lang="zh-CN" altLang="en-US" sz="2000">
                <a:solidFill>
                  <a:srgbClr val="0000FF"/>
                </a:solidFill>
                <a:latin typeface="Consolas" pitchFamily="49" charset="0"/>
                <a:ea typeface="仿宋" pitchFamily="49" charset="-122"/>
                <a:cs typeface="Consolas" pitchFamily="49" charset="0"/>
              </a:rPr>
              <a:t>已知</a:t>
            </a:r>
            <a:r>
              <a:rPr lang="en-US" altLang="zh-CN" sz="2000" i="1">
                <a:solidFill>
                  <a:srgbClr val="0000FF"/>
                </a:solidFill>
                <a:latin typeface="Consolas" pitchFamily="49" charset="0"/>
                <a:ea typeface="仿宋" pitchFamily="49" charset="-122"/>
                <a:cs typeface="Consolas" pitchFamily="49" charset="0"/>
              </a:rPr>
              <a:t>a</a:t>
            </a:r>
            <a:r>
              <a:rPr lang="en-US" altLang="zh-CN" sz="2000" i="1" baseline="-25000">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和</a:t>
            </a:r>
            <a:r>
              <a:rPr lang="en-US" altLang="zh-CN" sz="2000" i="1">
                <a:solidFill>
                  <a:srgbClr val="0000FF"/>
                </a:solidFill>
                <a:latin typeface="Consolas" pitchFamily="49" charset="0"/>
                <a:ea typeface="仿宋" pitchFamily="49" charset="-122"/>
                <a:cs typeface="Consolas" pitchFamily="49" charset="0"/>
              </a:rPr>
              <a:t>b</a:t>
            </a:r>
            <a:r>
              <a:rPr lang="en-US" altLang="zh-CN" sz="2000" i="1" baseline="-25000">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是亲戚。</a:t>
            </a:r>
          </a:p>
          <a:p>
            <a:pPr algn="l">
              <a:lnSpc>
                <a:spcPts val="2800"/>
              </a:lnSpc>
              <a:spcBef>
                <a:spcPts val="600"/>
              </a:spcBef>
            </a:pPr>
            <a:r>
              <a:rPr lang="zh-CN" altLang="en-US" sz="2000">
                <a:solidFill>
                  <a:srgbClr val="0000FF"/>
                </a:solidFill>
                <a:latin typeface="Consolas" pitchFamily="49" charset="0"/>
                <a:ea typeface="仿宋" pitchFamily="49" charset="-122"/>
                <a:cs typeface="Consolas" pitchFamily="49" charset="0"/>
              </a:rPr>
              <a:t>   </a:t>
            </a:r>
            <a:r>
              <a:rPr lang="zh-CN" altLang="en-US" sz="2000" smtClean="0">
                <a:solidFill>
                  <a:srgbClr val="0000FF"/>
                </a:solidFill>
                <a:latin typeface="Consolas" pitchFamily="49" charset="0"/>
                <a:ea typeface="仿宋" pitchFamily="49" charset="-122"/>
                <a:cs typeface="Consolas" pitchFamily="49" charset="0"/>
              </a:rPr>
              <a:t>第</a:t>
            </a:r>
            <a:r>
              <a:rPr lang="zh-CN" altLang="en-US" sz="2000">
                <a:solidFill>
                  <a:srgbClr val="0000FF"/>
                </a:solidFill>
                <a:latin typeface="Consolas" pitchFamily="49" charset="0"/>
                <a:ea typeface="仿宋" pitchFamily="49" charset="-122"/>
                <a:cs typeface="Consolas" pitchFamily="49" charset="0"/>
              </a:rPr>
              <a:t>二部分以</a:t>
            </a:r>
            <a:r>
              <a:rPr lang="en-US" altLang="zh-CN" sz="2000">
                <a:solidFill>
                  <a:srgbClr val="0000FF"/>
                </a:solidFill>
                <a:latin typeface="Consolas" pitchFamily="49" charset="0"/>
                <a:ea typeface="仿宋" pitchFamily="49" charset="-122"/>
                <a:cs typeface="Consolas" pitchFamily="49" charset="0"/>
              </a:rPr>
              <a:t>Q</a:t>
            </a:r>
            <a:r>
              <a:rPr lang="zh-CN" altLang="en-US" sz="2000">
                <a:solidFill>
                  <a:srgbClr val="0000FF"/>
                </a:solidFill>
                <a:latin typeface="Consolas" pitchFamily="49" charset="0"/>
                <a:ea typeface="仿宋" pitchFamily="49" charset="-122"/>
                <a:cs typeface="Consolas" pitchFamily="49" charset="0"/>
              </a:rPr>
              <a:t>开始。以下</a:t>
            </a:r>
            <a:r>
              <a:rPr lang="en-US" altLang="zh-CN" sz="2000">
                <a:solidFill>
                  <a:srgbClr val="0000FF"/>
                </a:solidFill>
                <a:latin typeface="Consolas" pitchFamily="49" charset="0"/>
                <a:ea typeface="仿宋" pitchFamily="49" charset="-122"/>
                <a:cs typeface="Consolas" pitchFamily="49" charset="0"/>
              </a:rPr>
              <a:t>Q</a:t>
            </a:r>
            <a:r>
              <a:rPr lang="zh-CN" altLang="en-US" sz="2000">
                <a:solidFill>
                  <a:srgbClr val="0000FF"/>
                </a:solidFill>
                <a:latin typeface="Consolas" pitchFamily="49" charset="0"/>
                <a:ea typeface="仿宋" pitchFamily="49" charset="-122"/>
                <a:cs typeface="Consolas" pitchFamily="49" charset="0"/>
              </a:rPr>
              <a:t>行有</a:t>
            </a:r>
            <a:r>
              <a:rPr lang="en-US" altLang="zh-CN" sz="2000">
                <a:solidFill>
                  <a:srgbClr val="0000FF"/>
                </a:solidFill>
                <a:latin typeface="Consolas" pitchFamily="49" charset="0"/>
                <a:ea typeface="仿宋" pitchFamily="49" charset="-122"/>
                <a:cs typeface="Consolas" pitchFamily="49" charset="0"/>
              </a:rPr>
              <a:t>Q</a:t>
            </a:r>
            <a:r>
              <a:rPr lang="zh-CN" altLang="en-US" sz="2000">
                <a:solidFill>
                  <a:srgbClr val="0000FF"/>
                </a:solidFill>
                <a:latin typeface="Consolas" pitchFamily="49" charset="0"/>
                <a:ea typeface="仿宋" pitchFamily="49" charset="-122"/>
                <a:cs typeface="Consolas" pitchFamily="49" charset="0"/>
              </a:rPr>
              <a:t>个询问（</a:t>
            </a:r>
            <a:r>
              <a:rPr lang="en-US" altLang="zh-CN" sz="2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mn-ea"/>
                <a:ea typeface="+mn-ea"/>
                <a:cs typeface="Consolas" pitchFamily="49" charset="0"/>
              </a:rPr>
              <a:t>≤</a:t>
            </a:r>
            <a:r>
              <a:rPr lang="en-US" altLang="zh-CN" sz="2000">
                <a:solidFill>
                  <a:srgbClr val="0000FF"/>
                </a:solidFill>
                <a:latin typeface="Consolas" pitchFamily="49" charset="0"/>
                <a:ea typeface="仿宋" pitchFamily="49" charset="-122"/>
                <a:cs typeface="Consolas" pitchFamily="49" charset="0"/>
              </a:rPr>
              <a:t>Q</a:t>
            </a:r>
            <a:r>
              <a:rPr lang="en-US" altLang="zh-CN" sz="2000">
                <a:solidFill>
                  <a:srgbClr val="0000FF"/>
                </a:solidFill>
                <a:latin typeface="+mn-ea"/>
                <a:ea typeface="+mn-ea"/>
                <a:cs typeface="Consolas" pitchFamily="49" charset="0"/>
              </a:rPr>
              <a:t>≤</a:t>
            </a:r>
            <a:r>
              <a:rPr lang="en-US" altLang="zh-CN" sz="2000">
                <a:solidFill>
                  <a:srgbClr val="0000FF"/>
                </a:solidFill>
                <a:latin typeface="Consolas" pitchFamily="49" charset="0"/>
                <a:ea typeface="仿宋" pitchFamily="49" charset="-122"/>
                <a:cs typeface="Consolas" pitchFamily="49" charset="0"/>
              </a:rPr>
              <a:t>1000 000</a:t>
            </a:r>
            <a:r>
              <a:rPr lang="zh-CN" altLang="en-US" sz="2000" smtClean="0">
                <a:solidFill>
                  <a:srgbClr val="0000FF"/>
                </a:solidFill>
                <a:latin typeface="Consolas" pitchFamily="49" charset="0"/>
                <a:ea typeface="仿宋" pitchFamily="49" charset="-122"/>
                <a:cs typeface="Consolas" pitchFamily="49" charset="0"/>
              </a:rPr>
              <a:t>），每</a:t>
            </a:r>
            <a:r>
              <a:rPr lang="zh-CN" altLang="en-US" sz="2000">
                <a:solidFill>
                  <a:srgbClr val="0000FF"/>
                </a:solidFill>
                <a:latin typeface="Consolas" pitchFamily="49" charset="0"/>
                <a:ea typeface="仿宋" pitchFamily="49" charset="-122"/>
                <a:cs typeface="Consolas" pitchFamily="49" charset="0"/>
              </a:rPr>
              <a:t>行为</a:t>
            </a:r>
            <a:r>
              <a:rPr lang="en-US" altLang="zh-CN" sz="2000" i="1">
                <a:solidFill>
                  <a:srgbClr val="0000FF"/>
                </a:solidFill>
                <a:latin typeface="Consolas" pitchFamily="49" charset="0"/>
                <a:ea typeface="仿宋" pitchFamily="49" charset="-122"/>
                <a:cs typeface="Consolas" pitchFamily="49" charset="0"/>
              </a:rPr>
              <a:t>c</a:t>
            </a:r>
            <a:r>
              <a:rPr lang="en-US" altLang="zh-CN" sz="2000" i="1" baseline="-25000">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和</a:t>
            </a:r>
            <a:r>
              <a:rPr lang="en-US" altLang="zh-CN" sz="2000" i="1" smtClean="0">
                <a:solidFill>
                  <a:srgbClr val="0000FF"/>
                </a:solidFill>
                <a:latin typeface="Consolas" pitchFamily="49" charset="0"/>
                <a:ea typeface="仿宋" pitchFamily="49" charset="-122"/>
                <a:cs typeface="Consolas" pitchFamily="49" charset="0"/>
              </a:rPr>
              <a:t>d</a:t>
            </a:r>
            <a:r>
              <a:rPr lang="en-US" altLang="zh-CN" sz="2000" i="1" baseline="-25000" smtClean="0">
                <a:solidFill>
                  <a:srgbClr val="0000FF"/>
                </a:solidFill>
                <a:latin typeface="Consolas" pitchFamily="49" charset="0"/>
                <a:ea typeface="仿宋" pitchFamily="49" charset="-122"/>
                <a:cs typeface="Consolas" pitchFamily="49" charset="0"/>
              </a:rPr>
              <a:t>i</a:t>
            </a:r>
            <a:r>
              <a:rPr lang="zh-CN" altLang="en-US" sz="2000" smtClean="0">
                <a:solidFill>
                  <a:srgbClr val="0000FF"/>
                </a:solidFill>
                <a:latin typeface="Consolas" pitchFamily="49" charset="0"/>
                <a:ea typeface="仿宋" pitchFamily="49" charset="-122"/>
                <a:cs typeface="Consolas" pitchFamily="49" charset="0"/>
              </a:rPr>
              <a:t>，表示</a:t>
            </a:r>
            <a:r>
              <a:rPr lang="zh-CN" altLang="en-US" sz="2000">
                <a:solidFill>
                  <a:srgbClr val="0000FF"/>
                </a:solidFill>
                <a:latin typeface="Consolas" pitchFamily="49" charset="0"/>
                <a:ea typeface="仿宋" pitchFamily="49" charset="-122"/>
                <a:cs typeface="Consolas" pitchFamily="49" charset="0"/>
              </a:rPr>
              <a:t>询问</a:t>
            </a:r>
            <a:r>
              <a:rPr lang="en-US" altLang="zh-CN" sz="2000" i="1">
                <a:solidFill>
                  <a:srgbClr val="0000FF"/>
                </a:solidFill>
                <a:latin typeface="Consolas" pitchFamily="49" charset="0"/>
                <a:ea typeface="仿宋" pitchFamily="49" charset="-122"/>
                <a:cs typeface="Consolas" pitchFamily="49" charset="0"/>
              </a:rPr>
              <a:t>c</a:t>
            </a:r>
            <a:r>
              <a:rPr lang="en-US" altLang="zh-CN" sz="2000" i="1" baseline="-25000">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和</a:t>
            </a:r>
            <a:r>
              <a:rPr lang="en-US" altLang="zh-CN" sz="2000" i="1">
                <a:solidFill>
                  <a:srgbClr val="0000FF"/>
                </a:solidFill>
                <a:latin typeface="Consolas" pitchFamily="49" charset="0"/>
                <a:ea typeface="仿宋" pitchFamily="49" charset="-122"/>
                <a:cs typeface="Consolas" pitchFamily="49" charset="0"/>
              </a:rPr>
              <a:t>d</a:t>
            </a:r>
            <a:r>
              <a:rPr lang="en-US" altLang="zh-CN" sz="2000" i="1" baseline="-25000">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是否为亲戚。</a:t>
            </a:r>
          </a:p>
          <a:p>
            <a:pPr algn="l">
              <a:lnSpc>
                <a:spcPts val="2800"/>
              </a:lnSpc>
              <a:spcBef>
                <a:spcPts val="600"/>
              </a:spcBef>
            </a:pPr>
            <a:r>
              <a:rPr lang="zh-CN" altLang="en-US" sz="2000">
                <a:solidFill>
                  <a:srgbClr val="0000FF"/>
                </a:solidFill>
                <a:latin typeface="Consolas" pitchFamily="49" charset="0"/>
                <a:ea typeface="仿宋" pitchFamily="49" charset="-122"/>
                <a:cs typeface="Consolas" pitchFamily="49" charset="0"/>
              </a:rPr>
              <a:t>   </a:t>
            </a:r>
            <a:r>
              <a:rPr lang="zh-CN" altLang="en-US" sz="2000" smtClean="0">
                <a:solidFill>
                  <a:srgbClr val="FF0000"/>
                </a:solidFill>
                <a:latin typeface="Consolas" pitchFamily="49" charset="0"/>
                <a:ea typeface="仿宋" pitchFamily="49" charset="-122"/>
                <a:cs typeface="Consolas" pitchFamily="49" charset="0"/>
              </a:rPr>
              <a:t>输出</a:t>
            </a:r>
            <a:r>
              <a:rPr lang="zh-CN" altLang="en-US" sz="2000">
                <a:solidFill>
                  <a:srgbClr val="0000FF"/>
                </a:solidFill>
                <a:latin typeface="Consolas" pitchFamily="49" charset="0"/>
                <a:ea typeface="仿宋" pitchFamily="49" charset="-122"/>
                <a:cs typeface="Consolas" pitchFamily="49" charset="0"/>
              </a:rPr>
              <a:t>：对于每个询问</a:t>
            </a:r>
            <a:r>
              <a:rPr lang="en-US" altLang="zh-CN" sz="2000" i="1">
                <a:solidFill>
                  <a:srgbClr val="0000FF"/>
                </a:solidFill>
                <a:latin typeface="Consolas" pitchFamily="49" charset="0"/>
                <a:ea typeface="仿宋" pitchFamily="49" charset="-122"/>
                <a:cs typeface="Consolas" pitchFamily="49" charset="0"/>
              </a:rPr>
              <a:t>c</a:t>
            </a:r>
            <a:r>
              <a:rPr lang="en-US" altLang="zh-CN" sz="2000" i="1" baseline="-25000">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d</a:t>
            </a:r>
            <a:r>
              <a:rPr lang="en-US" altLang="zh-CN" sz="2000" i="1" baseline="-25000" smtClean="0">
                <a:solidFill>
                  <a:srgbClr val="0000FF"/>
                </a:solidFill>
                <a:latin typeface="Consolas" pitchFamily="49" charset="0"/>
                <a:ea typeface="仿宋" pitchFamily="49" charset="-122"/>
                <a:cs typeface="Consolas" pitchFamily="49" charset="0"/>
              </a:rPr>
              <a:t>i</a:t>
            </a:r>
            <a:r>
              <a:rPr lang="zh-CN" altLang="en-US" sz="2000" smtClean="0">
                <a:solidFill>
                  <a:srgbClr val="0000FF"/>
                </a:solidFill>
                <a:latin typeface="Consolas" pitchFamily="49" charset="0"/>
                <a:ea typeface="仿宋" pitchFamily="49" charset="-122"/>
                <a:cs typeface="Consolas" pitchFamily="49" charset="0"/>
              </a:rPr>
              <a:t>，输出</a:t>
            </a:r>
            <a:r>
              <a:rPr lang="zh-CN" altLang="en-US" sz="2000">
                <a:solidFill>
                  <a:srgbClr val="0000FF"/>
                </a:solidFill>
                <a:latin typeface="Consolas" pitchFamily="49" charset="0"/>
                <a:ea typeface="仿宋" pitchFamily="49" charset="-122"/>
                <a:cs typeface="Consolas" pitchFamily="49" charset="0"/>
              </a:rPr>
              <a:t>一行：若</a:t>
            </a:r>
            <a:r>
              <a:rPr lang="en-US" altLang="zh-CN" sz="2000" i="1">
                <a:solidFill>
                  <a:srgbClr val="0000FF"/>
                </a:solidFill>
                <a:latin typeface="Consolas" pitchFamily="49" charset="0"/>
                <a:ea typeface="仿宋" pitchFamily="49" charset="-122"/>
                <a:cs typeface="Consolas" pitchFamily="49" charset="0"/>
              </a:rPr>
              <a:t>c</a:t>
            </a:r>
            <a:r>
              <a:rPr lang="en-US" altLang="zh-CN" sz="2000" i="1" baseline="-25000">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和</a:t>
            </a:r>
            <a:r>
              <a:rPr lang="en-US" altLang="zh-CN" sz="2000" i="1">
                <a:solidFill>
                  <a:srgbClr val="0000FF"/>
                </a:solidFill>
                <a:latin typeface="Consolas" pitchFamily="49" charset="0"/>
                <a:ea typeface="仿宋" pitchFamily="49" charset="-122"/>
                <a:cs typeface="Consolas" pitchFamily="49" charset="0"/>
              </a:rPr>
              <a:t>d</a:t>
            </a:r>
            <a:r>
              <a:rPr lang="en-US" altLang="zh-CN" sz="2000" i="1" baseline="-25000">
                <a:solidFill>
                  <a:srgbClr val="0000FF"/>
                </a:solidFill>
                <a:latin typeface="Consolas" pitchFamily="49" charset="0"/>
                <a:ea typeface="仿宋" pitchFamily="49" charset="-122"/>
                <a:cs typeface="Consolas" pitchFamily="49" charset="0"/>
              </a:rPr>
              <a:t>i</a:t>
            </a:r>
            <a:r>
              <a:rPr lang="zh-CN" altLang="en-US" sz="2000">
                <a:solidFill>
                  <a:srgbClr val="0000FF"/>
                </a:solidFill>
                <a:latin typeface="Consolas" pitchFamily="49" charset="0"/>
                <a:ea typeface="仿宋" pitchFamily="49" charset="-122"/>
                <a:cs typeface="Consolas" pitchFamily="49" charset="0"/>
              </a:rPr>
              <a:t>为</a:t>
            </a:r>
            <a:r>
              <a:rPr lang="zh-CN" altLang="en-US" sz="2000" smtClean="0">
                <a:solidFill>
                  <a:srgbClr val="0000FF"/>
                </a:solidFill>
                <a:latin typeface="Consolas" pitchFamily="49" charset="0"/>
                <a:ea typeface="仿宋" pitchFamily="49" charset="-122"/>
                <a:cs typeface="Consolas" pitchFamily="49" charset="0"/>
              </a:rPr>
              <a:t>亲戚，则</a:t>
            </a:r>
            <a:r>
              <a:rPr lang="zh-CN" altLang="en-US" sz="2000">
                <a:solidFill>
                  <a:srgbClr val="0000FF"/>
                </a:solidFill>
                <a:latin typeface="Consolas" pitchFamily="49" charset="0"/>
                <a:ea typeface="仿宋" pitchFamily="49" charset="-122"/>
                <a:cs typeface="Consolas" pitchFamily="49" charset="0"/>
              </a:rPr>
              <a:t>输</a:t>
            </a:r>
            <a:r>
              <a:rPr lang="zh-CN" altLang="en-US" sz="2000" smtClean="0">
                <a:solidFill>
                  <a:srgbClr val="0000FF"/>
                </a:solidFill>
                <a:latin typeface="Consolas" pitchFamily="49" charset="0"/>
                <a:ea typeface="仿宋" pitchFamily="49" charset="-122"/>
                <a:cs typeface="Consolas" pitchFamily="49" charset="0"/>
              </a:rPr>
              <a:t>出</a:t>
            </a:r>
            <a:r>
              <a:rPr lang="en-US" altLang="zh-CN" sz="2000" smtClean="0">
                <a:solidFill>
                  <a:srgbClr val="0000FF"/>
                </a:solidFill>
                <a:latin typeface="Consolas" pitchFamily="49" charset="0"/>
                <a:ea typeface="仿宋" pitchFamily="49" charset="-122"/>
                <a:cs typeface="Consolas" pitchFamily="49" charset="0"/>
              </a:rPr>
              <a:t>"Yes"</a:t>
            </a:r>
            <a:r>
              <a:rPr lang="zh-CN" altLang="en-US" sz="2000" smtClean="0">
                <a:solidFill>
                  <a:srgbClr val="0000FF"/>
                </a:solidFill>
                <a:latin typeface="Consolas" pitchFamily="49" charset="0"/>
                <a:ea typeface="仿宋" pitchFamily="49" charset="-122"/>
                <a:cs typeface="Consolas" pitchFamily="49" charset="0"/>
              </a:rPr>
              <a:t>，否则</a:t>
            </a:r>
            <a:r>
              <a:rPr lang="zh-CN" altLang="en-US" sz="2000">
                <a:solidFill>
                  <a:srgbClr val="0000FF"/>
                </a:solidFill>
                <a:latin typeface="Consolas" pitchFamily="49" charset="0"/>
                <a:ea typeface="仿宋" pitchFamily="49" charset="-122"/>
                <a:cs typeface="Consolas" pitchFamily="49" charset="0"/>
              </a:rPr>
              <a:t>输</a:t>
            </a:r>
            <a:r>
              <a:rPr lang="zh-CN" altLang="en-US" sz="2000" smtClean="0">
                <a:solidFill>
                  <a:srgbClr val="0000FF"/>
                </a:solidFill>
                <a:latin typeface="Consolas" pitchFamily="49" charset="0"/>
                <a:ea typeface="仿宋" pitchFamily="49" charset="-122"/>
                <a:cs typeface="Consolas" pitchFamily="49" charset="0"/>
              </a:rPr>
              <a:t>出</a:t>
            </a:r>
            <a:r>
              <a:rPr lang="en-US" altLang="zh-CN" sz="2000" smtClean="0">
                <a:solidFill>
                  <a:srgbClr val="0000FF"/>
                </a:solidFill>
                <a:latin typeface="Consolas" pitchFamily="49" charset="0"/>
                <a:ea typeface="仿宋" pitchFamily="49" charset="-122"/>
                <a:cs typeface="Consolas" pitchFamily="49" charset="0"/>
              </a:rPr>
              <a:t>"No"</a:t>
            </a:r>
            <a:r>
              <a:rPr lang="zh-CN" altLang="en-US" sz="2000" smtClean="0">
                <a:solidFill>
                  <a:srgbClr val="0000FF"/>
                </a:solidFill>
                <a:latin typeface="Consolas" pitchFamily="49" charset="0"/>
                <a:ea typeface="仿宋" pitchFamily="49" charset="-122"/>
                <a:cs typeface="Consolas" pitchFamily="49" charset="0"/>
              </a:rPr>
              <a:t>。 </a:t>
            </a:r>
            <a:endParaRPr lang="zh-CN" altLang="en-US" sz="2000">
              <a:solidFill>
                <a:srgbClr val="0000FF"/>
              </a:solidFill>
              <a:latin typeface="Consolas" pitchFamily="49" charset="0"/>
              <a:ea typeface="仿宋" pitchFamily="49" charset="-122"/>
              <a:cs typeface="Consolas" pitchFamily="49" charset="0"/>
            </a:endParaRPr>
          </a:p>
        </p:txBody>
      </p:sp>
      <p:sp>
        <p:nvSpPr>
          <p:cNvPr id="3" name="AutoShape 6"/>
          <p:cNvSpPr>
            <a:spLocks noChangeArrowheads="1"/>
          </p:cNvSpPr>
          <p:nvPr/>
        </p:nvSpPr>
        <p:spPr bwMode="auto">
          <a:xfrm>
            <a:off x="3929058" y="4143380"/>
            <a:ext cx="1643074" cy="857256"/>
          </a:xfrm>
          <a:prstGeom prst="wedgeEllipseCallout">
            <a:avLst>
              <a:gd name="adj1" fmla="val -37604"/>
              <a:gd name="adj2" fmla="val -63712"/>
            </a:avLst>
          </a:prstGeom>
          <a:ln>
            <a:headEnd/>
            <a:tailEnd type="none" w="med" len="lg"/>
          </a:ln>
        </p:spPr>
        <p:style>
          <a:lnRef idx="1">
            <a:schemeClr val="accent1"/>
          </a:lnRef>
          <a:fillRef idx="2">
            <a:schemeClr val="accent1"/>
          </a:fillRef>
          <a:effectRef idx="1">
            <a:schemeClr val="accent1"/>
          </a:effectRef>
          <a:fontRef idx="minor">
            <a:schemeClr val="dk1"/>
          </a:fontRef>
        </p:style>
        <p:txBody>
          <a:bodyPr/>
          <a:lstStyle/>
          <a:p>
            <a:pPr>
              <a:lnSpc>
                <a:spcPct val="100000"/>
              </a:lnSpc>
            </a:pPr>
            <a:r>
              <a:rPr lang="zh-CN" altLang="en-US" sz="1800" smtClean="0">
                <a:solidFill>
                  <a:srgbClr val="CC00FF"/>
                </a:solidFill>
                <a:latin typeface="楷体" pitchFamily="49" charset="-122"/>
                <a:ea typeface="楷体" pitchFamily="49" charset="-122"/>
              </a:rPr>
              <a:t>解</a:t>
            </a:r>
            <a:r>
              <a:rPr lang="zh-CN" altLang="en-US" sz="1800">
                <a:solidFill>
                  <a:srgbClr val="CC00FF"/>
                </a:solidFill>
                <a:latin typeface="楷体" pitchFamily="49" charset="-122"/>
                <a:ea typeface="楷体" pitchFamily="49" charset="-122"/>
              </a:rPr>
              <a:t>决分类问题</a:t>
            </a:r>
          </a:p>
        </p:txBody>
      </p:sp>
      <p:sp>
        <p:nvSpPr>
          <p:cNvPr id="6" name="灯片编号占位符 5"/>
          <p:cNvSpPr>
            <a:spLocks noGrp="1"/>
          </p:cNvSpPr>
          <p:nvPr>
            <p:ph type="sldNum" sz="quarter" idx="12"/>
          </p:nvPr>
        </p:nvSpPr>
        <p:spPr/>
        <p:txBody>
          <a:bodyPr/>
          <a:lstStyle/>
          <a:p>
            <a:fld id="{67864EE2-EAB3-4814-A7EB-820BD7610F1E}" type="slidenum">
              <a:rPr lang="en-US" altLang="zh-CN" smtClean="0"/>
              <a:pPr/>
              <a:t>49</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4" name="Text Box 4" descr="羊皮纸"/>
          <p:cNvSpPr txBox="1">
            <a:spLocks noChangeArrowheads="1"/>
          </p:cNvSpPr>
          <p:nvPr/>
        </p:nvSpPr>
        <p:spPr bwMode="auto">
          <a:xfrm>
            <a:off x="761995" y="571480"/>
            <a:ext cx="3024187" cy="4572983"/>
          </a:xfrm>
          <a:prstGeom prst="rect">
            <a:avLst/>
          </a:prstGeom>
          <a:blipFill dpi="0" rotWithShape="1">
            <a:blip r:embed="rId2" cstate="print"/>
            <a:srcRect/>
            <a:tile tx="0" ty="0" sx="100000" sy="100000" flip="none" algn="tl"/>
          </a:blipFill>
          <a:ln w="9525">
            <a:noFill/>
            <a:miter lim="800000"/>
            <a:headEnd/>
            <a:tailEnd/>
          </a:ln>
          <a:effectLst>
            <a:outerShdw dist="35921" dir="2700000" algn="ctr" rotWithShape="0">
              <a:schemeClr val="bg2"/>
            </a:outerShdw>
          </a:effectLst>
        </p:spPr>
        <p:txBody>
          <a:bodyPr>
            <a:spAutoFit/>
          </a:bodyPr>
          <a:lstStyle/>
          <a:p>
            <a:pPr algn="l">
              <a:lnSpc>
                <a:spcPts val="2700"/>
              </a:lnSpc>
              <a:spcBef>
                <a:spcPts val="0"/>
              </a:spcBef>
              <a:defRPr/>
            </a:pPr>
            <a:r>
              <a:rPr lang="zh-CN" altLang="en-US" sz="2000">
                <a:solidFill>
                  <a:srgbClr val="FF0000"/>
                </a:solidFill>
                <a:latin typeface="Consolas" pitchFamily="49" charset="0"/>
                <a:ea typeface="微软雅黑" pitchFamily="34" charset="-122"/>
                <a:cs typeface="Consolas" pitchFamily="49" charset="0"/>
              </a:rPr>
              <a:t>输入样例：</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10 7	//</a:t>
            </a:r>
            <a:r>
              <a:rPr lang="en-US" altLang="zh-CN" sz="2000" smtClean="0">
                <a:solidFill>
                  <a:srgbClr val="0000FF"/>
                </a:solidFill>
                <a:latin typeface="Consolas" pitchFamily="49" charset="0"/>
                <a:ea typeface="楷体" pitchFamily="49" charset="-122"/>
                <a:cs typeface="Consolas" pitchFamily="49" charset="0"/>
              </a:rPr>
              <a:t>N=10</a:t>
            </a:r>
            <a:r>
              <a:rPr lang="zh-CN" altLang="en-US"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M=7</a:t>
            </a:r>
            <a:endParaRPr lang="en-US" altLang="zh-CN" sz="2000">
              <a:solidFill>
                <a:srgbClr val="0000FF"/>
              </a:solidFill>
              <a:latin typeface="Consolas" pitchFamily="49" charset="0"/>
              <a:ea typeface="楷体" pitchFamily="49" charset="-122"/>
              <a:cs typeface="Consolas" pitchFamily="49" charset="0"/>
            </a:endParaRP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2 4</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5 7</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1 3</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8 9</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1 2</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5 6</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2 3</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3	//Q=3</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3 4</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7 10</a:t>
            </a:r>
          </a:p>
          <a:p>
            <a:pPr algn="l">
              <a:lnSpc>
                <a:spcPts val="2700"/>
              </a:lnSpc>
              <a:spcBef>
                <a:spcPts val="0"/>
              </a:spcBef>
              <a:defRPr/>
            </a:pPr>
            <a:r>
              <a:rPr lang="en-US" altLang="zh-CN" sz="2000">
                <a:solidFill>
                  <a:srgbClr val="0000FF"/>
                </a:solidFill>
                <a:latin typeface="Consolas" pitchFamily="49" charset="0"/>
                <a:ea typeface="楷体" pitchFamily="49" charset="-122"/>
                <a:cs typeface="Consolas" pitchFamily="49" charset="0"/>
              </a:rPr>
              <a:t>8 9 </a:t>
            </a:r>
          </a:p>
        </p:txBody>
      </p:sp>
      <p:sp>
        <p:nvSpPr>
          <p:cNvPr id="203779" name="Text Box 5"/>
          <p:cNvSpPr txBox="1">
            <a:spLocks noChangeArrowheads="1"/>
          </p:cNvSpPr>
          <p:nvPr/>
        </p:nvSpPr>
        <p:spPr bwMode="auto">
          <a:xfrm>
            <a:off x="4000496" y="1928802"/>
            <a:ext cx="4500594" cy="1211998"/>
          </a:xfrm>
          <a:prstGeom prst="rect">
            <a:avLst/>
          </a:prstGeom>
          <a:noFill/>
          <a:ln w="9525" algn="ctr">
            <a:noFill/>
            <a:miter lim="800000"/>
            <a:headEnd/>
            <a:tailEnd type="none" w="med" len="lg"/>
          </a:ln>
        </p:spPr>
        <p:txBody>
          <a:bodyPr wrap="square">
            <a:spAutoFit/>
          </a:bodyPr>
          <a:lstStyle/>
          <a:p>
            <a:pPr algn="l">
              <a:lnSpc>
                <a:spcPts val="2800"/>
              </a:lnSpc>
              <a:spcBef>
                <a:spcPts val="600"/>
              </a:spcBef>
            </a:pPr>
            <a:r>
              <a:rPr lang="zh-CN" altLang="en-US" sz="2000">
                <a:solidFill>
                  <a:srgbClr val="0000FF"/>
                </a:solidFill>
                <a:latin typeface="Consolas" pitchFamily="49" charset="0"/>
                <a:ea typeface="楷体" pitchFamily="49" charset="-122"/>
                <a:cs typeface="Consolas" pitchFamily="49" charset="0"/>
              </a:rPr>
              <a:t>类似于离散数学中的等价类问题：</a:t>
            </a:r>
          </a:p>
          <a:p>
            <a:pPr algn="l">
              <a:lnSpc>
                <a:spcPts val="2800"/>
              </a:lnSpc>
              <a:spcBef>
                <a:spcPts val="600"/>
              </a:spcBef>
            </a:pPr>
            <a:r>
              <a:rPr lang="zh-CN" altLang="en-US" sz="2000">
                <a:solidFill>
                  <a:srgbClr val="0000FF"/>
                </a:solidFill>
                <a:latin typeface="Consolas" pitchFamily="49" charset="0"/>
                <a:ea typeface="楷体" pitchFamily="49" charset="-122"/>
                <a:cs typeface="Consolas" pitchFamily="49" charset="0"/>
              </a:rPr>
              <a:t>给定一个集合</a:t>
            </a:r>
            <a:r>
              <a:rPr lang="en-US" altLang="zh-CN" sz="2000">
                <a:solidFill>
                  <a:srgbClr val="0000FF"/>
                </a:solidFill>
                <a:latin typeface="Consolas" pitchFamily="49" charset="0"/>
                <a:ea typeface="楷体" pitchFamily="49" charset="-122"/>
                <a:cs typeface="Consolas" pitchFamily="49" charset="0"/>
              </a:rPr>
              <a:t>U</a:t>
            </a:r>
            <a:r>
              <a:rPr lang="zh-CN" altLang="en-US" sz="2000">
                <a:solidFill>
                  <a:srgbClr val="0000FF"/>
                </a:solidFill>
                <a:latin typeface="Consolas" pitchFamily="49" charset="0"/>
                <a:ea typeface="楷体" pitchFamily="49" charset="-122"/>
                <a:cs typeface="Consolas" pitchFamily="49" charset="0"/>
              </a:rPr>
              <a:t>和一个等价关系</a:t>
            </a:r>
            <a:r>
              <a:rPr lang="en-US" altLang="zh-CN" sz="2000" smtClean="0">
                <a:solidFill>
                  <a:srgbClr val="0000FF"/>
                </a:solidFill>
                <a:latin typeface="Consolas" pitchFamily="49" charset="0"/>
                <a:ea typeface="楷体" pitchFamily="49" charset="-122"/>
                <a:cs typeface="Consolas" pitchFamily="49" charset="0"/>
              </a:rPr>
              <a:t>R</a:t>
            </a:r>
            <a:r>
              <a:rPr lang="zh-CN" altLang="en-US" sz="2000" smtClean="0">
                <a:solidFill>
                  <a:srgbClr val="0000FF"/>
                </a:solidFill>
                <a:latin typeface="Consolas" pitchFamily="49" charset="0"/>
                <a:ea typeface="楷体" pitchFamily="49" charset="-122"/>
                <a:cs typeface="Consolas" pitchFamily="49" charset="0"/>
              </a:rPr>
              <a:t>，产生</a:t>
            </a:r>
            <a:r>
              <a:rPr lang="zh-CN" altLang="en-US" sz="2000">
                <a:solidFill>
                  <a:srgbClr val="0000FF"/>
                </a:solidFill>
                <a:latin typeface="Consolas" pitchFamily="49" charset="0"/>
                <a:ea typeface="楷体" pitchFamily="49" charset="-122"/>
                <a:cs typeface="Consolas" pitchFamily="49" charset="0"/>
              </a:rPr>
              <a:t>具有等价关系的等价类。</a:t>
            </a:r>
          </a:p>
        </p:txBody>
      </p:sp>
      <p:sp>
        <p:nvSpPr>
          <p:cNvPr id="6" name="灯片编号占位符 5"/>
          <p:cNvSpPr>
            <a:spLocks noGrp="1"/>
          </p:cNvSpPr>
          <p:nvPr>
            <p:ph type="sldNum" sz="quarter" idx="12"/>
          </p:nvPr>
        </p:nvSpPr>
        <p:spPr/>
        <p:txBody>
          <a:bodyPr/>
          <a:lstStyle/>
          <a:p>
            <a:fld id="{67864EE2-EAB3-4814-A7EB-820BD7610F1E}" type="slidenum">
              <a:rPr lang="en-US" altLang="zh-CN" smtClean="0"/>
              <a:pPr/>
              <a:t>50</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ext Box 4"/>
          <p:cNvSpPr txBox="1">
            <a:spLocks noChangeArrowheads="1"/>
          </p:cNvSpPr>
          <p:nvPr/>
        </p:nvSpPr>
        <p:spPr bwMode="auto">
          <a:xfrm>
            <a:off x="2214546" y="285728"/>
            <a:ext cx="3317869" cy="40011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00000"/>
              </a:lnSpc>
              <a:spcBef>
                <a:spcPct val="50000"/>
              </a:spcBef>
            </a:pPr>
            <a:r>
              <a:rPr lang="zh-CN" altLang="en-US" sz="2000" smtClean="0">
                <a:solidFill>
                  <a:srgbClr val="FF0000"/>
                </a:solidFill>
                <a:latin typeface="Consolas" pitchFamily="49" charset="0"/>
                <a:ea typeface="仿宋" pitchFamily="49" charset="-122"/>
                <a:cs typeface="Consolas" pitchFamily="49" charset="0"/>
              </a:rPr>
              <a:t>采用</a:t>
            </a:r>
            <a:r>
              <a:rPr lang="zh-CN" altLang="en-US" sz="2000">
                <a:solidFill>
                  <a:srgbClr val="FF0000"/>
                </a:solidFill>
                <a:latin typeface="Consolas" pitchFamily="49" charset="0"/>
                <a:ea typeface="仿宋" pitchFamily="49" charset="-122"/>
                <a:cs typeface="Consolas" pitchFamily="49" charset="0"/>
              </a:rPr>
              <a:t>集合的思路求解</a:t>
            </a:r>
          </a:p>
        </p:txBody>
      </p:sp>
      <p:sp>
        <p:nvSpPr>
          <p:cNvPr id="4" name="矩形 3"/>
          <p:cNvSpPr/>
          <p:nvPr/>
        </p:nvSpPr>
        <p:spPr>
          <a:xfrm>
            <a:off x="714348" y="857232"/>
            <a:ext cx="150019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FF0000"/>
                </a:solidFill>
                <a:latin typeface="Consolas" pitchFamily="49" charset="0"/>
                <a:ea typeface="仿宋" pitchFamily="49" charset="-122"/>
                <a:cs typeface="Consolas" pitchFamily="49" charset="0"/>
              </a:rPr>
              <a:t>输入关系</a:t>
            </a:r>
            <a:endParaRPr lang="zh-CN" altLang="en-US" sz="1800">
              <a:solidFill>
                <a:srgbClr val="FF0000"/>
              </a:solidFill>
              <a:latin typeface="Consolas" pitchFamily="49" charset="0"/>
              <a:ea typeface="仿宋" pitchFamily="49" charset="-122"/>
              <a:cs typeface="Consolas" pitchFamily="49" charset="0"/>
            </a:endParaRPr>
          </a:p>
        </p:txBody>
      </p:sp>
      <p:sp>
        <p:nvSpPr>
          <p:cNvPr id="5" name="矩形 4"/>
          <p:cNvSpPr/>
          <p:nvPr/>
        </p:nvSpPr>
        <p:spPr>
          <a:xfrm>
            <a:off x="2357422" y="857232"/>
            <a:ext cx="621510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FF0000"/>
                </a:solidFill>
                <a:latin typeface="Consolas" pitchFamily="49" charset="0"/>
                <a:ea typeface="仿宋" pitchFamily="49" charset="-122"/>
                <a:cs typeface="Consolas" pitchFamily="49" charset="0"/>
              </a:rPr>
              <a:t>分离集合</a:t>
            </a:r>
            <a:endParaRPr lang="zh-CN" altLang="en-US" sz="1800">
              <a:solidFill>
                <a:srgbClr val="FF0000"/>
              </a:solidFill>
              <a:latin typeface="Consolas" pitchFamily="49" charset="0"/>
              <a:ea typeface="仿宋" pitchFamily="49" charset="-122"/>
              <a:cs typeface="Consolas" pitchFamily="49" charset="0"/>
            </a:endParaRPr>
          </a:p>
        </p:txBody>
      </p:sp>
      <p:sp>
        <p:nvSpPr>
          <p:cNvPr id="6" name="矩形 5"/>
          <p:cNvSpPr/>
          <p:nvPr/>
        </p:nvSpPr>
        <p:spPr>
          <a:xfrm>
            <a:off x="714348" y="1357298"/>
            <a:ext cx="150019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0000FF"/>
                </a:solidFill>
                <a:latin typeface="Consolas" pitchFamily="49" charset="0"/>
                <a:ea typeface="仿宋" pitchFamily="49" charset="-122"/>
                <a:cs typeface="Consolas" pitchFamily="49" charset="0"/>
              </a:rPr>
              <a:t>初始状态</a:t>
            </a:r>
            <a:endParaRPr lang="zh-CN" altLang="en-US" sz="1800">
              <a:solidFill>
                <a:srgbClr val="0000FF"/>
              </a:solidFill>
              <a:latin typeface="Consolas" pitchFamily="49" charset="0"/>
              <a:ea typeface="仿宋" pitchFamily="49" charset="-122"/>
              <a:cs typeface="Consolas" pitchFamily="49" charset="0"/>
            </a:endParaRPr>
          </a:p>
        </p:txBody>
      </p:sp>
      <p:sp>
        <p:nvSpPr>
          <p:cNvPr id="7" name="矩形 6"/>
          <p:cNvSpPr/>
          <p:nvPr/>
        </p:nvSpPr>
        <p:spPr>
          <a:xfrm>
            <a:off x="2357422" y="1357298"/>
            <a:ext cx="621510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{10}</a:t>
            </a:r>
            <a:endParaRPr lang="zh-CN" altLang="en-US" sz="1800">
              <a:solidFill>
                <a:srgbClr val="0000FF"/>
              </a:solidFill>
              <a:latin typeface="Consolas" pitchFamily="49" charset="0"/>
              <a:ea typeface="仿宋" pitchFamily="49" charset="-122"/>
              <a:cs typeface="Consolas" pitchFamily="49" charset="0"/>
            </a:endParaRPr>
          </a:p>
        </p:txBody>
      </p:sp>
      <p:sp>
        <p:nvSpPr>
          <p:cNvPr id="8" name="矩形 7"/>
          <p:cNvSpPr/>
          <p:nvPr/>
        </p:nvSpPr>
        <p:spPr>
          <a:xfrm>
            <a:off x="714348" y="1928802"/>
            <a:ext cx="150019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
        <p:nvSpPr>
          <p:cNvPr id="9" name="矩形 8"/>
          <p:cNvSpPr/>
          <p:nvPr/>
        </p:nvSpPr>
        <p:spPr>
          <a:xfrm>
            <a:off x="2357422" y="1928802"/>
            <a:ext cx="621510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{10}</a:t>
            </a:r>
            <a:endParaRPr lang="zh-CN" altLang="en-US" sz="1800">
              <a:solidFill>
                <a:srgbClr val="0000FF"/>
              </a:solidFill>
              <a:latin typeface="Consolas" pitchFamily="49" charset="0"/>
              <a:ea typeface="仿宋" pitchFamily="49" charset="-122"/>
              <a:cs typeface="Consolas" pitchFamily="49" charset="0"/>
            </a:endParaRPr>
          </a:p>
        </p:txBody>
      </p:sp>
      <p:sp>
        <p:nvSpPr>
          <p:cNvPr id="10" name="矩形 9"/>
          <p:cNvSpPr/>
          <p:nvPr/>
        </p:nvSpPr>
        <p:spPr>
          <a:xfrm>
            <a:off x="714348" y="2500306"/>
            <a:ext cx="150019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
        <p:nvSpPr>
          <p:cNvPr id="11" name="矩形 10"/>
          <p:cNvSpPr/>
          <p:nvPr/>
        </p:nvSpPr>
        <p:spPr>
          <a:xfrm>
            <a:off x="2357422" y="2500306"/>
            <a:ext cx="621510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{10}</a:t>
            </a:r>
            <a:endParaRPr lang="zh-CN" altLang="en-US" sz="1800">
              <a:solidFill>
                <a:srgbClr val="0000FF"/>
              </a:solidFill>
              <a:latin typeface="Consolas" pitchFamily="49" charset="0"/>
              <a:ea typeface="仿宋" pitchFamily="49" charset="-122"/>
              <a:cs typeface="Consolas" pitchFamily="49" charset="0"/>
            </a:endParaRPr>
          </a:p>
        </p:txBody>
      </p:sp>
      <p:sp>
        <p:nvSpPr>
          <p:cNvPr id="12" name="矩形 11"/>
          <p:cNvSpPr/>
          <p:nvPr/>
        </p:nvSpPr>
        <p:spPr>
          <a:xfrm>
            <a:off x="714348" y="3071810"/>
            <a:ext cx="150019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
        <p:nvSpPr>
          <p:cNvPr id="13" name="矩形 12"/>
          <p:cNvSpPr/>
          <p:nvPr/>
        </p:nvSpPr>
        <p:spPr>
          <a:xfrm>
            <a:off x="2357422" y="3071810"/>
            <a:ext cx="621510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{10}</a:t>
            </a:r>
            <a:endParaRPr lang="zh-CN" altLang="en-US" sz="1800">
              <a:solidFill>
                <a:srgbClr val="0000FF"/>
              </a:solidFill>
              <a:latin typeface="Consolas" pitchFamily="49" charset="0"/>
              <a:ea typeface="仿宋" pitchFamily="49" charset="-122"/>
              <a:cs typeface="Consolas" pitchFamily="49" charset="0"/>
            </a:endParaRPr>
          </a:p>
        </p:txBody>
      </p:sp>
      <p:sp>
        <p:nvSpPr>
          <p:cNvPr id="14" name="矩形 13"/>
          <p:cNvSpPr/>
          <p:nvPr/>
        </p:nvSpPr>
        <p:spPr>
          <a:xfrm>
            <a:off x="714348" y="3643314"/>
            <a:ext cx="150019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
        <p:nvSpPr>
          <p:cNvPr id="15" name="矩形 14"/>
          <p:cNvSpPr/>
          <p:nvPr/>
        </p:nvSpPr>
        <p:spPr>
          <a:xfrm>
            <a:off x="2357422" y="3643314"/>
            <a:ext cx="621510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{10}</a:t>
            </a:r>
            <a:endParaRPr lang="zh-CN" altLang="en-US" sz="1800">
              <a:solidFill>
                <a:srgbClr val="0000FF"/>
              </a:solidFill>
              <a:latin typeface="Consolas" pitchFamily="49" charset="0"/>
              <a:ea typeface="仿宋" pitchFamily="49" charset="-122"/>
              <a:cs typeface="Consolas" pitchFamily="49" charset="0"/>
            </a:endParaRPr>
          </a:p>
        </p:txBody>
      </p:sp>
      <p:sp>
        <p:nvSpPr>
          <p:cNvPr id="16" name="矩形 15"/>
          <p:cNvSpPr/>
          <p:nvPr/>
        </p:nvSpPr>
        <p:spPr>
          <a:xfrm>
            <a:off x="714348" y="4214818"/>
            <a:ext cx="150019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
        <p:nvSpPr>
          <p:cNvPr id="17" name="矩形 16"/>
          <p:cNvSpPr/>
          <p:nvPr/>
        </p:nvSpPr>
        <p:spPr>
          <a:xfrm>
            <a:off x="2357422" y="4214818"/>
            <a:ext cx="621510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{10}</a:t>
            </a:r>
            <a:endParaRPr lang="zh-CN" altLang="en-US" sz="1800">
              <a:solidFill>
                <a:srgbClr val="0000FF"/>
              </a:solidFill>
              <a:latin typeface="Consolas" pitchFamily="49" charset="0"/>
              <a:ea typeface="仿宋" pitchFamily="49" charset="-122"/>
              <a:cs typeface="Consolas" pitchFamily="49" charset="0"/>
            </a:endParaRPr>
          </a:p>
        </p:txBody>
      </p:sp>
      <p:sp>
        <p:nvSpPr>
          <p:cNvPr id="18" name="矩形 17"/>
          <p:cNvSpPr/>
          <p:nvPr/>
        </p:nvSpPr>
        <p:spPr>
          <a:xfrm>
            <a:off x="714348" y="4826228"/>
            <a:ext cx="150019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
        <p:nvSpPr>
          <p:cNvPr id="19" name="矩形 18"/>
          <p:cNvSpPr/>
          <p:nvPr/>
        </p:nvSpPr>
        <p:spPr>
          <a:xfrm>
            <a:off x="2357422" y="4826228"/>
            <a:ext cx="621510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{10}</a:t>
            </a:r>
            <a:endParaRPr lang="zh-CN" altLang="en-US" sz="1800">
              <a:solidFill>
                <a:srgbClr val="0000FF"/>
              </a:solidFill>
              <a:latin typeface="Consolas" pitchFamily="49" charset="0"/>
              <a:ea typeface="仿宋" pitchFamily="49" charset="-122"/>
              <a:cs typeface="Consolas" pitchFamily="49" charset="0"/>
            </a:endParaRPr>
          </a:p>
        </p:txBody>
      </p:sp>
      <p:sp>
        <p:nvSpPr>
          <p:cNvPr id="20" name="矩形 19"/>
          <p:cNvSpPr/>
          <p:nvPr/>
        </p:nvSpPr>
        <p:spPr>
          <a:xfrm>
            <a:off x="714348" y="5429264"/>
            <a:ext cx="150019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
        <p:nvSpPr>
          <p:cNvPr id="21" name="矩形 20"/>
          <p:cNvSpPr/>
          <p:nvPr/>
        </p:nvSpPr>
        <p:spPr>
          <a:xfrm>
            <a:off x="2357422" y="5429264"/>
            <a:ext cx="621510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{10}</a:t>
            </a:r>
            <a:endParaRPr lang="zh-CN" altLang="en-US" sz="1800">
              <a:solidFill>
                <a:srgbClr val="0000FF"/>
              </a:solidFill>
              <a:latin typeface="Consolas" pitchFamily="49" charset="0"/>
              <a:ea typeface="仿宋" pitchFamily="49" charset="-122"/>
              <a:cs typeface="Consolas" pitchFamily="49" charset="0"/>
            </a:endParaRPr>
          </a:p>
        </p:txBody>
      </p:sp>
      <p:sp>
        <p:nvSpPr>
          <p:cNvPr id="23" name="灯片编号占位符 22"/>
          <p:cNvSpPr>
            <a:spLocks noGrp="1"/>
          </p:cNvSpPr>
          <p:nvPr>
            <p:ph type="sldNum" sz="quarter" idx="12"/>
          </p:nvPr>
        </p:nvSpPr>
        <p:spPr/>
        <p:txBody>
          <a:bodyPr/>
          <a:lstStyle/>
          <a:p>
            <a:fld id="{67864EE2-EAB3-4814-A7EB-820BD7610F1E}" type="slidenum">
              <a:rPr lang="en-US" altLang="zh-CN" smtClean="0"/>
              <a:pPr/>
              <a:t>51</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7" presetClass="entr" presetSubtype="0" fill="hold" grpId="0" nodeType="clickEffect">
                                  <p:stCondLst>
                                    <p:cond delay="0"/>
                                  </p:stCondLst>
                                  <p:iterate type="lt">
                                    <p:tmPct val="50000"/>
                                  </p:iterate>
                                  <p:childTnLst>
                                    <p:set>
                                      <p:cBhvr>
                                        <p:cTn id="10" dur="1" fill="hold">
                                          <p:stCondLst>
                                            <p:cond delay="0"/>
                                          </p:stCondLst>
                                        </p:cTn>
                                        <p:tgtEl>
                                          <p:spTgt spid="9"/>
                                        </p:tgtEl>
                                        <p:attrNameLst>
                                          <p:attrName>style.visibility</p:attrName>
                                        </p:attrNameLst>
                                      </p:cBhvr>
                                      <p:to>
                                        <p:strVal val="visible"/>
                                      </p:to>
                                    </p:set>
                                    <p:anim calcmode="discrete" valueType="clr">
                                      <p:cBhvr override="childStyle">
                                        <p:cTn id="11" dur="80"/>
                                        <p:tgtEl>
                                          <p:spTgt spid="9"/>
                                        </p:tgtEl>
                                        <p:attrNameLst>
                                          <p:attrName>style.color</p:attrName>
                                        </p:attrNameLst>
                                      </p:cBhvr>
                                      <p:tavLst>
                                        <p:tav tm="0">
                                          <p:val>
                                            <p:clrVal>
                                              <a:schemeClr val="accent2"/>
                                            </p:clrVal>
                                          </p:val>
                                        </p:tav>
                                        <p:tav tm="50000">
                                          <p:val>
                                            <p:clrVal>
                                              <a:schemeClr val="hlink"/>
                                            </p:clrVal>
                                          </p:val>
                                        </p:tav>
                                      </p:tavLst>
                                    </p:anim>
                                    <p:anim calcmode="discrete" valueType="clr">
                                      <p:cBhvr>
                                        <p:cTn id="12" dur="80"/>
                                        <p:tgtEl>
                                          <p:spTgt spid="9"/>
                                        </p:tgtEl>
                                        <p:attrNameLst>
                                          <p:attrName>fillcolor</p:attrName>
                                        </p:attrNameLst>
                                      </p:cBhvr>
                                      <p:tavLst>
                                        <p:tav tm="0">
                                          <p:val>
                                            <p:clrVal>
                                              <a:schemeClr val="accent2"/>
                                            </p:clrVal>
                                          </p:val>
                                        </p:tav>
                                        <p:tav tm="50000">
                                          <p:val>
                                            <p:clrVal>
                                              <a:schemeClr val="hlink"/>
                                            </p:clrVal>
                                          </p:val>
                                        </p:tav>
                                      </p:tavLst>
                                    </p:anim>
                                    <p:set>
                                      <p:cBhvr>
                                        <p:cTn id="13" dur="80"/>
                                        <p:tgtEl>
                                          <p:spTgt spid="9"/>
                                        </p:tgtEl>
                                        <p:attrNameLst>
                                          <p:attrName>fill.type</p:attrName>
                                        </p:attrNameLst>
                                      </p:cBhvr>
                                      <p:to>
                                        <p:strVal val="solid"/>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7" presetClass="entr" presetSubtype="0" fill="hold" grpId="0" nodeType="clickEffect">
                                  <p:stCondLst>
                                    <p:cond delay="0"/>
                                  </p:stCondLst>
                                  <p:iterate type="lt">
                                    <p:tmPct val="50000"/>
                                  </p:iterate>
                                  <p:childTnLst>
                                    <p:set>
                                      <p:cBhvr>
                                        <p:cTn id="21" dur="1" fill="hold">
                                          <p:stCondLst>
                                            <p:cond delay="0"/>
                                          </p:stCondLst>
                                        </p:cTn>
                                        <p:tgtEl>
                                          <p:spTgt spid="11"/>
                                        </p:tgtEl>
                                        <p:attrNameLst>
                                          <p:attrName>style.visibility</p:attrName>
                                        </p:attrNameLst>
                                      </p:cBhvr>
                                      <p:to>
                                        <p:strVal val="visible"/>
                                      </p:to>
                                    </p:set>
                                    <p:anim calcmode="discrete" valueType="clr">
                                      <p:cBhvr override="childStyle">
                                        <p:cTn id="22" dur="80"/>
                                        <p:tgtEl>
                                          <p:spTgt spid="11"/>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11"/>
                                        </p:tgtEl>
                                        <p:attrNameLst>
                                          <p:attrName>fillcolor</p:attrName>
                                        </p:attrNameLst>
                                      </p:cBhvr>
                                      <p:tavLst>
                                        <p:tav tm="0">
                                          <p:val>
                                            <p:clrVal>
                                              <a:schemeClr val="accent2"/>
                                            </p:clrVal>
                                          </p:val>
                                        </p:tav>
                                        <p:tav tm="50000">
                                          <p:val>
                                            <p:clrVal>
                                              <a:schemeClr val="hlink"/>
                                            </p:clrVal>
                                          </p:val>
                                        </p:tav>
                                      </p:tavLst>
                                    </p:anim>
                                    <p:set>
                                      <p:cBhvr>
                                        <p:cTn id="24" dur="80"/>
                                        <p:tgtEl>
                                          <p:spTgt spid="11"/>
                                        </p:tgtEl>
                                        <p:attrNameLst>
                                          <p:attrName>fill.type</p:attrName>
                                        </p:attrNameLst>
                                      </p:cBhvr>
                                      <p:to>
                                        <p:strVal val="solid"/>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grpId="0" nodeType="clickEffect">
                                  <p:stCondLst>
                                    <p:cond delay="0"/>
                                  </p:stCondLst>
                                  <p:iterate type="lt">
                                    <p:tmPct val="50000"/>
                                  </p:iterate>
                                  <p:childTnLst>
                                    <p:set>
                                      <p:cBhvr>
                                        <p:cTn id="32" dur="1" fill="hold">
                                          <p:stCondLst>
                                            <p:cond delay="0"/>
                                          </p:stCondLst>
                                        </p:cTn>
                                        <p:tgtEl>
                                          <p:spTgt spid="13"/>
                                        </p:tgtEl>
                                        <p:attrNameLst>
                                          <p:attrName>style.visibility</p:attrName>
                                        </p:attrNameLst>
                                      </p:cBhvr>
                                      <p:to>
                                        <p:strVal val="visible"/>
                                      </p:to>
                                    </p:set>
                                    <p:anim calcmode="discrete" valueType="clr">
                                      <p:cBhvr override="childStyle">
                                        <p:cTn id="33" dur="80"/>
                                        <p:tgtEl>
                                          <p:spTgt spid="13"/>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13"/>
                                        </p:tgtEl>
                                        <p:attrNameLst>
                                          <p:attrName>fillcolor</p:attrName>
                                        </p:attrNameLst>
                                      </p:cBhvr>
                                      <p:tavLst>
                                        <p:tav tm="0">
                                          <p:val>
                                            <p:clrVal>
                                              <a:schemeClr val="accent2"/>
                                            </p:clrVal>
                                          </p:val>
                                        </p:tav>
                                        <p:tav tm="50000">
                                          <p:val>
                                            <p:clrVal>
                                              <a:schemeClr val="hlink"/>
                                            </p:clrVal>
                                          </p:val>
                                        </p:tav>
                                      </p:tavLst>
                                    </p:anim>
                                    <p:set>
                                      <p:cBhvr>
                                        <p:cTn id="35" dur="80"/>
                                        <p:tgtEl>
                                          <p:spTgt spid="13"/>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7" presetClass="entr" presetSubtype="0" fill="hold" grpId="0" nodeType="clickEffect">
                                  <p:stCondLst>
                                    <p:cond delay="0"/>
                                  </p:stCondLst>
                                  <p:iterate type="lt">
                                    <p:tmPct val="50000"/>
                                  </p:iterate>
                                  <p:childTnLst>
                                    <p:set>
                                      <p:cBhvr>
                                        <p:cTn id="43" dur="1" fill="hold">
                                          <p:stCondLst>
                                            <p:cond delay="0"/>
                                          </p:stCondLst>
                                        </p:cTn>
                                        <p:tgtEl>
                                          <p:spTgt spid="15"/>
                                        </p:tgtEl>
                                        <p:attrNameLst>
                                          <p:attrName>style.visibility</p:attrName>
                                        </p:attrNameLst>
                                      </p:cBhvr>
                                      <p:to>
                                        <p:strVal val="visible"/>
                                      </p:to>
                                    </p:set>
                                    <p:anim calcmode="discrete" valueType="clr">
                                      <p:cBhvr override="childStyle">
                                        <p:cTn id="44" dur="80"/>
                                        <p:tgtEl>
                                          <p:spTgt spid="15"/>
                                        </p:tgtEl>
                                        <p:attrNameLst>
                                          <p:attrName>style.color</p:attrName>
                                        </p:attrNameLst>
                                      </p:cBhvr>
                                      <p:tavLst>
                                        <p:tav tm="0">
                                          <p:val>
                                            <p:clrVal>
                                              <a:schemeClr val="accent2"/>
                                            </p:clrVal>
                                          </p:val>
                                        </p:tav>
                                        <p:tav tm="50000">
                                          <p:val>
                                            <p:clrVal>
                                              <a:schemeClr val="hlink"/>
                                            </p:clrVal>
                                          </p:val>
                                        </p:tav>
                                      </p:tavLst>
                                    </p:anim>
                                    <p:anim calcmode="discrete" valueType="clr">
                                      <p:cBhvr>
                                        <p:cTn id="45" dur="80"/>
                                        <p:tgtEl>
                                          <p:spTgt spid="15"/>
                                        </p:tgtEl>
                                        <p:attrNameLst>
                                          <p:attrName>fillcolor</p:attrName>
                                        </p:attrNameLst>
                                      </p:cBhvr>
                                      <p:tavLst>
                                        <p:tav tm="0">
                                          <p:val>
                                            <p:clrVal>
                                              <a:schemeClr val="accent2"/>
                                            </p:clrVal>
                                          </p:val>
                                        </p:tav>
                                        <p:tav tm="50000">
                                          <p:val>
                                            <p:clrVal>
                                              <a:schemeClr val="hlink"/>
                                            </p:clrVal>
                                          </p:val>
                                        </p:tav>
                                      </p:tavLst>
                                    </p:anim>
                                    <p:set>
                                      <p:cBhvr>
                                        <p:cTn id="46" dur="80"/>
                                        <p:tgtEl>
                                          <p:spTgt spid="15"/>
                                        </p:tgtEl>
                                        <p:attrNameLst>
                                          <p:attrName>fill.type</p:attrName>
                                        </p:attrNameLst>
                                      </p:cBhvr>
                                      <p:to>
                                        <p:strVal val="solid"/>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7" presetClass="entr" presetSubtype="0" fill="hold" grpId="0" nodeType="clickEffect">
                                  <p:stCondLst>
                                    <p:cond delay="0"/>
                                  </p:stCondLst>
                                  <p:iterate type="lt">
                                    <p:tmPct val="50000"/>
                                  </p:iterate>
                                  <p:childTnLst>
                                    <p:set>
                                      <p:cBhvr>
                                        <p:cTn id="54" dur="1" fill="hold">
                                          <p:stCondLst>
                                            <p:cond delay="0"/>
                                          </p:stCondLst>
                                        </p:cTn>
                                        <p:tgtEl>
                                          <p:spTgt spid="17"/>
                                        </p:tgtEl>
                                        <p:attrNameLst>
                                          <p:attrName>style.visibility</p:attrName>
                                        </p:attrNameLst>
                                      </p:cBhvr>
                                      <p:to>
                                        <p:strVal val="visible"/>
                                      </p:to>
                                    </p:set>
                                    <p:anim calcmode="discrete" valueType="clr">
                                      <p:cBhvr override="childStyle">
                                        <p:cTn id="55" dur="80"/>
                                        <p:tgtEl>
                                          <p:spTgt spid="17"/>
                                        </p:tgtEl>
                                        <p:attrNameLst>
                                          <p:attrName>style.color</p:attrName>
                                        </p:attrNameLst>
                                      </p:cBhvr>
                                      <p:tavLst>
                                        <p:tav tm="0">
                                          <p:val>
                                            <p:clrVal>
                                              <a:schemeClr val="accent2"/>
                                            </p:clrVal>
                                          </p:val>
                                        </p:tav>
                                        <p:tav tm="50000">
                                          <p:val>
                                            <p:clrVal>
                                              <a:schemeClr val="hlink"/>
                                            </p:clrVal>
                                          </p:val>
                                        </p:tav>
                                      </p:tavLst>
                                    </p:anim>
                                    <p:anim calcmode="discrete" valueType="clr">
                                      <p:cBhvr>
                                        <p:cTn id="56" dur="80"/>
                                        <p:tgtEl>
                                          <p:spTgt spid="17"/>
                                        </p:tgtEl>
                                        <p:attrNameLst>
                                          <p:attrName>fillcolor</p:attrName>
                                        </p:attrNameLst>
                                      </p:cBhvr>
                                      <p:tavLst>
                                        <p:tav tm="0">
                                          <p:val>
                                            <p:clrVal>
                                              <a:schemeClr val="accent2"/>
                                            </p:clrVal>
                                          </p:val>
                                        </p:tav>
                                        <p:tav tm="50000">
                                          <p:val>
                                            <p:clrVal>
                                              <a:schemeClr val="hlink"/>
                                            </p:clrVal>
                                          </p:val>
                                        </p:tav>
                                      </p:tavLst>
                                    </p:anim>
                                    <p:set>
                                      <p:cBhvr>
                                        <p:cTn id="57" dur="80"/>
                                        <p:tgtEl>
                                          <p:spTgt spid="17"/>
                                        </p:tgtEl>
                                        <p:attrNameLst>
                                          <p:attrName>fill.type</p:attrName>
                                        </p:attrNameLst>
                                      </p:cBhvr>
                                      <p:to>
                                        <p:strVal val="solid"/>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7" presetClass="entr" presetSubtype="0" fill="hold" grpId="0" nodeType="clickEffect">
                                  <p:stCondLst>
                                    <p:cond delay="0"/>
                                  </p:stCondLst>
                                  <p:iterate type="lt">
                                    <p:tmPct val="50000"/>
                                  </p:iterate>
                                  <p:childTnLst>
                                    <p:set>
                                      <p:cBhvr>
                                        <p:cTn id="65" dur="1" fill="hold">
                                          <p:stCondLst>
                                            <p:cond delay="0"/>
                                          </p:stCondLst>
                                        </p:cTn>
                                        <p:tgtEl>
                                          <p:spTgt spid="19"/>
                                        </p:tgtEl>
                                        <p:attrNameLst>
                                          <p:attrName>style.visibility</p:attrName>
                                        </p:attrNameLst>
                                      </p:cBhvr>
                                      <p:to>
                                        <p:strVal val="visible"/>
                                      </p:to>
                                    </p:set>
                                    <p:anim calcmode="discrete" valueType="clr">
                                      <p:cBhvr override="childStyle">
                                        <p:cTn id="66" dur="80"/>
                                        <p:tgtEl>
                                          <p:spTgt spid="19"/>
                                        </p:tgtEl>
                                        <p:attrNameLst>
                                          <p:attrName>style.color</p:attrName>
                                        </p:attrNameLst>
                                      </p:cBhvr>
                                      <p:tavLst>
                                        <p:tav tm="0">
                                          <p:val>
                                            <p:clrVal>
                                              <a:schemeClr val="accent2"/>
                                            </p:clrVal>
                                          </p:val>
                                        </p:tav>
                                        <p:tav tm="50000">
                                          <p:val>
                                            <p:clrVal>
                                              <a:schemeClr val="hlink"/>
                                            </p:clrVal>
                                          </p:val>
                                        </p:tav>
                                      </p:tavLst>
                                    </p:anim>
                                    <p:anim calcmode="discrete" valueType="clr">
                                      <p:cBhvr>
                                        <p:cTn id="67" dur="80"/>
                                        <p:tgtEl>
                                          <p:spTgt spid="19"/>
                                        </p:tgtEl>
                                        <p:attrNameLst>
                                          <p:attrName>fillcolor</p:attrName>
                                        </p:attrNameLst>
                                      </p:cBhvr>
                                      <p:tavLst>
                                        <p:tav tm="0">
                                          <p:val>
                                            <p:clrVal>
                                              <a:schemeClr val="accent2"/>
                                            </p:clrVal>
                                          </p:val>
                                        </p:tav>
                                        <p:tav tm="50000">
                                          <p:val>
                                            <p:clrVal>
                                              <a:schemeClr val="hlink"/>
                                            </p:clrVal>
                                          </p:val>
                                        </p:tav>
                                      </p:tavLst>
                                    </p:anim>
                                    <p:set>
                                      <p:cBhvr>
                                        <p:cTn id="68" dur="80"/>
                                        <p:tgtEl>
                                          <p:spTgt spid="19"/>
                                        </p:tgtEl>
                                        <p:attrNameLst>
                                          <p:attrName>fill.type</p:attrName>
                                        </p:attrNameLst>
                                      </p:cBhvr>
                                      <p:to>
                                        <p:strVal val="solid"/>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7" presetClass="entr" presetSubtype="0" fill="hold" grpId="0" nodeType="clickEffect">
                                  <p:stCondLst>
                                    <p:cond delay="0"/>
                                  </p:stCondLst>
                                  <p:iterate type="lt">
                                    <p:tmPct val="50000"/>
                                  </p:iterate>
                                  <p:childTnLst>
                                    <p:set>
                                      <p:cBhvr>
                                        <p:cTn id="76" dur="1" fill="hold">
                                          <p:stCondLst>
                                            <p:cond delay="0"/>
                                          </p:stCondLst>
                                        </p:cTn>
                                        <p:tgtEl>
                                          <p:spTgt spid="21"/>
                                        </p:tgtEl>
                                        <p:attrNameLst>
                                          <p:attrName>style.visibility</p:attrName>
                                        </p:attrNameLst>
                                      </p:cBhvr>
                                      <p:to>
                                        <p:strVal val="visible"/>
                                      </p:to>
                                    </p:set>
                                    <p:anim calcmode="discrete" valueType="clr">
                                      <p:cBhvr override="childStyle">
                                        <p:cTn id="77" dur="80"/>
                                        <p:tgtEl>
                                          <p:spTgt spid="21"/>
                                        </p:tgtEl>
                                        <p:attrNameLst>
                                          <p:attrName>style.color</p:attrName>
                                        </p:attrNameLst>
                                      </p:cBhvr>
                                      <p:tavLst>
                                        <p:tav tm="0">
                                          <p:val>
                                            <p:clrVal>
                                              <a:schemeClr val="accent2"/>
                                            </p:clrVal>
                                          </p:val>
                                        </p:tav>
                                        <p:tav tm="50000">
                                          <p:val>
                                            <p:clrVal>
                                              <a:schemeClr val="hlink"/>
                                            </p:clrVal>
                                          </p:val>
                                        </p:tav>
                                      </p:tavLst>
                                    </p:anim>
                                    <p:anim calcmode="discrete" valueType="clr">
                                      <p:cBhvr>
                                        <p:cTn id="78" dur="80"/>
                                        <p:tgtEl>
                                          <p:spTgt spid="21"/>
                                        </p:tgtEl>
                                        <p:attrNameLst>
                                          <p:attrName>fillcolor</p:attrName>
                                        </p:attrNameLst>
                                      </p:cBhvr>
                                      <p:tavLst>
                                        <p:tav tm="0">
                                          <p:val>
                                            <p:clrVal>
                                              <a:schemeClr val="accent2"/>
                                            </p:clrVal>
                                          </p:val>
                                        </p:tav>
                                        <p:tav tm="50000">
                                          <p:val>
                                            <p:clrVal>
                                              <a:schemeClr val="hlink"/>
                                            </p:clrVal>
                                          </p:val>
                                        </p:tav>
                                      </p:tavLst>
                                    </p:anim>
                                    <p:set>
                                      <p:cBhvr>
                                        <p:cTn id="79" dur="80"/>
                                        <p:tgtEl>
                                          <p:spTgt spid="2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928794" y="714356"/>
            <a:ext cx="5357850"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2</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3</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4}</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{5</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6</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7}</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{8</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9}</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{10}</a:t>
            </a:r>
            <a:endParaRPr lang="zh-CN" altLang="en-US" sz="2000">
              <a:solidFill>
                <a:srgbClr val="0000FF"/>
              </a:solidFill>
              <a:latin typeface="Consolas" pitchFamily="49" charset="0"/>
              <a:ea typeface="仿宋" pitchFamily="49" charset="-122"/>
              <a:cs typeface="Consolas" pitchFamily="49" charset="0"/>
            </a:endParaRPr>
          </a:p>
        </p:txBody>
      </p:sp>
      <p:sp>
        <p:nvSpPr>
          <p:cNvPr id="22" name="TextBox 21"/>
          <p:cNvSpPr txBox="1"/>
          <p:nvPr/>
        </p:nvSpPr>
        <p:spPr>
          <a:xfrm>
            <a:off x="1357290" y="2143116"/>
            <a:ext cx="5072098" cy="338554"/>
          </a:xfrm>
          <a:prstGeom prst="rect">
            <a:avLst/>
          </a:prstGeom>
          <a:noFill/>
        </p:spPr>
        <p:txBody>
          <a:bodyPr wrap="square" rtlCol="0">
            <a:spAutoFit/>
          </a:bodyPr>
          <a:lstStyle/>
          <a:p>
            <a:pPr algn="l">
              <a:defRPr/>
            </a:pPr>
            <a:r>
              <a:rPr lang="en-US" altLang="zh-CN" sz="2000" smtClean="0">
                <a:solidFill>
                  <a:srgbClr val="0000FF"/>
                </a:solidFill>
                <a:latin typeface="Consolas" pitchFamily="49" charset="0"/>
                <a:ea typeface="仿宋" pitchFamily="49" charset="-122"/>
                <a:cs typeface="Consolas" pitchFamily="49" charset="0"/>
              </a:rPr>
              <a:t>3 4  </a:t>
            </a:r>
            <a:r>
              <a:rPr lang="en-US" altLang="zh-CN" sz="2000" smtClean="0">
                <a:solidFill>
                  <a:srgbClr val="0000FF"/>
                </a:solidFill>
                <a:latin typeface="Consolas" pitchFamily="49" charset="0"/>
                <a:ea typeface="仿宋" pitchFamily="49" charset="-122"/>
                <a:cs typeface="Consolas" pitchFamily="49" charset="0"/>
                <a:sym typeface="Wingdings"/>
              </a:rPr>
              <a:t>  3</a:t>
            </a:r>
            <a:r>
              <a:rPr lang="zh-CN" altLang="en-US" sz="2000" smtClean="0">
                <a:solidFill>
                  <a:srgbClr val="0000FF"/>
                </a:solidFill>
                <a:latin typeface="Consolas" pitchFamily="49" charset="0"/>
                <a:ea typeface="仿宋" pitchFamily="49" charset="-122"/>
                <a:cs typeface="Consolas" pitchFamily="49" charset="0"/>
                <a:sym typeface="Wingdings"/>
              </a:rPr>
              <a:t>、</a:t>
            </a:r>
            <a:r>
              <a:rPr lang="en-US" altLang="zh-CN" sz="2000" smtClean="0">
                <a:solidFill>
                  <a:srgbClr val="0000FF"/>
                </a:solidFill>
                <a:latin typeface="Consolas" pitchFamily="49" charset="0"/>
                <a:ea typeface="仿宋" pitchFamily="49" charset="-122"/>
                <a:cs typeface="Consolas" pitchFamily="49" charset="0"/>
                <a:sym typeface="Wingdings"/>
              </a:rPr>
              <a:t>4</a:t>
            </a:r>
            <a:r>
              <a:rPr lang="zh-CN" altLang="en-US" sz="2000" smtClean="0">
                <a:solidFill>
                  <a:srgbClr val="0000FF"/>
                </a:solidFill>
                <a:latin typeface="Consolas" pitchFamily="49" charset="0"/>
                <a:ea typeface="仿宋" pitchFamily="49" charset="-122"/>
                <a:cs typeface="Consolas" pitchFamily="49" charset="0"/>
                <a:sym typeface="Wingdings"/>
              </a:rPr>
              <a:t>在同一个集合中  </a:t>
            </a:r>
            <a:r>
              <a:rPr lang="en-US" altLang="zh-CN" sz="2000" smtClean="0">
                <a:solidFill>
                  <a:srgbClr val="FF00FF"/>
                </a:solidFill>
                <a:latin typeface="Consolas" pitchFamily="49" charset="0"/>
                <a:ea typeface="仿宋" pitchFamily="49" charset="-122"/>
                <a:cs typeface="Consolas" pitchFamily="49" charset="0"/>
                <a:sym typeface="Wingdings"/>
              </a:rPr>
              <a:t>Yes</a:t>
            </a:r>
            <a:endParaRPr lang="en-US" altLang="zh-CN" sz="2000" smtClean="0">
              <a:solidFill>
                <a:srgbClr val="FF00FF"/>
              </a:solidFill>
              <a:latin typeface="Consolas" pitchFamily="49" charset="0"/>
              <a:ea typeface="仿宋" pitchFamily="49" charset="-122"/>
              <a:cs typeface="Consolas" pitchFamily="49" charset="0"/>
            </a:endParaRPr>
          </a:p>
        </p:txBody>
      </p:sp>
      <p:sp>
        <p:nvSpPr>
          <p:cNvPr id="24" name="TextBox 23"/>
          <p:cNvSpPr txBox="1"/>
          <p:nvPr/>
        </p:nvSpPr>
        <p:spPr>
          <a:xfrm>
            <a:off x="785786" y="1643050"/>
            <a:ext cx="928694" cy="338554"/>
          </a:xfrm>
          <a:prstGeom prst="rect">
            <a:avLst/>
          </a:prstGeom>
          <a:noFill/>
        </p:spPr>
        <p:txBody>
          <a:bodyPr wrap="square" rtlCol="0">
            <a:spAutoFit/>
          </a:bodyPr>
          <a:lstStyle/>
          <a:p>
            <a:pPr algn="l"/>
            <a:r>
              <a:rPr lang="zh-CN" altLang="en-US" sz="2000" smtClean="0">
                <a:solidFill>
                  <a:srgbClr val="FF0000"/>
                </a:solidFill>
                <a:latin typeface="微软雅黑" pitchFamily="34" charset="-122"/>
                <a:ea typeface="微软雅黑" pitchFamily="34" charset="-122"/>
                <a:cs typeface="Consolas" pitchFamily="49" charset="0"/>
              </a:rPr>
              <a:t>求解：</a:t>
            </a:r>
            <a:endParaRPr lang="zh-CN" altLang="en-US" sz="2000">
              <a:solidFill>
                <a:srgbClr val="FF0000"/>
              </a:solidFill>
              <a:latin typeface="微软雅黑" pitchFamily="34" charset="-122"/>
              <a:ea typeface="微软雅黑" pitchFamily="34" charset="-122"/>
              <a:cs typeface="Consolas" pitchFamily="49" charset="0"/>
            </a:endParaRPr>
          </a:p>
        </p:txBody>
      </p:sp>
      <p:sp>
        <p:nvSpPr>
          <p:cNvPr id="25" name="TextBox 24"/>
          <p:cNvSpPr txBox="1"/>
          <p:nvPr/>
        </p:nvSpPr>
        <p:spPr>
          <a:xfrm>
            <a:off x="1357290" y="2643182"/>
            <a:ext cx="5429288" cy="338554"/>
          </a:xfrm>
          <a:prstGeom prst="rect">
            <a:avLst/>
          </a:prstGeom>
          <a:noFill/>
        </p:spPr>
        <p:txBody>
          <a:bodyPr wrap="square" rtlCol="0">
            <a:spAutoFit/>
          </a:bodyPr>
          <a:lstStyle/>
          <a:p>
            <a:pPr algn="l">
              <a:defRPr/>
            </a:pPr>
            <a:r>
              <a:rPr lang="en-US" altLang="zh-CN" sz="2000" smtClean="0">
                <a:solidFill>
                  <a:srgbClr val="0000FF"/>
                </a:solidFill>
                <a:latin typeface="Consolas" pitchFamily="49" charset="0"/>
                <a:ea typeface="仿宋" pitchFamily="49" charset="-122"/>
                <a:cs typeface="Consolas" pitchFamily="49" charset="0"/>
              </a:rPr>
              <a:t>7 10  </a:t>
            </a:r>
            <a:r>
              <a:rPr lang="en-US" altLang="zh-CN" sz="2000" smtClean="0">
                <a:solidFill>
                  <a:srgbClr val="0000FF"/>
                </a:solidFill>
                <a:latin typeface="Consolas" pitchFamily="49" charset="0"/>
                <a:ea typeface="仿宋" pitchFamily="49" charset="-122"/>
                <a:cs typeface="Consolas" pitchFamily="49" charset="0"/>
                <a:sym typeface="Wingdings"/>
              </a:rPr>
              <a:t>  7</a:t>
            </a:r>
            <a:r>
              <a:rPr lang="zh-CN" altLang="en-US" sz="2000" smtClean="0">
                <a:solidFill>
                  <a:srgbClr val="0000FF"/>
                </a:solidFill>
                <a:latin typeface="Consolas" pitchFamily="49" charset="0"/>
                <a:ea typeface="仿宋" pitchFamily="49" charset="-122"/>
                <a:cs typeface="Consolas" pitchFamily="49" charset="0"/>
                <a:sym typeface="Wingdings"/>
              </a:rPr>
              <a:t>、</a:t>
            </a:r>
            <a:r>
              <a:rPr lang="en-US" altLang="zh-CN" sz="2000" smtClean="0">
                <a:solidFill>
                  <a:srgbClr val="0000FF"/>
                </a:solidFill>
                <a:latin typeface="Consolas" pitchFamily="49" charset="0"/>
                <a:ea typeface="仿宋" pitchFamily="49" charset="-122"/>
                <a:cs typeface="Consolas" pitchFamily="49" charset="0"/>
                <a:sym typeface="Wingdings"/>
              </a:rPr>
              <a:t>10</a:t>
            </a:r>
            <a:r>
              <a:rPr lang="zh-CN" altLang="en-US" sz="2000" smtClean="0">
                <a:solidFill>
                  <a:srgbClr val="0000FF"/>
                </a:solidFill>
                <a:latin typeface="Consolas" pitchFamily="49" charset="0"/>
                <a:ea typeface="仿宋" pitchFamily="49" charset="-122"/>
                <a:cs typeface="Consolas" pitchFamily="49" charset="0"/>
                <a:sym typeface="Wingdings"/>
              </a:rPr>
              <a:t>不在同一个集合中  </a:t>
            </a:r>
            <a:r>
              <a:rPr lang="en-US" altLang="zh-CN" sz="2000" smtClean="0">
                <a:solidFill>
                  <a:srgbClr val="FF00FF"/>
                </a:solidFill>
                <a:latin typeface="Consolas" pitchFamily="49" charset="0"/>
                <a:ea typeface="仿宋" pitchFamily="49" charset="-122"/>
                <a:cs typeface="Consolas" pitchFamily="49" charset="0"/>
                <a:sym typeface="Wingdings"/>
              </a:rPr>
              <a:t>N</a:t>
            </a:r>
            <a:r>
              <a:rPr lang="en-US" altLang="zh-CN" sz="2000" smtClean="0">
                <a:solidFill>
                  <a:srgbClr val="0000FF"/>
                </a:solidFill>
                <a:latin typeface="Consolas" pitchFamily="49" charset="0"/>
                <a:ea typeface="仿宋" pitchFamily="49" charset="-122"/>
                <a:cs typeface="Consolas" pitchFamily="49" charset="0"/>
                <a:sym typeface="Wingdings"/>
              </a:rPr>
              <a:t>o</a:t>
            </a:r>
            <a:endParaRPr lang="en-US" altLang="zh-CN" sz="2000" smtClean="0">
              <a:solidFill>
                <a:srgbClr val="0000FF"/>
              </a:solidFill>
              <a:latin typeface="Consolas" pitchFamily="49" charset="0"/>
              <a:ea typeface="仿宋" pitchFamily="49" charset="-122"/>
              <a:cs typeface="Consolas" pitchFamily="49" charset="0"/>
            </a:endParaRPr>
          </a:p>
        </p:txBody>
      </p:sp>
      <p:sp>
        <p:nvSpPr>
          <p:cNvPr id="26" name="TextBox 25"/>
          <p:cNvSpPr txBox="1"/>
          <p:nvPr/>
        </p:nvSpPr>
        <p:spPr>
          <a:xfrm>
            <a:off x="1357290" y="3214686"/>
            <a:ext cx="5143536" cy="338554"/>
          </a:xfrm>
          <a:prstGeom prst="rect">
            <a:avLst/>
          </a:prstGeom>
          <a:noFill/>
        </p:spPr>
        <p:txBody>
          <a:bodyPr wrap="square" rtlCol="0">
            <a:spAutoFit/>
          </a:bodyPr>
          <a:lstStyle/>
          <a:p>
            <a:pPr algn="l">
              <a:defRPr/>
            </a:pPr>
            <a:r>
              <a:rPr lang="en-US" altLang="zh-CN" sz="2000" smtClean="0">
                <a:solidFill>
                  <a:srgbClr val="0000FF"/>
                </a:solidFill>
                <a:latin typeface="Consolas" pitchFamily="49" charset="0"/>
                <a:ea typeface="仿宋" pitchFamily="49" charset="-122"/>
                <a:cs typeface="Consolas" pitchFamily="49" charset="0"/>
              </a:rPr>
              <a:t>8 9  </a:t>
            </a:r>
            <a:r>
              <a:rPr lang="en-US" altLang="zh-CN" sz="2000" smtClean="0">
                <a:solidFill>
                  <a:srgbClr val="0000FF"/>
                </a:solidFill>
                <a:latin typeface="Consolas" pitchFamily="49" charset="0"/>
                <a:ea typeface="仿宋" pitchFamily="49" charset="-122"/>
                <a:cs typeface="Consolas" pitchFamily="49" charset="0"/>
                <a:sym typeface="Wingdings"/>
              </a:rPr>
              <a:t>  8</a:t>
            </a:r>
            <a:r>
              <a:rPr lang="zh-CN" altLang="en-US" sz="2000" smtClean="0">
                <a:solidFill>
                  <a:srgbClr val="0000FF"/>
                </a:solidFill>
                <a:latin typeface="Consolas" pitchFamily="49" charset="0"/>
                <a:ea typeface="仿宋" pitchFamily="49" charset="-122"/>
                <a:cs typeface="Consolas" pitchFamily="49" charset="0"/>
                <a:sym typeface="Wingdings"/>
              </a:rPr>
              <a:t>、</a:t>
            </a:r>
            <a:r>
              <a:rPr lang="en-US" altLang="zh-CN" sz="2000" smtClean="0">
                <a:solidFill>
                  <a:srgbClr val="0000FF"/>
                </a:solidFill>
                <a:latin typeface="Consolas" pitchFamily="49" charset="0"/>
                <a:ea typeface="仿宋" pitchFamily="49" charset="-122"/>
                <a:cs typeface="Consolas" pitchFamily="49" charset="0"/>
                <a:sym typeface="Wingdings"/>
              </a:rPr>
              <a:t>9</a:t>
            </a:r>
            <a:r>
              <a:rPr lang="zh-CN" altLang="en-US" sz="2000" smtClean="0">
                <a:solidFill>
                  <a:srgbClr val="0000FF"/>
                </a:solidFill>
                <a:latin typeface="Consolas" pitchFamily="49" charset="0"/>
                <a:ea typeface="仿宋" pitchFamily="49" charset="-122"/>
                <a:cs typeface="Consolas" pitchFamily="49" charset="0"/>
                <a:sym typeface="Wingdings"/>
              </a:rPr>
              <a:t>在同一个集合中  </a:t>
            </a:r>
            <a:r>
              <a:rPr lang="en-US" altLang="zh-CN" sz="2000" smtClean="0">
                <a:solidFill>
                  <a:srgbClr val="FF00FF"/>
                </a:solidFill>
                <a:latin typeface="Consolas" pitchFamily="49" charset="0"/>
                <a:ea typeface="仿宋" pitchFamily="49" charset="-122"/>
                <a:cs typeface="Consolas" pitchFamily="49" charset="0"/>
                <a:sym typeface="Wingdings"/>
              </a:rPr>
              <a:t>Yes</a:t>
            </a:r>
            <a:endParaRPr lang="en-US" altLang="zh-CN" sz="2000" smtClean="0">
              <a:solidFill>
                <a:srgbClr val="FF00FF"/>
              </a:solidFill>
              <a:latin typeface="Consolas" pitchFamily="49" charset="0"/>
              <a:ea typeface="仿宋" pitchFamily="49" charset="-122"/>
              <a:cs typeface="Consolas" pitchFamily="49" charset="0"/>
            </a:endParaRPr>
          </a:p>
        </p:txBody>
      </p:sp>
      <p:sp>
        <p:nvSpPr>
          <p:cNvPr id="27" name="TextBox 26"/>
          <p:cNvSpPr txBox="1"/>
          <p:nvPr/>
        </p:nvSpPr>
        <p:spPr>
          <a:xfrm>
            <a:off x="642910" y="795319"/>
            <a:ext cx="1357322" cy="338554"/>
          </a:xfrm>
          <a:prstGeom prst="rect">
            <a:avLst/>
          </a:prstGeom>
          <a:noFill/>
        </p:spPr>
        <p:txBody>
          <a:bodyPr wrap="square" rtlCol="0">
            <a:spAutoFit/>
          </a:bodyPr>
          <a:lstStyle/>
          <a:p>
            <a:r>
              <a:rPr lang="zh-CN" altLang="en-US" sz="2000" smtClean="0">
                <a:solidFill>
                  <a:srgbClr val="0000FF"/>
                </a:solidFill>
                <a:latin typeface="Consolas" pitchFamily="49" charset="0"/>
                <a:ea typeface="仿宋" pitchFamily="49" charset="-122"/>
                <a:cs typeface="Consolas" pitchFamily="49" charset="0"/>
              </a:rPr>
              <a:t>结果集合：</a:t>
            </a:r>
            <a:endParaRPr lang="zh-CN" altLang="en-US" sz="2000">
              <a:solidFill>
                <a:srgbClr val="0000FF"/>
              </a:solidFill>
              <a:latin typeface="Consolas" pitchFamily="49" charset="0"/>
              <a:ea typeface="仿宋" pitchFamily="49" charset="-122"/>
              <a:cs typeface="Consolas" pitchFamily="49" charset="0"/>
            </a:endParaRPr>
          </a:p>
        </p:txBody>
      </p:sp>
      <p:sp>
        <p:nvSpPr>
          <p:cNvPr id="10" name="灯片编号占位符 9"/>
          <p:cNvSpPr>
            <a:spLocks noGrp="1"/>
          </p:cNvSpPr>
          <p:nvPr>
            <p:ph type="sldNum" sz="quarter" idx="12"/>
          </p:nvPr>
        </p:nvSpPr>
        <p:spPr/>
        <p:txBody>
          <a:bodyPr/>
          <a:lstStyle/>
          <a:p>
            <a:fld id="{67864EE2-EAB3-4814-A7EB-820BD7610F1E}" type="slidenum">
              <a:rPr lang="en-US" altLang="zh-CN" smtClean="0"/>
              <a:pPr/>
              <a:t>52</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5" grpId="0"/>
      <p:bldP spid="2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4"/>
          <p:cNvSpPr txBox="1">
            <a:spLocks noChangeArrowheads="1"/>
          </p:cNvSpPr>
          <p:nvPr/>
        </p:nvSpPr>
        <p:spPr bwMode="auto">
          <a:xfrm>
            <a:off x="857224" y="2394936"/>
            <a:ext cx="7429552" cy="2041585"/>
          </a:xfrm>
          <a:prstGeom prst="rect">
            <a:avLst/>
          </a:prstGeom>
          <a:ln>
            <a:solidFill>
              <a:schemeClr val="accent6">
                <a:lumMod val="20000"/>
                <a:lumOff val="8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ts val="28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并查集的数据结构记录了一组分离的动态集合</a:t>
            </a:r>
            <a:r>
              <a:rPr lang="en-US" sz="2000" i="1" smtClean="0">
                <a:solidFill>
                  <a:srgbClr val="0000FF"/>
                </a:solidFill>
                <a:latin typeface="Consolas" pitchFamily="49" charset="0"/>
                <a:ea typeface="仿宋" pitchFamily="49" charset="-122"/>
                <a:cs typeface="Consolas" pitchFamily="49" charset="0"/>
              </a:rPr>
              <a:t>S</a:t>
            </a:r>
            <a:r>
              <a:rPr lang="en-US" sz="2000" smtClean="0">
                <a:solidFill>
                  <a:srgbClr val="0000FF"/>
                </a:solidFill>
                <a:latin typeface="Consolas" pitchFamily="49" charset="0"/>
                <a:ea typeface="仿宋" pitchFamily="49" charset="-122"/>
                <a:cs typeface="Consolas" pitchFamily="49" charset="0"/>
              </a:rPr>
              <a:t>={</a:t>
            </a:r>
            <a:r>
              <a:rPr lang="en-US" sz="2000" i="1" smtClean="0">
                <a:solidFill>
                  <a:srgbClr val="0000FF"/>
                </a:solidFill>
                <a:latin typeface="Consolas" pitchFamily="49" charset="0"/>
                <a:ea typeface="仿宋" pitchFamily="49" charset="-122"/>
                <a:cs typeface="Consolas" pitchFamily="49" charset="0"/>
              </a:rPr>
              <a:t>S</a:t>
            </a:r>
            <a:r>
              <a:rPr lang="en-US" sz="2000" baseline="-25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a:t>
            </a:r>
            <a:r>
              <a:rPr lang="en-US" sz="2000" i="1" smtClean="0">
                <a:solidFill>
                  <a:srgbClr val="0000FF"/>
                </a:solidFill>
                <a:latin typeface="Consolas" pitchFamily="49" charset="0"/>
                <a:ea typeface="仿宋" pitchFamily="49" charset="-122"/>
                <a:cs typeface="Consolas" pitchFamily="49" charset="0"/>
              </a:rPr>
              <a:t>S</a:t>
            </a:r>
            <a:r>
              <a:rPr lang="en-US" sz="2000" baseline="-25000" smtClean="0">
                <a:solidFill>
                  <a:srgbClr val="0000FF"/>
                </a:solidFill>
                <a:latin typeface="Consolas" pitchFamily="49" charset="0"/>
                <a:ea typeface="仿宋" pitchFamily="49" charset="-122"/>
                <a:cs typeface="Consolas" pitchFamily="49" charset="0"/>
              </a:rPr>
              <a:t>2</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mj-ea"/>
                <a:ea typeface="+mj-ea"/>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a:t>
            </a:r>
            <a:r>
              <a:rPr lang="en-US" sz="2000" i="1" smtClean="0">
                <a:solidFill>
                  <a:srgbClr val="0000FF"/>
                </a:solidFill>
                <a:latin typeface="Consolas" pitchFamily="49" charset="0"/>
                <a:ea typeface="仿宋" pitchFamily="49" charset="-122"/>
                <a:cs typeface="Consolas" pitchFamily="49" charset="0"/>
              </a:rPr>
              <a:t>S</a:t>
            </a:r>
            <a:r>
              <a:rPr lang="en-US" sz="2000" i="1" baseline="-25000" smtClean="0">
                <a:solidFill>
                  <a:srgbClr val="0000FF"/>
                </a:solidFill>
                <a:latin typeface="Consolas" pitchFamily="49" charset="0"/>
                <a:ea typeface="仿宋" pitchFamily="49" charset="-122"/>
                <a:cs typeface="Consolas" pitchFamily="49" charset="0"/>
              </a:rPr>
              <a:t>k</a:t>
            </a:r>
            <a:r>
              <a:rPr lang="en-US"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每个动态集合</a:t>
            </a:r>
            <a:r>
              <a:rPr lang="en-US" sz="2000" i="1" smtClean="0">
                <a:solidFill>
                  <a:srgbClr val="0000FF"/>
                </a:solidFill>
                <a:latin typeface="Consolas" pitchFamily="49" charset="0"/>
                <a:ea typeface="仿宋" pitchFamily="49" charset="-122"/>
                <a:cs typeface="Consolas" pitchFamily="49" charset="0"/>
              </a:rPr>
              <a:t>S</a:t>
            </a:r>
            <a:r>
              <a:rPr lang="en-US" sz="2000" i="1" baseline="-25000" smtClean="0">
                <a:solidFill>
                  <a:srgbClr val="0000FF"/>
                </a:solidFill>
                <a:latin typeface="Consolas" pitchFamily="49" charset="0"/>
                <a:ea typeface="仿宋" pitchFamily="49" charset="-122"/>
                <a:cs typeface="Consolas" pitchFamily="49" charset="0"/>
              </a:rPr>
              <a:t>i</a:t>
            </a:r>
            <a:r>
              <a:rPr lang="zh-CN" altLang="en-US" sz="2000" smtClean="0">
                <a:solidFill>
                  <a:srgbClr val="0000FF"/>
                </a:solidFill>
                <a:latin typeface="Consolas" pitchFamily="49" charset="0"/>
                <a:ea typeface="仿宋" pitchFamily="49" charset="-122"/>
                <a:cs typeface="Consolas" pitchFamily="49" charset="0"/>
              </a:rPr>
              <a:t>（</a:t>
            </a:r>
            <a:r>
              <a:rPr lang="en-US"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mn-ea"/>
                <a:ea typeface="+mn-ea"/>
                <a:cs typeface="Consolas" pitchFamily="49" charset="0"/>
              </a:rPr>
              <a:t>≤</a:t>
            </a:r>
            <a:r>
              <a:rPr lang="en-US" sz="2000" i="1" smtClean="0">
                <a:solidFill>
                  <a:srgbClr val="0000FF"/>
                </a:solidFill>
                <a:latin typeface="Consolas" pitchFamily="49" charset="0"/>
                <a:ea typeface="仿宋" pitchFamily="49" charset="-122"/>
                <a:cs typeface="Consolas" pitchFamily="49" charset="0"/>
              </a:rPr>
              <a:t>i</a:t>
            </a:r>
            <a:r>
              <a:rPr lang="zh-CN" altLang="en-US" sz="2000" smtClean="0">
                <a:solidFill>
                  <a:srgbClr val="0000FF"/>
                </a:solidFill>
                <a:latin typeface="+mn-ea"/>
                <a:ea typeface="+mn-ea"/>
                <a:cs typeface="Consolas" pitchFamily="49" charset="0"/>
              </a:rPr>
              <a:t>≤</a:t>
            </a:r>
            <a:r>
              <a:rPr lang="en-US" sz="2000" i="1" smtClean="0">
                <a:solidFill>
                  <a:srgbClr val="0000FF"/>
                </a:solidFill>
                <a:latin typeface="Consolas" pitchFamily="49" charset="0"/>
                <a:ea typeface="仿宋" pitchFamily="49" charset="-122"/>
                <a:cs typeface="Consolas" pitchFamily="49" charset="0"/>
              </a:rPr>
              <a:t>k</a:t>
            </a:r>
            <a:r>
              <a:rPr lang="zh-CN" altLang="en-US" sz="2000" smtClean="0">
                <a:solidFill>
                  <a:srgbClr val="0000FF"/>
                </a:solidFill>
                <a:latin typeface="Consolas" pitchFamily="49" charset="0"/>
                <a:ea typeface="仿宋" pitchFamily="49" charset="-122"/>
                <a:cs typeface="Consolas" pitchFamily="49" charset="0"/>
              </a:rPr>
              <a:t>）通过一个“代表”加以标识，该代表即为所代表的集合中的某个元素。对于集合</a:t>
            </a:r>
            <a:r>
              <a:rPr lang="en-US" sz="2000" i="1" smtClean="0">
                <a:solidFill>
                  <a:srgbClr val="0000FF"/>
                </a:solidFill>
                <a:latin typeface="Consolas" pitchFamily="49" charset="0"/>
                <a:ea typeface="仿宋" pitchFamily="49" charset="-122"/>
                <a:cs typeface="Consolas" pitchFamily="49" charset="0"/>
              </a:rPr>
              <a:t>S</a:t>
            </a:r>
            <a:r>
              <a:rPr lang="en-US" sz="2000" i="1" baseline="-25000" smtClean="0">
                <a:solidFill>
                  <a:srgbClr val="0000FF"/>
                </a:solidFill>
                <a:latin typeface="Consolas" pitchFamily="49" charset="0"/>
                <a:ea typeface="仿宋" pitchFamily="49" charset="-122"/>
                <a:cs typeface="Consolas" pitchFamily="49" charset="0"/>
              </a:rPr>
              <a:t>i</a:t>
            </a:r>
            <a:r>
              <a:rPr lang="zh-CN" altLang="en-US" sz="2000" smtClean="0">
                <a:solidFill>
                  <a:srgbClr val="0000FF"/>
                </a:solidFill>
                <a:latin typeface="Consolas" pitchFamily="49" charset="0"/>
                <a:ea typeface="仿宋" pitchFamily="49" charset="-122"/>
                <a:cs typeface="Consolas" pitchFamily="49" charset="0"/>
              </a:rPr>
              <a:t>，选取其中哪个元素作为代表是任意的。</a:t>
            </a:r>
            <a:endParaRPr lang="zh-CN" altLang="en-US" sz="2000">
              <a:solidFill>
                <a:srgbClr val="0000FF"/>
              </a:solidFill>
              <a:latin typeface="Consolas" pitchFamily="49" charset="0"/>
              <a:ea typeface="仿宋" pitchFamily="49" charset="-122"/>
              <a:cs typeface="Consolas" pitchFamily="49" charset="0"/>
            </a:endParaRPr>
          </a:p>
        </p:txBody>
      </p:sp>
      <p:pic>
        <p:nvPicPr>
          <p:cNvPr id="50178" name="Picture 2"/>
          <p:cNvPicPr>
            <a:picLocks noChangeAspect="1" noChangeArrowheads="1"/>
          </p:cNvPicPr>
          <p:nvPr/>
        </p:nvPicPr>
        <p:blipFill>
          <a:blip r:embed="rId3" cstate="print"/>
          <a:srcRect/>
          <a:stretch>
            <a:fillRect/>
          </a:stretch>
        </p:blipFill>
        <p:spPr bwMode="auto">
          <a:xfrm>
            <a:off x="714348" y="642918"/>
            <a:ext cx="1000132" cy="1368602"/>
          </a:xfrm>
          <a:prstGeom prst="rect">
            <a:avLst/>
          </a:prstGeom>
          <a:noFill/>
          <a:ln w="9525">
            <a:noFill/>
            <a:miter lim="800000"/>
            <a:headEnd/>
            <a:tailEnd/>
          </a:ln>
          <a:effectLst/>
        </p:spPr>
      </p:pic>
      <p:sp>
        <p:nvSpPr>
          <p:cNvPr id="7" name="矩形 6"/>
          <p:cNvSpPr/>
          <p:nvPr/>
        </p:nvSpPr>
        <p:spPr>
          <a:xfrm>
            <a:off x="1928794" y="1428736"/>
            <a:ext cx="5643602"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smtClean="0">
                <a:solidFill>
                  <a:srgbClr val="0000FF"/>
                </a:solidFill>
                <a:latin typeface="Consolas" pitchFamily="49" charset="0"/>
                <a:ea typeface="微软雅黑" pitchFamily="34" charset="-122"/>
                <a:cs typeface="Consolas" pitchFamily="49" charset="0"/>
              </a:rPr>
              <a:t>{ {1</a:t>
            </a:r>
            <a:r>
              <a:rPr lang="zh-CN" altLang="en-US" sz="2000" smtClean="0">
                <a:solidFill>
                  <a:srgbClr val="0000FF"/>
                </a:solidFill>
                <a:latin typeface="Consolas" pitchFamily="49" charset="0"/>
                <a:ea typeface="微软雅黑" pitchFamily="34" charset="-122"/>
                <a:cs typeface="Consolas" pitchFamily="49" charset="0"/>
              </a:rPr>
              <a:t>，</a:t>
            </a:r>
            <a:r>
              <a:rPr lang="en-US" altLang="zh-CN" sz="2000" smtClean="0">
                <a:solidFill>
                  <a:srgbClr val="0000FF"/>
                </a:solidFill>
                <a:latin typeface="Consolas" pitchFamily="49" charset="0"/>
                <a:ea typeface="微软雅黑" pitchFamily="34" charset="-122"/>
                <a:cs typeface="Consolas" pitchFamily="49" charset="0"/>
              </a:rPr>
              <a:t>2</a:t>
            </a:r>
            <a:r>
              <a:rPr lang="zh-CN" altLang="en-US" sz="2000" smtClean="0">
                <a:solidFill>
                  <a:srgbClr val="0000FF"/>
                </a:solidFill>
                <a:latin typeface="Consolas" pitchFamily="49" charset="0"/>
                <a:ea typeface="微软雅黑" pitchFamily="34" charset="-122"/>
                <a:cs typeface="Consolas" pitchFamily="49" charset="0"/>
              </a:rPr>
              <a:t>，</a:t>
            </a:r>
            <a:r>
              <a:rPr lang="en-US" altLang="zh-CN" sz="2000" smtClean="0">
                <a:solidFill>
                  <a:srgbClr val="0000FF"/>
                </a:solidFill>
                <a:latin typeface="Consolas" pitchFamily="49" charset="0"/>
                <a:ea typeface="微软雅黑" pitchFamily="34" charset="-122"/>
                <a:cs typeface="Consolas" pitchFamily="49" charset="0"/>
              </a:rPr>
              <a:t>3</a:t>
            </a:r>
            <a:r>
              <a:rPr lang="zh-CN" altLang="en-US" sz="2000" smtClean="0">
                <a:solidFill>
                  <a:srgbClr val="0000FF"/>
                </a:solidFill>
                <a:latin typeface="Consolas" pitchFamily="49" charset="0"/>
                <a:ea typeface="微软雅黑" pitchFamily="34" charset="-122"/>
                <a:cs typeface="Consolas" pitchFamily="49" charset="0"/>
              </a:rPr>
              <a:t>，</a:t>
            </a:r>
            <a:r>
              <a:rPr lang="en-US" altLang="zh-CN" sz="2000" smtClean="0">
                <a:solidFill>
                  <a:srgbClr val="0000FF"/>
                </a:solidFill>
                <a:latin typeface="Consolas" pitchFamily="49" charset="0"/>
                <a:ea typeface="微软雅黑" pitchFamily="34" charset="-122"/>
                <a:cs typeface="Consolas" pitchFamily="49" charset="0"/>
              </a:rPr>
              <a:t>4}</a:t>
            </a:r>
            <a:r>
              <a:rPr lang="zh-CN" altLang="en-US" sz="2000" smtClean="0">
                <a:solidFill>
                  <a:srgbClr val="0000FF"/>
                </a:solidFill>
                <a:latin typeface="Consolas" pitchFamily="49" charset="0"/>
                <a:ea typeface="微软雅黑" pitchFamily="34" charset="-122"/>
                <a:cs typeface="Consolas" pitchFamily="49" charset="0"/>
              </a:rPr>
              <a:t>，</a:t>
            </a:r>
            <a:r>
              <a:rPr lang="en-US" altLang="zh-CN" sz="2000" smtClean="0">
                <a:solidFill>
                  <a:srgbClr val="0000FF"/>
                </a:solidFill>
                <a:latin typeface="Consolas" pitchFamily="49" charset="0"/>
                <a:ea typeface="微软雅黑" pitchFamily="34" charset="-122"/>
                <a:cs typeface="Consolas" pitchFamily="49" charset="0"/>
              </a:rPr>
              <a:t>{5</a:t>
            </a:r>
            <a:r>
              <a:rPr lang="zh-CN" altLang="en-US" sz="2000" smtClean="0">
                <a:solidFill>
                  <a:srgbClr val="0000FF"/>
                </a:solidFill>
                <a:latin typeface="Consolas" pitchFamily="49" charset="0"/>
                <a:ea typeface="微软雅黑" pitchFamily="34" charset="-122"/>
                <a:cs typeface="Consolas" pitchFamily="49" charset="0"/>
              </a:rPr>
              <a:t>，</a:t>
            </a:r>
            <a:r>
              <a:rPr lang="en-US" altLang="zh-CN" sz="2000" smtClean="0">
                <a:solidFill>
                  <a:srgbClr val="0000FF"/>
                </a:solidFill>
                <a:latin typeface="Consolas" pitchFamily="49" charset="0"/>
                <a:ea typeface="微软雅黑" pitchFamily="34" charset="-122"/>
                <a:cs typeface="Consolas" pitchFamily="49" charset="0"/>
              </a:rPr>
              <a:t>6</a:t>
            </a:r>
            <a:r>
              <a:rPr lang="zh-CN" altLang="en-US" sz="2000" smtClean="0">
                <a:solidFill>
                  <a:srgbClr val="0000FF"/>
                </a:solidFill>
                <a:latin typeface="Consolas" pitchFamily="49" charset="0"/>
                <a:ea typeface="微软雅黑" pitchFamily="34" charset="-122"/>
                <a:cs typeface="Consolas" pitchFamily="49" charset="0"/>
              </a:rPr>
              <a:t>，</a:t>
            </a:r>
            <a:r>
              <a:rPr lang="en-US" altLang="zh-CN" sz="2000" smtClean="0">
                <a:solidFill>
                  <a:srgbClr val="0000FF"/>
                </a:solidFill>
                <a:latin typeface="Consolas" pitchFamily="49" charset="0"/>
                <a:ea typeface="微软雅黑" pitchFamily="34" charset="-122"/>
                <a:cs typeface="Consolas" pitchFamily="49" charset="0"/>
              </a:rPr>
              <a:t>7}</a:t>
            </a:r>
            <a:r>
              <a:rPr lang="zh-CN" altLang="en-US" sz="2000" smtClean="0">
                <a:solidFill>
                  <a:srgbClr val="0000FF"/>
                </a:solidFill>
                <a:latin typeface="Consolas" pitchFamily="49" charset="0"/>
                <a:ea typeface="微软雅黑" pitchFamily="34" charset="-122"/>
                <a:cs typeface="Consolas" pitchFamily="49" charset="0"/>
              </a:rPr>
              <a:t>，</a:t>
            </a:r>
            <a:r>
              <a:rPr lang="en-US" altLang="zh-CN" sz="2000" smtClean="0">
                <a:solidFill>
                  <a:srgbClr val="0000FF"/>
                </a:solidFill>
                <a:latin typeface="Consolas" pitchFamily="49" charset="0"/>
                <a:ea typeface="微软雅黑" pitchFamily="34" charset="-122"/>
                <a:cs typeface="Consolas" pitchFamily="49" charset="0"/>
              </a:rPr>
              <a:t>{8</a:t>
            </a:r>
            <a:r>
              <a:rPr lang="zh-CN" altLang="en-US" sz="2000" smtClean="0">
                <a:solidFill>
                  <a:srgbClr val="0000FF"/>
                </a:solidFill>
                <a:latin typeface="Consolas" pitchFamily="49" charset="0"/>
                <a:ea typeface="微软雅黑" pitchFamily="34" charset="-122"/>
                <a:cs typeface="Consolas" pitchFamily="49" charset="0"/>
              </a:rPr>
              <a:t>，</a:t>
            </a:r>
            <a:r>
              <a:rPr lang="en-US" altLang="zh-CN" sz="2000" smtClean="0">
                <a:solidFill>
                  <a:srgbClr val="0000FF"/>
                </a:solidFill>
                <a:latin typeface="Consolas" pitchFamily="49" charset="0"/>
                <a:ea typeface="微软雅黑" pitchFamily="34" charset="-122"/>
                <a:cs typeface="Consolas" pitchFamily="49" charset="0"/>
              </a:rPr>
              <a:t>9}</a:t>
            </a:r>
            <a:r>
              <a:rPr lang="zh-CN" altLang="en-US" sz="2000" smtClean="0">
                <a:solidFill>
                  <a:srgbClr val="0000FF"/>
                </a:solidFill>
                <a:latin typeface="Consolas" pitchFamily="49" charset="0"/>
                <a:ea typeface="微软雅黑" pitchFamily="34" charset="-122"/>
                <a:cs typeface="Consolas" pitchFamily="49" charset="0"/>
              </a:rPr>
              <a:t>，</a:t>
            </a:r>
            <a:r>
              <a:rPr lang="en-US" altLang="zh-CN" sz="2000" smtClean="0">
                <a:solidFill>
                  <a:srgbClr val="0000FF"/>
                </a:solidFill>
                <a:latin typeface="Consolas" pitchFamily="49" charset="0"/>
                <a:ea typeface="微软雅黑" pitchFamily="34" charset="-122"/>
                <a:cs typeface="Consolas" pitchFamily="49" charset="0"/>
              </a:rPr>
              <a:t>{10} }</a:t>
            </a:r>
            <a:endParaRPr lang="zh-CN" altLang="en-US" sz="2000">
              <a:solidFill>
                <a:srgbClr val="0000FF"/>
              </a:solidFill>
              <a:latin typeface="Consolas" pitchFamily="49" charset="0"/>
              <a:ea typeface="微软雅黑" pitchFamily="34" charset="-122"/>
              <a:cs typeface="Consolas"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53</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28596" y="1510010"/>
            <a:ext cx="8001056" cy="775982"/>
          </a:xfrm>
          <a:prstGeom prst="rect">
            <a:avLst/>
          </a:prstGeom>
          <a:noFill/>
        </p:spPr>
        <p:txBody>
          <a:bodyPr wrap="square" rtlCol="0">
            <a:spAutoFit/>
          </a:bodyPr>
          <a:lstStyle/>
          <a:p>
            <a:pPr algn="l">
              <a:lnSpc>
                <a:spcPts val="2800"/>
              </a:lnSpc>
              <a:spcBef>
                <a:spcPts val="0"/>
              </a:spcBef>
            </a:pPr>
            <a:r>
              <a:rPr lang="zh-CN" altLang="en-US" sz="2000" smtClean="0">
                <a:solidFill>
                  <a:srgbClr val="0000FF"/>
                </a:solidFill>
                <a:latin typeface="Consolas" pitchFamily="49" charset="0"/>
                <a:ea typeface="仿宋" pitchFamily="49" charset="-122"/>
                <a:cs typeface="Consolas" pitchFamily="49" charset="0"/>
              </a:rPr>
              <a:t>    对于给定的编号为</a:t>
            </a:r>
            <a:r>
              <a:rPr lang="en-US"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a:t>
            </a:r>
            <a:r>
              <a:rPr lang="en-US" sz="2000" i="1" smtClean="0">
                <a:solidFill>
                  <a:srgbClr val="0000FF"/>
                </a:solidFill>
                <a:latin typeface="Consolas" pitchFamily="49" charset="0"/>
                <a:ea typeface="仿宋" pitchFamily="49" charset="-122"/>
                <a:cs typeface="Consolas" pitchFamily="49" charset="0"/>
              </a:rPr>
              <a:t>n</a:t>
            </a:r>
            <a:r>
              <a:rPr lang="zh-CN" altLang="en-US" sz="2000" smtClean="0">
                <a:solidFill>
                  <a:srgbClr val="0000FF"/>
                </a:solidFill>
                <a:latin typeface="Consolas" pitchFamily="49" charset="0"/>
                <a:ea typeface="仿宋" pitchFamily="49" charset="-122"/>
                <a:cs typeface="Consolas" pitchFamily="49" charset="0"/>
              </a:rPr>
              <a:t>的</a:t>
            </a:r>
            <a:r>
              <a:rPr lang="en-US" sz="2000" i="1" smtClean="0">
                <a:solidFill>
                  <a:srgbClr val="0000FF"/>
                </a:solidFill>
                <a:latin typeface="Consolas" pitchFamily="49" charset="0"/>
                <a:ea typeface="仿宋" pitchFamily="49" charset="-122"/>
                <a:cs typeface="Consolas" pitchFamily="49" charset="0"/>
              </a:rPr>
              <a:t>n</a:t>
            </a:r>
            <a:r>
              <a:rPr lang="zh-CN" altLang="en-US" sz="2000" smtClean="0">
                <a:solidFill>
                  <a:srgbClr val="0000FF"/>
                </a:solidFill>
                <a:latin typeface="Consolas" pitchFamily="49" charset="0"/>
                <a:ea typeface="仿宋" pitchFamily="49" charset="-122"/>
                <a:cs typeface="Consolas" pitchFamily="49" charset="0"/>
              </a:rPr>
              <a:t>个元素，</a:t>
            </a:r>
            <a:r>
              <a:rPr lang="en-US" sz="2000" i="1" smtClean="0">
                <a:solidFill>
                  <a:srgbClr val="0000FF"/>
                </a:solidFill>
                <a:latin typeface="Consolas" pitchFamily="49" charset="0"/>
                <a:ea typeface="仿宋" pitchFamily="49" charset="-122"/>
                <a:cs typeface="Consolas" pitchFamily="49" charset="0"/>
              </a:rPr>
              <a:t>x</a:t>
            </a:r>
            <a:r>
              <a:rPr lang="zh-CN" altLang="en-US" sz="2000" smtClean="0">
                <a:solidFill>
                  <a:srgbClr val="0000FF"/>
                </a:solidFill>
                <a:latin typeface="Consolas" pitchFamily="49" charset="0"/>
                <a:ea typeface="仿宋" pitchFamily="49" charset="-122"/>
                <a:cs typeface="Consolas" pitchFamily="49" charset="0"/>
              </a:rPr>
              <a:t>表示其中的一个元素，设并查集为</a:t>
            </a:r>
            <a:r>
              <a:rPr lang="en-US" sz="2000" i="1" smtClean="0">
                <a:solidFill>
                  <a:srgbClr val="0000FF"/>
                </a:solidFill>
                <a:latin typeface="Consolas" pitchFamily="49" charset="0"/>
                <a:ea typeface="仿宋" pitchFamily="49" charset="-122"/>
                <a:cs typeface="Consolas" pitchFamily="49" charset="0"/>
              </a:rPr>
              <a:t>S</a:t>
            </a:r>
            <a:r>
              <a:rPr lang="zh-CN" altLang="en-US" sz="2000" smtClean="0">
                <a:solidFill>
                  <a:srgbClr val="0000FF"/>
                </a:solidFill>
                <a:latin typeface="Consolas" pitchFamily="49" charset="0"/>
                <a:ea typeface="仿宋" pitchFamily="49" charset="-122"/>
                <a:cs typeface="Consolas" pitchFamily="49" charset="0"/>
              </a:rPr>
              <a:t>，并查集的实现需要支持如下运算： </a:t>
            </a:r>
            <a:endParaRPr lang="zh-CN" altLang="en-US" sz="2000">
              <a:solidFill>
                <a:srgbClr val="0000FF"/>
              </a:solidFill>
              <a:latin typeface="Consolas" pitchFamily="49" charset="0"/>
              <a:ea typeface="仿宋" pitchFamily="49" charset="-122"/>
              <a:cs typeface="Consolas" pitchFamily="49" charset="0"/>
            </a:endParaRPr>
          </a:p>
        </p:txBody>
      </p:sp>
      <p:sp>
        <p:nvSpPr>
          <p:cNvPr id="8" name="Text Box 2"/>
          <p:cNvSpPr txBox="1">
            <a:spLocks noChangeArrowheads="1"/>
          </p:cNvSpPr>
          <p:nvPr/>
        </p:nvSpPr>
        <p:spPr bwMode="auto">
          <a:xfrm>
            <a:off x="857224" y="2500306"/>
            <a:ext cx="7572428" cy="2526434"/>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marL="457200" indent="-457200" algn="l">
              <a:lnSpc>
                <a:spcPts val="2800"/>
              </a:lnSpc>
              <a:spcBef>
                <a:spcPts val="600"/>
              </a:spcBef>
              <a:buBlip>
                <a:blip r:embed="rId2"/>
              </a:buBlip>
            </a:pPr>
            <a:r>
              <a:rPr lang="en-US" sz="2000" smtClean="0">
                <a:solidFill>
                  <a:srgbClr val="FF0000"/>
                </a:solidFill>
                <a:latin typeface="Consolas" pitchFamily="49" charset="0"/>
                <a:ea typeface="仿宋" pitchFamily="49" charset="-122"/>
                <a:cs typeface="Consolas" pitchFamily="49" charset="0"/>
              </a:rPr>
              <a:t>Init(S</a:t>
            </a:r>
            <a:r>
              <a:rPr lang="zh-CN" altLang="en-US" sz="2000" smtClean="0">
                <a:solidFill>
                  <a:srgbClr val="FF0000"/>
                </a:solidFill>
                <a:latin typeface="Consolas" pitchFamily="49" charset="0"/>
                <a:ea typeface="仿宋" pitchFamily="49" charset="-122"/>
                <a:cs typeface="Consolas" pitchFamily="49" charset="0"/>
              </a:rPr>
              <a:t>，</a:t>
            </a:r>
            <a:r>
              <a:rPr lang="en-US" sz="2000" i="1" smtClean="0">
                <a:solidFill>
                  <a:srgbClr val="FF0000"/>
                </a:solidFill>
                <a:latin typeface="Consolas" pitchFamily="49" charset="0"/>
                <a:ea typeface="仿宋" pitchFamily="49" charset="-122"/>
                <a:cs typeface="Consolas" pitchFamily="49" charset="0"/>
              </a:rPr>
              <a:t>n</a:t>
            </a:r>
            <a:r>
              <a:rPr lang="en-US" sz="2000" smtClean="0">
                <a:solidFill>
                  <a:srgbClr val="FF0000"/>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：初始化并查集</a:t>
            </a:r>
            <a:r>
              <a:rPr lang="en-US" sz="2000" i="1" smtClean="0">
                <a:solidFill>
                  <a:srgbClr val="0000FF"/>
                </a:solidFill>
                <a:latin typeface="Consolas" pitchFamily="49" charset="0"/>
                <a:ea typeface="仿宋" pitchFamily="49" charset="-122"/>
                <a:cs typeface="Consolas" pitchFamily="49" charset="0"/>
              </a:rPr>
              <a:t>S</a:t>
            </a:r>
            <a:r>
              <a:rPr lang="zh-CN" altLang="en-US" sz="2000" smtClean="0">
                <a:solidFill>
                  <a:srgbClr val="0000FF"/>
                </a:solidFill>
                <a:latin typeface="Consolas" pitchFamily="49" charset="0"/>
                <a:ea typeface="仿宋" pitchFamily="49" charset="-122"/>
                <a:cs typeface="Consolas" pitchFamily="49" charset="0"/>
              </a:rPr>
              <a:t>，即</a:t>
            </a:r>
            <a:r>
              <a:rPr lang="en-US" sz="2000" i="1" smtClean="0">
                <a:solidFill>
                  <a:srgbClr val="0000FF"/>
                </a:solidFill>
                <a:latin typeface="Consolas" pitchFamily="49" charset="0"/>
                <a:ea typeface="仿宋" pitchFamily="49" charset="-122"/>
                <a:cs typeface="Consolas" pitchFamily="49" charset="0"/>
              </a:rPr>
              <a:t>S</a:t>
            </a:r>
            <a:r>
              <a:rPr lang="en-US" sz="2000" smtClean="0">
                <a:solidFill>
                  <a:srgbClr val="0000FF"/>
                </a:solidFill>
                <a:latin typeface="Consolas" pitchFamily="49" charset="0"/>
                <a:ea typeface="仿宋" pitchFamily="49" charset="-122"/>
                <a:cs typeface="Consolas" pitchFamily="49" charset="0"/>
              </a:rPr>
              <a:t>={</a:t>
            </a:r>
            <a:r>
              <a:rPr lang="en-US" sz="2000" i="1" smtClean="0">
                <a:solidFill>
                  <a:srgbClr val="0000FF"/>
                </a:solidFill>
                <a:latin typeface="Consolas" pitchFamily="49" charset="0"/>
                <a:ea typeface="仿宋" pitchFamily="49" charset="-122"/>
                <a:cs typeface="Consolas" pitchFamily="49" charset="0"/>
              </a:rPr>
              <a:t>S</a:t>
            </a:r>
            <a:r>
              <a:rPr lang="en-US" sz="2000" baseline="-25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a:t>
            </a:r>
            <a:r>
              <a:rPr lang="en-US" sz="2000" i="1" smtClean="0">
                <a:solidFill>
                  <a:srgbClr val="0000FF"/>
                </a:solidFill>
                <a:latin typeface="Consolas" pitchFamily="49" charset="0"/>
                <a:ea typeface="仿宋" pitchFamily="49" charset="-122"/>
                <a:cs typeface="Consolas" pitchFamily="49" charset="0"/>
              </a:rPr>
              <a:t>S</a:t>
            </a:r>
            <a:r>
              <a:rPr lang="en-US" sz="2000" baseline="-25000" smtClean="0">
                <a:solidFill>
                  <a:srgbClr val="0000FF"/>
                </a:solidFill>
                <a:latin typeface="Consolas" pitchFamily="49" charset="0"/>
                <a:ea typeface="仿宋" pitchFamily="49" charset="-122"/>
                <a:cs typeface="Consolas" pitchFamily="49" charset="0"/>
              </a:rPr>
              <a:t>2</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mn-ea"/>
                <a:ea typeface="+mn-ea"/>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a:t>
            </a:r>
            <a:r>
              <a:rPr lang="en-US" sz="2000" i="1" smtClean="0">
                <a:solidFill>
                  <a:srgbClr val="0000FF"/>
                </a:solidFill>
                <a:latin typeface="Consolas" pitchFamily="49" charset="0"/>
                <a:ea typeface="仿宋" pitchFamily="49" charset="-122"/>
                <a:cs typeface="Consolas" pitchFamily="49" charset="0"/>
              </a:rPr>
              <a:t>S</a:t>
            </a:r>
            <a:r>
              <a:rPr lang="en-US" sz="2000" i="1" baseline="-25000" smtClean="0">
                <a:solidFill>
                  <a:srgbClr val="0000FF"/>
                </a:solidFill>
                <a:latin typeface="Consolas" pitchFamily="49" charset="0"/>
                <a:ea typeface="仿宋" pitchFamily="49" charset="-122"/>
                <a:cs typeface="Consolas" pitchFamily="49" charset="0"/>
              </a:rPr>
              <a:t>n</a:t>
            </a:r>
            <a:r>
              <a:rPr lang="en-US"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，每个动态集合</a:t>
            </a:r>
            <a:r>
              <a:rPr lang="en-US" sz="2000" i="1" smtClean="0">
                <a:solidFill>
                  <a:srgbClr val="0000FF"/>
                </a:solidFill>
                <a:latin typeface="Consolas" pitchFamily="49" charset="0"/>
                <a:ea typeface="仿宋" pitchFamily="49" charset="-122"/>
                <a:cs typeface="Consolas" pitchFamily="49" charset="0"/>
              </a:rPr>
              <a:t>S</a:t>
            </a:r>
            <a:r>
              <a:rPr lang="en-US" sz="2000" i="1" baseline="-25000" smtClean="0">
                <a:solidFill>
                  <a:srgbClr val="0000FF"/>
                </a:solidFill>
                <a:latin typeface="Consolas" pitchFamily="49" charset="0"/>
                <a:ea typeface="仿宋" pitchFamily="49" charset="-122"/>
                <a:cs typeface="Consolas" pitchFamily="49" charset="0"/>
              </a:rPr>
              <a:t>i</a:t>
            </a:r>
            <a:r>
              <a:rPr lang="zh-CN" altLang="en-US" sz="2000" smtClean="0">
                <a:solidFill>
                  <a:srgbClr val="0000FF"/>
                </a:solidFill>
                <a:latin typeface="Consolas" pitchFamily="49" charset="0"/>
                <a:ea typeface="仿宋" pitchFamily="49" charset="-122"/>
                <a:cs typeface="Consolas" pitchFamily="49" charset="0"/>
              </a:rPr>
              <a:t>（</a:t>
            </a:r>
            <a:r>
              <a:rPr lang="en-US"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mj-ea"/>
                <a:ea typeface="+mj-ea"/>
                <a:cs typeface="Consolas" pitchFamily="49" charset="0"/>
              </a:rPr>
              <a:t>≤</a:t>
            </a:r>
            <a:r>
              <a:rPr lang="en-US" sz="2000" i="1" smtClean="0">
                <a:solidFill>
                  <a:srgbClr val="0000FF"/>
                </a:solidFill>
                <a:latin typeface="Consolas" pitchFamily="49" charset="0"/>
                <a:ea typeface="仿宋" pitchFamily="49" charset="-122"/>
                <a:cs typeface="Consolas" pitchFamily="49" charset="0"/>
              </a:rPr>
              <a:t>i</a:t>
            </a:r>
            <a:r>
              <a:rPr lang="zh-CN" altLang="en-US" sz="2000" smtClean="0">
                <a:solidFill>
                  <a:srgbClr val="0000FF"/>
                </a:solidFill>
                <a:latin typeface="+mj-ea"/>
                <a:ea typeface="+mj-ea"/>
                <a:cs typeface="Consolas" pitchFamily="49" charset="0"/>
              </a:rPr>
              <a:t>≤</a:t>
            </a:r>
            <a:r>
              <a:rPr lang="en-US" sz="2000" i="1" smtClean="0">
                <a:solidFill>
                  <a:srgbClr val="0000FF"/>
                </a:solidFill>
                <a:latin typeface="Consolas" pitchFamily="49" charset="0"/>
                <a:ea typeface="仿宋" pitchFamily="49" charset="-122"/>
                <a:cs typeface="Consolas" pitchFamily="49" charset="0"/>
              </a:rPr>
              <a:t>n</a:t>
            </a:r>
            <a:r>
              <a:rPr lang="zh-CN" altLang="en-US" sz="2000" smtClean="0">
                <a:solidFill>
                  <a:srgbClr val="0000FF"/>
                </a:solidFill>
                <a:latin typeface="Consolas" pitchFamily="49" charset="0"/>
                <a:ea typeface="仿宋" pitchFamily="49" charset="-122"/>
                <a:cs typeface="Consolas" pitchFamily="49" charset="0"/>
              </a:rPr>
              <a:t>）仅仅包含一个编号为</a:t>
            </a:r>
            <a:r>
              <a:rPr lang="en-US" sz="2000" i="1" smtClean="0">
                <a:solidFill>
                  <a:srgbClr val="0000FF"/>
                </a:solidFill>
                <a:latin typeface="Consolas" pitchFamily="49" charset="0"/>
                <a:ea typeface="仿宋" pitchFamily="49" charset="-122"/>
                <a:cs typeface="Consolas" pitchFamily="49" charset="0"/>
              </a:rPr>
              <a:t>i</a:t>
            </a:r>
            <a:r>
              <a:rPr lang="zh-CN" altLang="en-US" sz="2000" smtClean="0">
                <a:solidFill>
                  <a:srgbClr val="0000FF"/>
                </a:solidFill>
                <a:latin typeface="Consolas" pitchFamily="49" charset="0"/>
                <a:ea typeface="仿宋" pitchFamily="49" charset="-122"/>
                <a:cs typeface="Consolas" pitchFamily="49" charset="0"/>
              </a:rPr>
              <a:t>的元素，该元素作为集合</a:t>
            </a:r>
            <a:r>
              <a:rPr lang="en-US" sz="2000" i="1" smtClean="0">
                <a:solidFill>
                  <a:srgbClr val="0000FF"/>
                </a:solidFill>
                <a:latin typeface="Consolas" pitchFamily="49" charset="0"/>
                <a:ea typeface="仿宋" pitchFamily="49" charset="-122"/>
                <a:cs typeface="Consolas" pitchFamily="49" charset="0"/>
              </a:rPr>
              <a:t>S</a:t>
            </a:r>
            <a:r>
              <a:rPr lang="en-US" sz="2000" i="1" baseline="-25000" smtClean="0">
                <a:solidFill>
                  <a:srgbClr val="0000FF"/>
                </a:solidFill>
                <a:latin typeface="Consolas" pitchFamily="49" charset="0"/>
                <a:ea typeface="仿宋" pitchFamily="49" charset="-122"/>
                <a:cs typeface="Consolas" pitchFamily="49" charset="0"/>
              </a:rPr>
              <a:t>i</a:t>
            </a:r>
            <a:r>
              <a:rPr lang="zh-CN" altLang="en-US" sz="2000" smtClean="0">
                <a:solidFill>
                  <a:srgbClr val="0000FF"/>
                </a:solidFill>
                <a:latin typeface="Consolas" pitchFamily="49" charset="0"/>
                <a:ea typeface="仿宋" pitchFamily="49" charset="-122"/>
                <a:cs typeface="Consolas" pitchFamily="49" charset="0"/>
              </a:rPr>
              <a:t>的“代表”。</a:t>
            </a:r>
            <a:endParaRPr kumimoji="1"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600"/>
              </a:spcBef>
              <a:buBlip>
                <a:blip r:embed="rId2"/>
              </a:buBlip>
            </a:pPr>
            <a:r>
              <a:rPr lang="en-US" sz="2000" smtClean="0">
                <a:solidFill>
                  <a:srgbClr val="FF0000"/>
                </a:solidFill>
                <a:latin typeface="Consolas" pitchFamily="49" charset="0"/>
                <a:ea typeface="仿宋" pitchFamily="49" charset="-122"/>
                <a:cs typeface="Consolas" pitchFamily="49" charset="0"/>
              </a:rPr>
              <a:t>FIND(S</a:t>
            </a:r>
            <a:r>
              <a:rPr lang="zh-CN" altLang="en-US" sz="2000" smtClean="0">
                <a:solidFill>
                  <a:srgbClr val="FF0000"/>
                </a:solidFill>
                <a:latin typeface="Consolas" pitchFamily="49" charset="0"/>
                <a:ea typeface="仿宋" pitchFamily="49" charset="-122"/>
                <a:cs typeface="Consolas" pitchFamily="49" charset="0"/>
              </a:rPr>
              <a:t>，</a:t>
            </a:r>
            <a:r>
              <a:rPr lang="en-US" sz="2000" i="1" smtClean="0">
                <a:solidFill>
                  <a:srgbClr val="FF0000"/>
                </a:solidFill>
                <a:latin typeface="Consolas" pitchFamily="49" charset="0"/>
                <a:ea typeface="仿宋" pitchFamily="49" charset="-122"/>
                <a:cs typeface="Consolas" pitchFamily="49" charset="0"/>
              </a:rPr>
              <a:t>x</a:t>
            </a:r>
            <a:r>
              <a:rPr lang="en-US" sz="2000" smtClean="0">
                <a:solidFill>
                  <a:srgbClr val="FF0000"/>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：返回并查集</a:t>
            </a:r>
            <a:r>
              <a:rPr lang="en-US" sz="2000" i="1" smtClean="0">
                <a:solidFill>
                  <a:srgbClr val="0000FF"/>
                </a:solidFill>
                <a:latin typeface="Consolas" pitchFamily="49" charset="0"/>
                <a:ea typeface="仿宋" pitchFamily="49" charset="-122"/>
                <a:cs typeface="Consolas" pitchFamily="49" charset="0"/>
              </a:rPr>
              <a:t>S</a:t>
            </a:r>
            <a:r>
              <a:rPr lang="zh-CN" altLang="en-US" sz="2000" smtClean="0">
                <a:solidFill>
                  <a:srgbClr val="0000FF"/>
                </a:solidFill>
                <a:latin typeface="Consolas" pitchFamily="49" charset="0"/>
                <a:ea typeface="仿宋" pitchFamily="49" charset="-122"/>
                <a:cs typeface="Consolas" pitchFamily="49" charset="0"/>
              </a:rPr>
              <a:t>中</a:t>
            </a:r>
            <a:r>
              <a:rPr lang="en-US" sz="2000" i="1" smtClean="0">
                <a:solidFill>
                  <a:srgbClr val="0000FF"/>
                </a:solidFill>
                <a:latin typeface="Consolas" pitchFamily="49" charset="0"/>
                <a:ea typeface="仿宋" pitchFamily="49" charset="-122"/>
                <a:cs typeface="Consolas" pitchFamily="49" charset="0"/>
              </a:rPr>
              <a:t>x</a:t>
            </a:r>
            <a:r>
              <a:rPr lang="zh-CN" altLang="en-US" sz="2000" smtClean="0">
                <a:solidFill>
                  <a:srgbClr val="0000FF"/>
                </a:solidFill>
                <a:latin typeface="Consolas" pitchFamily="49" charset="0"/>
                <a:ea typeface="仿宋" pitchFamily="49" charset="-122"/>
                <a:cs typeface="Consolas" pitchFamily="49" charset="0"/>
              </a:rPr>
              <a:t>元素所在集合的代表。 </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600"/>
              </a:spcBef>
              <a:buBlip>
                <a:blip r:embed="rId2"/>
              </a:buBlip>
            </a:pPr>
            <a:r>
              <a:rPr lang="en-US" sz="2000" smtClean="0">
                <a:solidFill>
                  <a:srgbClr val="FF0000"/>
                </a:solidFill>
                <a:latin typeface="Consolas" pitchFamily="49" charset="0"/>
                <a:ea typeface="仿宋" pitchFamily="49" charset="-122"/>
                <a:cs typeface="Consolas" pitchFamily="49" charset="0"/>
              </a:rPr>
              <a:t>UNION(S</a:t>
            </a:r>
            <a:r>
              <a:rPr lang="zh-CN" altLang="en-US" sz="2000" smtClean="0">
                <a:solidFill>
                  <a:srgbClr val="FF0000"/>
                </a:solidFill>
                <a:latin typeface="Consolas" pitchFamily="49" charset="0"/>
                <a:ea typeface="仿宋" pitchFamily="49" charset="-122"/>
                <a:cs typeface="Consolas" pitchFamily="49" charset="0"/>
              </a:rPr>
              <a:t>，</a:t>
            </a:r>
            <a:r>
              <a:rPr lang="en-US" sz="2000" i="1" smtClean="0">
                <a:solidFill>
                  <a:srgbClr val="FF0000"/>
                </a:solidFill>
                <a:latin typeface="Consolas" pitchFamily="49" charset="0"/>
                <a:ea typeface="仿宋" pitchFamily="49" charset="-122"/>
                <a:cs typeface="Consolas" pitchFamily="49" charset="0"/>
              </a:rPr>
              <a:t>x</a:t>
            </a:r>
            <a:r>
              <a:rPr lang="zh-CN" altLang="en-US" sz="2000" smtClean="0">
                <a:solidFill>
                  <a:srgbClr val="FF0000"/>
                </a:solidFill>
                <a:latin typeface="Consolas" pitchFamily="49" charset="0"/>
                <a:ea typeface="仿宋" pitchFamily="49" charset="-122"/>
                <a:cs typeface="Consolas" pitchFamily="49" charset="0"/>
              </a:rPr>
              <a:t>，</a:t>
            </a:r>
            <a:r>
              <a:rPr lang="en-US" sz="2000" i="1" smtClean="0">
                <a:solidFill>
                  <a:srgbClr val="FF0000"/>
                </a:solidFill>
                <a:latin typeface="Consolas" pitchFamily="49" charset="0"/>
                <a:ea typeface="仿宋" pitchFamily="49" charset="-122"/>
                <a:cs typeface="Consolas" pitchFamily="49" charset="0"/>
              </a:rPr>
              <a:t>y</a:t>
            </a:r>
            <a:r>
              <a:rPr lang="en-US" sz="2000" smtClean="0">
                <a:solidFill>
                  <a:srgbClr val="FF0000"/>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：在并查集</a:t>
            </a:r>
            <a:r>
              <a:rPr lang="en-US" sz="2000" i="1" smtClean="0">
                <a:solidFill>
                  <a:srgbClr val="0000FF"/>
                </a:solidFill>
                <a:latin typeface="Consolas" pitchFamily="49" charset="0"/>
                <a:ea typeface="仿宋" pitchFamily="49" charset="-122"/>
                <a:cs typeface="Consolas" pitchFamily="49" charset="0"/>
              </a:rPr>
              <a:t>S</a:t>
            </a:r>
            <a:r>
              <a:rPr lang="zh-CN" altLang="en-US" sz="2000" smtClean="0">
                <a:solidFill>
                  <a:srgbClr val="0000FF"/>
                </a:solidFill>
                <a:latin typeface="Consolas" pitchFamily="49" charset="0"/>
                <a:ea typeface="仿宋" pitchFamily="49" charset="-122"/>
                <a:cs typeface="Consolas" pitchFamily="49" charset="0"/>
              </a:rPr>
              <a:t>中将</a:t>
            </a:r>
            <a:r>
              <a:rPr lang="en-US" sz="2000" i="1" smtClean="0">
                <a:solidFill>
                  <a:srgbClr val="0000FF"/>
                </a:solidFill>
                <a:latin typeface="Consolas" pitchFamily="49" charset="0"/>
                <a:ea typeface="仿宋" pitchFamily="49" charset="-122"/>
                <a:cs typeface="Consolas" pitchFamily="49" charset="0"/>
              </a:rPr>
              <a:t>x</a:t>
            </a:r>
            <a:r>
              <a:rPr lang="zh-CN" altLang="en-US" sz="2000" smtClean="0">
                <a:solidFill>
                  <a:srgbClr val="0000FF"/>
                </a:solidFill>
                <a:latin typeface="Consolas" pitchFamily="49" charset="0"/>
                <a:ea typeface="仿宋" pitchFamily="49" charset="-122"/>
                <a:cs typeface="Consolas" pitchFamily="49" charset="0"/>
              </a:rPr>
              <a:t>和</a:t>
            </a:r>
            <a:r>
              <a:rPr lang="en-US" sz="2000" i="1" smtClean="0">
                <a:solidFill>
                  <a:srgbClr val="0000FF"/>
                </a:solidFill>
                <a:latin typeface="Consolas" pitchFamily="49" charset="0"/>
                <a:ea typeface="仿宋" pitchFamily="49" charset="-122"/>
                <a:cs typeface="Consolas" pitchFamily="49" charset="0"/>
              </a:rPr>
              <a:t>y</a:t>
            </a:r>
            <a:r>
              <a:rPr lang="zh-CN" altLang="en-US" sz="2000" smtClean="0">
                <a:solidFill>
                  <a:srgbClr val="0000FF"/>
                </a:solidFill>
                <a:latin typeface="Consolas" pitchFamily="49" charset="0"/>
                <a:ea typeface="仿宋" pitchFamily="49" charset="-122"/>
                <a:cs typeface="Consolas" pitchFamily="49" charset="0"/>
              </a:rPr>
              <a:t>两个元素所在的动态集合（例如</a:t>
            </a:r>
            <a:r>
              <a:rPr lang="en-US" sz="2000" i="1" smtClean="0">
                <a:solidFill>
                  <a:srgbClr val="0000FF"/>
                </a:solidFill>
                <a:latin typeface="Consolas" pitchFamily="49" charset="0"/>
                <a:ea typeface="仿宋" pitchFamily="49" charset="-122"/>
                <a:cs typeface="Consolas" pitchFamily="49" charset="0"/>
              </a:rPr>
              <a:t>S</a:t>
            </a:r>
            <a:r>
              <a:rPr lang="en-US" sz="2000" i="1" baseline="-25000" smtClean="0">
                <a:solidFill>
                  <a:srgbClr val="0000FF"/>
                </a:solidFill>
                <a:latin typeface="Consolas" pitchFamily="49" charset="0"/>
                <a:ea typeface="仿宋" pitchFamily="49" charset="-122"/>
                <a:cs typeface="Consolas" pitchFamily="49" charset="0"/>
              </a:rPr>
              <a:t>x</a:t>
            </a:r>
            <a:r>
              <a:rPr lang="zh-CN" altLang="en-US" sz="2000" smtClean="0">
                <a:solidFill>
                  <a:srgbClr val="0000FF"/>
                </a:solidFill>
                <a:latin typeface="Consolas" pitchFamily="49" charset="0"/>
                <a:ea typeface="仿宋" pitchFamily="49" charset="-122"/>
                <a:cs typeface="Consolas" pitchFamily="49" charset="0"/>
              </a:rPr>
              <a:t>和</a:t>
            </a:r>
            <a:r>
              <a:rPr lang="en-US" sz="2000" i="1" smtClean="0">
                <a:solidFill>
                  <a:srgbClr val="0000FF"/>
                </a:solidFill>
                <a:latin typeface="Consolas" pitchFamily="49" charset="0"/>
                <a:ea typeface="仿宋" pitchFamily="49" charset="-122"/>
                <a:cs typeface="Consolas" pitchFamily="49" charset="0"/>
              </a:rPr>
              <a:t>S</a:t>
            </a:r>
            <a:r>
              <a:rPr lang="en-US" sz="2000" i="1" baseline="-25000" smtClean="0">
                <a:solidFill>
                  <a:srgbClr val="0000FF"/>
                </a:solidFill>
                <a:latin typeface="Consolas" pitchFamily="49" charset="0"/>
                <a:ea typeface="仿宋" pitchFamily="49" charset="-122"/>
                <a:cs typeface="Consolas" pitchFamily="49" charset="0"/>
              </a:rPr>
              <a:t>y</a:t>
            </a:r>
            <a:r>
              <a:rPr lang="zh-CN" altLang="en-US" sz="2000" smtClean="0">
                <a:solidFill>
                  <a:srgbClr val="0000FF"/>
                </a:solidFill>
                <a:latin typeface="Consolas" pitchFamily="49" charset="0"/>
                <a:ea typeface="仿宋" pitchFamily="49" charset="-122"/>
                <a:cs typeface="Consolas" pitchFamily="49" charset="0"/>
              </a:rPr>
              <a:t>）合并为一个新的集合</a:t>
            </a:r>
            <a:r>
              <a:rPr lang="en-US" sz="2000" i="1" smtClean="0">
                <a:solidFill>
                  <a:srgbClr val="0000FF"/>
                </a:solidFill>
                <a:latin typeface="Consolas" pitchFamily="49" charset="0"/>
                <a:ea typeface="仿宋" pitchFamily="49" charset="-122"/>
                <a:cs typeface="Consolas" pitchFamily="49" charset="0"/>
              </a:rPr>
              <a:t>S</a:t>
            </a:r>
            <a:r>
              <a:rPr lang="en-US" sz="2000" i="1" baseline="-25000" smtClean="0">
                <a:solidFill>
                  <a:srgbClr val="0000FF"/>
                </a:solidFill>
                <a:latin typeface="Consolas" pitchFamily="49" charset="0"/>
                <a:ea typeface="仿宋" pitchFamily="49" charset="-122"/>
                <a:cs typeface="Consolas" pitchFamily="49" charset="0"/>
              </a:rPr>
              <a:t>x</a:t>
            </a:r>
            <a:r>
              <a:rPr lang="zh-CN" altLang="en-US" sz="2000" smtClean="0">
                <a:solidFill>
                  <a:srgbClr val="0000FF"/>
                </a:solidFill>
                <a:latin typeface="Consolas" pitchFamily="49" charset="0"/>
                <a:ea typeface="仿宋" pitchFamily="49" charset="-122"/>
                <a:cs typeface="Consolas" pitchFamily="49" charset="0"/>
              </a:rPr>
              <a:t>∪</a:t>
            </a:r>
            <a:r>
              <a:rPr lang="en-US" sz="2000" i="1" smtClean="0">
                <a:solidFill>
                  <a:srgbClr val="0000FF"/>
                </a:solidFill>
                <a:latin typeface="Consolas" pitchFamily="49" charset="0"/>
                <a:ea typeface="仿宋" pitchFamily="49" charset="-122"/>
                <a:cs typeface="Consolas" pitchFamily="49" charset="0"/>
              </a:rPr>
              <a:t>S</a:t>
            </a:r>
            <a:r>
              <a:rPr lang="en-US" sz="2000" i="1" baseline="-25000" smtClean="0">
                <a:solidFill>
                  <a:srgbClr val="0000FF"/>
                </a:solidFill>
                <a:latin typeface="Consolas" pitchFamily="49" charset="0"/>
                <a:ea typeface="仿宋" pitchFamily="49" charset="-122"/>
                <a:cs typeface="Consolas" pitchFamily="49" charset="0"/>
              </a:rPr>
              <a:t>y</a:t>
            </a:r>
            <a:r>
              <a:rPr lang="zh-CN" altLang="en-US" sz="2000" smtClean="0">
                <a:solidFill>
                  <a:srgbClr val="0000FF"/>
                </a:solidFill>
                <a:latin typeface="Consolas" pitchFamily="49" charset="0"/>
                <a:ea typeface="仿宋" pitchFamily="49" charset="-122"/>
                <a:cs typeface="Consolas" pitchFamily="49" charset="0"/>
              </a:rPr>
              <a:t>。</a:t>
            </a:r>
            <a:endParaRPr kumimoji="1" lang="zh-CN" altLang="en-US" sz="2000" dirty="0">
              <a:solidFill>
                <a:srgbClr val="0000FF"/>
              </a:solidFill>
              <a:latin typeface="Consolas" pitchFamily="49" charset="0"/>
              <a:ea typeface="仿宋" pitchFamily="49" charset="-122"/>
              <a:cs typeface="Consolas" pitchFamily="49" charset="0"/>
            </a:endParaRPr>
          </a:p>
        </p:txBody>
      </p:sp>
      <p:sp>
        <p:nvSpPr>
          <p:cNvPr id="17" name="矩形 16"/>
          <p:cNvSpPr/>
          <p:nvPr/>
        </p:nvSpPr>
        <p:spPr>
          <a:xfrm>
            <a:off x="1357290" y="714356"/>
            <a:ext cx="6000792"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smtClean="0">
                <a:solidFill>
                  <a:srgbClr val="0000FF"/>
                </a:solidFill>
                <a:latin typeface="Consolas" pitchFamily="49" charset="0"/>
                <a:ea typeface="仿宋" pitchFamily="49" charset="-122"/>
                <a:cs typeface="Consolas" pitchFamily="49" charset="0"/>
              </a:rPr>
              <a:t>{ {1</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2</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3</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4}</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{5</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6</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7}</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{8</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9}</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{10} }</a:t>
            </a:r>
            <a:endParaRPr lang="zh-CN" altLang="en-US" sz="2000">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54</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Text Box 5"/>
          <p:cNvSpPr txBox="1">
            <a:spLocks noChangeArrowheads="1"/>
          </p:cNvSpPr>
          <p:nvPr/>
        </p:nvSpPr>
        <p:spPr bwMode="auto">
          <a:xfrm>
            <a:off x="785786" y="785794"/>
            <a:ext cx="7786742" cy="2041585"/>
          </a:xfrm>
          <a:prstGeom prst="rect">
            <a:avLst/>
          </a:prstGeom>
          <a:ln>
            <a:solidFill>
              <a:schemeClr val="accent6">
                <a:lumMod val="20000"/>
                <a:lumOff val="8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ts val="28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用</a:t>
            </a:r>
            <a:r>
              <a:rPr lang="zh-CN" altLang="en-US" sz="2000">
                <a:solidFill>
                  <a:srgbClr val="FF0000"/>
                </a:solidFill>
                <a:latin typeface="Consolas" pitchFamily="49" charset="0"/>
                <a:ea typeface="仿宋" pitchFamily="49" charset="-122"/>
                <a:cs typeface="Consolas" pitchFamily="49" charset="0"/>
              </a:rPr>
              <a:t>有根树</a:t>
            </a:r>
            <a:r>
              <a:rPr lang="zh-CN" altLang="en-US" sz="2000">
                <a:solidFill>
                  <a:srgbClr val="0000FF"/>
                </a:solidFill>
                <a:latin typeface="Consolas" pitchFamily="49" charset="0"/>
                <a:ea typeface="仿宋" pitchFamily="49" charset="-122"/>
                <a:cs typeface="Consolas" pitchFamily="49" charset="0"/>
              </a:rPr>
              <a:t>来表示</a:t>
            </a:r>
            <a:r>
              <a:rPr lang="zh-CN" altLang="en-US" sz="2000" smtClean="0">
                <a:solidFill>
                  <a:srgbClr val="0000FF"/>
                </a:solidFill>
                <a:latin typeface="Consolas" pitchFamily="49" charset="0"/>
                <a:ea typeface="仿宋" pitchFamily="49" charset="-122"/>
                <a:cs typeface="Consolas" pitchFamily="49" charset="0"/>
              </a:rPr>
              <a:t>集合，树</a:t>
            </a:r>
            <a:r>
              <a:rPr lang="zh-CN" altLang="en-US" sz="2000">
                <a:solidFill>
                  <a:srgbClr val="0000FF"/>
                </a:solidFill>
                <a:latin typeface="Consolas" pitchFamily="49" charset="0"/>
                <a:ea typeface="仿宋" pitchFamily="49" charset="-122"/>
                <a:cs typeface="Consolas" pitchFamily="49" charset="0"/>
              </a:rPr>
              <a:t>中的</a:t>
            </a:r>
            <a:r>
              <a:rPr lang="zh-CN" altLang="en-US" sz="2000" smtClean="0">
                <a:solidFill>
                  <a:srgbClr val="0000FF"/>
                </a:solidFill>
                <a:latin typeface="Consolas" pitchFamily="49" charset="0"/>
                <a:ea typeface="仿宋" pitchFamily="49" charset="-122"/>
                <a:cs typeface="Consolas" pitchFamily="49" charset="0"/>
              </a:rPr>
              <a:t>每个结点包含</a:t>
            </a:r>
            <a:r>
              <a:rPr lang="zh-CN" altLang="en-US" sz="2000">
                <a:solidFill>
                  <a:srgbClr val="0000FF"/>
                </a:solidFill>
                <a:latin typeface="Consolas" pitchFamily="49" charset="0"/>
                <a:ea typeface="仿宋" pitchFamily="49" charset="-122"/>
                <a:cs typeface="Consolas" pitchFamily="49" charset="0"/>
              </a:rPr>
              <a:t>集合的一个</a:t>
            </a:r>
            <a:r>
              <a:rPr lang="zh-CN" altLang="en-US" sz="2000" smtClean="0">
                <a:solidFill>
                  <a:srgbClr val="0000FF"/>
                </a:solidFill>
                <a:latin typeface="Consolas" pitchFamily="49" charset="0"/>
                <a:ea typeface="仿宋" pitchFamily="49" charset="-122"/>
                <a:cs typeface="Consolas" pitchFamily="49" charset="0"/>
              </a:rPr>
              <a:t>成员，每</a:t>
            </a:r>
            <a:r>
              <a:rPr lang="zh-CN" altLang="en-US" sz="2000">
                <a:solidFill>
                  <a:srgbClr val="0000FF"/>
                </a:solidFill>
                <a:latin typeface="Consolas" pitchFamily="49" charset="0"/>
                <a:ea typeface="仿宋" pitchFamily="49" charset="-122"/>
                <a:cs typeface="Consolas" pitchFamily="49" charset="0"/>
              </a:rPr>
              <a:t>棵树表示一个集合。</a:t>
            </a:r>
          </a:p>
          <a:p>
            <a:pPr marL="457200" indent="-457200" algn="l">
              <a:lnSpc>
                <a:spcPts val="28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多</a:t>
            </a:r>
            <a:r>
              <a:rPr lang="zh-CN" altLang="en-US" sz="2000">
                <a:solidFill>
                  <a:srgbClr val="0000FF"/>
                </a:solidFill>
                <a:latin typeface="Consolas" pitchFamily="49" charset="0"/>
                <a:ea typeface="仿宋" pitchFamily="49" charset="-122"/>
                <a:cs typeface="Consolas" pitchFamily="49" charset="0"/>
              </a:rPr>
              <a:t>个集合形成一个</a:t>
            </a:r>
            <a:r>
              <a:rPr lang="zh-CN" altLang="en-US" sz="2000" smtClean="0">
                <a:solidFill>
                  <a:srgbClr val="FF0000"/>
                </a:solidFill>
                <a:latin typeface="Consolas" pitchFamily="49" charset="0"/>
                <a:ea typeface="仿宋" pitchFamily="49" charset="-122"/>
                <a:cs typeface="Consolas" pitchFamily="49" charset="0"/>
              </a:rPr>
              <a:t>森林</a:t>
            </a:r>
            <a:r>
              <a:rPr lang="zh-CN" altLang="en-US" sz="2000" smtClean="0">
                <a:solidFill>
                  <a:srgbClr val="0000FF"/>
                </a:solidFill>
                <a:latin typeface="Consolas" pitchFamily="49" charset="0"/>
                <a:ea typeface="仿宋" pitchFamily="49" charset="-122"/>
                <a:cs typeface="Consolas" pitchFamily="49" charset="0"/>
              </a:rPr>
              <a:t>，以</a:t>
            </a:r>
            <a:r>
              <a:rPr lang="zh-CN" altLang="en-US" sz="2000">
                <a:solidFill>
                  <a:srgbClr val="0000FF"/>
                </a:solidFill>
                <a:latin typeface="Consolas" pitchFamily="49" charset="0"/>
                <a:ea typeface="仿宋" pitchFamily="49" charset="-122"/>
                <a:cs typeface="Consolas" pitchFamily="49" charset="0"/>
              </a:rPr>
              <a:t>每棵树的树根作为集合的</a:t>
            </a:r>
            <a:r>
              <a:rPr lang="zh-CN" altLang="en-US" sz="2000" smtClean="0">
                <a:solidFill>
                  <a:srgbClr val="0000FF"/>
                </a:solidFill>
                <a:latin typeface="Consolas" pitchFamily="49" charset="0"/>
                <a:ea typeface="仿宋" pitchFamily="49" charset="-122"/>
                <a:cs typeface="Consolas" pitchFamily="49" charset="0"/>
              </a:rPr>
              <a:t>代表，并且</a:t>
            </a:r>
            <a:r>
              <a:rPr lang="zh-CN" altLang="en-US" sz="2000">
                <a:solidFill>
                  <a:srgbClr val="0000FF"/>
                </a:solidFill>
                <a:latin typeface="Consolas" pitchFamily="49" charset="0"/>
                <a:ea typeface="仿宋" pitchFamily="49" charset="-122"/>
                <a:cs typeface="Consolas" pitchFamily="49" charset="0"/>
              </a:rPr>
              <a:t>根结点的父结点指向其</a:t>
            </a:r>
            <a:r>
              <a:rPr lang="zh-CN" altLang="en-US" sz="2000" smtClean="0">
                <a:solidFill>
                  <a:srgbClr val="0000FF"/>
                </a:solidFill>
                <a:latin typeface="Consolas" pitchFamily="49" charset="0"/>
                <a:ea typeface="仿宋" pitchFamily="49" charset="-122"/>
                <a:cs typeface="Consolas" pitchFamily="49" charset="0"/>
              </a:rPr>
              <a:t>自身，树</a:t>
            </a:r>
            <a:r>
              <a:rPr lang="zh-CN" altLang="en-US" sz="2000">
                <a:solidFill>
                  <a:srgbClr val="0000FF"/>
                </a:solidFill>
                <a:latin typeface="Consolas" pitchFamily="49" charset="0"/>
                <a:ea typeface="仿宋" pitchFamily="49" charset="-122"/>
                <a:cs typeface="Consolas" pitchFamily="49" charset="0"/>
              </a:rPr>
              <a:t>上的其他结点都用一个父指针表示它的附属关系。       </a:t>
            </a:r>
          </a:p>
        </p:txBody>
      </p:sp>
      <p:sp>
        <p:nvSpPr>
          <p:cNvPr id="13" name="TextBox 12"/>
          <p:cNvSpPr txBox="1"/>
          <p:nvPr/>
        </p:nvSpPr>
        <p:spPr>
          <a:xfrm>
            <a:off x="3214678" y="5186770"/>
            <a:ext cx="2143140" cy="313932"/>
          </a:xfrm>
          <a:prstGeom prst="rect">
            <a:avLst/>
          </a:prstGeom>
          <a:noFill/>
        </p:spPr>
        <p:txBody>
          <a:bodyPr wrap="square"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集合</a:t>
            </a:r>
            <a:endParaRPr lang="zh-CN" altLang="en-US" sz="1800">
              <a:solidFill>
                <a:srgbClr val="0000FF"/>
              </a:solidFill>
              <a:latin typeface="Consolas" pitchFamily="49" charset="0"/>
              <a:ea typeface="仿宋" pitchFamily="49" charset="-122"/>
              <a:cs typeface="Consolas" pitchFamily="49" charset="0"/>
            </a:endParaRPr>
          </a:p>
        </p:txBody>
      </p:sp>
      <p:grpSp>
        <p:nvGrpSpPr>
          <p:cNvPr id="2" name="组合 17"/>
          <p:cNvGrpSpPr/>
          <p:nvPr/>
        </p:nvGrpSpPr>
        <p:grpSpPr>
          <a:xfrm>
            <a:off x="3286116" y="3115069"/>
            <a:ext cx="1714512" cy="1785950"/>
            <a:chOff x="3286116" y="2500306"/>
            <a:chExt cx="2000264" cy="2361391"/>
          </a:xfrm>
        </p:grpSpPr>
        <p:sp>
          <p:nvSpPr>
            <p:cNvPr id="9" name="椭圆 8"/>
            <p:cNvSpPr/>
            <p:nvPr/>
          </p:nvSpPr>
          <p:spPr>
            <a:xfrm>
              <a:off x="4143372" y="2718557"/>
              <a:ext cx="428628" cy="50006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800" smtClean="0">
                  <a:solidFill>
                    <a:schemeClr val="bg1"/>
                  </a:solidFill>
                  <a:latin typeface="Consolas" pitchFamily="49" charset="0"/>
                  <a:ea typeface="仿宋" pitchFamily="49" charset="-122"/>
                  <a:cs typeface="Consolas" pitchFamily="49" charset="0"/>
                </a:rPr>
                <a:t>4</a:t>
              </a:r>
              <a:endParaRPr lang="zh-CN" altLang="en-US" sz="1800">
                <a:solidFill>
                  <a:schemeClr val="bg1"/>
                </a:solidFill>
                <a:latin typeface="Consolas" pitchFamily="49" charset="0"/>
                <a:ea typeface="仿宋" pitchFamily="49" charset="-122"/>
                <a:cs typeface="Consolas" pitchFamily="49" charset="0"/>
              </a:endParaRPr>
            </a:p>
          </p:txBody>
        </p:sp>
        <p:sp>
          <p:nvSpPr>
            <p:cNvPr id="10" name="椭圆 9"/>
            <p:cNvSpPr/>
            <p:nvPr/>
          </p:nvSpPr>
          <p:spPr>
            <a:xfrm>
              <a:off x="3500430" y="3504375"/>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3</a:t>
              </a:r>
              <a:endParaRPr lang="zh-CN" altLang="en-US" sz="1800">
                <a:solidFill>
                  <a:srgbClr val="0000FF"/>
                </a:solidFill>
                <a:latin typeface="Consolas" pitchFamily="49" charset="0"/>
                <a:ea typeface="仿宋" pitchFamily="49" charset="-122"/>
                <a:cs typeface="Consolas" pitchFamily="49" charset="0"/>
              </a:endParaRPr>
            </a:p>
          </p:txBody>
        </p:sp>
        <p:sp>
          <p:nvSpPr>
            <p:cNvPr id="11" name="椭圆 10"/>
            <p:cNvSpPr/>
            <p:nvPr/>
          </p:nvSpPr>
          <p:spPr>
            <a:xfrm>
              <a:off x="4857752" y="3504375"/>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2</a:t>
              </a:r>
              <a:endParaRPr lang="zh-CN" altLang="en-US" sz="1800">
                <a:solidFill>
                  <a:srgbClr val="0000FF"/>
                </a:solidFill>
                <a:latin typeface="Consolas" pitchFamily="49" charset="0"/>
                <a:ea typeface="仿宋" pitchFamily="49" charset="-122"/>
                <a:cs typeface="Consolas" pitchFamily="49" charset="0"/>
              </a:endParaRPr>
            </a:p>
          </p:txBody>
        </p:sp>
        <p:sp>
          <p:nvSpPr>
            <p:cNvPr id="12" name="椭圆 11"/>
            <p:cNvSpPr/>
            <p:nvPr/>
          </p:nvSpPr>
          <p:spPr>
            <a:xfrm>
              <a:off x="3286116" y="4361631"/>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800" smtClean="0">
                  <a:solidFill>
                    <a:srgbClr val="0000FF"/>
                  </a:solidFill>
                  <a:latin typeface="Consolas" pitchFamily="49" charset="0"/>
                  <a:ea typeface="仿宋" pitchFamily="49" charset="-122"/>
                  <a:cs typeface="Consolas" pitchFamily="49" charset="0"/>
                </a:rPr>
                <a:t>1</a:t>
              </a:r>
              <a:endParaRPr lang="zh-CN" altLang="en-US" sz="1800">
                <a:solidFill>
                  <a:srgbClr val="0000FF"/>
                </a:solidFill>
                <a:latin typeface="Consolas" pitchFamily="49" charset="0"/>
                <a:ea typeface="仿宋" pitchFamily="49" charset="-122"/>
                <a:cs typeface="Consolas" pitchFamily="49" charset="0"/>
              </a:endParaRPr>
            </a:p>
          </p:txBody>
        </p:sp>
        <p:cxnSp>
          <p:nvCxnSpPr>
            <p:cNvPr id="14" name="直接箭头连接符 13"/>
            <p:cNvCxnSpPr>
              <a:stCxn id="10" idx="7"/>
              <a:endCxn id="9" idx="3"/>
            </p:cNvCxnSpPr>
            <p:nvPr/>
          </p:nvCxnSpPr>
          <p:spPr>
            <a:xfrm rot="5400000" flipH="1" flipV="1">
              <a:off x="3820106" y="3191571"/>
              <a:ext cx="432218" cy="339856"/>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11" idx="1"/>
              <a:endCxn id="9" idx="5"/>
            </p:cNvCxnSpPr>
            <p:nvPr/>
          </p:nvCxnSpPr>
          <p:spPr>
            <a:xfrm rot="16200000" flipV="1">
              <a:off x="4498767" y="3155852"/>
              <a:ext cx="432218" cy="411294"/>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2" idx="0"/>
              <a:endCxn id="10" idx="4"/>
            </p:cNvCxnSpPr>
            <p:nvPr/>
          </p:nvCxnSpPr>
          <p:spPr>
            <a:xfrm rot="5400000" flipH="1" flipV="1">
              <a:off x="3428992" y="4075879"/>
              <a:ext cx="357190" cy="214314"/>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sp>
          <p:nvSpPr>
            <p:cNvPr id="17" name="任意多边形 16"/>
            <p:cNvSpPr/>
            <p:nvPr/>
          </p:nvSpPr>
          <p:spPr>
            <a:xfrm>
              <a:off x="4298585" y="2500306"/>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grpSp>
      <p:sp>
        <p:nvSpPr>
          <p:cNvPr id="18" name="灯片编号占位符 17"/>
          <p:cNvSpPr>
            <a:spLocks noGrp="1"/>
          </p:cNvSpPr>
          <p:nvPr>
            <p:ph type="sldNum" sz="quarter" idx="12"/>
          </p:nvPr>
        </p:nvSpPr>
        <p:spPr/>
        <p:txBody>
          <a:bodyPr/>
          <a:lstStyle/>
          <a:p>
            <a:fld id="{67864EE2-EAB3-4814-A7EB-820BD7610F1E}" type="slidenum">
              <a:rPr lang="en-US" altLang="zh-CN" smtClean="0"/>
              <a:pPr/>
              <a:t>55</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5"/>
          <p:cNvSpPr>
            <a:spLocks noChangeArrowheads="1"/>
          </p:cNvSpPr>
          <p:nvPr/>
        </p:nvSpPr>
        <p:spPr bwMode="auto">
          <a:xfrm>
            <a:off x="0" y="2728913"/>
            <a:ext cx="9144000" cy="0"/>
          </a:xfrm>
          <a:prstGeom prst="rect">
            <a:avLst/>
          </a:prstGeom>
          <a:noFill/>
          <a:ln w="9525">
            <a:noFill/>
            <a:miter lim="800000"/>
            <a:headEnd/>
            <a:tailEnd/>
          </a:ln>
        </p:spPr>
        <p:txBody>
          <a:bodyPr wrap="none" anchor="ctr">
            <a:spAutoFit/>
          </a:bodyPr>
          <a:lstStyle/>
          <a:p>
            <a:endParaRPr lang="zh-CN" altLang="en-US"/>
          </a:p>
        </p:txBody>
      </p:sp>
      <p:sp>
        <p:nvSpPr>
          <p:cNvPr id="20484" name="Text Box 6"/>
          <p:cNvSpPr txBox="1">
            <a:spLocks noChangeArrowheads="1"/>
          </p:cNvSpPr>
          <p:nvPr/>
        </p:nvSpPr>
        <p:spPr bwMode="auto">
          <a:xfrm>
            <a:off x="428596" y="428604"/>
            <a:ext cx="8353425" cy="1571071"/>
          </a:xfrm>
          <a:prstGeom prst="rect">
            <a:avLst/>
          </a:prstGeom>
          <a:noFill/>
          <a:ln w="9525">
            <a:noFill/>
            <a:miter lim="800000"/>
            <a:headEnd/>
            <a:tailEnd/>
          </a:ln>
        </p:spPr>
        <p:txBody>
          <a:bodyPr>
            <a:spAutoFit/>
          </a:bodyPr>
          <a:lstStyle/>
          <a:p>
            <a:pPr algn="l">
              <a:lnSpc>
                <a:spcPts val="2800"/>
              </a:lnSpc>
              <a:spcBef>
                <a:spcPts val="600"/>
              </a:spcBef>
            </a:pPr>
            <a:r>
              <a:rPr lang="zh-CN" altLang="en-US" sz="2000">
                <a:solidFill>
                  <a:srgbClr val="0000FF"/>
                </a:solidFill>
                <a:latin typeface="Consolas" pitchFamily="49" charset="0"/>
                <a:ea typeface="仿宋" pitchFamily="49" charset="-122"/>
                <a:cs typeface="Consolas" pitchFamily="49" charset="0"/>
              </a:rPr>
              <a:t>　</a:t>
            </a:r>
            <a:r>
              <a:rPr lang="zh-CN" altLang="en-US" sz="2000" smtClean="0">
                <a:solidFill>
                  <a:srgbClr val="0000FF"/>
                </a:solidFill>
                <a:latin typeface="Consolas" pitchFamily="49" charset="0"/>
                <a:ea typeface="仿宋" pitchFamily="49" charset="-122"/>
                <a:cs typeface="Consolas" pitchFamily="49" charset="0"/>
              </a:rPr>
              <a:t>　在并查集中，每个分离集合对应的一棵树，称为分离集合树。整个并查集也就是一棵分离集合森林。</a:t>
            </a:r>
          </a:p>
          <a:p>
            <a:pPr algn="l">
              <a:lnSpc>
                <a:spcPts val="2800"/>
              </a:lnSpc>
              <a:spcBef>
                <a:spcPts val="600"/>
              </a:spcBef>
            </a:pPr>
            <a:r>
              <a:rPr lang="zh-CN" altLang="en-US" sz="2000" smtClean="0">
                <a:solidFill>
                  <a:srgbClr val="0000FF"/>
                </a:solidFill>
                <a:latin typeface="Consolas" pitchFamily="49" charset="0"/>
                <a:ea typeface="仿宋" pitchFamily="49" charset="-122"/>
                <a:cs typeface="Consolas" pitchFamily="49" charset="0"/>
              </a:rPr>
              <a:t>　　</a:t>
            </a:r>
            <a:r>
              <a:rPr lang="en-US" altLang="zh-CN" sz="2000" smtClean="0">
                <a:solidFill>
                  <a:srgbClr val="0000FF"/>
                </a:solidFill>
                <a:latin typeface="Consolas" pitchFamily="49" charset="0"/>
                <a:ea typeface="仿宋" pitchFamily="49" charset="-122"/>
                <a:cs typeface="Consolas" pitchFamily="49" charset="0"/>
              </a:rPr>
              <a:t>4</a:t>
            </a:r>
            <a:r>
              <a:rPr lang="zh-CN" altLang="en-US" sz="2000" smtClean="0">
                <a:solidFill>
                  <a:srgbClr val="0000FF"/>
                </a:solidFill>
                <a:latin typeface="Consolas" pitchFamily="49" charset="0"/>
                <a:ea typeface="仿宋" pitchFamily="49" charset="-122"/>
                <a:cs typeface="Consolas" pitchFamily="49" charset="0"/>
              </a:rPr>
              <a:t>个集合</a:t>
            </a:r>
            <a:r>
              <a:rPr lang="en-US" altLang="zh-CN"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2</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3</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4}</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{5</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6</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7}</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{8</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9}</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{10}</a:t>
            </a:r>
            <a:r>
              <a:rPr lang="zh-CN" altLang="en-US" sz="2000" smtClean="0">
                <a:solidFill>
                  <a:srgbClr val="0000FF"/>
                </a:solidFill>
                <a:latin typeface="Consolas" pitchFamily="49" charset="0"/>
                <a:ea typeface="仿宋" pitchFamily="49" charset="-122"/>
                <a:cs typeface="Consolas" pitchFamily="49" charset="0"/>
              </a:rPr>
              <a:t>，分别以</a:t>
            </a:r>
            <a:r>
              <a:rPr lang="en-US" altLang="zh-CN" sz="2000" smtClean="0">
                <a:solidFill>
                  <a:srgbClr val="0000FF"/>
                </a:solidFill>
                <a:latin typeface="Consolas" pitchFamily="49" charset="0"/>
                <a:ea typeface="仿宋" pitchFamily="49" charset="-122"/>
                <a:cs typeface="Consolas" pitchFamily="49" charset="0"/>
              </a:rPr>
              <a:t>4</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7</a:t>
            </a:r>
            <a:r>
              <a:rPr lang="zh-CN" altLang="en-US" sz="2000" smtClean="0">
                <a:solidFill>
                  <a:srgbClr val="0000FF"/>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9</a:t>
            </a:r>
            <a:r>
              <a:rPr lang="zh-CN" altLang="en-US" sz="2000" smtClean="0">
                <a:solidFill>
                  <a:srgbClr val="0000FF"/>
                </a:solidFill>
                <a:latin typeface="Consolas" pitchFamily="49" charset="0"/>
                <a:ea typeface="仿宋" pitchFamily="49" charset="-122"/>
                <a:cs typeface="Consolas" pitchFamily="49" charset="0"/>
              </a:rPr>
              <a:t>和</a:t>
            </a:r>
            <a:r>
              <a:rPr lang="en-US" altLang="zh-CN" sz="2000" smtClean="0">
                <a:solidFill>
                  <a:srgbClr val="0000FF"/>
                </a:solidFill>
                <a:latin typeface="Consolas" pitchFamily="49" charset="0"/>
                <a:ea typeface="仿宋" pitchFamily="49" charset="-122"/>
                <a:cs typeface="Consolas" pitchFamily="49" charset="0"/>
              </a:rPr>
              <a:t>10</a:t>
            </a:r>
            <a:r>
              <a:rPr lang="zh-CN" altLang="en-US" sz="2000" smtClean="0">
                <a:solidFill>
                  <a:srgbClr val="0000FF"/>
                </a:solidFill>
                <a:latin typeface="Consolas" pitchFamily="49" charset="0"/>
                <a:ea typeface="仿宋" pitchFamily="49" charset="-122"/>
                <a:cs typeface="Consolas" pitchFamily="49" charset="0"/>
              </a:rPr>
              <a:t>表示对应集合的编号。 </a:t>
            </a:r>
            <a:endParaRPr lang="zh-CN" altLang="en-US" sz="2000" b="0">
              <a:solidFill>
                <a:srgbClr val="0000FF"/>
              </a:solidFill>
              <a:latin typeface="Consolas" pitchFamily="49" charset="0"/>
              <a:ea typeface="仿宋" pitchFamily="49" charset="-122"/>
              <a:cs typeface="Consolas" pitchFamily="49" charset="0"/>
            </a:endParaRPr>
          </a:p>
        </p:txBody>
      </p:sp>
      <p:grpSp>
        <p:nvGrpSpPr>
          <p:cNvPr id="2" name="组合 37"/>
          <p:cNvGrpSpPr/>
          <p:nvPr/>
        </p:nvGrpSpPr>
        <p:grpSpPr>
          <a:xfrm>
            <a:off x="285720" y="2500307"/>
            <a:ext cx="2083609" cy="2482964"/>
            <a:chOff x="357158" y="2500306"/>
            <a:chExt cx="2500330" cy="2996261"/>
          </a:xfrm>
        </p:grpSpPr>
        <p:sp>
          <p:nvSpPr>
            <p:cNvPr id="5" name="椭圆 4"/>
            <p:cNvSpPr/>
            <p:nvPr/>
          </p:nvSpPr>
          <p:spPr>
            <a:xfrm>
              <a:off x="1214414" y="2718557"/>
              <a:ext cx="428628" cy="50006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600" smtClean="0">
                  <a:latin typeface="Consolas" pitchFamily="49" charset="0"/>
                  <a:ea typeface="仿宋" pitchFamily="49" charset="-122"/>
                  <a:cs typeface="Consolas" pitchFamily="49" charset="0"/>
                </a:rPr>
                <a:t>4</a:t>
              </a:r>
              <a:endParaRPr lang="zh-CN" altLang="en-US" sz="1600">
                <a:latin typeface="Consolas" pitchFamily="49" charset="0"/>
                <a:ea typeface="仿宋" pitchFamily="49" charset="-122"/>
                <a:cs typeface="Consolas" pitchFamily="49" charset="0"/>
              </a:endParaRPr>
            </a:p>
          </p:txBody>
        </p:sp>
        <p:sp>
          <p:nvSpPr>
            <p:cNvPr id="6" name="椭圆 5"/>
            <p:cNvSpPr/>
            <p:nvPr/>
          </p:nvSpPr>
          <p:spPr>
            <a:xfrm>
              <a:off x="571472" y="3504375"/>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latin typeface="Consolas" pitchFamily="49" charset="0"/>
                  <a:ea typeface="仿宋" pitchFamily="49" charset="-122"/>
                  <a:cs typeface="Consolas" pitchFamily="49" charset="0"/>
                </a:rPr>
                <a:t>3</a:t>
              </a:r>
              <a:endParaRPr lang="zh-CN" altLang="en-US" sz="1600">
                <a:latin typeface="Consolas" pitchFamily="49" charset="0"/>
                <a:ea typeface="仿宋" pitchFamily="49" charset="-122"/>
                <a:cs typeface="Consolas" pitchFamily="49" charset="0"/>
              </a:endParaRPr>
            </a:p>
          </p:txBody>
        </p:sp>
        <p:sp>
          <p:nvSpPr>
            <p:cNvPr id="7" name="椭圆 6"/>
            <p:cNvSpPr/>
            <p:nvPr/>
          </p:nvSpPr>
          <p:spPr>
            <a:xfrm>
              <a:off x="1928794" y="3504375"/>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latin typeface="Consolas" pitchFamily="49" charset="0"/>
                  <a:ea typeface="仿宋" pitchFamily="49" charset="-122"/>
                  <a:cs typeface="Consolas" pitchFamily="49" charset="0"/>
                </a:rPr>
                <a:t>2</a:t>
              </a:r>
              <a:endParaRPr lang="zh-CN" altLang="en-US" sz="1600">
                <a:latin typeface="Consolas" pitchFamily="49" charset="0"/>
                <a:ea typeface="仿宋" pitchFamily="49" charset="-122"/>
                <a:cs typeface="Consolas" pitchFamily="49" charset="0"/>
              </a:endParaRPr>
            </a:p>
          </p:txBody>
        </p:sp>
        <p:sp>
          <p:nvSpPr>
            <p:cNvPr id="8" name="椭圆 7"/>
            <p:cNvSpPr/>
            <p:nvPr/>
          </p:nvSpPr>
          <p:spPr>
            <a:xfrm>
              <a:off x="357158" y="4361631"/>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latin typeface="Consolas" pitchFamily="49" charset="0"/>
                  <a:ea typeface="仿宋" pitchFamily="49" charset="-122"/>
                  <a:cs typeface="Consolas" pitchFamily="49" charset="0"/>
                </a:rPr>
                <a:t>1</a:t>
              </a:r>
              <a:endParaRPr lang="zh-CN" altLang="en-US" sz="1600">
                <a:latin typeface="Consolas" pitchFamily="49" charset="0"/>
                <a:ea typeface="仿宋" pitchFamily="49" charset="-122"/>
                <a:cs typeface="Consolas" pitchFamily="49" charset="0"/>
              </a:endParaRPr>
            </a:p>
          </p:txBody>
        </p:sp>
        <p:sp>
          <p:nvSpPr>
            <p:cNvPr id="9" name="TextBox 8"/>
            <p:cNvSpPr txBox="1"/>
            <p:nvPr/>
          </p:nvSpPr>
          <p:spPr>
            <a:xfrm>
              <a:off x="357158" y="5147449"/>
              <a:ext cx="2500330" cy="349118"/>
            </a:xfrm>
            <a:prstGeom prst="rect">
              <a:avLst/>
            </a:prstGeom>
            <a:noFill/>
          </p:spPr>
          <p:txBody>
            <a:bodyPr wrap="square" rtlCol="0">
              <a:spAutoFit/>
            </a:bodyPr>
            <a:lstStyle/>
            <a:p>
              <a:pPr algn="l"/>
              <a:r>
                <a:rPr lang="en-US" altLang="zh-CN" sz="1600" smtClean="0">
                  <a:solidFill>
                    <a:srgbClr val="FF00FF"/>
                  </a:solidFill>
                  <a:latin typeface="Consolas" pitchFamily="49" charset="0"/>
                  <a:ea typeface="仿宋" pitchFamily="49" charset="-122"/>
                  <a:cs typeface="Consolas" pitchFamily="49" charset="0"/>
                </a:rPr>
                <a:t>{1</a:t>
              </a:r>
              <a:r>
                <a:rPr lang="zh-CN" altLang="en-US" sz="1600" smtClean="0">
                  <a:solidFill>
                    <a:srgbClr val="FF00FF"/>
                  </a:solidFill>
                  <a:latin typeface="Consolas" pitchFamily="49" charset="0"/>
                  <a:ea typeface="仿宋" pitchFamily="49" charset="-122"/>
                  <a:cs typeface="Consolas" pitchFamily="49" charset="0"/>
                </a:rPr>
                <a:t>，</a:t>
              </a:r>
              <a:r>
                <a:rPr lang="en-US" altLang="zh-CN" sz="1600" smtClean="0">
                  <a:solidFill>
                    <a:srgbClr val="FF00FF"/>
                  </a:solidFill>
                  <a:latin typeface="Consolas" pitchFamily="49" charset="0"/>
                  <a:ea typeface="仿宋" pitchFamily="49" charset="-122"/>
                  <a:cs typeface="Consolas" pitchFamily="49" charset="0"/>
                </a:rPr>
                <a:t>2</a:t>
              </a:r>
              <a:r>
                <a:rPr lang="zh-CN" altLang="en-US" sz="1600" smtClean="0">
                  <a:solidFill>
                    <a:srgbClr val="FF00FF"/>
                  </a:solidFill>
                  <a:latin typeface="Consolas" pitchFamily="49" charset="0"/>
                  <a:ea typeface="仿宋" pitchFamily="49" charset="-122"/>
                  <a:cs typeface="Consolas" pitchFamily="49" charset="0"/>
                </a:rPr>
                <a:t>，</a:t>
              </a:r>
              <a:r>
                <a:rPr lang="en-US" altLang="zh-CN" sz="1600" smtClean="0">
                  <a:solidFill>
                    <a:srgbClr val="FF00FF"/>
                  </a:solidFill>
                  <a:latin typeface="Consolas" pitchFamily="49" charset="0"/>
                  <a:ea typeface="仿宋" pitchFamily="49" charset="-122"/>
                  <a:cs typeface="Consolas" pitchFamily="49" charset="0"/>
                </a:rPr>
                <a:t>3</a:t>
              </a:r>
              <a:r>
                <a:rPr lang="zh-CN" altLang="en-US" sz="1600" smtClean="0">
                  <a:solidFill>
                    <a:srgbClr val="FF00FF"/>
                  </a:solidFill>
                  <a:latin typeface="Consolas" pitchFamily="49" charset="0"/>
                  <a:ea typeface="仿宋" pitchFamily="49" charset="-122"/>
                  <a:cs typeface="Consolas" pitchFamily="49" charset="0"/>
                </a:rPr>
                <a:t>，</a:t>
              </a:r>
              <a:r>
                <a:rPr lang="en-US" altLang="zh-CN" sz="1600" smtClean="0">
                  <a:solidFill>
                    <a:srgbClr val="FF00FF"/>
                  </a:solidFill>
                  <a:latin typeface="Consolas" pitchFamily="49" charset="0"/>
                  <a:ea typeface="仿宋" pitchFamily="49" charset="-122"/>
                  <a:cs typeface="Consolas" pitchFamily="49" charset="0"/>
                </a:rPr>
                <a:t>4}</a:t>
              </a:r>
              <a:r>
                <a:rPr lang="zh-CN" altLang="en-US" sz="1600" smtClean="0">
                  <a:solidFill>
                    <a:srgbClr val="FF00FF"/>
                  </a:solidFill>
                  <a:latin typeface="Consolas" pitchFamily="49" charset="0"/>
                  <a:ea typeface="仿宋" pitchFamily="49" charset="-122"/>
                  <a:cs typeface="Consolas" pitchFamily="49" charset="0"/>
                </a:rPr>
                <a:t>集合</a:t>
              </a:r>
              <a:endParaRPr lang="zh-CN" altLang="en-US" sz="1600">
                <a:solidFill>
                  <a:srgbClr val="FF00FF"/>
                </a:solidFill>
                <a:latin typeface="Consolas" pitchFamily="49" charset="0"/>
                <a:ea typeface="仿宋" pitchFamily="49" charset="-122"/>
                <a:cs typeface="Consolas" pitchFamily="49" charset="0"/>
              </a:endParaRPr>
            </a:p>
          </p:txBody>
        </p:sp>
        <p:cxnSp>
          <p:nvCxnSpPr>
            <p:cNvPr id="11" name="直接箭头连接符 10"/>
            <p:cNvCxnSpPr>
              <a:stCxn id="6" idx="7"/>
              <a:endCxn id="5" idx="3"/>
            </p:cNvCxnSpPr>
            <p:nvPr/>
          </p:nvCxnSpPr>
          <p:spPr>
            <a:xfrm rot="5400000" flipH="1" flipV="1">
              <a:off x="891148" y="3191571"/>
              <a:ext cx="432218" cy="339856"/>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7" idx="1"/>
              <a:endCxn id="5" idx="5"/>
            </p:cNvCxnSpPr>
            <p:nvPr/>
          </p:nvCxnSpPr>
          <p:spPr>
            <a:xfrm rot="16200000" flipV="1">
              <a:off x="1569809" y="3155852"/>
              <a:ext cx="432218" cy="411294"/>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8" idx="0"/>
              <a:endCxn id="6" idx="4"/>
            </p:cNvCxnSpPr>
            <p:nvPr/>
          </p:nvCxnSpPr>
          <p:spPr>
            <a:xfrm rot="5400000" flipH="1" flipV="1">
              <a:off x="500034" y="4075879"/>
              <a:ext cx="357190" cy="214314"/>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sp>
          <p:nvSpPr>
            <p:cNvPr id="16" name="任意多边形 15"/>
            <p:cNvSpPr/>
            <p:nvPr/>
          </p:nvSpPr>
          <p:spPr>
            <a:xfrm>
              <a:off x="1369627" y="2500306"/>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3" name="组合 38"/>
          <p:cNvGrpSpPr/>
          <p:nvPr/>
        </p:nvGrpSpPr>
        <p:grpSpPr>
          <a:xfrm>
            <a:off x="3143240" y="3000373"/>
            <a:ext cx="1666886" cy="2071828"/>
            <a:chOff x="3214678" y="3000372"/>
            <a:chExt cx="2000264" cy="2500132"/>
          </a:xfrm>
        </p:grpSpPr>
        <p:sp>
          <p:nvSpPr>
            <p:cNvPr id="17" name="椭圆 16"/>
            <p:cNvSpPr/>
            <p:nvPr/>
          </p:nvSpPr>
          <p:spPr>
            <a:xfrm>
              <a:off x="3857620" y="3218623"/>
              <a:ext cx="428628" cy="50006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600" smtClean="0">
                  <a:latin typeface="Consolas" pitchFamily="49" charset="0"/>
                  <a:ea typeface="仿宋" pitchFamily="49" charset="-122"/>
                  <a:cs typeface="Consolas" pitchFamily="49" charset="0"/>
                </a:rPr>
                <a:t>7</a:t>
              </a:r>
              <a:endParaRPr lang="zh-CN" altLang="en-US" sz="1600">
                <a:latin typeface="Consolas" pitchFamily="49" charset="0"/>
                <a:ea typeface="仿宋" pitchFamily="49" charset="-122"/>
                <a:cs typeface="Consolas" pitchFamily="49" charset="0"/>
              </a:endParaRPr>
            </a:p>
          </p:txBody>
        </p:sp>
        <p:sp>
          <p:nvSpPr>
            <p:cNvPr id="18" name="椭圆 17"/>
            <p:cNvSpPr/>
            <p:nvPr/>
          </p:nvSpPr>
          <p:spPr>
            <a:xfrm>
              <a:off x="3214678" y="4004441"/>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latin typeface="Consolas" pitchFamily="49" charset="0"/>
                  <a:ea typeface="仿宋" pitchFamily="49" charset="-122"/>
                  <a:cs typeface="Consolas" pitchFamily="49" charset="0"/>
                </a:rPr>
                <a:t>5</a:t>
              </a:r>
              <a:endParaRPr lang="zh-CN" altLang="en-US" sz="1600">
                <a:latin typeface="Consolas" pitchFamily="49" charset="0"/>
                <a:ea typeface="仿宋" pitchFamily="49" charset="-122"/>
                <a:cs typeface="Consolas" pitchFamily="49" charset="0"/>
              </a:endParaRPr>
            </a:p>
          </p:txBody>
        </p:sp>
        <p:sp>
          <p:nvSpPr>
            <p:cNvPr id="19" name="椭圆 18"/>
            <p:cNvSpPr/>
            <p:nvPr/>
          </p:nvSpPr>
          <p:spPr>
            <a:xfrm>
              <a:off x="4572000" y="4004441"/>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latin typeface="Consolas" pitchFamily="49" charset="0"/>
                  <a:ea typeface="仿宋" pitchFamily="49" charset="-122"/>
                  <a:cs typeface="Consolas" pitchFamily="49" charset="0"/>
                </a:rPr>
                <a:t>6</a:t>
              </a:r>
              <a:endParaRPr lang="zh-CN" altLang="en-US" sz="1600">
                <a:latin typeface="Consolas" pitchFamily="49" charset="0"/>
                <a:ea typeface="仿宋" pitchFamily="49" charset="-122"/>
                <a:cs typeface="Consolas" pitchFamily="49" charset="0"/>
              </a:endParaRPr>
            </a:p>
          </p:txBody>
        </p:sp>
        <p:sp>
          <p:nvSpPr>
            <p:cNvPr id="21" name="TextBox 20"/>
            <p:cNvSpPr txBox="1"/>
            <p:nvPr/>
          </p:nvSpPr>
          <p:spPr>
            <a:xfrm>
              <a:off x="3214678" y="5151386"/>
              <a:ext cx="2000264" cy="349118"/>
            </a:xfrm>
            <a:prstGeom prst="rect">
              <a:avLst/>
            </a:prstGeom>
            <a:noFill/>
          </p:spPr>
          <p:txBody>
            <a:bodyPr wrap="square" rtlCol="0">
              <a:spAutoFit/>
            </a:bodyPr>
            <a:lstStyle/>
            <a:p>
              <a:pPr algn="l"/>
              <a:r>
                <a:rPr lang="en-US" altLang="zh-CN" sz="1600" smtClean="0">
                  <a:solidFill>
                    <a:srgbClr val="FF00FF"/>
                  </a:solidFill>
                  <a:latin typeface="Consolas" pitchFamily="49" charset="0"/>
                  <a:ea typeface="仿宋" pitchFamily="49" charset="-122"/>
                  <a:cs typeface="Consolas" pitchFamily="49" charset="0"/>
                </a:rPr>
                <a:t>{5</a:t>
              </a:r>
              <a:r>
                <a:rPr lang="zh-CN" altLang="en-US" sz="1600" smtClean="0">
                  <a:solidFill>
                    <a:srgbClr val="FF00FF"/>
                  </a:solidFill>
                  <a:latin typeface="Consolas" pitchFamily="49" charset="0"/>
                  <a:ea typeface="仿宋" pitchFamily="49" charset="-122"/>
                  <a:cs typeface="Consolas" pitchFamily="49" charset="0"/>
                </a:rPr>
                <a:t>，</a:t>
              </a:r>
              <a:r>
                <a:rPr lang="en-US" altLang="zh-CN" sz="1600" smtClean="0">
                  <a:solidFill>
                    <a:srgbClr val="FF00FF"/>
                  </a:solidFill>
                  <a:latin typeface="Consolas" pitchFamily="49" charset="0"/>
                  <a:ea typeface="仿宋" pitchFamily="49" charset="-122"/>
                  <a:cs typeface="Consolas" pitchFamily="49" charset="0"/>
                </a:rPr>
                <a:t>6</a:t>
              </a:r>
              <a:r>
                <a:rPr lang="zh-CN" altLang="en-US" sz="1600" smtClean="0">
                  <a:solidFill>
                    <a:srgbClr val="FF00FF"/>
                  </a:solidFill>
                  <a:latin typeface="Consolas" pitchFamily="49" charset="0"/>
                  <a:ea typeface="仿宋" pitchFamily="49" charset="-122"/>
                  <a:cs typeface="Consolas" pitchFamily="49" charset="0"/>
                </a:rPr>
                <a:t>，</a:t>
              </a:r>
              <a:r>
                <a:rPr lang="en-US" altLang="zh-CN" sz="1600" smtClean="0">
                  <a:solidFill>
                    <a:srgbClr val="FF00FF"/>
                  </a:solidFill>
                  <a:latin typeface="Consolas" pitchFamily="49" charset="0"/>
                  <a:ea typeface="仿宋" pitchFamily="49" charset="-122"/>
                  <a:cs typeface="Consolas" pitchFamily="49" charset="0"/>
                </a:rPr>
                <a:t>7}</a:t>
              </a:r>
              <a:r>
                <a:rPr lang="zh-CN" altLang="en-US" sz="1600" smtClean="0">
                  <a:solidFill>
                    <a:srgbClr val="FF00FF"/>
                  </a:solidFill>
                  <a:latin typeface="Consolas" pitchFamily="49" charset="0"/>
                  <a:ea typeface="仿宋" pitchFamily="49" charset="-122"/>
                  <a:cs typeface="Consolas" pitchFamily="49" charset="0"/>
                </a:rPr>
                <a:t>集合</a:t>
              </a:r>
              <a:endParaRPr lang="zh-CN" altLang="en-US" sz="1600">
                <a:solidFill>
                  <a:srgbClr val="FF00FF"/>
                </a:solidFill>
                <a:latin typeface="Consolas" pitchFamily="49" charset="0"/>
                <a:ea typeface="仿宋" pitchFamily="49" charset="-122"/>
                <a:cs typeface="Consolas" pitchFamily="49" charset="0"/>
              </a:endParaRPr>
            </a:p>
          </p:txBody>
        </p:sp>
        <p:cxnSp>
          <p:nvCxnSpPr>
            <p:cNvPr id="22" name="直接箭头连接符 21"/>
            <p:cNvCxnSpPr>
              <a:stCxn id="18" idx="7"/>
              <a:endCxn id="17" idx="3"/>
            </p:cNvCxnSpPr>
            <p:nvPr/>
          </p:nvCxnSpPr>
          <p:spPr>
            <a:xfrm rot="5400000" flipH="1" flipV="1">
              <a:off x="3534354" y="3691637"/>
              <a:ext cx="432218" cy="339856"/>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9" idx="1"/>
              <a:endCxn id="17" idx="5"/>
            </p:cNvCxnSpPr>
            <p:nvPr/>
          </p:nvCxnSpPr>
          <p:spPr>
            <a:xfrm rot="16200000" flipV="1">
              <a:off x="4213015" y="3655918"/>
              <a:ext cx="432218" cy="411294"/>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sp>
          <p:nvSpPr>
            <p:cNvPr id="25" name="任意多边形 24"/>
            <p:cNvSpPr/>
            <p:nvPr/>
          </p:nvSpPr>
          <p:spPr>
            <a:xfrm>
              <a:off x="4012833" y="3000372"/>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4" name="组合 39"/>
          <p:cNvGrpSpPr/>
          <p:nvPr/>
        </p:nvGrpSpPr>
        <p:grpSpPr>
          <a:xfrm>
            <a:off x="5572132" y="2994177"/>
            <a:ext cx="1369229" cy="2071828"/>
            <a:chOff x="5643570" y="2994176"/>
            <a:chExt cx="1643074" cy="2500132"/>
          </a:xfrm>
        </p:grpSpPr>
        <p:sp>
          <p:nvSpPr>
            <p:cNvPr id="26" name="椭圆 25"/>
            <p:cNvSpPr/>
            <p:nvPr/>
          </p:nvSpPr>
          <p:spPr>
            <a:xfrm>
              <a:off x="6286512" y="3212427"/>
              <a:ext cx="428628" cy="50006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600" smtClean="0">
                  <a:latin typeface="Consolas" pitchFamily="49" charset="0"/>
                  <a:ea typeface="仿宋" pitchFamily="49" charset="-122"/>
                  <a:cs typeface="Consolas" pitchFamily="49" charset="0"/>
                </a:rPr>
                <a:t>9</a:t>
              </a:r>
              <a:endParaRPr lang="zh-CN" altLang="en-US" sz="1600">
                <a:latin typeface="Consolas" pitchFamily="49" charset="0"/>
                <a:ea typeface="仿宋" pitchFamily="49" charset="-122"/>
                <a:cs typeface="Consolas" pitchFamily="49" charset="0"/>
              </a:endParaRPr>
            </a:p>
          </p:txBody>
        </p:sp>
        <p:sp>
          <p:nvSpPr>
            <p:cNvPr id="27" name="椭圆 26"/>
            <p:cNvSpPr/>
            <p:nvPr/>
          </p:nvSpPr>
          <p:spPr>
            <a:xfrm>
              <a:off x="5643570" y="3998245"/>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latin typeface="Consolas" pitchFamily="49" charset="0"/>
                  <a:ea typeface="仿宋" pitchFamily="49" charset="-122"/>
                  <a:cs typeface="Consolas" pitchFamily="49" charset="0"/>
                </a:rPr>
                <a:t>8</a:t>
              </a:r>
              <a:endParaRPr lang="zh-CN" altLang="en-US" sz="1600">
                <a:latin typeface="Consolas" pitchFamily="49" charset="0"/>
                <a:ea typeface="仿宋" pitchFamily="49" charset="-122"/>
                <a:cs typeface="Consolas" pitchFamily="49" charset="0"/>
              </a:endParaRPr>
            </a:p>
          </p:txBody>
        </p:sp>
        <p:sp>
          <p:nvSpPr>
            <p:cNvPr id="29" name="TextBox 28"/>
            <p:cNvSpPr txBox="1"/>
            <p:nvPr/>
          </p:nvSpPr>
          <p:spPr>
            <a:xfrm>
              <a:off x="5643570" y="5145190"/>
              <a:ext cx="1643074" cy="349118"/>
            </a:xfrm>
            <a:prstGeom prst="rect">
              <a:avLst/>
            </a:prstGeom>
            <a:noFill/>
          </p:spPr>
          <p:txBody>
            <a:bodyPr wrap="square" rtlCol="0">
              <a:spAutoFit/>
            </a:bodyPr>
            <a:lstStyle/>
            <a:p>
              <a:pPr algn="l"/>
              <a:r>
                <a:rPr lang="en-US" altLang="zh-CN" sz="1600" smtClean="0">
                  <a:solidFill>
                    <a:srgbClr val="FF00FF"/>
                  </a:solidFill>
                  <a:latin typeface="Consolas" pitchFamily="49" charset="0"/>
                  <a:ea typeface="仿宋" pitchFamily="49" charset="-122"/>
                  <a:cs typeface="Consolas" pitchFamily="49" charset="0"/>
                </a:rPr>
                <a:t>{8</a:t>
              </a:r>
              <a:r>
                <a:rPr lang="zh-CN" altLang="en-US" sz="1600" smtClean="0">
                  <a:solidFill>
                    <a:srgbClr val="FF00FF"/>
                  </a:solidFill>
                  <a:latin typeface="Consolas" pitchFamily="49" charset="0"/>
                  <a:ea typeface="仿宋" pitchFamily="49" charset="-122"/>
                  <a:cs typeface="Consolas" pitchFamily="49" charset="0"/>
                </a:rPr>
                <a:t>，</a:t>
              </a:r>
              <a:r>
                <a:rPr lang="en-US" altLang="zh-CN" sz="1600" smtClean="0">
                  <a:solidFill>
                    <a:srgbClr val="FF00FF"/>
                  </a:solidFill>
                  <a:latin typeface="Consolas" pitchFamily="49" charset="0"/>
                  <a:ea typeface="仿宋" pitchFamily="49" charset="-122"/>
                  <a:cs typeface="Consolas" pitchFamily="49" charset="0"/>
                </a:rPr>
                <a:t>9}</a:t>
              </a:r>
              <a:r>
                <a:rPr lang="zh-CN" altLang="en-US" sz="1600" smtClean="0">
                  <a:solidFill>
                    <a:srgbClr val="FF00FF"/>
                  </a:solidFill>
                  <a:latin typeface="Consolas" pitchFamily="49" charset="0"/>
                  <a:ea typeface="仿宋" pitchFamily="49" charset="-122"/>
                  <a:cs typeface="Consolas" pitchFamily="49" charset="0"/>
                </a:rPr>
                <a:t>集合</a:t>
              </a:r>
              <a:endParaRPr lang="zh-CN" altLang="en-US" sz="1600">
                <a:solidFill>
                  <a:srgbClr val="FF00FF"/>
                </a:solidFill>
                <a:latin typeface="Consolas" pitchFamily="49" charset="0"/>
                <a:ea typeface="仿宋" pitchFamily="49" charset="-122"/>
                <a:cs typeface="Consolas" pitchFamily="49" charset="0"/>
              </a:endParaRPr>
            </a:p>
          </p:txBody>
        </p:sp>
        <p:cxnSp>
          <p:nvCxnSpPr>
            <p:cNvPr id="30" name="直接箭头连接符 29"/>
            <p:cNvCxnSpPr>
              <a:stCxn id="27" idx="7"/>
              <a:endCxn id="26" idx="3"/>
            </p:cNvCxnSpPr>
            <p:nvPr/>
          </p:nvCxnSpPr>
          <p:spPr>
            <a:xfrm rot="5400000" flipH="1" flipV="1">
              <a:off x="5963246" y="3685441"/>
              <a:ext cx="432218" cy="339856"/>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sp>
          <p:nvSpPr>
            <p:cNvPr id="32" name="任意多边形 31"/>
            <p:cNvSpPr/>
            <p:nvPr/>
          </p:nvSpPr>
          <p:spPr>
            <a:xfrm>
              <a:off x="6441725" y="2994176"/>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10" name="组合 40"/>
          <p:cNvGrpSpPr/>
          <p:nvPr/>
        </p:nvGrpSpPr>
        <p:grpSpPr>
          <a:xfrm>
            <a:off x="7500958" y="3395881"/>
            <a:ext cx="1071570" cy="1604755"/>
            <a:chOff x="7643834" y="3567939"/>
            <a:chExt cx="1285884" cy="1936502"/>
          </a:xfrm>
        </p:grpSpPr>
        <p:sp>
          <p:nvSpPr>
            <p:cNvPr id="33" name="椭圆 32"/>
            <p:cNvSpPr/>
            <p:nvPr/>
          </p:nvSpPr>
          <p:spPr>
            <a:xfrm>
              <a:off x="7952232" y="3786190"/>
              <a:ext cx="428628" cy="500066"/>
            </a:xfrm>
            <a:prstGeom prst="ellipse">
              <a:avLst/>
            </a:prstGeom>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10</a:t>
              </a:r>
              <a:endParaRPr lang="zh-CN" altLang="en-US" sz="1600">
                <a:latin typeface="Consolas" pitchFamily="49" charset="0"/>
                <a:ea typeface="仿宋" pitchFamily="49" charset="-122"/>
                <a:cs typeface="Consolas" pitchFamily="49" charset="0"/>
              </a:endParaRPr>
            </a:p>
          </p:txBody>
        </p:sp>
        <p:sp>
          <p:nvSpPr>
            <p:cNvPr id="35" name="TextBox 34"/>
            <p:cNvSpPr txBox="1"/>
            <p:nvPr/>
          </p:nvSpPr>
          <p:spPr>
            <a:xfrm>
              <a:off x="7643834" y="5155323"/>
              <a:ext cx="1285884" cy="349118"/>
            </a:xfrm>
            <a:prstGeom prst="rect">
              <a:avLst/>
            </a:prstGeom>
            <a:noFill/>
          </p:spPr>
          <p:txBody>
            <a:bodyPr wrap="square" rtlCol="0">
              <a:spAutoFit/>
            </a:bodyPr>
            <a:lstStyle/>
            <a:p>
              <a:pPr algn="l"/>
              <a:r>
                <a:rPr lang="en-US" altLang="zh-CN" sz="1600" smtClean="0">
                  <a:solidFill>
                    <a:srgbClr val="FF00FF"/>
                  </a:solidFill>
                  <a:latin typeface="Consolas" pitchFamily="49" charset="0"/>
                  <a:ea typeface="仿宋" pitchFamily="49" charset="-122"/>
                  <a:cs typeface="Consolas" pitchFamily="49" charset="0"/>
                </a:rPr>
                <a:t>{10}</a:t>
              </a:r>
              <a:r>
                <a:rPr lang="zh-CN" altLang="en-US" sz="1600" smtClean="0">
                  <a:solidFill>
                    <a:srgbClr val="FF00FF"/>
                  </a:solidFill>
                  <a:latin typeface="Consolas" pitchFamily="49" charset="0"/>
                  <a:ea typeface="仿宋" pitchFamily="49" charset="-122"/>
                  <a:cs typeface="Consolas" pitchFamily="49" charset="0"/>
                </a:rPr>
                <a:t>集合</a:t>
              </a:r>
              <a:endParaRPr lang="zh-CN" altLang="en-US" sz="1600">
                <a:solidFill>
                  <a:srgbClr val="FF00FF"/>
                </a:solidFill>
                <a:latin typeface="Consolas" pitchFamily="49" charset="0"/>
                <a:ea typeface="仿宋" pitchFamily="49" charset="-122"/>
                <a:cs typeface="Consolas" pitchFamily="49" charset="0"/>
              </a:endParaRPr>
            </a:p>
          </p:txBody>
        </p:sp>
        <p:sp>
          <p:nvSpPr>
            <p:cNvPr id="37" name="任意多边形 36"/>
            <p:cNvSpPr/>
            <p:nvPr/>
          </p:nvSpPr>
          <p:spPr>
            <a:xfrm>
              <a:off x="8107445" y="3567939"/>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sp>
        <p:nvSpPr>
          <p:cNvPr id="36" name="灯片编号占位符 35"/>
          <p:cNvSpPr>
            <a:spLocks noGrp="1"/>
          </p:cNvSpPr>
          <p:nvPr>
            <p:ph type="sldNum" sz="quarter" idx="12"/>
          </p:nvPr>
        </p:nvSpPr>
        <p:spPr/>
        <p:txBody>
          <a:bodyPr/>
          <a:lstStyle/>
          <a:p>
            <a:fld id="{67864EE2-EAB3-4814-A7EB-820BD7610F1E}" type="slidenum">
              <a:rPr lang="en-US" altLang="zh-CN" smtClean="0"/>
              <a:pPr/>
              <a:t>56</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71670" y="571457"/>
            <a:ext cx="1428760"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en-US" sz="2000" spc="5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几个问题</a:t>
            </a:r>
            <a:endPar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endParaRPr>
          </a:p>
        </p:txBody>
      </p:sp>
      <p:sp>
        <p:nvSpPr>
          <p:cNvPr id="4" name="TextBox 3"/>
          <p:cNvSpPr txBox="1"/>
          <p:nvPr/>
        </p:nvSpPr>
        <p:spPr>
          <a:xfrm>
            <a:off x="1785918" y="1733124"/>
            <a:ext cx="1214446" cy="338554"/>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457200" indent="-457200" algn="l"/>
            <a:r>
              <a:rPr lang="zh-CN" altLang="en-US" sz="2000" spc="50" smtClean="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rPr>
              <a:t>查找</a:t>
            </a:r>
            <a:r>
              <a:rPr lang="en-US" altLang="zh-CN" sz="2000" i="1" spc="50" smtClean="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rPr>
              <a:t>x</a:t>
            </a:r>
            <a:endParaRPr lang="zh-CN" altLang="en-US" sz="2000" spc="5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endParaRPr>
          </a:p>
        </p:txBody>
      </p:sp>
      <p:grpSp>
        <p:nvGrpSpPr>
          <p:cNvPr id="2" name="组合 4"/>
          <p:cNvGrpSpPr/>
          <p:nvPr/>
        </p:nvGrpSpPr>
        <p:grpSpPr>
          <a:xfrm>
            <a:off x="2643174" y="1967203"/>
            <a:ext cx="2143140" cy="2266431"/>
            <a:chOff x="79344" y="2500306"/>
            <a:chExt cx="2778144" cy="3072763"/>
          </a:xfrm>
        </p:grpSpPr>
        <p:sp>
          <p:nvSpPr>
            <p:cNvPr id="6" name="椭圆 5"/>
            <p:cNvSpPr/>
            <p:nvPr/>
          </p:nvSpPr>
          <p:spPr>
            <a:xfrm>
              <a:off x="1214414" y="2718557"/>
              <a:ext cx="428628" cy="50006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4</a:t>
              </a:r>
              <a:endParaRPr lang="zh-CN" altLang="en-US" sz="1600">
                <a:solidFill>
                  <a:srgbClr val="0000FF"/>
                </a:solidFill>
                <a:latin typeface="Consolas" pitchFamily="49" charset="0"/>
                <a:ea typeface="仿宋" pitchFamily="49" charset="-122"/>
                <a:cs typeface="Consolas" pitchFamily="49" charset="0"/>
              </a:endParaRPr>
            </a:p>
          </p:txBody>
        </p:sp>
        <p:sp>
          <p:nvSpPr>
            <p:cNvPr id="7" name="椭圆 6"/>
            <p:cNvSpPr/>
            <p:nvPr/>
          </p:nvSpPr>
          <p:spPr>
            <a:xfrm>
              <a:off x="571472" y="3504375"/>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3</a:t>
              </a:r>
              <a:endParaRPr lang="zh-CN" altLang="en-US" sz="1600">
                <a:solidFill>
                  <a:srgbClr val="0000FF"/>
                </a:solidFill>
                <a:latin typeface="Consolas" pitchFamily="49" charset="0"/>
                <a:ea typeface="仿宋" pitchFamily="49" charset="-122"/>
                <a:cs typeface="Consolas" pitchFamily="49" charset="0"/>
              </a:endParaRPr>
            </a:p>
          </p:txBody>
        </p:sp>
        <p:sp>
          <p:nvSpPr>
            <p:cNvPr id="8" name="椭圆 7"/>
            <p:cNvSpPr/>
            <p:nvPr/>
          </p:nvSpPr>
          <p:spPr>
            <a:xfrm>
              <a:off x="1928794" y="3504375"/>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2</a:t>
              </a:r>
              <a:endParaRPr lang="zh-CN" altLang="en-US" sz="1600">
                <a:solidFill>
                  <a:srgbClr val="0000FF"/>
                </a:solidFill>
                <a:latin typeface="Consolas" pitchFamily="49" charset="0"/>
                <a:ea typeface="仿宋" pitchFamily="49" charset="-122"/>
                <a:cs typeface="Consolas" pitchFamily="49" charset="0"/>
              </a:endParaRPr>
            </a:p>
          </p:txBody>
        </p:sp>
        <p:sp>
          <p:nvSpPr>
            <p:cNvPr id="9" name="椭圆 8"/>
            <p:cNvSpPr/>
            <p:nvPr/>
          </p:nvSpPr>
          <p:spPr>
            <a:xfrm>
              <a:off x="357158" y="4361631"/>
              <a:ext cx="428628" cy="500066"/>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solidFill>
                    <a:srgbClr val="0000FF"/>
                  </a:solidFill>
                  <a:latin typeface="Consolas" pitchFamily="49" charset="0"/>
                  <a:ea typeface="仿宋" pitchFamily="49" charset="-122"/>
                  <a:cs typeface="Consolas" pitchFamily="49" charset="0"/>
                </a:rPr>
                <a:t>1</a:t>
              </a:r>
              <a:endParaRPr lang="zh-CN" altLang="en-US" sz="1600">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79344" y="5147449"/>
              <a:ext cx="2778144" cy="425620"/>
            </a:xfrm>
            <a:prstGeom prst="rect">
              <a:avLst/>
            </a:prstGeom>
            <a:noFill/>
          </p:spPr>
          <p:txBody>
            <a:bodyPr wrap="square"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集合</a:t>
              </a:r>
              <a:endParaRPr lang="zh-CN" altLang="en-US" sz="1800">
                <a:solidFill>
                  <a:srgbClr val="0000FF"/>
                </a:solidFill>
                <a:latin typeface="Consolas" pitchFamily="49" charset="0"/>
                <a:ea typeface="仿宋" pitchFamily="49" charset="-122"/>
                <a:cs typeface="Consolas" pitchFamily="49" charset="0"/>
              </a:endParaRPr>
            </a:p>
          </p:txBody>
        </p:sp>
        <p:cxnSp>
          <p:nvCxnSpPr>
            <p:cNvPr id="11" name="直接箭头连接符 10"/>
            <p:cNvCxnSpPr>
              <a:stCxn id="7" idx="7"/>
              <a:endCxn id="6" idx="3"/>
            </p:cNvCxnSpPr>
            <p:nvPr/>
          </p:nvCxnSpPr>
          <p:spPr>
            <a:xfrm rot="5400000" flipH="1" flipV="1">
              <a:off x="891148" y="3191571"/>
              <a:ext cx="432218" cy="33985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2" name="直接箭头连接符 11"/>
            <p:cNvCxnSpPr>
              <a:stCxn id="8" idx="1"/>
              <a:endCxn id="6" idx="5"/>
            </p:cNvCxnSpPr>
            <p:nvPr/>
          </p:nvCxnSpPr>
          <p:spPr>
            <a:xfrm rot="16200000" flipV="1">
              <a:off x="1569809" y="3155852"/>
              <a:ext cx="432218" cy="41129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3" name="直接箭头连接符 12"/>
            <p:cNvCxnSpPr>
              <a:stCxn id="9" idx="0"/>
              <a:endCxn id="7" idx="4"/>
            </p:cNvCxnSpPr>
            <p:nvPr/>
          </p:nvCxnSpPr>
          <p:spPr>
            <a:xfrm rot="5400000" flipH="1" flipV="1">
              <a:off x="500034" y="4075879"/>
              <a:ext cx="357190" cy="21431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4" name="任意多边形 13"/>
            <p:cNvSpPr/>
            <p:nvPr/>
          </p:nvSpPr>
          <p:spPr>
            <a:xfrm>
              <a:off x="1369627" y="2500306"/>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600">
                <a:solidFill>
                  <a:srgbClr val="0000FF"/>
                </a:solidFill>
                <a:latin typeface="Consolas" pitchFamily="49" charset="0"/>
                <a:ea typeface="仿宋" pitchFamily="49" charset="-122"/>
                <a:cs typeface="Consolas" pitchFamily="49" charset="0"/>
              </a:endParaRPr>
            </a:p>
          </p:txBody>
        </p:sp>
      </p:grpSp>
      <p:sp>
        <p:nvSpPr>
          <p:cNvPr id="15" name="TextBox 14"/>
          <p:cNvSpPr txBox="1"/>
          <p:nvPr/>
        </p:nvSpPr>
        <p:spPr>
          <a:xfrm>
            <a:off x="1571604" y="4572008"/>
            <a:ext cx="4000528"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itchFamily="49" charset="0"/>
                <a:ea typeface="仿宋" pitchFamily="49" charset="-122"/>
                <a:cs typeface="Consolas" pitchFamily="49" charset="0"/>
              </a:rPr>
              <a:t>用数组存放：</a:t>
            </a:r>
            <a:r>
              <a:rPr lang="en-US" altLang="zh-CN" sz="2000" smtClean="0">
                <a:solidFill>
                  <a:srgbClr val="0000FF"/>
                </a:solidFill>
                <a:latin typeface="Consolas" pitchFamily="49" charset="0"/>
                <a:ea typeface="仿宋" pitchFamily="49" charset="-122"/>
                <a:cs typeface="Consolas" pitchFamily="49" charset="0"/>
              </a:rPr>
              <a:t>t[</a:t>
            </a:r>
            <a:r>
              <a:rPr lang="en-US" altLang="zh-CN" sz="2000" i="1" smtClean="0">
                <a:solidFill>
                  <a:srgbClr val="0000FF"/>
                </a:solidFill>
                <a:latin typeface="Consolas" pitchFamily="49" charset="0"/>
                <a:ea typeface="仿宋" pitchFamily="49" charset="-122"/>
                <a:cs typeface="Consolas" pitchFamily="49" charset="0"/>
              </a:rPr>
              <a:t>x</a:t>
            </a:r>
            <a:r>
              <a:rPr lang="en-US" altLang="zh-CN"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对应</a:t>
            </a:r>
            <a:r>
              <a:rPr lang="en-US" altLang="zh-CN" sz="2000" i="1" smtClean="0">
                <a:solidFill>
                  <a:srgbClr val="0000FF"/>
                </a:solidFill>
                <a:latin typeface="Consolas" pitchFamily="49" charset="0"/>
                <a:ea typeface="仿宋" pitchFamily="49" charset="-122"/>
                <a:cs typeface="Consolas" pitchFamily="49" charset="0"/>
              </a:rPr>
              <a:t>x</a:t>
            </a:r>
            <a:r>
              <a:rPr lang="zh-CN" altLang="en-US" sz="2000" smtClean="0">
                <a:solidFill>
                  <a:srgbClr val="0000FF"/>
                </a:solidFill>
                <a:latin typeface="Consolas" pitchFamily="49" charset="0"/>
                <a:ea typeface="仿宋" pitchFamily="49" charset="-122"/>
                <a:cs typeface="Consolas" pitchFamily="49" charset="0"/>
              </a:rPr>
              <a:t>结点</a:t>
            </a:r>
            <a:endParaRPr lang="zh-CN" altLang="en-US" sz="2000">
              <a:solidFill>
                <a:srgbClr val="0000FF"/>
              </a:solidFill>
              <a:latin typeface="Consolas" pitchFamily="49" charset="0"/>
              <a:ea typeface="仿宋" pitchFamily="49" charset="-122"/>
              <a:cs typeface="Consolas" pitchFamily="49" charset="0"/>
            </a:endParaRPr>
          </a:p>
        </p:txBody>
      </p:sp>
      <p:grpSp>
        <p:nvGrpSpPr>
          <p:cNvPr id="5" name="组合 20"/>
          <p:cNvGrpSpPr/>
          <p:nvPr/>
        </p:nvGrpSpPr>
        <p:grpSpPr>
          <a:xfrm>
            <a:off x="527980" y="1500174"/>
            <a:ext cx="1257938" cy="1285884"/>
            <a:chOff x="1003205" y="2000240"/>
            <a:chExt cx="1257938" cy="1285884"/>
          </a:xfrm>
        </p:grpSpPr>
        <p:pic>
          <p:nvPicPr>
            <p:cNvPr id="19" name="Picture 29" descr="1"/>
            <p:cNvPicPr>
              <a:picLocks noChangeAspect="1" noChangeArrowheads="1"/>
            </p:cNvPicPr>
            <p:nvPr/>
          </p:nvPicPr>
          <p:blipFill>
            <a:blip r:embed="rId2" cstate="print">
              <a:lum bright="-6000" contrast="24000"/>
            </a:blip>
            <a:srcRect l="42606" t="64474" r="19473"/>
            <a:stretch>
              <a:fillRect/>
            </a:stretch>
          </p:blipFill>
          <p:spPr bwMode="auto">
            <a:xfrm>
              <a:off x="1003205" y="2000240"/>
              <a:ext cx="1257938" cy="1285884"/>
            </a:xfrm>
            <a:prstGeom prst="rect">
              <a:avLst/>
            </a:prstGeom>
            <a:noFill/>
            <a:ln w="9525">
              <a:noFill/>
              <a:miter lim="800000"/>
              <a:headEnd/>
              <a:tailEnd/>
            </a:ln>
          </p:spPr>
        </p:pic>
        <p:sp>
          <p:nvSpPr>
            <p:cNvPr id="20" name="Text Box 31"/>
            <p:cNvSpPr txBox="1">
              <a:spLocks noChangeArrowheads="1"/>
            </p:cNvSpPr>
            <p:nvPr/>
          </p:nvSpPr>
          <p:spPr bwMode="white">
            <a:xfrm>
              <a:off x="1643042" y="2285992"/>
              <a:ext cx="381000" cy="338554"/>
            </a:xfrm>
            <a:prstGeom prst="rect">
              <a:avLst/>
            </a:prstGeom>
            <a:noFill/>
            <a:ln w="9525">
              <a:noFill/>
              <a:miter lim="800000"/>
              <a:headEnd/>
              <a:tailEnd/>
            </a:ln>
          </p:spPr>
          <p:txBody>
            <a:bodyPr>
              <a:spAutoFit/>
            </a:bodyPr>
            <a:lstStyle/>
            <a:p>
              <a:pPr algn="ctr">
                <a:spcBef>
                  <a:spcPct val="50000"/>
                </a:spcBef>
              </a:pPr>
              <a:r>
                <a:rPr lang="en-US" altLang="zh-CN" sz="2000" smtClean="0">
                  <a:solidFill>
                    <a:srgbClr val="FF0000"/>
                  </a:solidFill>
                  <a:latin typeface="微软雅黑" pitchFamily="34" charset="-122"/>
                  <a:ea typeface="微软雅黑" pitchFamily="34" charset="-122"/>
                  <a:cs typeface="Arial" pitchFamily="34" charset="0"/>
                </a:rPr>
                <a:t>1</a:t>
              </a:r>
              <a:endParaRPr lang="en-US" altLang="zh-CN" sz="2000" b="1" dirty="0">
                <a:solidFill>
                  <a:srgbClr val="FF0000"/>
                </a:solidFill>
                <a:latin typeface="微软雅黑" pitchFamily="34" charset="-122"/>
                <a:ea typeface="微软雅黑" pitchFamily="34" charset="-122"/>
                <a:cs typeface="Arial" pitchFamily="34" charset="0"/>
              </a:endParaRPr>
            </a:p>
          </p:txBody>
        </p:sp>
      </p:grpSp>
      <p:grpSp>
        <p:nvGrpSpPr>
          <p:cNvPr id="16" name="组合 20"/>
          <p:cNvGrpSpPr/>
          <p:nvPr/>
        </p:nvGrpSpPr>
        <p:grpSpPr>
          <a:xfrm>
            <a:off x="714348" y="214291"/>
            <a:ext cx="1143008" cy="1214445"/>
            <a:chOff x="1589596" y="810715"/>
            <a:chExt cx="2340698" cy="2345431"/>
          </a:xfrm>
        </p:grpSpPr>
        <p:grpSp>
          <p:nvGrpSpPr>
            <p:cNvPr id="17" name="组合 79"/>
            <p:cNvGrpSpPr/>
            <p:nvPr/>
          </p:nvGrpSpPr>
          <p:grpSpPr bwMode="auto">
            <a:xfrm>
              <a:off x="1589596" y="810715"/>
              <a:ext cx="2340698" cy="2345431"/>
              <a:chOff x="6379729" y="2488774"/>
              <a:chExt cx="2513016" cy="2513016"/>
            </a:xfrm>
          </p:grpSpPr>
          <p:sp>
            <p:nvSpPr>
              <p:cNvPr id="25"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6" name="任意多边形 83"/>
              <p:cNvSpPr/>
              <p:nvPr/>
            </p:nvSpPr>
            <p:spPr>
              <a:xfrm rot="16377237">
                <a:off x="6409518" y="2506880"/>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smtClean="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4" name="椭圆 80"/>
            <p:cNvSpPr/>
            <p:nvPr/>
          </p:nvSpPr>
          <p:spPr bwMode="auto">
            <a:xfrm>
              <a:off x="1932719" y="1141999"/>
              <a:ext cx="1691508" cy="1694936"/>
            </a:xfrm>
            <a:prstGeom prst="ellipse">
              <a:avLst/>
            </a:prstGeom>
            <a:solidFill>
              <a:srgbClr val="1848C0"/>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sz="5400" kern="0" dirty="0" smtClean="0">
                  <a:solidFill>
                    <a:srgbClr val="FFFFFF"/>
                  </a:solidFill>
                </a:rPr>
                <a:t>?</a:t>
              </a:r>
              <a:endParaRPr kumimoji="0" lang="en-US" sz="5400" b="1" i="0" u="none" strike="noStrike" kern="0" cap="none" spc="0" normalizeH="0" baseline="0" noProof="0" dirty="0" smtClean="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8" name="灯片编号占位符 27"/>
          <p:cNvSpPr>
            <a:spLocks noGrp="1"/>
          </p:cNvSpPr>
          <p:nvPr>
            <p:ph type="sldNum" sz="quarter" idx="12"/>
          </p:nvPr>
        </p:nvSpPr>
        <p:spPr/>
        <p:txBody>
          <a:bodyPr/>
          <a:lstStyle/>
          <a:p>
            <a:fld id="{67864EE2-EAB3-4814-A7EB-820BD7610F1E}" type="slidenum">
              <a:rPr lang="en-US" altLang="zh-CN" smtClean="0"/>
              <a:pPr/>
              <a:t>57</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71604" y="739121"/>
            <a:ext cx="314327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457200" indent="-457200" algn="l">
              <a:lnSpc>
                <a:spcPct val="100000"/>
              </a:lnSpc>
            </a:pPr>
            <a:r>
              <a:rPr lang="zh-CN" altLang="en-US" sz="2000" spc="50" smtClean="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rPr>
              <a:t>查找</a:t>
            </a:r>
            <a:r>
              <a:rPr lang="en-US" altLang="zh-CN" sz="2000" i="1" spc="50" smtClean="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rPr>
              <a:t>x</a:t>
            </a:r>
            <a:r>
              <a:rPr lang="zh-CN" altLang="en-US" sz="2000" spc="50" smtClean="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rPr>
              <a:t>所在的子集</a:t>
            </a:r>
            <a:endParaRPr lang="zh-CN" altLang="en-US" sz="2000" spc="5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endParaRPr>
          </a:p>
        </p:txBody>
      </p:sp>
      <p:grpSp>
        <p:nvGrpSpPr>
          <p:cNvPr id="2" name="组合 31"/>
          <p:cNvGrpSpPr/>
          <p:nvPr/>
        </p:nvGrpSpPr>
        <p:grpSpPr>
          <a:xfrm>
            <a:off x="1285852" y="1549520"/>
            <a:ext cx="2214578" cy="2216378"/>
            <a:chOff x="1285852" y="1549520"/>
            <a:chExt cx="2214578" cy="2216378"/>
          </a:xfrm>
        </p:grpSpPr>
        <p:sp>
          <p:nvSpPr>
            <p:cNvPr id="5" name="椭圆 4"/>
            <p:cNvSpPr/>
            <p:nvPr/>
          </p:nvSpPr>
          <p:spPr>
            <a:xfrm>
              <a:off x="2185971" y="1706372"/>
              <a:ext cx="342902" cy="359387"/>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600" smtClean="0">
                  <a:solidFill>
                    <a:schemeClr val="bg1"/>
                  </a:solidFill>
                  <a:latin typeface="Consolas" pitchFamily="49" charset="0"/>
                  <a:cs typeface="Consolas" pitchFamily="49" charset="0"/>
                </a:rPr>
                <a:t>4</a:t>
              </a:r>
              <a:endParaRPr lang="zh-CN" altLang="en-US" sz="1600">
                <a:solidFill>
                  <a:schemeClr val="bg1"/>
                </a:solidFill>
                <a:latin typeface="Consolas" pitchFamily="49" charset="0"/>
                <a:cs typeface="Consolas" pitchFamily="49" charset="0"/>
              </a:endParaRPr>
            </a:p>
          </p:txBody>
        </p:sp>
        <p:sp>
          <p:nvSpPr>
            <p:cNvPr id="6" name="椭圆 5"/>
            <p:cNvSpPr/>
            <p:nvPr/>
          </p:nvSpPr>
          <p:spPr>
            <a:xfrm>
              <a:off x="1671617" y="2271123"/>
              <a:ext cx="342902" cy="359387"/>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solidFill>
                    <a:srgbClr val="0000FF"/>
                  </a:solidFill>
                  <a:latin typeface="Consolas" pitchFamily="49" charset="0"/>
                  <a:cs typeface="Consolas" pitchFamily="49" charset="0"/>
                </a:rPr>
                <a:t>3</a:t>
              </a:r>
              <a:endParaRPr lang="zh-CN" altLang="en-US" sz="1600">
                <a:solidFill>
                  <a:srgbClr val="0000FF"/>
                </a:solidFill>
                <a:latin typeface="Consolas" pitchFamily="49" charset="0"/>
                <a:cs typeface="Consolas" pitchFamily="49" charset="0"/>
              </a:endParaRPr>
            </a:p>
          </p:txBody>
        </p:sp>
        <p:sp>
          <p:nvSpPr>
            <p:cNvPr id="7" name="椭圆 6"/>
            <p:cNvSpPr/>
            <p:nvPr/>
          </p:nvSpPr>
          <p:spPr>
            <a:xfrm>
              <a:off x="2757475" y="2271123"/>
              <a:ext cx="342902" cy="359387"/>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solidFill>
                    <a:srgbClr val="0000FF"/>
                  </a:solidFill>
                  <a:latin typeface="Consolas" pitchFamily="49" charset="0"/>
                  <a:cs typeface="Consolas" pitchFamily="49" charset="0"/>
                </a:rPr>
                <a:t>2</a:t>
              </a:r>
              <a:endParaRPr lang="zh-CN" altLang="en-US" sz="1600">
                <a:solidFill>
                  <a:srgbClr val="0000FF"/>
                </a:solidFill>
                <a:latin typeface="Consolas" pitchFamily="49" charset="0"/>
                <a:cs typeface="Consolas" pitchFamily="49" charset="0"/>
              </a:endParaRPr>
            </a:p>
          </p:txBody>
        </p:sp>
        <p:sp>
          <p:nvSpPr>
            <p:cNvPr id="8" name="椭圆 7"/>
            <p:cNvSpPr/>
            <p:nvPr/>
          </p:nvSpPr>
          <p:spPr>
            <a:xfrm>
              <a:off x="1500166" y="2887215"/>
              <a:ext cx="342902" cy="359387"/>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solidFill>
                    <a:srgbClr val="0000FF"/>
                  </a:solidFill>
                  <a:latin typeface="Consolas" pitchFamily="49" charset="0"/>
                  <a:cs typeface="Consolas" pitchFamily="49" charset="0"/>
                </a:rPr>
                <a:t>1</a:t>
              </a:r>
              <a:endParaRPr lang="zh-CN" altLang="en-US" sz="1600">
                <a:solidFill>
                  <a:srgbClr val="0000FF"/>
                </a:solidFill>
                <a:latin typeface="Consolas" pitchFamily="49" charset="0"/>
                <a:cs typeface="Consolas" pitchFamily="49" charset="0"/>
              </a:endParaRPr>
            </a:p>
          </p:txBody>
        </p:sp>
        <p:sp>
          <p:nvSpPr>
            <p:cNvPr id="9" name="TextBox 8"/>
            <p:cNvSpPr txBox="1"/>
            <p:nvPr/>
          </p:nvSpPr>
          <p:spPr>
            <a:xfrm>
              <a:off x="1285852" y="3451966"/>
              <a:ext cx="2214578" cy="313932"/>
            </a:xfrm>
            <a:prstGeom prst="rect">
              <a:avLst/>
            </a:prstGeom>
            <a:noFill/>
          </p:spPr>
          <p:txBody>
            <a:bodyPr wrap="square"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集合</a:t>
              </a:r>
              <a:endParaRPr lang="zh-CN" altLang="en-US" sz="1800">
                <a:solidFill>
                  <a:srgbClr val="0000FF"/>
                </a:solidFill>
                <a:latin typeface="Consolas" pitchFamily="49" charset="0"/>
                <a:ea typeface="仿宋" pitchFamily="49" charset="-122"/>
                <a:cs typeface="Consolas" pitchFamily="49" charset="0"/>
              </a:endParaRPr>
            </a:p>
          </p:txBody>
        </p:sp>
        <p:cxnSp>
          <p:nvCxnSpPr>
            <p:cNvPr id="10" name="直接箭头连接符 9"/>
            <p:cNvCxnSpPr>
              <a:stCxn id="6" idx="7"/>
              <a:endCxn id="5" idx="3"/>
            </p:cNvCxnSpPr>
            <p:nvPr/>
          </p:nvCxnSpPr>
          <p:spPr>
            <a:xfrm rot="5400000" flipH="1" flipV="1">
              <a:off x="1944932" y="2032499"/>
              <a:ext cx="310626" cy="271885"/>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a:stCxn id="7" idx="1"/>
              <a:endCxn id="5" idx="5"/>
            </p:cNvCxnSpPr>
            <p:nvPr/>
          </p:nvCxnSpPr>
          <p:spPr>
            <a:xfrm rot="16200000" flipV="1">
              <a:off x="2487861" y="2003924"/>
              <a:ext cx="310626" cy="329035"/>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2" name="直接箭头连接符 11"/>
            <p:cNvCxnSpPr>
              <a:stCxn id="8" idx="0"/>
              <a:endCxn id="6" idx="4"/>
            </p:cNvCxnSpPr>
            <p:nvPr/>
          </p:nvCxnSpPr>
          <p:spPr>
            <a:xfrm rot="5400000" flipH="1" flipV="1">
              <a:off x="1628990" y="2673137"/>
              <a:ext cx="256705" cy="17145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3" name="任意多边形 12"/>
            <p:cNvSpPr/>
            <p:nvPr/>
          </p:nvSpPr>
          <p:spPr>
            <a:xfrm>
              <a:off x="2310141" y="1549520"/>
              <a:ext cx="372066" cy="283259"/>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600">
                <a:solidFill>
                  <a:srgbClr val="0000FF"/>
                </a:solidFill>
                <a:latin typeface="Consolas" pitchFamily="49" charset="0"/>
                <a:cs typeface="Consolas" pitchFamily="49" charset="0"/>
              </a:endParaRPr>
            </a:p>
          </p:txBody>
        </p:sp>
      </p:grpSp>
      <p:sp>
        <p:nvSpPr>
          <p:cNvPr id="14" name="TextBox 13"/>
          <p:cNvSpPr txBox="1"/>
          <p:nvPr/>
        </p:nvSpPr>
        <p:spPr>
          <a:xfrm>
            <a:off x="714348" y="4000504"/>
            <a:ext cx="3643338"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itchFamily="49" charset="0"/>
                <a:ea typeface="仿宋" pitchFamily="49" charset="-122"/>
                <a:cs typeface="Consolas" pitchFamily="49" charset="0"/>
              </a:rPr>
              <a:t>查找</a:t>
            </a:r>
            <a:r>
              <a:rPr lang="en-US" altLang="zh-CN"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所在的子集合：</a:t>
            </a:r>
            <a:r>
              <a:rPr lang="en-US" altLang="zh-CN" sz="2000" smtClean="0">
                <a:solidFill>
                  <a:srgbClr val="0000FF"/>
                </a:solidFill>
                <a:latin typeface="Consolas" pitchFamily="49" charset="0"/>
                <a:ea typeface="仿宋" pitchFamily="49" charset="-122"/>
                <a:cs typeface="Consolas" pitchFamily="49" charset="0"/>
              </a:rPr>
              <a:t>3</a:t>
            </a:r>
            <a:r>
              <a:rPr lang="zh-CN" altLang="en-US" sz="2000" smtClean="0">
                <a:solidFill>
                  <a:srgbClr val="0000FF"/>
                </a:solidFill>
                <a:latin typeface="Consolas" pitchFamily="49" charset="0"/>
                <a:ea typeface="仿宋" pitchFamily="49" charset="-122"/>
                <a:cs typeface="Consolas" pitchFamily="49" charset="0"/>
              </a:rPr>
              <a:t>次比较</a:t>
            </a:r>
            <a:endParaRPr lang="zh-CN" altLang="en-US" sz="2000">
              <a:solidFill>
                <a:srgbClr val="0000FF"/>
              </a:solidFill>
              <a:latin typeface="Consolas" pitchFamily="49" charset="0"/>
              <a:ea typeface="仿宋" pitchFamily="49" charset="-122"/>
              <a:cs typeface="Consolas" pitchFamily="49" charset="0"/>
            </a:endParaRPr>
          </a:p>
        </p:txBody>
      </p:sp>
      <p:sp>
        <p:nvSpPr>
          <p:cNvPr id="25" name="TextBox 24"/>
          <p:cNvSpPr txBox="1"/>
          <p:nvPr/>
        </p:nvSpPr>
        <p:spPr>
          <a:xfrm>
            <a:off x="4786314" y="4071942"/>
            <a:ext cx="3857652" cy="338554"/>
          </a:xfrm>
          <a:prstGeom prst="rect">
            <a:avLst/>
          </a:prstGeom>
          <a:noFill/>
        </p:spPr>
        <p:txBody>
          <a:bodyPr wrap="square" rtlCol="0">
            <a:spAutoFit/>
          </a:bodyPr>
          <a:lstStyle/>
          <a:p>
            <a:pPr algn="l"/>
            <a:r>
              <a:rPr lang="zh-CN" altLang="en-US" sz="2000" smtClean="0">
                <a:solidFill>
                  <a:srgbClr val="0000FF"/>
                </a:solidFill>
                <a:latin typeface="Consolas" pitchFamily="49" charset="0"/>
                <a:ea typeface="仿宋" pitchFamily="49" charset="-122"/>
                <a:cs typeface="Consolas" pitchFamily="49" charset="0"/>
              </a:rPr>
              <a:t>查找</a:t>
            </a:r>
            <a:r>
              <a:rPr lang="en-US" altLang="zh-CN" sz="2000" smtClean="0">
                <a:solidFill>
                  <a:srgbClr val="0000FF"/>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所在的子集合：</a:t>
            </a:r>
            <a:r>
              <a:rPr lang="en-US" altLang="zh-CN" sz="2000" smtClean="0">
                <a:solidFill>
                  <a:srgbClr val="0000FF"/>
                </a:solidFill>
                <a:latin typeface="Consolas" pitchFamily="49" charset="0"/>
                <a:ea typeface="仿宋" pitchFamily="49" charset="-122"/>
                <a:cs typeface="Consolas" pitchFamily="49" charset="0"/>
              </a:rPr>
              <a:t>4</a:t>
            </a:r>
            <a:r>
              <a:rPr lang="zh-CN" altLang="en-US" sz="2000" smtClean="0">
                <a:solidFill>
                  <a:srgbClr val="0000FF"/>
                </a:solidFill>
                <a:latin typeface="Consolas" pitchFamily="49" charset="0"/>
                <a:ea typeface="仿宋" pitchFamily="49" charset="-122"/>
                <a:cs typeface="Consolas" pitchFamily="49" charset="0"/>
              </a:rPr>
              <a:t>次比较</a:t>
            </a:r>
            <a:endParaRPr lang="zh-CN" altLang="en-US" sz="2000">
              <a:solidFill>
                <a:srgbClr val="0000FF"/>
              </a:solidFill>
              <a:latin typeface="Consolas" pitchFamily="49" charset="0"/>
              <a:ea typeface="仿宋" pitchFamily="49" charset="-122"/>
              <a:cs typeface="Consolas" pitchFamily="49" charset="0"/>
            </a:endParaRPr>
          </a:p>
        </p:txBody>
      </p:sp>
      <p:grpSp>
        <p:nvGrpSpPr>
          <p:cNvPr id="4" name="组合 33"/>
          <p:cNvGrpSpPr/>
          <p:nvPr/>
        </p:nvGrpSpPr>
        <p:grpSpPr>
          <a:xfrm>
            <a:off x="5000628" y="1024873"/>
            <a:ext cx="2189365" cy="2893467"/>
            <a:chOff x="5000628" y="1024873"/>
            <a:chExt cx="2189365" cy="2893467"/>
          </a:xfrm>
        </p:grpSpPr>
        <p:sp>
          <p:nvSpPr>
            <p:cNvPr id="16" name="椭圆 15"/>
            <p:cNvSpPr/>
            <p:nvPr/>
          </p:nvSpPr>
          <p:spPr>
            <a:xfrm>
              <a:off x="5933524" y="1196194"/>
              <a:ext cx="327774" cy="392538"/>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600" smtClean="0">
                  <a:solidFill>
                    <a:schemeClr val="bg1"/>
                  </a:solidFill>
                  <a:latin typeface="Consolas" pitchFamily="49" charset="0"/>
                  <a:cs typeface="Consolas" pitchFamily="49" charset="0"/>
                </a:rPr>
                <a:t>4</a:t>
              </a:r>
              <a:endParaRPr lang="zh-CN" altLang="en-US" sz="1600">
                <a:solidFill>
                  <a:schemeClr val="bg1"/>
                </a:solidFill>
                <a:latin typeface="Consolas" pitchFamily="49" charset="0"/>
                <a:cs typeface="Consolas" pitchFamily="49" charset="0"/>
              </a:endParaRPr>
            </a:p>
          </p:txBody>
        </p:sp>
        <p:sp>
          <p:nvSpPr>
            <p:cNvPr id="17" name="椭圆 16"/>
            <p:cNvSpPr/>
            <p:nvPr/>
          </p:nvSpPr>
          <p:spPr>
            <a:xfrm>
              <a:off x="5933524" y="1813039"/>
              <a:ext cx="327774" cy="39253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solidFill>
                    <a:srgbClr val="0000FF"/>
                  </a:solidFill>
                  <a:latin typeface="Consolas" pitchFamily="49" charset="0"/>
                  <a:cs typeface="Consolas" pitchFamily="49" charset="0"/>
                </a:rPr>
                <a:t>3</a:t>
              </a:r>
              <a:endParaRPr lang="zh-CN" altLang="en-US" sz="1600">
                <a:solidFill>
                  <a:srgbClr val="0000FF"/>
                </a:solidFill>
                <a:latin typeface="Consolas" pitchFamily="49" charset="0"/>
                <a:cs typeface="Consolas" pitchFamily="49" charset="0"/>
              </a:endParaRPr>
            </a:p>
          </p:txBody>
        </p:sp>
        <p:sp>
          <p:nvSpPr>
            <p:cNvPr id="18" name="椭圆 17"/>
            <p:cNvSpPr/>
            <p:nvPr/>
          </p:nvSpPr>
          <p:spPr>
            <a:xfrm>
              <a:off x="5933524" y="2426794"/>
              <a:ext cx="327774" cy="39253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solidFill>
                    <a:srgbClr val="0000FF"/>
                  </a:solidFill>
                  <a:latin typeface="Consolas" pitchFamily="49" charset="0"/>
                  <a:cs typeface="Consolas" pitchFamily="49" charset="0"/>
                </a:rPr>
                <a:t>2</a:t>
              </a:r>
              <a:endParaRPr lang="zh-CN" altLang="en-US" sz="1600">
                <a:solidFill>
                  <a:srgbClr val="0000FF"/>
                </a:solidFill>
                <a:latin typeface="Consolas" pitchFamily="49" charset="0"/>
                <a:cs typeface="Consolas" pitchFamily="49" charset="0"/>
              </a:endParaRPr>
            </a:p>
          </p:txBody>
        </p:sp>
        <p:sp>
          <p:nvSpPr>
            <p:cNvPr id="19" name="椭圆 18"/>
            <p:cNvSpPr/>
            <p:nvPr/>
          </p:nvSpPr>
          <p:spPr>
            <a:xfrm>
              <a:off x="5933524" y="3099716"/>
              <a:ext cx="327774" cy="39253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smtClean="0">
                  <a:solidFill>
                    <a:srgbClr val="0000FF"/>
                  </a:solidFill>
                  <a:latin typeface="Consolas" pitchFamily="49" charset="0"/>
                  <a:cs typeface="Consolas" pitchFamily="49" charset="0"/>
                </a:rPr>
                <a:t>1</a:t>
              </a:r>
              <a:endParaRPr lang="zh-CN" altLang="en-US" sz="1600">
                <a:solidFill>
                  <a:srgbClr val="0000FF"/>
                </a:solidFill>
                <a:latin typeface="Consolas" pitchFamily="49" charset="0"/>
                <a:cs typeface="Consolas" pitchFamily="49" charset="0"/>
              </a:endParaRPr>
            </a:p>
          </p:txBody>
        </p:sp>
        <p:sp>
          <p:nvSpPr>
            <p:cNvPr id="20" name="TextBox 19"/>
            <p:cNvSpPr txBox="1"/>
            <p:nvPr/>
          </p:nvSpPr>
          <p:spPr>
            <a:xfrm>
              <a:off x="5000628" y="3604408"/>
              <a:ext cx="2189365" cy="313932"/>
            </a:xfrm>
            <a:prstGeom prst="rect">
              <a:avLst/>
            </a:prstGeom>
            <a:noFill/>
          </p:spPr>
          <p:txBody>
            <a:bodyPr wrap="square"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集合</a:t>
              </a:r>
              <a:endParaRPr lang="zh-CN" altLang="en-US" sz="1800">
                <a:solidFill>
                  <a:srgbClr val="0000FF"/>
                </a:solidFill>
                <a:latin typeface="Consolas" pitchFamily="49" charset="0"/>
                <a:ea typeface="仿宋" pitchFamily="49" charset="-122"/>
                <a:cs typeface="Consolas" pitchFamily="49" charset="0"/>
              </a:endParaRPr>
            </a:p>
          </p:txBody>
        </p:sp>
        <p:sp>
          <p:nvSpPr>
            <p:cNvPr id="24" name="任意多边形 23"/>
            <p:cNvSpPr/>
            <p:nvPr/>
          </p:nvSpPr>
          <p:spPr>
            <a:xfrm>
              <a:off x="6052217" y="1024873"/>
              <a:ext cx="355652" cy="309387"/>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600">
                <a:solidFill>
                  <a:srgbClr val="0000FF"/>
                </a:solidFill>
                <a:latin typeface="Consolas" pitchFamily="49" charset="0"/>
                <a:cs typeface="Consolas" pitchFamily="49" charset="0"/>
              </a:endParaRPr>
            </a:p>
          </p:txBody>
        </p:sp>
        <p:cxnSp>
          <p:nvCxnSpPr>
            <p:cNvPr id="29" name="直接箭头连接符 28"/>
            <p:cNvCxnSpPr>
              <a:stCxn id="17" idx="0"/>
              <a:endCxn id="16" idx="4"/>
            </p:cNvCxnSpPr>
            <p:nvPr/>
          </p:nvCxnSpPr>
          <p:spPr>
            <a:xfrm rot="5400000" flipH="1" flipV="1">
              <a:off x="5985258" y="1700902"/>
              <a:ext cx="224307" cy="121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1" name="直接箭头连接符 30"/>
            <p:cNvCxnSpPr>
              <a:stCxn id="18" idx="0"/>
              <a:endCxn id="17" idx="4"/>
            </p:cNvCxnSpPr>
            <p:nvPr/>
          </p:nvCxnSpPr>
          <p:spPr>
            <a:xfrm rot="5400000" flipH="1" flipV="1">
              <a:off x="5986803" y="2316202"/>
              <a:ext cx="221217" cy="121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3" name="直接箭头连接符 32"/>
            <p:cNvCxnSpPr>
              <a:stCxn id="19" idx="0"/>
              <a:endCxn id="18" idx="4"/>
            </p:cNvCxnSpPr>
            <p:nvPr/>
          </p:nvCxnSpPr>
          <p:spPr>
            <a:xfrm rot="5400000" flipH="1" flipV="1">
              <a:off x="5957219" y="2959540"/>
              <a:ext cx="280384" cy="121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nvGrpSpPr>
          <p:cNvPr id="15" name="组合 36"/>
          <p:cNvGrpSpPr/>
          <p:nvPr/>
        </p:nvGrpSpPr>
        <p:grpSpPr>
          <a:xfrm>
            <a:off x="3214678" y="4714884"/>
            <a:ext cx="2357454" cy="981496"/>
            <a:chOff x="3286116" y="4857760"/>
            <a:chExt cx="2357454" cy="981496"/>
          </a:xfrm>
        </p:grpSpPr>
        <p:sp>
          <p:nvSpPr>
            <p:cNvPr id="35" name="TextBox 34"/>
            <p:cNvSpPr txBox="1"/>
            <p:nvPr/>
          </p:nvSpPr>
          <p:spPr>
            <a:xfrm>
              <a:off x="3286116" y="5500702"/>
              <a:ext cx="2357454" cy="338554"/>
            </a:xfrm>
            <a:prstGeom prst="rect">
              <a:avLst/>
            </a:prstGeom>
            <a:noFill/>
          </p:spPr>
          <p:txBody>
            <a:bodyPr wrap="square" rtlCol="0">
              <a:spAutoFit/>
            </a:bodyPr>
            <a:lstStyle/>
            <a:p>
              <a:pPr algn="l"/>
              <a:r>
                <a:rPr lang="zh-CN" altLang="en-US" sz="2000" smtClean="0">
                  <a:solidFill>
                    <a:srgbClr val="0000FF"/>
                  </a:solidFill>
                  <a:latin typeface="华文中宋" pitchFamily="2" charset="-122"/>
                  <a:ea typeface="华文中宋" pitchFamily="2" charset="-122"/>
                </a:rPr>
                <a:t>子树高度越小越好</a:t>
              </a:r>
              <a:endParaRPr lang="zh-CN" altLang="en-US" sz="2000">
                <a:solidFill>
                  <a:srgbClr val="0000FF"/>
                </a:solidFill>
                <a:latin typeface="华文中宋" pitchFamily="2" charset="-122"/>
                <a:ea typeface="华文中宋" pitchFamily="2" charset="-122"/>
              </a:endParaRPr>
            </a:p>
          </p:txBody>
        </p:sp>
        <p:sp>
          <p:nvSpPr>
            <p:cNvPr id="36" name="下箭头 35"/>
            <p:cNvSpPr/>
            <p:nvPr/>
          </p:nvSpPr>
          <p:spPr>
            <a:xfrm>
              <a:off x="4143372" y="4857760"/>
              <a:ext cx="285752" cy="57150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grpSp>
        <p:nvGrpSpPr>
          <p:cNvPr id="21" name="组合 20"/>
          <p:cNvGrpSpPr/>
          <p:nvPr/>
        </p:nvGrpSpPr>
        <p:grpSpPr>
          <a:xfrm>
            <a:off x="357158" y="524807"/>
            <a:ext cx="1257938" cy="1285884"/>
            <a:chOff x="1003205" y="2000240"/>
            <a:chExt cx="1257938" cy="1285884"/>
          </a:xfrm>
        </p:grpSpPr>
        <p:pic>
          <p:nvPicPr>
            <p:cNvPr id="39" name="Picture 29" descr="1"/>
            <p:cNvPicPr>
              <a:picLocks noChangeAspect="1" noChangeArrowheads="1"/>
            </p:cNvPicPr>
            <p:nvPr/>
          </p:nvPicPr>
          <p:blipFill>
            <a:blip r:embed="rId2" cstate="print">
              <a:lum bright="-6000" contrast="24000"/>
            </a:blip>
            <a:srcRect l="42606" t="64474" r="19473"/>
            <a:stretch>
              <a:fillRect/>
            </a:stretch>
          </p:blipFill>
          <p:spPr bwMode="auto">
            <a:xfrm>
              <a:off x="1003205" y="2000240"/>
              <a:ext cx="1257938" cy="1285884"/>
            </a:xfrm>
            <a:prstGeom prst="rect">
              <a:avLst/>
            </a:prstGeom>
            <a:noFill/>
            <a:ln w="9525">
              <a:noFill/>
              <a:miter lim="800000"/>
              <a:headEnd/>
              <a:tailEnd/>
            </a:ln>
          </p:spPr>
        </p:pic>
        <p:sp>
          <p:nvSpPr>
            <p:cNvPr id="40" name="Text Box 31"/>
            <p:cNvSpPr txBox="1">
              <a:spLocks noChangeArrowheads="1"/>
            </p:cNvSpPr>
            <p:nvPr/>
          </p:nvSpPr>
          <p:spPr bwMode="white">
            <a:xfrm>
              <a:off x="1643042" y="2181517"/>
              <a:ext cx="381000" cy="338554"/>
            </a:xfrm>
            <a:prstGeom prst="rect">
              <a:avLst/>
            </a:prstGeom>
            <a:noFill/>
            <a:ln w="9525">
              <a:noFill/>
              <a:miter lim="800000"/>
              <a:headEnd/>
              <a:tailEnd/>
            </a:ln>
          </p:spPr>
          <p:txBody>
            <a:bodyPr>
              <a:spAutoFit/>
            </a:bodyPr>
            <a:lstStyle/>
            <a:p>
              <a:pPr algn="ctr">
                <a:spcBef>
                  <a:spcPct val="50000"/>
                </a:spcBef>
              </a:pPr>
              <a:r>
                <a:rPr lang="en-US" altLang="zh-CN" sz="2000" b="1" smtClean="0">
                  <a:solidFill>
                    <a:srgbClr val="FF0000"/>
                  </a:solidFill>
                  <a:latin typeface="微软雅黑" pitchFamily="34" charset="-122"/>
                  <a:ea typeface="微软雅黑" pitchFamily="34" charset="-122"/>
                  <a:cs typeface="Arial" pitchFamily="34" charset="0"/>
                </a:rPr>
                <a:t>2</a:t>
              </a:r>
              <a:endParaRPr lang="en-US" altLang="zh-CN" sz="2000" b="1" dirty="0">
                <a:solidFill>
                  <a:srgbClr val="FF0000"/>
                </a:solidFill>
                <a:latin typeface="微软雅黑" pitchFamily="34" charset="-122"/>
                <a:ea typeface="微软雅黑" pitchFamily="34" charset="-122"/>
                <a:cs typeface="Arial" pitchFamily="34" charset="0"/>
              </a:endParaRPr>
            </a:p>
          </p:txBody>
        </p:sp>
      </p:grpSp>
      <p:sp>
        <p:nvSpPr>
          <p:cNvPr id="32" name="灯片编号占位符 31"/>
          <p:cNvSpPr>
            <a:spLocks noGrp="1"/>
          </p:cNvSpPr>
          <p:nvPr>
            <p:ph type="sldNum" sz="quarter" idx="12"/>
          </p:nvPr>
        </p:nvSpPr>
        <p:spPr/>
        <p:txBody>
          <a:bodyPr/>
          <a:lstStyle/>
          <a:p>
            <a:fld id="{67864EE2-EAB3-4814-A7EB-820BD7610F1E}" type="slidenum">
              <a:rPr lang="en-US" altLang="zh-CN" smtClean="0"/>
              <a:pPr/>
              <a:t>58</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p:cNvSpPr/>
          <p:nvPr/>
        </p:nvSpPr>
        <p:spPr>
          <a:xfrm>
            <a:off x="2571736" y="4157667"/>
            <a:ext cx="792961" cy="1485911"/>
          </a:xfrm>
          <a:prstGeom prst="rect">
            <a:avLst/>
          </a:prstGeom>
          <a:ln w="19050"/>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sp>
        <p:nvSpPr>
          <p:cNvPr id="3" name="矩形 2"/>
          <p:cNvSpPr/>
          <p:nvPr/>
        </p:nvSpPr>
        <p:spPr>
          <a:xfrm>
            <a:off x="500034" y="1495412"/>
            <a:ext cx="1517442" cy="361952"/>
          </a:xfrm>
          <a:prstGeom prst="rect">
            <a:avLst/>
          </a:prstGeom>
          <a:solidFill>
            <a:schemeClr val="bg1"/>
          </a:solidFill>
          <a:ln>
            <a:solidFill>
              <a:schemeClr val="bg1"/>
            </a:solidFill>
          </a:ln>
          <a:effectLst/>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spcBef>
                <a:spcPts val="0"/>
              </a:spcBef>
            </a:pPr>
            <a:r>
              <a:rPr lang="zh-CN" altLang="en-US" sz="2000" smtClean="0">
                <a:solidFill>
                  <a:srgbClr val="0000FF"/>
                </a:solidFill>
                <a:latin typeface="Consolas" pitchFamily="49" charset="0"/>
                <a:ea typeface="仿宋" pitchFamily="49" charset="-122"/>
                <a:cs typeface="Consolas" pitchFamily="49" charset="0"/>
              </a:rPr>
              <a:t>初始状态</a:t>
            </a:r>
            <a:endParaRPr lang="zh-CN" altLang="en-US" sz="2000">
              <a:solidFill>
                <a:srgbClr val="0000FF"/>
              </a:solidFill>
              <a:latin typeface="Consolas" pitchFamily="49" charset="0"/>
              <a:ea typeface="仿宋" pitchFamily="49" charset="-122"/>
              <a:cs typeface="Consolas" pitchFamily="49" charset="0"/>
            </a:endParaRPr>
          </a:p>
        </p:txBody>
      </p:sp>
      <p:sp>
        <p:nvSpPr>
          <p:cNvPr id="4" name="矩形 3"/>
          <p:cNvSpPr/>
          <p:nvPr/>
        </p:nvSpPr>
        <p:spPr>
          <a:xfrm>
            <a:off x="2143108" y="1495412"/>
            <a:ext cx="6286544" cy="360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spcBef>
                <a:spcPts val="0"/>
              </a:spcBef>
            </a:pP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{10}</a:t>
            </a:r>
            <a:endParaRPr lang="zh-CN" altLang="en-US" sz="1800">
              <a:solidFill>
                <a:srgbClr val="0000FF"/>
              </a:solidFill>
              <a:latin typeface="Consolas" pitchFamily="49" charset="0"/>
              <a:ea typeface="仿宋" pitchFamily="49" charset="-122"/>
              <a:cs typeface="Consolas" pitchFamily="49" charset="0"/>
            </a:endParaRPr>
          </a:p>
        </p:txBody>
      </p:sp>
      <p:grpSp>
        <p:nvGrpSpPr>
          <p:cNvPr id="2" name="组合 6"/>
          <p:cNvGrpSpPr/>
          <p:nvPr/>
        </p:nvGrpSpPr>
        <p:grpSpPr>
          <a:xfrm>
            <a:off x="285720" y="2356605"/>
            <a:ext cx="573774" cy="574653"/>
            <a:chOff x="428596" y="1500174"/>
            <a:chExt cx="620296" cy="718317"/>
          </a:xfrm>
        </p:grpSpPr>
        <p:sp>
          <p:nvSpPr>
            <p:cNvPr id="5" name="椭圆 4"/>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1</a:t>
              </a:r>
              <a:endParaRPr lang="zh-CN" altLang="en-US" sz="1600">
                <a:latin typeface="Consolas" pitchFamily="49" charset="0"/>
                <a:ea typeface="仿宋" pitchFamily="49" charset="-122"/>
                <a:cs typeface="Consolas" pitchFamily="49" charset="0"/>
              </a:endParaRPr>
            </a:p>
          </p:txBody>
        </p:sp>
        <p:sp>
          <p:nvSpPr>
            <p:cNvPr id="6" name="任意多边形 5"/>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7" name="组合 7"/>
          <p:cNvGrpSpPr/>
          <p:nvPr/>
        </p:nvGrpSpPr>
        <p:grpSpPr>
          <a:xfrm>
            <a:off x="1165622" y="2356605"/>
            <a:ext cx="573774" cy="574653"/>
            <a:chOff x="428596" y="1500174"/>
            <a:chExt cx="620296" cy="718317"/>
          </a:xfrm>
        </p:grpSpPr>
        <p:sp>
          <p:nvSpPr>
            <p:cNvPr id="9" name="椭圆 8"/>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2</a:t>
              </a:r>
              <a:endParaRPr lang="zh-CN" altLang="en-US" sz="1600">
                <a:latin typeface="Consolas" pitchFamily="49" charset="0"/>
                <a:ea typeface="仿宋" pitchFamily="49" charset="-122"/>
                <a:cs typeface="Consolas" pitchFamily="49" charset="0"/>
              </a:endParaRPr>
            </a:p>
          </p:txBody>
        </p:sp>
        <p:sp>
          <p:nvSpPr>
            <p:cNvPr id="10" name="任意多边形 9"/>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8" name="组合 10"/>
          <p:cNvGrpSpPr/>
          <p:nvPr/>
        </p:nvGrpSpPr>
        <p:grpSpPr>
          <a:xfrm>
            <a:off x="2094316" y="2352668"/>
            <a:ext cx="573774" cy="574653"/>
            <a:chOff x="428596" y="1500174"/>
            <a:chExt cx="620296" cy="718317"/>
          </a:xfrm>
        </p:grpSpPr>
        <p:sp>
          <p:nvSpPr>
            <p:cNvPr id="12" name="椭圆 11"/>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3</a:t>
              </a:r>
              <a:endParaRPr lang="zh-CN" altLang="en-US" sz="1600">
                <a:latin typeface="Consolas" pitchFamily="49" charset="0"/>
                <a:ea typeface="仿宋" pitchFamily="49" charset="-122"/>
                <a:cs typeface="Consolas" pitchFamily="49" charset="0"/>
              </a:endParaRPr>
            </a:p>
          </p:txBody>
        </p:sp>
        <p:sp>
          <p:nvSpPr>
            <p:cNvPr id="13" name="任意多边形 12"/>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11" name="组合 13"/>
          <p:cNvGrpSpPr/>
          <p:nvPr/>
        </p:nvGrpSpPr>
        <p:grpSpPr>
          <a:xfrm>
            <a:off x="2928926" y="2360542"/>
            <a:ext cx="573774" cy="574653"/>
            <a:chOff x="428596" y="1500174"/>
            <a:chExt cx="620296" cy="718317"/>
          </a:xfrm>
        </p:grpSpPr>
        <p:sp>
          <p:nvSpPr>
            <p:cNvPr id="15" name="椭圆 14"/>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4</a:t>
              </a:r>
              <a:endParaRPr lang="zh-CN" altLang="en-US" sz="1600">
                <a:latin typeface="Consolas" pitchFamily="49" charset="0"/>
                <a:ea typeface="仿宋" pitchFamily="49" charset="-122"/>
                <a:cs typeface="Consolas" pitchFamily="49" charset="0"/>
              </a:endParaRPr>
            </a:p>
          </p:txBody>
        </p:sp>
        <p:sp>
          <p:nvSpPr>
            <p:cNvPr id="16" name="任意多边形 15"/>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14" name="组合 16"/>
          <p:cNvGrpSpPr/>
          <p:nvPr/>
        </p:nvGrpSpPr>
        <p:grpSpPr>
          <a:xfrm>
            <a:off x="3714744" y="2360542"/>
            <a:ext cx="573774" cy="574653"/>
            <a:chOff x="428596" y="1500174"/>
            <a:chExt cx="620296" cy="718317"/>
          </a:xfrm>
        </p:grpSpPr>
        <p:sp>
          <p:nvSpPr>
            <p:cNvPr id="18" name="椭圆 17"/>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5</a:t>
              </a:r>
              <a:endParaRPr lang="zh-CN" altLang="en-US" sz="1600">
                <a:latin typeface="Consolas" pitchFamily="49" charset="0"/>
                <a:ea typeface="仿宋" pitchFamily="49" charset="-122"/>
                <a:cs typeface="Consolas" pitchFamily="49" charset="0"/>
              </a:endParaRPr>
            </a:p>
          </p:txBody>
        </p:sp>
        <p:sp>
          <p:nvSpPr>
            <p:cNvPr id="19" name="任意多边形 18"/>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17" name="组合 19"/>
          <p:cNvGrpSpPr/>
          <p:nvPr/>
        </p:nvGrpSpPr>
        <p:grpSpPr>
          <a:xfrm>
            <a:off x="4549354" y="2356605"/>
            <a:ext cx="573774" cy="574653"/>
            <a:chOff x="428596" y="1500174"/>
            <a:chExt cx="620296" cy="718317"/>
          </a:xfrm>
        </p:grpSpPr>
        <p:sp>
          <p:nvSpPr>
            <p:cNvPr id="21" name="椭圆 20"/>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6</a:t>
              </a:r>
              <a:endParaRPr lang="zh-CN" altLang="en-US" sz="1600">
                <a:latin typeface="Consolas" pitchFamily="49" charset="0"/>
                <a:ea typeface="仿宋" pitchFamily="49" charset="-122"/>
                <a:cs typeface="Consolas" pitchFamily="49" charset="0"/>
              </a:endParaRPr>
            </a:p>
          </p:txBody>
        </p:sp>
        <p:sp>
          <p:nvSpPr>
            <p:cNvPr id="22" name="任意多边形 21"/>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20" name="组合 22"/>
          <p:cNvGrpSpPr/>
          <p:nvPr/>
        </p:nvGrpSpPr>
        <p:grpSpPr>
          <a:xfrm>
            <a:off x="5383964" y="2360542"/>
            <a:ext cx="573774" cy="574653"/>
            <a:chOff x="428596" y="1500174"/>
            <a:chExt cx="620296" cy="718317"/>
          </a:xfrm>
        </p:grpSpPr>
        <p:sp>
          <p:nvSpPr>
            <p:cNvPr id="24" name="椭圆 23"/>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7</a:t>
              </a:r>
              <a:endParaRPr lang="zh-CN" altLang="en-US" sz="1600">
                <a:latin typeface="Consolas" pitchFamily="49" charset="0"/>
                <a:ea typeface="仿宋" pitchFamily="49" charset="-122"/>
                <a:cs typeface="Consolas" pitchFamily="49" charset="0"/>
              </a:endParaRPr>
            </a:p>
          </p:txBody>
        </p:sp>
        <p:sp>
          <p:nvSpPr>
            <p:cNvPr id="25" name="任意多边形 24"/>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23" name="组合 25"/>
          <p:cNvGrpSpPr/>
          <p:nvPr/>
        </p:nvGrpSpPr>
        <p:grpSpPr>
          <a:xfrm>
            <a:off x="6169782" y="2360542"/>
            <a:ext cx="573774" cy="574653"/>
            <a:chOff x="428596" y="1500174"/>
            <a:chExt cx="620296" cy="718317"/>
          </a:xfrm>
        </p:grpSpPr>
        <p:sp>
          <p:nvSpPr>
            <p:cNvPr id="27" name="椭圆 26"/>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8</a:t>
              </a:r>
              <a:endParaRPr lang="zh-CN" altLang="en-US" sz="1600">
                <a:latin typeface="Consolas" pitchFamily="49" charset="0"/>
                <a:ea typeface="仿宋" pitchFamily="49" charset="-122"/>
                <a:cs typeface="Consolas" pitchFamily="49" charset="0"/>
              </a:endParaRPr>
            </a:p>
          </p:txBody>
        </p:sp>
        <p:sp>
          <p:nvSpPr>
            <p:cNvPr id="28" name="任意多边形 27"/>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26" name="组合 28"/>
          <p:cNvGrpSpPr/>
          <p:nvPr/>
        </p:nvGrpSpPr>
        <p:grpSpPr>
          <a:xfrm>
            <a:off x="7004392" y="2356605"/>
            <a:ext cx="573774" cy="574653"/>
            <a:chOff x="428596" y="1500174"/>
            <a:chExt cx="620296" cy="718317"/>
          </a:xfrm>
        </p:grpSpPr>
        <p:sp>
          <p:nvSpPr>
            <p:cNvPr id="30" name="椭圆 2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9</a:t>
              </a:r>
              <a:endParaRPr lang="zh-CN" altLang="en-US" sz="1600">
                <a:latin typeface="Consolas" pitchFamily="49" charset="0"/>
                <a:ea typeface="仿宋" pitchFamily="49" charset="-122"/>
                <a:cs typeface="Consolas" pitchFamily="49" charset="0"/>
              </a:endParaRPr>
            </a:p>
          </p:txBody>
        </p:sp>
        <p:sp>
          <p:nvSpPr>
            <p:cNvPr id="31" name="任意多边形 3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29" name="组合 31"/>
          <p:cNvGrpSpPr/>
          <p:nvPr/>
        </p:nvGrpSpPr>
        <p:grpSpPr>
          <a:xfrm>
            <a:off x="7861648" y="2356605"/>
            <a:ext cx="573774" cy="574653"/>
            <a:chOff x="428596" y="1500174"/>
            <a:chExt cx="620296" cy="718317"/>
          </a:xfrm>
        </p:grpSpPr>
        <p:sp>
          <p:nvSpPr>
            <p:cNvPr id="33" name="椭圆 32"/>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10</a:t>
              </a:r>
              <a:endParaRPr lang="zh-CN" altLang="en-US" sz="1600">
                <a:latin typeface="Consolas" pitchFamily="49" charset="0"/>
                <a:ea typeface="仿宋" pitchFamily="49" charset="-122"/>
                <a:cs typeface="Consolas" pitchFamily="49" charset="0"/>
              </a:endParaRPr>
            </a:p>
          </p:txBody>
        </p:sp>
        <p:sp>
          <p:nvSpPr>
            <p:cNvPr id="34" name="任意多边形 33"/>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32" name="组合 68"/>
          <p:cNvGrpSpPr/>
          <p:nvPr/>
        </p:nvGrpSpPr>
        <p:grpSpPr>
          <a:xfrm>
            <a:off x="285720" y="3567113"/>
            <a:ext cx="7929618" cy="2000264"/>
            <a:chOff x="285720" y="2500306"/>
            <a:chExt cx="8572560" cy="2500330"/>
          </a:xfrm>
        </p:grpSpPr>
        <p:sp>
          <p:nvSpPr>
            <p:cNvPr id="35" name="矩形 34"/>
            <p:cNvSpPr/>
            <p:nvPr/>
          </p:nvSpPr>
          <p:spPr>
            <a:xfrm>
              <a:off x="500034" y="2500306"/>
              <a:ext cx="1407522" cy="450000"/>
            </a:xfrm>
            <a:prstGeom prst="rect">
              <a:avLst/>
            </a:prstGeom>
            <a:solidFill>
              <a:schemeClr val="bg1"/>
            </a:solidFill>
            <a:ln w="190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sp>
          <p:nvSpPr>
            <p:cNvPr id="36" name="矩形 35"/>
            <p:cNvSpPr/>
            <p:nvPr/>
          </p:nvSpPr>
          <p:spPr>
            <a:xfrm>
              <a:off x="2143108" y="2500306"/>
              <a:ext cx="6715172" cy="450000"/>
            </a:xfrm>
            <a:prstGeom prst="rect">
              <a:avLst/>
            </a:prstGeom>
            <a:ln w="19050"/>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800" smtClean="0">
                  <a:solidFill>
                    <a:srgbClr val="0000FF"/>
                  </a:solidFill>
                  <a:latin typeface="Consolas" pitchFamily="49" charset="0"/>
                  <a:ea typeface="仿宋" pitchFamily="49" charset="-122"/>
                  <a:cs typeface="Consolas" pitchFamily="49" charset="0"/>
                </a:rPr>
                <a:t>{1}</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{2</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4}</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{3}</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{5}</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{6}</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{7}</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{8}</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{9}</a:t>
              </a:r>
              <a:r>
                <a:rPr lang="zh-CN" altLang="en-US" sz="1800" smtClean="0">
                  <a:solidFill>
                    <a:srgbClr val="0000FF"/>
                  </a:solidFill>
                  <a:latin typeface="Consolas" pitchFamily="49" charset="0"/>
                  <a:ea typeface="仿宋" pitchFamily="49" charset="-122"/>
                  <a:cs typeface="Consolas" pitchFamily="49" charset="0"/>
                </a:rPr>
                <a:t>，</a:t>
              </a:r>
              <a:r>
                <a:rPr lang="en-US" altLang="zh-CN" sz="1800" smtClean="0">
                  <a:solidFill>
                    <a:srgbClr val="0000FF"/>
                  </a:solidFill>
                  <a:latin typeface="Consolas" pitchFamily="49" charset="0"/>
                  <a:ea typeface="仿宋" pitchFamily="49" charset="-122"/>
                  <a:cs typeface="Consolas" pitchFamily="49" charset="0"/>
                </a:rPr>
                <a:t>{10}</a:t>
              </a:r>
              <a:endParaRPr lang="zh-CN" altLang="en-US" sz="1800">
                <a:solidFill>
                  <a:srgbClr val="0000FF"/>
                </a:solidFill>
                <a:latin typeface="Consolas" pitchFamily="49" charset="0"/>
                <a:ea typeface="仿宋" pitchFamily="49" charset="-122"/>
                <a:cs typeface="Consolas" pitchFamily="49" charset="0"/>
              </a:endParaRPr>
            </a:p>
          </p:txBody>
        </p:sp>
        <p:grpSp>
          <p:nvGrpSpPr>
            <p:cNvPr id="37" name="组合 36"/>
            <p:cNvGrpSpPr/>
            <p:nvPr/>
          </p:nvGrpSpPr>
          <p:grpSpPr>
            <a:xfrm>
              <a:off x="285720" y="3432937"/>
              <a:ext cx="620296" cy="718317"/>
              <a:chOff x="428596" y="1500174"/>
              <a:chExt cx="620296" cy="718317"/>
            </a:xfrm>
          </p:grpSpPr>
          <p:sp>
            <p:nvSpPr>
              <p:cNvPr id="38" name="椭圆 37"/>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1</a:t>
                </a:r>
                <a:endParaRPr lang="zh-CN" altLang="en-US" sz="1600">
                  <a:latin typeface="Consolas" pitchFamily="49" charset="0"/>
                  <a:ea typeface="仿宋" pitchFamily="49" charset="-122"/>
                  <a:cs typeface="Consolas" pitchFamily="49" charset="0"/>
                </a:endParaRPr>
              </a:p>
            </p:txBody>
          </p:sp>
          <p:sp>
            <p:nvSpPr>
              <p:cNvPr id="39" name="任意多边形 38"/>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sp>
          <p:nvSpPr>
            <p:cNvPr id="41" name="椭圆 40"/>
            <p:cNvSpPr/>
            <p:nvPr/>
          </p:nvSpPr>
          <p:spPr>
            <a:xfrm>
              <a:off x="2928926" y="4500570"/>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2</a:t>
              </a:r>
              <a:endParaRPr lang="zh-CN" altLang="en-US" sz="1600">
                <a:latin typeface="Consolas" pitchFamily="49" charset="0"/>
                <a:ea typeface="仿宋" pitchFamily="49" charset="-122"/>
                <a:cs typeface="Consolas" pitchFamily="49" charset="0"/>
              </a:endParaRPr>
            </a:p>
          </p:txBody>
        </p:sp>
        <p:grpSp>
          <p:nvGrpSpPr>
            <p:cNvPr id="40" name="组合 42"/>
            <p:cNvGrpSpPr/>
            <p:nvPr/>
          </p:nvGrpSpPr>
          <p:grpSpPr>
            <a:xfrm>
              <a:off x="2094316" y="3429000"/>
              <a:ext cx="620296" cy="718317"/>
              <a:chOff x="428596" y="1500174"/>
              <a:chExt cx="620296" cy="718317"/>
            </a:xfrm>
          </p:grpSpPr>
          <p:sp>
            <p:nvSpPr>
              <p:cNvPr id="44" name="椭圆 43"/>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3</a:t>
                </a:r>
                <a:endParaRPr lang="zh-CN" altLang="en-US" sz="1600">
                  <a:latin typeface="Consolas" pitchFamily="49" charset="0"/>
                  <a:ea typeface="仿宋" pitchFamily="49" charset="-122"/>
                  <a:cs typeface="Consolas" pitchFamily="49" charset="0"/>
                </a:endParaRPr>
              </a:p>
            </p:txBody>
          </p:sp>
          <p:sp>
            <p:nvSpPr>
              <p:cNvPr id="45" name="任意多边形 44"/>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42" name="组合 45"/>
            <p:cNvGrpSpPr/>
            <p:nvPr/>
          </p:nvGrpSpPr>
          <p:grpSpPr>
            <a:xfrm>
              <a:off x="2928926" y="3436874"/>
              <a:ext cx="620296" cy="718317"/>
              <a:chOff x="428596" y="1500174"/>
              <a:chExt cx="620296" cy="718317"/>
            </a:xfrm>
          </p:grpSpPr>
          <p:sp>
            <p:nvSpPr>
              <p:cNvPr id="47" name="椭圆 46"/>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4</a:t>
                </a:r>
                <a:endParaRPr lang="zh-CN" altLang="en-US" sz="1600">
                  <a:latin typeface="Consolas" pitchFamily="49" charset="0"/>
                  <a:ea typeface="仿宋" pitchFamily="49" charset="-122"/>
                  <a:cs typeface="Consolas" pitchFamily="49" charset="0"/>
                </a:endParaRPr>
              </a:p>
            </p:txBody>
          </p:sp>
          <p:sp>
            <p:nvSpPr>
              <p:cNvPr id="48" name="任意多边形 47"/>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43" name="组合 48"/>
            <p:cNvGrpSpPr/>
            <p:nvPr/>
          </p:nvGrpSpPr>
          <p:grpSpPr>
            <a:xfrm>
              <a:off x="3808828" y="3436874"/>
              <a:ext cx="620296" cy="718317"/>
              <a:chOff x="428596" y="1500174"/>
              <a:chExt cx="620296" cy="718317"/>
            </a:xfrm>
          </p:grpSpPr>
          <p:sp>
            <p:nvSpPr>
              <p:cNvPr id="50" name="椭圆 4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5</a:t>
                </a:r>
                <a:endParaRPr lang="zh-CN" altLang="en-US" sz="1600">
                  <a:latin typeface="Consolas" pitchFamily="49" charset="0"/>
                  <a:ea typeface="仿宋" pitchFamily="49" charset="-122"/>
                  <a:cs typeface="Consolas" pitchFamily="49" charset="0"/>
                </a:endParaRPr>
              </a:p>
            </p:txBody>
          </p:sp>
          <p:sp>
            <p:nvSpPr>
              <p:cNvPr id="51" name="任意多边形 5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46" name="组合 51"/>
            <p:cNvGrpSpPr/>
            <p:nvPr/>
          </p:nvGrpSpPr>
          <p:grpSpPr>
            <a:xfrm>
              <a:off x="4737522" y="3432937"/>
              <a:ext cx="620296" cy="718317"/>
              <a:chOff x="428596" y="1500174"/>
              <a:chExt cx="620296" cy="718317"/>
            </a:xfrm>
          </p:grpSpPr>
          <p:sp>
            <p:nvSpPr>
              <p:cNvPr id="53" name="椭圆 52"/>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6</a:t>
                </a:r>
                <a:endParaRPr lang="zh-CN" altLang="en-US" sz="1600">
                  <a:latin typeface="Consolas" pitchFamily="49" charset="0"/>
                  <a:ea typeface="仿宋" pitchFamily="49" charset="-122"/>
                  <a:cs typeface="Consolas" pitchFamily="49" charset="0"/>
                </a:endParaRPr>
              </a:p>
            </p:txBody>
          </p:sp>
          <p:sp>
            <p:nvSpPr>
              <p:cNvPr id="54" name="任意多边形 53"/>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49" name="组合 54"/>
            <p:cNvGrpSpPr/>
            <p:nvPr/>
          </p:nvGrpSpPr>
          <p:grpSpPr>
            <a:xfrm>
              <a:off x="5572132" y="3436874"/>
              <a:ext cx="620296" cy="718317"/>
              <a:chOff x="428596" y="1500174"/>
              <a:chExt cx="620296" cy="718317"/>
            </a:xfrm>
          </p:grpSpPr>
          <p:sp>
            <p:nvSpPr>
              <p:cNvPr id="56" name="椭圆 55"/>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7</a:t>
                </a:r>
                <a:endParaRPr lang="zh-CN" altLang="en-US" sz="1600">
                  <a:latin typeface="Consolas" pitchFamily="49" charset="0"/>
                  <a:ea typeface="仿宋" pitchFamily="49" charset="-122"/>
                  <a:cs typeface="Consolas" pitchFamily="49" charset="0"/>
                </a:endParaRPr>
              </a:p>
            </p:txBody>
          </p:sp>
          <p:sp>
            <p:nvSpPr>
              <p:cNvPr id="57" name="任意多边形 56"/>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52" name="组合 57"/>
            <p:cNvGrpSpPr/>
            <p:nvPr/>
          </p:nvGrpSpPr>
          <p:grpSpPr>
            <a:xfrm>
              <a:off x="6452034" y="3436874"/>
              <a:ext cx="620296" cy="718317"/>
              <a:chOff x="428596" y="1500174"/>
              <a:chExt cx="620296" cy="718317"/>
            </a:xfrm>
          </p:grpSpPr>
          <p:sp>
            <p:nvSpPr>
              <p:cNvPr id="59" name="椭圆 58"/>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8</a:t>
                </a:r>
                <a:endParaRPr lang="zh-CN" altLang="en-US" sz="1600">
                  <a:latin typeface="Consolas" pitchFamily="49" charset="0"/>
                  <a:ea typeface="仿宋" pitchFamily="49" charset="-122"/>
                  <a:cs typeface="Consolas" pitchFamily="49" charset="0"/>
                </a:endParaRPr>
              </a:p>
            </p:txBody>
          </p:sp>
          <p:sp>
            <p:nvSpPr>
              <p:cNvPr id="60" name="任意多边形 59"/>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55" name="组合 60"/>
            <p:cNvGrpSpPr/>
            <p:nvPr/>
          </p:nvGrpSpPr>
          <p:grpSpPr>
            <a:xfrm>
              <a:off x="7380728" y="3432937"/>
              <a:ext cx="620296" cy="718317"/>
              <a:chOff x="428596" y="1500174"/>
              <a:chExt cx="620296" cy="718317"/>
            </a:xfrm>
          </p:grpSpPr>
          <p:sp>
            <p:nvSpPr>
              <p:cNvPr id="62" name="椭圆 61"/>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9</a:t>
                </a:r>
                <a:endParaRPr lang="zh-CN" altLang="en-US" sz="1600">
                  <a:latin typeface="Consolas" pitchFamily="49" charset="0"/>
                  <a:ea typeface="仿宋" pitchFamily="49" charset="-122"/>
                  <a:cs typeface="Consolas" pitchFamily="49" charset="0"/>
                </a:endParaRPr>
              </a:p>
            </p:txBody>
          </p:sp>
          <p:sp>
            <p:nvSpPr>
              <p:cNvPr id="63" name="任意多边形 62"/>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grpSp>
          <p:nvGrpSpPr>
            <p:cNvPr id="58" name="组合 63"/>
            <p:cNvGrpSpPr/>
            <p:nvPr/>
          </p:nvGrpSpPr>
          <p:grpSpPr>
            <a:xfrm>
              <a:off x="8237984" y="3432937"/>
              <a:ext cx="620296" cy="718317"/>
              <a:chOff x="428596" y="1500174"/>
              <a:chExt cx="620296" cy="718317"/>
            </a:xfrm>
          </p:grpSpPr>
          <p:sp>
            <p:nvSpPr>
              <p:cNvPr id="65" name="椭圆 64"/>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ea typeface="仿宋" pitchFamily="49" charset="-122"/>
                    <a:cs typeface="Consolas" pitchFamily="49" charset="0"/>
                  </a:rPr>
                  <a:t>10</a:t>
                </a:r>
                <a:endParaRPr lang="zh-CN" altLang="en-US" sz="1600">
                  <a:latin typeface="Consolas" pitchFamily="49" charset="0"/>
                  <a:ea typeface="仿宋" pitchFamily="49" charset="-122"/>
                  <a:cs typeface="Consolas" pitchFamily="49" charset="0"/>
                </a:endParaRPr>
              </a:p>
            </p:txBody>
          </p:sp>
          <p:sp>
            <p:nvSpPr>
              <p:cNvPr id="66" name="任意多边形 65"/>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ea typeface="仿宋" pitchFamily="49" charset="-122"/>
                  <a:cs typeface="Consolas" pitchFamily="49" charset="0"/>
                </a:endParaRPr>
              </a:p>
            </p:txBody>
          </p:sp>
        </p:grpSp>
        <p:cxnSp>
          <p:nvCxnSpPr>
            <p:cNvPr id="68" name="直接箭头连接符 67"/>
            <p:cNvCxnSpPr>
              <a:stCxn id="41" idx="0"/>
              <a:endCxn id="47" idx="4"/>
            </p:cNvCxnSpPr>
            <p:nvPr/>
          </p:nvCxnSpPr>
          <p:spPr>
            <a:xfrm rot="5400000" flipH="1" flipV="1">
              <a:off x="2970551" y="4327881"/>
              <a:ext cx="345379"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grpSp>
      <p:sp>
        <p:nvSpPr>
          <p:cNvPr id="70" name="TextBox 69"/>
          <p:cNvSpPr txBox="1"/>
          <p:nvPr/>
        </p:nvSpPr>
        <p:spPr>
          <a:xfrm>
            <a:off x="1571604" y="357166"/>
            <a:ext cx="207170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457200" indent="-457200" algn="l">
              <a:lnSpc>
                <a:spcPct val="100000"/>
              </a:lnSpc>
            </a:pPr>
            <a:r>
              <a:rPr lang="zh-CN" altLang="en-US" sz="2000" spc="50" smtClean="0">
                <a:ln w="11430"/>
                <a:solidFill>
                  <a:srgbClr val="FF0000"/>
                </a:solidFill>
                <a:effectLst>
                  <a:outerShdw blurRad="76200" dist="50800" dir="5400000" algn="tl" rotWithShape="0">
                    <a:srgbClr val="000000">
                      <a:alpha val="65000"/>
                    </a:srgbClr>
                  </a:outerShdw>
                </a:effectLst>
                <a:latin typeface="楷体" pitchFamily="49" charset="-122"/>
                <a:ea typeface="楷体" pitchFamily="49" charset="-122"/>
              </a:rPr>
              <a:t>合并过程</a:t>
            </a:r>
            <a:endParaRPr lang="zh-CN" altLang="en-US" sz="2000" spc="50">
              <a:ln w="11430"/>
              <a:solidFill>
                <a:srgbClr val="FF0000"/>
              </a:solidFill>
              <a:effectLst>
                <a:outerShdw blurRad="76200" dist="50800" dir="5400000" algn="tl" rotWithShape="0">
                  <a:srgbClr val="000000">
                    <a:alpha val="65000"/>
                  </a:srgbClr>
                </a:outerShdw>
              </a:effectLst>
              <a:latin typeface="楷体" pitchFamily="49" charset="-122"/>
              <a:ea typeface="楷体" pitchFamily="49" charset="-122"/>
            </a:endParaRPr>
          </a:p>
        </p:txBody>
      </p:sp>
      <p:sp>
        <p:nvSpPr>
          <p:cNvPr id="71" name="TextBox 70"/>
          <p:cNvSpPr txBox="1"/>
          <p:nvPr/>
        </p:nvSpPr>
        <p:spPr>
          <a:xfrm>
            <a:off x="571472" y="2066915"/>
            <a:ext cx="859042" cy="289310"/>
          </a:xfrm>
          <a:prstGeom prst="rect">
            <a:avLst/>
          </a:prstGeom>
          <a:noFill/>
        </p:spPr>
        <p:txBody>
          <a:bodyPr wrap="square" rtlCol="0">
            <a:spAutoFit/>
          </a:bodyPr>
          <a:lstStyle/>
          <a:p>
            <a:pPr algn="l"/>
            <a:r>
              <a:rPr lang="en-US" altLang="zh-CN" sz="1600" smtClean="0">
                <a:solidFill>
                  <a:srgbClr val="FF00FF"/>
                </a:solidFill>
                <a:latin typeface="Consolas" pitchFamily="49" charset="0"/>
                <a:ea typeface="仿宋" pitchFamily="49" charset="-122"/>
                <a:cs typeface="Consolas" pitchFamily="49" charset="0"/>
              </a:rPr>
              <a:t>parent</a:t>
            </a:r>
            <a:endParaRPr lang="zh-CN" altLang="en-US" sz="1600">
              <a:solidFill>
                <a:srgbClr val="FF00FF"/>
              </a:solidFill>
              <a:latin typeface="Consolas" pitchFamily="49" charset="0"/>
              <a:ea typeface="仿宋" pitchFamily="49" charset="-122"/>
              <a:cs typeface="Consolas" pitchFamily="49" charset="0"/>
            </a:endParaRPr>
          </a:p>
        </p:txBody>
      </p:sp>
      <p:grpSp>
        <p:nvGrpSpPr>
          <p:cNvPr id="61" name="组合 20"/>
          <p:cNvGrpSpPr/>
          <p:nvPr/>
        </p:nvGrpSpPr>
        <p:grpSpPr>
          <a:xfrm>
            <a:off x="285720" y="142852"/>
            <a:ext cx="1257938" cy="1285884"/>
            <a:chOff x="1003205" y="2000240"/>
            <a:chExt cx="1257938" cy="1285884"/>
          </a:xfrm>
        </p:grpSpPr>
        <p:pic>
          <p:nvPicPr>
            <p:cNvPr id="74" name="Picture 29" descr="1"/>
            <p:cNvPicPr>
              <a:picLocks noChangeAspect="1" noChangeArrowheads="1"/>
            </p:cNvPicPr>
            <p:nvPr/>
          </p:nvPicPr>
          <p:blipFill>
            <a:blip r:embed="rId2" cstate="print">
              <a:lum bright="-6000" contrast="24000"/>
            </a:blip>
            <a:srcRect l="42606" t="64474" r="19473"/>
            <a:stretch>
              <a:fillRect/>
            </a:stretch>
          </p:blipFill>
          <p:spPr bwMode="auto">
            <a:xfrm>
              <a:off x="1003205" y="2000240"/>
              <a:ext cx="1257938" cy="1285884"/>
            </a:xfrm>
            <a:prstGeom prst="rect">
              <a:avLst/>
            </a:prstGeom>
            <a:noFill/>
            <a:ln w="9525">
              <a:noFill/>
              <a:miter lim="800000"/>
              <a:headEnd/>
              <a:tailEnd/>
            </a:ln>
          </p:spPr>
        </p:pic>
        <p:sp>
          <p:nvSpPr>
            <p:cNvPr id="75" name="Text Box 31"/>
            <p:cNvSpPr txBox="1">
              <a:spLocks noChangeArrowheads="1"/>
            </p:cNvSpPr>
            <p:nvPr/>
          </p:nvSpPr>
          <p:spPr bwMode="white">
            <a:xfrm>
              <a:off x="1643042" y="2304628"/>
              <a:ext cx="381000" cy="338554"/>
            </a:xfrm>
            <a:prstGeom prst="rect">
              <a:avLst/>
            </a:prstGeom>
            <a:noFill/>
            <a:ln w="9525">
              <a:noFill/>
              <a:miter lim="800000"/>
              <a:headEnd/>
              <a:tailEnd/>
            </a:ln>
          </p:spPr>
          <p:txBody>
            <a:bodyPr>
              <a:spAutoFit/>
            </a:bodyPr>
            <a:lstStyle/>
            <a:p>
              <a:pPr algn="ctr">
                <a:spcBef>
                  <a:spcPct val="50000"/>
                </a:spcBef>
              </a:pPr>
              <a:r>
                <a:rPr lang="en-US" altLang="zh-CN" sz="2000" smtClean="0">
                  <a:solidFill>
                    <a:srgbClr val="FF0000"/>
                  </a:solidFill>
                  <a:latin typeface="微软雅黑" pitchFamily="34" charset="-122"/>
                  <a:ea typeface="微软雅黑" pitchFamily="34" charset="-122"/>
                  <a:cs typeface="Arial" pitchFamily="34" charset="0"/>
                </a:rPr>
                <a:t>3</a:t>
              </a:r>
              <a:endParaRPr lang="en-US" altLang="zh-CN" sz="2000" b="1" dirty="0">
                <a:solidFill>
                  <a:srgbClr val="FF0000"/>
                </a:solidFill>
                <a:latin typeface="微软雅黑" pitchFamily="34" charset="-122"/>
                <a:ea typeface="微软雅黑" pitchFamily="34" charset="-122"/>
                <a:cs typeface="Arial" pitchFamily="34" charset="0"/>
              </a:endParaRPr>
            </a:p>
          </p:txBody>
        </p:sp>
      </p:grpSp>
      <p:sp>
        <p:nvSpPr>
          <p:cNvPr id="76" name="灯片编号占位符 75"/>
          <p:cNvSpPr>
            <a:spLocks noGrp="1"/>
          </p:cNvSpPr>
          <p:nvPr>
            <p:ph type="sldNum" sz="quarter" idx="12"/>
          </p:nvPr>
        </p:nvSpPr>
        <p:spPr/>
        <p:txBody>
          <a:bodyPr/>
          <a:lstStyle/>
          <a:p>
            <a:fld id="{67864EE2-EAB3-4814-A7EB-820BD7610F1E}" type="slidenum">
              <a:rPr lang="en-US" altLang="zh-CN" smtClean="0"/>
              <a:pPr/>
              <a:t>59</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4876802" y="3286124"/>
            <a:ext cx="771530" cy="1496229"/>
          </a:xfrm>
          <a:prstGeom prst="rect">
            <a:avLst/>
          </a:prstGeom>
          <a:ln w="19050"/>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a:p>
        </p:txBody>
      </p:sp>
      <p:grpSp>
        <p:nvGrpSpPr>
          <p:cNvPr id="2" name="组合 67"/>
          <p:cNvGrpSpPr/>
          <p:nvPr/>
        </p:nvGrpSpPr>
        <p:grpSpPr>
          <a:xfrm>
            <a:off x="285720" y="2571744"/>
            <a:ext cx="7715304" cy="2071702"/>
            <a:chOff x="285720" y="2571744"/>
            <a:chExt cx="8572560" cy="2571768"/>
          </a:xfrm>
        </p:grpSpPr>
        <p:sp>
          <p:nvSpPr>
            <p:cNvPr id="3" name="矩形 2"/>
            <p:cNvSpPr/>
            <p:nvPr/>
          </p:nvSpPr>
          <p:spPr>
            <a:xfrm>
              <a:off x="714348" y="2571744"/>
              <a:ext cx="1500198" cy="446897"/>
            </a:xfrm>
            <a:prstGeom prst="rect">
              <a:avLst/>
            </a:prstGeom>
            <a:solidFill>
              <a:schemeClr val="bg1"/>
            </a:solidFill>
            <a:ln w="190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5</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7</a:t>
              </a:r>
              <a:r>
                <a:rPr lang="zh-CN" altLang="en-US" sz="1800" smtClean="0">
                  <a:solidFill>
                    <a:srgbClr val="3333FF"/>
                  </a:solidFill>
                  <a:latin typeface="微软雅黑" pitchFamily="34" charset="-122"/>
                  <a:ea typeface="微软雅黑" pitchFamily="34" charset="-122"/>
                </a:rPr>
                <a:t>）</a:t>
              </a:r>
              <a:endParaRPr lang="zh-CN" altLang="en-US" sz="1800">
                <a:solidFill>
                  <a:srgbClr val="3333FF"/>
                </a:solidFill>
                <a:latin typeface="微软雅黑" pitchFamily="34" charset="-122"/>
                <a:ea typeface="微软雅黑" pitchFamily="34" charset="-122"/>
              </a:endParaRPr>
            </a:p>
          </p:txBody>
        </p:sp>
        <p:sp>
          <p:nvSpPr>
            <p:cNvPr id="4" name="矩形 3"/>
            <p:cNvSpPr/>
            <p:nvPr/>
          </p:nvSpPr>
          <p:spPr>
            <a:xfrm>
              <a:off x="2357422" y="2571744"/>
              <a:ext cx="6215106" cy="446897"/>
            </a:xfrm>
            <a:prstGeom prst="rect">
              <a:avLst/>
            </a:prstGeom>
            <a:ln w="19050"/>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800" smtClean="0">
                  <a:solidFill>
                    <a:srgbClr val="3333FF"/>
                  </a:solidFill>
                  <a:latin typeface="微软雅黑" pitchFamily="34" charset="-122"/>
                  <a:ea typeface="微软雅黑" pitchFamily="34" charset="-122"/>
                </a:rPr>
                <a:t>{1}</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{2</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4}</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{3}</a:t>
              </a:r>
              <a:r>
                <a:rPr lang="zh-CN" altLang="en-US" sz="1800" smtClean="0">
                  <a:solidFill>
                    <a:srgbClr val="3333FF"/>
                  </a:solidFill>
                  <a:latin typeface="微软雅黑" pitchFamily="34" charset="-122"/>
                  <a:ea typeface="微软雅黑" pitchFamily="34" charset="-122"/>
                </a:rPr>
                <a:t>，</a:t>
              </a:r>
              <a:r>
                <a:rPr lang="en-US" altLang="zh-CN" sz="1800" smtClean="0">
                  <a:solidFill>
                    <a:srgbClr val="FF0000"/>
                  </a:solidFill>
                  <a:latin typeface="微软雅黑" pitchFamily="34" charset="-122"/>
                  <a:ea typeface="微软雅黑" pitchFamily="34" charset="-122"/>
                </a:rPr>
                <a:t>{5</a:t>
              </a:r>
              <a:r>
                <a:rPr lang="zh-CN" altLang="en-US" sz="1800" smtClean="0">
                  <a:solidFill>
                    <a:srgbClr val="FF0000"/>
                  </a:solidFill>
                  <a:latin typeface="微软雅黑" pitchFamily="34" charset="-122"/>
                  <a:ea typeface="微软雅黑" pitchFamily="34" charset="-122"/>
                </a:rPr>
                <a:t>，</a:t>
              </a:r>
              <a:r>
                <a:rPr lang="en-US" altLang="zh-CN" sz="1800" smtClean="0">
                  <a:solidFill>
                    <a:srgbClr val="FF0000"/>
                  </a:solidFill>
                  <a:latin typeface="微软雅黑" pitchFamily="34" charset="-122"/>
                  <a:ea typeface="微软雅黑" pitchFamily="34" charset="-122"/>
                </a:rPr>
                <a:t>7}</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{6}</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{8}</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{9}</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{10}</a:t>
              </a:r>
              <a:endParaRPr lang="zh-CN" altLang="en-US" sz="1800">
                <a:solidFill>
                  <a:srgbClr val="3333FF"/>
                </a:solidFill>
                <a:latin typeface="微软雅黑" pitchFamily="34" charset="-122"/>
                <a:ea typeface="微软雅黑" pitchFamily="34" charset="-122"/>
              </a:endParaRPr>
            </a:p>
          </p:txBody>
        </p:sp>
        <p:grpSp>
          <p:nvGrpSpPr>
            <p:cNvPr id="5" name="组合 4"/>
            <p:cNvGrpSpPr/>
            <p:nvPr/>
          </p:nvGrpSpPr>
          <p:grpSpPr>
            <a:xfrm>
              <a:off x="285720" y="3575813"/>
              <a:ext cx="620296" cy="718317"/>
              <a:chOff x="428596" y="1500174"/>
              <a:chExt cx="620296" cy="718317"/>
            </a:xfrm>
          </p:grpSpPr>
          <p:sp>
            <p:nvSpPr>
              <p:cNvPr id="6" name="椭圆 5"/>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7" name="任意多边形 6"/>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8" name="椭圆 7"/>
            <p:cNvSpPr/>
            <p:nvPr/>
          </p:nvSpPr>
          <p:spPr>
            <a:xfrm>
              <a:off x="2928926" y="4643446"/>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2</a:t>
              </a:r>
              <a:endParaRPr lang="zh-CN" altLang="en-US" sz="1600">
                <a:latin typeface="Consolas" pitchFamily="49" charset="0"/>
                <a:cs typeface="Consolas" pitchFamily="49" charset="0"/>
              </a:endParaRPr>
            </a:p>
          </p:txBody>
        </p:sp>
        <p:grpSp>
          <p:nvGrpSpPr>
            <p:cNvPr id="9" name="组合 8"/>
            <p:cNvGrpSpPr/>
            <p:nvPr/>
          </p:nvGrpSpPr>
          <p:grpSpPr>
            <a:xfrm>
              <a:off x="2094316" y="3571876"/>
              <a:ext cx="620296" cy="718317"/>
              <a:chOff x="428596" y="1500174"/>
              <a:chExt cx="620296" cy="718317"/>
            </a:xfrm>
          </p:grpSpPr>
          <p:sp>
            <p:nvSpPr>
              <p:cNvPr id="10" name="椭圆 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3</a:t>
                </a:r>
                <a:endParaRPr lang="zh-CN" altLang="en-US" sz="1600">
                  <a:latin typeface="Consolas" pitchFamily="49" charset="0"/>
                  <a:cs typeface="Consolas" pitchFamily="49" charset="0"/>
                </a:endParaRPr>
              </a:p>
            </p:txBody>
          </p:sp>
          <p:sp>
            <p:nvSpPr>
              <p:cNvPr id="11" name="任意多边形 1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12" name="组合 11"/>
            <p:cNvGrpSpPr/>
            <p:nvPr/>
          </p:nvGrpSpPr>
          <p:grpSpPr>
            <a:xfrm>
              <a:off x="2928926" y="3579750"/>
              <a:ext cx="620296" cy="718317"/>
              <a:chOff x="428596" y="1500174"/>
              <a:chExt cx="620296" cy="718317"/>
            </a:xfrm>
          </p:grpSpPr>
          <p:sp>
            <p:nvSpPr>
              <p:cNvPr id="13" name="椭圆 12"/>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4</a:t>
                </a:r>
                <a:endParaRPr lang="zh-CN" altLang="en-US" sz="1600">
                  <a:latin typeface="Consolas" pitchFamily="49" charset="0"/>
                  <a:cs typeface="Consolas" pitchFamily="49" charset="0"/>
                </a:endParaRPr>
              </a:p>
            </p:txBody>
          </p:sp>
          <p:sp>
            <p:nvSpPr>
              <p:cNvPr id="14" name="任意多边形 13"/>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16" name="椭圆 15"/>
            <p:cNvSpPr/>
            <p:nvPr/>
          </p:nvSpPr>
          <p:spPr>
            <a:xfrm>
              <a:off x="5572132" y="4643446"/>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5</a:t>
              </a:r>
              <a:endParaRPr lang="zh-CN" altLang="en-US" sz="1600">
                <a:latin typeface="Consolas" pitchFamily="49" charset="0"/>
                <a:cs typeface="Consolas" pitchFamily="49" charset="0"/>
              </a:endParaRPr>
            </a:p>
          </p:txBody>
        </p:sp>
        <p:grpSp>
          <p:nvGrpSpPr>
            <p:cNvPr id="15" name="组合 17"/>
            <p:cNvGrpSpPr/>
            <p:nvPr/>
          </p:nvGrpSpPr>
          <p:grpSpPr>
            <a:xfrm>
              <a:off x="4737522" y="3575813"/>
              <a:ext cx="620296" cy="718317"/>
              <a:chOff x="428596" y="1500174"/>
              <a:chExt cx="620296" cy="718317"/>
            </a:xfrm>
          </p:grpSpPr>
          <p:sp>
            <p:nvSpPr>
              <p:cNvPr id="19" name="椭圆 18"/>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6</a:t>
                </a:r>
                <a:endParaRPr lang="zh-CN" altLang="en-US" sz="1600">
                  <a:latin typeface="Consolas" pitchFamily="49" charset="0"/>
                  <a:cs typeface="Consolas" pitchFamily="49" charset="0"/>
                </a:endParaRPr>
              </a:p>
            </p:txBody>
          </p:sp>
          <p:sp>
            <p:nvSpPr>
              <p:cNvPr id="20" name="任意多边形 19"/>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17" name="组合 20"/>
            <p:cNvGrpSpPr/>
            <p:nvPr/>
          </p:nvGrpSpPr>
          <p:grpSpPr>
            <a:xfrm>
              <a:off x="5572132" y="3579750"/>
              <a:ext cx="620296" cy="718317"/>
              <a:chOff x="428596" y="1500174"/>
              <a:chExt cx="620296" cy="718317"/>
            </a:xfrm>
          </p:grpSpPr>
          <p:sp>
            <p:nvSpPr>
              <p:cNvPr id="22" name="椭圆 21"/>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7</a:t>
                </a:r>
                <a:endParaRPr lang="zh-CN" altLang="en-US" sz="1600">
                  <a:latin typeface="Consolas" pitchFamily="49" charset="0"/>
                  <a:cs typeface="Consolas" pitchFamily="49" charset="0"/>
                </a:endParaRPr>
              </a:p>
            </p:txBody>
          </p:sp>
          <p:sp>
            <p:nvSpPr>
              <p:cNvPr id="23" name="任意多边形 22"/>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18" name="组合 23"/>
            <p:cNvGrpSpPr/>
            <p:nvPr/>
          </p:nvGrpSpPr>
          <p:grpSpPr>
            <a:xfrm>
              <a:off x="6452034" y="3579750"/>
              <a:ext cx="620296" cy="718317"/>
              <a:chOff x="428596" y="1500174"/>
              <a:chExt cx="620296" cy="718317"/>
            </a:xfrm>
          </p:grpSpPr>
          <p:sp>
            <p:nvSpPr>
              <p:cNvPr id="25" name="椭圆 24"/>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8</a:t>
                </a:r>
                <a:endParaRPr lang="zh-CN" altLang="en-US" sz="1600">
                  <a:latin typeface="Consolas" pitchFamily="49" charset="0"/>
                  <a:cs typeface="Consolas" pitchFamily="49" charset="0"/>
                </a:endParaRPr>
              </a:p>
            </p:txBody>
          </p:sp>
          <p:sp>
            <p:nvSpPr>
              <p:cNvPr id="26" name="任意多边形 25"/>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21" name="组合 26"/>
            <p:cNvGrpSpPr/>
            <p:nvPr/>
          </p:nvGrpSpPr>
          <p:grpSpPr>
            <a:xfrm>
              <a:off x="7380728" y="3575813"/>
              <a:ext cx="620296" cy="718317"/>
              <a:chOff x="428596" y="1500174"/>
              <a:chExt cx="620296" cy="718317"/>
            </a:xfrm>
          </p:grpSpPr>
          <p:sp>
            <p:nvSpPr>
              <p:cNvPr id="28" name="椭圆 27"/>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9</a:t>
                </a:r>
                <a:endParaRPr lang="zh-CN" altLang="en-US" sz="1600">
                  <a:latin typeface="Consolas" pitchFamily="49" charset="0"/>
                  <a:cs typeface="Consolas" pitchFamily="49" charset="0"/>
                </a:endParaRPr>
              </a:p>
            </p:txBody>
          </p:sp>
          <p:sp>
            <p:nvSpPr>
              <p:cNvPr id="29" name="任意多边形 28"/>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24" name="组合 29"/>
            <p:cNvGrpSpPr/>
            <p:nvPr/>
          </p:nvGrpSpPr>
          <p:grpSpPr>
            <a:xfrm>
              <a:off x="8237984" y="3575813"/>
              <a:ext cx="620296" cy="718317"/>
              <a:chOff x="428596" y="1500174"/>
              <a:chExt cx="620296" cy="718317"/>
            </a:xfrm>
          </p:grpSpPr>
          <p:sp>
            <p:nvSpPr>
              <p:cNvPr id="31" name="椭圆 30"/>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10</a:t>
                </a:r>
                <a:endParaRPr lang="zh-CN" altLang="en-US" sz="1600">
                  <a:latin typeface="Consolas" pitchFamily="49" charset="0"/>
                  <a:cs typeface="Consolas" pitchFamily="49" charset="0"/>
                </a:endParaRPr>
              </a:p>
            </p:txBody>
          </p:sp>
          <p:sp>
            <p:nvSpPr>
              <p:cNvPr id="32" name="任意多边形 31"/>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cxnSp>
          <p:nvCxnSpPr>
            <p:cNvPr id="33" name="直接箭头连接符 32"/>
            <p:cNvCxnSpPr>
              <a:stCxn id="8" idx="0"/>
            </p:cNvCxnSpPr>
            <p:nvPr/>
          </p:nvCxnSpPr>
          <p:spPr>
            <a:xfrm rot="5400000" flipH="1" flipV="1">
              <a:off x="2970551" y="4470757"/>
              <a:ext cx="345379"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16" idx="0"/>
            </p:cNvCxnSpPr>
            <p:nvPr/>
          </p:nvCxnSpPr>
          <p:spPr>
            <a:xfrm rot="5400000" flipH="1" flipV="1">
              <a:off x="5613757" y="4470757"/>
              <a:ext cx="345379"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grpSp>
      <p:grpSp>
        <p:nvGrpSpPr>
          <p:cNvPr id="27" name="组合 35"/>
          <p:cNvGrpSpPr/>
          <p:nvPr/>
        </p:nvGrpSpPr>
        <p:grpSpPr>
          <a:xfrm>
            <a:off x="285720" y="642918"/>
            <a:ext cx="7715304" cy="1266040"/>
            <a:chOff x="285720" y="3429000"/>
            <a:chExt cx="8572560" cy="1571636"/>
          </a:xfrm>
        </p:grpSpPr>
        <p:grpSp>
          <p:nvGrpSpPr>
            <p:cNvPr id="30" name="组合 36"/>
            <p:cNvGrpSpPr/>
            <p:nvPr/>
          </p:nvGrpSpPr>
          <p:grpSpPr>
            <a:xfrm>
              <a:off x="285720" y="3432937"/>
              <a:ext cx="620296" cy="718317"/>
              <a:chOff x="428596" y="1500174"/>
              <a:chExt cx="620296" cy="718317"/>
            </a:xfrm>
          </p:grpSpPr>
          <p:sp>
            <p:nvSpPr>
              <p:cNvPr id="66" name="椭圆 65"/>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67" name="任意多边形 66"/>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40" name="椭圆 39"/>
            <p:cNvSpPr/>
            <p:nvPr/>
          </p:nvSpPr>
          <p:spPr>
            <a:xfrm>
              <a:off x="2928926" y="4500570"/>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2</a:t>
              </a:r>
              <a:endParaRPr lang="zh-CN" altLang="en-US" sz="1600">
                <a:latin typeface="Consolas" pitchFamily="49" charset="0"/>
                <a:cs typeface="Consolas" pitchFamily="49" charset="0"/>
              </a:endParaRPr>
            </a:p>
          </p:txBody>
        </p:sp>
        <p:grpSp>
          <p:nvGrpSpPr>
            <p:cNvPr id="34" name="组合 42"/>
            <p:cNvGrpSpPr/>
            <p:nvPr/>
          </p:nvGrpSpPr>
          <p:grpSpPr>
            <a:xfrm>
              <a:off x="2094316" y="3429000"/>
              <a:ext cx="620296" cy="718317"/>
              <a:chOff x="428596" y="1500174"/>
              <a:chExt cx="620296" cy="718317"/>
            </a:xfrm>
          </p:grpSpPr>
          <p:sp>
            <p:nvSpPr>
              <p:cNvPr id="64" name="椭圆 63"/>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3</a:t>
                </a:r>
                <a:endParaRPr lang="zh-CN" altLang="en-US" sz="1600">
                  <a:latin typeface="Consolas" pitchFamily="49" charset="0"/>
                  <a:cs typeface="Consolas" pitchFamily="49" charset="0"/>
                </a:endParaRPr>
              </a:p>
            </p:txBody>
          </p:sp>
          <p:sp>
            <p:nvSpPr>
              <p:cNvPr id="65" name="任意多边形 64"/>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36" name="组合 45"/>
            <p:cNvGrpSpPr/>
            <p:nvPr/>
          </p:nvGrpSpPr>
          <p:grpSpPr>
            <a:xfrm>
              <a:off x="2928926" y="3436874"/>
              <a:ext cx="620296" cy="718317"/>
              <a:chOff x="428596" y="1500174"/>
              <a:chExt cx="620296" cy="718317"/>
            </a:xfrm>
          </p:grpSpPr>
          <p:sp>
            <p:nvSpPr>
              <p:cNvPr id="62" name="椭圆 61"/>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4</a:t>
                </a:r>
                <a:endParaRPr lang="zh-CN" altLang="en-US" sz="1600">
                  <a:latin typeface="Consolas" pitchFamily="49" charset="0"/>
                  <a:cs typeface="Consolas" pitchFamily="49" charset="0"/>
                </a:endParaRPr>
              </a:p>
            </p:txBody>
          </p:sp>
          <p:sp>
            <p:nvSpPr>
              <p:cNvPr id="63" name="任意多边形 62"/>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37" name="组合 48"/>
            <p:cNvGrpSpPr/>
            <p:nvPr/>
          </p:nvGrpSpPr>
          <p:grpSpPr>
            <a:xfrm>
              <a:off x="3808828" y="3436874"/>
              <a:ext cx="620296" cy="718317"/>
              <a:chOff x="428596" y="1500174"/>
              <a:chExt cx="620296" cy="718317"/>
            </a:xfrm>
          </p:grpSpPr>
          <p:sp>
            <p:nvSpPr>
              <p:cNvPr id="60" name="椭圆 5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5</a:t>
                </a:r>
                <a:endParaRPr lang="zh-CN" altLang="en-US" sz="1600">
                  <a:latin typeface="Consolas" pitchFamily="49" charset="0"/>
                  <a:cs typeface="Consolas" pitchFamily="49" charset="0"/>
                </a:endParaRPr>
              </a:p>
            </p:txBody>
          </p:sp>
          <p:sp>
            <p:nvSpPr>
              <p:cNvPr id="61" name="任意多边形 6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38" name="组合 51"/>
            <p:cNvGrpSpPr/>
            <p:nvPr/>
          </p:nvGrpSpPr>
          <p:grpSpPr>
            <a:xfrm>
              <a:off x="4737522" y="3432937"/>
              <a:ext cx="620296" cy="718317"/>
              <a:chOff x="428596" y="1500174"/>
              <a:chExt cx="620296" cy="718317"/>
            </a:xfrm>
          </p:grpSpPr>
          <p:sp>
            <p:nvSpPr>
              <p:cNvPr id="58" name="椭圆 57"/>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6</a:t>
                </a:r>
                <a:endParaRPr lang="zh-CN" altLang="en-US" sz="1600">
                  <a:latin typeface="Consolas" pitchFamily="49" charset="0"/>
                  <a:cs typeface="Consolas" pitchFamily="49" charset="0"/>
                </a:endParaRPr>
              </a:p>
            </p:txBody>
          </p:sp>
          <p:sp>
            <p:nvSpPr>
              <p:cNvPr id="59" name="任意多边形 58"/>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39" name="组合 54"/>
            <p:cNvGrpSpPr/>
            <p:nvPr/>
          </p:nvGrpSpPr>
          <p:grpSpPr>
            <a:xfrm>
              <a:off x="5572132" y="3436874"/>
              <a:ext cx="620296" cy="718317"/>
              <a:chOff x="428596" y="1500174"/>
              <a:chExt cx="620296" cy="718317"/>
            </a:xfrm>
          </p:grpSpPr>
          <p:sp>
            <p:nvSpPr>
              <p:cNvPr id="56" name="椭圆 55"/>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7</a:t>
                </a:r>
                <a:endParaRPr lang="zh-CN" altLang="en-US" sz="1600">
                  <a:latin typeface="Consolas" pitchFamily="49" charset="0"/>
                  <a:cs typeface="Consolas" pitchFamily="49" charset="0"/>
                </a:endParaRPr>
              </a:p>
            </p:txBody>
          </p:sp>
          <p:sp>
            <p:nvSpPr>
              <p:cNvPr id="57" name="任意多边形 56"/>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1" name="组合 57"/>
            <p:cNvGrpSpPr/>
            <p:nvPr/>
          </p:nvGrpSpPr>
          <p:grpSpPr>
            <a:xfrm>
              <a:off x="6452034" y="3436874"/>
              <a:ext cx="620296" cy="718317"/>
              <a:chOff x="428596" y="1500174"/>
              <a:chExt cx="620296" cy="718317"/>
            </a:xfrm>
          </p:grpSpPr>
          <p:sp>
            <p:nvSpPr>
              <p:cNvPr id="54" name="椭圆 53"/>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8</a:t>
                </a:r>
                <a:endParaRPr lang="zh-CN" altLang="en-US" sz="1600">
                  <a:latin typeface="Consolas" pitchFamily="49" charset="0"/>
                  <a:cs typeface="Consolas" pitchFamily="49" charset="0"/>
                </a:endParaRPr>
              </a:p>
            </p:txBody>
          </p:sp>
          <p:sp>
            <p:nvSpPr>
              <p:cNvPr id="55" name="任意多边形 54"/>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2" name="组合 60"/>
            <p:cNvGrpSpPr/>
            <p:nvPr/>
          </p:nvGrpSpPr>
          <p:grpSpPr>
            <a:xfrm>
              <a:off x="7380728" y="3432937"/>
              <a:ext cx="620296" cy="718317"/>
              <a:chOff x="428596" y="1500174"/>
              <a:chExt cx="620296" cy="718317"/>
            </a:xfrm>
          </p:grpSpPr>
          <p:sp>
            <p:nvSpPr>
              <p:cNvPr id="52" name="椭圆 51"/>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9</a:t>
                </a:r>
                <a:endParaRPr lang="zh-CN" altLang="en-US" sz="1600">
                  <a:latin typeface="Consolas" pitchFamily="49" charset="0"/>
                  <a:cs typeface="Consolas" pitchFamily="49" charset="0"/>
                </a:endParaRPr>
              </a:p>
            </p:txBody>
          </p:sp>
          <p:sp>
            <p:nvSpPr>
              <p:cNvPr id="53" name="任意多边形 52"/>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3" name="组合 63"/>
            <p:cNvGrpSpPr/>
            <p:nvPr/>
          </p:nvGrpSpPr>
          <p:grpSpPr>
            <a:xfrm>
              <a:off x="8237984" y="3432937"/>
              <a:ext cx="620296" cy="718317"/>
              <a:chOff x="428596" y="1500174"/>
              <a:chExt cx="620296" cy="718317"/>
            </a:xfrm>
          </p:grpSpPr>
          <p:sp>
            <p:nvSpPr>
              <p:cNvPr id="50" name="椭圆 4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10</a:t>
                </a:r>
                <a:endParaRPr lang="zh-CN" altLang="en-US" sz="1600">
                  <a:latin typeface="Consolas" pitchFamily="49" charset="0"/>
                  <a:cs typeface="Consolas" pitchFamily="49" charset="0"/>
                </a:endParaRPr>
              </a:p>
            </p:txBody>
          </p:sp>
          <p:sp>
            <p:nvSpPr>
              <p:cNvPr id="51" name="任意多边形 5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cxnSp>
          <p:nvCxnSpPr>
            <p:cNvPr id="49" name="直接箭头连接符 48"/>
            <p:cNvCxnSpPr>
              <a:stCxn id="40" idx="0"/>
              <a:endCxn id="62" idx="4"/>
            </p:cNvCxnSpPr>
            <p:nvPr/>
          </p:nvCxnSpPr>
          <p:spPr>
            <a:xfrm rot="5400000" flipH="1" flipV="1">
              <a:off x="2970551" y="4327881"/>
              <a:ext cx="345379"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grpSp>
      <p:sp>
        <p:nvSpPr>
          <p:cNvPr id="70" name="灯片编号占位符 69"/>
          <p:cNvSpPr>
            <a:spLocks noGrp="1"/>
          </p:cNvSpPr>
          <p:nvPr>
            <p:ph type="sldNum" sz="quarter" idx="12"/>
          </p:nvPr>
        </p:nvSpPr>
        <p:spPr/>
        <p:txBody>
          <a:bodyPr/>
          <a:lstStyle/>
          <a:p>
            <a:fld id="{67864EE2-EAB3-4814-A7EB-820BD7610F1E}" type="slidenum">
              <a:rPr lang="en-US" altLang="zh-CN" smtClean="0"/>
              <a:pPr/>
              <a:t>60</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矩形 63"/>
          <p:cNvSpPr/>
          <p:nvPr/>
        </p:nvSpPr>
        <p:spPr>
          <a:xfrm>
            <a:off x="919138" y="3571876"/>
            <a:ext cx="787118" cy="1564116"/>
          </a:xfrm>
          <a:prstGeom prst="rect">
            <a:avLst/>
          </a:prstGeom>
          <a:ln w="19050"/>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a:p>
        </p:txBody>
      </p:sp>
      <p:grpSp>
        <p:nvGrpSpPr>
          <p:cNvPr id="2" name="组合 62"/>
          <p:cNvGrpSpPr/>
          <p:nvPr/>
        </p:nvGrpSpPr>
        <p:grpSpPr>
          <a:xfrm>
            <a:off x="714348" y="2714620"/>
            <a:ext cx="7215238" cy="2286016"/>
            <a:chOff x="714348" y="2714620"/>
            <a:chExt cx="7858180" cy="2714644"/>
          </a:xfrm>
        </p:grpSpPr>
        <p:sp>
          <p:nvSpPr>
            <p:cNvPr id="3" name="矩形 2"/>
            <p:cNvSpPr/>
            <p:nvPr/>
          </p:nvSpPr>
          <p:spPr>
            <a:xfrm>
              <a:off x="714348" y="2714620"/>
              <a:ext cx="1500198" cy="428628"/>
            </a:xfrm>
            <a:prstGeom prst="rect">
              <a:avLst/>
            </a:prstGeom>
            <a:ln w="19050"/>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1</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3</a:t>
              </a:r>
              <a:r>
                <a:rPr lang="zh-CN" altLang="en-US" sz="1800" smtClean="0">
                  <a:solidFill>
                    <a:srgbClr val="3333FF"/>
                  </a:solidFill>
                  <a:latin typeface="微软雅黑" pitchFamily="34" charset="-122"/>
                  <a:ea typeface="微软雅黑" pitchFamily="34" charset="-122"/>
                </a:rPr>
                <a:t>）</a:t>
              </a:r>
              <a:endParaRPr lang="zh-CN" altLang="en-US" sz="1800">
                <a:solidFill>
                  <a:srgbClr val="3333FF"/>
                </a:solidFill>
                <a:latin typeface="微软雅黑" pitchFamily="34" charset="-122"/>
                <a:ea typeface="微软雅黑" pitchFamily="34" charset="-122"/>
              </a:endParaRPr>
            </a:p>
          </p:txBody>
        </p:sp>
        <p:sp>
          <p:nvSpPr>
            <p:cNvPr id="4" name="矩形 3"/>
            <p:cNvSpPr/>
            <p:nvPr/>
          </p:nvSpPr>
          <p:spPr>
            <a:xfrm>
              <a:off x="2357422" y="2714620"/>
              <a:ext cx="6215106" cy="428628"/>
            </a:xfrm>
            <a:prstGeom prst="rect">
              <a:avLst/>
            </a:prstGeom>
            <a:ln w="19050"/>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800" smtClean="0">
                  <a:solidFill>
                    <a:srgbClr val="FF0000"/>
                  </a:solidFill>
                  <a:latin typeface="微软雅黑" pitchFamily="34" charset="-122"/>
                  <a:ea typeface="微软雅黑" pitchFamily="34" charset="-122"/>
                </a:rPr>
                <a:t>{1</a:t>
              </a:r>
              <a:r>
                <a:rPr lang="zh-CN" altLang="en-US" sz="1800" smtClean="0">
                  <a:solidFill>
                    <a:srgbClr val="FF0000"/>
                  </a:solidFill>
                  <a:latin typeface="微软雅黑" pitchFamily="34" charset="-122"/>
                  <a:ea typeface="微软雅黑" pitchFamily="34" charset="-122"/>
                </a:rPr>
                <a:t>，</a:t>
              </a:r>
              <a:r>
                <a:rPr lang="en-US" altLang="zh-CN" sz="1800" smtClean="0">
                  <a:solidFill>
                    <a:srgbClr val="FF0000"/>
                  </a:solidFill>
                  <a:latin typeface="微软雅黑" pitchFamily="34" charset="-122"/>
                  <a:ea typeface="微软雅黑" pitchFamily="34" charset="-122"/>
                </a:rPr>
                <a:t>3}</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{2</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4}</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{5</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7}</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{6}</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{8}</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{9}</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{10}</a:t>
              </a:r>
              <a:endParaRPr lang="zh-CN" altLang="en-US" sz="1800">
                <a:solidFill>
                  <a:srgbClr val="3333FF"/>
                </a:solidFill>
                <a:latin typeface="微软雅黑" pitchFamily="34" charset="-122"/>
                <a:ea typeface="微软雅黑" pitchFamily="34" charset="-122"/>
              </a:endParaRPr>
            </a:p>
          </p:txBody>
        </p:sp>
        <p:sp>
          <p:nvSpPr>
            <p:cNvPr id="6" name="椭圆 5"/>
            <p:cNvSpPr/>
            <p:nvPr/>
          </p:nvSpPr>
          <p:spPr>
            <a:xfrm>
              <a:off x="1073944" y="4929198"/>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8" name="椭圆 7"/>
            <p:cNvSpPr/>
            <p:nvPr/>
          </p:nvSpPr>
          <p:spPr>
            <a:xfrm>
              <a:off x="1906148" y="4929198"/>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2</a:t>
              </a:r>
              <a:endParaRPr lang="zh-CN" altLang="en-US" sz="1600">
                <a:latin typeface="Consolas" pitchFamily="49" charset="0"/>
                <a:cs typeface="Consolas" pitchFamily="49" charset="0"/>
              </a:endParaRPr>
            </a:p>
          </p:txBody>
        </p:sp>
        <p:grpSp>
          <p:nvGrpSpPr>
            <p:cNvPr id="5" name="组合 8"/>
            <p:cNvGrpSpPr/>
            <p:nvPr/>
          </p:nvGrpSpPr>
          <p:grpSpPr>
            <a:xfrm>
              <a:off x="1071538" y="3857628"/>
              <a:ext cx="620296" cy="718317"/>
              <a:chOff x="428596" y="1500174"/>
              <a:chExt cx="620296" cy="718317"/>
            </a:xfrm>
          </p:grpSpPr>
          <p:sp>
            <p:nvSpPr>
              <p:cNvPr id="10" name="椭圆 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3</a:t>
                </a:r>
                <a:endParaRPr lang="zh-CN" altLang="en-US" sz="1600">
                  <a:latin typeface="Consolas" pitchFamily="49" charset="0"/>
                  <a:cs typeface="Consolas" pitchFamily="49" charset="0"/>
                </a:endParaRPr>
              </a:p>
            </p:txBody>
          </p:sp>
          <p:sp>
            <p:nvSpPr>
              <p:cNvPr id="11" name="任意多边形 1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7" name="组合 11"/>
            <p:cNvGrpSpPr/>
            <p:nvPr/>
          </p:nvGrpSpPr>
          <p:grpSpPr>
            <a:xfrm>
              <a:off x="1906148" y="3865502"/>
              <a:ext cx="620296" cy="718317"/>
              <a:chOff x="428596" y="1500174"/>
              <a:chExt cx="620296" cy="718317"/>
            </a:xfrm>
          </p:grpSpPr>
          <p:sp>
            <p:nvSpPr>
              <p:cNvPr id="13" name="椭圆 12"/>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4</a:t>
                </a:r>
                <a:endParaRPr lang="zh-CN" altLang="en-US" sz="1600">
                  <a:latin typeface="Consolas" pitchFamily="49" charset="0"/>
                  <a:cs typeface="Consolas" pitchFamily="49" charset="0"/>
                </a:endParaRPr>
              </a:p>
            </p:txBody>
          </p:sp>
          <p:sp>
            <p:nvSpPr>
              <p:cNvPr id="14" name="任意多边形 13"/>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15" name="椭圆 14"/>
            <p:cNvSpPr/>
            <p:nvPr/>
          </p:nvSpPr>
          <p:spPr>
            <a:xfrm>
              <a:off x="4549354" y="4929198"/>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5</a:t>
              </a:r>
              <a:endParaRPr lang="zh-CN" altLang="en-US" sz="1600">
                <a:latin typeface="Consolas" pitchFamily="49" charset="0"/>
                <a:cs typeface="Consolas" pitchFamily="49" charset="0"/>
              </a:endParaRPr>
            </a:p>
          </p:txBody>
        </p:sp>
        <p:grpSp>
          <p:nvGrpSpPr>
            <p:cNvPr id="9" name="组合 15"/>
            <p:cNvGrpSpPr/>
            <p:nvPr/>
          </p:nvGrpSpPr>
          <p:grpSpPr>
            <a:xfrm>
              <a:off x="3714744" y="3861565"/>
              <a:ext cx="620296" cy="718317"/>
              <a:chOff x="428596" y="1500174"/>
              <a:chExt cx="620296" cy="718317"/>
            </a:xfrm>
          </p:grpSpPr>
          <p:sp>
            <p:nvSpPr>
              <p:cNvPr id="17" name="椭圆 16"/>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6</a:t>
                </a:r>
                <a:endParaRPr lang="zh-CN" altLang="en-US" sz="1600">
                  <a:latin typeface="Consolas" pitchFamily="49" charset="0"/>
                  <a:cs typeface="Consolas" pitchFamily="49" charset="0"/>
                </a:endParaRPr>
              </a:p>
            </p:txBody>
          </p:sp>
          <p:sp>
            <p:nvSpPr>
              <p:cNvPr id="18" name="任意多边形 17"/>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12" name="组合 18"/>
            <p:cNvGrpSpPr/>
            <p:nvPr/>
          </p:nvGrpSpPr>
          <p:grpSpPr>
            <a:xfrm>
              <a:off x="4549354" y="3865502"/>
              <a:ext cx="620296" cy="718317"/>
              <a:chOff x="428596" y="1500174"/>
              <a:chExt cx="620296" cy="718317"/>
            </a:xfrm>
          </p:grpSpPr>
          <p:sp>
            <p:nvSpPr>
              <p:cNvPr id="20" name="椭圆 1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7</a:t>
                </a:r>
                <a:endParaRPr lang="zh-CN" altLang="en-US" sz="1600">
                  <a:latin typeface="Consolas" pitchFamily="49" charset="0"/>
                  <a:cs typeface="Consolas" pitchFamily="49" charset="0"/>
                </a:endParaRPr>
              </a:p>
            </p:txBody>
          </p:sp>
          <p:sp>
            <p:nvSpPr>
              <p:cNvPr id="21" name="任意多边形 2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16" name="组合 21"/>
            <p:cNvGrpSpPr/>
            <p:nvPr/>
          </p:nvGrpSpPr>
          <p:grpSpPr>
            <a:xfrm>
              <a:off x="5429256" y="3865502"/>
              <a:ext cx="620296" cy="718317"/>
              <a:chOff x="428596" y="1500174"/>
              <a:chExt cx="620296" cy="718317"/>
            </a:xfrm>
          </p:grpSpPr>
          <p:sp>
            <p:nvSpPr>
              <p:cNvPr id="23" name="椭圆 22"/>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8</a:t>
                </a:r>
                <a:endParaRPr lang="zh-CN" altLang="en-US" sz="1600">
                  <a:latin typeface="Consolas" pitchFamily="49" charset="0"/>
                  <a:cs typeface="Consolas" pitchFamily="49" charset="0"/>
                </a:endParaRPr>
              </a:p>
            </p:txBody>
          </p:sp>
          <p:sp>
            <p:nvSpPr>
              <p:cNvPr id="24" name="任意多边形 23"/>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19" name="组合 24"/>
            <p:cNvGrpSpPr/>
            <p:nvPr/>
          </p:nvGrpSpPr>
          <p:grpSpPr>
            <a:xfrm>
              <a:off x="6357950" y="3861565"/>
              <a:ext cx="620296" cy="718317"/>
              <a:chOff x="428596" y="1500174"/>
              <a:chExt cx="620296" cy="718317"/>
            </a:xfrm>
          </p:grpSpPr>
          <p:sp>
            <p:nvSpPr>
              <p:cNvPr id="26" name="椭圆 25"/>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9</a:t>
                </a:r>
                <a:endParaRPr lang="zh-CN" altLang="en-US" sz="1600">
                  <a:latin typeface="Consolas" pitchFamily="49" charset="0"/>
                  <a:cs typeface="Consolas" pitchFamily="49" charset="0"/>
                </a:endParaRPr>
              </a:p>
            </p:txBody>
          </p:sp>
          <p:sp>
            <p:nvSpPr>
              <p:cNvPr id="27" name="任意多边形 26"/>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22" name="组合 27"/>
            <p:cNvGrpSpPr/>
            <p:nvPr/>
          </p:nvGrpSpPr>
          <p:grpSpPr>
            <a:xfrm>
              <a:off x="7215206" y="3861565"/>
              <a:ext cx="620296" cy="718317"/>
              <a:chOff x="428596" y="1500174"/>
              <a:chExt cx="620296" cy="718317"/>
            </a:xfrm>
          </p:grpSpPr>
          <p:sp>
            <p:nvSpPr>
              <p:cNvPr id="29" name="椭圆 28"/>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10</a:t>
                </a:r>
                <a:endParaRPr lang="zh-CN" altLang="en-US" sz="1600">
                  <a:latin typeface="Consolas" pitchFamily="49" charset="0"/>
                  <a:cs typeface="Consolas" pitchFamily="49" charset="0"/>
                </a:endParaRPr>
              </a:p>
            </p:txBody>
          </p:sp>
          <p:sp>
            <p:nvSpPr>
              <p:cNvPr id="30" name="任意多边形 29"/>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cxnSp>
          <p:nvCxnSpPr>
            <p:cNvPr id="31" name="直接箭头连接符 30"/>
            <p:cNvCxnSpPr>
              <a:stCxn id="8" idx="0"/>
            </p:cNvCxnSpPr>
            <p:nvPr/>
          </p:nvCxnSpPr>
          <p:spPr>
            <a:xfrm rot="5400000" flipH="1" flipV="1">
              <a:off x="1947773" y="4756509"/>
              <a:ext cx="345379"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5" idx="0"/>
            </p:cNvCxnSpPr>
            <p:nvPr/>
          </p:nvCxnSpPr>
          <p:spPr>
            <a:xfrm rot="5400000" flipH="1" flipV="1">
              <a:off x="4590979" y="4756509"/>
              <a:ext cx="345379"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6" idx="0"/>
            </p:cNvCxnSpPr>
            <p:nvPr/>
          </p:nvCxnSpPr>
          <p:spPr>
            <a:xfrm rot="16200000" flipV="1">
              <a:off x="1110429" y="4751369"/>
              <a:ext cx="353253" cy="2406"/>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grpSp>
      <p:grpSp>
        <p:nvGrpSpPr>
          <p:cNvPr id="25" name="组合 34"/>
          <p:cNvGrpSpPr/>
          <p:nvPr/>
        </p:nvGrpSpPr>
        <p:grpSpPr>
          <a:xfrm>
            <a:off x="285721" y="646856"/>
            <a:ext cx="569545" cy="604899"/>
            <a:chOff x="428596" y="1500174"/>
            <a:chExt cx="620296" cy="718317"/>
          </a:xfrm>
        </p:grpSpPr>
        <p:sp>
          <p:nvSpPr>
            <p:cNvPr id="36" name="椭圆 35"/>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37" name="任意多边形 36"/>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38" name="椭圆 37"/>
          <p:cNvSpPr/>
          <p:nvPr/>
        </p:nvSpPr>
        <p:spPr>
          <a:xfrm>
            <a:off x="2928928" y="1714489"/>
            <a:ext cx="393558" cy="421108"/>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2</a:t>
            </a:r>
            <a:endParaRPr lang="zh-CN" altLang="en-US" sz="1600">
              <a:latin typeface="Consolas" pitchFamily="49" charset="0"/>
              <a:cs typeface="Consolas" pitchFamily="49" charset="0"/>
            </a:endParaRPr>
          </a:p>
        </p:txBody>
      </p:sp>
      <p:grpSp>
        <p:nvGrpSpPr>
          <p:cNvPr id="28" name="组合 38"/>
          <p:cNvGrpSpPr/>
          <p:nvPr/>
        </p:nvGrpSpPr>
        <p:grpSpPr>
          <a:xfrm>
            <a:off x="2094317" y="642919"/>
            <a:ext cx="569545" cy="604899"/>
            <a:chOff x="428596" y="1500174"/>
            <a:chExt cx="620296" cy="718317"/>
          </a:xfrm>
        </p:grpSpPr>
        <p:sp>
          <p:nvSpPr>
            <p:cNvPr id="40" name="椭圆 3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3</a:t>
              </a:r>
              <a:endParaRPr lang="zh-CN" altLang="en-US" sz="1600">
                <a:latin typeface="Consolas" pitchFamily="49" charset="0"/>
                <a:cs typeface="Consolas" pitchFamily="49" charset="0"/>
              </a:endParaRPr>
            </a:p>
          </p:txBody>
        </p:sp>
        <p:sp>
          <p:nvSpPr>
            <p:cNvPr id="41" name="任意多边形 4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33" name="组合 41"/>
          <p:cNvGrpSpPr/>
          <p:nvPr/>
        </p:nvGrpSpPr>
        <p:grpSpPr>
          <a:xfrm>
            <a:off x="2928927" y="650793"/>
            <a:ext cx="569545" cy="604899"/>
            <a:chOff x="428596" y="1500174"/>
            <a:chExt cx="620296" cy="718317"/>
          </a:xfrm>
        </p:grpSpPr>
        <p:sp>
          <p:nvSpPr>
            <p:cNvPr id="43" name="椭圆 42"/>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4</a:t>
              </a:r>
              <a:endParaRPr lang="zh-CN" altLang="en-US" sz="1600">
                <a:latin typeface="Consolas" pitchFamily="49" charset="0"/>
                <a:cs typeface="Consolas" pitchFamily="49" charset="0"/>
              </a:endParaRPr>
            </a:p>
          </p:txBody>
        </p:sp>
        <p:sp>
          <p:nvSpPr>
            <p:cNvPr id="44" name="任意多边形 43"/>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45" name="椭圆 44"/>
          <p:cNvSpPr/>
          <p:nvPr/>
        </p:nvSpPr>
        <p:spPr>
          <a:xfrm>
            <a:off x="5572134" y="1714489"/>
            <a:ext cx="393558" cy="421108"/>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5</a:t>
            </a:r>
            <a:endParaRPr lang="zh-CN" altLang="en-US" sz="1600">
              <a:latin typeface="Consolas" pitchFamily="49" charset="0"/>
              <a:cs typeface="Consolas" pitchFamily="49" charset="0"/>
            </a:endParaRPr>
          </a:p>
        </p:txBody>
      </p:sp>
      <p:grpSp>
        <p:nvGrpSpPr>
          <p:cNvPr id="35" name="组合 45"/>
          <p:cNvGrpSpPr/>
          <p:nvPr/>
        </p:nvGrpSpPr>
        <p:grpSpPr>
          <a:xfrm>
            <a:off x="4737523" y="646856"/>
            <a:ext cx="569545" cy="604899"/>
            <a:chOff x="428596" y="1500174"/>
            <a:chExt cx="620296" cy="718317"/>
          </a:xfrm>
        </p:grpSpPr>
        <p:sp>
          <p:nvSpPr>
            <p:cNvPr id="47" name="椭圆 46"/>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6</a:t>
              </a:r>
              <a:endParaRPr lang="zh-CN" altLang="en-US" sz="1600">
                <a:latin typeface="Consolas" pitchFamily="49" charset="0"/>
                <a:cs typeface="Consolas" pitchFamily="49" charset="0"/>
              </a:endParaRPr>
            </a:p>
          </p:txBody>
        </p:sp>
        <p:sp>
          <p:nvSpPr>
            <p:cNvPr id="48" name="任意多边形 47"/>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39" name="组合 48"/>
          <p:cNvGrpSpPr/>
          <p:nvPr/>
        </p:nvGrpSpPr>
        <p:grpSpPr>
          <a:xfrm>
            <a:off x="5572133" y="650793"/>
            <a:ext cx="569545" cy="604899"/>
            <a:chOff x="428596" y="1500174"/>
            <a:chExt cx="620296" cy="718317"/>
          </a:xfrm>
        </p:grpSpPr>
        <p:sp>
          <p:nvSpPr>
            <p:cNvPr id="50" name="椭圆 4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7</a:t>
              </a:r>
              <a:endParaRPr lang="zh-CN" altLang="en-US" sz="1600">
                <a:latin typeface="Consolas" pitchFamily="49" charset="0"/>
                <a:cs typeface="Consolas" pitchFamily="49" charset="0"/>
              </a:endParaRPr>
            </a:p>
          </p:txBody>
        </p:sp>
        <p:sp>
          <p:nvSpPr>
            <p:cNvPr id="51" name="任意多边形 5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2" name="组合 51"/>
          <p:cNvGrpSpPr/>
          <p:nvPr/>
        </p:nvGrpSpPr>
        <p:grpSpPr>
          <a:xfrm>
            <a:off x="6452035" y="650793"/>
            <a:ext cx="569545" cy="604899"/>
            <a:chOff x="428596" y="1500174"/>
            <a:chExt cx="620296" cy="718317"/>
          </a:xfrm>
        </p:grpSpPr>
        <p:sp>
          <p:nvSpPr>
            <p:cNvPr id="53" name="椭圆 52"/>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8</a:t>
              </a:r>
              <a:endParaRPr lang="zh-CN" altLang="en-US" sz="1600">
                <a:latin typeface="Consolas" pitchFamily="49" charset="0"/>
                <a:cs typeface="Consolas" pitchFamily="49" charset="0"/>
              </a:endParaRPr>
            </a:p>
          </p:txBody>
        </p:sp>
        <p:sp>
          <p:nvSpPr>
            <p:cNvPr id="54" name="任意多边形 53"/>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6" name="组合 54"/>
          <p:cNvGrpSpPr/>
          <p:nvPr/>
        </p:nvGrpSpPr>
        <p:grpSpPr>
          <a:xfrm>
            <a:off x="7380729" y="646856"/>
            <a:ext cx="569545" cy="604899"/>
            <a:chOff x="428596" y="1500174"/>
            <a:chExt cx="620296" cy="718317"/>
          </a:xfrm>
        </p:grpSpPr>
        <p:sp>
          <p:nvSpPr>
            <p:cNvPr id="56" name="椭圆 55"/>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9</a:t>
              </a:r>
              <a:endParaRPr lang="zh-CN" altLang="en-US" sz="1600">
                <a:latin typeface="Consolas" pitchFamily="49" charset="0"/>
                <a:cs typeface="Consolas" pitchFamily="49" charset="0"/>
              </a:endParaRPr>
            </a:p>
          </p:txBody>
        </p:sp>
        <p:sp>
          <p:nvSpPr>
            <p:cNvPr id="57" name="任意多边形 56"/>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9" name="组合 57"/>
          <p:cNvGrpSpPr/>
          <p:nvPr/>
        </p:nvGrpSpPr>
        <p:grpSpPr>
          <a:xfrm>
            <a:off x="8237985" y="646856"/>
            <a:ext cx="569545" cy="604899"/>
            <a:chOff x="428596" y="1500174"/>
            <a:chExt cx="620296" cy="718317"/>
          </a:xfrm>
        </p:grpSpPr>
        <p:sp>
          <p:nvSpPr>
            <p:cNvPr id="59" name="椭圆 58"/>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10</a:t>
              </a:r>
              <a:endParaRPr lang="zh-CN" altLang="en-US" sz="1600">
                <a:latin typeface="Consolas" pitchFamily="49" charset="0"/>
                <a:cs typeface="Consolas" pitchFamily="49" charset="0"/>
              </a:endParaRPr>
            </a:p>
          </p:txBody>
        </p:sp>
        <p:sp>
          <p:nvSpPr>
            <p:cNvPr id="60" name="任意多边形 59"/>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cxnSp>
        <p:nvCxnSpPr>
          <p:cNvPr id="61" name="直接箭头连接符 60"/>
          <p:cNvCxnSpPr>
            <a:stCxn id="38" idx="0"/>
          </p:cNvCxnSpPr>
          <p:nvPr/>
        </p:nvCxnSpPr>
        <p:spPr>
          <a:xfrm rot="5400000" flipH="1" flipV="1">
            <a:off x="2962580" y="1533034"/>
            <a:ext cx="344583" cy="1832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45" idx="0"/>
          </p:cNvCxnSpPr>
          <p:nvPr/>
        </p:nvCxnSpPr>
        <p:spPr>
          <a:xfrm rot="5400000" flipH="1" flipV="1">
            <a:off x="5605786" y="1533034"/>
            <a:ext cx="344583" cy="1832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sp>
        <p:nvSpPr>
          <p:cNvPr id="65" name="灯片编号占位符 64"/>
          <p:cNvSpPr>
            <a:spLocks noGrp="1"/>
          </p:cNvSpPr>
          <p:nvPr>
            <p:ph type="sldNum" sz="quarter" idx="12"/>
          </p:nvPr>
        </p:nvSpPr>
        <p:spPr/>
        <p:txBody>
          <a:bodyPr/>
          <a:lstStyle/>
          <a:p>
            <a:fld id="{67864EE2-EAB3-4814-A7EB-820BD7610F1E}" type="slidenum">
              <a:rPr lang="en-US" altLang="zh-CN" smtClean="0"/>
              <a:pPr/>
              <a:t>61</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矩形 61"/>
          <p:cNvSpPr/>
          <p:nvPr/>
        </p:nvSpPr>
        <p:spPr>
          <a:xfrm>
            <a:off x="6081723" y="3357562"/>
            <a:ext cx="787117" cy="1538979"/>
          </a:xfrm>
          <a:prstGeom prst="rect">
            <a:avLst/>
          </a:prstGeom>
          <a:ln w="19050"/>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a:p>
        </p:txBody>
      </p:sp>
      <p:grpSp>
        <p:nvGrpSpPr>
          <p:cNvPr id="2" name="组合 60"/>
          <p:cNvGrpSpPr/>
          <p:nvPr/>
        </p:nvGrpSpPr>
        <p:grpSpPr>
          <a:xfrm>
            <a:off x="1000100" y="2747277"/>
            <a:ext cx="7215238" cy="2071702"/>
            <a:chOff x="714348" y="2571744"/>
            <a:chExt cx="7858180" cy="2500330"/>
          </a:xfrm>
        </p:grpSpPr>
        <p:sp>
          <p:nvSpPr>
            <p:cNvPr id="3" name="矩形 2"/>
            <p:cNvSpPr/>
            <p:nvPr/>
          </p:nvSpPr>
          <p:spPr>
            <a:xfrm>
              <a:off x="714348" y="2571744"/>
              <a:ext cx="1500198" cy="428628"/>
            </a:xfrm>
            <a:prstGeom prst="rect">
              <a:avLst/>
            </a:prstGeom>
            <a:solidFill>
              <a:schemeClr val="bg1"/>
            </a:solidFill>
            <a:ln w="190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8</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9</a:t>
              </a:r>
              <a:r>
                <a:rPr lang="zh-CN" altLang="en-US" sz="1800" smtClean="0">
                  <a:solidFill>
                    <a:srgbClr val="3333FF"/>
                  </a:solidFill>
                  <a:latin typeface="微软雅黑" pitchFamily="34" charset="-122"/>
                  <a:ea typeface="微软雅黑" pitchFamily="34" charset="-122"/>
                </a:rPr>
                <a:t>）</a:t>
              </a:r>
              <a:endParaRPr lang="zh-CN" altLang="en-US" sz="1800">
                <a:solidFill>
                  <a:srgbClr val="3333FF"/>
                </a:solidFill>
                <a:latin typeface="微软雅黑" pitchFamily="34" charset="-122"/>
                <a:ea typeface="微软雅黑" pitchFamily="34" charset="-122"/>
              </a:endParaRPr>
            </a:p>
          </p:txBody>
        </p:sp>
        <p:sp>
          <p:nvSpPr>
            <p:cNvPr id="4" name="矩形 3"/>
            <p:cNvSpPr/>
            <p:nvPr/>
          </p:nvSpPr>
          <p:spPr>
            <a:xfrm>
              <a:off x="2357422" y="2571744"/>
              <a:ext cx="6215106" cy="428628"/>
            </a:xfrm>
            <a:prstGeom prst="rect">
              <a:avLst/>
            </a:prstGeom>
            <a:ln w="1905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smtClean="0">
                  <a:solidFill>
                    <a:srgbClr val="3333FF"/>
                  </a:solidFill>
                  <a:latin typeface="微软雅黑" pitchFamily="34" charset="-122"/>
                  <a:ea typeface="微软雅黑" pitchFamily="34" charset="-122"/>
                </a:rPr>
                <a:t>{1</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3}</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{2</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4}</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{5</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7}</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{6}</a:t>
              </a:r>
              <a:r>
                <a:rPr lang="zh-CN" altLang="en-US" sz="1800" smtClean="0">
                  <a:solidFill>
                    <a:srgbClr val="3333FF"/>
                  </a:solidFill>
                  <a:latin typeface="微软雅黑" pitchFamily="34" charset="-122"/>
                  <a:ea typeface="微软雅黑" pitchFamily="34" charset="-122"/>
                </a:rPr>
                <a:t>，</a:t>
              </a:r>
              <a:r>
                <a:rPr lang="en-US" altLang="zh-CN" sz="1800" smtClean="0">
                  <a:solidFill>
                    <a:srgbClr val="FF0000"/>
                  </a:solidFill>
                  <a:latin typeface="微软雅黑" pitchFamily="34" charset="-122"/>
                  <a:ea typeface="微软雅黑" pitchFamily="34" charset="-122"/>
                </a:rPr>
                <a:t>{8</a:t>
              </a:r>
              <a:r>
                <a:rPr lang="zh-CN" altLang="en-US" sz="1800" smtClean="0">
                  <a:solidFill>
                    <a:srgbClr val="FF0000"/>
                  </a:solidFill>
                  <a:latin typeface="微软雅黑" pitchFamily="34" charset="-122"/>
                  <a:ea typeface="微软雅黑" pitchFamily="34" charset="-122"/>
                </a:rPr>
                <a:t>，</a:t>
              </a:r>
              <a:r>
                <a:rPr lang="en-US" altLang="zh-CN" sz="1800" smtClean="0">
                  <a:solidFill>
                    <a:srgbClr val="FF0000"/>
                  </a:solidFill>
                  <a:latin typeface="微软雅黑" pitchFamily="34" charset="-122"/>
                  <a:ea typeface="微软雅黑" pitchFamily="34" charset="-122"/>
                </a:rPr>
                <a:t>9}</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{10}</a:t>
              </a:r>
              <a:endParaRPr lang="zh-CN" altLang="en-US" sz="1800">
                <a:solidFill>
                  <a:srgbClr val="3333FF"/>
                </a:solidFill>
                <a:latin typeface="微软雅黑" pitchFamily="34" charset="-122"/>
                <a:ea typeface="微软雅黑" pitchFamily="34" charset="-122"/>
              </a:endParaRPr>
            </a:p>
          </p:txBody>
        </p:sp>
        <p:sp>
          <p:nvSpPr>
            <p:cNvPr id="5" name="椭圆 4"/>
            <p:cNvSpPr/>
            <p:nvPr/>
          </p:nvSpPr>
          <p:spPr>
            <a:xfrm>
              <a:off x="1145382" y="4572008"/>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6" name="椭圆 5"/>
            <p:cNvSpPr/>
            <p:nvPr/>
          </p:nvSpPr>
          <p:spPr>
            <a:xfrm>
              <a:off x="1977586" y="4572008"/>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2</a:t>
              </a:r>
              <a:endParaRPr lang="zh-CN" altLang="en-US" sz="1600">
                <a:latin typeface="Consolas" pitchFamily="49" charset="0"/>
                <a:cs typeface="Consolas" pitchFamily="49" charset="0"/>
              </a:endParaRPr>
            </a:p>
          </p:txBody>
        </p:sp>
        <p:grpSp>
          <p:nvGrpSpPr>
            <p:cNvPr id="7" name="组合 6"/>
            <p:cNvGrpSpPr/>
            <p:nvPr/>
          </p:nvGrpSpPr>
          <p:grpSpPr>
            <a:xfrm>
              <a:off x="1142976" y="3500438"/>
              <a:ext cx="620296" cy="718317"/>
              <a:chOff x="428596" y="1500174"/>
              <a:chExt cx="620296" cy="718317"/>
            </a:xfrm>
          </p:grpSpPr>
          <p:sp>
            <p:nvSpPr>
              <p:cNvPr id="8" name="椭圆 7"/>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3</a:t>
                </a:r>
                <a:endParaRPr lang="zh-CN" altLang="en-US" sz="1600">
                  <a:latin typeface="Consolas" pitchFamily="49" charset="0"/>
                  <a:cs typeface="Consolas" pitchFamily="49" charset="0"/>
                </a:endParaRPr>
              </a:p>
            </p:txBody>
          </p:sp>
          <p:sp>
            <p:nvSpPr>
              <p:cNvPr id="9" name="任意多边形 8"/>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10" name="组合 9"/>
            <p:cNvGrpSpPr/>
            <p:nvPr/>
          </p:nvGrpSpPr>
          <p:grpSpPr>
            <a:xfrm>
              <a:off x="1977586" y="3508312"/>
              <a:ext cx="620296" cy="718317"/>
              <a:chOff x="428596" y="1500174"/>
              <a:chExt cx="620296" cy="718317"/>
            </a:xfrm>
          </p:grpSpPr>
          <p:sp>
            <p:nvSpPr>
              <p:cNvPr id="11" name="椭圆 10"/>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4</a:t>
                </a:r>
                <a:endParaRPr lang="zh-CN" altLang="en-US" sz="1600">
                  <a:latin typeface="Consolas" pitchFamily="49" charset="0"/>
                  <a:cs typeface="Consolas" pitchFamily="49" charset="0"/>
                </a:endParaRPr>
              </a:p>
            </p:txBody>
          </p:sp>
          <p:sp>
            <p:nvSpPr>
              <p:cNvPr id="12" name="任意多边形 11"/>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13" name="椭圆 12"/>
            <p:cNvSpPr/>
            <p:nvPr/>
          </p:nvSpPr>
          <p:spPr>
            <a:xfrm>
              <a:off x="4620792" y="4572008"/>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5</a:t>
              </a:r>
              <a:endParaRPr lang="zh-CN" altLang="en-US" sz="1600">
                <a:latin typeface="Consolas" pitchFamily="49" charset="0"/>
                <a:cs typeface="Consolas" pitchFamily="49" charset="0"/>
              </a:endParaRPr>
            </a:p>
          </p:txBody>
        </p:sp>
        <p:grpSp>
          <p:nvGrpSpPr>
            <p:cNvPr id="14" name="组合 13"/>
            <p:cNvGrpSpPr/>
            <p:nvPr/>
          </p:nvGrpSpPr>
          <p:grpSpPr>
            <a:xfrm>
              <a:off x="3786182" y="3504375"/>
              <a:ext cx="620296" cy="718317"/>
              <a:chOff x="428596" y="1500174"/>
              <a:chExt cx="620296" cy="718317"/>
            </a:xfrm>
          </p:grpSpPr>
          <p:sp>
            <p:nvSpPr>
              <p:cNvPr id="15" name="椭圆 14"/>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6</a:t>
                </a:r>
                <a:endParaRPr lang="zh-CN" altLang="en-US" sz="1600">
                  <a:latin typeface="Consolas" pitchFamily="49" charset="0"/>
                  <a:cs typeface="Consolas" pitchFamily="49" charset="0"/>
                </a:endParaRPr>
              </a:p>
            </p:txBody>
          </p:sp>
          <p:sp>
            <p:nvSpPr>
              <p:cNvPr id="16" name="任意多边形 15"/>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17" name="组合 16"/>
            <p:cNvGrpSpPr/>
            <p:nvPr/>
          </p:nvGrpSpPr>
          <p:grpSpPr>
            <a:xfrm>
              <a:off x="4620792" y="3508312"/>
              <a:ext cx="620296" cy="718317"/>
              <a:chOff x="428596" y="1500174"/>
              <a:chExt cx="620296" cy="718317"/>
            </a:xfrm>
          </p:grpSpPr>
          <p:sp>
            <p:nvSpPr>
              <p:cNvPr id="18" name="椭圆 17"/>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7</a:t>
                </a:r>
                <a:endParaRPr lang="zh-CN" altLang="en-US" sz="1600">
                  <a:latin typeface="Consolas" pitchFamily="49" charset="0"/>
                  <a:cs typeface="Consolas" pitchFamily="49" charset="0"/>
                </a:endParaRPr>
              </a:p>
            </p:txBody>
          </p:sp>
          <p:sp>
            <p:nvSpPr>
              <p:cNvPr id="19" name="任意多边形 18"/>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21" name="椭圆 20"/>
            <p:cNvSpPr/>
            <p:nvPr/>
          </p:nvSpPr>
          <p:spPr>
            <a:xfrm>
              <a:off x="6429388" y="4572008"/>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8</a:t>
              </a:r>
              <a:endParaRPr lang="zh-CN" altLang="en-US" sz="1600">
                <a:latin typeface="Consolas" pitchFamily="49" charset="0"/>
                <a:cs typeface="Consolas" pitchFamily="49" charset="0"/>
              </a:endParaRPr>
            </a:p>
          </p:txBody>
        </p:sp>
        <p:grpSp>
          <p:nvGrpSpPr>
            <p:cNvPr id="20" name="组合 22"/>
            <p:cNvGrpSpPr/>
            <p:nvPr/>
          </p:nvGrpSpPr>
          <p:grpSpPr>
            <a:xfrm>
              <a:off x="6429388" y="3504375"/>
              <a:ext cx="620296" cy="718317"/>
              <a:chOff x="428596" y="1500174"/>
              <a:chExt cx="620296" cy="718317"/>
            </a:xfrm>
          </p:grpSpPr>
          <p:sp>
            <p:nvSpPr>
              <p:cNvPr id="24" name="椭圆 23"/>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9</a:t>
                </a:r>
                <a:endParaRPr lang="zh-CN" altLang="en-US" sz="1600">
                  <a:latin typeface="Consolas" pitchFamily="49" charset="0"/>
                  <a:cs typeface="Consolas" pitchFamily="49" charset="0"/>
                </a:endParaRPr>
              </a:p>
            </p:txBody>
          </p:sp>
          <p:sp>
            <p:nvSpPr>
              <p:cNvPr id="25" name="任意多边形 24"/>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22" name="组合 25"/>
            <p:cNvGrpSpPr/>
            <p:nvPr/>
          </p:nvGrpSpPr>
          <p:grpSpPr>
            <a:xfrm>
              <a:off x="7286644" y="3504375"/>
              <a:ext cx="620296" cy="718317"/>
              <a:chOff x="428596" y="1500174"/>
              <a:chExt cx="620296" cy="718317"/>
            </a:xfrm>
          </p:grpSpPr>
          <p:sp>
            <p:nvSpPr>
              <p:cNvPr id="27" name="椭圆 26"/>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10</a:t>
                </a:r>
                <a:endParaRPr lang="zh-CN" altLang="en-US" sz="1600">
                  <a:latin typeface="Consolas" pitchFamily="49" charset="0"/>
                  <a:cs typeface="Consolas" pitchFamily="49" charset="0"/>
                </a:endParaRPr>
              </a:p>
            </p:txBody>
          </p:sp>
          <p:sp>
            <p:nvSpPr>
              <p:cNvPr id="28" name="任意多边形 27"/>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cxnSp>
          <p:nvCxnSpPr>
            <p:cNvPr id="29" name="直接箭头连接符 28"/>
            <p:cNvCxnSpPr>
              <a:stCxn id="6" idx="0"/>
            </p:cNvCxnSpPr>
            <p:nvPr/>
          </p:nvCxnSpPr>
          <p:spPr>
            <a:xfrm rot="5400000" flipH="1" flipV="1">
              <a:off x="2019211" y="4399319"/>
              <a:ext cx="345379"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3" idx="0"/>
            </p:cNvCxnSpPr>
            <p:nvPr/>
          </p:nvCxnSpPr>
          <p:spPr>
            <a:xfrm rot="5400000" flipH="1" flipV="1">
              <a:off x="4662417" y="4399319"/>
              <a:ext cx="345379"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5" idx="0"/>
            </p:cNvCxnSpPr>
            <p:nvPr/>
          </p:nvCxnSpPr>
          <p:spPr>
            <a:xfrm rot="16200000" flipV="1">
              <a:off x="1181867" y="4394179"/>
              <a:ext cx="353253" cy="2406"/>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21" idx="0"/>
            </p:cNvCxnSpPr>
            <p:nvPr/>
          </p:nvCxnSpPr>
          <p:spPr>
            <a:xfrm rot="5400000" flipH="1" flipV="1">
              <a:off x="6469044" y="4397350"/>
              <a:ext cx="349316"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grpSp>
      <p:sp>
        <p:nvSpPr>
          <p:cNvPr id="34" name="椭圆 33"/>
          <p:cNvSpPr/>
          <p:nvPr/>
        </p:nvSpPr>
        <p:spPr>
          <a:xfrm>
            <a:off x="1359696" y="1675707"/>
            <a:ext cx="393559" cy="414340"/>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35" name="椭圆 34"/>
          <p:cNvSpPr/>
          <p:nvPr/>
        </p:nvSpPr>
        <p:spPr>
          <a:xfrm>
            <a:off x="2191900" y="1675707"/>
            <a:ext cx="393559" cy="414340"/>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2</a:t>
            </a:r>
            <a:endParaRPr lang="zh-CN" altLang="en-US" sz="1600">
              <a:latin typeface="Consolas" pitchFamily="49" charset="0"/>
              <a:cs typeface="Consolas" pitchFamily="49" charset="0"/>
            </a:endParaRPr>
          </a:p>
        </p:txBody>
      </p:sp>
      <p:grpSp>
        <p:nvGrpSpPr>
          <p:cNvPr id="23" name="组合 35"/>
          <p:cNvGrpSpPr/>
          <p:nvPr/>
        </p:nvGrpSpPr>
        <p:grpSpPr>
          <a:xfrm>
            <a:off x="1357290" y="604137"/>
            <a:ext cx="569545" cy="595177"/>
            <a:chOff x="428596" y="1500174"/>
            <a:chExt cx="620296" cy="718317"/>
          </a:xfrm>
        </p:grpSpPr>
        <p:sp>
          <p:nvSpPr>
            <p:cNvPr id="37" name="椭圆 36"/>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3</a:t>
              </a:r>
              <a:endParaRPr lang="zh-CN" altLang="en-US" sz="1600">
                <a:latin typeface="Consolas" pitchFamily="49" charset="0"/>
                <a:cs typeface="Consolas" pitchFamily="49" charset="0"/>
              </a:endParaRPr>
            </a:p>
          </p:txBody>
        </p:sp>
        <p:sp>
          <p:nvSpPr>
            <p:cNvPr id="38" name="任意多边形 37"/>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26" name="组合 38"/>
          <p:cNvGrpSpPr/>
          <p:nvPr/>
        </p:nvGrpSpPr>
        <p:grpSpPr>
          <a:xfrm>
            <a:off x="2191900" y="612011"/>
            <a:ext cx="569545" cy="595177"/>
            <a:chOff x="428596" y="1500174"/>
            <a:chExt cx="620296" cy="718317"/>
          </a:xfrm>
        </p:grpSpPr>
        <p:sp>
          <p:nvSpPr>
            <p:cNvPr id="40" name="椭圆 3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4</a:t>
              </a:r>
              <a:endParaRPr lang="zh-CN" altLang="en-US" sz="1600">
                <a:latin typeface="Consolas" pitchFamily="49" charset="0"/>
                <a:cs typeface="Consolas" pitchFamily="49" charset="0"/>
              </a:endParaRPr>
            </a:p>
          </p:txBody>
        </p:sp>
        <p:sp>
          <p:nvSpPr>
            <p:cNvPr id="41" name="任意多边形 4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42" name="椭圆 41"/>
          <p:cNvSpPr/>
          <p:nvPr/>
        </p:nvSpPr>
        <p:spPr>
          <a:xfrm>
            <a:off x="4835106" y="1675707"/>
            <a:ext cx="393559" cy="414340"/>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5</a:t>
            </a:r>
            <a:endParaRPr lang="zh-CN" altLang="en-US" sz="1600">
              <a:latin typeface="Consolas" pitchFamily="49" charset="0"/>
              <a:cs typeface="Consolas" pitchFamily="49" charset="0"/>
            </a:endParaRPr>
          </a:p>
        </p:txBody>
      </p:sp>
      <p:grpSp>
        <p:nvGrpSpPr>
          <p:cNvPr id="32" name="组合 42"/>
          <p:cNvGrpSpPr/>
          <p:nvPr/>
        </p:nvGrpSpPr>
        <p:grpSpPr>
          <a:xfrm>
            <a:off x="4000496" y="608074"/>
            <a:ext cx="569545" cy="595177"/>
            <a:chOff x="428596" y="1500174"/>
            <a:chExt cx="620296" cy="718317"/>
          </a:xfrm>
        </p:grpSpPr>
        <p:sp>
          <p:nvSpPr>
            <p:cNvPr id="44" name="椭圆 43"/>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6</a:t>
              </a:r>
              <a:endParaRPr lang="zh-CN" altLang="en-US" sz="1600">
                <a:latin typeface="Consolas" pitchFamily="49" charset="0"/>
                <a:cs typeface="Consolas" pitchFamily="49" charset="0"/>
              </a:endParaRPr>
            </a:p>
          </p:txBody>
        </p:sp>
        <p:sp>
          <p:nvSpPr>
            <p:cNvPr id="45" name="任意多边形 44"/>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36" name="组合 45"/>
          <p:cNvGrpSpPr/>
          <p:nvPr/>
        </p:nvGrpSpPr>
        <p:grpSpPr>
          <a:xfrm>
            <a:off x="4835106" y="612011"/>
            <a:ext cx="569545" cy="595177"/>
            <a:chOff x="428596" y="1500174"/>
            <a:chExt cx="620296" cy="718317"/>
          </a:xfrm>
        </p:grpSpPr>
        <p:sp>
          <p:nvSpPr>
            <p:cNvPr id="47" name="椭圆 46"/>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7</a:t>
              </a:r>
              <a:endParaRPr lang="zh-CN" altLang="en-US" sz="1600">
                <a:latin typeface="Consolas" pitchFamily="49" charset="0"/>
                <a:cs typeface="Consolas" pitchFamily="49" charset="0"/>
              </a:endParaRPr>
            </a:p>
          </p:txBody>
        </p:sp>
        <p:sp>
          <p:nvSpPr>
            <p:cNvPr id="48" name="任意多边形 47"/>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39" name="组合 48"/>
          <p:cNvGrpSpPr/>
          <p:nvPr/>
        </p:nvGrpSpPr>
        <p:grpSpPr>
          <a:xfrm>
            <a:off x="5715008" y="612011"/>
            <a:ext cx="569545" cy="595177"/>
            <a:chOff x="428596" y="1500174"/>
            <a:chExt cx="620296" cy="718317"/>
          </a:xfrm>
        </p:grpSpPr>
        <p:sp>
          <p:nvSpPr>
            <p:cNvPr id="50" name="椭圆 4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8</a:t>
              </a:r>
              <a:endParaRPr lang="zh-CN" altLang="en-US" sz="1600">
                <a:latin typeface="Consolas" pitchFamily="49" charset="0"/>
                <a:cs typeface="Consolas" pitchFamily="49" charset="0"/>
              </a:endParaRPr>
            </a:p>
          </p:txBody>
        </p:sp>
        <p:sp>
          <p:nvSpPr>
            <p:cNvPr id="51" name="任意多边形 5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3" name="组合 51"/>
          <p:cNvGrpSpPr/>
          <p:nvPr/>
        </p:nvGrpSpPr>
        <p:grpSpPr>
          <a:xfrm>
            <a:off x="6643702" y="608074"/>
            <a:ext cx="569545" cy="595177"/>
            <a:chOff x="428596" y="1500174"/>
            <a:chExt cx="620296" cy="718317"/>
          </a:xfrm>
        </p:grpSpPr>
        <p:sp>
          <p:nvSpPr>
            <p:cNvPr id="53" name="椭圆 52"/>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9</a:t>
              </a:r>
              <a:endParaRPr lang="zh-CN" altLang="en-US" sz="1600">
                <a:latin typeface="Consolas" pitchFamily="49" charset="0"/>
                <a:cs typeface="Consolas" pitchFamily="49" charset="0"/>
              </a:endParaRPr>
            </a:p>
          </p:txBody>
        </p:sp>
        <p:sp>
          <p:nvSpPr>
            <p:cNvPr id="54" name="任意多边形 53"/>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6" name="组合 54"/>
          <p:cNvGrpSpPr/>
          <p:nvPr/>
        </p:nvGrpSpPr>
        <p:grpSpPr>
          <a:xfrm>
            <a:off x="7500958" y="608074"/>
            <a:ext cx="569545" cy="595177"/>
            <a:chOff x="428596" y="1500174"/>
            <a:chExt cx="620296" cy="718317"/>
          </a:xfrm>
        </p:grpSpPr>
        <p:sp>
          <p:nvSpPr>
            <p:cNvPr id="56" name="椭圆 55"/>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10</a:t>
              </a:r>
              <a:endParaRPr lang="zh-CN" altLang="en-US" sz="1600">
                <a:latin typeface="Consolas" pitchFamily="49" charset="0"/>
                <a:cs typeface="Consolas" pitchFamily="49" charset="0"/>
              </a:endParaRPr>
            </a:p>
          </p:txBody>
        </p:sp>
        <p:sp>
          <p:nvSpPr>
            <p:cNvPr id="57" name="任意多边形 56"/>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cxnSp>
        <p:nvCxnSpPr>
          <p:cNvPr id="58" name="直接箭头连接符 57"/>
          <p:cNvCxnSpPr>
            <a:stCxn id="35" idx="0"/>
          </p:cNvCxnSpPr>
          <p:nvPr/>
        </p:nvCxnSpPr>
        <p:spPr>
          <a:xfrm rot="5400000" flipH="1" flipV="1">
            <a:off x="2225553" y="1494252"/>
            <a:ext cx="344583" cy="1832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42" idx="0"/>
          </p:cNvCxnSpPr>
          <p:nvPr/>
        </p:nvCxnSpPr>
        <p:spPr>
          <a:xfrm rot="5400000" flipH="1" flipV="1">
            <a:off x="4868759" y="1494252"/>
            <a:ext cx="344583" cy="1832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34" idx="0"/>
          </p:cNvCxnSpPr>
          <p:nvPr/>
        </p:nvCxnSpPr>
        <p:spPr>
          <a:xfrm rot="5400000" flipH="1" flipV="1">
            <a:off x="1387415" y="1491518"/>
            <a:ext cx="353251" cy="1512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sp>
        <p:nvSpPr>
          <p:cNvPr id="63" name="灯片编号占位符 62"/>
          <p:cNvSpPr>
            <a:spLocks noGrp="1"/>
          </p:cNvSpPr>
          <p:nvPr>
            <p:ph type="sldNum" sz="quarter" idx="12"/>
          </p:nvPr>
        </p:nvSpPr>
        <p:spPr/>
        <p:txBody>
          <a:bodyPr/>
          <a:lstStyle/>
          <a:p>
            <a:fld id="{67864EE2-EAB3-4814-A7EB-820BD7610F1E}" type="slidenum">
              <a:rPr lang="en-US" altLang="zh-CN" smtClean="0"/>
              <a:pPr/>
              <a:t>62</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椭圆 75"/>
          <p:cNvSpPr/>
          <p:nvPr/>
        </p:nvSpPr>
        <p:spPr>
          <a:xfrm>
            <a:off x="1000100" y="2895524"/>
            <a:ext cx="1145605" cy="2676616"/>
          </a:xfrm>
          <a:prstGeom prst="ellipse">
            <a:avLst/>
          </a:prstGeom>
          <a:ln w="19050"/>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600"/>
          </a:p>
        </p:txBody>
      </p:sp>
      <p:grpSp>
        <p:nvGrpSpPr>
          <p:cNvPr id="2" name="组合 46"/>
          <p:cNvGrpSpPr/>
          <p:nvPr/>
        </p:nvGrpSpPr>
        <p:grpSpPr>
          <a:xfrm>
            <a:off x="2428860" y="4200495"/>
            <a:ext cx="1244873" cy="1788515"/>
            <a:chOff x="1928794" y="3155059"/>
            <a:chExt cx="1397306" cy="2434478"/>
          </a:xfrm>
        </p:grpSpPr>
        <p:sp>
          <p:nvSpPr>
            <p:cNvPr id="33" name="椭圆 32"/>
            <p:cNvSpPr/>
            <p:nvPr/>
          </p:nvSpPr>
          <p:spPr>
            <a:xfrm>
              <a:off x="2897472" y="5089471"/>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34" name="椭圆 33"/>
            <p:cNvSpPr/>
            <p:nvPr/>
          </p:nvSpPr>
          <p:spPr>
            <a:xfrm>
              <a:off x="1928794" y="421875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2</a:t>
              </a:r>
              <a:endParaRPr lang="zh-CN" altLang="en-US" sz="1600">
                <a:latin typeface="Consolas" pitchFamily="49" charset="0"/>
                <a:cs typeface="Consolas" pitchFamily="49" charset="0"/>
              </a:endParaRPr>
            </a:p>
          </p:txBody>
        </p:sp>
        <p:sp>
          <p:nvSpPr>
            <p:cNvPr id="35" name="椭圆 34"/>
            <p:cNvSpPr/>
            <p:nvPr/>
          </p:nvSpPr>
          <p:spPr>
            <a:xfrm>
              <a:off x="2895066" y="4236152"/>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3</a:t>
              </a:r>
              <a:endParaRPr lang="zh-CN" altLang="en-US" sz="1600">
                <a:latin typeface="Consolas" pitchFamily="49" charset="0"/>
                <a:cs typeface="Consolas" pitchFamily="49" charset="0"/>
              </a:endParaRPr>
            </a:p>
          </p:txBody>
        </p:sp>
        <p:grpSp>
          <p:nvGrpSpPr>
            <p:cNvPr id="7" name="组合 35"/>
            <p:cNvGrpSpPr/>
            <p:nvPr/>
          </p:nvGrpSpPr>
          <p:grpSpPr>
            <a:xfrm>
              <a:off x="2362234" y="3155059"/>
              <a:ext cx="620296" cy="718317"/>
              <a:chOff x="428596" y="1500174"/>
              <a:chExt cx="620296" cy="718317"/>
            </a:xfrm>
          </p:grpSpPr>
          <p:sp>
            <p:nvSpPr>
              <p:cNvPr id="37" name="椭圆 36"/>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4</a:t>
                </a:r>
                <a:endParaRPr lang="zh-CN" altLang="en-US" sz="1600">
                  <a:latin typeface="Consolas" pitchFamily="49" charset="0"/>
                  <a:cs typeface="Consolas" pitchFamily="49" charset="0"/>
                </a:endParaRPr>
              </a:p>
            </p:txBody>
          </p:sp>
          <p:sp>
            <p:nvSpPr>
              <p:cNvPr id="38" name="任意多边形 37"/>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cxnSp>
          <p:nvCxnSpPr>
            <p:cNvPr id="39" name="直接箭头连接符 38"/>
            <p:cNvCxnSpPr>
              <a:stCxn id="34" idx="0"/>
              <a:endCxn id="37" idx="3"/>
            </p:cNvCxnSpPr>
            <p:nvPr/>
          </p:nvCxnSpPr>
          <p:spPr>
            <a:xfrm rot="5400000" flipH="1" flipV="1">
              <a:off x="2074750" y="3868501"/>
              <a:ext cx="418612" cy="281897"/>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33" idx="0"/>
            </p:cNvCxnSpPr>
            <p:nvPr/>
          </p:nvCxnSpPr>
          <p:spPr>
            <a:xfrm rot="16200000" flipV="1">
              <a:off x="2933957" y="4911642"/>
              <a:ext cx="353253" cy="2406"/>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35" idx="1"/>
              <a:endCxn id="37" idx="5"/>
            </p:cNvCxnSpPr>
            <p:nvPr/>
          </p:nvCxnSpPr>
          <p:spPr>
            <a:xfrm rot="16200000" flipV="1">
              <a:off x="2588343" y="3939891"/>
              <a:ext cx="509242" cy="229746"/>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grpSp>
      <p:cxnSp>
        <p:nvCxnSpPr>
          <p:cNvPr id="49" name="直接箭头连接符 48"/>
          <p:cNvCxnSpPr/>
          <p:nvPr/>
        </p:nvCxnSpPr>
        <p:spPr>
          <a:xfrm>
            <a:off x="2285984" y="4277519"/>
            <a:ext cx="445514" cy="419861"/>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grpSp>
        <p:nvGrpSpPr>
          <p:cNvPr id="9" name="组合 78"/>
          <p:cNvGrpSpPr/>
          <p:nvPr/>
        </p:nvGrpSpPr>
        <p:grpSpPr>
          <a:xfrm>
            <a:off x="1214414" y="2357430"/>
            <a:ext cx="7000924" cy="3038427"/>
            <a:chOff x="642910" y="1986486"/>
            <a:chExt cx="7858180" cy="4135824"/>
          </a:xfrm>
        </p:grpSpPr>
        <p:sp>
          <p:nvSpPr>
            <p:cNvPr id="3" name="矩形 2"/>
            <p:cNvSpPr/>
            <p:nvPr/>
          </p:nvSpPr>
          <p:spPr>
            <a:xfrm>
              <a:off x="642910" y="1986486"/>
              <a:ext cx="1500198" cy="490022"/>
            </a:xfrm>
            <a:prstGeom prst="rect">
              <a:avLst/>
            </a:prstGeom>
            <a:solidFill>
              <a:schemeClr val="bg1"/>
            </a:solidFill>
            <a:ln w="19050">
              <a:solidFill>
                <a:schemeClr val="bg1"/>
              </a:solidFill>
            </a:ln>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1</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2</a:t>
              </a:r>
              <a:r>
                <a:rPr lang="zh-CN" altLang="en-US" sz="1800" smtClean="0">
                  <a:solidFill>
                    <a:srgbClr val="3333FF"/>
                  </a:solidFill>
                  <a:latin typeface="微软雅黑" pitchFamily="34" charset="-122"/>
                  <a:ea typeface="微软雅黑" pitchFamily="34" charset="-122"/>
                </a:rPr>
                <a:t>）</a:t>
              </a:r>
              <a:endParaRPr lang="zh-CN" altLang="en-US" sz="1800">
                <a:solidFill>
                  <a:srgbClr val="3333FF"/>
                </a:solidFill>
                <a:latin typeface="微软雅黑" pitchFamily="34" charset="-122"/>
                <a:ea typeface="微软雅黑" pitchFamily="34" charset="-122"/>
              </a:endParaRPr>
            </a:p>
          </p:txBody>
        </p:sp>
        <p:sp>
          <p:nvSpPr>
            <p:cNvPr id="4" name="矩形 3"/>
            <p:cNvSpPr/>
            <p:nvPr/>
          </p:nvSpPr>
          <p:spPr>
            <a:xfrm>
              <a:off x="2285984" y="1986487"/>
              <a:ext cx="6215106" cy="490022"/>
            </a:xfrm>
            <a:prstGeom prst="rect">
              <a:avLst/>
            </a:prstGeom>
            <a:ln w="19050"/>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800" smtClean="0">
                  <a:solidFill>
                    <a:srgbClr val="3333FF"/>
                  </a:solidFill>
                  <a:latin typeface="微软雅黑" pitchFamily="34" charset="-122"/>
                  <a:ea typeface="微软雅黑" pitchFamily="34" charset="-122"/>
                </a:rPr>
                <a:t>{</a:t>
              </a:r>
              <a:r>
                <a:rPr lang="en-US" altLang="zh-CN" sz="1800" smtClean="0">
                  <a:solidFill>
                    <a:srgbClr val="FF0000"/>
                  </a:solidFill>
                  <a:latin typeface="微软雅黑" pitchFamily="34" charset="-122"/>
                  <a:ea typeface="微软雅黑" pitchFamily="34" charset="-122"/>
                </a:rPr>
                <a:t>1</a:t>
              </a:r>
              <a:r>
                <a:rPr lang="zh-CN" altLang="en-US" sz="1800" smtClean="0">
                  <a:solidFill>
                    <a:srgbClr val="FF0000"/>
                  </a:solidFill>
                  <a:latin typeface="微软雅黑" pitchFamily="34" charset="-122"/>
                  <a:ea typeface="微软雅黑" pitchFamily="34" charset="-122"/>
                </a:rPr>
                <a:t>，</a:t>
              </a:r>
              <a:r>
                <a:rPr lang="en-US" altLang="zh-CN" sz="1800" smtClean="0">
                  <a:solidFill>
                    <a:srgbClr val="FF0000"/>
                  </a:solidFill>
                  <a:latin typeface="微软雅黑" pitchFamily="34" charset="-122"/>
                  <a:ea typeface="微软雅黑" pitchFamily="34" charset="-122"/>
                </a:rPr>
                <a:t>2</a:t>
              </a:r>
              <a:r>
                <a:rPr lang="zh-CN" altLang="en-US" sz="1800" smtClean="0">
                  <a:solidFill>
                    <a:srgbClr val="FF0000"/>
                  </a:solidFill>
                  <a:latin typeface="微软雅黑" pitchFamily="34" charset="-122"/>
                  <a:ea typeface="微软雅黑" pitchFamily="34" charset="-122"/>
                </a:rPr>
                <a:t>，</a:t>
              </a:r>
              <a:r>
                <a:rPr lang="en-US" altLang="zh-CN" sz="1800" smtClean="0">
                  <a:solidFill>
                    <a:srgbClr val="FF0000"/>
                  </a:solidFill>
                  <a:latin typeface="微软雅黑" pitchFamily="34" charset="-122"/>
                  <a:ea typeface="微软雅黑" pitchFamily="34" charset="-122"/>
                </a:rPr>
                <a:t>3</a:t>
              </a:r>
              <a:r>
                <a:rPr lang="zh-CN" altLang="en-US" sz="1800" smtClean="0">
                  <a:solidFill>
                    <a:srgbClr val="FF0000"/>
                  </a:solidFill>
                  <a:latin typeface="微软雅黑" pitchFamily="34" charset="-122"/>
                  <a:ea typeface="微软雅黑" pitchFamily="34" charset="-122"/>
                </a:rPr>
                <a:t>，</a:t>
              </a:r>
              <a:r>
                <a:rPr lang="en-US" altLang="zh-CN" sz="1800" smtClean="0">
                  <a:solidFill>
                    <a:srgbClr val="FF0000"/>
                  </a:solidFill>
                  <a:latin typeface="微软雅黑" pitchFamily="34" charset="-122"/>
                  <a:ea typeface="微软雅黑" pitchFamily="34" charset="-122"/>
                </a:rPr>
                <a:t>4}</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{5</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7}</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{6}</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{8</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9}</a:t>
              </a:r>
              <a:r>
                <a:rPr lang="zh-CN" altLang="en-US" sz="1800" smtClean="0">
                  <a:solidFill>
                    <a:srgbClr val="3333FF"/>
                  </a:solidFill>
                  <a:latin typeface="微软雅黑" pitchFamily="34" charset="-122"/>
                  <a:ea typeface="微软雅黑" pitchFamily="34" charset="-122"/>
                </a:rPr>
                <a:t>，</a:t>
              </a:r>
              <a:r>
                <a:rPr lang="en-US" altLang="zh-CN" sz="1800" smtClean="0">
                  <a:solidFill>
                    <a:srgbClr val="3333FF"/>
                  </a:solidFill>
                  <a:latin typeface="微软雅黑" pitchFamily="34" charset="-122"/>
                  <a:ea typeface="微软雅黑" pitchFamily="34" charset="-122"/>
                </a:rPr>
                <a:t>{10}</a:t>
              </a:r>
              <a:endParaRPr lang="zh-CN" altLang="en-US" sz="1800">
                <a:solidFill>
                  <a:srgbClr val="3333FF"/>
                </a:solidFill>
                <a:latin typeface="微软雅黑" pitchFamily="34" charset="-122"/>
                <a:ea typeface="微软雅黑" pitchFamily="34" charset="-122"/>
              </a:endParaRPr>
            </a:p>
          </p:txBody>
        </p:sp>
        <p:grpSp>
          <p:nvGrpSpPr>
            <p:cNvPr id="10" name="组合 77"/>
            <p:cNvGrpSpPr/>
            <p:nvPr/>
          </p:nvGrpSpPr>
          <p:grpSpPr>
            <a:xfrm>
              <a:off x="3643306" y="2844036"/>
              <a:ext cx="4120758" cy="1567699"/>
              <a:chOff x="3643306" y="2844036"/>
              <a:chExt cx="4120758" cy="1567699"/>
            </a:xfrm>
          </p:grpSpPr>
          <p:sp>
            <p:nvSpPr>
              <p:cNvPr id="13" name="椭圆 12"/>
              <p:cNvSpPr/>
              <p:nvPr/>
            </p:nvSpPr>
            <p:spPr>
              <a:xfrm>
                <a:off x="4477916" y="3911669"/>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5</a:t>
                </a:r>
                <a:endParaRPr lang="zh-CN" altLang="en-US" sz="1600">
                  <a:latin typeface="Consolas" pitchFamily="49" charset="0"/>
                  <a:cs typeface="Consolas" pitchFamily="49" charset="0"/>
                </a:endParaRPr>
              </a:p>
            </p:txBody>
          </p:sp>
          <p:grpSp>
            <p:nvGrpSpPr>
              <p:cNvPr id="14" name="组合 13"/>
              <p:cNvGrpSpPr/>
              <p:nvPr/>
            </p:nvGrpSpPr>
            <p:grpSpPr>
              <a:xfrm>
                <a:off x="3643306" y="2844036"/>
                <a:ext cx="620296" cy="718317"/>
                <a:chOff x="428596" y="1500174"/>
                <a:chExt cx="620296" cy="718317"/>
              </a:xfrm>
            </p:grpSpPr>
            <p:sp>
              <p:nvSpPr>
                <p:cNvPr id="15" name="椭圆 14"/>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6</a:t>
                  </a:r>
                  <a:endParaRPr lang="zh-CN" altLang="en-US" sz="1600">
                    <a:latin typeface="Consolas" pitchFamily="49" charset="0"/>
                    <a:cs typeface="Consolas" pitchFamily="49" charset="0"/>
                  </a:endParaRPr>
                </a:p>
              </p:txBody>
            </p:sp>
            <p:sp>
              <p:nvSpPr>
                <p:cNvPr id="16" name="任意多边形 15"/>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17" name="组合 16"/>
              <p:cNvGrpSpPr/>
              <p:nvPr/>
            </p:nvGrpSpPr>
            <p:grpSpPr>
              <a:xfrm>
                <a:off x="4477916" y="2847973"/>
                <a:ext cx="620296" cy="718317"/>
                <a:chOff x="428596" y="1500174"/>
                <a:chExt cx="620296" cy="718317"/>
              </a:xfrm>
            </p:grpSpPr>
            <p:sp>
              <p:nvSpPr>
                <p:cNvPr id="18" name="椭圆 17"/>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7</a:t>
                  </a:r>
                  <a:endParaRPr lang="zh-CN" altLang="en-US" sz="1600">
                    <a:latin typeface="Consolas" pitchFamily="49" charset="0"/>
                    <a:cs typeface="Consolas" pitchFamily="49" charset="0"/>
                  </a:endParaRPr>
                </a:p>
              </p:txBody>
            </p:sp>
            <p:sp>
              <p:nvSpPr>
                <p:cNvPr id="19" name="任意多边形 18"/>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20" name="椭圆 19"/>
              <p:cNvSpPr/>
              <p:nvPr/>
            </p:nvSpPr>
            <p:spPr>
              <a:xfrm>
                <a:off x="6286512" y="3911669"/>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8</a:t>
                </a:r>
                <a:endParaRPr lang="zh-CN" altLang="en-US" sz="1600">
                  <a:latin typeface="Consolas" pitchFamily="49" charset="0"/>
                  <a:cs typeface="Consolas" pitchFamily="49" charset="0"/>
                </a:endParaRPr>
              </a:p>
            </p:txBody>
          </p:sp>
          <p:grpSp>
            <p:nvGrpSpPr>
              <p:cNvPr id="21" name="组合 20"/>
              <p:cNvGrpSpPr/>
              <p:nvPr/>
            </p:nvGrpSpPr>
            <p:grpSpPr>
              <a:xfrm>
                <a:off x="6286512" y="2844036"/>
                <a:ext cx="620296" cy="718317"/>
                <a:chOff x="428596" y="1500174"/>
                <a:chExt cx="620296" cy="718317"/>
              </a:xfrm>
            </p:grpSpPr>
            <p:sp>
              <p:nvSpPr>
                <p:cNvPr id="22" name="椭圆 21"/>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9</a:t>
                  </a:r>
                  <a:endParaRPr lang="zh-CN" altLang="en-US" sz="1600">
                    <a:latin typeface="Consolas" pitchFamily="49" charset="0"/>
                    <a:cs typeface="Consolas" pitchFamily="49" charset="0"/>
                  </a:endParaRPr>
                </a:p>
              </p:txBody>
            </p:sp>
            <p:sp>
              <p:nvSpPr>
                <p:cNvPr id="23" name="任意多边形 22"/>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24" name="组合 23"/>
              <p:cNvGrpSpPr/>
              <p:nvPr/>
            </p:nvGrpSpPr>
            <p:grpSpPr>
              <a:xfrm>
                <a:off x="7143768" y="2844036"/>
                <a:ext cx="620296" cy="718317"/>
                <a:chOff x="428596" y="1500174"/>
                <a:chExt cx="620296" cy="718317"/>
              </a:xfrm>
            </p:grpSpPr>
            <p:sp>
              <p:nvSpPr>
                <p:cNvPr id="25" name="椭圆 24"/>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10</a:t>
                  </a:r>
                  <a:endParaRPr lang="zh-CN" altLang="en-US" sz="1600">
                    <a:latin typeface="Consolas" pitchFamily="49" charset="0"/>
                    <a:cs typeface="Consolas" pitchFamily="49" charset="0"/>
                  </a:endParaRPr>
                </a:p>
              </p:txBody>
            </p:sp>
            <p:sp>
              <p:nvSpPr>
                <p:cNvPr id="26" name="任意多边形 25"/>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cxnSp>
            <p:nvCxnSpPr>
              <p:cNvPr id="28" name="直接箭头连接符 27"/>
              <p:cNvCxnSpPr>
                <a:stCxn id="13" idx="0"/>
              </p:cNvCxnSpPr>
              <p:nvPr/>
            </p:nvCxnSpPr>
            <p:spPr>
              <a:xfrm rot="5400000" flipH="1" flipV="1">
                <a:off x="4519541" y="3738980"/>
                <a:ext cx="345379"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0" idx="0"/>
              </p:cNvCxnSpPr>
              <p:nvPr/>
            </p:nvCxnSpPr>
            <p:spPr>
              <a:xfrm rot="5400000" flipH="1" flipV="1">
                <a:off x="6326168" y="3737011"/>
                <a:ext cx="349316"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grpSp>
        <p:grpSp>
          <p:nvGrpSpPr>
            <p:cNvPr id="31" name="组合 45"/>
            <p:cNvGrpSpPr/>
            <p:nvPr/>
          </p:nvGrpSpPr>
          <p:grpSpPr>
            <a:xfrm>
              <a:off x="785786" y="2847973"/>
              <a:ext cx="625108" cy="3274337"/>
              <a:chOff x="857224" y="2008114"/>
              <a:chExt cx="625108" cy="3274337"/>
            </a:xfrm>
          </p:grpSpPr>
          <p:sp>
            <p:nvSpPr>
              <p:cNvPr id="5" name="椭圆 4"/>
              <p:cNvSpPr/>
              <p:nvPr/>
            </p:nvSpPr>
            <p:spPr>
              <a:xfrm>
                <a:off x="859630" y="478238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6" name="椭圆 5"/>
              <p:cNvSpPr/>
              <p:nvPr/>
            </p:nvSpPr>
            <p:spPr>
              <a:xfrm>
                <a:off x="862036" y="3071810"/>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2</a:t>
                </a:r>
                <a:endParaRPr lang="zh-CN" altLang="en-US" sz="1600">
                  <a:latin typeface="Consolas" pitchFamily="49" charset="0"/>
                  <a:cs typeface="Consolas" pitchFamily="49" charset="0"/>
                </a:endParaRPr>
              </a:p>
            </p:txBody>
          </p:sp>
          <p:sp>
            <p:nvSpPr>
              <p:cNvPr id="8" name="椭圆 7"/>
              <p:cNvSpPr/>
              <p:nvPr/>
            </p:nvSpPr>
            <p:spPr>
              <a:xfrm>
                <a:off x="857224" y="3929066"/>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3</a:t>
                </a:r>
                <a:endParaRPr lang="zh-CN" altLang="en-US" sz="1600">
                  <a:latin typeface="Consolas" pitchFamily="49" charset="0"/>
                  <a:cs typeface="Consolas" pitchFamily="49" charset="0"/>
                </a:endParaRPr>
              </a:p>
            </p:txBody>
          </p:sp>
          <p:grpSp>
            <p:nvGrpSpPr>
              <p:cNvPr id="36" name="组合 9"/>
              <p:cNvGrpSpPr/>
              <p:nvPr/>
            </p:nvGrpSpPr>
            <p:grpSpPr>
              <a:xfrm>
                <a:off x="862036" y="2008114"/>
                <a:ext cx="620296" cy="718317"/>
                <a:chOff x="428596" y="1500174"/>
                <a:chExt cx="620296" cy="718317"/>
              </a:xfrm>
            </p:grpSpPr>
            <p:sp>
              <p:nvSpPr>
                <p:cNvPr id="11" name="椭圆 10"/>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4</a:t>
                  </a:r>
                  <a:endParaRPr lang="zh-CN" altLang="en-US" sz="1600">
                    <a:latin typeface="Consolas" pitchFamily="49" charset="0"/>
                    <a:cs typeface="Consolas" pitchFamily="49" charset="0"/>
                  </a:endParaRPr>
                </a:p>
              </p:txBody>
            </p:sp>
            <p:sp>
              <p:nvSpPr>
                <p:cNvPr id="12" name="任意多边形 11"/>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cxnSp>
            <p:nvCxnSpPr>
              <p:cNvPr id="27" name="直接箭头连接符 26"/>
              <p:cNvCxnSpPr>
                <a:stCxn id="6" idx="0"/>
              </p:cNvCxnSpPr>
              <p:nvPr/>
            </p:nvCxnSpPr>
            <p:spPr>
              <a:xfrm rot="5400000" flipH="1" flipV="1">
                <a:off x="903661" y="2899121"/>
                <a:ext cx="345379" cy="1588"/>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5" idx="0"/>
              </p:cNvCxnSpPr>
              <p:nvPr/>
            </p:nvCxnSpPr>
            <p:spPr>
              <a:xfrm rot="16200000" flipV="1">
                <a:off x="896115" y="4604556"/>
                <a:ext cx="353253" cy="2406"/>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8" idx="0"/>
                <a:endCxn id="6" idx="4"/>
              </p:cNvCxnSpPr>
              <p:nvPr/>
            </p:nvCxnSpPr>
            <p:spPr>
              <a:xfrm rot="5400000" flipH="1" flipV="1">
                <a:off x="895349" y="3748065"/>
                <a:ext cx="357190" cy="4812"/>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grpSp>
      </p:grpSp>
      <p:sp>
        <p:nvSpPr>
          <p:cNvPr id="50" name="椭圆 49"/>
          <p:cNvSpPr/>
          <p:nvPr/>
        </p:nvSpPr>
        <p:spPr>
          <a:xfrm>
            <a:off x="1716886" y="1634313"/>
            <a:ext cx="381868" cy="367379"/>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a:t>
            </a:r>
            <a:endParaRPr lang="zh-CN" altLang="en-US" sz="1600">
              <a:latin typeface="Consolas" pitchFamily="49" charset="0"/>
              <a:cs typeface="Consolas" pitchFamily="49" charset="0"/>
            </a:endParaRPr>
          </a:p>
        </p:txBody>
      </p:sp>
      <p:sp>
        <p:nvSpPr>
          <p:cNvPr id="51" name="椭圆 50"/>
          <p:cNvSpPr/>
          <p:nvPr/>
        </p:nvSpPr>
        <p:spPr>
          <a:xfrm>
            <a:off x="2549090" y="1634313"/>
            <a:ext cx="381868" cy="367379"/>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2</a:t>
            </a:r>
            <a:endParaRPr lang="zh-CN" altLang="en-US" sz="1600">
              <a:latin typeface="Consolas" pitchFamily="49" charset="0"/>
              <a:cs typeface="Consolas" pitchFamily="49" charset="0"/>
            </a:endParaRPr>
          </a:p>
        </p:txBody>
      </p:sp>
      <p:grpSp>
        <p:nvGrpSpPr>
          <p:cNvPr id="41" name="组合 51"/>
          <p:cNvGrpSpPr/>
          <p:nvPr/>
        </p:nvGrpSpPr>
        <p:grpSpPr>
          <a:xfrm>
            <a:off x="1714481" y="562743"/>
            <a:ext cx="552628" cy="527719"/>
            <a:chOff x="428596" y="1500174"/>
            <a:chExt cx="620296" cy="718317"/>
          </a:xfrm>
        </p:grpSpPr>
        <p:sp>
          <p:nvSpPr>
            <p:cNvPr id="53" name="椭圆 52"/>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3</a:t>
              </a:r>
              <a:endParaRPr lang="zh-CN" altLang="en-US" sz="1600">
                <a:latin typeface="Consolas" pitchFamily="49" charset="0"/>
                <a:cs typeface="Consolas" pitchFamily="49" charset="0"/>
              </a:endParaRPr>
            </a:p>
          </p:txBody>
        </p:sp>
        <p:sp>
          <p:nvSpPr>
            <p:cNvPr id="54" name="任意多边形 53"/>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2" name="组合 54"/>
          <p:cNvGrpSpPr/>
          <p:nvPr/>
        </p:nvGrpSpPr>
        <p:grpSpPr>
          <a:xfrm>
            <a:off x="2549091" y="570617"/>
            <a:ext cx="552628" cy="527719"/>
            <a:chOff x="428596" y="1500174"/>
            <a:chExt cx="620296" cy="718317"/>
          </a:xfrm>
        </p:grpSpPr>
        <p:sp>
          <p:nvSpPr>
            <p:cNvPr id="56" name="椭圆 55"/>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4</a:t>
              </a:r>
              <a:endParaRPr lang="zh-CN" altLang="en-US" sz="1600">
                <a:latin typeface="Consolas" pitchFamily="49" charset="0"/>
                <a:cs typeface="Consolas" pitchFamily="49" charset="0"/>
              </a:endParaRPr>
            </a:p>
          </p:txBody>
        </p:sp>
        <p:sp>
          <p:nvSpPr>
            <p:cNvPr id="57" name="任意多边形 56"/>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58" name="椭圆 57"/>
          <p:cNvSpPr/>
          <p:nvPr/>
        </p:nvSpPr>
        <p:spPr>
          <a:xfrm>
            <a:off x="5192296" y="1634313"/>
            <a:ext cx="381868" cy="367379"/>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5</a:t>
            </a:r>
            <a:endParaRPr lang="zh-CN" altLang="en-US" sz="1600">
              <a:latin typeface="Consolas" pitchFamily="49" charset="0"/>
              <a:cs typeface="Consolas" pitchFamily="49" charset="0"/>
            </a:endParaRPr>
          </a:p>
        </p:txBody>
      </p:sp>
      <p:grpSp>
        <p:nvGrpSpPr>
          <p:cNvPr id="43" name="组合 58"/>
          <p:cNvGrpSpPr/>
          <p:nvPr/>
        </p:nvGrpSpPr>
        <p:grpSpPr>
          <a:xfrm>
            <a:off x="4357687" y="566680"/>
            <a:ext cx="552628" cy="527719"/>
            <a:chOff x="428596" y="1500174"/>
            <a:chExt cx="620296" cy="718317"/>
          </a:xfrm>
        </p:grpSpPr>
        <p:sp>
          <p:nvSpPr>
            <p:cNvPr id="60" name="椭圆 5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6</a:t>
              </a:r>
              <a:endParaRPr lang="zh-CN" altLang="en-US" sz="1600">
                <a:latin typeface="Consolas" pitchFamily="49" charset="0"/>
                <a:cs typeface="Consolas" pitchFamily="49" charset="0"/>
              </a:endParaRPr>
            </a:p>
          </p:txBody>
        </p:sp>
        <p:sp>
          <p:nvSpPr>
            <p:cNvPr id="61" name="任意多边形 6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5" name="组合 61"/>
          <p:cNvGrpSpPr/>
          <p:nvPr/>
        </p:nvGrpSpPr>
        <p:grpSpPr>
          <a:xfrm>
            <a:off x="5192297" y="570617"/>
            <a:ext cx="552628" cy="527719"/>
            <a:chOff x="428596" y="1500174"/>
            <a:chExt cx="620296" cy="718317"/>
          </a:xfrm>
        </p:grpSpPr>
        <p:sp>
          <p:nvSpPr>
            <p:cNvPr id="63" name="椭圆 62"/>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7</a:t>
              </a:r>
              <a:endParaRPr lang="zh-CN" altLang="en-US" sz="1600">
                <a:latin typeface="Consolas" pitchFamily="49" charset="0"/>
                <a:cs typeface="Consolas" pitchFamily="49" charset="0"/>
              </a:endParaRPr>
            </a:p>
          </p:txBody>
        </p:sp>
        <p:sp>
          <p:nvSpPr>
            <p:cNvPr id="64" name="任意多边形 63"/>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sp>
        <p:nvSpPr>
          <p:cNvPr id="65" name="椭圆 64"/>
          <p:cNvSpPr/>
          <p:nvPr/>
        </p:nvSpPr>
        <p:spPr>
          <a:xfrm>
            <a:off x="7000892" y="1634313"/>
            <a:ext cx="381868" cy="367379"/>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8</a:t>
            </a:r>
            <a:endParaRPr lang="zh-CN" altLang="en-US" sz="1600">
              <a:latin typeface="Consolas" pitchFamily="49" charset="0"/>
              <a:cs typeface="Consolas" pitchFamily="49" charset="0"/>
            </a:endParaRPr>
          </a:p>
        </p:txBody>
      </p:sp>
      <p:grpSp>
        <p:nvGrpSpPr>
          <p:cNvPr id="46" name="组合 65"/>
          <p:cNvGrpSpPr/>
          <p:nvPr/>
        </p:nvGrpSpPr>
        <p:grpSpPr>
          <a:xfrm>
            <a:off x="7000893" y="566680"/>
            <a:ext cx="552628" cy="527719"/>
            <a:chOff x="428596" y="1500174"/>
            <a:chExt cx="620296" cy="718317"/>
          </a:xfrm>
        </p:grpSpPr>
        <p:sp>
          <p:nvSpPr>
            <p:cNvPr id="67" name="椭圆 66"/>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9</a:t>
              </a:r>
              <a:endParaRPr lang="zh-CN" altLang="en-US" sz="1600">
                <a:latin typeface="Consolas" pitchFamily="49" charset="0"/>
                <a:cs typeface="Consolas" pitchFamily="49" charset="0"/>
              </a:endParaRPr>
            </a:p>
          </p:txBody>
        </p:sp>
        <p:sp>
          <p:nvSpPr>
            <p:cNvPr id="68" name="任意多边形 67"/>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grpSp>
        <p:nvGrpSpPr>
          <p:cNvPr id="47" name="组合 68"/>
          <p:cNvGrpSpPr/>
          <p:nvPr/>
        </p:nvGrpSpPr>
        <p:grpSpPr>
          <a:xfrm>
            <a:off x="7858149" y="566680"/>
            <a:ext cx="552628" cy="527719"/>
            <a:chOff x="428596" y="1500174"/>
            <a:chExt cx="620296" cy="718317"/>
          </a:xfrm>
        </p:grpSpPr>
        <p:sp>
          <p:nvSpPr>
            <p:cNvPr id="70" name="椭圆 69"/>
            <p:cNvSpPr/>
            <p:nvPr/>
          </p:nvSpPr>
          <p:spPr>
            <a:xfrm>
              <a:off x="428596" y="1718425"/>
              <a:ext cx="428628" cy="500066"/>
            </a:xfrm>
            <a:prstGeom prst="ellipse">
              <a:avLst/>
            </a:prstGeom>
            <a:ln w="19050"/>
          </p:spPr>
          <p:style>
            <a:lnRef idx="1">
              <a:schemeClr val="accent4"/>
            </a:lnRef>
            <a:fillRef idx="3">
              <a:schemeClr val="accent4"/>
            </a:fillRef>
            <a:effectRef idx="2">
              <a:schemeClr val="accent4"/>
            </a:effectRef>
            <a:fontRef idx="minor">
              <a:schemeClr val="lt1"/>
            </a:fontRef>
          </p:style>
          <p:txBody>
            <a:bodyPr lIns="0" rIns="0" rtlCol="0" anchor="ctr"/>
            <a:lstStyle/>
            <a:p>
              <a:pPr algn="ctr"/>
              <a:r>
                <a:rPr lang="en-US" altLang="zh-CN" sz="1600" smtClean="0">
                  <a:latin typeface="Consolas" pitchFamily="49" charset="0"/>
                  <a:cs typeface="Consolas" pitchFamily="49" charset="0"/>
                </a:rPr>
                <a:t>10</a:t>
              </a:r>
              <a:endParaRPr lang="zh-CN" altLang="en-US" sz="1600">
                <a:latin typeface="Consolas" pitchFamily="49" charset="0"/>
                <a:cs typeface="Consolas" pitchFamily="49" charset="0"/>
              </a:endParaRPr>
            </a:p>
          </p:txBody>
        </p:sp>
        <p:sp>
          <p:nvSpPr>
            <p:cNvPr id="71" name="任意多边形 70"/>
            <p:cNvSpPr/>
            <p:nvPr/>
          </p:nvSpPr>
          <p:spPr>
            <a:xfrm>
              <a:off x="583809" y="1500174"/>
              <a:ext cx="465083" cy="394138"/>
            </a:xfrm>
            <a:custGeom>
              <a:avLst/>
              <a:gdLst>
                <a:gd name="connsiteX0" fmla="*/ 283780 w 465083"/>
                <a:gd name="connsiteY0" fmla="*/ 394138 h 394138"/>
                <a:gd name="connsiteX1" fmla="*/ 457200 w 465083"/>
                <a:gd name="connsiteY1" fmla="*/ 315310 h 394138"/>
                <a:gd name="connsiteX2" fmla="*/ 236483 w 465083"/>
                <a:gd name="connsiteY2" fmla="*/ 47296 h 394138"/>
                <a:gd name="connsiteX3" fmla="*/ 78828 w 465083"/>
                <a:gd name="connsiteY3" fmla="*/ 31531 h 394138"/>
                <a:gd name="connsiteX4" fmla="*/ 0 w 465083"/>
                <a:gd name="connsiteY4" fmla="*/ 220717 h 39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083" h="394138">
                  <a:moveTo>
                    <a:pt x="283780" y="394138"/>
                  </a:moveTo>
                  <a:cubicBezTo>
                    <a:pt x="374431" y="383627"/>
                    <a:pt x="465083" y="373117"/>
                    <a:pt x="457200" y="315310"/>
                  </a:cubicBezTo>
                  <a:cubicBezTo>
                    <a:pt x="449317" y="257503"/>
                    <a:pt x="299545" y="94592"/>
                    <a:pt x="236483" y="47296"/>
                  </a:cubicBezTo>
                  <a:cubicBezTo>
                    <a:pt x="173421" y="0"/>
                    <a:pt x="118242" y="2628"/>
                    <a:pt x="78828" y="31531"/>
                  </a:cubicBezTo>
                  <a:cubicBezTo>
                    <a:pt x="39414" y="60434"/>
                    <a:pt x="19707" y="140575"/>
                    <a:pt x="0" y="220717"/>
                  </a:cubicBezTo>
                </a:path>
              </a:pathLst>
            </a:cu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Consolas" pitchFamily="49" charset="0"/>
                <a:cs typeface="Consolas" pitchFamily="49" charset="0"/>
              </a:endParaRPr>
            </a:p>
          </p:txBody>
        </p:sp>
      </p:grpSp>
      <p:cxnSp>
        <p:nvCxnSpPr>
          <p:cNvPr id="72" name="直接箭头连接符 71"/>
          <p:cNvCxnSpPr>
            <a:stCxn id="51" idx="0"/>
          </p:cNvCxnSpPr>
          <p:nvPr/>
        </p:nvCxnSpPr>
        <p:spPr>
          <a:xfrm rot="5400000" flipH="1" flipV="1">
            <a:off x="2579819" y="1449934"/>
            <a:ext cx="344584" cy="24175"/>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58" idx="0"/>
          </p:cNvCxnSpPr>
          <p:nvPr/>
        </p:nvCxnSpPr>
        <p:spPr>
          <a:xfrm rot="5400000" flipH="1" flipV="1">
            <a:off x="5223025" y="1449934"/>
            <a:ext cx="344584" cy="24175"/>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50" idx="0"/>
          </p:cNvCxnSpPr>
          <p:nvPr/>
        </p:nvCxnSpPr>
        <p:spPr>
          <a:xfrm rot="5400000" flipH="1" flipV="1">
            <a:off x="1741681" y="1447200"/>
            <a:ext cx="353252" cy="20975"/>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65" idx="0"/>
          </p:cNvCxnSpPr>
          <p:nvPr/>
        </p:nvCxnSpPr>
        <p:spPr>
          <a:xfrm rot="5400000" flipH="1" flipV="1">
            <a:off x="7029652" y="1447967"/>
            <a:ext cx="348521" cy="24173"/>
          </a:xfrm>
          <a:prstGeom prst="straightConnector1">
            <a:avLst/>
          </a:prstGeom>
          <a:ln w="19050">
            <a:solidFill>
              <a:srgbClr val="003300"/>
            </a:solidFill>
            <a:tailEnd type="arrow"/>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rot="2733480">
            <a:off x="2308737" y="4088232"/>
            <a:ext cx="616801" cy="289310"/>
          </a:xfrm>
          <a:prstGeom prst="rect">
            <a:avLst/>
          </a:prstGeom>
          <a:solidFill>
            <a:schemeClr val="bg1"/>
          </a:solidFill>
          <a:ln w="19050">
            <a:solidFill>
              <a:schemeClr val="bg1"/>
            </a:solidFill>
          </a:ln>
        </p:spPr>
        <p:txBody>
          <a:bodyPr wrap="square" rtlCol="0">
            <a:spAutoFit/>
          </a:bodyPr>
          <a:lstStyle/>
          <a:p>
            <a:r>
              <a:rPr lang="zh-CN" altLang="en-US" sz="1600" smtClean="0">
                <a:solidFill>
                  <a:srgbClr val="0000FF"/>
                </a:solidFill>
                <a:latin typeface="仿宋" pitchFamily="49" charset="-122"/>
                <a:ea typeface="仿宋" pitchFamily="49" charset="-122"/>
              </a:rPr>
              <a:t>改为</a:t>
            </a:r>
            <a:endParaRPr lang="zh-CN" altLang="en-US" sz="1600">
              <a:solidFill>
                <a:srgbClr val="0000FF"/>
              </a:solidFill>
              <a:latin typeface="仿宋" pitchFamily="49" charset="-122"/>
              <a:ea typeface="仿宋" pitchFamily="49" charset="-122"/>
            </a:endParaRPr>
          </a:p>
        </p:txBody>
      </p:sp>
      <p:sp>
        <p:nvSpPr>
          <p:cNvPr id="78" name="灯片编号占位符 77"/>
          <p:cNvSpPr>
            <a:spLocks noGrp="1"/>
          </p:cNvSpPr>
          <p:nvPr>
            <p:ph type="sldNum" sz="quarter" idx="12"/>
          </p:nvPr>
        </p:nvSpPr>
        <p:spPr/>
        <p:txBody>
          <a:bodyPr/>
          <a:lstStyle/>
          <a:p>
            <a:fld id="{67864EE2-EAB3-4814-A7EB-820BD7610F1E}" type="slidenum">
              <a:rPr lang="en-US" altLang="zh-CN" smtClean="0"/>
              <a:pPr/>
              <a:t>63</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9"/>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8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4"/>
          <p:cNvSpPr txBox="1">
            <a:spLocks noChangeArrowheads="1"/>
          </p:cNvSpPr>
          <p:nvPr/>
        </p:nvSpPr>
        <p:spPr bwMode="auto">
          <a:xfrm>
            <a:off x="571472" y="1928802"/>
            <a:ext cx="8135937" cy="2753025"/>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tIns="144000" bIns="144000">
            <a:spAutoFit/>
          </a:bodyPr>
          <a:lstStyle/>
          <a:p>
            <a:pPr marL="457200" indent="-457200" algn="l">
              <a:lnSpc>
                <a:spcPts val="28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在一棵高度较低的树中查找根结点的编号（即该集合的代表）所花的时间较少，</a:t>
            </a:r>
            <a:r>
              <a:rPr lang="zh-CN" altLang="en-US" sz="2000" smtClean="0">
                <a:solidFill>
                  <a:srgbClr val="FF0000"/>
                </a:solidFill>
                <a:latin typeface="Consolas" pitchFamily="49" charset="0"/>
                <a:ea typeface="仿宋" pitchFamily="49" charset="-122"/>
                <a:cs typeface="Consolas" pitchFamily="49" charset="0"/>
              </a:rPr>
              <a:t>如何保证构造的分离集合树较低</a:t>
            </a:r>
            <a:r>
              <a:rPr lang="zh-CN" altLang="en-US" sz="2000" smtClean="0">
                <a:solidFill>
                  <a:srgbClr val="0000FF"/>
                </a:solidFill>
                <a:latin typeface="Consolas" pitchFamily="49" charset="0"/>
                <a:ea typeface="仿宋" pitchFamily="49" charset="-122"/>
                <a:cs typeface="Consolas" pitchFamily="49" charset="0"/>
              </a:rPr>
              <a:t>呢？</a:t>
            </a:r>
          </a:p>
          <a:p>
            <a:pPr marL="457200" indent="-457200" algn="l">
              <a:lnSpc>
                <a:spcPts val="28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两棵分离集合树</a:t>
            </a:r>
            <a:r>
              <a:rPr lang="en-US" sz="2000" i="1" smtClean="0">
                <a:solidFill>
                  <a:srgbClr val="0000FF"/>
                </a:solidFill>
                <a:latin typeface="Consolas" pitchFamily="49" charset="0"/>
                <a:ea typeface="仿宋" pitchFamily="49" charset="-122"/>
                <a:cs typeface="Consolas" pitchFamily="49" charset="0"/>
              </a:rPr>
              <a:t>A</a:t>
            </a:r>
            <a:r>
              <a:rPr lang="zh-CN" altLang="en-US" sz="2000" smtClean="0">
                <a:solidFill>
                  <a:srgbClr val="0000FF"/>
                </a:solidFill>
                <a:latin typeface="Consolas" pitchFamily="49" charset="0"/>
                <a:ea typeface="仿宋" pitchFamily="49" charset="-122"/>
                <a:cs typeface="Consolas" pitchFamily="49" charset="0"/>
              </a:rPr>
              <a:t>和</a:t>
            </a:r>
            <a:r>
              <a:rPr lang="en-US" sz="2000" i="1" smtClean="0">
                <a:solidFill>
                  <a:srgbClr val="0000FF"/>
                </a:solidFill>
                <a:latin typeface="Consolas" pitchFamily="49" charset="0"/>
                <a:ea typeface="仿宋" pitchFamily="49" charset="-122"/>
                <a:cs typeface="Consolas" pitchFamily="49" charset="0"/>
              </a:rPr>
              <a:t>B</a:t>
            </a:r>
            <a:r>
              <a:rPr lang="zh-CN" altLang="en-US" sz="2000" smtClean="0">
                <a:solidFill>
                  <a:srgbClr val="0000FF"/>
                </a:solidFill>
                <a:latin typeface="Consolas" pitchFamily="49" charset="0"/>
                <a:ea typeface="仿宋" pitchFamily="49" charset="-122"/>
                <a:cs typeface="Consolas" pitchFamily="49" charset="0"/>
              </a:rPr>
              <a:t>高度相同时：任意一个根作为另外一个根的孩子 </a:t>
            </a:r>
            <a:r>
              <a:rPr lang="zh-CN" altLang="en-US" sz="2000" smtClean="0">
                <a:solidFill>
                  <a:srgbClr val="0000FF"/>
                </a:solidFill>
                <a:latin typeface="Consolas" pitchFamily="49" charset="0"/>
                <a:ea typeface="仿宋" pitchFamily="49" charset="-122"/>
                <a:cs typeface="Consolas" pitchFamily="49" charset="0"/>
                <a:sym typeface="Wingdings"/>
              </a:rPr>
              <a:t> 合并树的高度增加</a:t>
            </a:r>
            <a:r>
              <a:rPr lang="en-US" altLang="zh-CN" sz="2000" smtClean="0">
                <a:solidFill>
                  <a:srgbClr val="0000FF"/>
                </a:solidFill>
                <a:latin typeface="Consolas" pitchFamily="49" charset="0"/>
                <a:ea typeface="仿宋" pitchFamily="49" charset="-122"/>
                <a:cs typeface="Consolas" pitchFamily="49" charset="0"/>
                <a:sym typeface="Wingdings"/>
              </a:rPr>
              <a:t>1</a:t>
            </a:r>
            <a:r>
              <a:rPr lang="zh-CN" altLang="en-US" sz="2000" smtClean="0">
                <a:solidFill>
                  <a:srgbClr val="0000FF"/>
                </a:solidFill>
                <a:latin typeface="Consolas" pitchFamily="49" charset="0"/>
                <a:ea typeface="仿宋" pitchFamily="49" charset="-122"/>
                <a:cs typeface="Consolas" pitchFamily="49" charset="0"/>
                <a:sym typeface="Wingdings"/>
              </a:rPr>
              <a:t>，</a:t>
            </a:r>
            <a:r>
              <a:rPr lang="en-US" altLang="zh-CN" sz="2000" i="1" smtClean="0">
                <a:solidFill>
                  <a:srgbClr val="FF0000"/>
                </a:solidFill>
                <a:latin typeface="Consolas" pitchFamily="49" charset="0"/>
                <a:ea typeface="仿宋" pitchFamily="49" charset="-122"/>
                <a:cs typeface="Consolas" pitchFamily="49" charset="0"/>
              </a:rPr>
              <a:t>h</a:t>
            </a:r>
            <a:r>
              <a:rPr lang="en-US" altLang="zh-CN" sz="2000" i="1" baseline="-25000" smtClean="0">
                <a:solidFill>
                  <a:srgbClr val="FF0000"/>
                </a:solidFill>
                <a:latin typeface="Consolas" pitchFamily="49" charset="0"/>
                <a:ea typeface="仿宋" pitchFamily="49" charset="-122"/>
                <a:cs typeface="Consolas" pitchFamily="49" charset="0"/>
              </a:rPr>
              <a:t>C</a:t>
            </a:r>
            <a:r>
              <a:rPr lang="en-US" altLang="zh-CN" sz="2000" smtClean="0">
                <a:solidFill>
                  <a:srgbClr val="FF0000"/>
                </a:solidFill>
                <a:latin typeface="Consolas" pitchFamily="49" charset="0"/>
                <a:ea typeface="仿宋" pitchFamily="49" charset="-122"/>
                <a:cs typeface="Consolas" pitchFamily="49" charset="0"/>
              </a:rPr>
              <a:t>=MAX{</a:t>
            </a:r>
            <a:r>
              <a:rPr lang="en-US" altLang="zh-CN" sz="2000" i="1" smtClean="0">
                <a:solidFill>
                  <a:srgbClr val="FF0000"/>
                </a:solidFill>
                <a:latin typeface="Consolas" pitchFamily="49" charset="0"/>
                <a:ea typeface="仿宋" pitchFamily="49" charset="-122"/>
                <a:cs typeface="Consolas" pitchFamily="49" charset="0"/>
              </a:rPr>
              <a:t>h</a:t>
            </a:r>
            <a:r>
              <a:rPr lang="en-US" altLang="zh-CN" sz="2000" i="1" baseline="-25000" smtClean="0">
                <a:solidFill>
                  <a:srgbClr val="FF0000"/>
                </a:solidFill>
                <a:latin typeface="Consolas" pitchFamily="49" charset="0"/>
                <a:ea typeface="仿宋" pitchFamily="49" charset="-122"/>
                <a:cs typeface="Consolas" pitchFamily="49" charset="0"/>
              </a:rPr>
              <a:t>A</a:t>
            </a:r>
            <a:r>
              <a:rPr lang="zh-CN" altLang="en-US" sz="2000" smtClean="0">
                <a:solidFill>
                  <a:srgbClr val="FF0000"/>
                </a:solidFill>
                <a:latin typeface="Consolas" pitchFamily="49" charset="0"/>
                <a:ea typeface="仿宋" pitchFamily="49" charset="-122"/>
                <a:cs typeface="Consolas" pitchFamily="49" charset="0"/>
              </a:rPr>
              <a:t>，</a:t>
            </a:r>
            <a:r>
              <a:rPr lang="en-US" altLang="zh-CN" sz="2000" i="1" smtClean="0">
                <a:solidFill>
                  <a:srgbClr val="FF0000"/>
                </a:solidFill>
                <a:latin typeface="Consolas" pitchFamily="49" charset="0"/>
                <a:ea typeface="仿宋" pitchFamily="49" charset="-122"/>
                <a:cs typeface="Consolas" pitchFamily="49" charset="0"/>
              </a:rPr>
              <a:t>h</a:t>
            </a:r>
            <a:r>
              <a:rPr lang="en-US" altLang="zh-CN" sz="2000" i="1" baseline="-25000" smtClean="0">
                <a:solidFill>
                  <a:srgbClr val="FF0000"/>
                </a:solidFill>
                <a:latin typeface="Consolas" pitchFamily="49" charset="0"/>
                <a:ea typeface="仿宋" pitchFamily="49" charset="-122"/>
                <a:cs typeface="Consolas" pitchFamily="49" charset="0"/>
              </a:rPr>
              <a:t>B</a:t>
            </a:r>
            <a:r>
              <a:rPr lang="en-US" altLang="zh-CN" sz="2000" smtClean="0">
                <a:solidFill>
                  <a:srgbClr val="FF0000"/>
                </a:solidFill>
                <a:latin typeface="Consolas" pitchFamily="49" charset="0"/>
                <a:ea typeface="仿宋" pitchFamily="49" charset="-122"/>
                <a:cs typeface="Consolas" pitchFamily="49" charset="0"/>
              </a:rPr>
              <a:t>}+1</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1200"/>
              </a:spcBef>
              <a:buBlip>
                <a:blip r:embed="rId2"/>
              </a:buBlip>
            </a:pPr>
            <a:r>
              <a:rPr lang="zh-CN" altLang="en-US" sz="2000" smtClean="0">
                <a:solidFill>
                  <a:srgbClr val="0000FF"/>
                </a:solidFill>
                <a:latin typeface="Consolas" pitchFamily="49" charset="0"/>
                <a:ea typeface="仿宋" pitchFamily="49" charset="-122"/>
                <a:cs typeface="Consolas" pitchFamily="49" charset="0"/>
              </a:rPr>
              <a:t>两棵分离集合树</a:t>
            </a:r>
            <a:r>
              <a:rPr lang="en-US" altLang="zh-CN" sz="2000" i="1" smtClean="0">
                <a:solidFill>
                  <a:srgbClr val="0000FF"/>
                </a:solidFill>
                <a:latin typeface="Consolas" pitchFamily="49" charset="0"/>
                <a:ea typeface="仿宋" pitchFamily="49" charset="-122"/>
                <a:cs typeface="Consolas" pitchFamily="49" charset="0"/>
              </a:rPr>
              <a:t>A</a:t>
            </a:r>
            <a:r>
              <a:rPr lang="zh-CN" altLang="en-US" sz="2000" smtClean="0">
                <a:solidFill>
                  <a:srgbClr val="0000FF"/>
                </a:solidFill>
                <a:latin typeface="Consolas" pitchFamily="49" charset="0"/>
                <a:ea typeface="仿宋" pitchFamily="49" charset="-122"/>
                <a:cs typeface="Consolas" pitchFamily="49" charset="0"/>
              </a:rPr>
              <a:t>和</a:t>
            </a:r>
            <a:r>
              <a:rPr lang="en-US" altLang="zh-CN" sz="2000" i="1" smtClean="0">
                <a:solidFill>
                  <a:srgbClr val="0000FF"/>
                </a:solidFill>
                <a:latin typeface="Consolas" pitchFamily="49" charset="0"/>
                <a:ea typeface="仿宋" pitchFamily="49" charset="-122"/>
                <a:cs typeface="Consolas" pitchFamily="49" charset="0"/>
              </a:rPr>
              <a:t>B</a:t>
            </a:r>
            <a:r>
              <a:rPr lang="zh-CN" altLang="en-US" sz="2000" smtClean="0">
                <a:solidFill>
                  <a:srgbClr val="0000FF"/>
                </a:solidFill>
                <a:latin typeface="Consolas" pitchFamily="49" charset="0"/>
                <a:ea typeface="仿宋" pitchFamily="49" charset="-122"/>
                <a:cs typeface="Consolas" pitchFamily="49" charset="0"/>
              </a:rPr>
              <a:t>高度不相同时：将较低的根作为较高的根的孩子 </a:t>
            </a:r>
            <a:r>
              <a:rPr lang="zh-CN" altLang="en-US" sz="2000" smtClean="0">
                <a:solidFill>
                  <a:srgbClr val="0000FF"/>
                </a:solidFill>
                <a:latin typeface="Consolas" pitchFamily="49" charset="0"/>
                <a:ea typeface="仿宋" pitchFamily="49" charset="-122"/>
                <a:cs typeface="Consolas" pitchFamily="49" charset="0"/>
                <a:sym typeface="Wingdings"/>
              </a:rPr>
              <a:t> 合并树的高度不增加，</a:t>
            </a:r>
            <a:r>
              <a:rPr lang="en-US" altLang="zh-CN" sz="2000" i="1" smtClean="0">
                <a:solidFill>
                  <a:srgbClr val="FF0000"/>
                </a:solidFill>
                <a:latin typeface="Consolas" pitchFamily="49" charset="0"/>
                <a:ea typeface="仿宋" pitchFamily="49" charset="-122"/>
                <a:cs typeface="Consolas" pitchFamily="49" charset="0"/>
              </a:rPr>
              <a:t>h</a:t>
            </a:r>
            <a:r>
              <a:rPr lang="en-US" altLang="zh-CN" sz="2000" i="1" baseline="-25000" smtClean="0">
                <a:solidFill>
                  <a:srgbClr val="FF0000"/>
                </a:solidFill>
                <a:latin typeface="Consolas" pitchFamily="49" charset="0"/>
                <a:ea typeface="仿宋" pitchFamily="49" charset="-122"/>
                <a:cs typeface="Consolas" pitchFamily="49" charset="0"/>
              </a:rPr>
              <a:t>C</a:t>
            </a:r>
            <a:r>
              <a:rPr lang="en-US" altLang="zh-CN" sz="2000" smtClean="0">
                <a:solidFill>
                  <a:srgbClr val="FF0000"/>
                </a:solidFill>
                <a:latin typeface="Consolas" pitchFamily="49" charset="0"/>
                <a:ea typeface="仿宋" pitchFamily="49" charset="-122"/>
                <a:cs typeface="Consolas" pitchFamily="49" charset="0"/>
              </a:rPr>
              <a:t>=MAX{</a:t>
            </a:r>
            <a:r>
              <a:rPr lang="en-US" altLang="zh-CN" sz="2000" i="1" smtClean="0">
                <a:solidFill>
                  <a:srgbClr val="FF0000"/>
                </a:solidFill>
                <a:latin typeface="Consolas" pitchFamily="49" charset="0"/>
                <a:ea typeface="仿宋" pitchFamily="49" charset="-122"/>
                <a:cs typeface="Consolas" pitchFamily="49" charset="0"/>
              </a:rPr>
              <a:t>h</a:t>
            </a:r>
            <a:r>
              <a:rPr lang="en-US" altLang="zh-CN" sz="2000" i="1" baseline="-25000" smtClean="0">
                <a:solidFill>
                  <a:srgbClr val="FF0000"/>
                </a:solidFill>
                <a:latin typeface="Consolas" pitchFamily="49" charset="0"/>
                <a:ea typeface="仿宋" pitchFamily="49" charset="-122"/>
                <a:cs typeface="Consolas" pitchFamily="49" charset="0"/>
              </a:rPr>
              <a:t>A</a:t>
            </a:r>
            <a:r>
              <a:rPr lang="zh-CN" altLang="en-US" sz="2000" smtClean="0">
                <a:solidFill>
                  <a:srgbClr val="FF0000"/>
                </a:solidFill>
                <a:latin typeface="Consolas" pitchFamily="49" charset="0"/>
                <a:ea typeface="仿宋" pitchFamily="49" charset="-122"/>
                <a:cs typeface="Consolas" pitchFamily="49" charset="0"/>
              </a:rPr>
              <a:t>，</a:t>
            </a:r>
            <a:r>
              <a:rPr lang="en-US" altLang="zh-CN" sz="2000" i="1" smtClean="0">
                <a:solidFill>
                  <a:srgbClr val="FF0000"/>
                </a:solidFill>
                <a:latin typeface="Consolas" pitchFamily="49" charset="0"/>
                <a:ea typeface="仿宋" pitchFamily="49" charset="-122"/>
                <a:cs typeface="Consolas" pitchFamily="49" charset="0"/>
              </a:rPr>
              <a:t>h</a:t>
            </a:r>
            <a:r>
              <a:rPr lang="en-US" altLang="zh-CN" sz="2000" i="1" baseline="-25000" smtClean="0">
                <a:solidFill>
                  <a:srgbClr val="FF0000"/>
                </a:solidFill>
                <a:latin typeface="Consolas" pitchFamily="49" charset="0"/>
                <a:ea typeface="仿宋" pitchFamily="49" charset="-122"/>
                <a:cs typeface="Consolas" pitchFamily="49" charset="0"/>
              </a:rPr>
              <a:t>B</a:t>
            </a:r>
            <a:r>
              <a:rPr lang="en-US" altLang="zh-CN" sz="2000" smtClean="0">
                <a:solidFill>
                  <a:srgbClr val="FF0000"/>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a:t>
            </a:r>
            <a:endParaRPr lang="en-US" altLang="zh-CN" sz="2000" smtClean="0">
              <a:solidFill>
                <a:srgbClr val="0000FF"/>
              </a:solidFill>
              <a:latin typeface="Consolas" pitchFamily="49" charset="0"/>
              <a:ea typeface="仿宋" pitchFamily="49" charset="-122"/>
              <a:cs typeface="Consolas" pitchFamily="49" charset="0"/>
            </a:endParaRPr>
          </a:p>
        </p:txBody>
      </p:sp>
      <p:pic>
        <p:nvPicPr>
          <p:cNvPr id="51202" name="Picture 2"/>
          <p:cNvPicPr>
            <a:picLocks noChangeAspect="1" noChangeArrowheads="1"/>
          </p:cNvPicPr>
          <p:nvPr/>
        </p:nvPicPr>
        <p:blipFill>
          <a:blip r:embed="rId3" cstate="print"/>
          <a:srcRect/>
          <a:stretch>
            <a:fillRect/>
          </a:stretch>
        </p:blipFill>
        <p:spPr bwMode="auto">
          <a:xfrm>
            <a:off x="785786" y="500042"/>
            <a:ext cx="1540273" cy="1214446"/>
          </a:xfrm>
          <a:prstGeom prst="rect">
            <a:avLst/>
          </a:prstGeom>
          <a:noFill/>
          <a:ln w="9525">
            <a:noFill/>
            <a:miter lim="800000"/>
            <a:headEnd/>
            <a:tailEnd/>
          </a:ln>
          <a:effectLst/>
        </p:spPr>
      </p:pic>
      <p:sp>
        <p:nvSpPr>
          <p:cNvPr id="6" name="灯片编号占位符 5"/>
          <p:cNvSpPr>
            <a:spLocks noGrp="1"/>
          </p:cNvSpPr>
          <p:nvPr>
            <p:ph type="sldNum" sz="quarter" idx="12"/>
          </p:nvPr>
        </p:nvSpPr>
        <p:spPr/>
        <p:txBody>
          <a:bodyPr/>
          <a:lstStyle/>
          <a:p>
            <a:fld id="{67864EE2-EAB3-4814-A7EB-820BD7610F1E}" type="slidenum">
              <a:rPr lang="en-US" altLang="zh-CN" smtClean="0"/>
              <a:pPr/>
              <a:t>64</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78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787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14480" y="599998"/>
            <a:ext cx="235745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457200" indent="-457200" algn="l">
              <a:lnSpc>
                <a:spcPct val="100000"/>
              </a:lnSpc>
            </a:pPr>
            <a:r>
              <a:rPr lang="zh-CN" altLang="en-US" sz="2000" spc="50" smtClean="0">
                <a:ln w="11430"/>
                <a:solidFill>
                  <a:srgbClr val="FF0000"/>
                </a:solidFill>
                <a:effectLst>
                  <a:outerShdw blurRad="76200" dist="50800" dir="5400000" algn="tl" rotWithShape="0">
                    <a:srgbClr val="000000">
                      <a:alpha val="65000"/>
                    </a:srgbClr>
                  </a:outerShdw>
                </a:effectLst>
                <a:latin typeface="楷体" pitchFamily="49" charset="-122"/>
                <a:ea typeface="楷体" pitchFamily="49" charset="-122"/>
              </a:rPr>
              <a:t>查找中的路径压缩</a:t>
            </a:r>
            <a:endParaRPr lang="zh-CN" altLang="en-US" sz="2000" spc="50">
              <a:ln w="11430"/>
              <a:solidFill>
                <a:srgbClr val="FF0000"/>
              </a:solidFill>
              <a:effectLst>
                <a:outerShdw blurRad="76200" dist="50800" dir="5400000" algn="tl" rotWithShape="0">
                  <a:srgbClr val="000000">
                    <a:alpha val="65000"/>
                  </a:srgbClr>
                </a:outerShdw>
              </a:effectLst>
              <a:latin typeface="楷体" pitchFamily="49" charset="-122"/>
              <a:ea typeface="楷体" pitchFamily="49" charset="-122"/>
            </a:endParaRPr>
          </a:p>
        </p:txBody>
      </p:sp>
      <p:grpSp>
        <p:nvGrpSpPr>
          <p:cNvPr id="2" name="组合 20"/>
          <p:cNvGrpSpPr/>
          <p:nvPr/>
        </p:nvGrpSpPr>
        <p:grpSpPr>
          <a:xfrm>
            <a:off x="385104" y="428604"/>
            <a:ext cx="1257938" cy="1285884"/>
            <a:chOff x="1003205" y="2000240"/>
            <a:chExt cx="1257938" cy="1285884"/>
          </a:xfrm>
        </p:grpSpPr>
        <p:pic>
          <p:nvPicPr>
            <p:cNvPr id="5" name="Picture 29" descr="1"/>
            <p:cNvPicPr>
              <a:picLocks noChangeAspect="1" noChangeArrowheads="1"/>
            </p:cNvPicPr>
            <p:nvPr/>
          </p:nvPicPr>
          <p:blipFill>
            <a:blip r:embed="rId2" cstate="print">
              <a:lum bright="-6000" contrast="24000"/>
            </a:blip>
            <a:srcRect l="42606" t="64474" r="19473"/>
            <a:stretch>
              <a:fillRect/>
            </a:stretch>
          </p:blipFill>
          <p:spPr bwMode="auto">
            <a:xfrm>
              <a:off x="1003205" y="2000240"/>
              <a:ext cx="1257938" cy="1285884"/>
            </a:xfrm>
            <a:prstGeom prst="rect">
              <a:avLst/>
            </a:prstGeom>
            <a:noFill/>
            <a:ln w="9525">
              <a:noFill/>
              <a:miter lim="800000"/>
              <a:headEnd/>
              <a:tailEnd/>
            </a:ln>
          </p:spPr>
        </p:pic>
        <p:sp>
          <p:nvSpPr>
            <p:cNvPr id="6" name="Text Box 31"/>
            <p:cNvSpPr txBox="1">
              <a:spLocks noChangeArrowheads="1"/>
            </p:cNvSpPr>
            <p:nvPr/>
          </p:nvSpPr>
          <p:spPr bwMode="white">
            <a:xfrm>
              <a:off x="1643042" y="2304628"/>
              <a:ext cx="381000" cy="338554"/>
            </a:xfrm>
            <a:prstGeom prst="rect">
              <a:avLst/>
            </a:prstGeom>
            <a:noFill/>
            <a:ln w="9525">
              <a:noFill/>
              <a:miter lim="800000"/>
              <a:headEnd/>
              <a:tailEnd/>
            </a:ln>
          </p:spPr>
          <p:txBody>
            <a:bodyPr>
              <a:spAutoFit/>
            </a:bodyPr>
            <a:lstStyle/>
            <a:p>
              <a:pPr algn="ctr">
                <a:spcBef>
                  <a:spcPct val="50000"/>
                </a:spcBef>
              </a:pPr>
              <a:r>
                <a:rPr lang="en-US" altLang="zh-CN" sz="2000" smtClean="0">
                  <a:solidFill>
                    <a:srgbClr val="FF0000"/>
                  </a:solidFill>
                  <a:latin typeface="微软雅黑" pitchFamily="34" charset="-122"/>
                  <a:ea typeface="微软雅黑" pitchFamily="34" charset="-122"/>
                  <a:cs typeface="Arial" pitchFamily="34" charset="0"/>
                </a:rPr>
                <a:t>4</a:t>
              </a:r>
              <a:endParaRPr lang="en-US" altLang="zh-CN" sz="2000" b="1" dirty="0">
                <a:solidFill>
                  <a:srgbClr val="FF0000"/>
                </a:solidFill>
                <a:latin typeface="微软雅黑" pitchFamily="34" charset="-122"/>
                <a:ea typeface="微软雅黑" pitchFamily="34" charset="-122"/>
                <a:cs typeface="Arial" pitchFamily="34" charset="0"/>
              </a:endParaRPr>
            </a:p>
          </p:txBody>
        </p:sp>
      </p:grpSp>
      <p:sp>
        <p:nvSpPr>
          <p:cNvPr id="5429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 name="组合 28"/>
          <p:cNvGrpSpPr/>
          <p:nvPr/>
        </p:nvGrpSpPr>
        <p:grpSpPr>
          <a:xfrm>
            <a:off x="2214546" y="1637468"/>
            <a:ext cx="4456742" cy="2148722"/>
            <a:chOff x="2214546" y="1500174"/>
            <a:chExt cx="4456742" cy="2148722"/>
          </a:xfrm>
        </p:grpSpPr>
        <p:sp>
          <p:nvSpPr>
            <p:cNvPr id="54292" name="Oval 20"/>
            <p:cNvSpPr>
              <a:spLocks noChangeArrowheads="1"/>
            </p:cNvSpPr>
            <p:nvPr/>
          </p:nvSpPr>
          <p:spPr bwMode="auto">
            <a:xfrm>
              <a:off x="3296514" y="1675507"/>
              <a:ext cx="334703" cy="382870"/>
            </a:xfrm>
            <a:prstGeom prst="ellipse">
              <a:avLst/>
            </a:prstGeom>
            <a:ln w="19050">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54291" name="AutoShape 19"/>
            <p:cNvSpPr>
              <a:spLocks noChangeArrowheads="1"/>
            </p:cNvSpPr>
            <p:nvPr/>
          </p:nvSpPr>
          <p:spPr bwMode="auto">
            <a:xfrm>
              <a:off x="3291144" y="2068217"/>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90" name="Oval 18"/>
            <p:cNvSpPr>
              <a:spLocks noChangeArrowheads="1"/>
            </p:cNvSpPr>
            <p:nvPr/>
          </p:nvSpPr>
          <p:spPr bwMode="auto">
            <a:xfrm>
              <a:off x="2723760" y="2244445"/>
              <a:ext cx="334703" cy="382870"/>
            </a:xfrm>
            <a:prstGeom prst="ellipse">
              <a:avLst/>
            </a:prstGeom>
            <a:ln w="19050">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54289" name="AutoShape 17"/>
            <p:cNvSpPr>
              <a:spLocks noChangeArrowheads="1"/>
            </p:cNvSpPr>
            <p:nvPr/>
          </p:nvSpPr>
          <p:spPr bwMode="auto">
            <a:xfrm>
              <a:off x="2718390" y="2637154"/>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88" name="Oval 16"/>
            <p:cNvSpPr>
              <a:spLocks noChangeArrowheads="1"/>
            </p:cNvSpPr>
            <p:nvPr/>
          </p:nvSpPr>
          <p:spPr bwMode="auto">
            <a:xfrm>
              <a:off x="2219915" y="2774021"/>
              <a:ext cx="334703" cy="382870"/>
            </a:xfrm>
            <a:prstGeom prst="ellipse">
              <a:avLst/>
            </a:prstGeom>
            <a:ln w="19050">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i="1" u="none" strike="noStrike" cap="none" normalizeH="0" baseline="0" smtClean="0">
                  <a:ln>
                    <a:noFill/>
                  </a:ln>
                  <a:solidFill>
                    <a:srgbClr val="0000FF"/>
                  </a:solidFill>
                  <a:effectLst/>
                  <a:latin typeface="Consolas" pitchFamily="49" charset="0"/>
                  <a:ea typeface="仿宋" pitchFamily="49" charset="-122"/>
                  <a:cs typeface="Consolas" pitchFamily="49" charset="0"/>
                </a:rPr>
                <a:t>x</a:t>
              </a:r>
              <a:endPar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54287" name="AutoShape 15"/>
            <p:cNvSpPr>
              <a:spLocks noChangeArrowheads="1"/>
            </p:cNvSpPr>
            <p:nvPr/>
          </p:nvSpPr>
          <p:spPr bwMode="auto">
            <a:xfrm>
              <a:off x="2214546" y="3166731"/>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86" name="AutoShape 14"/>
            <p:cNvSpPr>
              <a:spLocks noChangeShapeType="1"/>
            </p:cNvSpPr>
            <p:nvPr/>
          </p:nvSpPr>
          <p:spPr bwMode="auto">
            <a:xfrm flipH="1">
              <a:off x="3009242" y="2002915"/>
              <a:ext cx="335598" cy="297887"/>
            </a:xfrm>
            <a:prstGeom prst="straightConnector1">
              <a:avLst/>
            </a:prstGeom>
            <a:noFill/>
            <a:ln w="19050">
              <a:solidFill>
                <a:srgbClr val="000000"/>
              </a:solidFill>
              <a:round/>
              <a:headEnd type="arrow" w="med" len="med"/>
              <a:tailEnd type="none" w="sm" len="sm"/>
            </a:ln>
          </p:spPr>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85" name="AutoShape 13"/>
            <p:cNvSpPr>
              <a:spLocks noChangeShapeType="1"/>
            </p:cNvSpPr>
            <p:nvPr/>
          </p:nvSpPr>
          <p:spPr bwMode="auto">
            <a:xfrm flipH="1">
              <a:off x="2506292" y="2570957"/>
              <a:ext cx="266689" cy="259421"/>
            </a:xfrm>
            <a:prstGeom prst="straightConnector1">
              <a:avLst/>
            </a:prstGeom>
            <a:noFill/>
            <a:ln w="19050">
              <a:solidFill>
                <a:srgbClr val="000000"/>
              </a:solidFill>
              <a:round/>
              <a:headEnd type="arrow" w="med" len="med"/>
              <a:tailEnd type="none" w="sm" len="sm"/>
            </a:ln>
          </p:spPr>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84" name="Oval 12"/>
            <p:cNvSpPr>
              <a:spLocks noChangeArrowheads="1"/>
            </p:cNvSpPr>
            <p:nvPr/>
          </p:nvSpPr>
          <p:spPr bwMode="auto">
            <a:xfrm>
              <a:off x="6129857" y="1683558"/>
              <a:ext cx="334703" cy="382870"/>
            </a:xfrm>
            <a:prstGeom prst="ellipse">
              <a:avLst/>
            </a:prstGeom>
            <a:ln w="19050">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54283" name="AutoShape 11"/>
            <p:cNvSpPr>
              <a:spLocks noChangeArrowheads="1"/>
            </p:cNvSpPr>
            <p:nvPr/>
          </p:nvSpPr>
          <p:spPr bwMode="auto">
            <a:xfrm>
              <a:off x="6124487" y="2076268"/>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82" name="Oval 10"/>
            <p:cNvSpPr>
              <a:spLocks noChangeArrowheads="1"/>
            </p:cNvSpPr>
            <p:nvPr/>
          </p:nvSpPr>
          <p:spPr bwMode="auto">
            <a:xfrm>
              <a:off x="5557103" y="2252496"/>
              <a:ext cx="334703" cy="382870"/>
            </a:xfrm>
            <a:prstGeom prst="ellipse">
              <a:avLst/>
            </a:prstGeom>
            <a:ln w="19050">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54281" name="AutoShape 9"/>
            <p:cNvSpPr>
              <a:spLocks noChangeArrowheads="1"/>
            </p:cNvSpPr>
            <p:nvPr/>
          </p:nvSpPr>
          <p:spPr bwMode="auto">
            <a:xfrm>
              <a:off x="5551733" y="2645205"/>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80" name="Oval 8"/>
            <p:cNvSpPr>
              <a:spLocks noChangeArrowheads="1"/>
            </p:cNvSpPr>
            <p:nvPr/>
          </p:nvSpPr>
          <p:spPr bwMode="auto">
            <a:xfrm>
              <a:off x="5023725" y="2260547"/>
              <a:ext cx="334703" cy="382870"/>
            </a:xfrm>
            <a:prstGeom prst="ellipse">
              <a:avLst/>
            </a:prstGeom>
            <a:ln w="19050">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i="1" u="none" strike="noStrike" cap="none" normalizeH="0" baseline="0" smtClean="0">
                  <a:ln>
                    <a:noFill/>
                  </a:ln>
                  <a:solidFill>
                    <a:srgbClr val="0000FF"/>
                  </a:solidFill>
                  <a:effectLst/>
                  <a:latin typeface="Consolas" pitchFamily="49" charset="0"/>
                  <a:ea typeface="仿宋" pitchFamily="49" charset="-122"/>
                  <a:cs typeface="Consolas" pitchFamily="49" charset="0"/>
                </a:rPr>
                <a:t>x</a:t>
              </a:r>
              <a:endParaRPr kumimoji="0" lang="en-US" altLang="zh-CN" sz="160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54279" name="AutoShape 7"/>
            <p:cNvSpPr>
              <a:spLocks noChangeArrowheads="1"/>
            </p:cNvSpPr>
            <p:nvPr/>
          </p:nvSpPr>
          <p:spPr bwMode="auto">
            <a:xfrm>
              <a:off x="5018356" y="2653256"/>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78" name="AutoShape 6"/>
            <p:cNvSpPr>
              <a:spLocks noChangeShapeType="1"/>
            </p:cNvSpPr>
            <p:nvPr/>
          </p:nvSpPr>
          <p:spPr bwMode="auto">
            <a:xfrm flipH="1">
              <a:off x="5842585" y="2010071"/>
              <a:ext cx="336493" cy="298782"/>
            </a:xfrm>
            <a:prstGeom prst="straightConnector1">
              <a:avLst/>
            </a:pr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77" name="AutoShape 5"/>
            <p:cNvSpPr>
              <a:spLocks noChangeShapeType="1"/>
            </p:cNvSpPr>
            <p:nvPr/>
          </p:nvSpPr>
          <p:spPr bwMode="auto">
            <a:xfrm flipH="1">
              <a:off x="5309207" y="1874993"/>
              <a:ext cx="820649" cy="441910"/>
            </a:xfrm>
            <a:prstGeom prst="straightConnector1">
              <a:avLst/>
            </a:pr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76" name="AutoShape 4"/>
            <p:cNvSpPr>
              <a:spLocks noChangeArrowheads="1"/>
            </p:cNvSpPr>
            <p:nvPr/>
          </p:nvSpPr>
          <p:spPr bwMode="auto">
            <a:xfrm>
              <a:off x="4025880" y="2473451"/>
              <a:ext cx="461783" cy="356928"/>
            </a:xfrm>
            <a:prstGeom prst="rightArrow">
              <a:avLst>
                <a:gd name="adj1" fmla="val 50000"/>
                <a:gd name="adj2" fmla="val 32331"/>
              </a:avLst>
            </a:prstGeom>
            <a:ln w="19050">
              <a:headEnd/>
              <a:tailEnd type="none"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75" name="Freeform 3"/>
            <p:cNvSpPr>
              <a:spLocks/>
            </p:cNvSpPr>
            <p:nvPr/>
          </p:nvSpPr>
          <p:spPr bwMode="auto">
            <a:xfrm>
              <a:off x="3458496" y="1500174"/>
              <a:ext cx="382134" cy="533155"/>
            </a:xfrm>
            <a:custGeom>
              <a:avLst/>
              <a:gdLst/>
              <a:ahLst/>
              <a:cxnLst>
                <a:cxn ang="0">
                  <a:pos x="160" y="539"/>
                </a:cxn>
                <a:cxn ang="0">
                  <a:pos x="387" y="548"/>
                </a:cxn>
                <a:cxn ang="0">
                  <a:pos x="398" y="251"/>
                </a:cxn>
                <a:cxn ang="0">
                  <a:pos x="279" y="36"/>
                </a:cxn>
                <a:cxn ang="0">
                  <a:pos x="161" y="36"/>
                </a:cxn>
                <a:cxn ang="0">
                  <a:pos x="0" y="174"/>
                </a:cxn>
              </a:cxnLst>
              <a:rect l="0" t="0" r="r" b="b"/>
              <a:pathLst>
                <a:path w="427" h="596">
                  <a:moveTo>
                    <a:pt x="160" y="539"/>
                  </a:moveTo>
                  <a:cubicBezTo>
                    <a:pt x="253" y="567"/>
                    <a:pt x="347" y="596"/>
                    <a:pt x="387" y="548"/>
                  </a:cubicBezTo>
                  <a:cubicBezTo>
                    <a:pt x="427" y="500"/>
                    <a:pt x="416" y="336"/>
                    <a:pt x="398" y="251"/>
                  </a:cubicBezTo>
                  <a:cubicBezTo>
                    <a:pt x="380" y="166"/>
                    <a:pt x="318" y="72"/>
                    <a:pt x="279" y="36"/>
                  </a:cubicBezTo>
                  <a:cubicBezTo>
                    <a:pt x="240" y="0"/>
                    <a:pt x="207" y="13"/>
                    <a:pt x="161" y="36"/>
                  </a:cubicBezTo>
                  <a:cubicBezTo>
                    <a:pt x="115" y="59"/>
                    <a:pt x="34" y="145"/>
                    <a:pt x="0" y="174"/>
                  </a:cubicBezTo>
                </a:path>
              </a:pathLst>
            </a:cu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sp>
          <p:nvSpPr>
            <p:cNvPr id="54274" name="Freeform 2"/>
            <p:cNvSpPr>
              <a:spLocks/>
            </p:cNvSpPr>
            <p:nvPr/>
          </p:nvSpPr>
          <p:spPr bwMode="auto">
            <a:xfrm>
              <a:off x="6289154" y="1508225"/>
              <a:ext cx="382134" cy="533155"/>
            </a:xfrm>
            <a:custGeom>
              <a:avLst/>
              <a:gdLst/>
              <a:ahLst/>
              <a:cxnLst>
                <a:cxn ang="0">
                  <a:pos x="160" y="539"/>
                </a:cxn>
                <a:cxn ang="0">
                  <a:pos x="387" y="548"/>
                </a:cxn>
                <a:cxn ang="0">
                  <a:pos x="398" y="251"/>
                </a:cxn>
                <a:cxn ang="0">
                  <a:pos x="279" y="36"/>
                </a:cxn>
                <a:cxn ang="0">
                  <a:pos x="161" y="36"/>
                </a:cxn>
                <a:cxn ang="0">
                  <a:pos x="0" y="174"/>
                </a:cxn>
              </a:cxnLst>
              <a:rect l="0" t="0" r="r" b="b"/>
              <a:pathLst>
                <a:path w="427" h="596">
                  <a:moveTo>
                    <a:pt x="160" y="539"/>
                  </a:moveTo>
                  <a:cubicBezTo>
                    <a:pt x="253" y="567"/>
                    <a:pt x="347" y="596"/>
                    <a:pt x="387" y="548"/>
                  </a:cubicBezTo>
                  <a:cubicBezTo>
                    <a:pt x="427" y="500"/>
                    <a:pt x="416" y="336"/>
                    <a:pt x="398" y="251"/>
                  </a:cubicBezTo>
                  <a:cubicBezTo>
                    <a:pt x="380" y="166"/>
                    <a:pt x="318" y="72"/>
                    <a:pt x="279" y="36"/>
                  </a:cubicBezTo>
                  <a:cubicBezTo>
                    <a:pt x="240" y="0"/>
                    <a:pt x="207" y="13"/>
                    <a:pt x="161" y="36"/>
                  </a:cubicBezTo>
                  <a:cubicBezTo>
                    <a:pt x="115" y="59"/>
                    <a:pt x="34" y="145"/>
                    <a:pt x="0" y="174"/>
                  </a:cubicBezTo>
                </a:path>
              </a:pathLst>
            </a:cu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pPr>
                <a:lnSpc>
                  <a:spcPts val="1600"/>
                </a:lnSpc>
              </a:pPr>
              <a:endParaRPr lang="zh-CN" altLang="en-US" sz="1600">
                <a:solidFill>
                  <a:srgbClr val="0000FF"/>
                </a:solidFill>
                <a:latin typeface="Consolas" pitchFamily="49" charset="0"/>
                <a:ea typeface="仿宋" pitchFamily="49" charset="-122"/>
                <a:cs typeface="Consolas" pitchFamily="49" charset="0"/>
              </a:endParaRPr>
            </a:p>
          </p:txBody>
        </p:sp>
      </p:grpSp>
      <p:sp>
        <p:nvSpPr>
          <p:cNvPr id="29" name="灯片编号占位符 28"/>
          <p:cNvSpPr>
            <a:spLocks noGrp="1"/>
          </p:cNvSpPr>
          <p:nvPr>
            <p:ph type="sldNum" sz="quarter" idx="12"/>
          </p:nvPr>
        </p:nvSpPr>
        <p:spPr/>
        <p:txBody>
          <a:bodyPr/>
          <a:lstStyle/>
          <a:p>
            <a:fld id="{67864EE2-EAB3-4814-A7EB-820BD7610F1E}" type="slidenum">
              <a:rPr lang="en-US" altLang="zh-CN" smtClean="0"/>
              <a:pPr/>
              <a:t>65</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2773467"/>
            <a:ext cx="7215238" cy="87251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int parent[MAXN];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并查集存储结构</a:t>
            </a:r>
          </a:p>
          <a:p>
            <a:pPr algn="l"/>
            <a:r>
              <a:rPr lang="en-US" altLang="zh-CN" sz="1800" smtClean="0">
                <a:solidFill>
                  <a:srgbClr val="0000FF"/>
                </a:solidFill>
                <a:latin typeface="Consolas" pitchFamily="49" charset="0"/>
                <a:ea typeface="仿宋" pitchFamily="49" charset="-122"/>
                <a:cs typeface="Consolas" pitchFamily="49" charset="0"/>
              </a:rPr>
              <a:t>int rnk[MAXN];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存储结点的秩</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近似于高度</a:t>
            </a:r>
            <a:r>
              <a:rPr lang="en-US" altLang="zh-CN" sz="1800" smtClean="0">
                <a:solidFill>
                  <a:schemeClr val="bg1">
                    <a:lumMod val="50000"/>
                  </a:schemeClr>
                </a:solidFill>
                <a:latin typeface="Consolas" pitchFamily="49" charset="0"/>
                <a:ea typeface="仿宋" pitchFamily="49" charset="-122"/>
                <a:cs typeface="Consolas" pitchFamily="49" charset="0"/>
              </a:rPr>
              <a:t>)</a:t>
            </a:r>
            <a:endParaRPr lang="zh-CN" altLang="zh-CN" sz="1800">
              <a:solidFill>
                <a:schemeClr val="bg1">
                  <a:lumMod val="50000"/>
                </a:schemeClr>
              </a:solidFill>
              <a:latin typeface="Consolas" pitchFamily="49" charset="0"/>
              <a:ea typeface="仿宋" pitchFamily="49" charset="-122"/>
              <a:cs typeface="Consolas" pitchFamily="49" charset="0"/>
            </a:endParaRPr>
          </a:p>
        </p:txBody>
      </p:sp>
      <p:sp>
        <p:nvSpPr>
          <p:cNvPr id="6" name="TextBox 5"/>
          <p:cNvSpPr txBox="1"/>
          <p:nvPr/>
        </p:nvSpPr>
        <p:spPr>
          <a:xfrm>
            <a:off x="428596" y="2130525"/>
            <a:ext cx="7358114" cy="400110"/>
          </a:xfrm>
          <a:prstGeom prst="rect">
            <a:avLst/>
          </a:prstGeom>
          <a:noFill/>
        </p:spPr>
        <p:txBody>
          <a:bodyPr wrap="square" rtlCol="0">
            <a:spAutoFit/>
          </a:bodyPr>
          <a:lstStyle/>
          <a:p>
            <a:pPr algn="l">
              <a:lnSpc>
                <a:spcPct val="100000"/>
              </a:lnSpc>
            </a:pPr>
            <a:r>
              <a:rPr lang="zh-CN" altLang="zh-CN" sz="2000" smtClean="0">
                <a:solidFill>
                  <a:srgbClr val="0000FF"/>
                </a:solidFill>
                <a:latin typeface="Consolas" pitchFamily="49" charset="0"/>
                <a:ea typeface="仿宋" pitchFamily="49" charset="-122"/>
                <a:cs typeface="Consolas" pitchFamily="49" charset="0"/>
              </a:rPr>
              <a:t>并查集的基本存储结构（实际上是森林的双亲存储结构）如下：</a:t>
            </a:r>
            <a:endParaRPr lang="zh-CN" altLang="zh-CN" sz="200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428596" y="928670"/>
            <a:ext cx="328614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itchFamily="49" charset="0"/>
                <a:ea typeface="微软雅黑" pitchFamily="34" charset="-122"/>
                <a:cs typeface="Consolas" pitchFamily="49" charset="0"/>
              </a:rPr>
              <a:t>7.9.2 </a:t>
            </a:r>
            <a:r>
              <a:rPr lang="zh-CN" altLang="zh-CN" smtClean="0">
                <a:latin typeface="Consolas" pitchFamily="49" charset="0"/>
                <a:ea typeface="微软雅黑" pitchFamily="34" charset="-122"/>
                <a:cs typeface="Consolas" pitchFamily="49" charset="0"/>
              </a:rPr>
              <a:t>并查集</a:t>
            </a:r>
            <a:r>
              <a:rPr lang="zh-CN" altLang="en-US" smtClean="0">
                <a:latin typeface="Consolas" pitchFamily="49" charset="0"/>
                <a:ea typeface="微软雅黑" pitchFamily="34" charset="-122"/>
                <a:cs typeface="Consolas" pitchFamily="49" charset="0"/>
              </a:rPr>
              <a:t>的实现</a:t>
            </a:r>
            <a:endParaRPr lang="zh-CN" altLang="zh-CN" smtClean="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66</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4348" y="1500174"/>
            <a:ext cx="6715172" cy="198358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Init()</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并查集初始化</a:t>
            </a: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i=1;i&lt;=n;i++)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  parent[i]=i;</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rnk[i]=0;</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785786" y="785794"/>
            <a:ext cx="357190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itchFamily="49" charset="0"/>
                <a:ea typeface="楷体" pitchFamily="49" charset="-122"/>
                <a:cs typeface="Consolas" pitchFamily="49" charset="0"/>
              </a:rPr>
              <a:t>并查集的基本</a:t>
            </a:r>
            <a:r>
              <a:rPr lang="zh-CN" altLang="en-US" sz="2000" smtClean="0">
                <a:solidFill>
                  <a:srgbClr val="0000FF"/>
                </a:solidFill>
                <a:latin typeface="Consolas" pitchFamily="49" charset="0"/>
                <a:ea typeface="楷体" pitchFamily="49" charset="-122"/>
                <a:cs typeface="Consolas" pitchFamily="49" charset="0"/>
              </a:rPr>
              <a:t>运算算法</a:t>
            </a:r>
          </a:p>
        </p:txBody>
      </p:sp>
      <p:sp>
        <p:nvSpPr>
          <p:cNvPr id="7" name="TextBox 6"/>
          <p:cNvSpPr txBox="1"/>
          <p:nvPr/>
        </p:nvSpPr>
        <p:spPr>
          <a:xfrm>
            <a:off x="1071538" y="3857628"/>
            <a:ext cx="3786214"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itchFamily="49" charset="0"/>
                <a:ea typeface="仿宋" pitchFamily="49" charset="-122"/>
                <a:cs typeface="Consolas" pitchFamily="49" charset="0"/>
              </a:rPr>
              <a:t>时间复杂度为</a:t>
            </a:r>
            <a:r>
              <a:rPr lang="en-US" altLang="zh-CN" sz="2000" smtClean="0">
                <a:solidFill>
                  <a:srgbClr val="0000FF"/>
                </a:solidFill>
                <a:latin typeface="Consolas" pitchFamily="49" charset="0"/>
                <a:ea typeface="仿宋" pitchFamily="49" charset="-122"/>
                <a:cs typeface="Consolas" pitchFamily="49" charset="0"/>
              </a:rPr>
              <a:t>O(</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a:t>
            </a: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67</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1472" y="785794"/>
            <a:ext cx="8429684" cy="195280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(int x)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递归算法：并查集中查找</a:t>
            </a:r>
            <a:r>
              <a:rPr lang="en-US" altLang="zh-CN" sz="1800" smtClean="0">
                <a:solidFill>
                  <a:schemeClr val="bg1">
                    <a:lumMod val="50000"/>
                  </a:schemeClr>
                </a:solidFill>
                <a:latin typeface="Consolas" pitchFamily="49" charset="0"/>
                <a:ea typeface="仿宋" pitchFamily="49" charset="-122"/>
                <a:cs typeface="Consolas" pitchFamily="49" charset="0"/>
              </a:rPr>
              <a:t>x</a:t>
            </a:r>
            <a:r>
              <a:rPr lang="zh-CN" altLang="zh-CN" sz="1800" smtClean="0">
                <a:solidFill>
                  <a:schemeClr val="bg1">
                    <a:lumMod val="50000"/>
                  </a:schemeClr>
                </a:solidFill>
                <a:latin typeface="Consolas" pitchFamily="49" charset="0"/>
                <a:ea typeface="仿宋" pitchFamily="49" charset="-122"/>
                <a:cs typeface="Consolas" pitchFamily="49" charset="0"/>
              </a:rPr>
              <a:t>结点的根结点</a:t>
            </a:r>
          </a:p>
          <a:p>
            <a:pPr algn="l"/>
            <a:r>
              <a:rPr lang="en-US" altLang="zh-CN" sz="1800" smtClean="0">
                <a:solidFill>
                  <a:srgbClr val="0000FF"/>
                </a:solidFill>
                <a:latin typeface="Consolas" pitchFamily="49" charset="0"/>
                <a:ea typeface="仿宋" pitchFamily="49" charset="-122"/>
                <a:cs typeface="Consolas" pitchFamily="49" charset="0"/>
              </a:rPr>
              <a:t>{  if (x!=parent[x])</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parent[x]=</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(parent[x]);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路径压缩</a:t>
            </a:r>
          </a:p>
          <a:p>
            <a:pPr algn="l"/>
            <a:r>
              <a:rPr lang="en-US" altLang="zh-CN" sz="1800" smtClean="0">
                <a:solidFill>
                  <a:srgbClr val="0000FF"/>
                </a:solidFill>
                <a:latin typeface="Consolas" pitchFamily="49" charset="0"/>
                <a:ea typeface="仿宋" pitchFamily="49" charset="-122"/>
                <a:cs typeface="Consolas" pitchFamily="49" charset="0"/>
              </a:rPr>
              <a:t>   return parent[x];</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grpSp>
        <p:nvGrpSpPr>
          <p:cNvPr id="2" name="组合 6"/>
          <p:cNvGrpSpPr/>
          <p:nvPr/>
        </p:nvGrpSpPr>
        <p:grpSpPr>
          <a:xfrm>
            <a:off x="1472580" y="3214686"/>
            <a:ext cx="4456742" cy="2148722"/>
            <a:chOff x="2214546" y="1500174"/>
            <a:chExt cx="4456742" cy="2148722"/>
          </a:xfrm>
        </p:grpSpPr>
        <p:sp>
          <p:nvSpPr>
            <p:cNvPr id="8" name="Oval 20"/>
            <p:cNvSpPr>
              <a:spLocks noChangeArrowheads="1"/>
            </p:cNvSpPr>
            <p:nvPr/>
          </p:nvSpPr>
          <p:spPr bwMode="auto">
            <a:xfrm>
              <a:off x="3296514" y="1675507"/>
              <a:ext cx="334703" cy="382870"/>
            </a:xfrm>
            <a:prstGeom prst="ellipse">
              <a:avLst/>
            </a:prstGeom>
            <a:ln w="19050">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9" name="AutoShape 19"/>
            <p:cNvSpPr>
              <a:spLocks noChangeArrowheads="1"/>
            </p:cNvSpPr>
            <p:nvPr/>
          </p:nvSpPr>
          <p:spPr bwMode="auto">
            <a:xfrm>
              <a:off x="3291144" y="2068217"/>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0" name="Oval 18"/>
            <p:cNvSpPr>
              <a:spLocks noChangeArrowheads="1"/>
            </p:cNvSpPr>
            <p:nvPr/>
          </p:nvSpPr>
          <p:spPr bwMode="auto">
            <a:xfrm>
              <a:off x="2723760" y="2244445"/>
              <a:ext cx="334703" cy="382870"/>
            </a:xfrm>
            <a:prstGeom prst="ellipse">
              <a:avLst/>
            </a:prstGeom>
            <a:ln w="19050">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11" name="AutoShape 17"/>
            <p:cNvSpPr>
              <a:spLocks noChangeArrowheads="1"/>
            </p:cNvSpPr>
            <p:nvPr/>
          </p:nvSpPr>
          <p:spPr bwMode="auto">
            <a:xfrm>
              <a:off x="2718390" y="2637154"/>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2" name="Oval 16"/>
            <p:cNvSpPr>
              <a:spLocks noChangeArrowheads="1"/>
            </p:cNvSpPr>
            <p:nvPr/>
          </p:nvSpPr>
          <p:spPr bwMode="auto">
            <a:xfrm>
              <a:off x="2219915" y="2774021"/>
              <a:ext cx="334703" cy="382870"/>
            </a:xfrm>
            <a:prstGeom prst="ellipse">
              <a:avLst/>
            </a:prstGeom>
            <a:ln w="19050">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i="1" u="none" strike="noStrike" cap="none" normalizeH="0" baseline="0" smtClean="0">
                  <a:ln>
                    <a:noFill/>
                  </a:ln>
                  <a:solidFill>
                    <a:srgbClr val="0000FF"/>
                  </a:solidFill>
                  <a:effectLst/>
                  <a:latin typeface="Consolas" pitchFamily="49" charset="0"/>
                  <a:ea typeface="仿宋" pitchFamily="49" charset="-122"/>
                  <a:cs typeface="Consolas" pitchFamily="49" charset="0"/>
                </a:rPr>
                <a:t>x</a:t>
              </a:r>
              <a:endPar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3" name="AutoShape 15"/>
            <p:cNvSpPr>
              <a:spLocks noChangeArrowheads="1"/>
            </p:cNvSpPr>
            <p:nvPr/>
          </p:nvSpPr>
          <p:spPr bwMode="auto">
            <a:xfrm>
              <a:off x="2214546" y="3166731"/>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4" name="AutoShape 14"/>
            <p:cNvSpPr>
              <a:spLocks noChangeShapeType="1"/>
            </p:cNvSpPr>
            <p:nvPr/>
          </p:nvSpPr>
          <p:spPr bwMode="auto">
            <a:xfrm flipH="1">
              <a:off x="3009242" y="2002915"/>
              <a:ext cx="335598" cy="297887"/>
            </a:xfrm>
            <a:prstGeom prst="straightConnector1">
              <a:avLst/>
            </a:prstGeom>
            <a:noFill/>
            <a:ln w="19050">
              <a:solidFill>
                <a:srgbClr val="000000"/>
              </a:solidFill>
              <a:round/>
              <a:headEnd type="arrow" w="med" len="med"/>
              <a:tailEnd type="none" w="sm" len="sm"/>
            </a:ln>
          </p:spPr>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5" name="AutoShape 13"/>
            <p:cNvSpPr>
              <a:spLocks noChangeShapeType="1"/>
            </p:cNvSpPr>
            <p:nvPr/>
          </p:nvSpPr>
          <p:spPr bwMode="auto">
            <a:xfrm flipH="1">
              <a:off x="2506292" y="2570957"/>
              <a:ext cx="266689" cy="259421"/>
            </a:xfrm>
            <a:prstGeom prst="straightConnector1">
              <a:avLst/>
            </a:prstGeom>
            <a:noFill/>
            <a:ln w="19050">
              <a:solidFill>
                <a:srgbClr val="000000"/>
              </a:solidFill>
              <a:round/>
              <a:headEnd type="arrow" w="med" len="med"/>
              <a:tailEnd type="none" w="sm" len="sm"/>
            </a:ln>
          </p:spPr>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6" name="Oval 12"/>
            <p:cNvSpPr>
              <a:spLocks noChangeArrowheads="1"/>
            </p:cNvSpPr>
            <p:nvPr/>
          </p:nvSpPr>
          <p:spPr bwMode="auto">
            <a:xfrm>
              <a:off x="6129857" y="1683558"/>
              <a:ext cx="334703" cy="382870"/>
            </a:xfrm>
            <a:prstGeom prst="ellipse">
              <a:avLst/>
            </a:prstGeom>
            <a:ln w="19050">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rPr>
                <a:t>A</a:t>
              </a:r>
            </a:p>
          </p:txBody>
        </p:sp>
        <p:sp>
          <p:nvSpPr>
            <p:cNvPr id="17" name="AutoShape 11"/>
            <p:cNvSpPr>
              <a:spLocks noChangeArrowheads="1"/>
            </p:cNvSpPr>
            <p:nvPr/>
          </p:nvSpPr>
          <p:spPr bwMode="auto">
            <a:xfrm>
              <a:off x="6124487" y="2076268"/>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18" name="Oval 10"/>
            <p:cNvSpPr>
              <a:spLocks noChangeArrowheads="1"/>
            </p:cNvSpPr>
            <p:nvPr/>
          </p:nvSpPr>
          <p:spPr bwMode="auto">
            <a:xfrm>
              <a:off x="5557103" y="2252496"/>
              <a:ext cx="334703" cy="382870"/>
            </a:xfrm>
            <a:prstGeom prst="ellipse">
              <a:avLst/>
            </a:prstGeom>
            <a:ln w="19050">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rPr>
                <a:t>B</a:t>
              </a:r>
            </a:p>
          </p:txBody>
        </p:sp>
        <p:sp>
          <p:nvSpPr>
            <p:cNvPr id="19" name="AutoShape 9"/>
            <p:cNvSpPr>
              <a:spLocks noChangeArrowheads="1"/>
            </p:cNvSpPr>
            <p:nvPr/>
          </p:nvSpPr>
          <p:spPr bwMode="auto">
            <a:xfrm>
              <a:off x="5551733" y="2645205"/>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20" name="Oval 8"/>
            <p:cNvSpPr>
              <a:spLocks noChangeArrowheads="1"/>
            </p:cNvSpPr>
            <p:nvPr/>
          </p:nvSpPr>
          <p:spPr bwMode="auto">
            <a:xfrm>
              <a:off x="5023725" y="2260547"/>
              <a:ext cx="334703" cy="382870"/>
            </a:xfrm>
            <a:prstGeom prst="ellipse">
              <a:avLst/>
            </a:prstGeom>
            <a:ln w="19050">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i="1" u="none" strike="noStrike" cap="none" normalizeH="0" baseline="0" smtClean="0">
                  <a:ln>
                    <a:noFill/>
                  </a:ln>
                  <a:solidFill>
                    <a:srgbClr val="0000FF"/>
                  </a:solidFill>
                  <a:effectLst/>
                  <a:latin typeface="Consolas" pitchFamily="49" charset="0"/>
                  <a:ea typeface="仿宋" pitchFamily="49" charset="-122"/>
                  <a:cs typeface="Consolas" pitchFamily="49" charset="0"/>
                </a:rPr>
                <a:t>x</a:t>
              </a:r>
              <a:endPar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21" name="AutoShape 7"/>
            <p:cNvSpPr>
              <a:spLocks noChangeArrowheads="1"/>
            </p:cNvSpPr>
            <p:nvPr/>
          </p:nvSpPr>
          <p:spPr bwMode="auto">
            <a:xfrm>
              <a:off x="5018356" y="2653256"/>
              <a:ext cx="346337" cy="482165"/>
            </a:xfrm>
            <a:prstGeom prst="triangle">
              <a:avLst>
                <a:gd name="adj" fmla="val 50000"/>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22" name="AutoShape 6"/>
            <p:cNvSpPr>
              <a:spLocks noChangeShapeType="1"/>
            </p:cNvSpPr>
            <p:nvPr/>
          </p:nvSpPr>
          <p:spPr bwMode="auto">
            <a:xfrm flipH="1">
              <a:off x="5842585" y="2010071"/>
              <a:ext cx="336493" cy="298782"/>
            </a:xfrm>
            <a:prstGeom prst="straightConnector1">
              <a:avLst/>
            </a:pr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23" name="AutoShape 5"/>
            <p:cNvSpPr>
              <a:spLocks noChangeShapeType="1"/>
            </p:cNvSpPr>
            <p:nvPr/>
          </p:nvSpPr>
          <p:spPr bwMode="auto">
            <a:xfrm flipH="1">
              <a:off x="5309207" y="1874993"/>
              <a:ext cx="820649" cy="441910"/>
            </a:xfrm>
            <a:prstGeom prst="straightConnector1">
              <a:avLst/>
            </a:pr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24" name="AutoShape 4"/>
            <p:cNvSpPr>
              <a:spLocks noChangeArrowheads="1"/>
            </p:cNvSpPr>
            <p:nvPr/>
          </p:nvSpPr>
          <p:spPr bwMode="auto">
            <a:xfrm>
              <a:off x="4025880" y="2473451"/>
              <a:ext cx="461783" cy="356928"/>
            </a:xfrm>
            <a:prstGeom prst="rightArrow">
              <a:avLst>
                <a:gd name="adj1" fmla="val 50000"/>
                <a:gd name="adj2" fmla="val 32331"/>
              </a:avLst>
            </a:prstGeom>
            <a:ln w="19050">
              <a:headEnd/>
              <a:tailEnd type="none"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25" name="Freeform 3"/>
            <p:cNvSpPr>
              <a:spLocks/>
            </p:cNvSpPr>
            <p:nvPr/>
          </p:nvSpPr>
          <p:spPr bwMode="auto">
            <a:xfrm>
              <a:off x="3458496" y="1500174"/>
              <a:ext cx="382134" cy="533155"/>
            </a:xfrm>
            <a:custGeom>
              <a:avLst/>
              <a:gdLst/>
              <a:ahLst/>
              <a:cxnLst>
                <a:cxn ang="0">
                  <a:pos x="160" y="539"/>
                </a:cxn>
                <a:cxn ang="0">
                  <a:pos x="387" y="548"/>
                </a:cxn>
                <a:cxn ang="0">
                  <a:pos x="398" y="251"/>
                </a:cxn>
                <a:cxn ang="0">
                  <a:pos x="279" y="36"/>
                </a:cxn>
                <a:cxn ang="0">
                  <a:pos x="161" y="36"/>
                </a:cxn>
                <a:cxn ang="0">
                  <a:pos x="0" y="174"/>
                </a:cxn>
              </a:cxnLst>
              <a:rect l="0" t="0" r="r" b="b"/>
              <a:pathLst>
                <a:path w="427" h="596">
                  <a:moveTo>
                    <a:pt x="160" y="539"/>
                  </a:moveTo>
                  <a:cubicBezTo>
                    <a:pt x="253" y="567"/>
                    <a:pt x="347" y="596"/>
                    <a:pt x="387" y="548"/>
                  </a:cubicBezTo>
                  <a:cubicBezTo>
                    <a:pt x="427" y="500"/>
                    <a:pt x="416" y="336"/>
                    <a:pt x="398" y="251"/>
                  </a:cubicBezTo>
                  <a:cubicBezTo>
                    <a:pt x="380" y="166"/>
                    <a:pt x="318" y="72"/>
                    <a:pt x="279" y="36"/>
                  </a:cubicBezTo>
                  <a:cubicBezTo>
                    <a:pt x="240" y="0"/>
                    <a:pt x="207" y="13"/>
                    <a:pt x="161" y="36"/>
                  </a:cubicBezTo>
                  <a:cubicBezTo>
                    <a:pt x="115" y="59"/>
                    <a:pt x="34" y="145"/>
                    <a:pt x="0" y="174"/>
                  </a:cubicBezTo>
                </a:path>
              </a:pathLst>
            </a:cu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sp>
          <p:nvSpPr>
            <p:cNvPr id="26" name="Freeform 2"/>
            <p:cNvSpPr>
              <a:spLocks/>
            </p:cNvSpPr>
            <p:nvPr/>
          </p:nvSpPr>
          <p:spPr bwMode="auto">
            <a:xfrm>
              <a:off x="6289154" y="1508225"/>
              <a:ext cx="382134" cy="533155"/>
            </a:xfrm>
            <a:custGeom>
              <a:avLst/>
              <a:gdLst/>
              <a:ahLst/>
              <a:cxnLst>
                <a:cxn ang="0">
                  <a:pos x="160" y="539"/>
                </a:cxn>
                <a:cxn ang="0">
                  <a:pos x="387" y="548"/>
                </a:cxn>
                <a:cxn ang="0">
                  <a:pos x="398" y="251"/>
                </a:cxn>
                <a:cxn ang="0">
                  <a:pos x="279" y="36"/>
                </a:cxn>
                <a:cxn ang="0">
                  <a:pos x="161" y="36"/>
                </a:cxn>
                <a:cxn ang="0">
                  <a:pos x="0" y="174"/>
                </a:cxn>
              </a:cxnLst>
              <a:rect l="0" t="0" r="r" b="b"/>
              <a:pathLst>
                <a:path w="427" h="596">
                  <a:moveTo>
                    <a:pt x="160" y="539"/>
                  </a:moveTo>
                  <a:cubicBezTo>
                    <a:pt x="253" y="567"/>
                    <a:pt x="347" y="596"/>
                    <a:pt x="387" y="548"/>
                  </a:cubicBezTo>
                  <a:cubicBezTo>
                    <a:pt x="427" y="500"/>
                    <a:pt x="416" y="336"/>
                    <a:pt x="398" y="251"/>
                  </a:cubicBezTo>
                  <a:cubicBezTo>
                    <a:pt x="380" y="166"/>
                    <a:pt x="318" y="72"/>
                    <a:pt x="279" y="36"/>
                  </a:cubicBezTo>
                  <a:cubicBezTo>
                    <a:pt x="240" y="0"/>
                    <a:pt x="207" y="13"/>
                    <a:pt x="161" y="36"/>
                  </a:cubicBezTo>
                  <a:cubicBezTo>
                    <a:pt x="115" y="59"/>
                    <a:pt x="34" y="145"/>
                    <a:pt x="0" y="174"/>
                  </a:cubicBezTo>
                </a:path>
              </a:pathLst>
            </a:cu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pPr>
                <a:lnSpc>
                  <a:spcPts val="1600"/>
                </a:lnSpc>
              </a:pPr>
              <a:endParaRPr lang="zh-CN" altLang="en-US" sz="1600" b="0">
                <a:solidFill>
                  <a:srgbClr val="0000FF"/>
                </a:solidFill>
                <a:latin typeface="Consolas" pitchFamily="49" charset="0"/>
                <a:ea typeface="仿宋" pitchFamily="49" charset="-122"/>
                <a:cs typeface="Consolas" pitchFamily="49" charset="0"/>
              </a:endParaRPr>
            </a:p>
          </p:txBody>
        </p:sp>
      </p:grpSp>
      <p:sp>
        <p:nvSpPr>
          <p:cNvPr id="27" name="TextBox 26"/>
          <p:cNvSpPr txBox="1"/>
          <p:nvPr/>
        </p:nvSpPr>
        <p:spPr>
          <a:xfrm>
            <a:off x="1500166" y="5715016"/>
            <a:ext cx="2857520"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itchFamily="49" charset="0"/>
                <a:ea typeface="仿宋" pitchFamily="49" charset="-122"/>
                <a:cs typeface="Consolas" pitchFamily="49" charset="0"/>
              </a:rPr>
              <a:t>时间复杂度为</a:t>
            </a:r>
            <a:r>
              <a:rPr lang="en-US" altLang="zh-CN" sz="2000" smtClean="0">
                <a:solidFill>
                  <a:srgbClr val="0000FF"/>
                </a:solidFill>
                <a:latin typeface="Consolas" pitchFamily="49" charset="0"/>
                <a:ea typeface="仿宋" pitchFamily="49" charset="-122"/>
                <a:cs typeface="Consolas" pitchFamily="49" charset="0"/>
              </a:rPr>
              <a:t>O(log</a:t>
            </a:r>
            <a:r>
              <a:rPr lang="en-US" altLang="zh-CN" sz="2000" baseline="-25000" smtClean="0">
                <a:solidFill>
                  <a:srgbClr val="0000FF"/>
                </a:solidFill>
                <a:latin typeface="Consolas" pitchFamily="49" charset="0"/>
                <a:ea typeface="仿宋" pitchFamily="49" charset="-122"/>
                <a:cs typeface="Consolas" pitchFamily="49" charset="0"/>
              </a:rPr>
              <a:t>2</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a:t>
            </a:r>
          </a:p>
        </p:txBody>
      </p:sp>
      <p:sp>
        <p:nvSpPr>
          <p:cNvPr id="29" name="灯片编号占位符 28"/>
          <p:cNvSpPr>
            <a:spLocks noGrp="1"/>
          </p:cNvSpPr>
          <p:nvPr>
            <p:ph type="sldNum" sz="quarter" idx="12"/>
          </p:nvPr>
        </p:nvSpPr>
        <p:spPr/>
        <p:txBody>
          <a:bodyPr/>
          <a:lstStyle/>
          <a:p>
            <a:fld id="{67864EE2-EAB3-4814-A7EB-820BD7610F1E}" type="slidenum">
              <a:rPr lang="en-US" altLang="zh-CN" smtClean="0"/>
              <a:pPr/>
              <a:t>68</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p:cNvSpPr txBox="1"/>
          <p:nvPr/>
        </p:nvSpPr>
        <p:spPr>
          <a:xfrm>
            <a:off x="642910" y="357166"/>
            <a:ext cx="2428892" cy="400110"/>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l">
              <a:lnSpc>
                <a:spcPct val="100000"/>
              </a:lnSpc>
              <a:spcBef>
                <a:spcPts val="0"/>
              </a:spcBef>
            </a:pPr>
            <a:r>
              <a:rPr lang="zh-CN" altLang="en-US" sz="2000" smtClean="0">
                <a:ln w="11430"/>
                <a:solidFill>
                  <a:srgbClr val="FF0000"/>
                </a:solidFill>
                <a:effectLst>
                  <a:outerShdw blurRad="50800" dist="39000" dir="5460000" algn="tl">
                    <a:srgbClr val="000000">
                      <a:alpha val="38000"/>
                    </a:srgbClr>
                  </a:outerShdw>
                </a:effectLst>
                <a:latin typeface="Consolas" pitchFamily="49" charset="0"/>
                <a:ea typeface="仿宋" pitchFamily="49" charset="-122"/>
                <a:cs typeface="Consolas" pitchFamily="49" charset="0"/>
              </a:rPr>
              <a:t>用迭代方式实现</a:t>
            </a:r>
          </a:p>
        </p:txBody>
      </p:sp>
      <p:sp>
        <p:nvSpPr>
          <p:cNvPr id="29" name="TextBox 28"/>
          <p:cNvSpPr txBox="1"/>
          <p:nvPr/>
        </p:nvSpPr>
        <p:spPr>
          <a:xfrm>
            <a:off x="210522" y="3178046"/>
            <a:ext cx="8719196" cy="336857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(int x)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非递归算法：并查集中查找</a:t>
            </a:r>
            <a:r>
              <a:rPr lang="en-US" altLang="zh-CN" sz="1800" smtClean="0">
                <a:solidFill>
                  <a:schemeClr val="bg1">
                    <a:lumMod val="50000"/>
                  </a:schemeClr>
                </a:solidFill>
                <a:latin typeface="Consolas" pitchFamily="49" charset="0"/>
                <a:ea typeface="仿宋" pitchFamily="49" charset="-122"/>
                <a:cs typeface="Consolas" pitchFamily="49" charset="0"/>
              </a:rPr>
              <a:t>x</a:t>
            </a:r>
            <a:r>
              <a:rPr lang="zh-CN" altLang="zh-CN" sz="1800" smtClean="0">
                <a:solidFill>
                  <a:schemeClr val="bg1">
                    <a:lumMod val="50000"/>
                  </a:schemeClr>
                </a:solidFill>
                <a:latin typeface="Consolas" pitchFamily="49" charset="0"/>
                <a:ea typeface="仿宋" pitchFamily="49" charset="-122"/>
                <a:cs typeface="Consolas" pitchFamily="49" charset="0"/>
              </a:rPr>
              <a:t>结点的根结点</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int rx=x;</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(parent[rx]!=rx)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找到</a:t>
            </a:r>
            <a:r>
              <a:rPr lang="en-US" altLang="zh-CN" sz="1800" smtClean="0">
                <a:solidFill>
                  <a:schemeClr val="bg1">
                    <a:lumMod val="50000"/>
                  </a:schemeClr>
                </a:solidFill>
                <a:latin typeface="Consolas" pitchFamily="49" charset="0"/>
                <a:ea typeface="仿宋" pitchFamily="49" charset="-122"/>
                <a:cs typeface="Consolas" pitchFamily="49" charset="0"/>
              </a:rPr>
              <a:t>x</a:t>
            </a:r>
            <a:r>
              <a:rPr lang="zh-CN" altLang="zh-CN" sz="1800" smtClean="0">
                <a:solidFill>
                  <a:schemeClr val="bg1">
                    <a:lumMod val="50000"/>
                  </a:schemeClr>
                </a:solidFill>
                <a:latin typeface="Consolas" pitchFamily="49" charset="0"/>
                <a:ea typeface="仿宋" pitchFamily="49" charset="-122"/>
                <a:cs typeface="Consolas" pitchFamily="49" charset="0"/>
              </a:rPr>
              <a:t>的根</a:t>
            </a:r>
            <a:r>
              <a:rPr lang="en-US" altLang="zh-CN" sz="1800" smtClean="0">
                <a:solidFill>
                  <a:schemeClr val="bg1">
                    <a:lumMod val="50000"/>
                  </a:schemeClr>
                </a:solidFill>
                <a:latin typeface="Consolas" pitchFamily="49" charset="0"/>
                <a:ea typeface="仿宋" pitchFamily="49" charset="-122"/>
                <a:cs typeface="Consolas" pitchFamily="49" charset="0"/>
              </a:rPr>
              <a:t>rx</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rx=parent[rx];</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int y=x;</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while (y!=rx)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路径压缩</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  int tmp=parent[y];</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parent[y]=rx;</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y=tmp;</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 rx;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返回根</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30" name="下箭头 29"/>
          <p:cNvSpPr/>
          <p:nvPr/>
        </p:nvSpPr>
        <p:spPr>
          <a:xfrm>
            <a:off x="3286116" y="2714620"/>
            <a:ext cx="214314" cy="428628"/>
          </a:xfrm>
          <a:prstGeom prst="downArrow">
            <a:avLst/>
          </a:prstGeom>
          <a:ln>
            <a:tailEnd type="arrow"/>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214282" y="857232"/>
            <a:ext cx="8786874" cy="195280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(int x)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递归算法：并查集中查找</a:t>
            </a:r>
            <a:r>
              <a:rPr lang="en-US" altLang="zh-CN" sz="1800" smtClean="0">
                <a:solidFill>
                  <a:schemeClr val="bg1">
                    <a:lumMod val="50000"/>
                  </a:schemeClr>
                </a:solidFill>
                <a:latin typeface="Consolas" pitchFamily="49" charset="0"/>
                <a:ea typeface="仿宋" pitchFamily="49" charset="-122"/>
                <a:cs typeface="Consolas" pitchFamily="49" charset="0"/>
              </a:rPr>
              <a:t>x</a:t>
            </a:r>
            <a:r>
              <a:rPr lang="zh-CN" altLang="zh-CN" sz="1800" smtClean="0">
                <a:solidFill>
                  <a:schemeClr val="bg1">
                    <a:lumMod val="50000"/>
                  </a:schemeClr>
                </a:solidFill>
                <a:latin typeface="Consolas" pitchFamily="49" charset="0"/>
                <a:ea typeface="仿宋" pitchFamily="49" charset="-122"/>
                <a:cs typeface="Consolas" pitchFamily="49" charset="0"/>
              </a:rPr>
              <a:t>结点的根结点</a:t>
            </a:r>
          </a:p>
          <a:p>
            <a:pPr algn="l"/>
            <a:r>
              <a:rPr lang="en-US" altLang="zh-CN" sz="1800" smtClean="0">
                <a:solidFill>
                  <a:srgbClr val="0000FF"/>
                </a:solidFill>
                <a:latin typeface="Consolas" pitchFamily="49" charset="0"/>
                <a:ea typeface="仿宋" pitchFamily="49" charset="-122"/>
                <a:cs typeface="Consolas" pitchFamily="49" charset="0"/>
              </a:rPr>
              <a:t>{  if (x!=parent[x])</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     parent[x]=</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(parent[x]);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路径压缩</a:t>
            </a:r>
          </a:p>
          <a:p>
            <a:pPr algn="l"/>
            <a:r>
              <a:rPr lang="en-US" altLang="zh-CN" sz="1800" smtClean="0">
                <a:solidFill>
                  <a:srgbClr val="0000FF"/>
                </a:solidFill>
                <a:latin typeface="Consolas" pitchFamily="49" charset="0"/>
                <a:ea typeface="仿宋" pitchFamily="49" charset="-122"/>
                <a:cs typeface="Consolas" pitchFamily="49" charset="0"/>
              </a:rPr>
              <a:t>   return parent[x];</a:t>
            </a:r>
            <a:endParaRPr lang="zh-CN" altLang="zh-CN" sz="1800" smtClean="0">
              <a:solidFill>
                <a:srgbClr val="0000FF"/>
              </a:solidFill>
              <a:latin typeface="Consolas" pitchFamily="49" charset="0"/>
              <a:ea typeface="仿宋" pitchFamily="49" charset="-122"/>
              <a:cs typeface="Consolas" pitchFamily="49" charset="0"/>
            </a:endParaRPr>
          </a:p>
          <a:p>
            <a:pPr algn="l"/>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69</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214290"/>
            <a:ext cx="8358246" cy="362505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Union</a:t>
            </a:r>
            <a:r>
              <a:rPr lang="en-US" altLang="zh-CN" sz="1800" smtClean="0">
                <a:solidFill>
                  <a:srgbClr val="0000FF"/>
                </a:solidFill>
                <a:latin typeface="Consolas" pitchFamily="49" charset="0"/>
                <a:ea typeface="仿宋" pitchFamily="49" charset="-122"/>
                <a:cs typeface="Consolas" pitchFamily="49" charset="0"/>
              </a:rPr>
              <a:t>(int x,int y)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并查集中</a:t>
            </a:r>
            <a:r>
              <a:rPr lang="en-US" altLang="zh-CN" sz="1800" smtClean="0">
                <a:solidFill>
                  <a:schemeClr val="bg1">
                    <a:lumMod val="50000"/>
                  </a:schemeClr>
                </a:solidFill>
                <a:latin typeface="Consolas" pitchFamily="49" charset="0"/>
                <a:ea typeface="仿宋" pitchFamily="49" charset="-122"/>
                <a:cs typeface="Consolas" pitchFamily="49" charset="0"/>
              </a:rPr>
              <a:t>x</a:t>
            </a:r>
            <a:r>
              <a:rPr lang="zh-CN" altLang="zh-CN" sz="1800" smtClean="0">
                <a:solidFill>
                  <a:schemeClr val="bg1">
                    <a:lumMod val="50000"/>
                  </a:schemeClr>
                </a:solidFill>
                <a:latin typeface="Consolas" pitchFamily="49" charset="0"/>
                <a:ea typeface="仿宋" pitchFamily="49" charset="-122"/>
                <a:cs typeface="Consolas" pitchFamily="49" charset="0"/>
              </a:rPr>
              <a:t>和</a:t>
            </a:r>
            <a:r>
              <a:rPr lang="en-US" altLang="zh-CN" sz="1800" smtClean="0">
                <a:solidFill>
                  <a:schemeClr val="bg1">
                    <a:lumMod val="50000"/>
                  </a:schemeClr>
                </a:solidFill>
                <a:latin typeface="Consolas" pitchFamily="49" charset="0"/>
                <a:ea typeface="仿宋" pitchFamily="49" charset="-122"/>
                <a:cs typeface="Consolas" pitchFamily="49" charset="0"/>
              </a:rPr>
              <a:t>y</a:t>
            </a:r>
            <a:r>
              <a:rPr lang="zh-CN" altLang="zh-CN" sz="1800" smtClean="0">
                <a:solidFill>
                  <a:schemeClr val="bg1">
                    <a:lumMod val="50000"/>
                  </a:schemeClr>
                </a:solidFill>
                <a:latin typeface="Consolas" pitchFamily="49" charset="0"/>
                <a:ea typeface="仿宋" pitchFamily="49" charset="-122"/>
                <a:cs typeface="Consolas" pitchFamily="49" charset="0"/>
              </a:rPr>
              <a:t>的两个集合的合并</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int rx=</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(x);</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int ry=</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(y);</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if (rx==ry)			</a:t>
            </a:r>
            <a:r>
              <a:rPr lang="en-US" altLang="zh-CN" sz="1800" smtClean="0">
                <a:solidFill>
                  <a:schemeClr val="bg1">
                    <a:lumMod val="50000"/>
                  </a:schemeClr>
                </a:solidFill>
                <a:latin typeface="Consolas" pitchFamily="49" charset="0"/>
                <a:ea typeface="仿宋" pitchFamily="49" charset="-122"/>
                <a:cs typeface="Consolas" pitchFamily="49" charset="0"/>
              </a:rPr>
              <a:t>//x</a:t>
            </a:r>
            <a:r>
              <a:rPr lang="zh-CN" altLang="zh-CN" sz="1800" smtClean="0">
                <a:solidFill>
                  <a:schemeClr val="bg1">
                    <a:lumMod val="50000"/>
                  </a:schemeClr>
                </a:solidFill>
                <a:latin typeface="Consolas" pitchFamily="49" charset="0"/>
                <a:ea typeface="仿宋" pitchFamily="49" charset="-122"/>
                <a:cs typeface="Consolas" pitchFamily="49" charset="0"/>
              </a:rPr>
              <a:t>和</a:t>
            </a:r>
            <a:r>
              <a:rPr lang="en-US" altLang="zh-CN" sz="1800" smtClean="0">
                <a:solidFill>
                  <a:schemeClr val="bg1">
                    <a:lumMod val="50000"/>
                  </a:schemeClr>
                </a:solidFill>
                <a:latin typeface="Consolas" pitchFamily="49" charset="0"/>
                <a:ea typeface="仿宋" pitchFamily="49" charset="-122"/>
                <a:cs typeface="Consolas" pitchFamily="49" charset="0"/>
              </a:rPr>
              <a:t>y</a:t>
            </a:r>
            <a:r>
              <a:rPr lang="zh-CN" altLang="zh-CN" sz="1800" smtClean="0">
                <a:solidFill>
                  <a:schemeClr val="bg1">
                    <a:lumMod val="50000"/>
                  </a:schemeClr>
                </a:solidFill>
                <a:latin typeface="Consolas" pitchFamily="49" charset="0"/>
                <a:ea typeface="仿宋" pitchFamily="49" charset="-122"/>
                <a:cs typeface="Consolas" pitchFamily="49" charset="0"/>
              </a:rPr>
              <a:t>属于同一棵树的情况</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return;</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if (rnk[rx]&lt;rnk[ry])</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parent[rx]=ry;		</a:t>
            </a:r>
            <a:r>
              <a:rPr lang="en-US" altLang="zh-CN" sz="1800" smtClean="0">
                <a:solidFill>
                  <a:schemeClr val="bg1">
                    <a:lumMod val="50000"/>
                  </a:schemeClr>
                </a:solidFill>
                <a:latin typeface="Consolas" pitchFamily="49" charset="0"/>
                <a:ea typeface="仿宋" pitchFamily="49" charset="-122"/>
                <a:cs typeface="Consolas" pitchFamily="49" charset="0"/>
              </a:rPr>
              <a:t>//rx</a:t>
            </a:r>
            <a:r>
              <a:rPr lang="zh-CN" altLang="zh-CN" sz="1800" smtClean="0">
                <a:solidFill>
                  <a:schemeClr val="bg1">
                    <a:lumMod val="50000"/>
                  </a:schemeClr>
                </a:solidFill>
                <a:latin typeface="Consolas" pitchFamily="49" charset="0"/>
                <a:ea typeface="仿宋" pitchFamily="49" charset="-122"/>
                <a:cs typeface="Consolas" pitchFamily="49" charset="0"/>
              </a:rPr>
              <a:t>结点作为</a:t>
            </a:r>
            <a:r>
              <a:rPr lang="en-US" altLang="zh-CN" sz="1800" smtClean="0">
                <a:solidFill>
                  <a:schemeClr val="bg1">
                    <a:lumMod val="50000"/>
                  </a:schemeClr>
                </a:solidFill>
                <a:latin typeface="Consolas" pitchFamily="49" charset="0"/>
                <a:ea typeface="仿宋" pitchFamily="49" charset="-122"/>
                <a:cs typeface="Consolas" pitchFamily="49" charset="0"/>
              </a:rPr>
              <a:t>ry</a:t>
            </a:r>
            <a:r>
              <a:rPr lang="zh-CN" altLang="zh-CN" sz="1800" smtClean="0">
                <a:solidFill>
                  <a:schemeClr val="bg1">
                    <a:lumMod val="50000"/>
                  </a:schemeClr>
                </a:solidFill>
                <a:latin typeface="Consolas" pitchFamily="49" charset="0"/>
                <a:ea typeface="仿宋" pitchFamily="49" charset="-122"/>
                <a:cs typeface="Consolas" pitchFamily="49" charset="0"/>
              </a:rPr>
              <a:t>的孩子</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else</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  if (rnk[rx]==rnk[ry])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zh-CN" sz="1800" smtClean="0">
                <a:solidFill>
                  <a:schemeClr val="bg1">
                    <a:lumMod val="50000"/>
                  </a:schemeClr>
                </a:solidFill>
                <a:latin typeface="Consolas" pitchFamily="49" charset="0"/>
                <a:ea typeface="仿宋" pitchFamily="49" charset="-122"/>
                <a:cs typeface="Consolas" pitchFamily="49" charset="0"/>
              </a:rPr>
              <a:t>秩相同，合并后</a:t>
            </a:r>
            <a:r>
              <a:rPr lang="en-US" altLang="zh-CN" sz="1800" smtClean="0">
                <a:solidFill>
                  <a:schemeClr val="bg1">
                    <a:lumMod val="50000"/>
                  </a:schemeClr>
                </a:solidFill>
                <a:latin typeface="Consolas" pitchFamily="49" charset="0"/>
                <a:ea typeface="仿宋" pitchFamily="49" charset="-122"/>
                <a:cs typeface="Consolas" pitchFamily="49" charset="0"/>
              </a:rPr>
              <a:t>rx</a:t>
            </a:r>
            <a:r>
              <a:rPr lang="zh-CN" altLang="zh-CN" sz="1800" smtClean="0">
                <a:solidFill>
                  <a:schemeClr val="bg1">
                    <a:lumMod val="50000"/>
                  </a:schemeClr>
                </a:solidFill>
                <a:latin typeface="Consolas" pitchFamily="49" charset="0"/>
                <a:ea typeface="仿宋" pitchFamily="49" charset="-122"/>
                <a:cs typeface="Consolas" pitchFamily="49" charset="0"/>
              </a:rPr>
              <a:t>的秩增</a:t>
            </a:r>
            <a:r>
              <a:rPr lang="en-US" altLang="zh-CN" sz="1800" smtClean="0">
                <a:solidFill>
                  <a:schemeClr val="bg1">
                    <a:lumMod val="50000"/>
                  </a:schemeClr>
                </a:solidFill>
                <a:latin typeface="Consolas" pitchFamily="49" charset="0"/>
                <a:ea typeface="仿宋" pitchFamily="49" charset="-122"/>
                <a:cs typeface="Consolas" pitchFamily="49" charset="0"/>
              </a:rPr>
              <a:t>1</a:t>
            </a:r>
            <a:endParaRPr lang="zh-CN" altLang="zh-CN" sz="1800" smtClean="0">
              <a:solidFill>
                <a:schemeClr val="bg1">
                  <a:lumMod val="50000"/>
                </a:schemeClr>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rnk[rx]++;</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parent[ry]=rx;		</a:t>
            </a:r>
            <a:r>
              <a:rPr lang="en-US" altLang="zh-CN" sz="1800" smtClean="0">
                <a:solidFill>
                  <a:schemeClr val="bg1">
                    <a:lumMod val="50000"/>
                  </a:schemeClr>
                </a:solidFill>
                <a:latin typeface="Consolas" pitchFamily="49" charset="0"/>
                <a:ea typeface="仿宋" pitchFamily="49" charset="-122"/>
                <a:cs typeface="Consolas" pitchFamily="49" charset="0"/>
              </a:rPr>
              <a:t>//ry</a:t>
            </a:r>
            <a:r>
              <a:rPr lang="zh-CN" altLang="zh-CN" sz="1800" smtClean="0">
                <a:solidFill>
                  <a:schemeClr val="bg1">
                    <a:lumMod val="50000"/>
                  </a:schemeClr>
                </a:solidFill>
                <a:latin typeface="Consolas" pitchFamily="49" charset="0"/>
                <a:ea typeface="仿宋" pitchFamily="49" charset="-122"/>
                <a:cs typeface="Consolas" pitchFamily="49" charset="0"/>
              </a:rPr>
              <a:t>结点作为</a:t>
            </a:r>
            <a:r>
              <a:rPr lang="en-US" altLang="zh-CN" sz="1800" smtClean="0">
                <a:solidFill>
                  <a:schemeClr val="bg1">
                    <a:lumMod val="50000"/>
                  </a:schemeClr>
                </a:solidFill>
                <a:latin typeface="Consolas" pitchFamily="49" charset="0"/>
                <a:ea typeface="仿宋" pitchFamily="49" charset="-122"/>
                <a:cs typeface="Consolas" pitchFamily="49" charset="0"/>
              </a:rPr>
              <a:t>rx</a:t>
            </a:r>
            <a:r>
              <a:rPr lang="zh-CN" altLang="zh-CN" sz="1800" smtClean="0">
                <a:solidFill>
                  <a:schemeClr val="bg1">
                    <a:lumMod val="50000"/>
                  </a:schemeClr>
                </a:solidFill>
                <a:latin typeface="Consolas" pitchFamily="49" charset="0"/>
                <a:ea typeface="仿宋" pitchFamily="49" charset="-122"/>
                <a:cs typeface="Consolas" pitchFamily="49" charset="0"/>
              </a:rPr>
              <a:t>的孩子</a:t>
            </a: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endParaRPr lang="zh-CN" altLang="zh-CN" sz="1800" smtClean="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428728" y="6000768"/>
            <a:ext cx="2857520"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itchFamily="49" charset="0"/>
                <a:ea typeface="仿宋" pitchFamily="49" charset="-122"/>
                <a:cs typeface="Consolas" pitchFamily="49" charset="0"/>
              </a:rPr>
              <a:t>时间复杂度为</a:t>
            </a:r>
            <a:r>
              <a:rPr lang="en-US" altLang="zh-CN" sz="2000" smtClean="0">
                <a:solidFill>
                  <a:srgbClr val="0000FF"/>
                </a:solidFill>
                <a:latin typeface="Consolas" pitchFamily="49" charset="0"/>
                <a:ea typeface="仿宋" pitchFamily="49" charset="-122"/>
                <a:cs typeface="Consolas" pitchFamily="49" charset="0"/>
              </a:rPr>
              <a:t>O(log</a:t>
            </a:r>
            <a:r>
              <a:rPr lang="en-US" altLang="zh-CN" sz="2000" baseline="-25000" smtClean="0">
                <a:solidFill>
                  <a:srgbClr val="0000FF"/>
                </a:solidFill>
                <a:latin typeface="Consolas" pitchFamily="49" charset="0"/>
                <a:ea typeface="仿宋" pitchFamily="49" charset="-122"/>
                <a:cs typeface="Consolas" pitchFamily="49" charset="0"/>
              </a:rPr>
              <a:t>2</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a:t>
            </a:r>
            <a:r>
              <a:rPr lang="zh-CN" altLang="en-US" sz="2000" smtClean="0">
                <a:solidFill>
                  <a:srgbClr val="0000FF"/>
                </a:solidFill>
                <a:latin typeface="Consolas" pitchFamily="49" charset="0"/>
                <a:ea typeface="仿宋" pitchFamily="49" charset="-122"/>
                <a:cs typeface="Consolas" pitchFamily="49" charset="0"/>
              </a:rPr>
              <a:t>。</a:t>
            </a:r>
          </a:p>
        </p:txBody>
      </p:sp>
      <p:grpSp>
        <p:nvGrpSpPr>
          <p:cNvPr id="2" name="组合 25"/>
          <p:cNvGrpSpPr/>
          <p:nvPr/>
        </p:nvGrpSpPr>
        <p:grpSpPr>
          <a:xfrm>
            <a:off x="1357290" y="4143380"/>
            <a:ext cx="4357718" cy="1757374"/>
            <a:chOff x="1285852" y="4429132"/>
            <a:chExt cx="4357718" cy="1757374"/>
          </a:xfrm>
        </p:grpSpPr>
        <p:grpSp>
          <p:nvGrpSpPr>
            <p:cNvPr id="3" name="组合 23"/>
            <p:cNvGrpSpPr/>
            <p:nvPr/>
          </p:nvGrpSpPr>
          <p:grpSpPr>
            <a:xfrm>
              <a:off x="1285852" y="4572008"/>
              <a:ext cx="928694" cy="1285884"/>
              <a:chOff x="1285852" y="4572008"/>
              <a:chExt cx="928694" cy="1285884"/>
            </a:xfrm>
          </p:grpSpPr>
          <p:sp>
            <p:nvSpPr>
              <p:cNvPr id="7" name="Oval 20"/>
              <p:cNvSpPr>
                <a:spLocks noChangeArrowheads="1"/>
              </p:cNvSpPr>
              <p:nvPr/>
            </p:nvSpPr>
            <p:spPr bwMode="auto">
              <a:xfrm>
                <a:off x="1295377" y="5460734"/>
                <a:ext cx="334703" cy="382870"/>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x</a:t>
                </a:r>
                <a:endPar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8" name="Oval 20"/>
              <p:cNvSpPr>
                <a:spLocks noChangeArrowheads="1"/>
              </p:cNvSpPr>
              <p:nvPr/>
            </p:nvSpPr>
            <p:spPr bwMode="auto">
              <a:xfrm>
                <a:off x="1285852" y="4572008"/>
                <a:ext cx="334703" cy="382870"/>
              </a:xfrm>
              <a:prstGeom prst="ellipse">
                <a:avLst/>
              </a:prstGeom>
              <a:ln w="19050">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rx</a:t>
                </a:r>
                <a:endPar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cxnSp>
            <p:nvCxnSpPr>
              <p:cNvPr id="10" name="直接箭头连接符 9"/>
              <p:cNvCxnSpPr>
                <a:stCxn id="7" idx="0"/>
                <a:endCxn id="8" idx="4"/>
              </p:cNvCxnSpPr>
              <p:nvPr/>
            </p:nvCxnSpPr>
            <p:spPr>
              <a:xfrm rot="16200000" flipV="1">
                <a:off x="1205039" y="5203043"/>
                <a:ext cx="505856" cy="9525"/>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11" name="Oval 20"/>
              <p:cNvSpPr>
                <a:spLocks noChangeArrowheads="1"/>
              </p:cNvSpPr>
              <p:nvPr/>
            </p:nvSpPr>
            <p:spPr bwMode="auto">
              <a:xfrm>
                <a:off x="1879843" y="5475022"/>
                <a:ext cx="334703" cy="382870"/>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y</a:t>
                </a:r>
                <a:endPar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2" name="Oval 20"/>
              <p:cNvSpPr>
                <a:spLocks noChangeArrowheads="1"/>
              </p:cNvSpPr>
              <p:nvPr/>
            </p:nvSpPr>
            <p:spPr bwMode="auto">
              <a:xfrm>
                <a:off x="1870318" y="4586296"/>
                <a:ext cx="334703" cy="382870"/>
              </a:xfrm>
              <a:prstGeom prst="ellipse">
                <a:avLst/>
              </a:prstGeom>
              <a:ln w="19050">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ry</a:t>
                </a:r>
                <a:endPar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cxnSp>
            <p:nvCxnSpPr>
              <p:cNvPr id="13" name="直接箭头连接符 12"/>
              <p:cNvCxnSpPr>
                <a:stCxn id="11" idx="0"/>
                <a:endCxn id="12" idx="4"/>
              </p:cNvCxnSpPr>
              <p:nvPr/>
            </p:nvCxnSpPr>
            <p:spPr>
              <a:xfrm rot="16200000" flipV="1">
                <a:off x="1789505" y="5217331"/>
                <a:ext cx="505856" cy="9525"/>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grpSp>
        <p:sp>
          <p:nvSpPr>
            <p:cNvPr id="14" name="右箭头 13"/>
            <p:cNvSpPr/>
            <p:nvPr/>
          </p:nvSpPr>
          <p:spPr>
            <a:xfrm>
              <a:off x="2643174" y="5072074"/>
              <a:ext cx="1571636" cy="214314"/>
            </a:xfrm>
            <a:prstGeom prst="rightArrow">
              <a:avLst/>
            </a:prstGeom>
            <a:ln>
              <a:tailEnd type="arrow"/>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b="0">
                <a:solidFill>
                  <a:srgbClr val="0000FF"/>
                </a:solidFill>
                <a:latin typeface="Consolas" pitchFamily="49" charset="0"/>
                <a:ea typeface="仿宋" pitchFamily="49" charset="-122"/>
                <a:cs typeface="Consolas" pitchFamily="49" charset="0"/>
              </a:endParaRPr>
            </a:p>
          </p:txBody>
        </p:sp>
        <p:sp>
          <p:nvSpPr>
            <p:cNvPr id="15" name="TextBox 14"/>
            <p:cNvSpPr txBox="1"/>
            <p:nvPr/>
          </p:nvSpPr>
          <p:spPr>
            <a:xfrm>
              <a:off x="2500298" y="4662082"/>
              <a:ext cx="2000264" cy="338554"/>
            </a:xfrm>
            <a:prstGeom prst="rect">
              <a:avLst/>
            </a:prstGeom>
            <a:noFill/>
          </p:spPr>
          <p:txBody>
            <a:bodyPr wrap="square" rtlCol="0">
              <a:spAutoFit/>
            </a:bodyPr>
            <a:lstStyle/>
            <a:p>
              <a:pPr algn="l">
                <a:lnSpc>
                  <a:spcPct val="100000"/>
                </a:lnSpc>
                <a:spcBef>
                  <a:spcPts val="0"/>
                </a:spcBef>
              </a:pPr>
              <a:r>
                <a:rPr lang="en-US" altLang="zh-CN" sz="1600" b="0" smtClean="0">
                  <a:solidFill>
                    <a:srgbClr val="0000FF"/>
                  </a:solidFill>
                  <a:latin typeface="Consolas" pitchFamily="49" charset="0"/>
                  <a:ea typeface="仿宋" pitchFamily="49" charset="-122"/>
                  <a:cs typeface="Consolas" pitchFamily="49" charset="0"/>
                </a:rPr>
                <a:t>rank[rx]&lt;rank[ry]</a:t>
              </a:r>
              <a:endParaRPr lang="zh-CN" altLang="en-US" sz="1600" b="0" smtClean="0">
                <a:solidFill>
                  <a:srgbClr val="0000FF"/>
                </a:solidFill>
                <a:latin typeface="Consolas" pitchFamily="49" charset="0"/>
                <a:ea typeface="仿宋" pitchFamily="49" charset="-122"/>
                <a:cs typeface="Consolas" pitchFamily="49" charset="0"/>
              </a:endParaRPr>
            </a:p>
          </p:txBody>
        </p:sp>
        <p:grpSp>
          <p:nvGrpSpPr>
            <p:cNvPr id="4" name="组合 24"/>
            <p:cNvGrpSpPr/>
            <p:nvPr/>
          </p:nvGrpSpPr>
          <p:grpSpPr>
            <a:xfrm>
              <a:off x="4714876" y="4429132"/>
              <a:ext cx="928694" cy="1757374"/>
              <a:chOff x="5429256" y="4586296"/>
              <a:chExt cx="928694" cy="1757374"/>
            </a:xfrm>
          </p:grpSpPr>
          <p:sp>
            <p:nvSpPr>
              <p:cNvPr id="16" name="Oval 20"/>
              <p:cNvSpPr>
                <a:spLocks noChangeArrowheads="1"/>
              </p:cNvSpPr>
              <p:nvPr/>
            </p:nvSpPr>
            <p:spPr bwMode="auto">
              <a:xfrm>
                <a:off x="5438781" y="5960800"/>
                <a:ext cx="334703" cy="382870"/>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x</a:t>
                </a:r>
                <a:endPar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17" name="Oval 20"/>
              <p:cNvSpPr>
                <a:spLocks noChangeArrowheads="1"/>
              </p:cNvSpPr>
              <p:nvPr/>
            </p:nvSpPr>
            <p:spPr bwMode="auto">
              <a:xfrm>
                <a:off x="5429256" y="5072074"/>
                <a:ext cx="334703" cy="382870"/>
              </a:xfrm>
              <a:prstGeom prst="ellipse">
                <a:avLst/>
              </a:prstGeom>
              <a:ln w="19050">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rx</a:t>
                </a:r>
                <a:endPar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cxnSp>
            <p:nvCxnSpPr>
              <p:cNvPr id="18" name="直接箭头连接符 17"/>
              <p:cNvCxnSpPr>
                <a:stCxn id="16" idx="0"/>
                <a:endCxn id="17" idx="4"/>
              </p:cNvCxnSpPr>
              <p:nvPr/>
            </p:nvCxnSpPr>
            <p:spPr>
              <a:xfrm rot="16200000" flipV="1">
                <a:off x="5348443" y="5703109"/>
                <a:ext cx="505856" cy="9525"/>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19" name="Oval 20"/>
              <p:cNvSpPr>
                <a:spLocks noChangeArrowheads="1"/>
              </p:cNvSpPr>
              <p:nvPr/>
            </p:nvSpPr>
            <p:spPr bwMode="auto">
              <a:xfrm>
                <a:off x="6023247" y="5475022"/>
                <a:ext cx="334703" cy="382870"/>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y</a:t>
                </a:r>
                <a:endPar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sp>
            <p:nvSpPr>
              <p:cNvPr id="20" name="Oval 20"/>
              <p:cNvSpPr>
                <a:spLocks noChangeArrowheads="1"/>
              </p:cNvSpPr>
              <p:nvPr/>
            </p:nvSpPr>
            <p:spPr bwMode="auto">
              <a:xfrm>
                <a:off x="6013722" y="4586296"/>
                <a:ext cx="334703" cy="382870"/>
              </a:xfrm>
              <a:prstGeom prst="ellipse">
                <a:avLst/>
              </a:prstGeom>
              <a:ln w="19050">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36529" rIns="0" bIns="36529" numCol="1" anchor="t" anchorCtr="0" compatLnSpc="1">
                <a:prstTxWarp prst="textNoShape">
                  <a:avLst/>
                </a:prstTxWarp>
              </a:bodyPr>
              <a:lstStyle/>
              <a:p>
                <a:pPr marL="0" marR="0" lvl="0" algn="ctr" defTabSz="914400" rtl="0" eaLnBrk="1" fontAlgn="base" latinLnBrk="0" hangingPunct="1">
                  <a:lnSpc>
                    <a:spcPts val="1600"/>
                  </a:lnSpc>
                  <a:spcBef>
                    <a:spcPct val="0"/>
                  </a:spcBef>
                  <a:spcAft>
                    <a:spcPct val="0"/>
                  </a:spcAft>
                  <a:buClrTx/>
                  <a:buSzTx/>
                  <a:buFontTx/>
                  <a:buNone/>
                  <a:tabLst/>
                </a:pPr>
                <a:r>
                  <a:rPr kumimoji="0" lang="en-US" altLang="zh-CN" sz="1600" b="0" smtClean="0">
                    <a:solidFill>
                      <a:srgbClr val="0000FF"/>
                    </a:solidFill>
                    <a:latin typeface="Consolas" pitchFamily="49" charset="0"/>
                    <a:ea typeface="仿宋" pitchFamily="49" charset="-122"/>
                    <a:cs typeface="Consolas" pitchFamily="49" charset="0"/>
                  </a:rPr>
                  <a:t>ry</a:t>
                </a:r>
                <a:endParaRPr kumimoji="0" lang="en-US" altLang="zh-CN" sz="1600" b="0" i="0" u="none" strike="noStrike" cap="none" normalizeH="0" baseline="0" smtClean="0">
                  <a:ln>
                    <a:noFill/>
                  </a:ln>
                  <a:solidFill>
                    <a:srgbClr val="0000FF"/>
                  </a:solidFill>
                  <a:effectLst/>
                  <a:latin typeface="Consolas" pitchFamily="49" charset="0"/>
                  <a:ea typeface="仿宋" pitchFamily="49" charset="-122"/>
                  <a:cs typeface="Consolas" pitchFamily="49" charset="0"/>
                </a:endParaRPr>
              </a:p>
            </p:txBody>
          </p:sp>
          <p:cxnSp>
            <p:nvCxnSpPr>
              <p:cNvPr id="21" name="直接箭头连接符 20"/>
              <p:cNvCxnSpPr>
                <a:stCxn id="19" idx="0"/>
                <a:endCxn id="20" idx="4"/>
              </p:cNvCxnSpPr>
              <p:nvPr/>
            </p:nvCxnSpPr>
            <p:spPr>
              <a:xfrm rot="16200000" flipV="1">
                <a:off x="5932909" y="5217331"/>
                <a:ext cx="505856" cy="9525"/>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cxnSp>
            <p:nvCxnSpPr>
              <p:cNvPr id="23" name="直接箭头连接符 22"/>
              <p:cNvCxnSpPr>
                <a:stCxn id="17" idx="7"/>
                <a:endCxn id="20" idx="2"/>
              </p:cNvCxnSpPr>
              <p:nvPr/>
            </p:nvCxnSpPr>
            <p:spPr>
              <a:xfrm rot="5400000" flipH="1" flipV="1">
                <a:off x="5689126" y="4803549"/>
                <a:ext cx="350413" cy="298779"/>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grpSp>
      <p:sp>
        <p:nvSpPr>
          <p:cNvPr id="24" name="灯片编号占位符 23"/>
          <p:cNvSpPr>
            <a:spLocks noGrp="1"/>
          </p:cNvSpPr>
          <p:nvPr>
            <p:ph type="sldNum" sz="quarter" idx="12"/>
          </p:nvPr>
        </p:nvSpPr>
        <p:spPr/>
        <p:txBody>
          <a:bodyPr/>
          <a:lstStyle/>
          <a:p>
            <a:fld id="{67864EE2-EAB3-4814-A7EB-820BD7610F1E}" type="slidenum">
              <a:rPr lang="en-US" altLang="zh-CN" smtClean="0"/>
              <a:pPr/>
              <a:t>70</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85728"/>
            <a:ext cx="7715304" cy="614257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spcBef>
                <a:spcPts val="600"/>
              </a:spcBef>
            </a:pPr>
            <a:r>
              <a:rPr lang="zh-CN" altLang="zh-CN" sz="2000" smtClean="0">
                <a:solidFill>
                  <a:srgbClr val="FF0000"/>
                </a:solidFill>
                <a:latin typeface="Consolas" pitchFamily="49" charset="0"/>
                <a:ea typeface="仿宋" pitchFamily="49" charset="-122"/>
                <a:cs typeface="Consolas" pitchFamily="49" charset="0"/>
              </a:rPr>
              <a:t>【</a:t>
            </a:r>
            <a:r>
              <a:rPr lang="zh-CN" altLang="zh-CN" sz="2000" smtClean="0">
                <a:solidFill>
                  <a:srgbClr val="FF0000"/>
                </a:solidFill>
                <a:latin typeface="微软雅黑" pitchFamily="34" charset="-122"/>
                <a:ea typeface="微软雅黑" pitchFamily="34" charset="-122"/>
              </a:rPr>
              <a:t>实战</a:t>
            </a:r>
            <a:r>
              <a:rPr lang="en-US" altLang="zh-CN" sz="2000" smtClean="0">
                <a:solidFill>
                  <a:srgbClr val="FF0000"/>
                </a:solidFill>
                <a:latin typeface="微软雅黑" pitchFamily="34" charset="-122"/>
                <a:ea typeface="微软雅黑" pitchFamily="34" charset="-122"/>
              </a:rPr>
              <a:t>7.5 </a:t>
            </a:r>
            <a:r>
              <a:rPr lang="zh-CN" altLang="zh-CN" sz="2000" smtClean="0">
                <a:solidFill>
                  <a:srgbClr val="FF0000"/>
                </a:solidFill>
                <a:latin typeface="Consolas" pitchFamily="49" charset="0"/>
                <a:ea typeface="仿宋" pitchFamily="49" charset="-122"/>
                <a:cs typeface="Consolas" pitchFamily="49" charset="0"/>
              </a:rPr>
              <a:t>】</a:t>
            </a:r>
            <a:r>
              <a:rPr lang="en-US" altLang="zh-CN" sz="2000" smtClean="0">
                <a:solidFill>
                  <a:srgbClr val="0000FF"/>
                </a:solidFill>
                <a:latin typeface="Consolas" pitchFamily="49" charset="0"/>
                <a:ea typeface="仿宋" pitchFamily="49" charset="-122"/>
                <a:cs typeface="Consolas" pitchFamily="49" charset="0"/>
              </a:rPr>
              <a:t>HDU1232</a:t>
            </a:r>
            <a:r>
              <a:rPr lang="zh-CN" altLang="zh-CN" sz="2000" smtClean="0">
                <a:solidFill>
                  <a:srgbClr val="0000FF"/>
                </a:solidFill>
                <a:latin typeface="Consolas" pitchFamily="49" charset="0"/>
                <a:ea typeface="仿宋" pitchFamily="49" charset="-122"/>
                <a:cs typeface="Consolas" pitchFamily="49" charset="0"/>
              </a:rPr>
              <a:t>—畅通工程问题。</a:t>
            </a:r>
          </a:p>
          <a:p>
            <a:pPr algn="l">
              <a:lnSpc>
                <a:spcPts val="28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FF0000"/>
                </a:solidFill>
                <a:latin typeface="Consolas" pitchFamily="49" charset="0"/>
                <a:ea typeface="仿宋" pitchFamily="49" charset="-122"/>
                <a:cs typeface="Consolas" pitchFamily="49" charset="0"/>
              </a:rPr>
              <a:t>问题描述：</a:t>
            </a:r>
            <a:r>
              <a:rPr lang="zh-CN" altLang="zh-CN" sz="2000" smtClean="0">
                <a:solidFill>
                  <a:srgbClr val="0000FF"/>
                </a:solidFill>
                <a:latin typeface="Consolas" pitchFamily="49" charset="0"/>
                <a:ea typeface="仿宋" pitchFamily="49" charset="-122"/>
                <a:cs typeface="Consolas" pitchFamily="49" charset="0"/>
              </a:rPr>
              <a:t>某省调查城镇交通状况，得到现有城镇道路统计表，表中列出了每条道路直接连通的城镇。省政府“畅通工程”的目标是使全省任何两个城镇间都可以实现交通（但不一定有直接的道路相连，只要互相间接通过道路可达即可）。问最少还需要建设多少条道路？ </a:t>
            </a:r>
          </a:p>
          <a:p>
            <a:pPr algn="l">
              <a:lnSpc>
                <a:spcPts val="2800"/>
              </a:lnSpc>
              <a:spcBef>
                <a:spcPts val="600"/>
              </a:spcBef>
            </a:pPr>
            <a:r>
              <a:rPr lang="en-US" altLang="zh-CN" sz="2000" smtClean="0">
                <a:solidFill>
                  <a:srgbClr val="0000FF"/>
                </a:solidFill>
                <a:latin typeface="Consolas" pitchFamily="49" charset="0"/>
                <a:ea typeface="仿宋" pitchFamily="49" charset="-122"/>
                <a:cs typeface="Consolas" pitchFamily="49" charset="0"/>
              </a:rPr>
              <a:t>   </a:t>
            </a:r>
            <a:r>
              <a:rPr lang="zh-CN" altLang="zh-CN" sz="2000" smtClean="0">
                <a:solidFill>
                  <a:srgbClr val="FF0000"/>
                </a:solidFill>
                <a:latin typeface="Consolas" pitchFamily="49" charset="0"/>
                <a:ea typeface="仿宋" pitchFamily="49" charset="-122"/>
                <a:cs typeface="Consolas" pitchFamily="49" charset="0"/>
              </a:rPr>
              <a:t>输入格式：</a:t>
            </a:r>
            <a:r>
              <a:rPr lang="zh-CN" altLang="zh-CN" sz="2000" smtClean="0">
                <a:solidFill>
                  <a:srgbClr val="0000FF"/>
                </a:solidFill>
                <a:latin typeface="Consolas" pitchFamily="49" charset="0"/>
                <a:ea typeface="仿宋" pitchFamily="49" charset="-122"/>
                <a:cs typeface="Consolas" pitchFamily="49" charset="0"/>
              </a:rPr>
              <a:t>测试输入包含若干测试用例。每个测试用例的第</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行给出两个正整数，分别是城镇数目</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a:t>
            </a:r>
            <a:r>
              <a:rPr lang="en-US" altLang="zh-CN" sz="2000" i="1" smtClean="0">
                <a:solidFill>
                  <a:srgbClr val="0000FF"/>
                </a:solidFill>
                <a:latin typeface="Consolas" pitchFamily="49" charset="0"/>
                <a:ea typeface="仿宋" pitchFamily="49" charset="-122"/>
                <a:cs typeface="Consolas" pitchFamily="49" charset="0"/>
              </a:rPr>
              <a:t>N</a:t>
            </a:r>
            <a:r>
              <a:rPr lang="en-US" altLang="zh-CN" sz="2000" smtClean="0">
                <a:solidFill>
                  <a:srgbClr val="0000FF"/>
                </a:solidFill>
                <a:latin typeface="Consolas" pitchFamily="49" charset="0"/>
                <a:ea typeface="仿宋" pitchFamily="49" charset="-122"/>
                <a:cs typeface="Consolas" pitchFamily="49" charset="0"/>
              </a:rPr>
              <a:t>&lt;1000</a:t>
            </a:r>
            <a:r>
              <a:rPr lang="zh-CN" altLang="zh-CN" sz="2000" smtClean="0">
                <a:solidFill>
                  <a:srgbClr val="0000FF"/>
                </a:solidFill>
                <a:latin typeface="Consolas" pitchFamily="49" charset="0"/>
                <a:ea typeface="仿宋" pitchFamily="49" charset="-122"/>
                <a:cs typeface="Consolas" pitchFamily="49" charset="0"/>
              </a:rPr>
              <a:t>）和道路数目</a:t>
            </a:r>
            <a:r>
              <a:rPr lang="en-US" altLang="zh-CN" sz="2000" i="1" smtClean="0">
                <a:solidFill>
                  <a:srgbClr val="0000FF"/>
                </a:solidFill>
                <a:latin typeface="Consolas" pitchFamily="49" charset="0"/>
                <a:ea typeface="仿宋" pitchFamily="49" charset="-122"/>
                <a:cs typeface="Consolas" pitchFamily="49" charset="0"/>
              </a:rPr>
              <a:t>M</a:t>
            </a:r>
            <a:r>
              <a:rPr lang="zh-CN" altLang="zh-CN" sz="2000" smtClean="0">
                <a:solidFill>
                  <a:srgbClr val="0000FF"/>
                </a:solidFill>
                <a:latin typeface="Consolas" pitchFamily="49" charset="0"/>
                <a:ea typeface="仿宋" pitchFamily="49" charset="-122"/>
                <a:cs typeface="Consolas" pitchFamily="49" charset="0"/>
              </a:rPr>
              <a:t>，随后的</a:t>
            </a:r>
            <a:r>
              <a:rPr lang="en-US" altLang="zh-CN" sz="2000" i="1" smtClean="0">
                <a:solidFill>
                  <a:srgbClr val="0000FF"/>
                </a:solidFill>
                <a:latin typeface="Consolas" pitchFamily="49" charset="0"/>
                <a:ea typeface="仿宋" pitchFamily="49" charset="-122"/>
                <a:cs typeface="Consolas" pitchFamily="49" charset="0"/>
              </a:rPr>
              <a:t>M</a:t>
            </a:r>
            <a:r>
              <a:rPr lang="zh-CN" altLang="zh-CN" sz="2000" smtClean="0">
                <a:solidFill>
                  <a:srgbClr val="0000FF"/>
                </a:solidFill>
                <a:latin typeface="Consolas" pitchFamily="49" charset="0"/>
                <a:ea typeface="仿宋" pitchFamily="49" charset="-122"/>
                <a:cs typeface="Consolas" pitchFamily="49" charset="0"/>
              </a:rPr>
              <a:t>行对应</a:t>
            </a:r>
            <a:r>
              <a:rPr lang="en-US" altLang="zh-CN" sz="2000" i="1" smtClean="0">
                <a:solidFill>
                  <a:srgbClr val="0000FF"/>
                </a:solidFill>
                <a:latin typeface="Consolas" pitchFamily="49" charset="0"/>
                <a:ea typeface="仿宋" pitchFamily="49" charset="-122"/>
                <a:cs typeface="Consolas" pitchFamily="49" charset="0"/>
              </a:rPr>
              <a:t>M</a:t>
            </a:r>
            <a:r>
              <a:rPr lang="zh-CN" altLang="zh-CN" sz="2000" smtClean="0">
                <a:solidFill>
                  <a:srgbClr val="0000FF"/>
                </a:solidFill>
                <a:latin typeface="Consolas" pitchFamily="49" charset="0"/>
                <a:ea typeface="仿宋" pitchFamily="49" charset="-122"/>
                <a:cs typeface="Consolas" pitchFamily="49" charset="0"/>
              </a:rPr>
              <a:t>条道路，每行给出一对正整数，分别是该条道路直接连通的两个城镇的编号。为简单起见，城镇从</a:t>
            </a:r>
            <a:r>
              <a:rPr lang="en-US" altLang="zh-CN" sz="2000" smtClean="0">
                <a:solidFill>
                  <a:srgbClr val="0000FF"/>
                </a:solidFill>
                <a:latin typeface="Consolas" pitchFamily="49" charset="0"/>
                <a:ea typeface="仿宋" pitchFamily="49" charset="-122"/>
                <a:cs typeface="Consolas" pitchFamily="49" charset="0"/>
              </a:rPr>
              <a:t>1</a:t>
            </a:r>
            <a:r>
              <a:rPr lang="zh-CN" altLang="zh-CN" sz="2000" smtClean="0">
                <a:solidFill>
                  <a:srgbClr val="0000FF"/>
                </a:solidFill>
                <a:latin typeface="Consolas" pitchFamily="49" charset="0"/>
                <a:ea typeface="仿宋" pitchFamily="49" charset="-122"/>
                <a:cs typeface="Consolas" pitchFamily="49" charset="0"/>
              </a:rPr>
              <a:t>到</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编号。注意两个城市之间可以有多条道路相通，也就是说：</a:t>
            </a:r>
          </a:p>
          <a:p>
            <a:pPr algn="l">
              <a:lnSpc>
                <a:spcPct val="100000"/>
              </a:lnSpc>
              <a:spcBef>
                <a:spcPts val="600"/>
              </a:spcBef>
            </a:pPr>
            <a:r>
              <a:rPr lang="en-US" altLang="zh-CN" sz="2000" smtClean="0">
                <a:solidFill>
                  <a:srgbClr val="0000FF"/>
                </a:solidFill>
                <a:latin typeface="Consolas" pitchFamily="49" charset="0"/>
                <a:ea typeface="仿宋" pitchFamily="49" charset="-122"/>
                <a:cs typeface="Consolas" pitchFamily="49" charset="0"/>
              </a:rPr>
              <a:t>   3 3</a:t>
            </a:r>
            <a:endParaRPr lang="zh-CN" altLang="zh-CN" sz="2000" smtClean="0">
              <a:solidFill>
                <a:srgbClr val="0000FF"/>
              </a:solidFill>
              <a:latin typeface="Consolas" pitchFamily="49" charset="0"/>
              <a:ea typeface="仿宋" pitchFamily="49" charset="-122"/>
              <a:cs typeface="Consolas" pitchFamily="49" charset="0"/>
            </a:endParaRPr>
          </a:p>
          <a:p>
            <a:pPr algn="l">
              <a:lnSpc>
                <a:spcPct val="100000"/>
              </a:lnSpc>
              <a:spcBef>
                <a:spcPts val="600"/>
              </a:spcBef>
            </a:pPr>
            <a:r>
              <a:rPr lang="en-US" altLang="zh-CN" sz="2000" smtClean="0">
                <a:solidFill>
                  <a:srgbClr val="0000FF"/>
                </a:solidFill>
                <a:latin typeface="Consolas" pitchFamily="49" charset="0"/>
                <a:ea typeface="仿宋" pitchFamily="49" charset="-122"/>
                <a:cs typeface="Consolas" pitchFamily="49" charset="0"/>
              </a:rPr>
              <a:t>   1 2</a:t>
            </a:r>
            <a:endParaRPr lang="zh-CN" altLang="zh-CN" sz="2000" smtClean="0">
              <a:solidFill>
                <a:srgbClr val="0000FF"/>
              </a:solidFill>
              <a:latin typeface="Consolas" pitchFamily="49" charset="0"/>
              <a:ea typeface="仿宋" pitchFamily="49" charset="-122"/>
              <a:cs typeface="Consolas" pitchFamily="49" charset="0"/>
            </a:endParaRPr>
          </a:p>
          <a:p>
            <a:pPr algn="l">
              <a:lnSpc>
                <a:spcPct val="100000"/>
              </a:lnSpc>
              <a:spcBef>
                <a:spcPts val="600"/>
              </a:spcBef>
            </a:pPr>
            <a:r>
              <a:rPr lang="en-US" altLang="zh-CN" sz="2000" smtClean="0">
                <a:solidFill>
                  <a:srgbClr val="0000FF"/>
                </a:solidFill>
                <a:latin typeface="Consolas" pitchFamily="49" charset="0"/>
                <a:ea typeface="仿宋" pitchFamily="49" charset="-122"/>
                <a:cs typeface="Consolas" pitchFamily="49" charset="0"/>
              </a:rPr>
              <a:t>   1 2</a:t>
            </a:r>
            <a:endParaRPr lang="zh-CN" altLang="zh-CN" sz="2000" smtClean="0">
              <a:solidFill>
                <a:srgbClr val="0000FF"/>
              </a:solidFill>
              <a:latin typeface="Consolas" pitchFamily="49" charset="0"/>
              <a:ea typeface="仿宋" pitchFamily="49" charset="-122"/>
              <a:cs typeface="Consolas" pitchFamily="49" charset="0"/>
            </a:endParaRPr>
          </a:p>
          <a:p>
            <a:pPr algn="l">
              <a:lnSpc>
                <a:spcPct val="100000"/>
              </a:lnSpc>
              <a:spcBef>
                <a:spcPts val="600"/>
              </a:spcBef>
            </a:pPr>
            <a:r>
              <a:rPr lang="en-US" altLang="zh-CN" sz="2000" smtClean="0">
                <a:solidFill>
                  <a:srgbClr val="0000FF"/>
                </a:solidFill>
                <a:latin typeface="Consolas" pitchFamily="49" charset="0"/>
                <a:ea typeface="仿宋" pitchFamily="49" charset="-122"/>
                <a:cs typeface="Consolas" pitchFamily="49" charset="0"/>
              </a:rPr>
              <a:t>   2 1</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800"/>
              </a:lnSpc>
              <a:spcBef>
                <a:spcPts val="600"/>
              </a:spcBef>
            </a:pPr>
            <a:r>
              <a:rPr lang="zh-CN" altLang="zh-CN" sz="2000" smtClean="0">
                <a:solidFill>
                  <a:srgbClr val="0000FF"/>
                </a:solidFill>
                <a:latin typeface="Consolas" pitchFamily="49" charset="0"/>
                <a:ea typeface="仿宋" pitchFamily="49" charset="-122"/>
                <a:cs typeface="Consolas" pitchFamily="49" charset="0"/>
              </a:rPr>
              <a:t>这种输入也是合法的。当</a:t>
            </a:r>
            <a:r>
              <a:rPr lang="en-US" altLang="zh-CN" sz="2000" i="1" smtClean="0">
                <a:solidFill>
                  <a:srgbClr val="0000FF"/>
                </a:solidFill>
                <a:latin typeface="Consolas" pitchFamily="49" charset="0"/>
                <a:ea typeface="仿宋" pitchFamily="49" charset="-122"/>
                <a:cs typeface="Consolas" pitchFamily="49" charset="0"/>
              </a:rPr>
              <a:t>N</a:t>
            </a:r>
            <a:r>
              <a:rPr lang="zh-CN" altLang="zh-CN" sz="2000" smtClean="0">
                <a:solidFill>
                  <a:srgbClr val="0000FF"/>
                </a:solidFill>
                <a:latin typeface="Consolas" pitchFamily="49" charset="0"/>
                <a:ea typeface="仿宋" pitchFamily="49" charset="-122"/>
                <a:cs typeface="Consolas" pitchFamily="49" charset="0"/>
              </a:rPr>
              <a:t>为</a:t>
            </a:r>
            <a:r>
              <a:rPr lang="en-US" altLang="zh-CN" sz="2000" smtClean="0">
                <a:solidFill>
                  <a:srgbClr val="0000FF"/>
                </a:solidFill>
                <a:latin typeface="Consolas" pitchFamily="49" charset="0"/>
                <a:ea typeface="仿宋" pitchFamily="49" charset="-122"/>
                <a:cs typeface="Consolas" pitchFamily="49" charset="0"/>
              </a:rPr>
              <a:t>0</a:t>
            </a:r>
            <a:r>
              <a:rPr lang="zh-CN" altLang="zh-CN" sz="2000" smtClean="0">
                <a:solidFill>
                  <a:srgbClr val="0000FF"/>
                </a:solidFill>
                <a:latin typeface="Consolas" pitchFamily="49" charset="0"/>
                <a:ea typeface="仿宋" pitchFamily="49" charset="-122"/>
                <a:cs typeface="Consolas" pitchFamily="49" charset="0"/>
              </a:rPr>
              <a:t>时，输入结束，该用例不被处理。</a:t>
            </a:r>
            <a:endParaRPr lang="zh-CN" altLang="en-US" sz="2000" smtClean="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pPr/>
              <a:t>71</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00042"/>
            <a:ext cx="8429684" cy="56964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300"/>
              </a:lnSpc>
              <a:spcBef>
                <a:spcPts val="0"/>
              </a:spcBef>
            </a:pPr>
            <a:r>
              <a:rPr lang="zh-CN" altLang="zh-CN" sz="2000" smtClean="0">
                <a:solidFill>
                  <a:srgbClr val="FF0000"/>
                </a:solidFill>
                <a:latin typeface="Consolas" pitchFamily="49" charset="0"/>
                <a:ea typeface="仿宋" pitchFamily="49" charset="-122"/>
                <a:cs typeface="Consolas" pitchFamily="49" charset="0"/>
              </a:rPr>
              <a:t>输出格式：</a:t>
            </a:r>
            <a:r>
              <a:rPr lang="zh-CN" altLang="zh-CN" sz="2000" smtClean="0">
                <a:solidFill>
                  <a:srgbClr val="0000FF"/>
                </a:solidFill>
                <a:latin typeface="Consolas" pitchFamily="49" charset="0"/>
                <a:ea typeface="仿宋" pitchFamily="49" charset="-122"/>
                <a:cs typeface="Consolas" pitchFamily="49" charset="0"/>
              </a:rPr>
              <a:t>对每个测试用例，在一行里输出最少还需要建设的道路数目。 </a:t>
            </a:r>
          </a:p>
          <a:p>
            <a:pPr algn="l">
              <a:lnSpc>
                <a:spcPts val="2300"/>
              </a:lnSpc>
              <a:spcBef>
                <a:spcPts val="0"/>
              </a:spcBef>
            </a:pPr>
            <a:r>
              <a:rPr lang="zh-CN" altLang="zh-CN" sz="2000" smtClean="0">
                <a:solidFill>
                  <a:srgbClr val="FF0000"/>
                </a:solidFill>
                <a:latin typeface="Consolas" pitchFamily="49" charset="0"/>
                <a:ea typeface="仿宋" pitchFamily="49" charset="-122"/>
                <a:cs typeface="Consolas" pitchFamily="49" charset="0"/>
              </a:rPr>
              <a:t>输入样例：</a:t>
            </a: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4 2</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1 3</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4 3</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3 3</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1 2</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1 3</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2 3</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5 2</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1 2</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3 5</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999 0</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0</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zh-CN" altLang="zh-CN" sz="2000" smtClean="0">
                <a:solidFill>
                  <a:srgbClr val="FF0000"/>
                </a:solidFill>
                <a:latin typeface="Consolas" pitchFamily="49" charset="0"/>
                <a:ea typeface="仿宋" pitchFamily="49" charset="-122"/>
                <a:cs typeface="Consolas" pitchFamily="49" charset="0"/>
              </a:rPr>
              <a:t>输出样例：</a:t>
            </a: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1</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0</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2</a:t>
            </a:r>
            <a:endParaRPr lang="zh-CN" altLang="zh-CN" sz="2000" smtClean="0">
              <a:solidFill>
                <a:srgbClr val="0000FF"/>
              </a:solidFill>
              <a:latin typeface="Consolas" pitchFamily="49" charset="0"/>
              <a:ea typeface="仿宋" pitchFamily="49" charset="-122"/>
              <a:cs typeface="Consolas" pitchFamily="49" charset="0"/>
            </a:endParaRPr>
          </a:p>
          <a:p>
            <a:pPr algn="l">
              <a:lnSpc>
                <a:spcPts val="2300"/>
              </a:lnSpc>
              <a:spcBef>
                <a:spcPts val="0"/>
              </a:spcBef>
            </a:pPr>
            <a:r>
              <a:rPr lang="en-US" altLang="zh-CN" sz="2000" smtClean="0">
                <a:solidFill>
                  <a:srgbClr val="0000FF"/>
                </a:solidFill>
                <a:latin typeface="Consolas" pitchFamily="49" charset="0"/>
                <a:ea typeface="仿宋" pitchFamily="49" charset="-122"/>
                <a:cs typeface="Consolas" pitchFamily="49" charset="0"/>
              </a:rPr>
              <a:t>998</a:t>
            </a:r>
            <a:endParaRPr lang="zh-CN" altLang="zh-CN" sz="2000" smtClean="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pPr/>
              <a:t>72</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
          <p:cNvSpPr txBox="1"/>
          <p:nvPr/>
        </p:nvSpPr>
        <p:spPr>
          <a:xfrm>
            <a:off x="642910" y="1714488"/>
            <a:ext cx="7858180" cy="213477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44000" bIns="144000" rtlCol="0">
            <a:spAutoFit/>
          </a:bodyPr>
          <a:lstStyle>
            <a:defPPr>
              <a:defRPr lang="zh-CN"/>
            </a:defPPr>
            <a:lvl1pPr algn="ctr" rtl="0" fontAlgn="base">
              <a:lnSpc>
                <a:spcPct val="80000"/>
              </a:lnSpc>
              <a:spcBef>
                <a:spcPct val="50000"/>
              </a:spcBef>
              <a:spcAft>
                <a:spcPct val="0"/>
              </a:spcAft>
              <a:defRPr kumimoji="1" sz="2400" b="1" kern="1200">
                <a:solidFill>
                  <a:schemeClr val="dk1"/>
                </a:solidFill>
                <a:latin typeface="+mn-lt"/>
                <a:ea typeface="+mn-ea"/>
                <a:cs typeface="+mn-cs"/>
              </a:defRPr>
            </a:lvl1pPr>
            <a:lvl2pPr marL="457200" algn="ctr" rtl="0" fontAlgn="base">
              <a:lnSpc>
                <a:spcPct val="80000"/>
              </a:lnSpc>
              <a:spcBef>
                <a:spcPct val="50000"/>
              </a:spcBef>
              <a:spcAft>
                <a:spcPct val="0"/>
              </a:spcAft>
              <a:defRPr kumimoji="1" sz="2400" b="1" kern="1200">
                <a:solidFill>
                  <a:schemeClr val="dk1"/>
                </a:solidFill>
                <a:latin typeface="+mn-lt"/>
                <a:ea typeface="+mn-ea"/>
                <a:cs typeface="+mn-cs"/>
              </a:defRPr>
            </a:lvl2pPr>
            <a:lvl3pPr marL="914400" algn="ctr" rtl="0" fontAlgn="base">
              <a:lnSpc>
                <a:spcPct val="80000"/>
              </a:lnSpc>
              <a:spcBef>
                <a:spcPct val="50000"/>
              </a:spcBef>
              <a:spcAft>
                <a:spcPct val="0"/>
              </a:spcAft>
              <a:defRPr kumimoji="1" sz="2400" b="1" kern="1200">
                <a:solidFill>
                  <a:schemeClr val="dk1"/>
                </a:solidFill>
                <a:latin typeface="+mn-lt"/>
                <a:ea typeface="+mn-ea"/>
                <a:cs typeface="+mn-cs"/>
              </a:defRPr>
            </a:lvl3pPr>
            <a:lvl4pPr marL="1371600" algn="ctr" rtl="0" fontAlgn="base">
              <a:lnSpc>
                <a:spcPct val="80000"/>
              </a:lnSpc>
              <a:spcBef>
                <a:spcPct val="50000"/>
              </a:spcBef>
              <a:spcAft>
                <a:spcPct val="0"/>
              </a:spcAft>
              <a:defRPr kumimoji="1" sz="2400" b="1" kern="1200">
                <a:solidFill>
                  <a:schemeClr val="dk1"/>
                </a:solidFill>
                <a:latin typeface="+mn-lt"/>
                <a:ea typeface="+mn-ea"/>
                <a:cs typeface="+mn-cs"/>
              </a:defRPr>
            </a:lvl4pPr>
            <a:lvl5pPr marL="1828800" algn="ctr" rtl="0" fontAlgn="base">
              <a:lnSpc>
                <a:spcPct val="80000"/>
              </a:lnSpc>
              <a:spcBef>
                <a:spcPct val="50000"/>
              </a:spcBef>
              <a:spcAft>
                <a:spcPct val="0"/>
              </a:spcAft>
              <a:defRPr kumimoji="1" sz="2400" b="1" kern="1200">
                <a:solidFill>
                  <a:schemeClr val="dk1"/>
                </a:solidFill>
                <a:latin typeface="+mn-lt"/>
                <a:ea typeface="+mn-ea"/>
                <a:cs typeface="+mn-cs"/>
              </a:defRPr>
            </a:lvl5pPr>
            <a:lvl6pPr marL="2286000" algn="l" defTabSz="914400" rtl="0" eaLnBrk="1" latinLnBrk="0" hangingPunct="1">
              <a:defRPr kumimoji="1" sz="2400" b="1" kern="1200">
                <a:solidFill>
                  <a:schemeClr val="dk1"/>
                </a:solidFill>
                <a:latin typeface="+mn-lt"/>
                <a:ea typeface="+mn-ea"/>
                <a:cs typeface="+mn-cs"/>
              </a:defRPr>
            </a:lvl6pPr>
            <a:lvl7pPr marL="2743200" algn="l" defTabSz="914400" rtl="0" eaLnBrk="1" latinLnBrk="0" hangingPunct="1">
              <a:defRPr kumimoji="1" sz="2400" b="1" kern="1200">
                <a:solidFill>
                  <a:schemeClr val="dk1"/>
                </a:solidFill>
                <a:latin typeface="+mn-lt"/>
                <a:ea typeface="+mn-ea"/>
                <a:cs typeface="+mn-cs"/>
              </a:defRPr>
            </a:lvl7pPr>
            <a:lvl8pPr marL="3200400" algn="l" defTabSz="914400" rtl="0" eaLnBrk="1" latinLnBrk="0" hangingPunct="1">
              <a:defRPr kumimoji="1" sz="2400" b="1" kern="1200">
                <a:solidFill>
                  <a:schemeClr val="dk1"/>
                </a:solidFill>
                <a:latin typeface="+mn-lt"/>
                <a:ea typeface="+mn-ea"/>
                <a:cs typeface="+mn-cs"/>
              </a:defRPr>
            </a:lvl8pPr>
            <a:lvl9pPr marL="3657600" algn="l" defTabSz="914400" rtl="0" eaLnBrk="1" latinLnBrk="0" hangingPunct="1">
              <a:defRPr kumimoji="1" sz="2400" b="1" kern="1200">
                <a:solidFill>
                  <a:schemeClr val="dk1"/>
                </a:solidFill>
                <a:latin typeface="+mn-lt"/>
                <a:ea typeface="+mn-ea"/>
                <a:cs typeface="+mn-cs"/>
              </a:defRPr>
            </a:lvl9pPr>
          </a:lstStyle>
          <a:p>
            <a:pPr marL="342900" indent="-342900" algn="l">
              <a:lnSpc>
                <a:spcPts val="28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要使全省任何两个城镇间都实现交通，最少的道路是所有城镇之间都有一条路径，即全部城镇构成一棵树。</a:t>
            </a:r>
            <a:endParaRPr lang="en-US" altLang="zh-CN" sz="2000" smtClean="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smtClean="0">
                <a:solidFill>
                  <a:srgbClr val="0000FF"/>
                </a:solidFill>
                <a:latin typeface="Consolas" pitchFamily="49" charset="0"/>
                <a:ea typeface="仿宋" pitchFamily="49" charset="-122"/>
                <a:cs typeface="Consolas" pitchFamily="49" charset="0"/>
              </a:rPr>
              <a:t>采用并查集求解，由输入构造并查集，每棵子树中的所有城镇是有路径的，求出其中子树的个数</a:t>
            </a:r>
            <a:r>
              <a:rPr lang="en-US" altLang="zh-CN" sz="2000" smtClean="0">
                <a:solidFill>
                  <a:srgbClr val="0000FF"/>
                </a:solidFill>
                <a:latin typeface="Consolas" pitchFamily="49" charset="0"/>
                <a:ea typeface="仿宋" pitchFamily="49" charset="-122"/>
                <a:cs typeface="Consolas" pitchFamily="49" charset="0"/>
              </a:rPr>
              <a:t>ans</a:t>
            </a:r>
            <a:r>
              <a:rPr lang="zh-CN" altLang="zh-CN" sz="2000" smtClean="0">
                <a:solidFill>
                  <a:srgbClr val="0000FF"/>
                </a:solidFill>
                <a:latin typeface="Consolas" pitchFamily="49" charset="0"/>
                <a:ea typeface="仿宋" pitchFamily="49" charset="-122"/>
                <a:cs typeface="Consolas" pitchFamily="49" charset="0"/>
              </a:rPr>
              <a:t>，那么最少还需要建设的道路数就是</a:t>
            </a:r>
            <a:r>
              <a:rPr lang="en-US" altLang="zh-CN" sz="2000" smtClean="0">
                <a:solidFill>
                  <a:srgbClr val="0000FF"/>
                </a:solidFill>
                <a:latin typeface="Consolas" pitchFamily="49" charset="0"/>
                <a:ea typeface="仿宋" pitchFamily="49" charset="-122"/>
                <a:cs typeface="Consolas" pitchFamily="49" charset="0"/>
              </a:rPr>
              <a:t>ans-1</a:t>
            </a:r>
            <a:r>
              <a:rPr lang="zh-CN" altLang="zh-CN" sz="2000" smtClean="0">
                <a:solidFill>
                  <a:srgbClr val="0000FF"/>
                </a:solidFill>
                <a:latin typeface="Consolas" pitchFamily="49" charset="0"/>
                <a:ea typeface="仿宋" pitchFamily="49" charset="-122"/>
                <a:cs typeface="Consolas" pitchFamily="49" charset="0"/>
              </a:rPr>
              <a:t>。</a:t>
            </a:r>
            <a:endParaRPr lang="zh-CN" altLang="en-US" sz="2000" smtClean="0">
              <a:solidFill>
                <a:srgbClr val="0000FF"/>
              </a:solidFill>
              <a:latin typeface="Consolas" pitchFamily="49" charset="0"/>
              <a:ea typeface="仿宋" pitchFamily="49" charset="-122"/>
              <a:cs typeface="Consolas" pitchFamily="49" charset="0"/>
            </a:endParaRPr>
          </a:p>
        </p:txBody>
      </p:sp>
      <p:pic>
        <p:nvPicPr>
          <p:cNvPr id="11" name="Picture 2"/>
          <p:cNvPicPr>
            <a:picLocks noChangeAspect="1" noChangeArrowheads="1"/>
          </p:cNvPicPr>
          <p:nvPr/>
        </p:nvPicPr>
        <p:blipFill>
          <a:blip r:embed="rId3" cstate="print"/>
          <a:srcRect/>
          <a:stretch>
            <a:fillRect/>
          </a:stretch>
        </p:blipFill>
        <p:spPr bwMode="auto">
          <a:xfrm>
            <a:off x="785787" y="214290"/>
            <a:ext cx="1357322" cy="1255813"/>
          </a:xfrm>
          <a:prstGeom prst="rect">
            <a:avLst/>
          </a:prstGeom>
          <a:noFill/>
          <a:ln w="9525">
            <a:noFill/>
            <a:miter lim="800000"/>
            <a:headEnd/>
            <a:tailEnd/>
          </a:ln>
        </p:spPr>
      </p:pic>
      <p:grpSp>
        <p:nvGrpSpPr>
          <p:cNvPr id="2" name="组合 11"/>
          <p:cNvGrpSpPr/>
          <p:nvPr/>
        </p:nvGrpSpPr>
        <p:grpSpPr>
          <a:xfrm>
            <a:off x="2214546" y="3875725"/>
            <a:ext cx="3714776" cy="1900308"/>
            <a:chOff x="2000232" y="3929066"/>
            <a:chExt cx="3714776" cy="1900308"/>
          </a:xfrm>
        </p:grpSpPr>
        <p:sp>
          <p:nvSpPr>
            <p:cNvPr id="13" name="等腰三角形 12"/>
            <p:cNvSpPr/>
            <p:nvPr/>
          </p:nvSpPr>
          <p:spPr>
            <a:xfrm>
              <a:off x="2000232" y="3929066"/>
              <a:ext cx="1000132" cy="1143008"/>
            </a:xfrm>
            <a:prstGeom prst="triangle">
              <a:avLst/>
            </a:prstGeom>
          </p:spPr>
          <p:style>
            <a:lnRef idx="1">
              <a:schemeClr val="accent5"/>
            </a:lnRef>
            <a:fillRef idx="2">
              <a:schemeClr val="accent5"/>
            </a:fillRef>
            <a:effectRef idx="1">
              <a:schemeClr val="accent5"/>
            </a:effectRef>
            <a:fontRef idx="minor">
              <a:schemeClr val="dk1"/>
            </a:fontRef>
          </p:style>
          <p:txBody>
            <a:bodyPr rtlCol="0" anchor="ctr"/>
            <a:lstStyle>
              <a:defPPr>
                <a:defRPr lang="zh-CN"/>
              </a:defPPr>
              <a:lvl1pPr algn="ctr" rtl="0" fontAlgn="base">
                <a:lnSpc>
                  <a:spcPct val="80000"/>
                </a:lnSpc>
                <a:spcBef>
                  <a:spcPct val="50000"/>
                </a:spcBef>
                <a:spcAft>
                  <a:spcPct val="0"/>
                </a:spcAft>
                <a:defRPr kumimoji="1" sz="2400" b="1" kern="1200">
                  <a:solidFill>
                    <a:schemeClr val="dk1"/>
                  </a:solidFill>
                  <a:latin typeface="+mn-lt"/>
                  <a:ea typeface="+mn-ea"/>
                  <a:cs typeface="+mn-cs"/>
                </a:defRPr>
              </a:lvl1pPr>
              <a:lvl2pPr marL="457200" algn="ctr" rtl="0" fontAlgn="base">
                <a:lnSpc>
                  <a:spcPct val="80000"/>
                </a:lnSpc>
                <a:spcBef>
                  <a:spcPct val="50000"/>
                </a:spcBef>
                <a:spcAft>
                  <a:spcPct val="0"/>
                </a:spcAft>
                <a:defRPr kumimoji="1" sz="2400" b="1" kern="1200">
                  <a:solidFill>
                    <a:schemeClr val="dk1"/>
                  </a:solidFill>
                  <a:latin typeface="+mn-lt"/>
                  <a:ea typeface="+mn-ea"/>
                  <a:cs typeface="+mn-cs"/>
                </a:defRPr>
              </a:lvl2pPr>
              <a:lvl3pPr marL="914400" algn="ctr" rtl="0" fontAlgn="base">
                <a:lnSpc>
                  <a:spcPct val="80000"/>
                </a:lnSpc>
                <a:spcBef>
                  <a:spcPct val="50000"/>
                </a:spcBef>
                <a:spcAft>
                  <a:spcPct val="0"/>
                </a:spcAft>
                <a:defRPr kumimoji="1" sz="2400" b="1" kern="1200">
                  <a:solidFill>
                    <a:schemeClr val="dk1"/>
                  </a:solidFill>
                  <a:latin typeface="+mn-lt"/>
                  <a:ea typeface="+mn-ea"/>
                  <a:cs typeface="+mn-cs"/>
                </a:defRPr>
              </a:lvl3pPr>
              <a:lvl4pPr marL="1371600" algn="ctr" rtl="0" fontAlgn="base">
                <a:lnSpc>
                  <a:spcPct val="80000"/>
                </a:lnSpc>
                <a:spcBef>
                  <a:spcPct val="50000"/>
                </a:spcBef>
                <a:spcAft>
                  <a:spcPct val="0"/>
                </a:spcAft>
                <a:defRPr kumimoji="1" sz="2400" b="1" kern="1200">
                  <a:solidFill>
                    <a:schemeClr val="dk1"/>
                  </a:solidFill>
                  <a:latin typeface="+mn-lt"/>
                  <a:ea typeface="+mn-ea"/>
                  <a:cs typeface="+mn-cs"/>
                </a:defRPr>
              </a:lvl4pPr>
              <a:lvl5pPr marL="1828800" algn="ctr" rtl="0" fontAlgn="base">
                <a:lnSpc>
                  <a:spcPct val="80000"/>
                </a:lnSpc>
                <a:spcBef>
                  <a:spcPct val="50000"/>
                </a:spcBef>
                <a:spcAft>
                  <a:spcPct val="0"/>
                </a:spcAft>
                <a:defRPr kumimoji="1" sz="2400" b="1" kern="1200">
                  <a:solidFill>
                    <a:schemeClr val="dk1"/>
                  </a:solidFill>
                  <a:latin typeface="+mn-lt"/>
                  <a:ea typeface="+mn-ea"/>
                  <a:cs typeface="+mn-cs"/>
                </a:defRPr>
              </a:lvl5pPr>
              <a:lvl6pPr marL="2286000" algn="l" defTabSz="914400" rtl="0" eaLnBrk="1" latinLnBrk="0" hangingPunct="1">
                <a:defRPr kumimoji="1" sz="2400" b="1" kern="1200">
                  <a:solidFill>
                    <a:schemeClr val="dk1"/>
                  </a:solidFill>
                  <a:latin typeface="+mn-lt"/>
                  <a:ea typeface="+mn-ea"/>
                  <a:cs typeface="+mn-cs"/>
                </a:defRPr>
              </a:lvl6pPr>
              <a:lvl7pPr marL="2743200" algn="l" defTabSz="914400" rtl="0" eaLnBrk="1" latinLnBrk="0" hangingPunct="1">
                <a:defRPr kumimoji="1" sz="2400" b="1" kern="1200">
                  <a:solidFill>
                    <a:schemeClr val="dk1"/>
                  </a:solidFill>
                  <a:latin typeface="+mn-lt"/>
                  <a:ea typeface="+mn-ea"/>
                  <a:cs typeface="+mn-cs"/>
                </a:defRPr>
              </a:lvl7pPr>
              <a:lvl8pPr marL="3200400" algn="l" defTabSz="914400" rtl="0" eaLnBrk="1" latinLnBrk="0" hangingPunct="1">
                <a:defRPr kumimoji="1" sz="2400" b="1" kern="1200">
                  <a:solidFill>
                    <a:schemeClr val="dk1"/>
                  </a:solidFill>
                  <a:latin typeface="+mn-lt"/>
                  <a:ea typeface="+mn-ea"/>
                  <a:cs typeface="+mn-cs"/>
                </a:defRPr>
              </a:lvl8pPr>
              <a:lvl9pPr marL="3657600" algn="l" defTabSz="914400" rtl="0" eaLnBrk="1" latinLnBrk="0" hangingPunct="1">
                <a:defRPr kumimoji="1" sz="2400" b="1" kern="1200">
                  <a:solidFill>
                    <a:schemeClr val="dk1"/>
                  </a:solidFill>
                  <a:latin typeface="+mn-lt"/>
                  <a:ea typeface="+mn-ea"/>
                  <a:cs typeface="+mn-cs"/>
                </a:defRPr>
              </a:lvl9pPr>
            </a:lstStyle>
            <a:p>
              <a:pPr algn="ctr"/>
              <a:endParaRPr lang="zh-CN" altLang="en-US"/>
            </a:p>
          </p:txBody>
        </p:sp>
        <p:sp>
          <p:nvSpPr>
            <p:cNvPr id="14" name="等腰三角形 13"/>
            <p:cNvSpPr/>
            <p:nvPr/>
          </p:nvSpPr>
          <p:spPr>
            <a:xfrm>
              <a:off x="3571868" y="4143380"/>
              <a:ext cx="500066" cy="785818"/>
            </a:xfrm>
            <a:prstGeom prst="triangle">
              <a:avLst/>
            </a:prstGeom>
          </p:spPr>
          <p:style>
            <a:lnRef idx="1">
              <a:schemeClr val="accent5"/>
            </a:lnRef>
            <a:fillRef idx="2">
              <a:schemeClr val="accent5"/>
            </a:fillRef>
            <a:effectRef idx="1">
              <a:schemeClr val="accent5"/>
            </a:effectRef>
            <a:fontRef idx="minor">
              <a:schemeClr val="dk1"/>
            </a:fontRef>
          </p:style>
          <p:txBody>
            <a:bodyPr rtlCol="0" anchor="ctr"/>
            <a:lstStyle>
              <a:defPPr>
                <a:defRPr lang="zh-CN"/>
              </a:defPPr>
              <a:lvl1pPr algn="ctr" rtl="0" fontAlgn="base">
                <a:lnSpc>
                  <a:spcPct val="80000"/>
                </a:lnSpc>
                <a:spcBef>
                  <a:spcPct val="50000"/>
                </a:spcBef>
                <a:spcAft>
                  <a:spcPct val="0"/>
                </a:spcAft>
                <a:defRPr kumimoji="1" sz="2400" b="1" kern="1200">
                  <a:solidFill>
                    <a:schemeClr val="dk1"/>
                  </a:solidFill>
                  <a:latin typeface="+mn-lt"/>
                  <a:ea typeface="+mn-ea"/>
                  <a:cs typeface="+mn-cs"/>
                </a:defRPr>
              </a:lvl1pPr>
              <a:lvl2pPr marL="457200" algn="ctr" rtl="0" fontAlgn="base">
                <a:lnSpc>
                  <a:spcPct val="80000"/>
                </a:lnSpc>
                <a:spcBef>
                  <a:spcPct val="50000"/>
                </a:spcBef>
                <a:spcAft>
                  <a:spcPct val="0"/>
                </a:spcAft>
                <a:defRPr kumimoji="1" sz="2400" b="1" kern="1200">
                  <a:solidFill>
                    <a:schemeClr val="dk1"/>
                  </a:solidFill>
                  <a:latin typeface="+mn-lt"/>
                  <a:ea typeface="+mn-ea"/>
                  <a:cs typeface="+mn-cs"/>
                </a:defRPr>
              </a:lvl2pPr>
              <a:lvl3pPr marL="914400" algn="ctr" rtl="0" fontAlgn="base">
                <a:lnSpc>
                  <a:spcPct val="80000"/>
                </a:lnSpc>
                <a:spcBef>
                  <a:spcPct val="50000"/>
                </a:spcBef>
                <a:spcAft>
                  <a:spcPct val="0"/>
                </a:spcAft>
                <a:defRPr kumimoji="1" sz="2400" b="1" kern="1200">
                  <a:solidFill>
                    <a:schemeClr val="dk1"/>
                  </a:solidFill>
                  <a:latin typeface="+mn-lt"/>
                  <a:ea typeface="+mn-ea"/>
                  <a:cs typeface="+mn-cs"/>
                </a:defRPr>
              </a:lvl3pPr>
              <a:lvl4pPr marL="1371600" algn="ctr" rtl="0" fontAlgn="base">
                <a:lnSpc>
                  <a:spcPct val="80000"/>
                </a:lnSpc>
                <a:spcBef>
                  <a:spcPct val="50000"/>
                </a:spcBef>
                <a:spcAft>
                  <a:spcPct val="0"/>
                </a:spcAft>
                <a:defRPr kumimoji="1" sz="2400" b="1" kern="1200">
                  <a:solidFill>
                    <a:schemeClr val="dk1"/>
                  </a:solidFill>
                  <a:latin typeface="+mn-lt"/>
                  <a:ea typeface="+mn-ea"/>
                  <a:cs typeface="+mn-cs"/>
                </a:defRPr>
              </a:lvl4pPr>
              <a:lvl5pPr marL="1828800" algn="ctr" rtl="0" fontAlgn="base">
                <a:lnSpc>
                  <a:spcPct val="80000"/>
                </a:lnSpc>
                <a:spcBef>
                  <a:spcPct val="50000"/>
                </a:spcBef>
                <a:spcAft>
                  <a:spcPct val="0"/>
                </a:spcAft>
                <a:defRPr kumimoji="1" sz="2400" b="1" kern="1200">
                  <a:solidFill>
                    <a:schemeClr val="dk1"/>
                  </a:solidFill>
                  <a:latin typeface="+mn-lt"/>
                  <a:ea typeface="+mn-ea"/>
                  <a:cs typeface="+mn-cs"/>
                </a:defRPr>
              </a:lvl5pPr>
              <a:lvl6pPr marL="2286000" algn="l" defTabSz="914400" rtl="0" eaLnBrk="1" latinLnBrk="0" hangingPunct="1">
                <a:defRPr kumimoji="1" sz="2400" b="1" kern="1200">
                  <a:solidFill>
                    <a:schemeClr val="dk1"/>
                  </a:solidFill>
                  <a:latin typeface="+mn-lt"/>
                  <a:ea typeface="+mn-ea"/>
                  <a:cs typeface="+mn-cs"/>
                </a:defRPr>
              </a:lvl6pPr>
              <a:lvl7pPr marL="2743200" algn="l" defTabSz="914400" rtl="0" eaLnBrk="1" latinLnBrk="0" hangingPunct="1">
                <a:defRPr kumimoji="1" sz="2400" b="1" kern="1200">
                  <a:solidFill>
                    <a:schemeClr val="dk1"/>
                  </a:solidFill>
                  <a:latin typeface="+mn-lt"/>
                  <a:ea typeface="+mn-ea"/>
                  <a:cs typeface="+mn-cs"/>
                </a:defRPr>
              </a:lvl7pPr>
              <a:lvl8pPr marL="3200400" algn="l" defTabSz="914400" rtl="0" eaLnBrk="1" latinLnBrk="0" hangingPunct="1">
                <a:defRPr kumimoji="1" sz="2400" b="1" kern="1200">
                  <a:solidFill>
                    <a:schemeClr val="dk1"/>
                  </a:solidFill>
                  <a:latin typeface="+mn-lt"/>
                  <a:ea typeface="+mn-ea"/>
                  <a:cs typeface="+mn-cs"/>
                </a:defRPr>
              </a:lvl8pPr>
              <a:lvl9pPr marL="3657600" algn="l" defTabSz="914400" rtl="0" eaLnBrk="1" latinLnBrk="0" hangingPunct="1">
                <a:defRPr kumimoji="1" sz="2400" b="1" kern="1200">
                  <a:solidFill>
                    <a:schemeClr val="dk1"/>
                  </a:solidFill>
                  <a:latin typeface="+mn-lt"/>
                  <a:ea typeface="+mn-ea"/>
                  <a:cs typeface="+mn-cs"/>
                </a:defRPr>
              </a:lvl9pPr>
            </a:lstStyle>
            <a:p>
              <a:pPr algn="ctr"/>
              <a:endParaRPr lang="zh-CN" altLang="en-US"/>
            </a:p>
          </p:txBody>
        </p:sp>
        <p:sp>
          <p:nvSpPr>
            <p:cNvPr id="15" name="等腰三角形 14"/>
            <p:cNvSpPr/>
            <p:nvPr/>
          </p:nvSpPr>
          <p:spPr>
            <a:xfrm>
              <a:off x="4643438" y="4000504"/>
              <a:ext cx="714380" cy="1000132"/>
            </a:xfrm>
            <a:prstGeom prst="triangle">
              <a:avLst/>
            </a:prstGeom>
          </p:spPr>
          <p:style>
            <a:lnRef idx="1">
              <a:schemeClr val="accent5"/>
            </a:lnRef>
            <a:fillRef idx="2">
              <a:schemeClr val="accent5"/>
            </a:fillRef>
            <a:effectRef idx="1">
              <a:schemeClr val="accent5"/>
            </a:effectRef>
            <a:fontRef idx="minor">
              <a:schemeClr val="dk1"/>
            </a:fontRef>
          </p:style>
          <p:txBody>
            <a:bodyPr rtlCol="0" anchor="ctr"/>
            <a:lstStyle>
              <a:defPPr>
                <a:defRPr lang="zh-CN"/>
              </a:defPPr>
              <a:lvl1pPr algn="ctr" rtl="0" fontAlgn="base">
                <a:lnSpc>
                  <a:spcPct val="80000"/>
                </a:lnSpc>
                <a:spcBef>
                  <a:spcPct val="50000"/>
                </a:spcBef>
                <a:spcAft>
                  <a:spcPct val="0"/>
                </a:spcAft>
                <a:defRPr kumimoji="1" sz="2400" b="1" kern="1200">
                  <a:solidFill>
                    <a:schemeClr val="dk1"/>
                  </a:solidFill>
                  <a:latin typeface="+mn-lt"/>
                  <a:ea typeface="+mn-ea"/>
                  <a:cs typeface="+mn-cs"/>
                </a:defRPr>
              </a:lvl1pPr>
              <a:lvl2pPr marL="457200" algn="ctr" rtl="0" fontAlgn="base">
                <a:lnSpc>
                  <a:spcPct val="80000"/>
                </a:lnSpc>
                <a:spcBef>
                  <a:spcPct val="50000"/>
                </a:spcBef>
                <a:spcAft>
                  <a:spcPct val="0"/>
                </a:spcAft>
                <a:defRPr kumimoji="1" sz="2400" b="1" kern="1200">
                  <a:solidFill>
                    <a:schemeClr val="dk1"/>
                  </a:solidFill>
                  <a:latin typeface="+mn-lt"/>
                  <a:ea typeface="+mn-ea"/>
                  <a:cs typeface="+mn-cs"/>
                </a:defRPr>
              </a:lvl2pPr>
              <a:lvl3pPr marL="914400" algn="ctr" rtl="0" fontAlgn="base">
                <a:lnSpc>
                  <a:spcPct val="80000"/>
                </a:lnSpc>
                <a:spcBef>
                  <a:spcPct val="50000"/>
                </a:spcBef>
                <a:spcAft>
                  <a:spcPct val="0"/>
                </a:spcAft>
                <a:defRPr kumimoji="1" sz="2400" b="1" kern="1200">
                  <a:solidFill>
                    <a:schemeClr val="dk1"/>
                  </a:solidFill>
                  <a:latin typeface="+mn-lt"/>
                  <a:ea typeface="+mn-ea"/>
                  <a:cs typeface="+mn-cs"/>
                </a:defRPr>
              </a:lvl3pPr>
              <a:lvl4pPr marL="1371600" algn="ctr" rtl="0" fontAlgn="base">
                <a:lnSpc>
                  <a:spcPct val="80000"/>
                </a:lnSpc>
                <a:spcBef>
                  <a:spcPct val="50000"/>
                </a:spcBef>
                <a:spcAft>
                  <a:spcPct val="0"/>
                </a:spcAft>
                <a:defRPr kumimoji="1" sz="2400" b="1" kern="1200">
                  <a:solidFill>
                    <a:schemeClr val="dk1"/>
                  </a:solidFill>
                  <a:latin typeface="+mn-lt"/>
                  <a:ea typeface="+mn-ea"/>
                  <a:cs typeface="+mn-cs"/>
                </a:defRPr>
              </a:lvl4pPr>
              <a:lvl5pPr marL="1828800" algn="ctr" rtl="0" fontAlgn="base">
                <a:lnSpc>
                  <a:spcPct val="80000"/>
                </a:lnSpc>
                <a:spcBef>
                  <a:spcPct val="50000"/>
                </a:spcBef>
                <a:spcAft>
                  <a:spcPct val="0"/>
                </a:spcAft>
                <a:defRPr kumimoji="1" sz="2400" b="1" kern="1200">
                  <a:solidFill>
                    <a:schemeClr val="dk1"/>
                  </a:solidFill>
                  <a:latin typeface="+mn-lt"/>
                  <a:ea typeface="+mn-ea"/>
                  <a:cs typeface="+mn-cs"/>
                </a:defRPr>
              </a:lvl5pPr>
              <a:lvl6pPr marL="2286000" algn="l" defTabSz="914400" rtl="0" eaLnBrk="1" latinLnBrk="0" hangingPunct="1">
                <a:defRPr kumimoji="1" sz="2400" b="1" kern="1200">
                  <a:solidFill>
                    <a:schemeClr val="dk1"/>
                  </a:solidFill>
                  <a:latin typeface="+mn-lt"/>
                  <a:ea typeface="+mn-ea"/>
                  <a:cs typeface="+mn-cs"/>
                </a:defRPr>
              </a:lvl6pPr>
              <a:lvl7pPr marL="2743200" algn="l" defTabSz="914400" rtl="0" eaLnBrk="1" latinLnBrk="0" hangingPunct="1">
                <a:defRPr kumimoji="1" sz="2400" b="1" kern="1200">
                  <a:solidFill>
                    <a:schemeClr val="dk1"/>
                  </a:solidFill>
                  <a:latin typeface="+mn-lt"/>
                  <a:ea typeface="+mn-ea"/>
                  <a:cs typeface="+mn-cs"/>
                </a:defRPr>
              </a:lvl7pPr>
              <a:lvl8pPr marL="3200400" algn="l" defTabSz="914400" rtl="0" eaLnBrk="1" latinLnBrk="0" hangingPunct="1">
                <a:defRPr kumimoji="1" sz="2400" b="1" kern="1200">
                  <a:solidFill>
                    <a:schemeClr val="dk1"/>
                  </a:solidFill>
                  <a:latin typeface="+mn-lt"/>
                  <a:ea typeface="+mn-ea"/>
                  <a:cs typeface="+mn-cs"/>
                </a:defRPr>
              </a:lvl8pPr>
              <a:lvl9pPr marL="3657600" algn="l" defTabSz="914400" rtl="0" eaLnBrk="1" latinLnBrk="0" hangingPunct="1">
                <a:defRPr kumimoji="1" sz="2400" b="1" kern="1200">
                  <a:solidFill>
                    <a:schemeClr val="dk1"/>
                  </a:solidFill>
                  <a:latin typeface="+mn-lt"/>
                  <a:ea typeface="+mn-ea"/>
                  <a:cs typeface="+mn-cs"/>
                </a:defRPr>
              </a:lvl9pPr>
            </a:lstStyle>
            <a:p>
              <a:pPr algn="ctr"/>
              <a:endParaRPr lang="zh-CN" altLang="en-US"/>
            </a:p>
          </p:txBody>
        </p:sp>
        <p:sp>
          <p:nvSpPr>
            <p:cNvPr id="16" name="TextBox 9"/>
            <p:cNvSpPr txBox="1"/>
            <p:nvPr/>
          </p:nvSpPr>
          <p:spPr>
            <a:xfrm>
              <a:off x="2071670" y="5429264"/>
              <a:ext cx="3643338" cy="400110"/>
            </a:xfrm>
            <a:prstGeom prst="rect">
              <a:avLst/>
            </a:prstGeom>
            <a:noFill/>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l">
                <a:lnSpc>
                  <a:spcPct val="100000"/>
                </a:lnSpc>
                <a:spcBef>
                  <a:spcPts val="0"/>
                </a:spcBef>
              </a:pPr>
              <a:r>
                <a:rPr lang="en-US" altLang="zh-CN" sz="2000" smtClean="0">
                  <a:solidFill>
                    <a:srgbClr val="0000FF"/>
                  </a:solidFill>
                  <a:latin typeface="Consolas" pitchFamily="49" charset="0"/>
                  <a:ea typeface="华文中宋" pitchFamily="2" charset="-122"/>
                  <a:cs typeface="Consolas" pitchFamily="49" charset="0"/>
                </a:rPr>
                <a:t>Ans=3 </a:t>
              </a:r>
              <a:r>
                <a:rPr lang="en-US" altLang="zh-CN" sz="2000" smtClean="0">
                  <a:solidFill>
                    <a:srgbClr val="0000FF"/>
                  </a:solidFill>
                  <a:latin typeface="Consolas" pitchFamily="49" charset="0"/>
                  <a:ea typeface="华文中宋" pitchFamily="2" charset="-122"/>
                  <a:cs typeface="Consolas" pitchFamily="49" charset="0"/>
                  <a:sym typeface="Wingdings"/>
                </a:rPr>
                <a:t></a:t>
              </a:r>
              <a:r>
                <a:rPr lang="zh-CN" altLang="zh-CN" sz="2000" smtClean="0">
                  <a:solidFill>
                    <a:srgbClr val="0000FF"/>
                  </a:solidFill>
                  <a:latin typeface="Consolas" pitchFamily="49" charset="0"/>
                  <a:ea typeface="华文中宋" pitchFamily="2" charset="-122"/>
                  <a:cs typeface="Consolas" pitchFamily="49" charset="0"/>
                </a:rPr>
                <a:t>需要建设的道路数</a:t>
              </a:r>
              <a:r>
                <a:rPr lang="en-US" altLang="zh-CN" sz="2000" smtClean="0">
                  <a:solidFill>
                    <a:srgbClr val="0000FF"/>
                  </a:solidFill>
                  <a:latin typeface="Consolas" pitchFamily="49" charset="0"/>
                  <a:ea typeface="华文中宋" pitchFamily="2" charset="-122"/>
                  <a:cs typeface="Consolas" pitchFamily="49" charset="0"/>
                </a:rPr>
                <a:t>=2</a:t>
              </a:r>
              <a:endParaRPr lang="zh-CN" altLang="en-US" sz="2000" smtClean="0">
                <a:solidFill>
                  <a:srgbClr val="0000FF"/>
                </a:solidFill>
                <a:latin typeface="Consolas" pitchFamily="49" charset="0"/>
                <a:ea typeface="华文中宋" pitchFamily="2" charset="-122"/>
                <a:cs typeface="Consolas" pitchFamily="49" charset="0"/>
              </a:endParaRPr>
            </a:p>
          </p:txBody>
        </p:sp>
      </p:grpSp>
      <p:sp>
        <p:nvSpPr>
          <p:cNvPr id="12" name="灯片编号占位符 11"/>
          <p:cNvSpPr>
            <a:spLocks noGrp="1"/>
          </p:cNvSpPr>
          <p:nvPr>
            <p:ph type="sldNum" sz="quarter" idx="12"/>
          </p:nvPr>
        </p:nvSpPr>
        <p:spPr/>
        <p:txBody>
          <a:bodyPr/>
          <a:lstStyle/>
          <a:p>
            <a:fld id="{67864EE2-EAB3-4814-A7EB-820BD7610F1E}" type="slidenum">
              <a:rPr lang="en-US" altLang="zh-CN" smtClean="0"/>
              <a:pPr/>
              <a:t>73</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357166"/>
            <a:ext cx="8501122" cy="540759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#include&lt;iostream&gt;</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using namespace std;</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const int MAXN=1005; </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int parent[MAXN];		</a:t>
            </a:r>
            <a:r>
              <a:rPr lang="en-US" altLang="zh-CN" sz="1800" smtClean="0">
                <a:solidFill>
                  <a:schemeClr val="bg1">
                    <a:lumMod val="50000"/>
                  </a:schemeClr>
                </a:solidFill>
                <a:latin typeface="Consolas" pitchFamily="49" charset="0"/>
                <a:ea typeface="仿宋" pitchFamily="49" charset="-122"/>
                <a:cs typeface="Consolas" pitchFamily="49" charset="0"/>
              </a:rPr>
              <a:t>        //</a:t>
            </a:r>
            <a:r>
              <a:rPr lang="zh-CN" altLang="en-US" sz="1800" smtClean="0">
                <a:solidFill>
                  <a:schemeClr val="bg1">
                    <a:lumMod val="50000"/>
                  </a:schemeClr>
                </a:solidFill>
                <a:latin typeface="Consolas" pitchFamily="49" charset="0"/>
                <a:ea typeface="仿宋" pitchFamily="49" charset="-122"/>
                <a:cs typeface="Consolas" pitchFamily="49" charset="0"/>
              </a:rPr>
              <a:t>并查集存储结构</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int rnk[MAXN];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en-US" sz="1800" smtClean="0">
                <a:solidFill>
                  <a:schemeClr val="bg1">
                    <a:lumMod val="50000"/>
                  </a:schemeClr>
                </a:solidFill>
                <a:latin typeface="Consolas" pitchFamily="49" charset="0"/>
                <a:ea typeface="仿宋" pitchFamily="49" charset="-122"/>
                <a:cs typeface="Consolas" pitchFamily="49" charset="0"/>
              </a:rPr>
              <a:t>存储结点的秩</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int n;					</a:t>
            </a:r>
            <a:r>
              <a:rPr lang="en-US" altLang="zh-CN" sz="1800" smtClean="0">
                <a:solidFill>
                  <a:schemeClr val="bg1">
                    <a:lumMod val="50000"/>
                  </a:schemeClr>
                </a:solidFill>
                <a:latin typeface="Consolas" pitchFamily="49" charset="0"/>
                <a:ea typeface="仿宋" pitchFamily="49" charset="-122"/>
                <a:cs typeface="Consolas" pitchFamily="49" charset="0"/>
              </a:rPr>
              <a:t>//n</a:t>
            </a:r>
            <a:r>
              <a:rPr lang="zh-CN" altLang="en-US" sz="1800" smtClean="0">
                <a:solidFill>
                  <a:schemeClr val="bg1">
                    <a:lumMod val="50000"/>
                  </a:schemeClr>
                </a:solidFill>
                <a:latin typeface="Consolas" pitchFamily="49" charset="0"/>
                <a:ea typeface="仿宋" pitchFamily="49" charset="-122"/>
                <a:cs typeface="Consolas" pitchFamily="49" charset="0"/>
              </a:rPr>
              <a:t>个城镇</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int m;					</a:t>
            </a:r>
            <a:r>
              <a:rPr lang="en-US" altLang="zh-CN" sz="1800" smtClean="0">
                <a:solidFill>
                  <a:schemeClr val="bg1">
                    <a:lumMod val="50000"/>
                  </a:schemeClr>
                </a:solidFill>
                <a:latin typeface="Consolas" pitchFamily="49" charset="0"/>
                <a:ea typeface="仿宋" pitchFamily="49" charset="-122"/>
                <a:cs typeface="Consolas" pitchFamily="49" charset="0"/>
              </a:rPr>
              <a:t>//m</a:t>
            </a:r>
            <a:r>
              <a:rPr lang="zh-CN" altLang="en-US" sz="1800" smtClean="0">
                <a:solidFill>
                  <a:schemeClr val="bg1">
                    <a:lumMod val="50000"/>
                  </a:schemeClr>
                </a:solidFill>
                <a:latin typeface="Consolas" pitchFamily="49" charset="0"/>
                <a:ea typeface="仿宋" pitchFamily="49" charset="-122"/>
                <a:cs typeface="Consolas" pitchFamily="49" charset="0"/>
              </a:rPr>
              <a:t>条道路</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Init</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en-US" sz="1800" smtClean="0">
                <a:solidFill>
                  <a:schemeClr val="bg1">
                    <a:lumMod val="50000"/>
                  </a:schemeClr>
                </a:solidFill>
                <a:latin typeface="Consolas" pitchFamily="49" charset="0"/>
                <a:ea typeface="仿宋" pitchFamily="49" charset="-122"/>
                <a:cs typeface="Consolas" pitchFamily="49" charset="0"/>
              </a:rPr>
              <a:t>并查集初始化</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i=1;i&lt;=n;i++)</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  parent[i]=i;</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rnk[i]=0;</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p>
          <a:p>
            <a:pPr algn="l">
              <a:lnSpc>
                <a:spcPts val="2100"/>
              </a:lnSpc>
              <a:spcBef>
                <a:spcPts val="0"/>
              </a:spcBef>
            </a:pPr>
            <a:endParaRPr lang="en-US" altLang="zh-CN" sz="1800" smtClean="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int </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(int x)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en-US" sz="1800" smtClean="0">
                <a:solidFill>
                  <a:schemeClr val="bg1">
                    <a:lumMod val="50000"/>
                  </a:schemeClr>
                </a:solidFill>
                <a:latin typeface="Consolas" pitchFamily="49" charset="0"/>
                <a:ea typeface="仿宋" pitchFamily="49" charset="-122"/>
                <a:cs typeface="Consolas" pitchFamily="49" charset="0"/>
              </a:rPr>
              <a:t>并查集中查找</a:t>
            </a:r>
            <a:r>
              <a:rPr lang="en-US" altLang="zh-CN" sz="1800" smtClean="0">
                <a:solidFill>
                  <a:schemeClr val="bg1">
                    <a:lumMod val="50000"/>
                  </a:schemeClr>
                </a:solidFill>
                <a:latin typeface="Consolas" pitchFamily="49" charset="0"/>
                <a:ea typeface="仿宋" pitchFamily="49" charset="-122"/>
                <a:cs typeface="Consolas" pitchFamily="49" charset="0"/>
              </a:rPr>
              <a:t>x</a:t>
            </a:r>
            <a:r>
              <a:rPr lang="zh-CN" altLang="en-US" sz="1800" smtClean="0">
                <a:solidFill>
                  <a:schemeClr val="bg1">
                    <a:lumMod val="50000"/>
                  </a:schemeClr>
                </a:solidFill>
                <a:latin typeface="Consolas" pitchFamily="49" charset="0"/>
                <a:ea typeface="仿宋" pitchFamily="49" charset="-122"/>
                <a:cs typeface="Consolas" pitchFamily="49" charset="0"/>
              </a:rPr>
              <a:t>结点的根结点</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if (x!=parent[x])</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parent[x]=</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(parent[x]);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en-US" sz="1800" smtClean="0">
                <a:solidFill>
                  <a:schemeClr val="bg1">
                    <a:lumMod val="50000"/>
                  </a:schemeClr>
                </a:solidFill>
                <a:latin typeface="Consolas" pitchFamily="49" charset="0"/>
                <a:ea typeface="仿宋" pitchFamily="49" charset="-122"/>
                <a:cs typeface="Consolas" pitchFamily="49" charset="0"/>
              </a:rPr>
              <a:t>路径压缩 </a:t>
            </a:r>
          </a:p>
          <a:p>
            <a:pPr algn="l">
              <a:lnSpc>
                <a:spcPts val="2100"/>
              </a:lnSpc>
              <a:spcBef>
                <a:spcPts val="0"/>
              </a:spcBef>
            </a:pPr>
            <a:r>
              <a:rPr lang="zh-CN" altLang="en-US" sz="1800" smtClean="0">
                <a:solidFill>
                  <a:srgbClr val="0000FF"/>
                </a:solidFill>
                <a:latin typeface="Consolas" pitchFamily="49" charset="0"/>
                <a:ea typeface="仿宋" pitchFamily="49" charset="-122"/>
                <a:cs typeface="Consolas" pitchFamily="49" charset="0"/>
              </a:rPr>
              <a:t>   </a:t>
            </a:r>
            <a:r>
              <a:rPr lang="en-US" altLang="zh-CN" sz="1800" smtClean="0">
                <a:solidFill>
                  <a:srgbClr val="0000FF"/>
                </a:solidFill>
                <a:latin typeface="Consolas" pitchFamily="49" charset="0"/>
                <a:ea typeface="仿宋" pitchFamily="49" charset="-122"/>
                <a:cs typeface="Consolas" pitchFamily="49" charset="0"/>
              </a:rPr>
              <a:t>return parent[x];</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p>
        </p:txBody>
      </p:sp>
      <p:sp>
        <p:nvSpPr>
          <p:cNvPr id="5" name="灯片编号占位符 4"/>
          <p:cNvSpPr>
            <a:spLocks noGrp="1"/>
          </p:cNvSpPr>
          <p:nvPr>
            <p:ph type="sldNum" sz="quarter" idx="12"/>
          </p:nvPr>
        </p:nvSpPr>
        <p:spPr/>
        <p:txBody>
          <a:bodyPr/>
          <a:lstStyle/>
          <a:p>
            <a:fld id="{67864EE2-EAB3-4814-A7EB-820BD7610F1E}" type="slidenum">
              <a:rPr lang="en-US" altLang="zh-CN" smtClean="0"/>
              <a:pPr/>
              <a:t>74</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642918"/>
            <a:ext cx="8143932" cy="412519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void </a:t>
            </a:r>
            <a:r>
              <a:rPr lang="en-US" altLang="zh-CN" sz="1800" smtClean="0">
                <a:solidFill>
                  <a:srgbClr val="FF0000"/>
                </a:solidFill>
                <a:latin typeface="Consolas" pitchFamily="49" charset="0"/>
                <a:ea typeface="仿宋" pitchFamily="49" charset="-122"/>
                <a:cs typeface="Consolas" pitchFamily="49" charset="0"/>
              </a:rPr>
              <a:t>Union</a:t>
            </a:r>
            <a:r>
              <a:rPr lang="en-US" altLang="zh-CN" sz="1800" smtClean="0">
                <a:solidFill>
                  <a:srgbClr val="0000FF"/>
                </a:solidFill>
                <a:latin typeface="Consolas" pitchFamily="49" charset="0"/>
                <a:ea typeface="仿宋" pitchFamily="49" charset="-122"/>
                <a:cs typeface="Consolas" pitchFamily="49" charset="0"/>
              </a:rPr>
              <a:t>(int x,int y)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en-US" sz="1800" smtClean="0">
                <a:solidFill>
                  <a:schemeClr val="bg1">
                    <a:lumMod val="50000"/>
                  </a:schemeClr>
                </a:solidFill>
                <a:latin typeface="Consolas" pitchFamily="49" charset="0"/>
                <a:ea typeface="仿宋" pitchFamily="49" charset="-122"/>
                <a:cs typeface="Consolas" pitchFamily="49" charset="0"/>
              </a:rPr>
              <a:t>并查集中</a:t>
            </a:r>
            <a:r>
              <a:rPr lang="en-US" altLang="zh-CN" sz="1800" smtClean="0">
                <a:solidFill>
                  <a:schemeClr val="bg1">
                    <a:lumMod val="50000"/>
                  </a:schemeClr>
                </a:solidFill>
                <a:latin typeface="Consolas" pitchFamily="49" charset="0"/>
                <a:ea typeface="仿宋" pitchFamily="49" charset="-122"/>
                <a:cs typeface="Consolas" pitchFamily="49" charset="0"/>
              </a:rPr>
              <a:t>x</a:t>
            </a:r>
            <a:r>
              <a:rPr lang="zh-CN" altLang="en-US" sz="1800" smtClean="0">
                <a:solidFill>
                  <a:schemeClr val="bg1">
                    <a:lumMod val="50000"/>
                  </a:schemeClr>
                </a:solidFill>
                <a:latin typeface="Consolas" pitchFamily="49" charset="0"/>
                <a:ea typeface="仿宋" pitchFamily="49" charset="-122"/>
                <a:cs typeface="Consolas" pitchFamily="49" charset="0"/>
              </a:rPr>
              <a:t>和</a:t>
            </a:r>
            <a:r>
              <a:rPr lang="en-US" altLang="zh-CN" sz="1800" smtClean="0">
                <a:solidFill>
                  <a:schemeClr val="bg1">
                    <a:lumMod val="50000"/>
                  </a:schemeClr>
                </a:solidFill>
                <a:latin typeface="Consolas" pitchFamily="49" charset="0"/>
                <a:ea typeface="仿宋" pitchFamily="49" charset="-122"/>
                <a:cs typeface="Consolas" pitchFamily="49" charset="0"/>
              </a:rPr>
              <a:t>y</a:t>
            </a:r>
            <a:r>
              <a:rPr lang="zh-CN" altLang="en-US" sz="1800" smtClean="0">
                <a:solidFill>
                  <a:schemeClr val="bg1">
                    <a:lumMod val="50000"/>
                  </a:schemeClr>
                </a:solidFill>
                <a:latin typeface="Consolas" pitchFamily="49" charset="0"/>
                <a:ea typeface="仿宋" pitchFamily="49" charset="-122"/>
                <a:cs typeface="Consolas" pitchFamily="49" charset="0"/>
              </a:rPr>
              <a:t>的两个集合的合并</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int rx=</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(x);</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int ry=</a:t>
            </a:r>
            <a:r>
              <a:rPr lang="en-US" altLang="zh-CN" sz="1800" smtClean="0">
                <a:solidFill>
                  <a:srgbClr val="FF0000"/>
                </a:solidFill>
                <a:latin typeface="Consolas" pitchFamily="49" charset="0"/>
                <a:ea typeface="仿宋" pitchFamily="49" charset="-122"/>
                <a:cs typeface="Consolas" pitchFamily="49" charset="0"/>
              </a:rPr>
              <a:t>Find</a:t>
            </a:r>
            <a:r>
              <a:rPr lang="en-US" altLang="zh-CN" sz="1800" smtClean="0">
                <a:solidFill>
                  <a:srgbClr val="0000FF"/>
                </a:solidFill>
                <a:latin typeface="Consolas" pitchFamily="49" charset="0"/>
                <a:ea typeface="仿宋" pitchFamily="49" charset="-122"/>
                <a:cs typeface="Consolas" pitchFamily="49" charset="0"/>
              </a:rPr>
              <a:t>(y);</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(rx==ry)			</a:t>
            </a:r>
            <a:r>
              <a:rPr lang="en-US" altLang="zh-CN" sz="1800" smtClean="0">
                <a:solidFill>
                  <a:schemeClr val="bg1">
                    <a:lumMod val="50000"/>
                  </a:schemeClr>
                </a:solidFill>
                <a:latin typeface="Consolas" pitchFamily="49" charset="0"/>
                <a:ea typeface="仿宋" pitchFamily="49" charset="-122"/>
                <a:cs typeface="Consolas" pitchFamily="49" charset="0"/>
              </a:rPr>
              <a:t>//x</a:t>
            </a:r>
            <a:r>
              <a:rPr lang="zh-CN" altLang="en-US" sz="1800" smtClean="0">
                <a:solidFill>
                  <a:schemeClr val="bg1">
                    <a:lumMod val="50000"/>
                  </a:schemeClr>
                </a:solidFill>
                <a:latin typeface="Consolas" pitchFamily="49" charset="0"/>
                <a:ea typeface="仿宋" pitchFamily="49" charset="-122"/>
                <a:cs typeface="Consolas" pitchFamily="49" charset="0"/>
              </a:rPr>
              <a:t>和</a:t>
            </a:r>
            <a:r>
              <a:rPr lang="en-US" altLang="zh-CN" sz="1800" smtClean="0">
                <a:solidFill>
                  <a:schemeClr val="bg1">
                    <a:lumMod val="50000"/>
                  </a:schemeClr>
                </a:solidFill>
                <a:latin typeface="Consolas" pitchFamily="49" charset="0"/>
                <a:ea typeface="仿宋" pitchFamily="49" charset="-122"/>
                <a:cs typeface="Consolas" pitchFamily="49" charset="0"/>
              </a:rPr>
              <a:t>y</a:t>
            </a:r>
            <a:r>
              <a:rPr lang="zh-CN" altLang="en-US" sz="1800" smtClean="0">
                <a:solidFill>
                  <a:schemeClr val="bg1">
                    <a:lumMod val="50000"/>
                  </a:schemeClr>
                </a:solidFill>
                <a:latin typeface="Consolas" pitchFamily="49" charset="0"/>
                <a:ea typeface="仿宋" pitchFamily="49" charset="-122"/>
                <a:cs typeface="Consolas" pitchFamily="49" charset="0"/>
              </a:rPr>
              <a:t>属于同一棵树的情况 </a:t>
            </a:r>
          </a:p>
          <a:p>
            <a:pPr algn="l">
              <a:lnSpc>
                <a:spcPts val="2300"/>
              </a:lnSpc>
              <a:spcBef>
                <a:spcPts val="0"/>
              </a:spcBef>
            </a:pPr>
            <a:r>
              <a:rPr lang="zh-CN" altLang="en-US" sz="1800" smtClean="0">
                <a:solidFill>
                  <a:srgbClr val="0000FF"/>
                </a:solidFill>
                <a:latin typeface="Consolas" pitchFamily="49" charset="0"/>
                <a:ea typeface="仿宋" pitchFamily="49" charset="-122"/>
                <a:cs typeface="Consolas" pitchFamily="49" charset="0"/>
              </a:rPr>
              <a:t>      </a:t>
            </a:r>
            <a:r>
              <a:rPr lang="en-US" altLang="zh-CN" sz="1800" smtClean="0">
                <a:solidFill>
                  <a:srgbClr val="0000FF"/>
                </a:solidFill>
                <a:latin typeface="Consolas" pitchFamily="49" charset="0"/>
                <a:ea typeface="仿宋" pitchFamily="49" charset="-122"/>
                <a:cs typeface="Consolas" pitchFamily="49" charset="0"/>
              </a:rPr>
              <a:t>return;</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if (rnk[rx]&lt;rnk[ry])</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parent[rx]=ry;		</a:t>
            </a:r>
            <a:r>
              <a:rPr lang="en-US" altLang="zh-CN" sz="1800" smtClean="0">
                <a:solidFill>
                  <a:schemeClr val="bg1">
                    <a:lumMod val="50000"/>
                  </a:schemeClr>
                </a:solidFill>
                <a:latin typeface="Consolas" pitchFamily="49" charset="0"/>
                <a:ea typeface="仿宋" pitchFamily="49" charset="-122"/>
                <a:cs typeface="Consolas" pitchFamily="49" charset="0"/>
              </a:rPr>
              <a:t>//rx</a:t>
            </a:r>
            <a:r>
              <a:rPr lang="zh-CN" altLang="en-US" sz="1800" smtClean="0">
                <a:solidFill>
                  <a:schemeClr val="bg1">
                    <a:lumMod val="50000"/>
                  </a:schemeClr>
                </a:solidFill>
                <a:latin typeface="Consolas" pitchFamily="49" charset="0"/>
                <a:ea typeface="仿宋" pitchFamily="49" charset="-122"/>
                <a:cs typeface="Consolas" pitchFamily="49" charset="0"/>
              </a:rPr>
              <a:t>结点作为</a:t>
            </a:r>
            <a:r>
              <a:rPr lang="en-US" altLang="zh-CN" sz="1800" smtClean="0">
                <a:solidFill>
                  <a:schemeClr val="bg1">
                    <a:lumMod val="50000"/>
                  </a:schemeClr>
                </a:solidFill>
                <a:latin typeface="Consolas" pitchFamily="49" charset="0"/>
                <a:ea typeface="仿宋" pitchFamily="49" charset="-122"/>
                <a:cs typeface="Consolas" pitchFamily="49" charset="0"/>
              </a:rPr>
              <a:t>ry</a:t>
            </a:r>
            <a:r>
              <a:rPr lang="zh-CN" altLang="en-US" sz="1800" smtClean="0">
                <a:solidFill>
                  <a:schemeClr val="bg1">
                    <a:lumMod val="50000"/>
                  </a:schemeClr>
                </a:solidFill>
                <a:latin typeface="Consolas" pitchFamily="49" charset="0"/>
                <a:ea typeface="仿宋" pitchFamily="49" charset="-122"/>
                <a:cs typeface="Consolas" pitchFamily="49" charset="0"/>
              </a:rPr>
              <a:t>的孩子</a:t>
            </a:r>
            <a:r>
              <a:rPr lang="zh-CN" altLang="en-US" sz="1800" smtClean="0">
                <a:solidFill>
                  <a:srgbClr val="0000FF"/>
                </a:solidFill>
                <a:latin typeface="Consolas" pitchFamily="49" charset="0"/>
                <a:ea typeface="仿宋" pitchFamily="49" charset="-122"/>
                <a:cs typeface="Consolas" pitchFamily="49" charset="0"/>
              </a:rPr>
              <a:t> </a:t>
            </a:r>
          </a:p>
          <a:p>
            <a:pPr algn="l">
              <a:lnSpc>
                <a:spcPts val="2300"/>
              </a:lnSpc>
              <a:spcBef>
                <a:spcPts val="0"/>
              </a:spcBef>
            </a:pPr>
            <a:r>
              <a:rPr lang="zh-CN" altLang="en-US" sz="1800" smtClean="0">
                <a:solidFill>
                  <a:srgbClr val="0000FF"/>
                </a:solidFill>
                <a:latin typeface="Consolas" pitchFamily="49" charset="0"/>
                <a:ea typeface="仿宋" pitchFamily="49" charset="-122"/>
                <a:cs typeface="Consolas" pitchFamily="49" charset="0"/>
              </a:rPr>
              <a:t>   </a:t>
            </a:r>
            <a:r>
              <a:rPr lang="en-US" altLang="zh-CN" sz="1800" smtClean="0">
                <a:solidFill>
                  <a:srgbClr val="0000FF"/>
                </a:solidFill>
                <a:latin typeface="Consolas" pitchFamily="49" charset="0"/>
                <a:ea typeface="仿宋" pitchFamily="49" charset="-122"/>
                <a:cs typeface="Consolas" pitchFamily="49" charset="0"/>
              </a:rPr>
              <a:t>else</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  if (rnk[rx]==rnk[ry])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en-US" sz="1800" smtClean="0">
                <a:solidFill>
                  <a:schemeClr val="bg1">
                    <a:lumMod val="50000"/>
                  </a:schemeClr>
                </a:solidFill>
                <a:latin typeface="Consolas" pitchFamily="49" charset="0"/>
                <a:ea typeface="仿宋" pitchFamily="49" charset="-122"/>
                <a:cs typeface="Consolas" pitchFamily="49" charset="0"/>
              </a:rPr>
              <a:t>秩相同，合并后</a:t>
            </a:r>
            <a:r>
              <a:rPr lang="en-US" altLang="zh-CN" sz="1800" smtClean="0">
                <a:solidFill>
                  <a:schemeClr val="bg1">
                    <a:lumMod val="50000"/>
                  </a:schemeClr>
                </a:solidFill>
                <a:latin typeface="Consolas" pitchFamily="49" charset="0"/>
                <a:ea typeface="仿宋" pitchFamily="49" charset="-122"/>
                <a:cs typeface="Consolas" pitchFamily="49" charset="0"/>
              </a:rPr>
              <a:t>rx</a:t>
            </a:r>
            <a:r>
              <a:rPr lang="zh-CN" altLang="en-US" sz="1800" smtClean="0">
                <a:solidFill>
                  <a:schemeClr val="bg1">
                    <a:lumMod val="50000"/>
                  </a:schemeClr>
                </a:solidFill>
                <a:latin typeface="Consolas" pitchFamily="49" charset="0"/>
                <a:ea typeface="仿宋" pitchFamily="49" charset="-122"/>
                <a:cs typeface="Consolas" pitchFamily="49" charset="0"/>
              </a:rPr>
              <a:t>的秩增</a:t>
            </a:r>
            <a:r>
              <a:rPr lang="en-US" altLang="zh-CN" sz="1800" smtClean="0">
                <a:solidFill>
                  <a:schemeClr val="bg1">
                    <a:lumMod val="50000"/>
                  </a:schemeClr>
                </a:solidFill>
                <a:latin typeface="Consolas" pitchFamily="49" charset="0"/>
                <a:ea typeface="仿宋" pitchFamily="49" charset="-122"/>
                <a:cs typeface="Consolas" pitchFamily="49" charset="0"/>
              </a:rPr>
              <a:t>1</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rnk[rx]++;</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      parent[ry]=rx;		</a:t>
            </a:r>
            <a:r>
              <a:rPr lang="en-US" altLang="zh-CN" sz="1800" smtClean="0">
                <a:solidFill>
                  <a:schemeClr val="bg1">
                    <a:lumMod val="50000"/>
                  </a:schemeClr>
                </a:solidFill>
                <a:latin typeface="Consolas" pitchFamily="49" charset="0"/>
                <a:ea typeface="仿宋" pitchFamily="49" charset="-122"/>
                <a:cs typeface="Consolas" pitchFamily="49" charset="0"/>
              </a:rPr>
              <a:t>//ry</a:t>
            </a:r>
            <a:r>
              <a:rPr lang="zh-CN" altLang="en-US" sz="1800" smtClean="0">
                <a:solidFill>
                  <a:schemeClr val="bg1">
                    <a:lumMod val="50000"/>
                  </a:schemeClr>
                </a:solidFill>
                <a:latin typeface="Consolas" pitchFamily="49" charset="0"/>
                <a:ea typeface="仿宋" pitchFamily="49" charset="-122"/>
                <a:cs typeface="Consolas" pitchFamily="49" charset="0"/>
              </a:rPr>
              <a:t>结点作为</a:t>
            </a:r>
            <a:r>
              <a:rPr lang="en-US" altLang="zh-CN" sz="1800" smtClean="0">
                <a:solidFill>
                  <a:schemeClr val="bg1">
                    <a:lumMod val="50000"/>
                  </a:schemeClr>
                </a:solidFill>
                <a:latin typeface="Consolas" pitchFamily="49" charset="0"/>
                <a:ea typeface="仿宋" pitchFamily="49" charset="-122"/>
                <a:cs typeface="Consolas" pitchFamily="49" charset="0"/>
              </a:rPr>
              <a:t>rx</a:t>
            </a:r>
            <a:r>
              <a:rPr lang="zh-CN" altLang="en-US" sz="1800" smtClean="0">
                <a:solidFill>
                  <a:schemeClr val="bg1">
                    <a:lumMod val="50000"/>
                  </a:schemeClr>
                </a:solidFill>
                <a:latin typeface="Consolas" pitchFamily="49" charset="0"/>
                <a:ea typeface="仿宋" pitchFamily="49" charset="-122"/>
                <a:cs typeface="Consolas" pitchFamily="49" charset="0"/>
              </a:rPr>
              <a:t>的孩子  </a:t>
            </a:r>
          </a:p>
          <a:p>
            <a:pPr algn="l">
              <a:lnSpc>
                <a:spcPts val="2300"/>
              </a:lnSpc>
              <a:spcBef>
                <a:spcPts val="0"/>
              </a:spcBef>
            </a:pPr>
            <a:r>
              <a:rPr lang="zh-CN" altLang="en-US" sz="1800" smtClean="0">
                <a:solidFill>
                  <a:srgbClr val="0000FF"/>
                </a:solidFill>
                <a:latin typeface="Consolas" pitchFamily="49" charset="0"/>
                <a:ea typeface="仿宋" pitchFamily="49" charset="-122"/>
                <a:cs typeface="Consolas" pitchFamily="49" charset="0"/>
              </a:rPr>
              <a:t>   </a:t>
            </a:r>
            <a:r>
              <a:rPr lang="en-US" altLang="zh-CN" sz="1800" smtClean="0">
                <a:solidFill>
                  <a:srgbClr val="0000FF"/>
                </a:solidFill>
                <a:latin typeface="Consolas" pitchFamily="49" charset="0"/>
                <a:ea typeface="仿宋" pitchFamily="49" charset="-122"/>
                <a:cs typeface="Consolas" pitchFamily="49" charset="0"/>
              </a:rPr>
              <a:t>}</a:t>
            </a:r>
          </a:p>
          <a:p>
            <a:pPr algn="l">
              <a:lnSpc>
                <a:spcPts val="23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p>
        </p:txBody>
      </p:sp>
      <p:sp>
        <p:nvSpPr>
          <p:cNvPr id="5" name="灯片编号占位符 4"/>
          <p:cNvSpPr>
            <a:spLocks noGrp="1"/>
          </p:cNvSpPr>
          <p:nvPr>
            <p:ph type="sldNum" sz="quarter" idx="12"/>
          </p:nvPr>
        </p:nvSpPr>
        <p:spPr/>
        <p:txBody>
          <a:bodyPr/>
          <a:lstStyle/>
          <a:p>
            <a:fld id="{67864EE2-EAB3-4814-A7EB-820BD7610F1E}" type="slidenum">
              <a:rPr lang="en-US" altLang="zh-CN" smtClean="0"/>
              <a:pPr/>
              <a:t>75</a:t>
            </a:fld>
            <a:r>
              <a:rPr lang="en-US" altLang="zh-CN" smtClean="0"/>
              <a:t>/76</a:t>
            </a:r>
            <a:endParaRPr lang="en-US" altLang="zh-CN"/>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357166"/>
            <a:ext cx="8429684" cy="486898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int main()</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while(~scanf("%d",&amp;n))</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  if(n==0) break;</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scanf("%d",&amp;m);</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FF0000"/>
                </a:solidFill>
                <a:latin typeface="Consolas" pitchFamily="49" charset="0"/>
                <a:ea typeface="仿宋" pitchFamily="49" charset="-122"/>
                <a:cs typeface="Consolas" pitchFamily="49" charset="0"/>
              </a:rPr>
              <a:t>Init</a:t>
            </a: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en-US" sz="1800" smtClean="0">
                <a:solidFill>
                  <a:schemeClr val="bg1">
                    <a:lumMod val="50000"/>
                  </a:schemeClr>
                </a:solidFill>
                <a:latin typeface="Consolas" pitchFamily="49" charset="0"/>
                <a:ea typeface="仿宋" pitchFamily="49" charset="-122"/>
                <a:cs typeface="Consolas" pitchFamily="49" charset="0"/>
              </a:rPr>
              <a:t>初始化</a:t>
            </a:r>
          </a:p>
          <a:p>
            <a:pPr algn="l">
              <a:lnSpc>
                <a:spcPts val="2100"/>
              </a:lnSpc>
              <a:spcBef>
                <a:spcPts val="0"/>
              </a:spcBef>
            </a:pPr>
            <a:r>
              <a:rPr lang="zh-CN" altLang="en-US" sz="1800" smtClean="0">
                <a:solidFill>
                  <a:srgbClr val="0000FF"/>
                </a:solidFill>
                <a:latin typeface="Consolas" pitchFamily="49" charset="0"/>
                <a:ea typeface="仿宋" pitchFamily="49" charset="-122"/>
                <a:cs typeface="Consolas" pitchFamily="49" charset="0"/>
              </a:rPr>
              <a:t>      </a:t>
            </a:r>
            <a:r>
              <a:rPr lang="en-US" altLang="zh-CN" sz="1800" smtClean="0">
                <a:solidFill>
                  <a:srgbClr val="0000FF"/>
                </a:solidFill>
                <a:latin typeface="Consolas" pitchFamily="49" charset="0"/>
                <a:ea typeface="仿宋" pitchFamily="49" charset="-122"/>
                <a:cs typeface="Consolas" pitchFamily="49" charset="0"/>
              </a:rPr>
              <a:t>for (int i=1;i&lt;=m;i++)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en-US" sz="1800" smtClean="0">
                <a:solidFill>
                  <a:schemeClr val="bg1">
                    <a:lumMod val="50000"/>
                  </a:schemeClr>
                </a:solidFill>
                <a:latin typeface="Consolas" pitchFamily="49" charset="0"/>
                <a:ea typeface="仿宋" pitchFamily="49" charset="-122"/>
                <a:cs typeface="Consolas" pitchFamily="49" charset="0"/>
              </a:rPr>
              <a:t>输入</a:t>
            </a:r>
            <a:r>
              <a:rPr lang="en-US" altLang="zh-CN" sz="1800" smtClean="0">
                <a:solidFill>
                  <a:schemeClr val="bg1">
                    <a:lumMod val="50000"/>
                  </a:schemeClr>
                </a:solidFill>
                <a:latin typeface="Consolas" pitchFamily="49" charset="0"/>
                <a:ea typeface="仿宋" pitchFamily="49" charset="-122"/>
                <a:cs typeface="Consolas" pitchFamily="49" charset="0"/>
              </a:rPr>
              <a:t>m</a:t>
            </a:r>
            <a:r>
              <a:rPr lang="zh-CN" altLang="en-US" sz="1800" smtClean="0">
                <a:solidFill>
                  <a:schemeClr val="bg1">
                    <a:lumMod val="50000"/>
                  </a:schemeClr>
                </a:solidFill>
                <a:latin typeface="Consolas" pitchFamily="49" charset="0"/>
                <a:ea typeface="仿宋" pitchFamily="49" charset="-122"/>
                <a:cs typeface="Consolas" pitchFamily="49" charset="0"/>
              </a:rPr>
              <a:t>条边</a:t>
            </a:r>
          </a:p>
          <a:p>
            <a:pPr algn="l">
              <a:lnSpc>
                <a:spcPts val="2100"/>
              </a:lnSpc>
              <a:spcBef>
                <a:spcPts val="0"/>
              </a:spcBef>
            </a:pPr>
            <a:r>
              <a:rPr lang="zh-CN" altLang="en-US" sz="1800" smtClean="0">
                <a:solidFill>
                  <a:srgbClr val="0000FF"/>
                </a:solidFill>
                <a:latin typeface="Consolas" pitchFamily="49" charset="0"/>
                <a:ea typeface="仿宋" pitchFamily="49" charset="-122"/>
                <a:cs typeface="Consolas" pitchFamily="49" charset="0"/>
              </a:rPr>
              <a:t>      </a:t>
            </a:r>
            <a:r>
              <a:rPr lang="en-US" altLang="zh-CN" sz="1800" smtClean="0">
                <a:solidFill>
                  <a:srgbClr val="0000FF"/>
                </a:solidFill>
                <a:latin typeface="Consolas" pitchFamily="49" charset="0"/>
                <a:ea typeface="仿宋" pitchFamily="49" charset="-122"/>
                <a:cs typeface="Consolas" pitchFamily="49" charset="0"/>
              </a:rPr>
              <a:t>{  int a,b;</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scanf("%d%d",&amp;a,&amp;b);</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r>
              <a:rPr lang="en-US" altLang="zh-CN" sz="1800" smtClean="0">
                <a:solidFill>
                  <a:srgbClr val="FF0000"/>
                </a:solidFill>
                <a:latin typeface="Consolas" pitchFamily="49" charset="0"/>
                <a:ea typeface="仿宋" pitchFamily="49" charset="-122"/>
                <a:cs typeface="Consolas" pitchFamily="49" charset="0"/>
              </a:rPr>
              <a:t>Union</a:t>
            </a:r>
            <a:r>
              <a:rPr lang="en-US" altLang="zh-CN" sz="1800" smtClean="0">
                <a:solidFill>
                  <a:srgbClr val="0000FF"/>
                </a:solidFill>
                <a:latin typeface="Consolas" pitchFamily="49" charset="0"/>
                <a:ea typeface="仿宋" pitchFamily="49" charset="-122"/>
                <a:cs typeface="Consolas" pitchFamily="49" charset="0"/>
              </a:rPr>
              <a:t>(a,b);</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int ans=0;</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for (int i=1;i&lt;=n;i++)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en-US" sz="1800" smtClean="0">
                <a:solidFill>
                  <a:schemeClr val="bg1">
                    <a:lumMod val="50000"/>
                  </a:schemeClr>
                </a:solidFill>
                <a:latin typeface="Consolas" pitchFamily="49" charset="0"/>
                <a:ea typeface="仿宋" pitchFamily="49" charset="-122"/>
                <a:cs typeface="Consolas" pitchFamily="49" charset="0"/>
              </a:rPr>
              <a:t>求子树个数</a:t>
            </a:r>
            <a:r>
              <a:rPr lang="en-US" altLang="zh-CN" sz="1800" smtClean="0">
                <a:solidFill>
                  <a:schemeClr val="bg1">
                    <a:lumMod val="50000"/>
                  </a:schemeClr>
                </a:solidFill>
                <a:latin typeface="Consolas" pitchFamily="49" charset="0"/>
                <a:ea typeface="仿宋" pitchFamily="49" charset="-122"/>
                <a:cs typeface="Consolas" pitchFamily="49" charset="0"/>
              </a:rPr>
              <a:t>ans</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if (parent[i]==i)</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ans++;</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printf("%d\n",ans-1);       	</a:t>
            </a:r>
            <a:r>
              <a:rPr lang="en-US" altLang="zh-CN" sz="1800" smtClean="0">
                <a:solidFill>
                  <a:schemeClr val="bg1">
                    <a:lumMod val="50000"/>
                  </a:schemeClr>
                </a:solidFill>
                <a:latin typeface="Consolas" pitchFamily="49" charset="0"/>
                <a:ea typeface="仿宋" pitchFamily="49" charset="-122"/>
                <a:cs typeface="Consolas" pitchFamily="49" charset="0"/>
              </a:rPr>
              <a:t>//</a:t>
            </a:r>
            <a:r>
              <a:rPr lang="zh-CN" altLang="en-US" sz="1800" smtClean="0">
                <a:solidFill>
                  <a:schemeClr val="bg1">
                    <a:lumMod val="50000"/>
                  </a:schemeClr>
                </a:solidFill>
                <a:latin typeface="Consolas" pitchFamily="49" charset="0"/>
                <a:ea typeface="仿宋" pitchFamily="49" charset="-122"/>
                <a:cs typeface="Consolas" pitchFamily="49" charset="0"/>
              </a:rPr>
              <a:t>结果为</a:t>
            </a:r>
            <a:r>
              <a:rPr lang="en-US" altLang="zh-CN" sz="1800" smtClean="0">
                <a:solidFill>
                  <a:schemeClr val="bg1">
                    <a:lumMod val="50000"/>
                  </a:schemeClr>
                </a:solidFill>
                <a:latin typeface="Consolas" pitchFamily="49" charset="0"/>
                <a:ea typeface="仿宋" pitchFamily="49" charset="-122"/>
                <a:cs typeface="Consolas" pitchFamily="49" charset="0"/>
              </a:rPr>
              <a:t>ans-1</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   }</a:t>
            </a:r>
          </a:p>
          <a:p>
            <a:pPr algn="l">
              <a:lnSpc>
                <a:spcPts val="2100"/>
              </a:lnSpc>
              <a:spcBef>
                <a:spcPts val="0"/>
              </a:spcBef>
            </a:pPr>
            <a:r>
              <a:rPr lang="en-US" altLang="zh-CN" sz="1800" smtClean="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pic>
        <p:nvPicPr>
          <p:cNvPr id="15362" name="Picture 2" descr="https://timgsa.baidu.com/timg?image&amp;quality=80&amp;size=b9999_10000&amp;sec=1568294437043&amp;di=76e0343ef3e1149bc5c6fbc3179beb53&amp;imgtype=0&amp;src=http%3A%2F%2Fimg.wmxa.cn%2Fuploads%2Fallimg%2F171125%2F002R13Y1-1.gif"/>
          <p:cNvPicPr>
            <a:picLocks noChangeAspect="1" noChangeArrowheads="1" noCrop="1"/>
          </p:cNvPicPr>
          <p:nvPr/>
        </p:nvPicPr>
        <p:blipFill>
          <a:blip r:embed="rId2" cstate="print"/>
          <a:srcRect/>
          <a:stretch>
            <a:fillRect/>
          </a:stretch>
        </p:blipFill>
        <p:spPr bwMode="auto">
          <a:xfrm>
            <a:off x="6715140" y="4714884"/>
            <a:ext cx="1643073" cy="1643074"/>
          </a:xfrm>
          <a:prstGeom prst="rect">
            <a:avLst/>
          </a:prstGeom>
          <a:noFill/>
        </p:spPr>
      </p:pic>
      <p:sp>
        <p:nvSpPr>
          <p:cNvPr id="6" name="灯片编号占位符 5"/>
          <p:cNvSpPr>
            <a:spLocks noGrp="1"/>
          </p:cNvSpPr>
          <p:nvPr>
            <p:ph type="sldNum" sz="quarter" idx="12"/>
          </p:nvPr>
        </p:nvSpPr>
        <p:spPr/>
        <p:txBody>
          <a:bodyPr/>
          <a:lstStyle/>
          <a:p>
            <a:fld id="{67864EE2-EAB3-4814-A7EB-820BD7610F1E}" type="slidenum">
              <a:rPr lang="en-US" altLang="zh-CN" smtClean="0"/>
              <a:pPr/>
              <a:t>76</a:t>
            </a:fld>
            <a:r>
              <a:rPr lang="en-US" altLang="zh-CN" smtClean="0"/>
              <a:t>/76</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w="19050">
          <a:headEnd/>
          <a:tailEnd/>
        </a:ln>
      </a:spPr>
      <a:bodyPr vert="horz" wrap="square" lIns="91440" tIns="45720" rIns="91440" bIns="45720" numCol="1" anchor="t" anchorCtr="0" compatLnSpc="1">
        <a:prstTxWarp prst="textNoShape">
          <a:avLst/>
        </a:prstTxWarp>
      </a:bodyPr>
      <a:lstStyle>
        <a:defPPr>
          <a:lnSpc>
            <a:spcPts val="2000"/>
          </a:lnSpc>
          <a:defRPr sz="1800" i="1">
            <a:solidFill>
              <a:srgbClr val="0000FF"/>
            </a:solidFill>
            <a:latin typeface="Consolas" pitchFamily="49" charset="0"/>
            <a:ea typeface="仿宋" pitchFamily="49" charset="-122"/>
            <a:cs typeface="Consolas" pitchFamily="49" charset="0"/>
          </a:defRPr>
        </a:defPPr>
      </a:lstStyle>
      <a:style>
        <a:lnRef idx="2">
          <a:schemeClr val="dk1"/>
        </a:lnRef>
        <a:fillRef idx="0">
          <a:schemeClr val="dk1"/>
        </a:fillRef>
        <a:effectRef idx="1">
          <a:schemeClr val="dk1"/>
        </a:effectRef>
        <a:fontRef idx="minor">
          <a:schemeClr val="tx1"/>
        </a:fontRef>
      </a:style>
    </a:spDef>
    <a:lnDef>
      <a:spPr>
        <a:ln w="19050">
          <a:tailEnd type="none"/>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itchFamily="49" charset="0"/>
            <a:ea typeface="仿宋" pitchFamily="49" charset="-122"/>
            <a:cs typeface="Consolas" pitchFamily="49" charset="0"/>
          </a:defRPr>
        </a:defPPr>
      </a:lstStyle>
    </a:tx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5562</TotalTime>
  <Words>7145</Words>
  <Application>Microsoft Office PowerPoint</Application>
  <PresentationFormat>全屏显示(4:3)</PresentationFormat>
  <Paragraphs>1078</Paragraphs>
  <Slides>76</Slides>
  <Notes>0</Notes>
  <HiddenSlides>0</HiddenSlides>
  <MMClips>0</MMClips>
  <ScaleCrop>false</ScaleCrop>
  <HeadingPairs>
    <vt:vector size="4" baseType="variant">
      <vt:variant>
        <vt:lpstr>主题</vt:lpstr>
      </vt:variant>
      <vt:variant>
        <vt:i4>1</vt:i4>
      </vt:variant>
      <vt:variant>
        <vt:lpstr>幻灯片标题</vt:lpstr>
      </vt:variant>
      <vt:variant>
        <vt:i4>76</vt:i4>
      </vt:variant>
    </vt:vector>
  </HeadingPairs>
  <TitlesOfParts>
    <vt:vector size="77" baseType="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Administrator</cp:lastModifiedBy>
  <cp:revision>2939</cp:revision>
  <dcterms:created xsi:type="dcterms:W3CDTF">2004-03-31T23:50:14Z</dcterms:created>
  <dcterms:modified xsi:type="dcterms:W3CDTF">2022-06-06T07:32:44Z</dcterms:modified>
</cp:coreProperties>
</file>