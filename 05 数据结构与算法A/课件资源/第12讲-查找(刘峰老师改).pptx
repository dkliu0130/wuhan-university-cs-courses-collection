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handoutMasterIdLst>
    <p:handoutMasterId r:id="rId172"/>
  </p:handoutMasterIdLst>
  <p:sldIdLst>
    <p:sldId id="670" r:id="rId3"/>
    <p:sldId id="546" r:id="rId4"/>
    <p:sldId id="653" r:id="rId5"/>
    <p:sldId id="758" r:id="rId6"/>
    <p:sldId id="796" r:id="rId7"/>
    <p:sldId id="797" r:id="rId8"/>
    <p:sldId id="654" r:id="rId9"/>
    <p:sldId id="800" r:id="rId10"/>
    <p:sldId id="714" r:id="rId11"/>
    <p:sldId id="801" r:id="rId12"/>
    <p:sldId id="836" r:id="rId13"/>
    <p:sldId id="807" r:id="rId14"/>
    <p:sldId id="808" r:id="rId15"/>
    <p:sldId id="839" r:id="rId16"/>
    <p:sldId id="841" r:id="rId17"/>
    <p:sldId id="810" r:id="rId18"/>
    <p:sldId id="845" r:id="rId19"/>
    <p:sldId id="844" r:id="rId20"/>
    <p:sldId id="846" r:id="rId21"/>
    <p:sldId id="811" r:id="rId22"/>
    <p:sldId id="812" r:id="rId23"/>
    <p:sldId id="814" r:id="rId24"/>
    <p:sldId id="815" r:id="rId25"/>
    <p:sldId id="847" r:id="rId26"/>
    <p:sldId id="816" r:id="rId27"/>
    <p:sldId id="827" r:id="rId28"/>
    <p:sldId id="828" r:id="rId29"/>
    <p:sldId id="829" r:id="rId30"/>
    <p:sldId id="850" r:id="rId31"/>
    <p:sldId id="852" r:id="rId32"/>
    <p:sldId id="851" r:id="rId33"/>
    <p:sldId id="853" r:id="rId34"/>
    <p:sldId id="854" r:id="rId35"/>
    <p:sldId id="855" r:id="rId36"/>
    <p:sldId id="856" r:id="rId37"/>
    <p:sldId id="857" r:id="rId38"/>
    <p:sldId id="858" r:id="rId39"/>
    <p:sldId id="859" r:id="rId40"/>
    <p:sldId id="860" r:id="rId41"/>
    <p:sldId id="861" r:id="rId42"/>
    <p:sldId id="862" r:id="rId43"/>
    <p:sldId id="863" r:id="rId44"/>
    <p:sldId id="864" r:id="rId45"/>
    <p:sldId id="865" r:id="rId46"/>
    <p:sldId id="866" r:id="rId47"/>
    <p:sldId id="867" r:id="rId48"/>
    <p:sldId id="868" r:id="rId49"/>
    <p:sldId id="869" r:id="rId50"/>
    <p:sldId id="870" r:id="rId51"/>
    <p:sldId id="873" r:id="rId52"/>
    <p:sldId id="874" r:id="rId54"/>
    <p:sldId id="875" r:id="rId55"/>
    <p:sldId id="876" r:id="rId56"/>
    <p:sldId id="877" r:id="rId57"/>
    <p:sldId id="884" r:id="rId58"/>
    <p:sldId id="885" r:id="rId59"/>
    <p:sldId id="886" r:id="rId60"/>
    <p:sldId id="887" r:id="rId61"/>
    <p:sldId id="888" r:id="rId62"/>
    <p:sldId id="889" r:id="rId63"/>
    <p:sldId id="890" r:id="rId64"/>
    <p:sldId id="891" r:id="rId65"/>
    <p:sldId id="892" r:id="rId66"/>
    <p:sldId id="893" r:id="rId67"/>
    <p:sldId id="894" r:id="rId68"/>
    <p:sldId id="895" r:id="rId69"/>
    <p:sldId id="896" r:id="rId70"/>
    <p:sldId id="897" r:id="rId71"/>
    <p:sldId id="898" r:id="rId72"/>
    <p:sldId id="899" r:id="rId73"/>
    <p:sldId id="900" r:id="rId74"/>
    <p:sldId id="901" r:id="rId75"/>
    <p:sldId id="902" r:id="rId76"/>
    <p:sldId id="903" r:id="rId77"/>
    <p:sldId id="904" r:id="rId78"/>
    <p:sldId id="905" r:id="rId79"/>
    <p:sldId id="912" r:id="rId80"/>
    <p:sldId id="913" r:id="rId81"/>
    <p:sldId id="914" r:id="rId82"/>
    <p:sldId id="915" r:id="rId83"/>
    <p:sldId id="1016" r:id="rId84"/>
    <p:sldId id="1017" r:id="rId85"/>
    <p:sldId id="1018" r:id="rId86"/>
    <p:sldId id="1019" r:id="rId87"/>
    <p:sldId id="1020" r:id="rId88"/>
    <p:sldId id="1021" r:id="rId89"/>
    <p:sldId id="1022" r:id="rId90"/>
    <p:sldId id="1023" r:id="rId91"/>
    <p:sldId id="1024" r:id="rId92"/>
    <p:sldId id="1025" r:id="rId93"/>
    <p:sldId id="1026" r:id="rId94"/>
    <p:sldId id="1027" r:id="rId95"/>
    <p:sldId id="1028" r:id="rId96"/>
    <p:sldId id="1029" r:id="rId97"/>
    <p:sldId id="1030" r:id="rId98"/>
    <p:sldId id="1031" r:id="rId99"/>
    <p:sldId id="1032" r:id="rId100"/>
    <p:sldId id="1033" r:id="rId101"/>
    <p:sldId id="1034" r:id="rId102"/>
    <p:sldId id="1035" r:id="rId103"/>
    <p:sldId id="1036" r:id="rId104"/>
    <p:sldId id="1037" r:id="rId105"/>
    <p:sldId id="1038" r:id="rId106"/>
    <p:sldId id="1039" r:id="rId107"/>
    <p:sldId id="1040" r:id="rId108"/>
    <p:sldId id="1041" r:id="rId109"/>
    <p:sldId id="1042" r:id="rId110"/>
    <p:sldId id="1043" r:id="rId111"/>
    <p:sldId id="1044" r:id="rId112"/>
    <p:sldId id="1045" r:id="rId113"/>
    <p:sldId id="1046" r:id="rId114"/>
    <p:sldId id="1047" r:id="rId115"/>
    <p:sldId id="1048" r:id="rId116"/>
    <p:sldId id="1049" r:id="rId117"/>
    <p:sldId id="1050" r:id="rId118"/>
    <p:sldId id="1051" r:id="rId119"/>
    <p:sldId id="1052" r:id="rId120"/>
    <p:sldId id="1053" r:id="rId121"/>
    <p:sldId id="1054" r:id="rId122"/>
    <p:sldId id="1055" r:id="rId123"/>
    <p:sldId id="1056" r:id="rId124"/>
    <p:sldId id="1057" r:id="rId125"/>
    <p:sldId id="1058" r:id="rId126"/>
    <p:sldId id="1059" r:id="rId127"/>
    <p:sldId id="1060" r:id="rId128"/>
    <p:sldId id="1061" r:id="rId129"/>
    <p:sldId id="1062" r:id="rId130"/>
    <p:sldId id="1063" r:id="rId131"/>
    <p:sldId id="1064" r:id="rId132"/>
    <p:sldId id="1065" r:id="rId133"/>
    <p:sldId id="1066" r:id="rId134"/>
    <p:sldId id="1067" r:id="rId135"/>
    <p:sldId id="1068" r:id="rId136"/>
    <p:sldId id="1069" r:id="rId137"/>
    <p:sldId id="1070" r:id="rId138"/>
    <p:sldId id="1071" r:id="rId139"/>
    <p:sldId id="942" r:id="rId140"/>
    <p:sldId id="921" r:id="rId141"/>
    <p:sldId id="922" r:id="rId142"/>
    <p:sldId id="927" r:id="rId143"/>
    <p:sldId id="943" r:id="rId144"/>
    <p:sldId id="944" r:id="rId145"/>
    <p:sldId id="945" r:id="rId146"/>
    <p:sldId id="946" r:id="rId147"/>
    <p:sldId id="947" r:id="rId148"/>
    <p:sldId id="948" r:id="rId149"/>
    <p:sldId id="949" r:id="rId150"/>
    <p:sldId id="950" r:id="rId151"/>
    <p:sldId id="951" r:id="rId152"/>
    <p:sldId id="955" r:id="rId153"/>
    <p:sldId id="956" r:id="rId154"/>
    <p:sldId id="957" r:id="rId155"/>
    <p:sldId id="962" r:id="rId156"/>
    <p:sldId id="964" r:id="rId157"/>
    <p:sldId id="965" r:id="rId158"/>
    <p:sldId id="966" r:id="rId159"/>
    <p:sldId id="967" r:id="rId160"/>
    <p:sldId id="968" r:id="rId161"/>
    <p:sldId id="972" r:id="rId162"/>
    <p:sldId id="973" r:id="rId163"/>
    <p:sldId id="974" r:id="rId164"/>
    <p:sldId id="979" r:id="rId165"/>
    <p:sldId id="980" r:id="rId166"/>
    <p:sldId id="981" r:id="rId167"/>
    <p:sldId id="982" r:id="rId168"/>
    <p:sldId id="983" r:id="rId169"/>
    <p:sldId id="984" r:id="rId170"/>
    <p:sldId id="986" r:id="rId171"/>
  </p:sldIdLst>
  <p:sldSz cx="9144000" cy="6858000" type="screen4x3"/>
  <p:notesSz cx="6858000" cy="9144000"/>
  <p:custDataLst>
    <p:tags r:id="rId176"/>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7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00FF"/>
    <a:srgbClr val="0000FF"/>
    <a:srgbClr val="009900"/>
    <a:srgbClr val="006600"/>
    <a:srgbClr val="FF3399"/>
    <a:srgbClr val="339933"/>
    <a:srgbClr val="3333FF"/>
    <a:srgbClr val="6600CC"/>
    <a:srgbClr val="00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6" autoAdjust="0"/>
    <p:restoredTop sz="94591" autoAdjust="0"/>
  </p:normalViewPr>
  <p:slideViewPr>
    <p:cSldViewPr showGuides="1">
      <p:cViewPr varScale="1">
        <p:scale>
          <a:sx n="100" d="100"/>
          <a:sy n="100" d="100"/>
        </p:scale>
        <p:origin x="-498" y="-96"/>
      </p:cViewPr>
      <p:guideLst>
        <p:guide orient="horz" pos="217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903"/>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6" Type="http://schemas.openxmlformats.org/officeDocument/2006/relationships/tags" Target="tags/tag1.xml"/><Relationship Id="rId175" Type="http://schemas.openxmlformats.org/officeDocument/2006/relationships/tableStyles" Target="tableStyles.xml"/><Relationship Id="rId174" Type="http://schemas.openxmlformats.org/officeDocument/2006/relationships/viewProps" Target="viewProps.xml"/><Relationship Id="rId173" Type="http://schemas.openxmlformats.org/officeDocument/2006/relationships/presProps" Target="presProps.xml"/><Relationship Id="rId172" Type="http://schemas.openxmlformats.org/officeDocument/2006/relationships/handoutMaster" Target="handoutMasters/handoutMaster1.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5.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4.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3.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E2E1D26B-CE3A-4ED3-8FA9-CC216B35A03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pPr>
              <a:defRPr/>
            </a:pPr>
            <a:fld id="{E2E1D26B-CE3A-4ED3-8FA9-CC216B35A03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a:xfrm>
            <a:off x="7886752" y="6356350"/>
            <a:ext cx="1042966" cy="365125"/>
          </a:xfrm>
        </p:spPr>
        <p:txBody>
          <a:bodyPr/>
          <a:lstStyle>
            <a:lvl1pPr>
              <a:defRPr sz="1400" b="0" baseline="0">
                <a:solidFill>
                  <a:srgbClr val="FF0000"/>
                </a:solidFill>
                <a:latin typeface="Consolas" panose="020B0609020204030204" pitchFamily="49" charset="0"/>
                <a:cs typeface="Consolas" panose="020B0609020204030204" pitchFamily="49" charset="0"/>
              </a:defRPr>
            </a:lvl1p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9CC1A509-F345-48E4-886B-3D89EE9034F6}"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GIF"/><Relationship Id="rId1"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GI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GI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GIF"/></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jpe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GI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GIF"/></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GIF"/></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jpeg"/><Relationship Id="rId1" Type="http://schemas.openxmlformats.org/officeDocument/2006/relationships/image" Target="../media/image1.GIF"/></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jpeg"/><Relationship Id="rId1" Type="http://schemas.openxmlformats.org/officeDocument/2006/relationships/image" Target="../media/image1.GIF"/></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GIF"/></Relationships>
</file>

<file path=ppt/slides/_rels/slide1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357422" y="428604"/>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9</a:t>
            </a:r>
            <a:r>
              <a:rPr lang="zh-CN"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 </a:t>
            </a: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查找</a:t>
            </a:r>
            <a:endPar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endParaRPr>
          </a:p>
        </p:txBody>
      </p:sp>
      <p:sp>
        <p:nvSpPr>
          <p:cNvPr id="12" name="TextBox 11">
            <a:hlinkClick r:id="rId1" action="ppaction://hlinksldjump"/>
          </p:cNvPr>
          <p:cNvSpPr txBox="1"/>
          <p:nvPr/>
        </p:nvSpPr>
        <p:spPr>
          <a:xfrm>
            <a:off x="3571868" y="1857364"/>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9.1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查找的基本概念</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3571868" y="2601888"/>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9.2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线性表的查找</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8" name="组合 79"/>
          <p:cNvGrpSpPr/>
          <p:nvPr/>
        </p:nvGrpSpPr>
        <p:grpSpPr bwMode="auto">
          <a:xfrm>
            <a:off x="911802" y="2143116"/>
            <a:ext cx="2160000" cy="2177998"/>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smtClean="0">
                <a:solidFill>
                  <a:srgbClr val="FFFFFF"/>
                </a:solidFill>
              </a:endParaRPr>
            </a:p>
          </p:txBody>
        </p:sp>
      </p:grpSp>
      <p:sp>
        <p:nvSpPr>
          <p:cNvPr id="21" name="文本框 20"/>
          <p:cNvSpPr txBox="1">
            <a:spLocks noChangeArrowheads="1"/>
          </p:cNvSpPr>
          <p:nvPr/>
        </p:nvSpPr>
        <p:spPr bwMode="auto">
          <a:xfrm>
            <a:off x="1163324" y="3252893"/>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2" name="文本框 20"/>
          <p:cNvSpPr txBox="1">
            <a:spLocks noChangeArrowheads="1"/>
          </p:cNvSpPr>
          <p:nvPr/>
        </p:nvSpPr>
        <p:spPr bwMode="auto">
          <a:xfrm>
            <a:off x="1307340" y="2572883"/>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3200" b="1" dirty="0" smtClean="0">
                <a:solidFill>
                  <a:srgbClr val="008000"/>
                </a:solidFill>
              </a:rPr>
              <a:t>提纲</a:t>
            </a:r>
            <a:endParaRPr lang="zh-CN" altLang="en-US" sz="3200" b="1" dirty="0">
              <a:solidFill>
                <a:srgbClr val="008000"/>
              </a:solidFill>
            </a:endParaRPr>
          </a:p>
        </p:txBody>
      </p:sp>
      <p:sp>
        <p:nvSpPr>
          <p:cNvPr id="13" name="TextBox 12">
            <a:hlinkClick r:id="" action="ppaction://noaction"/>
          </p:cNvPr>
          <p:cNvSpPr txBox="1"/>
          <p:nvPr/>
        </p:nvSpPr>
        <p:spPr>
          <a:xfrm>
            <a:off x="3571868" y="3362986"/>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9.3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树表的查找</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3571868" y="4128708"/>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9.4 </a:t>
            </a:r>
            <a:r>
              <a:rPr lang="zh-CN" altLang="zh-CN"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哈希表查找</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642910" y="1643050"/>
            <a:ext cx="7929618" cy="30650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一般情况下，被查找的对象称为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查找表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，查找表包含一组元素（或记录），每个元素由若干个数据项组成，并假设有</a:t>
            </a:r>
            <a:r>
              <a:rPr lang="zh-CN" altLang="zh-CN" sz="2000" smtClean="0">
                <a:solidFill>
                  <a:srgbClr val="009900"/>
                </a:solidFill>
                <a:latin typeface="Consolas" panose="020B0609020204030204" pitchFamily="49" charset="0"/>
                <a:ea typeface="仿宋" panose="02010609060101010101" pitchFamily="49" charset="-122"/>
                <a:cs typeface="Consolas" panose="020B0609020204030204" pitchFamily="49" charset="0"/>
              </a:rPr>
              <a:t>能唯一标识元素的数据项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，称为</a:t>
            </a:r>
            <a:r>
              <a:rPr lang="zh-CN" altLang="zh-CN" sz="2000" smtClean="0">
                <a:solidFill>
                  <a:srgbClr val="009900"/>
                </a:solidFill>
                <a:latin typeface="Consolas" panose="020B0609020204030204" pitchFamily="49" charset="0"/>
                <a:ea typeface="仿宋" panose="02010609060101010101" pitchFamily="49" charset="-122"/>
                <a:cs typeface="Consolas" panose="020B0609020204030204" pitchFamily="49" charset="0"/>
              </a:rPr>
              <a:t>主关键字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（默认按</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主关键字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查</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找</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给定一个值</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，在含有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个元素的查找表中找出关键字等于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的元素。若找到这样的元素，表示查找成功，返回该元素的信息或该元素在表中的位置；否则查找不成功或者查找失败，返回相应的指示信息。</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2428860" y="428604"/>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9.1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查找的基本概念</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4348" y="857232"/>
            <a:ext cx="807249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查找表按照操作方式分为静态查找表和动态查找表两类。</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857256" y="1571612"/>
            <a:ext cx="6357950" cy="11414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30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静态查找</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表</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适合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，不适合插入和删除</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动态查找</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表</a:t>
            </a: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适合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入和删</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85786" y="642918"/>
            <a:ext cx="37862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查找有内查找和外查找之分。</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714348" y="1142984"/>
            <a:ext cx="7500990" cy="10874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ct val="150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若整个查找过程都在内存进行，则称之为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内查找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50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反之，若查找过程中需要访问外存，则称之为</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外查找</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bwMode="auto">
          <a:xfrm>
            <a:off x="500034" y="1357298"/>
            <a:ext cx="7929618" cy="4429156"/>
          </a:xfrm>
          <a:prstGeom prst="rect">
            <a:avLst/>
          </a:prstGeom>
          <a:solidFill>
            <a:schemeClr val="accent5">
              <a:lumMod val="20000"/>
              <a:lumOff val="80000"/>
              <a:alpha val="0"/>
            </a:schemeClr>
          </a:solidFill>
          <a:ln w="19050">
            <a:solidFill>
              <a:schemeClr val="accent6">
                <a:lumMod val="20000"/>
                <a:lumOff val="80000"/>
              </a:schemeClr>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2000">
              <a:solidFill>
                <a:srgbClr val="0000FF"/>
              </a:solidFill>
              <a:latin typeface="Consolas" panose="020B0609020204030204" pitchFamily="49" charset="0"/>
              <a:cs typeface="Consolas" panose="020B0609020204030204" pitchFamily="49" charset="0"/>
            </a:endParaRPr>
          </a:p>
        </p:txBody>
      </p:sp>
      <p:sp>
        <p:nvSpPr>
          <p:cNvPr id="5" name="TextBox 4"/>
          <p:cNvSpPr txBox="1"/>
          <p:nvPr/>
        </p:nvSpPr>
        <p:spPr>
          <a:xfrm>
            <a:off x="642910" y="1545069"/>
            <a:ext cx="7500990" cy="1682512"/>
          </a:xfrm>
          <a:prstGeom prst="rect">
            <a:avLst/>
          </a:prstGeom>
          <a:noFill/>
        </p:spPr>
        <p:txBody>
          <a:bodyPr wrap="square"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查找算法中的主要操作是</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关键字之间的比较</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，所以通常把查找过程中关键字平均比较次数也就是平均查找长度作为衡量一个查找算法效率优劣的依据。</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平均查找长度</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ASL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Average Search Length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）定义为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3071802" y="3331025"/>
            <a:ext cx="1466850" cy="857250"/>
          </a:xfrm>
          <a:prstGeom prst="rect">
            <a:avLst/>
          </a:prstGeom>
          <a:noFill/>
          <a:ln w="9525">
            <a:noFill/>
            <a:miter lim="800000"/>
            <a:headEnd/>
            <a:tailEnd/>
          </a:ln>
        </p:spPr>
      </p:pic>
      <p:sp>
        <p:nvSpPr>
          <p:cNvPr id="7" name="TextBox 6"/>
          <p:cNvSpPr txBox="1"/>
          <p:nvPr/>
        </p:nvSpPr>
        <p:spPr>
          <a:xfrm>
            <a:off x="1000100" y="4259713"/>
            <a:ext cx="6929486" cy="1500283"/>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是查找表中元素的个数，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是查找第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个元素的概率，一般地，除特别指出外，均认为每个元素的查找概率相等，即</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n-ea"/>
                <a:ea typeface="+mn-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是查找到第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个元素所需的关键字比较次数。</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34" y="714356"/>
            <a:ext cx="207170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查找</a:t>
            </a:r>
            <a:r>
              <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性能评价</a:t>
            </a:r>
            <a:endPar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071546"/>
            <a:ext cx="8001056" cy="782137"/>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由于查找的结果有查找成功和不成功两种情况，所以平均查找长度也分为成功情况下的平均查找长度和不成功情况下的平均查找长度。</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928662" y="2143116"/>
            <a:ext cx="7429552" cy="17313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成功情况下的平均查找长度</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指在查找表中找到指定关键字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的元素平均所需关键字比较的次数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不成功情况下的平均查找长度</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指在查找表中确定找不到关键字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的元素平均所需关键字比较的次数。</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2143108" y="642918"/>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9.2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线性表的查找</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1" name="TextBox 40"/>
          <p:cNvSpPr txBox="1"/>
          <p:nvPr/>
        </p:nvSpPr>
        <p:spPr>
          <a:xfrm>
            <a:off x="642910" y="1857364"/>
            <a:ext cx="7858180" cy="17799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线性表采用顺序表存储，由于顺序表不适合数据修改操作（插入和删除元素几乎需要移动一半的元素）</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顺序表是一种静态查找表。</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三种线性表查找方法，即顺序查找、折半查找和分块查找算法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857232"/>
            <a:ext cx="335758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顺序表</a:t>
            </a:r>
            <a:r>
              <a:rPr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组织：</a:t>
            </a:r>
            <a:endParaRPr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6" name="TextBox 5"/>
          <p:cNvSpPr txBox="1"/>
          <p:nvPr/>
        </p:nvSpPr>
        <p:spPr>
          <a:xfrm>
            <a:off x="500034" y="1643050"/>
            <a:ext cx="8358246" cy="100895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待查找的顺序表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仅由若干整数构成，</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直接采用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vector&lt;int&gt;</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向量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285720" y="500042"/>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9.2.1  </a:t>
            </a:r>
            <a:r>
              <a:rPr lang="zh-CN" altLang="zh-CN" smtClean="0">
                <a:latin typeface="Consolas" panose="020B0609020204030204" pitchFamily="49" charset="0"/>
                <a:ea typeface="微软雅黑" panose="020B0503020204020204" pitchFamily="34" charset="-122"/>
                <a:cs typeface="Consolas" panose="020B0609020204030204" pitchFamily="49" charset="0"/>
              </a:rPr>
              <a:t>顺序查找</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857224" y="1357298"/>
            <a:ext cx="1571636" cy="45318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基本思路</a:t>
            </a:r>
            <a:endPar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857224" y="2214554"/>
            <a:ext cx="7715304" cy="26033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从顺序表的一端开始依次遍历，将遍历的元素关键字和给定值</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相比</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较</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若两者相等，则查找成功，返回该元素的序号</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若遍历结束后，仍未找到关键字等于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的元素，则查找失败，返回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2"/>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默认</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从顺序表的前端开始遍历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142984"/>
            <a:ext cx="7858180" cy="300950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SeqSearch1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顺序查找算法</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n=R.size();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(i&lt;n &amp;&amp;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R[i]!=k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从表头往后找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(i&gt;=n) return -1;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未找到返回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找到后返回其序号</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1" name="组合 10"/>
          <p:cNvGrpSpPr/>
          <p:nvPr/>
        </p:nvGrpSpPr>
        <p:grpSpPr>
          <a:xfrm>
            <a:off x="2000232" y="4214818"/>
            <a:ext cx="1785950" cy="828738"/>
            <a:chOff x="2000232" y="3571876"/>
            <a:chExt cx="1785950" cy="828738"/>
          </a:xfrm>
        </p:grpSpPr>
        <p:sp>
          <p:nvSpPr>
            <p:cNvPr id="5" name="TextBox 4"/>
            <p:cNvSpPr txBox="1"/>
            <p:nvPr/>
          </p:nvSpPr>
          <p:spPr>
            <a:xfrm>
              <a:off x="2000232" y="4000504"/>
              <a:ext cx="178595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简单比较方法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上箭头 5"/>
            <p:cNvSpPr/>
            <p:nvPr/>
          </p:nvSpPr>
          <p:spPr bwMode="auto">
            <a:xfrm>
              <a:off x="2643174" y="3571876"/>
              <a:ext cx="214314" cy="357190"/>
            </a:xfrm>
            <a:prstGeom prst="up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2000">
                <a:solidFill>
                  <a:srgbClr val="0000FF"/>
                </a:solidFill>
                <a:latin typeface="Consolas" panose="020B0609020204030204" pitchFamily="49" charset="0"/>
                <a:cs typeface="Consolas" panose="020B0609020204030204" pitchFamily="49" charset="0"/>
              </a:endParaRPr>
            </a:p>
          </p:txBody>
        </p:sp>
      </p:grpSp>
      <p:grpSp>
        <p:nvGrpSpPr>
          <p:cNvPr id="10" name="组合 9"/>
          <p:cNvGrpSpPr/>
          <p:nvPr/>
        </p:nvGrpSpPr>
        <p:grpSpPr>
          <a:xfrm>
            <a:off x="3000364" y="447240"/>
            <a:ext cx="1714512" cy="1767314"/>
            <a:chOff x="3000364" y="447240"/>
            <a:chExt cx="1714512" cy="1767314"/>
          </a:xfrm>
        </p:grpSpPr>
        <p:sp>
          <p:nvSpPr>
            <p:cNvPr id="7" name="TextBox 6"/>
            <p:cNvSpPr txBox="1"/>
            <p:nvPr/>
          </p:nvSpPr>
          <p:spPr>
            <a:xfrm>
              <a:off x="3000364" y="447240"/>
              <a:ext cx="171451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关键字比较</a:t>
              </a:r>
              <a:endPar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9" name="任意多边形 8"/>
            <p:cNvSpPr/>
            <p:nvPr/>
          </p:nvSpPr>
          <p:spPr>
            <a:xfrm>
              <a:off x="3286116" y="714356"/>
              <a:ext cx="500066" cy="1500198"/>
            </a:xfrm>
            <a:custGeom>
              <a:avLst/>
              <a:gdLst>
                <a:gd name="connsiteX0" fmla="*/ 571500 w 571500"/>
                <a:gd name="connsiteY0" fmla="*/ 0 h 1419225"/>
                <a:gd name="connsiteX1" fmla="*/ 409575 w 571500"/>
                <a:gd name="connsiteY1" fmla="*/ 828675 h 1419225"/>
                <a:gd name="connsiteX2" fmla="*/ 0 w 571500"/>
                <a:gd name="connsiteY2" fmla="*/ 1419225 h 1419225"/>
              </a:gdLst>
              <a:ahLst/>
              <a:cxnLst>
                <a:cxn ang="0">
                  <a:pos x="connsiteX0" y="connsiteY0"/>
                </a:cxn>
                <a:cxn ang="0">
                  <a:pos x="connsiteX1" y="connsiteY1"/>
                </a:cxn>
                <a:cxn ang="0">
                  <a:pos x="connsiteX2" y="connsiteY2"/>
                </a:cxn>
              </a:cxnLst>
              <a:rect l="l" t="t" r="r" b="b"/>
              <a:pathLst>
                <a:path w="571500" h="1419225">
                  <a:moveTo>
                    <a:pt x="571500" y="0"/>
                  </a:moveTo>
                  <a:cubicBezTo>
                    <a:pt x="538162" y="296069"/>
                    <a:pt x="504825" y="592138"/>
                    <a:pt x="409575" y="828675"/>
                  </a:cubicBezTo>
                  <a:cubicBezTo>
                    <a:pt x="314325" y="1065212"/>
                    <a:pt x="157162" y="1242218"/>
                    <a:pt x="0" y="1419225"/>
                  </a:cubicBezTo>
                </a:path>
              </a:pathLst>
            </a:custGeom>
            <a:ln w="19050">
              <a:solidFill>
                <a:srgbClr val="FF00FF"/>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grpSp>
      <p:sp>
        <p:nvSpPr>
          <p:cNvPr id="18" name="灯片编号占位符 1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083688"/>
            <a:ext cx="7858180" cy="300950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SeqSearch2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顺序查找算法</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n=R.size();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R.push_back(k);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末尾添加一个哨兵</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R[i]!=k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从表头往后找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i==n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未找到返回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找到后返回其序号</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14348" y="500042"/>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设置一个哨兵</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1" name="组合 10"/>
          <p:cNvGrpSpPr/>
          <p:nvPr/>
        </p:nvGrpSpPr>
        <p:grpSpPr>
          <a:xfrm>
            <a:off x="500034" y="4643446"/>
            <a:ext cx="7858180" cy="896901"/>
            <a:chOff x="428596" y="4143380"/>
            <a:chExt cx="7858180" cy="896901"/>
          </a:xfrm>
        </p:grpSpPr>
        <p:sp>
          <p:nvSpPr>
            <p:cNvPr id="6" name="TextBox 5"/>
            <p:cNvSpPr txBox="1"/>
            <p:nvPr/>
          </p:nvSpPr>
          <p:spPr>
            <a:xfrm>
              <a:off x="1357290" y="4214818"/>
              <a:ext cx="6929486" cy="707886"/>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由于查找算法主要考虑关键字之间的比较，两个算法的效率差不多</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428596" y="4143380"/>
              <a:ext cx="896901" cy="896901"/>
              <a:chOff x="388951" y="5103867"/>
              <a:chExt cx="896901" cy="896901"/>
            </a:xfrm>
          </p:grpSpPr>
          <p:sp>
            <p:nvSpPr>
              <p:cNvPr id="8" name="椭圆 7"/>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9" name="椭圆 8"/>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0"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grpSp>
        <p:nvGrpSpPr>
          <p:cNvPr id="15" name="组合 14"/>
          <p:cNvGrpSpPr/>
          <p:nvPr/>
        </p:nvGrpSpPr>
        <p:grpSpPr>
          <a:xfrm>
            <a:off x="2643174" y="447240"/>
            <a:ext cx="2214578" cy="2124504"/>
            <a:chOff x="2428860" y="447240"/>
            <a:chExt cx="2428892" cy="1945191"/>
          </a:xfrm>
        </p:grpSpPr>
        <p:sp>
          <p:nvSpPr>
            <p:cNvPr id="12" name="TextBox 11"/>
            <p:cNvSpPr txBox="1"/>
            <p:nvPr/>
          </p:nvSpPr>
          <p:spPr>
            <a:xfrm>
              <a:off x="3000364" y="447240"/>
              <a:ext cx="185738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关键字比较</a:t>
              </a:r>
              <a:endPar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14" name="任意多边形 13"/>
            <p:cNvSpPr/>
            <p:nvPr/>
          </p:nvSpPr>
          <p:spPr>
            <a:xfrm>
              <a:off x="2428860" y="714356"/>
              <a:ext cx="1396721" cy="1678075"/>
            </a:xfrm>
            <a:custGeom>
              <a:avLst/>
              <a:gdLst>
                <a:gd name="connsiteX0" fmla="*/ 1396721 w 1396721"/>
                <a:gd name="connsiteY0" fmla="*/ 0 h 1678075"/>
                <a:gd name="connsiteX1" fmla="*/ 1256044 w 1396721"/>
                <a:gd name="connsiteY1" fmla="*/ 673239 h 1678075"/>
                <a:gd name="connsiteX2" fmla="*/ 984739 w 1396721"/>
                <a:gd name="connsiteY2" fmla="*/ 1065125 h 1678075"/>
                <a:gd name="connsiteX3" fmla="*/ 0 w 1396721"/>
                <a:gd name="connsiteY3" fmla="*/ 1678075 h 1678075"/>
              </a:gdLst>
              <a:ahLst/>
              <a:cxnLst>
                <a:cxn ang="0">
                  <a:pos x="connsiteX0" y="connsiteY0"/>
                </a:cxn>
                <a:cxn ang="0">
                  <a:pos x="connsiteX1" y="connsiteY1"/>
                </a:cxn>
                <a:cxn ang="0">
                  <a:pos x="connsiteX2" y="connsiteY2"/>
                </a:cxn>
                <a:cxn ang="0">
                  <a:pos x="connsiteX3" y="connsiteY3"/>
                </a:cxn>
              </a:cxnLst>
              <a:rect l="l" t="t" r="r" b="b"/>
              <a:pathLst>
                <a:path w="1396721" h="1678075">
                  <a:moveTo>
                    <a:pt x="1396721" y="0"/>
                  </a:moveTo>
                  <a:cubicBezTo>
                    <a:pt x="1360714" y="247859"/>
                    <a:pt x="1324708" y="495718"/>
                    <a:pt x="1256044" y="673239"/>
                  </a:cubicBezTo>
                  <a:cubicBezTo>
                    <a:pt x="1187380" y="850760"/>
                    <a:pt x="1194080" y="897652"/>
                    <a:pt x="984739" y="1065125"/>
                  </a:cubicBezTo>
                  <a:cubicBezTo>
                    <a:pt x="775398" y="1232598"/>
                    <a:pt x="387699" y="1455336"/>
                    <a:pt x="0" y="1678075"/>
                  </a:cubicBezTo>
                </a:path>
              </a:pathLst>
            </a:custGeom>
            <a:ln w="19050">
              <a:solidFill>
                <a:srgbClr val="FF00FF"/>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14290"/>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9.2.2  </a:t>
            </a:r>
            <a:r>
              <a:rPr lang="zh-CN" altLang="zh-CN" smtClean="0">
                <a:latin typeface="Consolas" panose="020B0609020204030204" pitchFamily="49" charset="0"/>
                <a:ea typeface="微软雅黑" panose="020B0503020204020204" pitchFamily="34" charset="-122"/>
                <a:cs typeface="Consolas" panose="020B0609020204030204" pitchFamily="49" charset="0"/>
              </a:rPr>
              <a:t>折半查找</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71472" y="857232"/>
            <a:ext cx="264320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折半查找算法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1500174"/>
            <a:ext cx="1571636" cy="45318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基本思路</a:t>
            </a:r>
            <a:endParaRPr lang="zh-CN" altLang="en-US"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428596" y="2143116"/>
            <a:ext cx="8286808" cy="4116613"/>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60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[low..high]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是当前的非空查找区间（下界为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，上界为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high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），中点位置</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(low+high)/2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mid=(low+high)&gt;&gt;1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值与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比较：</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914400" lvl="1" indent="-457200" algn="l">
              <a:lnSpc>
                <a:spcPts val="2800"/>
              </a:lnSpc>
              <a:spcBef>
                <a:spcPts val="600"/>
              </a:spcBef>
              <a:buFont typeface="+mj-ea"/>
              <a:buAutoNum type="circleNumDbPlain"/>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[mid]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，则查找成功并返回该元素的序号</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914400" lvl="1" indent="-457200" algn="l">
              <a:lnSpc>
                <a:spcPts val="2800"/>
              </a:lnSpc>
              <a:spcBef>
                <a:spcPts val="600"/>
              </a:spcBef>
              <a:buFont typeface="+mj-ea"/>
              <a:buAutoNum type="circleNumDbPlain"/>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[mid]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，则在左子表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[low..mid-1]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中查找</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，即下界不变，上界改为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914400" lvl="1" indent="-457200" algn="l">
              <a:lnSpc>
                <a:spcPts val="2800"/>
              </a:lnSpc>
              <a:spcBef>
                <a:spcPts val="600"/>
              </a:spcBef>
              <a:buFont typeface="+mj-ea"/>
              <a:buAutoNum type="circleNumDbPlain"/>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k&gt;R</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[mid]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在右子表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[mid+1..high]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中查找</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，即下界改为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，上界不变。</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下一次查找是针对非空新查找区间进行的，其过程与上述过程类似。若新查找区间为空，表示查找失败，返回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214514" y="1530318"/>
            <a:ext cx="464350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为递增有序顺序表</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8215370"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9.2</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在关键字有序序列（</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）中采用折半查找方法查找关键字为</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的元素。</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7" name="组合 26"/>
          <p:cNvGrpSpPr/>
          <p:nvPr/>
        </p:nvGrpSpPr>
        <p:grpSpPr>
          <a:xfrm>
            <a:off x="1928794" y="2473521"/>
            <a:ext cx="4643470" cy="741165"/>
            <a:chOff x="1928794" y="2044893"/>
            <a:chExt cx="4643470" cy="741165"/>
          </a:xfrm>
        </p:grpSpPr>
        <p:sp>
          <p:nvSpPr>
            <p:cNvPr id="33793" name="Text Box 1"/>
            <p:cNvSpPr txBox="1">
              <a:spLocks noChangeArrowheads="1"/>
            </p:cNvSpPr>
            <p:nvPr/>
          </p:nvSpPr>
          <p:spPr bwMode="auto">
            <a:xfrm>
              <a:off x="1928794" y="2428868"/>
              <a:ext cx="4643470" cy="35719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4</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7</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a:t>
              </a:r>
              <a:r>
                <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10</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14  18  26  32  40</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799" name="Text Box 7"/>
            <p:cNvSpPr txBox="1">
              <a:spLocks noChangeArrowheads="1"/>
            </p:cNvSpPr>
            <p:nvPr/>
          </p:nvSpPr>
          <p:spPr bwMode="auto">
            <a:xfrm>
              <a:off x="2316132"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0" name="Text Box 8"/>
            <p:cNvSpPr txBox="1">
              <a:spLocks noChangeArrowheads="1"/>
            </p:cNvSpPr>
            <p:nvPr/>
          </p:nvSpPr>
          <p:spPr bwMode="auto">
            <a:xfrm>
              <a:off x="2673322"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2</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1" name="Text Box 9"/>
            <p:cNvSpPr txBox="1">
              <a:spLocks noChangeArrowheads="1"/>
            </p:cNvSpPr>
            <p:nvPr/>
          </p:nvSpPr>
          <p:spPr bwMode="auto">
            <a:xfrm>
              <a:off x="3071802"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3</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2" name="Text Box 10"/>
            <p:cNvSpPr txBox="1">
              <a:spLocks noChangeArrowheads="1"/>
            </p:cNvSpPr>
            <p:nvPr/>
          </p:nvSpPr>
          <p:spPr bwMode="auto">
            <a:xfrm>
              <a:off x="3500430" y="2044893"/>
              <a:ext cx="181458"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4</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3" name="Text Box 11"/>
            <p:cNvSpPr txBox="1">
              <a:spLocks noChangeArrowheads="1"/>
            </p:cNvSpPr>
            <p:nvPr/>
          </p:nvSpPr>
          <p:spPr bwMode="auto">
            <a:xfrm>
              <a:off x="4000496"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5</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4" name="Text Box 12"/>
            <p:cNvSpPr txBox="1">
              <a:spLocks noChangeArrowheads="1"/>
            </p:cNvSpPr>
            <p:nvPr/>
          </p:nvSpPr>
          <p:spPr bwMode="auto">
            <a:xfrm>
              <a:off x="4500562"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6</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5" name="Text Box 13"/>
            <p:cNvSpPr txBox="1">
              <a:spLocks noChangeArrowheads="1"/>
            </p:cNvSpPr>
            <p:nvPr/>
          </p:nvSpPr>
          <p:spPr bwMode="auto">
            <a:xfrm>
              <a:off x="5030776"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7</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6" name="Text Box 14"/>
            <p:cNvSpPr txBox="1">
              <a:spLocks noChangeArrowheads="1"/>
            </p:cNvSpPr>
            <p:nvPr/>
          </p:nvSpPr>
          <p:spPr bwMode="auto">
            <a:xfrm>
              <a:off x="5500694"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8</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807" name="Text Box 15"/>
            <p:cNvSpPr txBox="1">
              <a:spLocks noChangeArrowheads="1"/>
            </p:cNvSpPr>
            <p:nvPr/>
          </p:nvSpPr>
          <p:spPr bwMode="auto">
            <a:xfrm>
              <a:off x="6030908"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9</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Text Box 7"/>
            <p:cNvSpPr txBox="1">
              <a:spLocks noChangeArrowheads="1"/>
            </p:cNvSpPr>
            <p:nvPr/>
          </p:nvSpPr>
          <p:spPr bwMode="auto">
            <a:xfrm>
              <a:off x="1958942" y="2044893"/>
              <a:ext cx="184166" cy="252000"/>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kumimoji="0" lang="zh-CN" altLang="zh-CN" sz="160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29" name="组合 28"/>
          <p:cNvGrpSpPr/>
          <p:nvPr/>
        </p:nvGrpSpPr>
        <p:grpSpPr>
          <a:xfrm>
            <a:off x="1784816" y="3254878"/>
            <a:ext cx="428628" cy="602750"/>
            <a:chOff x="1784816" y="2826250"/>
            <a:chExt cx="428628" cy="602750"/>
          </a:xfrm>
        </p:grpSpPr>
        <p:sp>
          <p:nvSpPr>
            <p:cNvPr id="33794" name="Text Box 2"/>
            <p:cNvSpPr txBox="1">
              <a:spLocks noChangeArrowheads="1"/>
            </p:cNvSpPr>
            <p:nvPr/>
          </p:nvSpPr>
          <p:spPr bwMode="auto">
            <a:xfrm>
              <a:off x="1784816" y="3143248"/>
              <a:ext cx="42862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low</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25" name="直接箭头连接符 24"/>
            <p:cNvCxnSpPr/>
            <p:nvPr/>
          </p:nvCxnSpPr>
          <p:spPr>
            <a:xfrm rot="5400000" flipH="1" flipV="1">
              <a:off x="1856562" y="2968332"/>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30" name="组合 29"/>
          <p:cNvGrpSpPr/>
          <p:nvPr/>
        </p:nvGrpSpPr>
        <p:grpSpPr>
          <a:xfrm>
            <a:off x="5857884" y="3254878"/>
            <a:ext cx="642942" cy="602750"/>
            <a:chOff x="5857884" y="2826250"/>
            <a:chExt cx="642942" cy="602750"/>
          </a:xfrm>
        </p:grpSpPr>
        <p:sp>
          <p:nvSpPr>
            <p:cNvPr id="33797" name="Text Box 5"/>
            <p:cNvSpPr txBox="1">
              <a:spLocks noChangeArrowheads="1"/>
            </p:cNvSpPr>
            <p:nvPr/>
          </p:nvSpPr>
          <p:spPr bwMode="auto">
            <a:xfrm>
              <a:off x="5857884" y="3143248"/>
              <a:ext cx="642942"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high</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26" name="直接箭头连接符 25"/>
            <p:cNvCxnSpPr/>
            <p:nvPr/>
          </p:nvCxnSpPr>
          <p:spPr>
            <a:xfrm rot="5400000" flipH="1" flipV="1">
              <a:off x="5930116" y="2968332"/>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8" name="矩形 27"/>
          <p:cNvSpPr/>
          <p:nvPr/>
        </p:nvSpPr>
        <p:spPr bwMode="auto">
          <a:xfrm>
            <a:off x="1775870" y="2786058"/>
            <a:ext cx="4572032" cy="428628"/>
          </a:xfrm>
          <a:prstGeom prst="rect">
            <a:avLst/>
          </a:prstGeom>
          <a:ln w="19050">
            <a:solidFill>
              <a:srgbClr val="FF00FF"/>
            </a:solidFill>
            <a:prstDash val="dash"/>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grpSp>
        <p:nvGrpSpPr>
          <p:cNvPr id="31" name="组合 30"/>
          <p:cNvGrpSpPr/>
          <p:nvPr/>
        </p:nvGrpSpPr>
        <p:grpSpPr>
          <a:xfrm>
            <a:off x="3357554" y="3254878"/>
            <a:ext cx="428628" cy="602750"/>
            <a:chOff x="1784816" y="2826250"/>
            <a:chExt cx="428628" cy="602750"/>
          </a:xfrm>
        </p:grpSpPr>
        <p:sp>
          <p:nvSpPr>
            <p:cNvPr id="32" name="Text Box 2"/>
            <p:cNvSpPr txBox="1">
              <a:spLocks noChangeArrowheads="1"/>
            </p:cNvSpPr>
            <p:nvPr/>
          </p:nvSpPr>
          <p:spPr bwMode="auto">
            <a:xfrm>
              <a:off x="1784816" y="3143248"/>
              <a:ext cx="42862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33" name="直接箭头连接符 32"/>
            <p:cNvCxnSpPr/>
            <p:nvPr/>
          </p:nvCxnSpPr>
          <p:spPr>
            <a:xfrm rot="5400000" flipH="1" flipV="1">
              <a:off x="1856562" y="2968332"/>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1000100" y="1571612"/>
            <a:ext cx="642942" cy="400110"/>
          </a:xfrm>
          <a:prstGeom prst="rect">
            <a:avLst/>
          </a:prstGeom>
          <a:noFill/>
        </p:spPr>
        <p:txBody>
          <a:bodyPr wrap="square" rtlCol="0">
            <a:spAutoFit/>
          </a:bodyPr>
          <a:lstStyle/>
          <a:p>
            <a:pPr algn="l">
              <a:lnSpc>
                <a:spcPct val="100000"/>
              </a:lnSpc>
              <a:spcBef>
                <a:spcPts val="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5" name="组合 34"/>
          <p:cNvGrpSpPr/>
          <p:nvPr/>
        </p:nvGrpSpPr>
        <p:grpSpPr>
          <a:xfrm>
            <a:off x="2143108" y="3255980"/>
            <a:ext cx="428628" cy="888502"/>
            <a:chOff x="1784816" y="2540498"/>
            <a:chExt cx="428628" cy="888502"/>
          </a:xfrm>
        </p:grpSpPr>
        <p:sp>
          <p:nvSpPr>
            <p:cNvPr id="36" name="Text Box 2"/>
            <p:cNvSpPr txBox="1">
              <a:spLocks noChangeArrowheads="1"/>
            </p:cNvSpPr>
            <p:nvPr/>
          </p:nvSpPr>
          <p:spPr bwMode="auto">
            <a:xfrm>
              <a:off x="1784816" y="3143248"/>
              <a:ext cx="42862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37" name="直接箭头连接符 36"/>
            <p:cNvCxnSpPr/>
            <p:nvPr/>
          </p:nvCxnSpPr>
          <p:spPr>
            <a:xfrm rot="5400000" flipH="1" flipV="1">
              <a:off x="1711438" y="2827704"/>
              <a:ext cx="576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38" name="矩形 37"/>
          <p:cNvSpPr/>
          <p:nvPr/>
        </p:nvSpPr>
        <p:spPr bwMode="auto">
          <a:xfrm>
            <a:off x="1764720" y="2786058"/>
            <a:ext cx="1571636" cy="428628"/>
          </a:xfrm>
          <a:prstGeom prst="rect">
            <a:avLst/>
          </a:prstGeom>
          <a:ln w="19050">
            <a:solidFill>
              <a:srgbClr val="FF00FF"/>
            </a:solidFill>
            <a:prstDash val="dash"/>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42" name="矩形 41"/>
          <p:cNvSpPr/>
          <p:nvPr/>
        </p:nvSpPr>
        <p:spPr bwMode="auto">
          <a:xfrm>
            <a:off x="2613030" y="2786058"/>
            <a:ext cx="642942" cy="428628"/>
          </a:xfrm>
          <a:prstGeom prst="rect">
            <a:avLst/>
          </a:prstGeom>
          <a:ln w="19050">
            <a:solidFill>
              <a:srgbClr val="FF00FF"/>
            </a:solidFill>
            <a:prstDash val="dash"/>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grpSp>
        <p:nvGrpSpPr>
          <p:cNvPr id="45" name="组合 44"/>
          <p:cNvGrpSpPr/>
          <p:nvPr/>
        </p:nvGrpSpPr>
        <p:grpSpPr>
          <a:xfrm>
            <a:off x="2551640" y="1786234"/>
            <a:ext cx="428628" cy="683928"/>
            <a:chOff x="6357950" y="1888610"/>
            <a:chExt cx="428628" cy="683928"/>
          </a:xfrm>
        </p:grpSpPr>
        <p:sp>
          <p:nvSpPr>
            <p:cNvPr id="40" name="Text Box 2"/>
            <p:cNvSpPr txBox="1">
              <a:spLocks noChangeArrowheads="1"/>
            </p:cNvSpPr>
            <p:nvPr/>
          </p:nvSpPr>
          <p:spPr bwMode="auto">
            <a:xfrm>
              <a:off x="6357950" y="1888610"/>
              <a:ext cx="428628" cy="28575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mid</a:t>
              </a: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44" name="直接箭头连接符 43"/>
            <p:cNvCxnSpPr/>
            <p:nvPr/>
          </p:nvCxnSpPr>
          <p:spPr>
            <a:xfrm rot="5400000">
              <a:off x="6343429" y="2373053"/>
              <a:ext cx="39738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46" name="TextBox 45"/>
          <p:cNvSpPr txBox="1"/>
          <p:nvPr/>
        </p:nvSpPr>
        <p:spPr>
          <a:xfrm>
            <a:off x="1500166" y="4429132"/>
            <a:ext cx="307183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R[mid]=</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查找成功</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灯片编号占位符 4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0.04132 0.00856 C -0.08802 0.00717 -0.26319 0.00162 -0.32153 -0.00023 " pathEditMode="relative" rAng="0" ptsTypes="aa">
                                      <p:cBhvr>
                                        <p:cTn id="24" dur="2000" fill="hold"/>
                                        <p:tgtEl>
                                          <p:spTgt spid="30"/>
                                        </p:tgtEl>
                                        <p:attrNameLst>
                                          <p:attrName>ppt_x</p:attrName>
                                          <p:attrName>ppt_y</p:attrName>
                                        </p:attrNameLst>
                                      </p:cBhvr>
                                      <p:rCtr x="-140" y="-4"/>
                                    </p:animMotion>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nodeType="clickEffect">
                                  <p:stCondLst>
                                    <p:cond delay="0"/>
                                  </p:stCondLst>
                                  <p:childTnLst>
                                    <p:animEffect transition="out" filter="wipe(down)">
                                      <p:cBhvr>
                                        <p:cTn id="28" dur="500"/>
                                        <p:tgtEl>
                                          <p:spTgt spid="31"/>
                                        </p:tgtEl>
                                      </p:cBhvr>
                                    </p:animEffect>
                                    <p:set>
                                      <p:cBhvr>
                                        <p:cTn id="29" dur="1" fill="hold">
                                          <p:stCondLst>
                                            <p:cond delay="499"/>
                                          </p:stCondLst>
                                        </p:cTn>
                                        <p:tgtEl>
                                          <p:spTgt spid="31"/>
                                        </p:tgtEl>
                                        <p:attrNameLst>
                                          <p:attrName>style.visibility</p:attrName>
                                        </p:attrNameLst>
                                      </p:cBhvr>
                                      <p:to>
                                        <p:strVal val="hidden"/>
                                      </p:to>
                                    </p:set>
                                  </p:childTnLst>
                                </p:cTn>
                              </p:par>
                            </p:childTnLst>
                          </p:cTn>
                        </p:par>
                        <p:par>
                          <p:cTn id="30" fill="hold">
                            <p:stCondLst>
                              <p:cond delay="500"/>
                            </p:stCondLst>
                            <p:childTnLst>
                              <p:par>
                                <p:cTn id="31" presetID="22" presetClass="exit" presetSubtype="4" fill="hold" grpId="1" nodeType="afterEffect">
                                  <p:stCondLst>
                                    <p:cond delay="0"/>
                                  </p:stCondLst>
                                  <p:childTnLst>
                                    <p:animEffect transition="out" filter="wipe(down)">
                                      <p:cBhvr>
                                        <p:cTn id="32" dur="500"/>
                                        <p:tgtEl>
                                          <p:spTgt spid="28"/>
                                        </p:tgtEl>
                                      </p:cBhvr>
                                    </p:animEffect>
                                    <p:set>
                                      <p:cBhvr>
                                        <p:cTn id="33" dur="1" fill="hold">
                                          <p:stCondLst>
                                            <p:cond delay="499"/>
                                          </p:stCondLst>
                                        </p:cTn>
                                        <p:tgtEl>
                                          <p:spTgt spid="28"/>
                                        </p:tgtEl>
                                        <p:attrNameLst>
                                          <p:attrName>style.visibility</p:attrName>
                                        </p:attrNameLst>
                                      </p:cBhvr>
                                      <p:to>
                                        <p:strVal val="hidden"/>
                                      </p:to>
                                    </p:se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0.02864 -0.00324 C 0.03628 -0.00277 0.06527 -0.00092 0.07482 -0.00023 " pathEditMode="relative" rAng="0" ptsTypes="aa">
                                      <p:cBhvr>
                                        <p:cTn id="44" dur="2000" fill="hold"/>
                                        <p:tgtEl>
                                          <p:spTgt spid="29"/>
                                        </p:tgtEl>
                                        <p:attrNameLst>
                                          <p:attrName>ppt_x</p:attrName>
                                          <p:attrName>ppt_y</p:attrName>
                                        </p:attrNameLst>
                                      </p:cBhvr>
                                      <p:rCtr x="23" y="1"/>
                                    </p:animMotion>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nodeType="clickEffect">
                                  <p:stCondLst>
                                    <p:cond delay="0"/>
                                  </p:stCondLst>
                                  <p:childTnLst>
                                    <p:animEffect transition="out" filter="wipe(down)">
                                      <p:cBhvr>
                                        <p:cTn id="48" dur="500"/>
                                        <p:tgtEl>
                                          <p:spTgt spid="35"/>
                                        </p:tgtEl>
                                      </p:cBhvr>
                                    </p:animEffect>
                                    <p:set>
                                      <p:cBhvr>
                                        <p:cTn id="49" dur="1" fill="hold">
                                          <p:stCondLst>
                                            <p:cond delay="499"/>
                                          </p:stCondLst>
                                        </p:cTn>
                                        <p:tgtEl>
                                          <p:spTgt spid="35"/>
                                        </p:tgtEl>
                                        <p:attrNameLst>
                                          <p:attrName>style.visibility</p:attrName>
                                        </p:attrNameLst>
                                      </p:cBhvr>
                                      <p:to>
                                        <p:strVal val="hidden"/>
                                      </p:to>
                                    </p:set>
                                  </p:childTnLst>
                                </p:cTn>
                              </p:par>
                            </p:childTnLst>
                          </p:cTn>
                        </p:par>
                        <p:par>
                          <p:cTn id="50" fill="hold">
                            <p:stCondLst>
                              <p:cond delay="500"/>
                            </p:stCondLst>
                            <p:childTnLst>
                              <p:par>
                                <p:cTn id="51" presetID="22" presetClass="exit" presetSubtype="4" fill="hold" grpId="1" nodeType="afterEffect">
                                  <p:stCondLst>
                                    <p:cond delay="0"/>
                                  </p:stCondLst>
                                  <p:childTnLst>
                                    <p:animEffect transition="out" filter="wipe(down)">
                                      <p:cBhvr>
                                        <p:cTn id="52" dur="500"/>
                                        <p:tgtEl>
                                          <p:spTgt spid="38"/>
                                        </p:tgtEl>
                                      </p:cBhvr>
                                    </p:animEffect>
                                    <p:set>
                                      <p:cBhvr>
                                        <p:cTn id="53" dur="1" fill="hold">
                                          <p:stCondLst>
                                            <p:cond delay="499"/>
                                          </p:stCondLst>
                                        </p:cTn>
                                        <p:tgtEl>
                                          <p:spTgt spid="38"/>
                                        </p:tgtEl>
                                        <p:attrNameLst>
                                          <p:attrName>style.visibility</p:attrName>
                                        </p:attrNameLst>
                                      </p:cBhvr>
                                      <p:to>
                                        <p:strVal val="hidden"/>
                                      </p:to>
                                    </p:se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34" grpId="0"/>
      <p:bldP spid="38" grpId="0" animBg="1"/>
      <p:bldP spid="38" grpId="1" animBg="1"/>
      <p:bldP spid="42" grpId="0" animBg="1"/>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547593"/>
            <a:ext cx="8429684" cy="458211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拆半查找非递归算法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n=R.size();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low=0,high=n-1;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(low&lt;=high)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当前区间非空时</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mid=(low+high)/2;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求查找区间的中间位置</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k==R[mid]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查找成功返回其序号</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mid</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mid;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k&lt;R[mid]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R[low..mid-1]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high=mid-1;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//k&gt;R[mid]</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low=mid+1;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R[mid+1..high]</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当前查找区间空时返回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357166"/>
            <a:ext cx="8572560" cy="606162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k)		</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拆半查找递归算法</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(R,0,R.size()-1,k);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low,int high,int 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BinSearch2</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方法调用</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(low&lt;=high)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当前查找区间非空时</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mid=(low+high)/2;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求查找区间的中间位置</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(k==R[mid])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查找成功返回其序号</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mid</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mid;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(k&lt;R[mid])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递归在左区间中查找</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(R,low,mid-1,k);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//k&gt;R[mid],</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递归在右区间中查找</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BinSearch21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(R,mid+1,high,k);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-1;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当前查找区间空时返回</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814312"/>
            <a:ext cx="771530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具有</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）的有序表可用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下</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图的判定树来表示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8" name="Rectangle 104"/>
          <p:cNvSpPr>
            <a:spLocks noChangeArrowheads="1"/>
          </p:cNvSpPr>
          <p:nvPr/>
        </p:nvSpPr>
        <p:spPr bwMode="auto">
          <a:xfrm>
            <a:off x="0" y="279425"/>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9" name="组合 108"/>
          <p:cNvGrpSpPr/>
          <p:nvPr/>
        </p:nvGrpSpPr>
        <p:grpSpPr>
          <a:xfrm>
            <a:off x="933730" y="1350972"/>
            <a:ext cx="7424484" cy="3786213"/>
            <a:chOff x="933730" y="1071547"/>
            <a:chExt cx="7424484" cy="3786213"/>
          </a:xfrm>
        </p:grpSpPr>
        <p:sp>
          <p:nvSpPr>
            <p:cNvPr id="31846" name="Freeform 102"/>
            <p:cNvSpPr/>
            <p:nvPr/>
          </p:nvSpPr>
          <p:spPr bwMode="auto">
            <a:xfrm>
              <a:off x="1357290" y="3032648"/>
              <a:ext cx="254478" cy="539228"/>
            </a:xfrm>
            <a:custGeom>
              <a:avLst/>
              <a:gdLst/>
              <a:ahLst/>
              <a:cxnLst>
                <a:cxn ang="0">
                  <a:pos x="440" y="0"/>
                </a:cxn>
                <a:cxn ang="0">
                  <a:pos x="0" y="475"/>
                </a:cxn>
              </a:cxnLst>
              <a:rect l="0" t="0" r="r" b="b"/>
              <a:pathLst>
                <a:path w="440" h="475">
                  <a:moveTo>
                    <a:pt x="440" y="0"/>
                  </a:moveTo>
                  <a:lnTo>
                    <a:pt x="0" y="47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5" name="Line 101"/>
            <p:cNvSpPr>
              <a:spLocks noChangeShapeType="1"/>
            </p:cNvSpPr>
            <p:nvPr/>
          </p:nvSpPr>
          <p:spPr bwMode="auto">
            <a:xfrm flipH="1">
              <a:off x="1858965" y="2266340"/>
              <a:ext cx="642280" cy="56555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4" name="Freeform 100"/>
            <p:cNvSpPr/>
            <p:nvPr/>
          </p:nvSpPr>
          <p:spPr bwMode="auto">
            <a:xfrm>
              <a:off x="4847996" y="3066108"/>
              <a:ext cx="260150" cy="485689"/>
            </a:xfrm>
            <a:custGeom>
              <a:avLst/>
              <a:gdLst/>
              <a:ahLst/>
              <a:cxnLst>
                <a:cxn ang="0">
                  <a:pos x="240" y="0"/>
                </a:cxn>
                <a:cxn ang="0">
                  <a:pos x="0" y="450"/>
                </a:cxn>
              </a:cxnLst>
              <a:rect l="0" t="0" r="r" b="b"/>
              <a:pathLst>
                <a:path w="240" h="450">
                  <a:moveTo>
                    <a:pt x="240" y="0"/>
                  </a:moveTo>
                  <a:lnTo>
                    <a:pt x="0" y="45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3" name="Line 99"/>
            <p:cNvSpPr>
              <a:spLocks noChangeShapeType="1"/>
            </p:cNvSpPr>
            <p:nvPr/>
          </p:nvSpPr>
          <p:spPr bwMode="auto">
            <a:xfrm flipH="1">
              <a:off x="5288416" y="2272816"/>
              <a:ext cx="447977" cy="53317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2" name="Freeform 98"/>
            <p:cNvSpPr/>
            <p:nvPr/>
          </p:nvSpPr>
          <p:spPr bwMode="auto">
            <a:xfrm>
              <a:off x="2843199" y="2276466"/>
              <a:ext cx="556983" cy="582603"/>
            </a:xfrm>
            <a:custGeom>
              <a:avLst/>
              <a:gdLst/>
              <a:ahLst/>
              <a:cxnLst>
                <a:cxn ang="0">
                  <a:pos x="0" y="0"/>
                </a:cxn>
                <a:cxn ang="0">
                  <a:pos x="515" y="513"/>
                </a:cxn>
              </a:cxnLst>
              <a:rect l="0" t="0" r="r" b="b"/>
              <a:pathLst>
                <a:path w="515" h="513">
                  <a:moveTo>
                    <a:pt x="0" y="0"/>
                  </a:moveTo>
                  <a:lnTo>
                    <a:pt x="515"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1" name="Line 97"/>
            <p:cNvSpPr>
              <a:spLocks noChangeShapeType="1"/>
            </p:cNvSpPr>
            <p:nvPr/>
          </p:nvSpPr>
          <p:spPr bwMode="auto">
            <a:xfrm flipH="1">
              <a:off x="5168596" y="3760103"/>
              <a:ext cx="345428" cy="576351"/>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0" name="Line 96"/>
            <p:cNvSpPr>
              <a:spLocks noChangeShapeType="1"/>
            </p:cNvSpPr>
            <p:nvPr/>
          </p:nvSpPr>
          <p:spPr bwMode="auto">
            <a:xfrm>
              <a:off x="5708327" y="3727724"/>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9" name="Line 95"/>
            <p:cNvSpPr>
              <a:spLocks noChangeShapeType="1"/>
            </p:cNvSpPr>
            <p:nvPr/>
          </p:nvSpPr>
          <p:spPr bwMode="auto">
            <a:xfrm flipH="1">
              <a:off x="3467361" y="3714752"/>
              <a:ext cx="318820" cy="62170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8" name="Line 94"/>
            <p:cNvSpPr>
              <a:spLocks noChangeShapeType="1"/>
            </p:cNvSpPr>
            <p:nvPr/>
          </p:nvSpPr>
          <p:spPr bwMode="auto">
            <a:xfrm>
              <a:off x="4008174" y="3727724"/>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7" name="Line 93"/>
            <p:cNvSpPr>
              <a:spLocks noChangeShapeType="1"/>
            </p:cNvSpPr>
            <p:nvPr/>
          </p:nvSpPr>
          <p:spPr bwMode="auto">
            <a:xfrm flipH="1">
              <a:off x="1571603" y="3742835"/>
              <a:ext cx="288440" cy="54342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6" name="Freeform 92"/>
            <p:cNvSpPr/>
            <p:nvPr/>
          </p:nvSpPr>
          <p:spPr bwMode="auto">
            <a:xfrm>
              <a:off x="2138546" y="3744993"/>
              <a:ext cx="234243" cy="542892"/>
            </a:xfrm>
            <a:custGeom>
              <a:avLst/>
              <a:gdLst/>
              <a:ahLst/>
              <a:cxnLst>
                <a:cxn ang="0">
                  <a:pos x="0" y="0"/>
                </a:cxn>
                <a:cxn ang="0">
                  <a:pos x="217" y="502"/>
                </a:cxn>
              </a:cxnLst>
              <a:rect l="0" t="0" r="r" b="b"/>
              <a:pathLst>
                <a:path w="217" h="502">
                  <a:moveTo>
                    <a:pt x="0" y="0"/>
                  </a:moveTo>
                  <a:lnTo>
                    <a:pt x="217" y="5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5" name="Line 91"/>
            <p:cNvSpPr>
              <a:spLocks noChangeShapeType="1"/>
            </p:cNvSpPr>
            <p:nvPr/>
          </p:nvSpPr>
          <p:spPr bwMode="auto">
            <a:xfrm flipH="1">
              <a:off x="2928926" y="3053156"/>
              <a:ext cx="318226" cy="51872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4" name="Line 90"/>
            <p:cNvSpPr>
              <a:spLocks noChangeShapeType="1"/>
            </p:cNvSpPr>
            <p:nvPr/>
          </p:nvSpPr>
          <p:spPr bwMode="auto">
            <a:xfrm>
              <a:off x="3522416" y="3036967"/>
              <a:ext cx="345428" cy="44251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3" name="Freeform 89"/>
            <p:cNvSpPr/>
            <p:nvPr/>
          </p:nvSpPr>
          <p:spPr bwMode="auto">
            <a:xfrm>
              <a:off x="5358581" y="3112518"/>
              <a:ext cx="188906" cy="358330"/>
            </a:xfrm>
            <a:custGeom>
              <a:avLst/>
              <a:gdLst/>
              <a:ahLst/>
              <a:cxnLst>
                <a:cxn ang="0">
                  <a:pos x="0" y="0"/>
                </a:cxn>
                <a:cxn ang="0">
                  <a:pos x="175" y="332"/>
                </a:cxn>
              </a:cxnLst>
              <a:rect l="0" t="0" r="r" b="b"/>
              <a:pathLst>
                <a:path w="175" h="332">
                  <a:moveTo>
                    <a:pt x="0" y="0"/>
                  </a:moveTo>
                  <a:lnTo>
                    <a:pt x="175" y="33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2" name="Freeform 88"/>
            <p:cNvSpPr/>
            <p:nvPr/>
          </p:nvSpPr>
          <p:spPr bwMode="auto">
            <a:xfrm>
              <a:off x="6443441" y="3089853"/>
              <a:ext cx="226687" cy="445754"/>
            </a:xfrm>
            <a:custGeom>
              <a:avLst/>
              <a:gdLst/>
              <a:ahLst/>
              <a:cxnLst>
                <a:cxn ang="0">
                  <a:pos x="210" y="0"/>
                </a:cxn>
                <a:cxn ang="0">
                  <a:pos x="0" y="413"/>
                </a:cxn>
              </a:cxnLst>
              <a:rect l="0" t="0" r="r" b="b"/>
              <a:pathLst>
                <a:path w="210" h="413">
                  <a:moveTo>
                    <a:pt x="210" y="0"/>
                  </a:moveTo>
                  <a:lnTo>
                    <a:pt x="0" y="4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1" name="Line 87"/>
            <p:cNvSpPr>
              <a:spLocks noChangeShapeType="1"/>
            </p:cNvSpPr>
            <p:nvPr/>
          </p:nvSpPr>
          <p:spPr bwMode="auto">
            <a:xfrm>
              <a:off x="6865510" y="3093091"/>
              <a:ext cx="287137" cy="40258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0" name="Oval 86"/>
            <p:cNvSpPr>
              <a:spLocks noChangeArrowheads="1"/>
            </p:cNvSpPr>
            <p:nvPr/>
          </p:nvSpPr>
          <p:spPr bwMode="auto">
            <a:xfrm>
              <a:off x="4068624" y="1353246"/>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9" name="Oval 85"/>
            <p:cNvSpPr>
              <a:spLocks noChangeArrowheads="1"/>
            </p:cNvSpPr>
            <p:nvPr/>
          </p:nvSpPr>
          <p:spPr bwMode="auto">
            <a:xfrm>
              <a:off x="2480735" y="2025655"/>
              <a:ext cx="38968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8" name="Oval 84"/>
            <p:cNvSpPr>
              <a:spLocks noChangeArrowheads="1"/>
            </p:cNvSpPr>
            <p:nvPr/>
          </p:nvSpPr>
          <p:spPr bwMode="auto">
            <a:xfrm>
              <a:off x="5726678" y="2019179"/>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7" name="Oval 83"/>
            <p:cNvSpPr>
              <a:spLocks noChangeArrowheads="1"/>
            </p:cNvSpPr>
            <p:nvPr/>
          </p:nvSpPr>
          <p:spPr bwMode="auto">
            <a:xfrm>
              <a:off x="1547000" y="2788726"/>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6" name="Oval 82"/>
            <p:cNvSpPr>
              <a:spLocks noChangeArrowheads="1"/>
            </p:cNvSpPr>
            <p:nvPr/>
          </p:nvSpPr>
          <p:spPr bwMode="auto">
            <a:xfrm>
              <a:off x="3220167" y="2781171"/>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5" name="Oval 81"/>
            <p:cNvSpPr>
              <a:spLocks noChangeArrowheads="1"/>
            </p:cNvSpPr>
            <p:nvPr/>
          </p:nvSpPr>
          <p:spPr bwMode="auto">
            <a:xfrm>
              <a:off x="5041219" y="2795202"/>
              <a:ext cx="387527"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4" name="Oval 80"/>
            <p:cNvSpPr>
              <a:spLocks noChangeArrowheads="1"/>
            </p:cNvSpPr>
            <p:nvPr/>
          </p:nvSpPr>
          <p:spPr bwMode="auto">
            <a:xfrm>
              <a:off x="6551387" y="2787646"/>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3" name="Text Box 79"/>
            <p:cNvSpPr txBox="1">
              <a:spLocks noChangeArrowheads="1"/>
            </p:cNvSpPr>
            <p:nvPr/>
          </p:nvSpPr>
          <p:spPr bwMode="auto">
            <a:xfrm>
              <a:off x="933730" y="3542083"/>
              <a:ext cx="637874"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2" name="Oval 78"/>
            <p:cNvSpPr>
              <a:spLocks noChangeArrowheads="1"/>
            </p:cNvSpPr>
            <p:nvPr/>
          </p:nvSpPr>
          <p:spPr bwMode="auto">
            <a:xfrm>
              <a:off x="1806071" y="3480562"/>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1" name="Text Box 77"/>
            <p:cNvSpPr txBox="1">
              <a:spLocks noChangeArrowheads="1"/>
            </p:cNvSpPr>
            <p:nvPr/>
          </p:nvSpPr>
          <p:spPr bwMode="auto">
            <a:xfrm>
              <a:off x="2681758" y="3538845"/>
              <a:ext cx="600878"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0" name="Oval 76"/>
            <p:cNvSpPr>
              <a:spLocks noChangeArrowheads="1"/>
            </p:cNvSpPr>
            <p:nvPr/>
          </p:nvSpPr>
          <p:spPr bwMode="auto">
            <a:xfrm>
              <a:off x="3689733" y="3476245"/>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9" name="Text Box 75"/>
            <p:cNvSpPr txBox="1">
              <a:spLocks noChangeArrowheads="1"/>
            </p:cNvSpPr>
            <p:nvPr/>
          </p:nvSpPr>
          <p:spPr bwMode="auto">
            <a:xfrm>
              <a:off x="4528718" y="3542083"/>
              <a:ext cx="600878"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8" name="Oval 74"/>
            <p:cNvSpPr>
              <a:spLocks noChangeArrowheads="1"/>
            </p:cNvSpPr>
            <p:nvPr/>
          </p:nvSpPr>
          <p:spPr bwMode="auto">
            <a:xfrm>
              <a:off x="5400680" y="3480562"/>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7" name="Text Box 73"/>
            <p:cNvSpPr txBox="1">
              <a:spLocks noChangeArrowheads="1"/>
            </p:cNvSpPr>
            <p:nvPr/>
          </p:nvSpPr>
          <p:spPr bwMode="auto">
            <a:xfrm>
              <a:off x="6137116" y="3538845"/>
              <a:ext cx="67232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6" name="Oval 72"/>
            <p:cNvSpPr>
              <a:spLocks noChangeArrowheads="1"/>
            </p:cNvSpPr>
            <p:nvPr/>
          </p:nvSpPr>
          <p:spPr bwMode="auto">
            <a:xfrm>
              <a:off x="7065211" y="3476245"/>
              <a:ext cx="387527"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5" name="Text Box 71"/>
            <p:cNvSpPr txBox="1">
              <a:spLocks noChangeArrowheads="1"/>
            </p:cNvSpPr>
            <p:nvPr/>
          </p:nvSpPr>
          <p:spPr bwMode="auto">
            <a:xfrm>
              <a:off x="1264133" y="4298678"/>
              <a:ext cx="59322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4" name="Text Box 70"/>
            <p:cNvSpPr txBox="1">
              <a:spLocks noChangeArrowheads="1"/>
            </p:cNvSpPr>
            <p:nvPr/>
          </p:nvSpPr>
          <p:spPr bwMode="auto">
            <a:xfrm>
              <a:off x="2122666" y="4298678"/>
              <a:ext cx="591946"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3" name="Text Box 69"/>
            <p:cNvSpPr txBox="1">
              <a:spLocks noChangeArrowheads="1"/>
            </p:cNvSpPr>
            <p:nvPr/>
          </p:nvSpPr>
          <p:spPr bwMode="auto">
            <a:xfrm>
              <a:off x="3134051" y="4298678"/>
              <a:ext cx="60215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2" name="Text Box 68"/>
            <p:cNvSpPr txBox="1">
              <a:spLocks noChangeArrowheads="1"/>
            </p:cNvSpPr>
            <p:nvPr/>
          </p:nvSpPr>
          <p:spPr bwMode="auto">
            <a:xfrm>
              <a:off x="4009496" y="4298678"/>
              <a:ext cx="600878"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1" name="Text Box 67"/>
            <p:cNvSpPr txBox="1">
              <a:spLocks noChangeArrowheads="1"/>
            </p:cNvSpPr>
            <p:nvPr/>
          </p:nvSpPr>
          <p:spPr bwMode="auto">
            <a:xfrm>
              <a:off x="4857953" y="4298678"/>
              <a:ext cx="60215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0" name="Text Box 66"/>
            <p:cNvSpPr txBox="1">
              <a:spLocks noChangeArrowheads="1"/>
            </p:cNvSpPr>
            <p:nvPr/>
          </p:nvSpPr>
          <p:spPr bwMode="auto">
            <a:xfrm>
              <a:off x="5648120" y="4298678"/>
              <a:ext cx="600878"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9" name="Text Box 65"/>
            <p:cNvSpPr txBox="1">
              <a:spLocks noChangeArrowheads="1"/>
            </p:cNvSpPr>
            <p:nvPr/>
          </p:nvSpPr>
          <p:spPr bwMode="auto">
            <a:xfrm>
              <a:off x="6365710" y="4298678"/>
              <a:ext cx="831787"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8" name="Text Box 64"/>
            <p:cNvSpPr txBox="1">
              <a:spLocks noChangeArrowheads="1"/>
            </p:cNvSpPr>
            <p:nvPr/>
          </p:nvSpPr>
          <p:spPr bwMode="auto">
            <a:xfrm>
              <a:off x="7329013" y="4298678"/>
              <a:ext cx="794791"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r>
                <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7" name="Freeform 63"/>
            <p:cNvSpPr/>
            <p:nvPr/>
          </p:nvSpPr>
          <p:spPr bwMode="auto">
            <a:xfrm>
              <a:off x="2792700" y="1521618"/>
              <a:ext cx="1277004" cy="525623"/>
            </a:xfrm>
            <a:custGeom>
              <a:avLst/>
              <a:gdLst/>
              <a:ahLst/>
              <a:cxnLst>
                <a:cxn ang="0">
                  <a:pos x="1183" y="0"/>
                </a:cxn>
                <a:cxn ang="0">
                  <a:pos x="0" y="487"/>
                </a:cxn>
              </a:cxnLst>
              <a:rect l="0" t="0" r="r" b="b"/>
              <a:pathLst>
                <a:path w="1183" h="487">
                  <a:moveTo>
                    <a:pt x="1183"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6" name="Freeform 62"/>
            <p:cNvSpPr/>
            <p:nvPr/>
          </p:nvSpPr>
          <p:spPr bwMode="auto">
            <a:xfrm>
              <a:off x="4457230" y="1521618"/>
              <a:ext cx="1294275" cy="536416"/>
            </a:xfrm>
            <a:custGeom>
              <a:avLst/>
              <a:gdLst/>
              <a:ahLst/>
              <a:cxnLst>
                <a:cxn ang="0">
                  <a:pos x="0" y="0"/>
                </a:cxn>
                <a:cxn ang="0">
                  <a:pos x="1199" y="497"/>
                </a:cxn>
              </a:cxnLst>
              <a:rect l="0" t="0" r="r" b="b"/>
              <a:pathLst>
                <a:path w="1199" h="497">
                  <a:moveTo>
                    <a:pt x="0" y="0"/>
                  </a:moveTo>
                  <a:lnTo>
                    <a:pt x="1199" y="49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5" name="Freeform 61"/>
            <p:cNvSpPr/>
            <p:nvPr/>
          </p:nvSpPr>
          <p:spPr bwMode="auto">
            <a:xfrm>
              <a:off x="6089377" y="2254468"/>
              <a:ext cx="567797" cy="553685"/>
            </a:xfrm>
            <a:custGeom>
              <a:avLst/>
              <a:gdLst/>
              <a:ahLst/>
              <a:cxnLst>
                <a:cxn ang="0">
                  <a:pos x="0" y="0"/>
                </a:cxn>
                <a:cxn ang="0">
                  <a:pos x="19" y="0"/>
                </a:cxn>
                <a:cxn ang="0">
                  <a:pos x="526" y="513"/>
                </a:cxn>
              </a:cxnLst>
              <a:rect l="0" t="0" r="r" b="b"/>
              <a:pathLst>
                <a:path w="526" h="513">
                  <a:moveTo>
                    <a:pt x="0" y="0"/>
                  </a:moveTo>
                  <a:lnTo>
                    <a:pt x="19" y="0"/>
                  </a:lnTo>
                  <a:lnTo>
                    <a:pt x="526"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4" name="Freeform 60"/>
            <p:cNvSpPr/>
            <p:nvPr/>
          </p:nvSpPr>
          <p:spPr bwMode="auto">
            <a:xfrm>
              <a:off x="7391208" y="3753627"/>
              <a:ext cx="242879" cy="518068"/>
            </a:xfrm>
            <a:custGeom>
              <a:avLst/>
              <a:gdLst/>
              <a:ahLst/>
              <a:cxnLst>
                <a:cxn ang="0">
                  <a:pos x="0" y="0"/>
                </a:cxn>
                <a:cxn ang="0">
                  <a:pos x="225" y="480"/>
                </a:cxn>
              </a:cxnLst>
              <a:rect l="0" t="0" r="r" b="b"/>
              <a:pathLst>
                <a:path w="225" h="480">
                  <a:moveTo>
                    <a:pt x="0" y="0"/>
                  </a:moveTo>
                  <a:lnTo>
                    <a:pt x="225" y="4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3" name="Freeform 59"/>
            <p:cNvSpPr/>
            <p:nvPr/>
          </p:nvSpPr>
          <p:spPr bwMode="auto">
            <a:xfrm>
              <a:off x="6775915" y="3753627"/>
              <a:ext cx="341110" cy="550447"/>
            </a:xfrm>
            <a:custGeom>
              <a:avLst/>
              <a:gdLst/>
              <a:ahLst/>
              <a:cxnLst>
                <a:cxn ang="0">
                  <a:pos x="315" y="0"/>
                </a:cxn>
                <a:cxn ang="0">
                  <a:pos x="0" y="510"/>
                </a:cxn>
              </a:cxnLst>
              <a:rect l="0" t="0" r="r" b="b"/>
              <a:pathLst>
                <a:path w="315" h="510">
                  <a:moveTo>
                    <a:pt x="315" y="0"/>
                  </a:moveTo>
                  <a:lnTo>
                    <a:pt x="0" y="51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2" name="Line 58"/>
            <p:cNvSpPr>
              <a:spLocks noChangeShapeType="1"/>
            </p:cNvSpPr>
            <p:nvPr/>
          </p:nvSpPr>
          <p:spPr bwMode="auto">
            <a:xfrm>
              <a:off x="1849250" y="3118994"/>
              <a:ext cx="145727" cy="36264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1" name="Text Box 57"/>
            <p:cNvSpPr txBox="1">
              <a:spLocks noChangeArrowheads="1"/>
            </p:cNvSpPr>
            <p:nvPr/>
          </p:nvSpPr>
          <p:spPr bwMode="auto">
            <a:xfrm>
              <a:off x="3440377" y="1497873"/>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0" name="Text Box 56"/>
            <p:cNvSpPr txBox="1">
              <a:spLocks noChangeArrowheads="1"/>
            </p:cNvSpPr>
            <p:nvPr/>
          </p:nvSpPr>
          <p:spPr bwMode="auto">
            <a:xfrm>
              <a:off x="4845837" y="1497873"/>
              <a:ext cx="238561"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9" name="Text Box 55"/>
            <p:cNvSpPr txBox="1">
              <a:spLocks noChangeArrowheads="1"/>
            </p:cNvSpPr>
            <p:nvPr/>
          </p:nvSpPr>
          <p:spPr bwMode="auto">
            <a:xfrm>
              <a:off x="4146345" y="1695386"/>
              <a:ext cx="237482" cy="193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8" name="Text Box 54"/>
            <p:cNvSpPr txBox="1">
              <a:spLocks noChangeArrowheads="1"/>
            </p:cNvSpPr>
            <p:nvPr/>
          </p:nvSpPr>
          <p:spPr bwMode="auto">
            <a:xfrm>
              <a:off x="2191378" y="2162168"/>
              <a:ext cx="237482" cy="193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7" name="Text Box 53"/>
            <p:cNvSpPr txBox="1">
              <a:spLocks noChangeArrowheads="1"/>
            </p:cNvSpPr>
            <p:nvPr/>
          </p:nvSpPr>
          <p:spPr bwMode="auto">
            <a:xfrm>
              <a:off x="2928926" y="2143116"/>
              <a:ext cx="238561" cy="193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6" name="Text Box 52"/>
            <p:cNvSpPr txBox="1">
              <a:spLocks noChangeArrowheads="1"/>
            </p:cNvSpPr>
            <p:nvPr/>
          </p:nvSpPr>
          <p:spPr bwMode="auto">
            <a:xfrm>
              <a:off x="2555285" y="2314570"/>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5" name="Text Box 51"/>
            <p:cNvSpPr txBox="1">
              <a:spLocks noChangeArrowheads="1"/>
            </p:cNvSpPr>
            <p:nvPr/>
          </p:nvSpPr>
          <p:spPr bwMode="auto">
            <a:xfrm>
              <a:off x="1300781" y="3033706"/>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4" name="Text Box 50"/>
            <p:cNvSpPr txBox="1">
              <a:spLocks noChangeArrowheads="1"/>
            </p:cNvSpPr>
            <p:nvPr/>
          </p:nvSpPr>
          <p:spPr bwMode="auto">
            <a:xfrm>
              <a:off x="1900216" y="3022569"/>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3" name="Text Box 49"/>
            <p:cNvSpPr txBox="1">
              <a:spLocks noChangeArrowheads="1"/>
            </p:cNvSpPr>
            <p:nvPr/>
          </p:nvSpPr>
          <p:spPr bwMode="auto">
            <a:xfrm>
              <a:off x="1607450" y="3115756"/>
              <a:ext cx="238561"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2" name="Text Box 48"/>
            <p:cNvSpPr txBox="1">
              <a:spLocks noChangeArrowheads="1"/>
            </p:cNvSpPr>
            <p:nvPr/>
          </p:nvSpPr>
          <p:spPr bwMode="auto">
            <a:xfrm>
              <a:off x="2977196" y="2947986"/>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1" name="Text Box 47"/>
            <p:cNvSpPr txBox="1">
              <a:spLocks noChangeArrowheads="1"/>
            </p:cNvSpPr>
            <p:nvPr/>
          </p:nvSpPr>
          <p:spPr bwMode="auto">
            <a:xfrm>
              <a:off x="3576631" y="2955894"/>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90" name="Text Box 46"/>
            <p:cNvSpPr txBox="1">
              <a:spLocks noChangeArrowheads="1"/>
            </p:cNvSpPr>
            <p:nvPr/>
          </p:nvSpPr>
          <p:spPr bwMode="auto">
            <a:xfrm>
              <a:off x="3292491" y="3071810"/>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9" name="Text Box 45"/>
            <p:cNvSpPr txBox="1">
              <a:spLocks noChangeArrowheads="1"/>
            </p:cNvSpPr>
            <p:nvPr/>
          </p:nvSpPr>
          <p:spPr bwMode="auto">
            <a:xfrm>
              <a:off x="5406088" y="2214554"/>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8" name="Text Box 44"/>
            <p:cNvSpPr txBox="1">
              <a:spLocks noChangeArrowheads="1"/>
            </p:cNvSpPr>
            <p:nvPr/>
          </p:nvSpPr>
          <p:spPr bwMode="auto">
            <a:xfrm>
              <a:off x="6191906" y="2176450"/>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7" name="Text Box 43"/>
            <p:cNvSpPr txBox="1">
              <a:spLocks noChangeArrowheads="1"/>
            </p:cNvSpPr>
            <p:nvPr/>
          </p:nvSpPr>
          <p:spPr bwMode="auto">
            <a:xfrm>
              <a:off x="5829227" y="2325116"/>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6" name="Text Box 42"/>
            <p:cNvSpPr txBox="1">
              <a:spLocks noChangeArrowheads="1"/>
            </p:cNvSpPr>
            <p:nvPr/>
          </p:nvSpPr>
          <p:spPr bwMode="auto">
            <a:xfrm>
              <a:off x="6406220" y="3062284"/>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5" name="Text Box 41"/>
            <p:cNvSpPr txBox="1">
              <a:spLocks noChangeArrowheads="1"/>
            </p:cNvSpPr>
            <p:nvPr/>
          </p:nvSpPr>
          <p:spPr bwMode="auto">
            <a:xfrm>
              <a:off x="6929454" y="3040535"/>
              <a:ext cx="237482" cy="193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4" name="Text Box 40"/>
            <p:cNvSpPr txBox="1">
              <a:spLocks noChangeArrowheads="1"/>
            </p:cNvSpPr>
            <p:nvPr/>
          </p:nvSpPr>
          <p:spPr bwMode="auto">
            <a:xfrm>
              <a:off x="6662950" y="3110289"/>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3" name="Text Box 39"/>
            <p:cNvSpPr txBox="1">
              <a:spLocks noChangeArrowheads="1"/>
            </p:cNvSpPr>
            <p:nvPr/>
          </p:nvSpPr>
          <p:spPr bwMode="auto">
            <a:xfrm>
              <a:off x="1600822" y="3681418"/>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2" name="Text Box 38"/>
            <p:cNvSpPr txBox="1">
              <a:spLocks noChangeArrowheads="1"/>
            </p:cNvSpPr>
            <p:nvPr/>
          </p:nvSpPr>
          <p:spPr bwMode="auto">
            <a:xfrm>
              <a:off x="2152634" y="3652840"/>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1" name="Text Box 37"/>
            <p:cNvSpPr txBox="1">
              <a:spLocks noChangeArrowheads="1"/>
            </p:cNvSpPr>
            <p:nvPr/>
          </p:nvSpPr>
          <p:spPr bwMode="auto">
            <a:xfrm>
              <a:off x="1877127" y="3786190"/>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80" name="Text Box 36"/>
            <p:cNvSpPr txBox="1">
              <a:spLocks noChangeArrowheads="1"/>
            </p:cNvSpPr>
            <p:nvPr/>
          </p:nvSpPr>
          <p:spPr bwMode="auto">
            <a:xfrm>
              <a:off x="4820295" y="3040542"/>
              <a:ext cx="237482" cy="193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9" name="Text Box 35"/>
            <p:cNvSpPr txBox="1">
              <a:spLocks noChangeArrowheads="1"/>
            </p:cNvSpPr>
            <p:nvPr/>
          </p:nvSpPr>
          <p:spPr bwMode="auto">
            <a:xfrm>
              <a:off x="5397642" y="3024180"/>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8" name="Text Box 34"/>
            <p:cNvSpPr txBox="1">
              <a:spLocks noChangeArrowheads="1"/>
            </p:cNvSpPr>
            <p:nvPr/>
          </p:nvSpPr>
          <p:spPr bwMode="auto">
            <a:xfrm>
              <a:off x="5123893" y="3094007"/>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7" name="Text Box 33"/>
            <p:cNvSpPr txBox="1">
              <a:spLocks noChangeArrowheads="1"/>
            </p:cNvSpPr>
            <p:nvPr/>
          </p:nvSpPr>
          <p:spPr bwMode="auto">
            <a:xfrm>
              <a:off x="3491551" y="3714752"/>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6" name="Text Box 32"/>
            <p:cNvSpPr txBox="1">
              <a:spLocks noChangeArrowheads="1"/>
            </p:cNvSpPr>
            <p:nvPr/>
          </p:nvSpPr>
          <p:spPr bwMode="auto">
            <a:xfrm>
              <a:off x="4048766" y="3647545"/>
              <a:ext cx="237482" cy="1910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5" name="Text Box 31"/>
            <p:cNvSpPr txBox="1">
              <a:spLocks noChangeArrowheads="1"/>
            </p:cNvSpPr>
            <p:nvPr/>
          </p:nvSpPr>
          <p:spPr bwMode="auto">
            <a:xfrm>
              <a:off x="3784915" y="3771901"/>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4" name="Text Box 30"/>
            <p:cNvSpPr txBox="1">
              <a:spLocks noChangeArrowheads="1"/>
            </p:cNvSpPr>
            <p:nvPr/>
          </p:nvSpPr>
          <p:spPr bwMode="auto">
            <a:xfrm>
              <a:off x="5214942" y="3705226"/>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3" name="Text Box 29"/>
            <p:cNvSpPr txBox="1">
              <a:spLocks noChangeArrowheads="1"/>
            </p:cNvSpPr>
            <p:nvPr/>
          </p:nvSpPr>
          <p:spPr bwMode="auto">
            <a:xfrm>
              <a:off x="5786446" y="3705226"/>
              <a:ext cx="238561"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2" name="Text Box 28"/>
            <p:cNvSpPr txBox="1">
              <a:spLocks noChangeArrowheads="1"/>
            </p:cNvSpPr>
            <p:nvPr/>
          </p:nvSpPr>
          <p:spPr bwMode="auto">
            <a:xfrm>
              <a:off x="5490910" y="3786190"/>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1" name="Text Box 27"/>
            <p:cNvSpPr txBox="1">
              <a:spLocks noChangeArrowheads="1"/>
            </p:cNvSpPr>
            <p:nvPr/>
          </p:nvSpPr>
          <p:spPr bwMode="auto">
            <a:xfrm>
              <a:off x="6834848" y="3671892"/>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70" name="Text Box 26"/>
            <p:cNvSpPr txBox="1">
              <a:spLocks noChangeArrowheads="1"/>
            </p:cNvSpPr>
            <p:nvPr/>
          </p:nvSpPr>
          <p:spPr bwMode="auto">
            <a:xfrm>
              <a:off x="7424757" y="3695707"/>
              <a:ext cx="23640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9" name="Text Box 25"/>
            <p:cNvSpPr txBox="1">
              <a:spLocks noChangeArrowheads="1"/>
            </p:cNvSpPr>
            <p:nvPr/>
          </p:nvSpPr>
          <p:spPr bwMode="auto">
            <a:xfrm>
              <a:off x="7133595" y="3788285"/>
              <a:ext cx="237482" cy="19211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8" name="Text Box 24"/>
            <p:cNvSpPr txBox="1">
              <a:spLocks noChangeArrowheads="1"/>
            </p:cNvSpPr>
            <p:nvPr/>
          </p:nvSpPr>
          <p:spPr bwMode="auto">
            <a:xfrm>
              <a:off x="3884036" y="1071547"/>
              <a:ext cx="973716" cy="21431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[0..10]</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7" name="Text Box 23"/>
            <p:cNvSpPr txBox="1">
              <a:spLocks noChangeArrowheads="1"/>
            </p:cNvSpPr>
            <p:nvPr/>
          </p:nvSpPr>
          <p:spPr bwMode="auto">
            <a:xfrm>
              <a:off x="2227060" y="1714815"/>
              <a:ext cx="844741" cy="21398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[0..4]</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6" name="Text Box 22"/>
            <p:cNvSpPr txBox="1">
              <a:spLocks noChangeArrowheads="1"/>
            </p:cNvSpPr>
            <p:nvPr/>
          </p:nvSpPr>
          <p:spPr bwMode="auto">
            <a:xfrm>
              <a:off x="5741984" y="1714488"/>
              <a:ext cx="1044594" cy="28563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[6..10]</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5" name="Text Box 21"/>
            <p:cNvSpPr txBox="1">
              <a:spLocks noChangeArrowheads="1"/>
            </p:cNvSpPr>
            <p:nvPr/>
          </p:nvSpPr>
          <p:spPr bwMode="auto">
            <a:xfrm>
              <a:off x="3334590" y="2484361"/>
              <a:ext cx="880220" cy="3016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[3..4]</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4" name="Text Box 20"/>
            <p:cNvSpPr txBox="1">
              <a:spLocks noChangeArrowheads="1"/>
            </p:cNvSpPr>
            <p:nvPr/>
          </p:nvSpPr>
          <p:spPr bwMode="auto">
            <a:xfrm>
              <a:off x="1133366" y="2500307"/>
              <a:ext cx="866866" cy="21431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[0..1]</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3" name="Text Box 19"/>
            <p:cNvSpPr txBox="1">
              <a:spLocks noChangeArrowheads="1"/>
            </p:cNvSpPr>
            <p:nvPr/>
          </p:nvSpPr>
          <p:spPr bwMode="auto">
            <a:xfrm>
              <a:off x="6682002" y="2484361"/>
              <a:ext cx="1176146" cy="3016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[9..10]</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2" name="Text Box 18"/>
            <p:cNvSpPr txBox="1">
              <a:spLocks noChangeArrowheads="1"/>
            </p:cNvSpPr>
            <p:nvPr/>
          </p:nvSpPr>
          <p:spPr bwMode="auto">
            <a:xfrm>
              <a:off x="4429124" y="2548040"/>
              <a:ext cx="811796" cy="23801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[6..7]</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1" name="Text Box 17"/>
            <p:cNvSpPr txBox="1">
              <a:spLocks noChangeArrowheads="1"/>
            </p:cNvSpPr>
            <p:nvPr/>
          </p:nvSpPr>
          <p:spPr bwMode="auto">
            <a:xfrm>
              <a:off x="7221732" y="3248511"/>
              <a:ext cx="1136482" cy="32336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[10..10]</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60" name="Text Box 16"/>
            <p:cNvSpPr txBox="1">
              <a:spLocks noChangeArrowheads="1"/>
            </p:cNvSpPr>
            <p:nvPr/>
          </p:nvSpPr>
          <p:spPr bwMode="auto">
            <a:xfrm>
              <a:off x="5570856" y="3228192"/>
              <a:ext cx="858531" cy="27224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[7..7]</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9" name="Text Box 15"/>
            <p:cNvSpPr txBox="1">
              <a:spLocks noChangeArrowheads="1"/>
            </p:cNvSpPr>
            <p:nvPr/>
          </p:nvSpPr>
          <p:spPr bwMode="auto">
            <a:xfrm>
              <a:off x="3902386" y="3248511"/>
              <a:ext cx="883927" cy="2519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[4..4]</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8" name="Text Box 14"/>
            <p:cNvSpPr txBox="1">
              <a:spLocks noChangeArrowheads="1"/>
            </p:cNvSpPr>
            <p:nvPr/>
          </p:nvSpPr>
          <p:spPr bwMode="auto">
            <a:xfrm>
              <a:off x="2045216" y="3256184"/>
              <a:ext cx="883709" cy="24425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[1..1]</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7" name="Text Box 13"/>
            <p:cNvSpPr txBox="1">
              <a:spLocks noChangeArrowheads="1"/>
            </p:cNvSpPr>
            <p:nvPr/>
          </p:nvSpPr>
          <p:spPr bwMode="auto">
            <a:xfrm>
              <a:off x="983521" y="3847527"/>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6" name="Text Box 12"/>
            <p:cNvSpPr txBox="1">
              <a:spLocks noChangeArrowheads="1"/>
            </p:cNvSpPr>
            <p:nvPr/>
          </p:nvSpPr>
          <p:spPr bwMode="auto">
            <a:xfrm>
              <a:off x="1310598" y="4611678"/>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5" name="Text Box 11"/>
            <p:cNvSpPr txBox="1">
              <a:spLocks noChangeArrowheads="1"/>
            </p:cNvSpPr>
            <p:nvPr/>
          </p:nvSpPr>
          <p:spPr bwMode="auto">
            <a:xfrm>
              <a:off x="2201154"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4" name="Text Box 10"/>
            <p:cNvSpPr txBox="1">
              <a:spLocks noChangeArrowheads="1"/>
            </p:cNvSpPr>
            <p:nvPr/>
          </p:nvSpPr>
          <p:spPr bwMode="auto">
            <a:xfrm>
              <a:off x="2827242" y="3854003"/>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3" name="Text Box 9"/>
            <p:cNvSpPr txBox="1">
              <a:spLocks noChangeArrowheads="1"/>
            </p:cNvSpPr>
            <p:nvPr/>
          </p:nvSpPr>
          <p:spPr bwMode="auto">
            <a:xfrm>
              <a:off x="3319477"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2" name="Text Box 8"/>
            <p:cNvSpPr txBox="1">
              <a:spLocks noChangeArrowheads="1"/>
            </p:cNvSpPr>
            <p:nvPr/>
          </p:nvSpPr>
          <p:spPr bwMode="auto">
            <a:xfrm>
              <a:off x="4147425" y="4611678"/>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1" name="Text Box 7"/>
            <p:cNvSpPr txBox="1">
              <a:spLocks noChangeArrowheads="1"/>
            </p:cNvSpPr>
            <p:nvPr/>
          </p:nvSpPr>
          <p:spPr bwMode="auto">
            <a:xfrm>
              <a:off x="5070365"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50" name="Text Box 6"/>
            <p:cNvSpPr txBox="1">
              <a:spLocks noChangeArrowheads="1"/>
            </p:cNvSpPr>
            <p:nvPr/>
          </p:nvSpPr>
          <p:spPr bwMode="auto">
            <a:xfrm>
              <a:off x="4711983" y="3842131"/>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49" name="Text Box 5"/>
            <p:cNvSpPr txBox="1">
              <a:spLocks noChangeArrowheads="1"/>
            </p:cNvSpPr>
            <p:nvPr/>
          </p:nvSpPr>
          <p:spPr bwMode="auto">
            <a:xfrm>
              <a:off x="6338733" y="3837814"/>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48" name="Text Box 4"/>
            <p:cNvSpPr txBox="1">
              <a:spLocks noChangeArrowheads="1"/>
            </p:cNvSpPr>
            <p:nvPr/>
          </p:nvSpPr>
          <p:spPr bwMode="auto">
            <a:xfrm>
              <a:off x="5829227"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47" name="Text Box 3"/>
            <p:cNvSpPr txBox="1">
              <a:spLocks noChangeArrowheads="1"/>
            </p:cNvSpPr>
            <p:nvPr/>
          </p:nvSpPr>
          <p:spPr bwMode="auto">
            <a:xfrm>
              <a:off x="6648538"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746" name="Text Box 2"/>
            <p:cNvSpPr txBox="1">
              <a:spLocks noChangeArrowheads="1"/>
            </p:cNvSpPr>
            <p:nvPr/>
          </p:nvSpPr>
          <p:spPr bwMode="auto">
            <a:xfrm>
              <a:off x="7472168" y="4624629"/>
              <a:ext cx="358381" cy="2331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u</a:t>
              </a:r>
              <a:r>
                <a:rPr kumimoji="0" lang="en-US" altLang="zh-CN" sz="1800" b="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08" name="TextBox 107"/>
          <p:cNvSpPr txBox="1"/>
          <p:nvPr/>
        </p:nvSpPr>
        <p:spPr>
          <a:xfrm>
            <a:off x="500034" y="5565813"/>
            <a:ext cx="8143932" cy="75918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600"/>
              </a:lnSpc>
              <a:spcBef>
                <a:spcPts val="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内部结点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中的数字表示该元素在有序表中的下标</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外部结点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中的两个值表示查找不成功时关键字对应的元素序号范围</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3" name="TextBox 112"/>
          <p:cNvSpPr txBox="1"/>
          <p:nvPr/>
        </p:nvSpPr>
        <p:spPr>
          <a:xfrm>
            <a:off x="285720" y="214290"/>
            <a:ext cx="292895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折半查找算法分析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8" name="灯片编号占位符 11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785794"/>
            <a:ext cx="8072494" cy="2477601"/>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9.4</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给定</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个元素的有序表（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），采用折半查找，试问</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）若查找给定值为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的元素，将依次与表中哪些元素比较？</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）若查找给定值为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的元素，将依次与哪些元素比较？</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）假设查找表中每个元素的概率相同，求查找成功时的平均查找长度和查找不成功时的平均查找长度。</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8143932" cy="810478"/>
          </a:xfrm>
          <a:prstGeom prst="rect">
            <a:avLst/>
          </a:prstGeom>
          <a:noFill/>
        </p:spPr>
        <p:txBody>
          <a:bodyPr wrap="square" rtlCol="0">
            <a:spAutoFit/>
          </a:bodyPr>
          <a:lstStyle/>
          <a:p>
            <a:pPr algn="l">
              <a:lnSpc>
                <a:spcPts val="2800"/>
              </a:lnSpc>
              <a:spcBef>
                <a:spcPts val="600"/>
              </a:spcBef>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有序表</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），查找给定值为</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20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的元素，将依次与表中哪些元素比较？</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1848" name="Rectangle 10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9" name="组合 108"/>
          <p:cNvGrpSpPr/>
          <p:nvPr/>
        </p:nvGrpSpPr>
        <p:grpSpPr>
          <a:xfrm>
            <a:off x="1470494" y="1996187"/>
            <a:ext cx="5905738" cy="2464060"/>
            <a:chOff x="1470494" y="1996187"/>
            <a:chExt cx="5905738" cy="2464060"/>
          </a:xfrm>
        </p:grpSpPr>
        <p:sp>
          <p:nvSpPr>
            <p:cNvPr id="31845" name="Line 101"/>
            <p:cNvSpPr>
              <a:spLocks noChangeShapeType="1"/>
            </p:cNvSpPr>
            <p:nvPr/>
          </p:nvSpPr>
          <p:spPr bwMode="auto">
            <a:xfrm flipH="1">
              <a:off x="1782459" y="2909281"/>
              <a:ext cx="642280" cy="56555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3" name="Line 99"/>
            <p:cNvSpPr>
              <a:spLocks noChangeShapeType="1"/>
            </p:cNvSpPr>
            <p:nvPr/>
          </p:nvSpPr>
          <p:spPr bwMode="auto">
            <a:xfrm flipH="1">
              <a:off x="5211910" y="2915757"/>
              <a:ext cx="447977" cy="53317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2" name="Freeform 98"/>
            <p:cNvSpPr/>
            <p:nvPr/>
          </p:nvSpPr>
          <p:spPr bwMode="auto">
            <a:xfrm>
              <a:off x="2766693" y="2919407"/>
              <a:ext cx="556983" cy="582603"/>
            </a:xfrm>
            <a:custGeom>
              <a:avLst/>
              <a:gdLst/>
              <a:ahLst/>
              <a:cxnLst>
                <a:cxn ang="0">
                  <a:pos x="0" y="0"/>
                </a:cxn>
                <a:cxn ang="0">
                  <a:pos x="515" y="513"/>
                </a:cxn>
              </a:cxnLst>
              <a:rect l="0" t="0" r="r" b="b"/>
              <a:pathLst>
                <a:path w="515" h="513">
                  <a:moveTo>
                    <a:pt x="0" y="0"/>
                  </a:moveTo>
                  <a:lnTo>
                    <a:pt x="515"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4" name="Line 90"/>
            <p:cNvSpPr>
              <a:spLocks noChangeShapeType="1"/>
            </p:cNvSpPr>
            <p:nvPr/>
          </p:nvSpPr>
          <p:spPr bwMode="auto">
            <a:xfrm>
              <a:off x="3445910" y="3679908"/>
              <a:ext cx="345428" cy="44251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3" name="Freeform 89"/>
            <p:cNvSpPr/>
            <p:nvPr/>
          </p:nvSpPr>
          <p:spPr bwMode="auto">
            <a:xfrm>
              <a:off x="5282075" y="3755459"/>
              <a:ext cx="188906" cy="358330"/>
            </a:xfrm>
            <a:custGeom>
              <a:avLst/>
              <a:gdLst/>
              <a:ahLst/>
              <a:cxnLst>
                <a:cxn ang="0">
                  <a:pos x="0" y="0"/>
                </a:cxn>
                <a:cxn ang="0">
                  <a:pos x="175" y="332"/>
                </a:cxn>
              </a:cxnLst>
              <a:rect l="0" t="0" r="r" b="b"/>
              <a:pathLst>
                <a:path w="175" h="332">
                  <a:moveTo>
                    <a:pt x="0" y="0"/>
                  </a:moveTo>
                  <a:lnTo>
                    <a:pt x="175" y="33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1" name="Line 87"/>
            <p:cNvSpPr>
              <a:spLocks noChangeShapeType="1"/>
            </p:cNvSpPr>
            <p:nvPr/>
          </p:nvSpPr>
          <p:spPr bwMode="auto">
            <a:xfrm>
              <a:off x="6789004" y="3736032"/>
              <a:ext cx="287137" cy="40258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0" name="Oval 86"/>
            <p:cNvSpPr>
              <a:spLocks noChangeArrowheads="1"/>
            </p:cNvSpPr>
            <p:nvPr/>
          </p:nvSpPr>
          <p:spPr bwMode="auto">
            <a:xfrm>
              <a:off x="3992118" y="1996187"/>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9" name="Oval 85"/>
            <p:cNvSpPr>
              <a:spLocks noChangeArrowheads="1"/>
            </p:cNvSpPr>
            <p:nvPr/>
          </p:nvSpPr>
          <p:spPr bwMode="auto">
            <a:xfrm>
              <a:off x="2404229" y="2668596"/>
              <a:ext cx="38968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8" name="Oval 84"/>
            <p:cNvSpPr>
              <a:spLocks noChangeArrowheads="1"/>
            </p:cNvSpPr>
            <p:nvPr/>
          </p:nvSpPr>
          <p:spPr bwMode="auto">
            <a:xfrm>
              <a:off x="5650172" y="2662120"/>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7" name="Oval 83"/>
            <p:cNvSpPr>
              <a:spLocks noChangeArrowheads="1"/>
            </p:cNvSpPr>
            <p:nvPr/>
          </p:nvSpPr>
          <p:spPr bwMode="auto">
            <a:xfrm>
              <a:off x="1470494" y="3431667"/>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6" name="Oval 82"/>
            <p:cNvSpPr>
              <a:spLocks noChangeArrowheads="1"/>
            </p:cNvSpPr>
            <p:nvPr/>
          </p:nvSpPr>
          <p:spPr bwMode="auto">
            <a:xfrm>
              <a:off x="3143661" y="3424112"/>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5" name="Oval 81"/>
            <p:cNvSpPr>
              <a:spLocks noChangeArrowheads="1"/>
            </p:cNvSpPr>
            <p:nvPr/>
          </p:nvSpPr>
          <p:spPr bwMode="auto">
            <a:xfrm>
              <a:off x="4964713" y="3438143"/>
              <a:ext cx="387527"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4" name="Oval 80"/>
            <p:cNvSpPr>
              <a:spLocks noChangeArrowheads="1"/>
            </p:cNvSpPr>
            <p:nvPr/>
          </p:nvSpPr>
          <p:spPr bwMode="auto">
            <a:xfrm>
              <a:off x="6474881" y="3430587"/>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2" name="Oval 78"/>
            <p:cNvSpPr>
              <a:spLocks noChangeArrowheads="1"/>
            </p:cNvSpPr>
            <p:nvPr/>
          </p:nvSpPr>
          <p:spPr bwMode="auto">
            <a:xfrm>
              <a:off x="1729565" y="412350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0" name="Oval 76"/>
            <p:cNvSpPr>
              <a:spLocks noChangeArrowheads="1"/>
            </p:cNvSpPr>
            <p:nvPr/>
          </p:nvSpPr>
          <p:spPr bwMode="auto">
            <a:xfrm>
              <a:off x="3613227" y="4119186"/>
              <a:ext cx="38860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8" name="Oval 74"/>
            <p:cNvSpPr>
              <a:spLocks noChangeArrowheads="1"/>
            </p:cNvSpPr>
            <p:nvPr/>
          </p:nvSpPr>
          <p:spPr bwMode="auto">
            <a:xfrm>
              <a:off x="5324174" y="412350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6" name="Oval 72"/>
            <p:cNvSpPr>
              <a:spLocks noChangeArrowheads="1"/>
            </p:cNvSpPr>
            <p:nvPr/>
          </p:nvSpPr>
          <p:spPr bwMode="auto">
            <a:xfrm>
              <a:off x="6988705" y="4119186"/>
              <a:ext cx="387527"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7" name="Freeform 63"/>
            <p:cNvSpPr/>
            <p:nvPr/>
          </p:nvSpPr>
          <p:spPr bwMode="auto">
            <a:xfrm>
              <a:off x="2716194" y="2164559"/>
              <a:ext cx="1277004" cy="525623"/>
            </a:xfrm>
            <a:custGeom>
              <a:avLst/>
              <a:gdLst/>
              <a:ahLst/>
              <a:cxnLst>
                <a:cxn ang="0">
                  <a:pos x="1183" y="0"/>
                </a:cxn>
                <a:cxn ang="0">
                  <a:pos x="0" y="487"/>
                </a:cxn>
              </a:cxnLst>
              <a:rect l="0" t="0" r="r" b="b"/>
              <a:pathLst>
                <a:path w="1183" h="487">
                  <a:moveTo>
                    <a:pt x="1183"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6" name="Freeform 62"/>
            <p:cNvSpPr/>
            <p:nvPr/>
          </p:nvSpPr>
          <p:spPr bwMode="auto">
            <a:xfrm>
              <a:off x="4380724" y="2164559"/>
              <a:ext cx="1294275" cy="536416"/>
            </a:xfrm>
            <a:custGeom>
              <a:avLst/>
              <a:gdLst/>
              <a:ahLst/>
              <a:cxnLst>
                <a:cxn ang="0">
                  <a:pos x="0" y="0"/>
                </a:cxn>
                <a:cxn ang="0">
                  <a:pos x="1199" y="497"/>
                </a:cxn>
              </a:cxnLst>
              <a:rect l="0" t="0" r="r" b="b"/>
              <a:pathLst>
                <a:path w="1199" h="497">
                  <a:moveTo>
                    <a:pt x="0" y="0"/>
                  </a:moveTo>
                  <a:lnTo>
                    <a:pt x="1199" y="49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5" name="Freeform 61"/>
            <p:cNvSpPr/>
            <p:nvPr/>
          </p:nvSpPr>
          <p:spPr bwMode="auto">
            <a:xfrm>
              <a:off x="6012871" y="2897409"/>
              <a:ext cx="567797" cy="553685"/>
            </a:xfrm>
            <a:custGeom>
              <a:avLst/>
              <a:gdLst/>
              <a:ahLst/>
              <a:cxnLst>
                <a:cxn ang="0">
                  <a:pos x="0" y="0"/>
                </a:cxn>
                <a:cxn ang="0">
                  <a:pos x="19" y="0"/>
                </a:cxn>
                <a:cxn ang="0">
                  <a:pos x="526" y="513"/>
                </a:cxn>
              </a:cxnLst>
              <a:rect l="0" t="0" r="r" b="b"/>
              <a:pathLst>
                <a:path w="526" h="513">
                  <a:moveTo>
                    <a:pt x="0" y="0"/>
                  </a:moveTo>
                  <a:lnTo>
                    <a:pt x="19" y="0"/>
                  </a:lnTo>
                  <a:lnTo>
                    <a:pt x="526"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2" name="Line 58"/>
            <p:cNvSpPr>
              <a:spLocks noChangeShapeType="1"/>
            </p:cNvSpPr>
            <p:nvPr/>
          </p:nvSpPr>
          <p:spPr bwMode="auto">
            <a:xfrm>
              <a:off x="1772744" y="3761935"/>
              <a:ext cx="145727" cy="36264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11" name="任意多边形 110"/>
          <p:cNvSpPr/>
          <p:nvPr/>
        </p:nvSpPr>
        <p:spPr>
          <a:xfrm>
            <a:off x="2763128" y="2250831"/>
            <a:ext cx="1236116" cy="1919235"/>
          </a:xfrm>
          <a:custGeom>
            <a:avLst/>
            <a:gdLst>
              <a:gd name="connsiteX0" fmla="*/ 1321358 w 1321358"/>
              <a:gd name="connsiteY0" fmla="*/ 0 h 1919235"/>
              <a:gd name="connsiteX1" fmla="*/ 165798 w 1321358"/>
              <a:gd name="connsiteY1" fmla="*/ 502417 h 1919235"/>
              <a:gd name="connsiteX2" fmla="*/ 326571 w 1321358"/>
              <a:gd name="connsiteY2" fmla="*/ 793820 h 1919235"/>
              <a:gd name="connsiteX3" fmla="*/ 648118 w 1321358"/>
              <a:gd name="connsiteY3" fmla="*/ 1155560 h 1919235"/>
              <a:gd name="connsiteX4" fmla="*/ 1240971 w 1321358"/>
              <a:gd name="connsiteY4" fmla="*/ 1919235 h 1919235"/>
              <a:gd name="connsiteX0-1" fmla="*/ 1236116 w 1236116"/>
              <a:gd name="connsiteY0-2" fmla="*/ 0 h 1919235"/>
              <a:gd name="connsiteX1-3" fmla="*/ 165798 w 1236116"/>
              <a:gd name="connsiteY1-4" fmla="*/ 463789 h 1919235"/>
              <a:gd name="connsiteX2-5" fmla="*/ 241329 w 1236116"/>
              <a:gd name="connsiteY2-6" fmla="*/ 793820 h 1919235"/>
              <a:gd name="connsiteX3-7" fmla="*/ 562876 w 1236116"/>
              <a:gd name="connsiteY3-8" fmla="*/ 1155560 h 1919235"/>
              <a:gd name="connsiteX4-9" fmla="*/ 1155729 w 1236116"/>
              <a:gd name="connsiteY4-10" fmla="*/ 1919235 h 19192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36116" h="1919235">
                <a:moveTo>
                  <a:pt x="1236116" y="0"/>
                </a:moveTo>
                <a:cubicBezTo>
                  <a:pt x="741235" y="185057"/>
                  <a:pt x="331596" y="331486"/>
                  <a:pt x="165798" y="463789"/>
                </a:cubicBezTo>
                <a:cubicBezTo>
                  <a:pt x="0" y="596092"/>
                  <a:pt x="175149" y="678525"/>
                  <a:pt x="241329" y="793820"/>
                </a:cubicBezTo>
                <a:cubicBezTo>
                  <a:pt x="307509" y="909115"/>
                  <a:pt x="410476" y="967991"/>
                  <a:pt x="562876" y="1155560"/>
                </a:cubicBezTo>
                <a:cubicBezTo>
                  <a:pt x="715276" y="1343129"/>
                  <a:pt x="935502" y="1631182"/>
                  <a:pt x="1155729" y="1919235"/>
                </a:cubicBezTo>
              </a:path>
            </a:pathLst>
          </a:custGeom>
          <a:ln w="28575">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lnSpc>
                <a:spcPts val="2000"/>
              </a:lnSpc>
            </a:pPr>
            <a:endParaRPr lang="zh-CN" altLang="en-US" sz="1800"/>
          </a:p>
        </p:txBody>
      </p:sp>
      <p:sp>
        <p:nvSpPr>
          <p:cNvPr id="34" name="灯片编号占位符 3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grpId="0" nodeType="clickEffect">
                                  <p:stCondLst>
                                    <p:cond delay="0"/>
                                  </p:stCondLst>
                                  <p:childTnLst>
                                    <p:set>
                                      <p:cBhvr>
                                        <p:cTn id="10" dur="1" fill="hold">
                                          <p:stCondLst>
                                            <p:cond delay="0"/>
                                          </p:stCondLst>
                                        </p:cTn>
                                        <p:tgtEl>
                                          <p:spTgt spid="111"/>
                                        </p:tgtEl>
                                        <p:attrNameLst>
                                          <p:attrName>style.visibility</p:attrName>
                                        </p:attrNameLst>
                                      </p:cBhvr>
                                      <p:to>
                                        <p:strVal val="visible"/>
                                      </p:to>
                                    </p:set>
                                    <p:animEffect transition="in" filter="strips(downLeft)">
                                      <p:cBhvr>
                                        <p:cTn id="11"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00042"/>
            <a:ext cx="8143932" cy="810478"/>
          </a:xfrm>
          <a:prstGeom prst="rect">
            <a:avLst/>
          </a:prstGeom>
          <a:noFill/>
        </p:spPr>
        <p:txBody>
          <a:bodyPr wrap="square" rtlCol="0">
            <a:spAutoFit/>
          </a:bodyPr>
          <a:lstStyle/>
          <a:p>
            <a:pPr algn="l">
              <a:lnSpc>
                <a:spcPts val="2800"/>
              </a:lnSpc>
              <a:spcBef>
                <a:spcPts val="600"/>
              </a:spcBef>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有序表</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），查找给定值为</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26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的元素，将依次与哪些元素比较？</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1848" name="Rectangle 10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50" name="组合 49"/>
          <p:cNvGrpSpPr/>
          <p:nvPr/>
        </p:nvGrpSpPr>
        <p:grpSpPr>
          <a:xfrm>
            <a:off x="1087778" y="1714488"/>
            <a:ext cx="6606215" cy="3199069"/>
            <a:chOff x="1087778" y="1714488"/>
            <a:chExt cx="6606215" cy="3199069"/>
          </a:xfrm>
        </p:grpSpPr>
        <p:sp>
          <p:nvSpPr>
            <p:cNvPr id="31846" name="Freeform 102"/>
            <p:cNvSpPr/>
            <p:nvPr/>
          </p:nvSpPr>
          <p:spPr bwMode="auto">
            <a:xfrm>
              <a:off x="1280784" y="3393890"/>
              <a:ext cx="254478" cy="539228"/>
            </a:xfrm>
            <a:custGeom>
              <a:avLst/>
              <a:gdLst/>
              <a:ahLst/>
              <a:cxnLst>
                <a:cxn ang="0">
                  <a:pos x="440" y="0"/>
                </a:cxn>
                <a:cxn ang="0">
                  <a:pos x="0" y="475"/>
                </a:cxn>
              </a:cxnLst>
              <a:rect l="0" t="0" r="r" b="b"/>
              <a:pathLst>
                <a:path w="440" h="475">
                  <a:moveTo>
                    <a:pt x="440" y="0"/>
                  </a:moveTo>
                  <a:lnTo>
                    <a:pt x="0" y="47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5" name="Line 101"/>
            <p:cNvSpPr>
              <a:spLocks noChangeShapeType="1"/>
            </p:cNvSpPr>
            <p:nvPr/>
          </p:nvSpPr>
          <p:spPr bwMode="auto">
            <a:xfrm flipH="1">
              <a:off x="1782459" y="2627582"/>
              <a:ext cx="642280" cy="56555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4" name="Freeform 100"/>
            <p:cNvSpPr/>
            <p:nvPr/>
          </p:nvSpPr>
          <p:spPr bwMode="auto">
            <a:xfrm>
              <a:off x="4771490" y="3427350"/>
              <a:ext cx="260150" cy="485689"/>
            </a:xfrm>
            <a:custGeom>
              <a:avLst/>
              <a:gdLst/>
              <a:ahLst/>
              <a:cxnLst>
                <a:cxn ang="0">
                  <a:pos x="240" y="0"/>
                </a:cxn>
                <a:cxn ang="0">
                  <a:pos x="0" y="450"/>
                </a:cxn>
              </a:cxnLst>
              <a:rect l="0" t="0" r="r" b="b"/>
              <a:pathLst>
                <a:path w="240" h="450">
                  <a:moveTo>
                    <a:pt x="240" y="0"/>
                  </a:moveTo>
                  <a:lnTo>
                    <a:pt x="0" y="45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3" name="Line 99"/>
            <p:cNvSpPr>
              <a:spLocks noChangeShapeType="1"/>
            </p:cNvSpPr>
            <p:nvPr/>
          </p:nvSpPr>
          <p:spPr bwMode="auto">
            <a:xfrm flipH="1">
              <a:off x="5211910" y="2634058"/>
              <a:ext cx="447977" cy="53317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2" name="Freeform 98"/>
            <p:cNvSpPr/>
            <p:nvPr/>
          </p:nvSpPr>
          <p:spPr bwMode="auto">
            <a:xfrm>
              <a:off x="2766693" y="2637708"/>
              <a:ext cx="556983" cy="582603"/>
            </a:xfrm>
            <a:custGeom>
              <a:avLst/>
              <a:gdLst/>
              <a:ahLst/>
              <a:cxnLst>
                <a:cxn ang="0">
                  <a:pos x="0" y="0"/>
                </a:cxn>
                <a:cxn ang="0">
                  <a:pos x="515" y="513"/>
                </a:cxn>
              </a:cxnLst>
              <a:rect l="0" t="0" r="r" b="b"/>
              <a:pathLst>
                <a:path w="515" h="513">
                  <a:moveTo>
                    <a:pt x="0" y="0"/>
                  </a:moveTo>
                  <a:lnTo>
                    <a:pt x="515"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1" name="Line 97"/>
            <p:cNvSpPr>
              <a:spLocks noChangeShapeType="1"/>
            </p:cNvSpPr>
            <p:nvPr/>
          </p:nvSpPr>
          <p:spPr bwMode="auto">
            <a:xfrm flipH="1">
              <a:off x="5092090" y="4121345"/>
              <a:ext cx="345428" cy="576351"/>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40" name="Line 96"/>
            <p:cNvSpPr>
              <a:spLocks noChangeShapeType="1"/>
            </p:cNvSpPr>
            <p:nvPr/>
          </p:nvSpPr>
          <p:spPr bwMode="auto">
            <a:xfrm>
              <a:off x="5631821" y="4088966"/>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9" name="Line 95"/>
            <p:cNvSpPr>
              <a:spLocks noChangeShapeType="1"/>
            </p:cNvSpPr>
            <p:nvPr/>
          </p:nvSpPr>
          <p:spPr bwMode="auto">
            <a:xfrm flipH="1">
              <a:off x="3390855" y="4075994"/>
              <a:ext cx="318820" cy="62170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8" name="Line 94"/>
            <p:cNvSpPr>
              <a:spLocks noChangeShapeType="1"/>
            </p:cNvSpPr>
            <p:nvPr/>
          </p:nvSpPr>
          <p:spPr bwMode="auto">
            <a:xfrm>
              <a:off x="3931668" y="4088966"/>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7" name="Line 93"/>
            <p:cNvSpPr>
              <a:spLocks noChangeShapeType="1"/>
            </p:cNvSpPr>
            <p:nvPr/>
          </p:nvSpPr>
          <p:spPr bwMode="auto">
            <a:xfrm flipH="1">
              <a:off x="1495097" y="4104077"/>
              <a:ext cx="288440" cy="54342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6" name="Freeform 92"/>
            <p:cNvSpPr/>
            <p:nvPr/>
          </p:nvSpPr>
          <p:spPr bwMode="auto">
            <a:xfrm>
              <a:off x="2062040" y="4106235"/>
              <a:ext cx="234243" cy="542892"/>
            </a:xfrm>
            <a:custGeom>
              <a:avLst/>
              <a:gdLst/>
              <a:ahLst/>
              <a:cxnLst>
                <a:cxn ang="0">
                  <a:pos x="0" y="0"/>
                </a:cxn>
                <a:cxn ang="0">
                  <a:pos x="217" y="502"/>
                </a:cxn>
              </a:cxnLst>
              <a:rect l="0" t="0" r="r" b="b"/>
              <a:pathLst>
                <a:path w="217" h="502">
                  <a:moveTo>
                    <a:pt x="0" y="0"/>
                  </a:moveTo>
                  <a:lnTo>
                    <a:pt x="217" y="5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5" name="Line 91"/>
            <p:cNvSpPr>
              <a:spLocks noChangeShapeType="1"/>
            </p:cNvSpPr>
            <p:nvPr/>
          </p:nvSpPr>
          <p:spPr bwMode="auto">
            <a:xfrm flipH="1">
              <a:off x="2852420" y="3414398"/>
              <a:ext cx="318226" cy="51872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4" name="Line 90"/>
            <p:cNvSpPr>
              <a:spLocks noChangeShapeType="1"/>
            </p:cNvSpPr>
            <p:nvPr/>
          </p:nvSpPr>
          <p:spPr bwMode="auto">
            <a:xfrm>
              <a:off x="3445910" y="3398209"/>
              <a:ext cx="345428" cy="44251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3" name="Freeform 89"/>
            <p:cNvSpPr/>
            <p:nvPr/>
          </p:nvSpPr>
          <p:spPr bwMode="auto">
            <a:xfrm>
              <a:off x="5282075" y="3473760"/>
              <a:ext cx="188906" cy="358330"/>
            </a:xfrm>
            <a:custGeom>
              <a:avLst/>
              <a:gdLst/>
              <a:ahLst/>
              <a:cxnLst>
                <a:cxn ang="0">
                  <a:pos x="0" y="0"/>
                </a:cxn>
                <a:cxn ang="0">
                  <a:pos x="175" y="332"/>
                </a:cxn>
              </a:cxnLst>
              <a:rect l="0" t="0" r="r" b="b"/>
              <a:pathLst>
                <a:path w="175" h="332">
                  <a:moveTo>
                    <a:pt x="0" y="0"/>
                  </a:moveTo>
                  <a:lnTo>
                    <a:pt x="175" y="33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2" name="Freeform 88"/>
            <p:cNvSpPr/>
            <p:nvPr/>
          </p:nvSpPr>
          <p:spPr bwMode="auto">
            <a:xfrm>
              <a:off x="6366935" y="3451095"/>
              <a:ext cx="226687" cy="445754"/>
            </a:xfrm>
            <a:custGeom>
              <a:avLst/>
              <a:gdLst/>
              <a:ahLst/>
              <a:cxnLst>
                <a:cxn ang="0">
                  <a:pos x="210" y="0"/>
                </a:cxn>
                <a:cxn ang="0">
                  <a:pos x="0" y="413"/>
                </a:cxn>
              </a:cxnLst>
              <a:rect l="0" t="0" r="r" b="b"/>
              <a:pathLst>
                <a:path w="210" h="413">
                  <a:moveTo>
                    <a:pt x="210" y="0"/>
                  </a:moveTo>
                  <a:lnTo>
                    <a:pt x="0" y="4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1" name="Line 87"/>
            <p:cNvSpPr>
              <a:spLocks noChangeShapeType="1"/>
            </p:cNvSpPr>
            <p:nvPr/>
          </p:nvSpPr>
          <p:spPr bwMode="auto">
            <a:xfrm>
              <a:off x="6789004" y="3454333"/>
              <a:ext cx="287137" cy="40258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30" name="Oval 86"/>
            <p:cNvSpPr>
              <a:spLocks noChangeArrowheads="1"/>
            </p:cNvSpPr>
            <p:nvPr/>
          </p:nvSpPr>
          <p:spPr bwMode="auto">
            <a:xfrm>
              <a:off x="3992118" y="1714488"/>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9" name="Oval 85"/>
            <p:cNvSpPr>
              <a:spLocks noChangeArrowheads="1"/>
            </p:cNvSpPr>
            <p:nvPr/>
          </p:nvSpPr>
          <p:spPr bwMode="auto">
            <a:xfrm>
              <a:off x="2404229" y="2386897"/>
              <a:ext cx="38968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8" name="Oval 84"/>
            <p:cNvSpPr>
              <a:spLocks noChangeArrowheads="1"/>
            </p:cNvSpPr>
            <p:nvPr/>
          </p:nvSpPr>
          <p:spPr bwMode="auto">
            <a:xfrm>
              <a:off x="5650172" y="2380421"/>
              <a:ext cx="38860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7" name="Oval 83"/>
            <p:cNvSpPr>
              <a:spLocks noChangeArrowheads="1"/>
            </p:cNvSpPr>
            <p:nvPr/>
          </p:nvSpPr>
          <p:spPr bwMode="auto">
            <a:xfrm>
              <a:off x="1470494" y="3149968"/>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6" name="Oval 82"/>
            <p:cNvSpPr>
              <a:spLocks noChangeArrowheads="1"/>
            </p:cNvSpPr>
            <p:nvPr/>
          </p:nvSpPr>
          <p:spPr bwMode="auto">
            <a:xfrm>
              <a:off x="3143661" y="314241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5" name="Oval 81"/>
            <p:cNvSpPr>
              <a:spLocks noChangeArrowheads="1"/>
            </p:cNvSpPr>
            <p:nvPr/>
          </p:nvSpPr>
          <p:spPr bwMode="auto">
            <a:xfrm>
              <a:off x="4964713" y="3156444"/>
              <a:ext cx="387527"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4" name="Oval 80"/>
            <p:cNvSpPr>
              <a:spLocks noChangeArrowheads="1"/>
            </p:cNvSpPr>
            <p:nvPr/>
          </p:nvSpPr>
          <p:spPr bwMode="auto">
            <a:xfrm>
              <a:off x="6474881" y="3148888"/>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3" name="Text Box 79"/>
            <p:cNvSpPr txBox="1">
              <a:spLocks noChangeArrowheads="1"/>
            </p:cNvSpPr>
            <p:nvPr/>
          </p:nvSpPr>
          <p:spPr bwMode="auto">
            <a:xfrm>
              <a:off x="1087778" y="3903325"/>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2" name="Oval 78"/>
            <p:cNvSpPr>
              <a:spLocks noChangeArrowheads="1"/>
            </p:cNvSpPr>
            <p:nvPr/>
          </p:nvSpPr>
          <p:spPr bwMode="auto">
            <a:xfrm>
              <a:off x="1729565" y="3841804"/>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1" name="Text Box 77"/>
            <p:cNvSpPr txBox="1">
              <a:spLocks noChangeArrowheads="1"/>
            </p:cNvSpPr>
            <p:nvPr/>
          </p:nvSpPr>
          <p:spPr bwMode="auto">
            <a:xfrm>
              <a:off x="2721327" y="3900087"/>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20" name="Oval 76"/>
            <p:cNvSpPr>
              <a:spLocks noChangeArrowheads="1"/>
            </p:cNvSpPr>
            <p:nvPr/>
          </p:nvSpPr>
          <p:spPr bwMode="auto">
            <a:xfrm>
              <a:off x="3613227" y="3837487"/>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9" name="Text Box 75"/>
            <p:cNvSpPr txBox="1">
              <a:spLocks noChangeArrowheads="1"/>
            </p:cNvSpPr>
            <p:nvPr/>
          </p:nvSpPr>
          <p:spPr bwMode="auto">
            <a:xfrm>
              <a:off x="4578715" y="3903325"/>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8" name="Oval 74"/>
            <p:cNvSpPr>
              <a:spLocks noChangeArrowheads="1"/>
            </p:cNvSpPr>
            <p:nvPr/>
          </p:nvSpPr>
          <p:spPr bwMode="auto">
            <a:xfrm>
              <a:off x="5324174" y="3841804"/>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7" name="Text Box 73"/>
            <p:cNvSpPr txBox="1">
              <a:spLocks noChangeArrowheads="1"/>
            </p:cNvSpPr>
            <p:nvPr/>
          </p:nvSpPr>
          <p:spPr bwMode="auto">
            <a:xfrm>
              <a:off x="6183689" y="3900087"/>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6" name="Oval 72"/>
            <p:cNvSpPr>
              <a:spLocks noChangeArrowheads="1"/>
            </p:cNvSpPr>
            <p:nvPr/>
          </p:nvSpPr>
          <p:spPr bwMode="auto">
            <a:xfrm>
              <a:off x="6988705" y="3837487"/>
              <a:ext cx="387527"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5" name="Text Box 71"/>
            <p:cNvSpPr txBox="1">
              <a:spLocks noChangeArrowheads="1"/>
            </p:cNvSpPr>
            <p:nvPr/>
          </p:nvSpPr>
          <p:spPr bwMode="auto">
            <a:xfrm>
              <a:off x="1304902"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4" name="Text Box 70"/>
            <p:cNvSpPr txBox="1">
              <a:spLocks noChangeArrowheads="1"/>
            </p:cNvSpPr>
            <p:nvPr/>
          </p:nvSpPr>
          <p:spPr bwMode="auto">
            <a:xfrm>
              <a:off x="2046160"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3" name="Text Box 69"/>
            <p:cNvSpPr txBox="1">
              <a:spLocks noChangeArrowheads="1"/>
            </p:cNvSpPr>
            <p:nvPr/>
          </p:nvSpPr>
          <p:spPr bwMode="auto">
            <a:xfrm>
              <a:off x="3202343"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2" name="Text Box 68"/>
            <p:cNvSpPr txBox="1">
              <a:spLocks noChangeArrowheads="1"/>
            </p:cNvSpPr>
            <p:nvPr/>
          </p:nvSpPr>
          <p:spPr bwMode="auto">
            <a:xfrm>
              <a:off x="4009190"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1" name="Text Box 67"/>
            <p:cNvSpPr txBox="1">
              <a:spLocks noChangeArrowheads="1"/>
            </p:cNvSpPr>
            <p:nvPr/>
          </p:nvSpPr>
          <p:spPr bwMode="auto">
            <a:xfrm>
              <a:off x="4929190"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10" name="Text Box 66"/>
            <p:cNvSpPr txBox="1">
              <a:spLocks noChangeArrowheads="1"/>
            </p:cNvSpPr>
            <p:nvPr/>
          </p:nvSpPr>
          <p:spPr bwMode="auto">
            <a:xfrm>
              <a:off x="5702673"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9" name="Text Box 65"/>
            <p:cNvSpPr txBox="1">
              <a:spLocks noChangeArrowheads="1"/>
            </p:cNvSpPr>
            <p:nvPr/>
          </p:nvSpPr>
          <p:spPr bwMode="auto">
            <a:xfrm>
              <a:off x="6616274"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8" name="Text Box 64"/>
            <p:cNvSpPr txBox="1">
              <a:spLocks noChangeArrowheads="1"/>
            </p:cNvSpPr>
            <p:nvPr/>
          </p:nvSpPr>
          <p:spPr bwMode="auto">
            <a:xfrm>
              <a:off x="7333993" y="4659920"/>
              <a:ext cx="360000"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807" name="Freeform 63"/>
            <p:cNvSpPr/>
            <p:nvPr/>
          </p:nvSpPr>
          <p:spPr bwMode="auto">
            <a:xfrm>
              <a:off x="2716194" y="1882860"/>
              <a:ext cx="1277004" cy="525623"/>
            </a:xfrm>
            <a:custGeom>
              <a:avLst/>
              <a:gdLst/>
              <a:ahLst/>
              <a:cxnLst>
                <a:cxn ang="0">
                  <a:pos x="1183" y="0"/>
                </a:cxn>
                <a:cxn ang="0">
                  <a:pos x="0" y="487"/>
                </a:cxn>
              </a:cxnLst>
              <a:rect l="0" t="0" r="r" b="b"/>
              <a:pathLst>
                <a:path w="1183" h="487">
                  <a:moveTo>
                    <a:pt x="1183"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6" name="Freeform 62"/>
            <p:cNvSpPr/>
            <p:nvPr/>
          </p:nvSpPr>
          <p:spPr bwMode="auto">
            <a:xfrm>
              <a:off x="4390772" y="1902956"/>
              <a:ext cx="1294275" cy="536416"/>
            </a:xfrm>
            <a:custGeom>
              <a:avLst/>
              <a:gdLst/>
              <a:ahLst/>
              <a:cxnLst>
                <a:cxn ang="0">
                  <a:pos x="0" y="0"/>
                </a:cxn>
                <a:cxn ang="0">
                  <a:pos x="1199" y="497"/>
                </a:cxn>
              </a:cxnLst>
              <a:rect l="0" t="0" r="r" b="b"/>
              <a:pathLst>
                <a:path w="1199" h="497">
                  <a:moveTo>
                    <a:pt x="0" y="0"/>
                  </a:moveTo>
                  <a:lnTo>
                    <a:pt x="1199" y="49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5" name="Freeform 61"/>
            <p:cNvSpPr/>
            <p:nvPr/>
          </p:nvSpPr>
          <p:spPr bwMode="auto">
            <a:xfrm>
              <a:off x="6012871" y="2615710"/>
              <a:ext cx="567797" cy="553685"/>
            </a:xfrm>
            <a:custGeom>
              <a:avLst/>
              <a:gdLst/>
              <a:ahLst/>
              <a:cxnLst>
                <a:cxn ang="0">
                  <a:pos x="0" y="0"/>
                </a:cxn>
                <a:cxn ang="0">
                  <a:pos x="19" y="0"/>
                </a:cxn>
                <a:cxn ang="0">
                  <a:pos x="526" y="513"/>
                </a:cxn>
              </a:cxnLst>
              <a:rect l="0" t="0" r="r" b="b"/>
              <a:pathLst>
                <a:path w="526" h="513">
                  <a:moveTo>
                    <a:pt x="0" y="0"/>
                  </a:moveTo>
                  <a:lnTo>
                    <a:pt x="19" y="0"/>
                  </a:lnTo>
                  <a:lnTo>
                    <a:pt x="526"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4" name="Freeform 60"/>
            <p:cNvSpPr/>
            <p:nvPr/>
          </p:nvSpPr>
          <p:spPr bwMode="auto">
            <a:xfrm>
              <a:off x="7314702" y="4114869"/>
              <a:ext cx="242879" cy="518068"/>
            </a:xfrm>
            <a:custGeom>
              <a:avLst/>
              <a:gdLst/>
              <a:ahLst/>
              <a:cxnLst>
                <a:cxn ang="0">
                  <a:pos x="0" y="0"/>
                </a:cxn>
                <a:cxn ang="0">
                  <a:pos x="225" y="480"/>
                </a:cxn>
              </a:cxnLst>
              <a:rect l="0" t="0" r="r" b="b"/>
              <a:pathLst>
                <a:path w="225" h="480">
                  <a:moveTo>
                    <a:pt x="0" y="0"/>
                  </a:moveTo>
                  <a:lnTo>
                    <a:pt x="225" y="4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3" name="Freeform 59"/>
            <p:cNvSpPr/>
            <p:nvPr/>
          </p:nvSpPr>
          <p:spPr bwMode="auto">
            <a:xfrm>
              <a:off x="6770042" y="4114869"/>
              <a:ext cx="288000" cy="550447"/>
            </a:xfrm>
            <a:custGeom>
              <a:avLst/>
              <a:gdLst/>
              <a:ahLst/>
              <a:cxnLst>
                <a:cxn ang="0">
                  <a:pos x="315" y="0"/>
                </a:cxn>
                <a:cxn ang="0">
                  <a:pos x="0" y="510"/>
                </a:cxn>
              </a:cxnLst>
              <a:rect l="0" t="0" r="r" b="b"/>
              <a:pathLst>
                <a:path w="315" h="510">
                  <a:moveTo>
                    <a:pt x="315" y="0"/>
                  </a:moveTo>
                  <a:lnTo>
                    <a:pt x="0" y="51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802" name="Line 58"/>
            <p:cNvSpPr>
              <a:spLocks noChangeShapeType="1"/>
            </p:cNvSpPr>
            <p:nvPr/>
          </p:nvSpPr>
          <p:spPr bwMode="auto">
            <a:xfrm>
              <a:off x="1772744" y="3480236"/>
              <a:ext cx="145727" cy="36264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1" name="任意多边形 50"/>
          <p:cNvSpPr/>
          <p:nvPr/>
        </p:nvSpPr>
        <p:spPr>
          <a:xfrm>
            <a:off x="4350936" y="2009670"/>
            <a:ext cx="1240972" cy="1889090"/>
          </a:xfrm>
          <a:custGeom>
            <a:avLst/>
            <a:gdLst>
              <a:gd name="connsiteX0" fmla="*/ 0 w 1240972"/>
              <a:gd name="connsiteY0" fmla="*/ 0 h 1889090"/>
              <a:gd name="connsiteX1" fmla="*/ 964642 w 1240972"/>
              <a:gd name="connsiteY1" fmla="*/ 391886 h 1889090"/>
              <a:gd name="connsiteX2" fmla="*/ 1215851 w 1240972"/>
              <a:gd name="connsiteY2" fmla="*/ 512466 h 1889090"/>
              <a:gd name="connsiteX3" fmla="*/ 813917 w 1240972"/>
              <a:gd name="connsiteY3" fmla="*/ 1034981 h 1889090"/>
              <a:gd name="connsiteX4" fmla="*/ 351693 w 1240972"/>
              <a:gd name="connsiteY4" fmla="*/ 1889090 h 1889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0972" h="1889090">
                <a:moveTo>
                  <a:pt x="0" y="0"/>
                </a:moveTo>
                <a:lnTo>
                  <a:pt x="964642" y="391886"/>
                </a:lnTo>
                <a:cubicBezTo>
                  <a:pt x="1167284" y="477297"/>
                  <a:pt x="1240972" y="405284"/>
                  <a:pt x="1215851" y="512466"/>
                </a:cubicBezTo>
                <a:cubicBezTo>
                  <a:pt x="1190730" y="619648"/>
                  <a:pt x="957943" y="805544"/>
                  <a:pt x="813917" y="1034981"/>
                </a:cubicBezTo>
                <a:cubicBezTo>
                  <a:pt x="669891" y="1264418"/>
                  <a:pt x="510792" y="1576754"/>
                  <a:pt x="351693" y="1889090"/>
                </a:cubicBezTo>
              </a:path>
            </a:pathLst>
          </a:custGeom>
          <a:ln w="28575">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8" name="灯片编号占位符 5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strips(downRight)">
                                      <p:cBhvr>
                                        <p:cTn id="11"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143932" cy="775982"/>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）假设查找表中每个元素的概率相同，求查找成功时的平均查找长度和查找不成功时的平均查找长度。</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 name="组合 4"/>
          <p:cNvGrpSpPr/>
          <p:nvPr/>
        </p:nvGrpSpPr>
        <p:grpSpPr>
          <a:xfrm>
            <a:off x="214282" y="1643050"/>
            <a:ext cx="5905738" cy="2464060"/>
            <a:chOff x="1470494" y="1996187"/>
            <a:chExt cx="5905738" cy="2464060"/>
          </a:xfrm>
        </p:grpSpPr>
        <p:sp>
          <p:nvSpPr>
            <p:cNvPr id="6" name="Line 101"/>
            <p:cNvSpPr>
              <a:spLocks noChangeShapeType="1"/>
            </p:cNvSpPr>
            <p:nvPr/>
          </p:nvSpPr>
          <p:spPr bwMode="auto">
            <a:xfrm flipH="1">
              <a:off x="1782459" y="2909281"/>
              <a:ext cx="642280" cy="56555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Line 99"/>
            <p:cNvSpPr>
              <a:spLocks noChangeShapeType="1"/>
            </p:cNvSpPr>
            <p:nvPr/>
          </p:nvSpPr>
          <p:spPr bwMode="auto">
            <a:xfrm flipH="1">
              <a:off x="5211910" y="2915757"/>
              <a:ext cx="447977" cy="53317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98"/>
            <p:cNvSpPr/>
            <p:nvPr/>
          </p:nvSpPr>
          <p:spPr bwMode="auto">
            <a:xfrm>
              <a:off x="2766693" y="2919407"/>
              <a:ext cx="556983" cy="582603"/>
            </a:xfrm>
            <a:custGeom>
              <a:avLst/>
              <a:gdLst/>
              <a:ahLst/>
              <a:cxnLst>
                <a:cxn ang="0">
                  <a:pos x="0" y="0"/>
                </a:cxn>
                <a:cxn ang="0">
                  <a:pos x="515" y="513"/>
                </a:cxn>
              </a:cxnLst>
              <a:rect l="0" t="0" r="r" b="b"/>
              <a:pathLst>
                <a:path w="515" h="513">
                  <a:moveTo>
                    <a:pt x="0" y="0"/>
                  </a:moveTo>
                  <a:lnTo>
                    <a:pt x="515"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90"/>
            <p:cNvSpPr>
              <a:spLocks noChangeShapeType="1"/>
            </p:cNvSpPr>
            <p:nvPr/>
          </p:nvSpPr>
          <p:spPr bwMode="auto">
            <a:xfrm>
              <a:off x="3445910" y="3679908"/>
              <a:ext cx="345428" cy="44251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89"/>
            <p:cNvSpPr/>
            <p:nvPr/>
          </p:nvSpPr>
          <p:spPr bwMode="auto">
            <a:xfrm>
              <a:off x="5282075" y="3755459"/>
              <a:ext cx="188906" cy="358330"/>
            </a:xfrm>
            <a:custGeom>
              <a:avLst/>
              <a:gdLst/>
              <a:ahLst/>
              <a:cxnLst>
                <a:cxn ang="0">
                  <a:pos x="0" y="0"/>
                </a:cxn>
                <a:cxn ang="0">
                  <a:pos x="175" y="332"/>
                </a:cxn>
              </a:cxnLst>
              <a:rect l="0" t="0" r="r" b="b"/>
              <a:pathLst>
                <a:path w="175" h="332">
                  <a:moveTo>
                    <a:pt x="0" y="0"/>
                  </a:moveTo>
                  <a:lnTo>
                    <a:pt x="175" y="33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87"/>
            <p:cNvSpPr>
              <a:spLocks noChangeShapeType="1"/>
            </p:cNvSpPr>
            <p:nvPr/>
          </p:nvSpPr>
          <p:spPr bwMode="auto">
            <a:xfrm>
              <a:off x="6789004" y="3736032"/>
              <a:ext cx="287137" cy="40258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Oval 86"/>
            <p:cNvSpPr>
              <a:spLocks noChangeArrowheads="1"/>
            </p:cNvSpPr>
            <p:nvPr/>
          </p:nvSpPr>
          <p:spPr bwMode="auto">
            <a:xfrm>
              <a:off x="3992118" y="1996187"/>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85"/>
            <p:cNvSpPr>
              <a:spLocks noChangeArrowheads="1"/>
            </p:cNvSpPr>
            <p:nvPr/>
          </p:nvSpPr>
          <p:spPr bwMode="auto">
            <a:xfrm>
              <a:off x="2404229" y="2668596"/>
              <a:ext cx="38968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84"/>
            <p:cNvSpPr>
              <a:spLocks noChangeArrowheads="1"/>
            </p:cNvSpPr>
            <p:nvPr/>
          </p:nvSpPr>
          <p:spPr bwMode="auto">
            <a:xfrm>
              <a:off x="5650172" y="2662120"/>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83"/>
            <p:cNvSpPr>
              <a:spLocks noChangeArrowheads="1"/>
            </p:cNvSpPr>
            <p:nvPr/>
          </p:nvSpPr>
          <p:spPr bwMode="auto">
            <a:xfrm>
              <a:off x="1470494" y="3431667"/>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82"/>
            <p:cNvSpPr>
              <a:spLocks noChangeArrowheads="1"/>
            </p:cNvSpPr>
            <p:nvPr/>
          </p:nvSpPr>
          <p:spPr bwMode="auto">
            <a:xfrm>
              <a:off x="3143661" y="3424112"/>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81"/>
            <p:cNvSpPr>
              <a:spLocks noChangeArrowheads="1"/>
            </p:cNvSpPr>
            <p:nvPr/>
          </p:nvSpPr>
          <p:spPr bwMode="auto">
            <a:xfrm>
              <a:off x="4964713" y="3438143"/>
              <a:ext cx="387527"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80"/>
            <p:cNvSpPr>
              <a:spLocks noChangeArrowheads="1"/>
            </p:cNvSpPr>
            <p:nvPr/>
          </p:nvSpPr>
          <p:spPr bwMode="auto">
            <a:xfrm>
              <a:off x="6474881" y="3430587"/>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78"/>
            <p:cNvSpPr>
              <a:spLocks noChangeArrowheads="1"/>
            </p:cNvSpPr>
            <p:nvPr/>
          </p:nvSpPr>
          <p:spPr bwMode="auto">
            <a:xfrm>
              <a:off x="1729565" y="412350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76"/>
            <p:cNvSpPr>
              <a:spLocks noChangeArrowheads="1"/>
            </p:cNvSpPr>
            <p:nvPr/>
          </p:nvSpPr>
          <p:spPr bwMode="auto">
            <a:xfrm>
              <a:off x="3613227" y="4119186"/>
              <a:ext cx="38860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74"/>
            <p:cNvSpPr>
              <a:spLocks noChangeArrowheads="1"/>
            </p:cNvSpPr>
            <p:nvPr/>
          </p:nvSpPr>
          <p:spPr bwMode="auto">
            <a:xfrm>
              <a:off x="5324174" y="412350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72"/>
            <p:cNvSpPr>
              <a:spLocks noChangeArrowheads="1"/>
            </p:cNvSpPr>
            <p:nvPr/>
          </p:nvSpPr>
          <p:spPr bwMode="auto">
            <a:xfrm>
              <a:off x="6988705" y="4119186"/>
              <a:ext cx="387527"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63"/>
            <p:cNvSpPr/>
            <p:nvPr/>
          </p:nvSpPr>
          <p:spPr bwMode="auto">
            <a:xfrm>
              <a:off x="2716194" y="2164559"/>
              <a:ext cx="1277004" cy="525623"/>
            </a:xfrm>
            <a:custGeom>
              <a:avLst/>
              <a:gdLst/>
              <a:ahLst/>
              <a:cxnLst>
                <a:cxn ang="0">
                  <a:pos x="1183" y="0"/>
                </a:cxn>
                <a:cxn ang="0">
                  <a:pos x="0" y="487"/>
                </a:cxn>
              </a:cxnLst>
              <a:rect l="0" t="0" r="r" b="b"/>
              <a:pathLst>
                <a:path w="1183" h="487">
                  <a:moveTo>
                    <a:pt x="1183"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62"/>
            <p:cNvSpPr/>
            <p:nvPr/>
          </p:nvSpPr>
          <p:spPr bwMode="auto">
            <a:xfrm>
              <a:off x="4380724" y="2164559"/>
              <a:ext cx="1294275" cy="536416"/>
            </a:xfrm>
            <a:custGeom>
              <a:avLst/>
              <a:gdLst/>
              <a:ahLst/>
              <a:cxnLst>
                <a:cxn ang="0">
                  <a:pos x="0" y="0"/>
                </a:cxn>
                <a:cxn ang="0">
                  <a:pos x="1199" y="497"/>
                </a:cxn>
              </a:cxnLst>
              <a:rect l="0" t="0" r="r" b="b"/>
              <a:pathLst>
                <a:path w="1199" h="497">
                  <a:moveTo>
                    <a:pt x="0" y="0"/>
                  </a:moveTo>
                  <a:lnTo>
                    <a:pt x="1199" y="49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61"/>
            <p:cNvSpPr/>
            <p:nvPr/>
          </p:nvSpPr>
          <p:spPr bwMode="auto">
            <a:xfrm>
              <a:off x="6012871" y="2897409"/>
              <a:ext cx="567797" cy="553685"/>
            </a:xfrm>
            <a:custGeom>
              <a:avLst/>
              <a:gdLst/>
              <a:ahLst/>
              <a:cxnLst>
                <a:cxn ang="0">
                  <a:pos x="0" y="0"/>
                </a:cxn>
                <a:cxn ang="0">
                  <a:pos x="19" y="0"/>
                </a:cxn>
                <a:cxn ang="0">
                  <a:pos x="526" y="513"/>
                </a:cxn>
              </a:cxnLst>
              <a:rect l="0" t="0" r="r" b="b"/>
              <a:pathLst>
                <a:path w="526" h="513">
                  <a:moveTo>
                    <a:pt x="0" y="0"/>
                  </a:moveTo>
                  <a:lnTo>
                    <a:pt x="19" y="0"/>
                  </a:lnTo>
                  <a:lnTo>
                    <a:pt x="526"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58"/>
            <p:cNvSpPr>
              <a:spLocks noChangeShapeType="1"/>
            </p:cNvSpPr>
            <p:nvPr/>
          </p:nvSpPr>
          <p:spPr bwMode="auto">
            <a:xfrm>
              <a:off x="1772744" y="3761935"/>
              <a:ext cx="145727" cy="36264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7" name="组合 36"/>
          <p:cNvGrpSpPr/>
          <p:nvPr/>
        </p:nvGrpSpPr>
        <p:grpSpPr>
          <a:xfrm>
            <a:off x="3783372" y="1500174"/>
            <a:ext cx="5217784" cy="2602546"/>
            <a:chOff x="3783372" y="1500174"/>
            <a:chExt cx="5217784" cy="2602546"/>
          </a:xfrm>
        </p:grpSpPr>
        <p:sp>
          <p:nvSpPr>
            <p:cNvPr id="27" name="TextBox 26"/>
            <p:cNvSpPr txBox="1"/>
            <p:nvPr/>
          </p:nvSpPr>
          <p:spPr>
            <a:xfrm>
              <a:off x="6429388" y="1500174"/>
              <a:ext cx="2143140"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9" name="直接连接符 28"/>
            <p:cNvCxnSpPr/>
            <p:nvPr/>
          </p:nvCxnSpPr>
          <p:spPr>
            <a:xfrm flipV="1">
              <a:off x="3783372" y="1679499"/>
              <a:ext cx="2643206"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sp>
          <p:nvSpPr>
            <p:cNvPr id="31" name="TextBox 30"/>
            <p:cNvSpPr txBox="1"/>
            <p:nvPr/>
          </p:nvSpPr>
          <p:spPr>
            <a:xfrm>
              <a:off x="6408977" y="2304628"/>
              <a:ext cx="2592179"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2" name="直接连接符 31"/>
            <p:cNvCxnSpPr/>
            <p:nvPr/>
          </p:nvCxnSpPr>
          <p:spPr>
            <a:xfrm flipV="1">
              <a:off x="4986578" y="2483953"/>
              <a:ext cx="1440000"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sp>
          <p:nvSpPr>
            <p:cNvPr id="33" name="TextBox 32"/>
            <p:cNvSpPr txBox="1"/>
            <p:nvPr/>
          </p:nvSpPr>
          <p:spPr>
            <a:xfrm>
              <a:off x="6403874" y="3039104"/>
              <a:ext cx="2525844"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4" name="直接连接符 33"/>
            <p:cNvCxnSpPr/>
            <p:nvPr/>
          </p:nvCxnSpPr>
          <p:spPr>
            <a:xfrm flipV="1">
              <a:off x="5599466" y="3218429"/>
              <a:ext cx="900000"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sp>
          <p:nvSpPr>
            <p:cNvPr id="35" name="TextBox 34"/>
            <p:cNvSpPr txBox="1"/>
            <p:nvPr/>
          </p:nvSpPr>
          <p:spPr>
            <a:xfrm>
              <a:off x="6403874" y="3733388"/>
              <a:ext cx="2525844"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6" name="直接连接符 35"/>
            <p:cNvCxnSpPr/>
            <p:nvPr/>
          </p:nvCxnSpPr>
          <p:spPr>
            <a:xfrm flipV="1">
              <a:off x="6140826" y="3912713"/>
              <a:ext cx="360000"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grpSp>
      <p:pic>
        <p:nvPicPr>
          <p:cNvPr id="30721" name="Picture 1"/>
          <p:cNvPicPr>
            <a:picLocks noChangeAspect="1" noChangeArrowheads="1"/>
          </p:cNvPicPr>
          <p:nvPr/>
        </p:nvPicPr>
        <p:blipFill>
          <a:blip r:embed="rId1" cstate="print"/>
          <a:srcRect/>
          <a:stretch>
            <a:fillRect/>
          </a:stretch>
        </p:blipFill>
        <p:spPr bwMode="auto">
          <a:xfrm>
            <a:off x="1857355" y="4714884"/>
            <a:ext cx="4524407" cy="71438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4" name="灯片编号占位符 4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2844" y="428604"/>
            <a:ext cx="6143668" cy="3500461"/>
            <a:chOff x="1098240" y="1714488"/>
            <a:chExt cx="6602569" cy="3199069"/>
          </a:xfrm>
        </p:grpSpPr>
        <p:sp>
          <p:nvSpPr>
            <p:cNvPr id="5" name="Freeform 102"/>
            <p:cNvSpPr/>
            <p:nvPr/>
          </p:nvSpPr>
          <p:spPr bwMode="auto">
            <a:xfrm>
              <a:off x="1280784" y="3393890"/>
              <a:ext cx="254478" cy="539228"/>
            </a:xfrm>
            <a:custGeom>
              <a:avLst/>
              <a:gdLst/>
              <a:ahLst/>
              <a:cxnLst>
                <a:cxn ang="0">
                  <a:pos x="440" y="0"/>
                </a:cxn>
                <a:cxn ang="0">
                  <a:pos x="0" y="475"/>
                </a:cxn>
              </a:cxnLst>
              <a:rect l="0" t="0" r="r" b="b"/>
              <a:pathLst>
                <a:path w="440" h="475">
                  <a:moveTo>
                    <a:pt x="440" y="0"/>
                  </a:moveTo>
                  <a:lnTo>
                    <a:pt x="0" y="47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Line 101"/>
            <p:cNvSpPr>
              <a:spLocks noChangeShapeType="1"/>
            </p:cNvSpPr>
            <p:nvPr/>
          </p:nvSpPr>
          <p:spPr bwMode="auto">
            <a:xfrm flipH="1">
              <a:off x="1782459" y="2627582"/>
              <a:ext cx="642280" cy="56555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100"/>
            <p:cNvSpPr/>
            <p:nvPr/>
          </p:nvSpPr>
          <p:spPr bwMode="auto">
            <a:xfrm>
              <a:off x="4771490" y="3427350"/>
              <a:ext cx="260150" cy="485689"/>
            </a:xfrm>
            <a:custGeom>
              <a:avLst/>
              <a:gdLst/>
              <a:ahLst/>
              <a:cxnLst>
                <a:cxn ang="0">
                  <a:pos x="240" y="0"/>
                </a:cxn>
                <a:cxn ang="0">
                  <a:pos x="0" y="450"/>
                </a:cxn>
              </a:cxnLst>
              <a:rect l="0" t="0" r="r" b="b"/>
              <a:pathLst>
                <a:path w="240" h="450">
                  <a:moveTo>
                    <a:pt x="240" y="0"/>
                  </a:moveTo>
                  <a:lnTo>
                    <a:pt x="0" y="45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99"/>
            <p:cNvSpPr>
              <a:spLocks noChangeShapeType="1"/>
            </p:cNvSpPr>
            <p:nvPr/>
          </p:nvSpPr>
          <p:spPr bwMode="auto">
            <a:xfrm flipH="1">
              <a:off x="5211910" y="2634058"/>
              <a:ext cx="447977" cy="53317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98"/>
            <p:cNvSpPr/>
            <p:nvPr/>
          </p:nvSpPr>
          <p:spPr bwMode="auto">
            <a:xfrm>
              <a:off x="2766693" y="2637708"/>
              <a:ext cx="556983" cy="582603"/>
            </a:xfrm>
            <a:custGeom>
              <a:avLst/>
              <a:gdLst/>
              <a:ahLst/>
              <a:cxnLst>
                <a:cxn ang="0">
                  <a:pos x="0" y="0"/>
                </a:cxn>
                <a:cxn ang="0">
                  <a:pos x="515" y="513"/>
                </a:cxn>
              </a:cxnLst>
              <a:rect l="0" t="0" r="r" b="b"/>
              <a:pathLst>
                <a:path w="515" h="513">
                  <a:moveTo>
                    <a:pt x="0" y="0"/>
                  </a:moveTo>
                  <a:lnTo>
                    <a:pt x="515"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Line 97"/>
            <p:cNvSpPr>
              <a:spLocks noChangeShapeType="1"/>
            </p:cNvSpPr>
            <p:nvPr/>
          </p:nvSpPr>
          <p:spPr bwMode="auto">
            <a:xfrm flipH="1">
              <a:off x="5092090" y="4121345"/>
              <a:ext cx="345428" cy="576351"/>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96"/>
            <p:cNvSpPr>
              <a:spLocks noChangeShapeType="1"/>
            </p:cNvSpPr>
            <p:nvPr/>
          </p:nvSpPr>
          <p:spPr bwMode="auto">
            <a:xfrm>
              <a:off x="5631821" y="4088966"/>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95"/>
            <p:cNvSpPr>
              <a:spLocks noChangeShapeType="1"/>
            </p:cNvSpPr>
            <p:nvPr/>
          </p:nvSpPr>
          <p:spPr bwMode="auto">
            <a:xfrm flipH="1">
              <a:off x="3390855" y="4075994"/>
              <a:ext cx="318820" cy="62170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94"/>
            <p:cNvSpPr>
              <a:spLocks noChangeShapeType="1"/>
            </p:cNvSpPr>
            <p:nvPr/>
          </p:nvSpPr>
          <p:spPr bwMode="auto">
            <a:xfrm>
              <a:off x="3931668" y="4088966"/>
              <a:ext cx="318441" cy="57743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93"/>
            <p:cNvSpPr>
              <a:spLocks noChangeShapeType="1"/>
            </p:cNvSpPr>
            <p:nvPr/>
          </p:nvSpPr>
          <p:spPr bwMode="auto">
            <a:xfrm flipH="1">
              <a:off x="1495097" y="4104077"/>
              <a:ext cx="288440" cy="54342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92"/>
            <p:cNvSpPr/>
            <p:nvPr/>
          </p:nvSpPr>
          <p:spPr bwMode="auto">
            <a:xfrm>
              <a:off x="2062040" y="4106235"/>
              <a:ext cx="234243" cy="542892"/>
            </a:xfrm>
            <a:custGeom>
              <a:avLst/>
              <a:gdLst/>
              <a:ahLst/>
              <a:cxnLst>
                <a:cxn ang="0">
                  <a:pos x="0" y="0"/>
                </a:cxn>
                <a:cxn ang="0">
                  <a:pos x="217" y="502"/>
                </a:cxn>
              </a:cxnLst>
              <a:rect l="0" t="0" r="r" b="b"/>
              <a:pathLst>
                <a:path w="217" h="502">
                  <a:moveTo>
                    <a:pt x="0" y="0"/>
                  </a:moveTo>
                  <a:lnTo>
                    <a:pt x="217" y="5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91"/>
            <p:cNvSpPr>
              <a:spLocks noChangeShapeType="1"/>
            </p:cNvSpPr>
            <p:nvPr/>
          </p:nvSpPr>
          <p:spPr bwMode="auto">
            <a:xfrm flipH="1">
              <a:off x="2852420" y="3414398"/>
              <a:ext cx="318226" cy="51872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90"/>
            <p:cNvSpPr>
              <a:spLocks noChangeShapeType="1"/>
            </p:cNvSpPr>
            <p:nvPr/>
          </p:nvSpPr>
          <p:spPr bwMode="auto">
            <a:xfrm>
              <a:off x="3445910" y="3398209"/>
              <a:ext cx="345428" cy="44251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89"/>
            <p:cNvSpPr/>
            <p:nvPr/>
          </p:nvSpPr>
          <p:spPr bwMode="auto">
            <a:xfrm>
              <a:off x="5282075" y="3473760"/>
              <a:ext cx="188906" cy="358330"/>
            </a:xfrm>
            <a:custGeom>
              <a:avLst/>
              <a:gdLst/>
              <a:ahLst/>
              <a:cxnLst>
                <a:cxn ang="0">
                  <a:pos x="0" y="0"/>
                </a:cxn>
                <a:cxn ang="0">
                  <a:pos x="175" y="332"/>
                </a:cxn>
              </a:cxnLst>
              <a:rect l="0" t="0" r="r" b="b"/>
              <a:pathLst>
                <a:path w="175" h="332">
                  <a:moveTo>
                    <a:pt x="0" y="0"/>
                  </a:moveTo>
                  <a:lnTo>
                    <a:pt x="175" y="33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88"/>
            <p:cNvSpPr/>
            <p:nvPr/>
          </p:nvSpPr>
          <p:spPr bwMode="auto">
            <a:xfrm>
              <a:off x="6366935" y="3451095"/>
              <a:ext cx="226687" cy="445754"/>
            </a:xfrm>
            <a:custGeom>
              <a:avLst/>
              <a:gdLst/>
              <a:ahLst/>
              <a:cxnLst>
                <a:cxn ang="0">
                  <a:pos x="210" y="0"/>
                </a:cxn>
                <a:cxn ang="0">
                  <a:pos x="0" y="413"/>
                </a:cxn>
              </a:cxnLst>
              <a:rect l="0" t="0" r="r" b="b"/>
              <a:pathLst>
                <a:path w="210" h="413">
                  <a:moveTo>
                    <a:pt x="210" y="0"/>
                  </a:moveTo>
                  <a:lnTo>
                    <a:pt x="0" y="4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Line 87"/>
            <p:cNvSpPr>
              <a:spLocks noChangeShapeType="1"/>
            </p:cNvSpPr>
            <p:nvPr/>
          </p:nvSpPr>
          <p:spPr bwMode="auto">
            <a:xfrm>
              <a:off x="6789004" y="3454333"/>
              <a:ext cx="287137" cy="402582"/>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Oval 86"/>
            <p:cNvSpPr>
              <a:spLocks noChangeArrowheads="1"/>
            </p:cNvSpPr>
            <p:nvPr/>
          </p:nvSpPr>
          <p:spPr bwMode="auto">
            <a:xfrm>
              <a:off x="3992118" y="1714488"/>
              <a:ext cx="388606"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85"/>
            <p:cNvSpPr>
              <a:spLocks noChangeArrowheads="1"/>
            </p:cNvSpPr>
            <p:nvPr/>
          </p:nvSpPr>
          <p:spPr bwMode="auto">
            <a:xfrm>
              <a:off x="2404229" y="2386897"/>
              <a:ext cx="38968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84"/>
            <p:cNvSpPr>
              <a:spLocks noChangeArrowheads="1"/>
            </p:cNvSpPr>
            <p:nvPr/>
          </p:nvSpPr>
          <p:spPr bwMode="auto">
            <a:xfrm>
              <a:off x="5650172" y="2380421"/>
              <a:ext cx="388606" cy="33782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83"/>
            <p:cNvSpPr>
              <a:spLocks noChangeArrowheads="1"/>
            </p:cNvSpPr>
            <p:nvPr/>
          </p:nvSpPr>
          <p:spPr bwMode="auto">
            <a:xfrm>
              <a:off x="1470494" y="3149968"/>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Oval 82"/>
            <p:cNvSpPr>
              <a:spLocks noChangeArrowheads="1"/>
            </p:cNvSpPr>
            <p:nvPr/>
          </p:nvSpPr>
          <p:spPr bwMode="auto">
            <a:xfrm>
              <a:off x="3143661" y="3142413"/>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Oval 81"/>
            <p:cNvSpPr>
              <a:spLocks noChangeArrowheads="1"/>
            </p:cNvSpPr>
            <p:nvPr/>
          </p:nvSpPr>
          <p:spPr bwMode="auto">
            <a:xfrm>
              <a:off x="4964713" y="3156444"/>
              <a:ext cx="387527" cy="336744"/>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Oval 80"/>
            <p:cNvSpPr>
              <a:spLocks noChangeArrowheads="1"/>
            </p:cNvSpPr>
            <p:nvPr/>
          </p:nvSpPr>
          <p:spPr bwMode="auto">
            <a:xfrm>
              <a:off x="6474881" y="3148888"/>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79"/>
            <p:cNvSpPr txBox="1">
              <a:spLocks noChangeArrowheads="1"/>
            </p:cNvSpPr>
            <p:nvPr/>
          </p:nvSpPr>
          <p:spPr bwMode="auto">
            <a:xfrm>
              <a:off x="1098240" y="3903325"/>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Oval 78"/>
            <p:cNvSpPr>
              <a:spLocks noChangeArrowheads="1"/>
            </p:cNvSpPr>
            <p:nvPr/>
          </p:nvSpPr>
          <p:spPr bwMode="auto">
            <a:xfrm>
              <a:off x="1729565" y="3841804"/>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Text Box 77"/>
            <p:cNvSpPr txBox="1">
              <a:spLocks noChangeArrowheads="1"/>
            </p:cNvSpPr>
            <p:nvPr/>
          </p:nvSpPr>
          <p:spPr bwMode="auto">
            <a:xfrm>
              <a:off x="2681231" y="3900087"/>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Oval 76"/>
            <p:cNvSpPr>
              <a:spLocks noChangeArrowheads="1"/>
            </p:cNvSpPr>
            <p:nvPr/>
          </p:nvSpPr>
          <p:spPr bwMode="auto">
            <a:xfrm>
              <a:off x="3613227" y="3837487"/>
              <a:ext cx="388606"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Text Box 75"/>
            <p:cNvSpPr txBox="1">
              <a:spLocks noChangeArrowheads="1"/>
            </p:cNvSpPr>
            <p:nvPr/>
          </p:nvSpPr>
          <p:spPr bwMode="auto">
            <a:xfrm>
              <a:off x="4587848" y="3903325"/>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 name="Oval 74"/>
            <p:cNvSpPr>
              <a:spLocks noChangeArrowheads="1"/>
            </p:cNvSpPr>
            <p:nvPr/>
          </p:nvSpPr>
          <p:spPr bwMode="auto">
            <a:xfrm>
              <a:off x="5324174" y="3841804"/>
              <a:ext cx="388606" cy="33674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Text Box 73"/>
            <p:cNvSpPr txBox="1">
              <a:spLocks noChangeArrowheads="1"/>
            </p:cNvSpPr>
            <p:nvPr/>
          </p:nvSpPr>
          <p:spPr bwMode="auto">
            <a:xfrm>
              <a:off x="6148620" y="3900087"/>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72"/>
            <p:cNvSpPr>
              <a:spLocks noChangeArrowheads="1"/>
            </p:cNvSpPr>
            <p:nvPr/>
          </p:nvSpPr>
          <p:spPr bwMode="auto">
            <a:xfrm>
              <a:off x="6988705" y="3837487"/>
              <a:ext cx="387527" cy="337824"/>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Text Box 71"/>
            <p:cNvSpPr txBox="1">
              <a:spLocks noChangeArrowheads="1"/>
            </p:cNvSpPr>
            <p:nvPr/>
          </p:nvSpPr>
          <p:spPr bwMode="auto">
            <a:xfrm>
              <a:off x="1261052"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Text Box 70"/>
            <p:cNvSpPr txBox="1">
              <a:spLocks noChangeArrowheads="1"/>
            </p:cNvSpPr>
            <p:nvPr/>
          </p:nvSpPr>
          <p:spPr bwMode="auto">
            <a:xfrm>
              <a:off x="2046160"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Text Box 69"/>
            <p:cNvSpPr txBox="1">
              <a:spLocks noChangeArrowheads="1"/>
            </p:cNvSpPr>
            <p:nvPr/>
          </p:nvSpPr>
          <p:spPr bwMode="auto">
            <a:xfrm>
              <a:off x="3209371"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Text Box 68"/>
            <p:cNvSpPr txBox="1">
              <a:spLocks noChangeArrowheads="1"/>
            </p:cNvSpPr>
            <p:nvPr/>
          </p:nvSpPr>
          <p:spPr bwMode="auto">
            <a:xfrm>
              <a:off x="3947453"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Text Box 67"/>
            <p:cNvSpPr txBox="1">
              <a:spLocks noChangeArrowheads="1"/>
            </p:cNvSpPr>
            <p:nvPr/>
          </p:nvSpPr>
          <p:spPr bwMode="auto">
            <a:xfrm>
              <a:off x="4940608"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Text Box 66"/>
            <p:cNvSpPr txBox="1">
              <a:spLocks noChangeArrowheads="1"/>
            </p:cNvSpPr>
            <p:nvPr/>
          </p:nvSpPr>
          <p:spPr bwMode="auto">
            <a:xfrm>
              <a:off x="5714454"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Text Box 65"/>
            <p:cNvSpPr txBox="1">
              <a:spLocks noChangeArrowheads="1"/>
            </p:cNvSpPr>
            <p:nvPr/>
          </p:nvSpPr>
          <p:spPr bwMode="auto">
            <a:xfrm>
              <a:off x="6552448"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Text Box 64"/>
            <p:cNvSpPr txBox="1">
              <a:spLocks noChangeArrowheads="1"/>
            </p:cNvSpPr>
            <p:nvPr/>
          </p:nvSpPr>
          <p:spPr bwMode="auto">
            <a:xfrm>
              <a:off x="7290576" y="4659920"/>
              <a:ext cx="410233" cy="253637"/>
            </a:xfrm>
            <a:prstGeom prst="rect">
              <a:avLst/>
            </a:prstGeom>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endParaRPr kumimoji="0" lang="zh-CN" altLang="en-US"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Freeform 63"/>
            <p:cNvSpPr/>
            <p:nvPr/>
          </p:nvSpPr>
          <p:spPr bwMode="auto">
            <a:xfrm>
              <a:off x="2716194" y="1882860"/>
              <a:ext cx="1277004" cy="525623"/>
            </a:xfrm>
            <a:custGeom>
              <a:avLst/>
              <a:gdLst/>
              <a:ahLst/>
              <a:cxnLst>
                <a:cxn ang="0">
                  <a:pos x="1183" y="0"/>
                </a:cxn>
                <a:cxn ang="0">
                  <a:pos x="0" y="487"/>
                </a:cxn>
              </a:cxnLst>
              <a:rect l="0" t="0" r="r" b="b"/>
              <a:pathLst>
                <a:path w="1183" h="487">
                  <a:moveTo>
                    <a:pt x="1183" y="0"/>
                  </a:moveTo>
                  <a:lnTo>
                    <a:pt x="0" y="48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Freeform 62"/>
            <p:cNvSpPr/>
            <p:nvPr/>
          </p:nvSpPr>
          <p:spPr bwMode="auto">
            <a:xfrm>
              <a:off x="4390772" y="1902956"/>
              <a:ext cx="1294275" cy="536416"/>
            </a:xfrm>
            <a:custGeom>
              <a:avLst/>
              <a:gdLst/>
              <a:ahLst/>
              <a:cxnLst>
                <a:cxn ang="0">
                  <a:pos x="0" y="0"/>
                </a:cxn>
                <a:cxn ang="0">
                  <a:pos x="1199" y="497"/>
                </a:cxn>
              </a:cxnLst>
              <a:rect l="0" t="0" r="r" b="b"/>
              <a:pathLst>
                <a:path w="1199" h="497">
                  <a:moveTo>
                    <a:pt x="0" y="0"/>
                  </a:moveTo>
                  <a:lnTo>
                    <a:pt x="1199" y="49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Freeform 61"/>
            <p:cNvSpPr/>
            <p:nvPr/>
          </p:nvSpPr>
          <p:spPr bwMode="auto">
            <a:xfrm>
              <a:off x="6012871" y="2615710"/>
              <a:ext cx="567797" cy="553685"/>
            </a:xfrm>
            <a:custGeom>
              <a:avLst/>
              <a:gdLst/>
              <a:ahLst/>
              <a:cxnLst>
                <a:cxn ang="0">
                  <a:pos x="0" y="0"/>
                </a:cxn>
                <a:cxn ang="0">
                  <a:pos x="19" y="0"/>
                </a:cxn>
                <a:cxn ang="0">
                  <a:pos x="526" y="513"/>
                </a:cxn>
              </a:cxnLst>
              <a:rect l="0" t="0" r="r" b="b"/>
              <a:pathLst>
                <a:path w="526" h="513">
                  <a:moveTo>
                    <a:pt x="0" y="0"/>
                  </a:moveTo>
                  <a:lnTo>
                    <a:pt x="19" y="0"/>
                  </a:lnTo>
                  <a:lnTo>
                    <a:pt x="526" y="51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Freeform 60"/>
            <p:cNvSpPr/>
            <p:nvPr/>
          </p:nvSpPr>
          <p:spPr bwMode="auto">
            <a:xfrm>
              <a:off x="7314702" y="4114869"/>
              <a:ext cx="242879" cy="518068"/>
            </a:xfrm>
            <a:custGeom>
              <a:avLst/>
              <a:gdLst/>
              <a:ahLst/>
              <a:cxnLst>
                <a:cxn ang="0">
                  <a:pos x="0" y="0"/>
                </a:cxn>
                <a:cxn ang="0">
                  <a:pos x="225" y="480"/>
                </a:cxn>
              </a:cxnLst>
              <a:rect l="0" t="0" r="r" b="b"/>
              <a:pathLst>
                <a:path w="225" h="480">
                  <a:moveTo>
                    <a:pt x="0" y="0"/>
                  </a:moveTo>
                  <a:lnTo>
                    <a:pt x="225" y="4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Freeform 59"/>
            <p:cNvSpPr/>
            <p:nvPr/>
          </p:nvSpPr>
          <p:spPr bwMode="auto">
            <a:xfrm>
              <a:off x="6753679" y="4114869"/>
              <a:ext cx="287163" cy="550447"/>
            </a:xfrm>
            <a:custGeom>
              <a:avLst/>
              <a:gdLst/>
              <a:ahLst/>
              <a:cxnLst>
                <a:cxn ang="0">
                  <a:pos x="315" y="0"/>
                </a:cxn>
                <a:cxn ang="0">
                  <a:pos x="0" y="510"/>
                </a:cxn>
              </a:cxnLst>
              <a:rect l="0" t="0" r="r" b="b"/>
              <a:pathLst>
                <a:path w="315" h="510">
                  <a:moveTo>
                    <a:pt x="315" y="0"/>
                  </a:moveTo>
                  <a:lnTo>
                    <a:pt x="0" y="51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Line 58"/>
            <p:cNvSpPr>
              <a:spLocks noChangeShapeType="1"/>
            </p:cNvSpPr>
            <p:nvPr/>
          </p:nvSpPr>
          <p:spPr bwMode="auto">
            <a:xfrm>
              <a:off x="1772744" y="3480236"/>
              <a:ext cx="145727" cy="36264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4" name="组合 53"/>
          <p:cNvGrpSpPr/>
          <p:nvPr/>
        </p:nvGrpSpPr>
        <p:grpSpPr>
          <a:xfrm>
            <a:off x="5976947" y="2786058"/>
            <a:ext cx="3095647" cy="1180336"/>
            <a:chOff x="5976947" y="2500306"/>
            <a:chExt cx="3095647" cy="1180336"/>
          </a:xfrm>
        </p:grpSpPr>
        <p:sp>
          <p:nvSpPr>
            <p:cNvPr id="50" name="TextBox 49"/>
            <p:cNvSpPr txBox="1"/>
            <p:nvPr/>
          </p:nvSpPr>
          <p:spPr>
            <a:xfrm>
              <a:off x="6429388" y="2500306"/>
              <a:ext cx="264320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1" name="直接连接符 50"/>
            <p:cNvCxnSpPr/>
            <p:nvPr/>
          </p:nvCxnSpPr>
          <p:spPr>
            <a:xfrm flipV="1">
              <a:off x="5976947" y="2682328"/>
              <a:ext cx="540000"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sp>
          <p:nvSpPr>
            <p:cNvPr id="52" name="TextBox 51"/>
            <p:cNvSpPr txBox="1"/>
            <p:nvPr/>
          </p:nvSpPr>
          <p:spPr>
            <a:xfrm>
              <a:off x="6500826" y="3311310"/>
              <a:ext cx="2571768"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个结点，每个</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3" name="直接连接符 52"/>
            <p:cNvCxnSpPr/>
            <p:nvPr/>
          </p:nvCxnSpPr>
          <p:spPr>
            <a:xfrm flipV="1">
              <a:off x="6310136" y="3502559"/>
              <a:ext cx="252000" cy="0"/>
            </a:xfrm>
            <a:prstGeom prst="line">
              <a:avLst/>
            </a:prstGeom>
            <a:ln w="19050">
              <a:tailEnd type="none"/>
            </a:ln>
          </p:spPr>
          <p:style>
            <a:lnRef idx="2">
              <a:schemeClr val="accent2"/>
            </a:lnRef>
            <a:fillRef idx="0">
              <a:schemeClr val="accent2"/>
            </a:fillRef>
            <a:effectRef idx="1">
              <a:schemeClr val="accent2"/>
            </a:effectRef>
            <a:fontRef idx="minor">
              <a:schemeClr val="tx1"/>
            </a:fontRef>
          </p:style>
        </p:cxnSp>
      </p:grpSp>
      <p:pic>
        <p:nvPicPr>
          <p:cNvPr id="29697" name="Picture 1"/>
          <p:cNvPicPr>
            <a:picLocks noChangeAspect="1" noChangeArrowheads="1"/>
          </p:cNvPicPr>
          <p:nvPr/>
        </p:nvPicPr>
        <p:blipFill>
          <a:blip r:embed="rId1" cstate="print"/>
          <a:srcRect/>
          <a:stretch>
            <a:fillRect/>
          </a:stretch>
        </p:blipFill>
        <p:spPr bwMode="auto">
          <a:xfrm>
            <a:off x="2428860" y="5357826"/>
            <a:ext cx="3286148" cy="66179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5" name="下箭头 54"/>
          <p:cNvSpPr/>
          <p:nvPr/>
        </p:nvSpPr>
        <p:spPr bwMode="auto">
          <a:xfrm>
            <a:off x="3857620" y="4429132"/>
            <a:ext cx="357190" cy="571504"/>
          </a:xfrm>
          <a:prstGeom prst="down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62" name="灯片编号占位符 6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296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8501122" cy="213507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借助一棵二叉判定树很容易求得折半查找的平均查找长度。</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为讨论方便起见，不妨设内部结点的总数为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，这样的判定树是高度为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的满二叉树（高度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不计外部结点）。该满二叉树中第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）层上的结点个数为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，查找该层上的每个结点需要进行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4957779"/>
            <a:ext cx="778674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因此，在等概率假设下，折半查找成功情况下的平均查找长度为：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2" name="Rectangle 2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9" name="组合 28"/>
          <p:cNvGrpSpPr/>
          <p:nvPr/>
        </p:nvGrpSpPr>
        <p:grpSpPr>
          <a:xfrm>
            <a:off x="1795426" y="2644047"/>
            <a:ext cx="3991020" cy="2142275"/>
            <a:chOff x="1938302" y="2224065"/>
            <a:chExt cx="3991020" cy="2142275"/>
          </a:xfrm>
        </p:grpSpPr>
        <p:sp>
          <p:nvSpPr>
            <p:cNvPr id="27670" name="Oval 22"/>
            <p:cNvSpPr>
              <a:spLocks noChangeArrowheads="1"/>
            </p:cNvSpPr>
            <p:nvPr/>
          </p:nvSpPr>
          <p:spPr bwMode="auto">
            <a:xfrm>
              <a:off x="2866499" y="2224065"/>
              <a:ext cx="363673" cy="3031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9" name="Text Box 21"/>
            <p:cNvSpPr txBox="1">
              <a:spLocks noChangeArrowheads="1"/>
            </p:cNvSpPr>
            <p:nvPr/>
          </p:nvSpPr>
          <p:spPr bwMode="auto">
            <a:xfrm>
              <a:off x="4600480" y="2854146"/>
              <a:ext cx="132884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=log</a:t>
              </a:r>
              <a:r>
                <a:rPr kumimoji="0" lang="en-US" altLang="zh-CN" sz="180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8" name="Oval 20"/>
            <p:cNvSpPr>
              <a:spLocks noChangeArrowheads="1"/>
            </p:cNvSpPr>
            <p:nvPr/>
          </p:nvSpPr>
          <p:spPr bwMode="auto">
            <a:xfrm>
              <a:off x="2324555" y="2751906"/>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7" name="Oval 19"/>
            <p:cNvSpPr>
              <a:spLocks noChangeArrowheads="1"/>
            </p:cNvSpPr>
            <p:nvPr/>
          </p:nvSpPr>
          <p:spPr bwMode="auto">
            <a:xfrm>
              <a:off x="3451227" y="2751906"/>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6" name="AutoShape 18"/>
            <p:cNvSpPr>
              <a:spLocks noChangeShapeType="1"/>
            </p:cNvSpPr>
            <p:nvPr/>
          </p:nvSpPr>
          <p:spPr bwMode="auto">
            <a:xfrm flipH="1">
              <a:off x="2634747" y="2483230"/>
              <a:ext cx="285233" cy="312663"/>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5" name="AutoShape 17"/>
            <p:cNvSpPr>
              <a:spLocks noChangeShapeType="1"/>
            </p:cNvSpPr>
            <p:nvPr/>
          </p:nvSpPr>
          <p:spPr bwMode="auto">
            <a:xfrm>
              <a:off x="3176690" y="2483230"/>
              <a:ext cx="328018" cy="312663"/>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4" name="Text Box 16"/>
            <p:cNvSpPr txBox="1">
              <a:spLocks noChangeArrowheads="1"/>
            </p:cNvSpPr>
            <p:nvPr/>
          </p:nvSpPr>
          <p:spPr bwMode="auto">
            <a:xfrm>
              <a:off x="2634747" y="3223872"/>
              <a:ext cx="88541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27663" name="Oval 15"/>
            <p:cNvSpPr>
              <a:spLocks noChangeArrowheads="1"/>
            </p:cNvSpPr>
            <p:nvPr/>
          </p:nvSpPr>
          <p:spPr bwMode="auto">
            <a:xfrm>
              <a:off x="2082107" y="3556745"/>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62" name="AutoShape 14"/>
            <p:cNvSpPr>
              <a:spLocks noChangeArrowheads="1"/>
            </p:cNvSpPr>
            <p:nvPr/>
          </p:nvSpPr>
          <p:spPr bwMode="auto">
            <a:xfrm>
              <a:off x="1938302"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1" name="AutoShape 13"/>
            <p:cNvSpPr>
              <a:spLocks noChangeShapeType="1"/>
            </p:cNvSpPr>
            <p:nvPr/>
          </p:nvSpPr>
          <p:spPr bwMode="auto">
            <a:xfrm flipH="1">
              <a:off x="2006045" y="3817100"/>
              <a:ext cx="129543" cy="325740"/>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0" name="AutoShape 12"/>
            <p:cNvSpPr>
              <a:spLocks noChangeArrowheads="1"/>
            </p:cNvSpPr>
            <p:nvPr/>
          </p:nvSpPr>
          <p:spPr bwMode="auto">
            <a:xfrm>
              <a:off x="2437460"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9" name="AutoShape 11"/>
            <p:cNvSpPr>
              <a:spLocks noChangeShapeType="1"/>
            </p:cNvSpPr>
            <p:nvPr/>
          </p:nvSpPr>
          <p:spPr bwMode="auto">
            <a:xfrm>
              <a:off x="2392298" y="3817100"/>
              <a:ext cx="112905" cy="325740"/>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8" name="Text Box 10"/>
            <p:cNvSpPr txBox="1">
              <a:spLocks noChangeArrowheads="1"/>
            </p:cNvSpPr>
            <p:nvPr/>
          </p:nvSpPr>
          <p:spPr bwMode="auto">
            <a:xfrm>
              <a:off x="2770233" y="3700594"/>
              <a:ext cx="64415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27657" name="Oval 9"/>
            <p:cNvSpPr>
              <a:spLocks noChangeArrowheads="1"/>
            </p:cNvSpPr>
            <p:nvPr/>
          </p:nvSpPr>
          <p:spPr bwMode="auto">
            <a:xfrm>
              <a:off x="3715068" y="3563878"/>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656" name="AutoShape 8"/>
            <p:cNvSpPr>
              <a:spLocks noChangeArrowheads="1"/>
            </p:cNvSpPr>
            <p:nvPr/>
          </p:nvSpPr>
          <p:spPr bwMode="auto">
            <a:xfrm>
              <a:off x="3560567"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5" name="AutoShape 7"/>
            <p:cNvSpPr>
              <a:spLocks noChangeShapeType="1"/>
            </p:cNvSpPr>
            <p:nvPr/>
          </p:nvSpPr>
          <p:spPr bwMode="auto">
            <a:xfrm flipH="1">
              <a:off x="3628310" y="3824233"/>
              <a:ext cx="140240" cy="318607"/>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4" name="AutoShape 6"/>
            <p:cNvSpPr>
              <a:spLocks noChangeArrowheads="1"/>
            </p:cNvSpPr>
            <p:nvPr/>
          </p:nvSpPr>
          <p:spPr bwMode="auto">
            <a:xfrm>
              <a:off x="4113206"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3" name="AutoShape 5"/>
            <p:cNvSpPr>
              <a:spLocks noChangeShapeType="1"/>
            </p:cNvSpPr>
            <p:nvPr/>
          </p:nvSpPr>
          <p:spPr bwMode="auto">
            <a:xfrm>
              <a:off x="4025259" y="3824233"/>
              <a:ext cx="155690" cy="318607"/>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AutoShape 4"/>
            <p:cNvSpPr/>
            <p:nvPr/>
          </p:nvSpPr>
          <p:spPr bwMode="auto">
            <a:xfrm>
              <a:off x="4306927" y="2224065"/>
              <a:ext cx="169952" cy="1546670"/>
            </a:xfrm>
            <a:prstGeom prst="rightBrace">
              <a:avLst>
                <a:gd name="adj1" fmla="val 75816"/>
                <a:gd name="adj2" fmla="val 50000"/>
              </a:avLst>
            </a:prstGeom>
            <a:ln w="19050">
              <a:tailEnd type="none" w="sm" len="sm"/>
            </a:ln>
          </p:spPr>
          <p:style>
            <a:lnRef idx="2">
              <a:schemeClr val="accent1"/>
            </a:lnRef>
            <a:fillRef idx="0">
              <a:schemeClr val="accent1"/>
            </a:fillRef>
            <a:effectRef idx="1">
              <a:schemeClr val="accent1"/>
            </a:effectRef>
            <a:fontRef idx="minor">
              <a:schemeClr val="tx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1" name="Text Box 3"/>
            <p:cNvSpPr txBox="1">
              <a:spLocks noChangeArrowheads="1"/>
            </p:cNvSpPr>
            <p:nvPr/>
          </p:nvSpPr>
          <p:spPr bwMode="auto">
            <a:xfrm>
              <a:off x="4600480" y="4110741"/>
              <a:ext cx="1257404"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外部结点层</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pic>
        <p:nvPicPr>
          <p:cNvPr id="1026" name="Picture 2"/>
          <p:cNvPicPr>
            <a:picLocks noChangeAspect="1" noChangeArrowheads="1"/>
          </p:cNvPicPr>
          <p:nvPr/>
        </p:nvPicPr>
        <p:blipFill>
          <a:blip r:embed="rId2" cstate="print"/>
          <a:srcRect/>
          <a:stretch>
            <a:fillRect/>
          </a:stretch>
        </p:blipFill>
        <p:spPr bwMode="auto">
          <a:xfrm>
            <a:off x="1357290" y="5529283"/>
            <a:ext cx="6143625" cy="82867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4618786"/>
            <a:ext cx="7786742"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从成功和不成功情况下的平均查找长度看出，折半查找的时间复杂度为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，是一种高效的查找算法。</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 name="组合 4"/>
          <p:cNvGrpSpPr/>
          <p:nvPr/>
        </p:nvGrpSpPr>
        <p:grpSpPr>
          <a:xfrm>
            <a:off x="2009740" y="715221"/>
            <a:ext cx="3991020" cy="2053113"/>
            <a:chOff x="1938302" y="2224065"/>
            <a:chExt cx="3991020" cy="2053113"/>
          </a:xfrm>
        </p:grpSpPr>
        <p:sp>
          <p:nvSpPr>
            <p:cNvPr id="6" name="Oval 22"/>
            <p:cNvSpPr>
              <a:spLocks noChangeArrowheads="1"/>
            </p:cNvSpPr>
            <p:nvPr/>
          </p:nvSpPr>
          <p:spPr bwMode="auto">
            <a:xfrm>
              <a:off x="2866499" y="2224065"/>
              <a:ext cx="363673" cy="3031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21"/>
            <p:cNvSpPr txBox="1">
              <a:spLocks noChangeArrowheads="1"/>
            </p:cNvSpPr>
            <p:nvPr/>
          </p:nvSpPr>
          <p:spPr bwMode="auto">
            <a:xfrm>
              <a:off x="4600480" y="2854146"/>
              <a:ext cx="132884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=log</a:t>
              </a:r>
              <a:r>
                <a:rPr kumimoji="0" lang="en-US" altLang="zh-CN" sz="1800" i="0"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Oval 20"/>
            <p:cNvSpPr>
              <a:spLocks noChangeArrowheads="1"/>
            </p:cNvSpPr>
            <p:nvPr/>
          </p:nvSpPr>
          <p:spPr bwMode="auto">
            <a:xfrm>
              <a:off x="2324555" y="2751906"/>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19"/>
            <p:cNvSpPr>
              <a:spLocks noChangeArrowheads="1"/>
            </p:cNvSpPr>
            <p:nvPr/>
          </p:nvSpPr>
          <p:spPr bwMode="auto">
            <a:xfrm>
              <a:off x="3451227" y="2751906"/>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AutoShape 18"/>
            <p:cNvSpPr>
              <a:spLocks noChangeShapeType="1"/>
            </p:cNvSpPr>
            <p:nvPr/>
          </p:nvSpPr>
          <p:spPr bwMode="auto">
            <a:xfrm flipH="1">
              <a:off x="2634747" y="2483230"/>
              <a:ext cx="285233" cy="312663"/>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AutoShape 17"/>
            <p:cNvSpPr>
              <a:spLocks noChangeShapeType="1"/>
            </p:cNvSpPr>
            <p:nvPr/>
          </p:nvSpPr>
          <p:spPr bwMode="auto">
            <a:xfrm>
              <a:off x="3176690" y="2483230"/>
              <a:ext cx="328018" cy="312663"/>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16"/>
            <p:cNvSpPr txBox="1">
              <a:spLocks noChangeArrowheads="1"/>
            </p:cNvSpPr>
            <p:nvPr/>
          </p:nvSpPr>
          <p:spPr bwMode="auto">
            <a:xfrm>
              <a:off x="2634747" y="3223872"/>
              <a:ext cx="88541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13" name="Oval 15"/>
            <p:cNvSpPr>
              <a:spLocks noChangeArrowheads="1"/>
            </p:cNvSpPr>
            <p:nvPr/>
          </p:nvSpPr>
          <p:spPr bwMode="auto">
            <a:xfrm>
              <a:off x="2082107" y="3556745"/>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AutoShape 14"/>
            <p:cNvSpPr>
              <a:spLocks noChangeArrowheads="1"/>
            </p:cNvSpPr>
            <p:nvPr/>
          </p:nvSpPr>
          <p:spPr bwMode="auto">
            <a:xfrm>
              <a:off x="1938302"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AutoShape 13"/>
            <p:cNvSpPr>
              <a:spLocks noChangeShapeType="1"/>
            </p:cNvSpPr>
            <p:nvPr/>
          </p:nvSpPr>
          <p:spPr bwMode="auto">
            <a:xfrm flipH="1">
              <a:off x="2006045" y="3817100"/>
              <a:ext cx="129543" cy="325740"/>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AutoShape 12"/>
            <p:cNvSpPr>
              <a:spLocks noChangeArrowheads="1"/>
            </p:cNvSpPr>
            <p:nvPr/>
          </p:nvSpPr>
          <p:spPr bwMode="auto">
            <a:xfrm>
              <a:off x="2437460"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AutoShape 11"/>
            <p:cNvSpPr>
              <a:spLocks noChangeShapeType="1"/>
            </p:cNvSpPr>
            <p:nvPr/>
          </p:nvSpPr>
          <p:spPr bwMode="auto">
            <a:xfrm>
              <a:off x="2392298" y="3817100"/>
              <a:ext cx="112905" cy="325740"/>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 Box 10"/>
            <p:cNvSpPr txBox="1">
              <a:spLocks noChangeArrowheads="1"/>
            </p:cNvSpPr>
            <p:nvPr/>
          </p:nvSpPr>
          <p:spPr bwMode="auto">
            <a:xfrm>
              <a:off x="2770233" y="3700594"/>
              <a:ext cx="644152"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80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19" name="Oval 9"/>
            <p:cNvSpPr>
              <a:spLocks noChangeArrowheads="1"/>
            </p:cNvSpPr>
            <p:nvPr/>
          </p:nvSpPr>
          <p:spPr bwMode="auto">
            <a:xfrm>
              <a:off x="3715068" y="3563878"/>
              <a:ext cx="363673" cy="304341"/>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AutoShape 8"/>
            <p:cNvSpPr>
              <a:spLocks noChangeArrowheads="1"/>
            </p:cNvSpPr>
            <p:nvPr/>
          </p:nvSpPr>
          <p:spPr bwMode="auto">
            <a:xfrm>
              <a:off x="3560567"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AutoShape 7"/>
            <p:cNvSpPr>
              <a:spLocks noChangeShapeType="1"/>
            </p:cNvSpPr>
            <p:nvPr/>
          </p:nvSpPr>
          <p:spPr bwMode="auto">
            <a:xfrm flipH="1">
              <a:off x="3628310" y="3824233"/>
              <a:ext cx="140240" cy="318607"/>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AutoShape 6"/>
            <p:cNvSpPr>
              <a:spLocks noChangeArrowheads="1"/>
            </p:cNvSpPr>
            <p:nvPr/>
          </p:nvSpPr>
          <p:spPr bwMode="auto">
            <a:xfrm>
              <a:off x="4113206" y="4142840"/>
              <a:ext cx="134297" cy="134338"/>
            </a:xfrm>
            <a:prstGeom prst="roundRect">
              <a:avLst>
                <a:gd name="adj" fmla="val 16667"/>
              </a:avLst>
            </a:prstGeom>
            <a:ln>
              <a:tailEnd type="none" w="sm" len="sm"/>
            </a:ln>
          </p:spPr>
          <p:style>
            <a:lnRef idx="1">
              <a:schemeClr val="dk1"/>
            </a:lnRef>
            <a:fillRef idx="2">
              <a:schemeClr val="dk1"/>
            </a:fillRef>
            <a:effectRef idx="1">
              <a:schemeClr val="dk1"/>
            </a:effectRef>
            <a:fontRef idx="minor">
              <a:schemeClr val="dk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AutoShape 5"/>
            <p:cNvSpPr>
              <a:spLocks noChangeShapeType="1"/>
            </p:cNvSpPr>
            <p:nvPr/>
          </p:nvSpPr>
          <p:spPr bwMode="auto">
            <a:xfrm>
              <a:off x="4025259" y="3824233"/>
              <a:ext cx="155690" cy="318607"/>
            </a:xfrm>
            <a:prstGeom prst="straightConnector1">
              <a:avLst/>
            </a:prstGeom>
            <a:ln w="1905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AutoShape 4"/>
            <p:cNvSpPr/>
            <p:nvPr/>
          </p:nvSpPr>
          <p:spPr bwMode="auto">
            <a:xfrm>
              <a:off x="4306927" y="2224065"/>
              <a:ext cx="169952" cy="1546670"/>
            </a:xfrm>
            <a:prstGeom prst="rightBrace">
              <a:avLst>
                <a:gd name="adj1" fmla="val 75816"/>
                <a:gd name="adj2" fmla="val 50000"/>
              </a:avLst>
            </a:prstGeom>
            <a:ln w="19050">
              <a:tailEnd type="none" w="sm" len="sm"/>
            </a:ln>
          </p:spPr>
          <p:style>
            <a:lnRef idx="2">
              <a:schemeClr val="accent1"/>
            </a:lnRef>
            <a:fillRef idx="0">
              <a:schemeClr val="accent1"/>
            </a:fillRef>
            <a:effectRef idx="1">
              <a:schemeClr val="accent1"/>
            </a:effectRef>
            <a:fontRef idx="minor">
              <a:schemeClr val="tx1"/>
            </a:fontRef>
          </p:style>
          <p:txBody>
            <a:bodyPr vert="horz" wrap="square" lIns="126000" tIns="0" rIns="0" bIns="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3"/>
            <p:cNvSpPr txBox="1">
              <a:spLocks noChangeArrowheads="1"/>
            </p:cNvSpPr>
            <p:nvPr/>
          </p:nvSpPr>
          <p:spPr bwMode="auto">
            <a:xfrm>
              <a:off x="4600480" y="4009150"/>
              <a:ext cx="1257404" cy="25559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外部结点层</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6" name="TextBox 25"/>
          <p:cNvSpPr txBox="1"/>
          <p:nvPr/>
        </p:nvSpPr>
        <p:spPr>
          <a:xfrm>
            <a:off x="642910" y="3143248"/>
            <a:ext cx="8001056" cy="1169551"/>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层次最大的外部结点就是不成功查找所需关键字比较次数最多的结点，它一定是层次最大的内部结点的孩子结点，其关键字比较次数恰好是</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下箭头 26"/>
          <p:cNvSpPr/>
          <p:nvPr/>
        </p:nvSpPr>
        <p:spPr bwMode="auto">
          <a:xfrm>
            <a:off x="3571868" y="4071942"/>
            <a:ext cx="214314" cy="428628"/>
          </a:xfrm>
          <a:prstGeom prst="down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392238"/>
            <a:ext cx="7858180" cy="2393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不等于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时，其折半查找判定树不一定为满二叉树，但可以证明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个结点的判定树的高度与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个结点的完全二叉树的高度相等，即</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查找成功时关键字比较次数最多</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为判定树的高度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查找不成功时关键字比较次数最多</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也为判定树的高度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3"/>
          <p:cNvGrpSpPr/>
          <p:nvPr/>
        </p:nvGrpSpPr>
        <p:grpSpPr>
          <a:xfrm>
            <a:off x="714348" y="285728"/>
            <a:ext cx="896901" cy="896901"/>
            <a:chOff x="388951" y="5103867"/>
            <a:chExt cx="896901" cy="896901"/>
          </a:xfrm>
        </p:grpSpPr>
        <p:sp>
          <p:nvSpPr>
            <p:cNvPr id="7" name="椭圆 6"/>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8" name="椭圆 7"/>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9" name="文本框 14"/>
            <p:cNvSpPr txBox="1"/>
            <p:nvPr/>
          </p:nvSpPr>
          <p:spPr>
            <a:xfrm>
              <a:off x="525185" y="5431228"/>
              <a:ext cx="646331"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结论</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14290"/>
            <a:ext cx="414340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STL</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中的折半查找算法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500034" y="857232"/>
            <a:ext cx="8501122"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对于以数组为低层结构的有序表（如数组、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deque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容器等），</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STL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中提供了一系列以折半查找为基础的快速查找通用算法：</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642910" y="1714488"/>
            <a:ext cx="8143932" cy="468087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400"/>
              </a:lnSpc>
              <a:buBlip>
                <a:blip r:embed="rId1"/>
              </a:buBlip>
            </a:pP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binary_search(beg</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[beg</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范围内查找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，如果找到则返回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true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false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是与排序一致的比较函数，省略时使用底层类型的小于运算符。</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400"/>
              </a:lnSpc>
              <a:buBlip>
                <a:blip r:embed="rId1"/>
              </a:buBlip>
            </a:pP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lower_bound(beg</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[beg</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范围内查找第一个大于等于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的元素地址。其中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是与排序一致的比较函数，省略时使用底层类型的小于运算符。</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400"/>
              </a:lnSpc>
              <a:buBlip>
                <a:blip r:embed="rId1"/>
              </a:buBlip>
            </a:pP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upper_bound(beg</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[beg</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范围内查找第一个大于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的元素地址，即插入点位置。其中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是与排序一致的比较函数，省略时使用底层类型的小于运算符。</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400"/>
              </a:lnSpc>
              <a:buBlip>
                <a:blip r:embed="rId1"/>
              </a:buBlip>
            </a:pP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equal_range(beg</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end</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返回一对地址，第一个即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first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lower_bound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的结果，第二个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second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upper_bound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的结果。其中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comp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是与排序一致的比较函数，省略时使用底层类型的小于运算符。</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492922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9.2.3 </a:t>
            </a:r>
            <a:r>
              <a:rPr lang="zh-CN" altLang="zh-CN" smtClean="0">
                <a:latin typeface="Consolas" panose="020B0609020204030204" pitchFamily="49" charset="0"/>
                <a:ea typeface="微软雅黑" panose="020B0503020204020204" pitchFamily="34" charset="-122"/>
                <a:cs typeface="Consolas" panose="020B0609020204030204" pitchFamily="49" charset="0"/>
              </a:rPr>
              <a:t>索引存储结构和分块查找</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261305"/>
            <a:ext cx="264320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索引存储结构</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2071678"/>
            <a:ext cx="7929618" cy="213902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索引存储结构是在采用数据表存储数据的同时，还建立附加的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索引表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索引表中的每一项称为索引项，索引项的一般形式为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（关键字，地址）</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，其中，关键字唯一标识一个元素，地址为该关键字元素在数据表中的存储地址，整个索引表按关键字有序排列。</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928794" y="4572008"/>
            <a:ext cx="428628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索引存储结构</a:t>
            </a:r>
            <a:r>
              <a:rPr lang="en-US" altLang="zh-CN"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  =  </a:t>
            </a:r>
            <a:r>
              <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数据表 </a:t>
            </a:r>
            <a:r>
              <a:rPr lang="en-US" altLang="zh-CN"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 </a:t>
            </a:r>
            <a:r>
              <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索引表</a:t>
            </a:r>
            <a:endPar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5" name="Rectangle 53"/>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3363" name="Rectangle 51"/>
          <p:cNvSpPr>
            <a:spLocks noChangeArrowheads="1"/>
          </p:cNvSpPr>
          <p:nvPr/>
        </p:nvSpPr>
        <p:spPr bwMode="auto">
          <a:xfrm>
            <a:off x="2643174" y="428604"/>
            <a:ext cx="857315" cy="292102"/>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数据表</a:t>
            </a:r>
            <a:endParaRPr kumimoji="0" lang="zh-CN" sz="20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62" name="Rectangle 50"/>
          <p:cNvSpPr>
            <a:spLocks noChangeArrowheads="1"/>
          </p:cNvSpPr>
          <p:nvPr/>
        </p:nvSpPr>
        <p:spPr bwMode="auto">
          <a:xfrm>
            <a:off x="2143108" y="878236"/>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61" name="Rectangle 49"/>
          <p:cNvSpPr>
            <a:spLocks noChangeArrowheads="1"/>
          </p:cNvSpPr>
          <p:nvPr/>
        </p:nvSpPr>
        <p:spPr bwMode="auto">
          <a:xfrm>
            <a:off x="2923769" y="878236"/>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姓名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60" name="Rectangle 48"/>
          <p:cNvSpPr>
            <a:spLocks noChangeArrowheads="1"/>
          </p:cNvSpPr>
          <p:nvPr/>
        </p:nvSpPr>
        <p:spPr bwMode="auto">
          <a:xfrm>
            <a:off x="3671290" y="878236"/>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分数</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9" name="Rectangle 47"/>
          <p:cNvSpPr>
            <a:spLocks noChangeArrowheads="1"/>
          </p:cNvSpPr>
          <p:nvPr/>
        </p:nvSpPr>
        <p:spPr bwMode="auto">
          <a:xfrm>
            <a:off x="1214414" y="878236"/>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地址</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8" name="Rectangle 46"/>
          <p:cNvSpPr>
            <a:spLocks noChangeArrowheads="1"/>
          </p:cNvSpPr>
          <p:nvPr/>
        </p:nvSpPr>
        <p:spPr bwMode="auto">
          <a:xfrm>
            <a:off x="2061622" y="1235792"/>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7" name="Rectangle 45"/>
          <p:cNvSpPr>
            <a:spLocks noChangeArrowheads="1"/>
          </p:cNvSpPr>
          <p:nvPr/>
        </p:nvSpPr>
        <p:spPr bwMode="auto">
          <a:xfrm>
            <a:off x="2923769" y="1235792"/>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6" name="Rectangle 44"/>
          <p:cNvSpPr>
            <a:spLocks noChangeArrowheads="1"/>
          </p:cNvSpPr>
          <p:nvPr/>
        </p:nvSpPr>
        <p:spPr bwMode="auto">
          <a:xfrm>
            <a:off x="3671290" y="1235792"/>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5" name="Rectangle 43"/>
          <p:cNvSpPr>
            <a:spLocks noChangeArrowheads="1"/>
          </p:cNvSpPr>
          <p:nvPr/>
        </p:nvSpPr>
        <p:spPr bwMode="auto">
          <a:xfrm>
            <a:off x="1363918" y="1235792"/>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4" name="Rectangle 42"/>
          <p:cNvSpPr>
            <a:spLocks noChangeArrowheads="1"/>
          </p:cNvSpPr>
          <p:nvPr/>
        </p:nvSpPr>
        <p:spPr bwMode="auto">
          <a:xfrm>
            <a:off x="2061622" y="1587486"/>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3" name="Rectangle 41"/>
          <p:cNvSpPr>
            <a:spLocks noChangeArrowheads="1"/>
          </p:cNvSpPr>
          <p:nvPr/>
        </p:nvSpPr>
        <p:spPr bwMode="auto">
          <a:xfrm>
            <a:off x="2923769" y="1587486"/>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2" name="Rectangle 40"/>
          <p:cNvSpPr>
            <a:spLocks noChangeArrowheads="1"/>
          </p:cNvSpPr>
          <p:nvPr/>
        </p:nvSpPr>
        <p:spPr bwMode="auto">
          <a:xfrm>
            <a:off x="3671290" y="1587486"/>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1" name="Rectangle 39"/>
          <p:cNvSpPr>
            <a:spLocks noChangeArrowheads="1"/>
          </p:cNvSpPr>
          <p:nvPr/>
        </p:nvSpPr>
        <p:spPr bwMode="auto">
          <a:xfrm>
            <a:off x="1363918" y="1587486"/>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50" name="Rectangle 38"/>
          <p:cNvSpPr>
            <a:spLocks noChangeArrowheads="1"/>
          </p:cNvSpPr>
          <p:nvPr/>
        </p:nvSpPr>
        <p:spPr bwMode="auto">
          <a:xfrm>
            <a:off x="2061622" y="1945042"/>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9" name="Rectangle 37"/>
          <p:cNvSpPr>
            <a:spLocks noChangeArrowheads="1"/>
          </p:cNvSpPr>
          <p:nvPr/>
        </p:nvSpPr>
        <p:spPr bwMode="auto">
          <a:xfrm>
            <a:off x="2923769" y="1945042"/>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陈明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8" name="Rectangle 36"/>
          <p:cNvSpPr>
            <a:spLocks noChangeArrowheads="1"/>
          </p:cNvSpPr>
          <p:nvPr/>
        </p:nvSpPr>
        <p:spPr bwMode="auto">
          <a:xfrm>
            <a:off x="3671290" y="1945042"/>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7" name="Rectangle 35"/>
          <p:cNvSpPr>
            <a:spLocks noChangeArrowheads="1"/>
          </p:cNvSpPr>
          <p:nvPr/>
        </p:nvSpPr>
        <p:spPr bwMode="auto">
          <a:xfrm>
            <a:off x="1363918" y="1945042"/>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6" name="Rectangle 34"/>
          <p:cNvSpPr>
            <a:spLocks noChangeArrowheads="1"/>
          </p:cNvSpPr>
          <p:nvPr/>
        </p:nvSpPr>
        <p:spPr bwMode="auto">
          <a:xfrm>
            <a:off x="2061622" y="2290875"/>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2018009</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5" name="Rectangle 33"/>
          <p:cNvSpPr>
            <a:spLocks noChangeArrowheads="1"/>
          </p:cNvSpPr>
          <p:nvPr/>
        </p:nvSpPr>
        <p:spPr bwMode="auto">
          <a:xfrm>
            <a:off x="2923769" y="2290875"/>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张强</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4" name="Rectangle 32"/>
          <p:cNvSpPr>
            <a:spLocks noChangeArrowheads="1"/>
          </p:cNvSpPr>
          <p:nvPr/>
        </p:nvSpPr>
        <p:spPr bwMode="auto">
          <a:xfrm>
            <a:off x="3671290" y="2290875"/>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3" name="Rectangle 31"/>
          <p:cNvSpPr>
            <a:spLocks noChangeArrowheads="1"/>
          </p:cNvSpPr>
          <p:nvPr/>
        </p:nvSpPr>
        <p:spPr bwMode="auto">
          <a:xfrm>
            <a:off x="1363918" y="2290875"/>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2" name="Rectangle 30"/>
          <p:cNvSpPr>
            <a:spLocks noChangeArrowheads="1"/>
          </p:cNvSpPr>
          <p:nvPr/>
        </p:nvSpPr>
        <p:spPr bwMode="auto">
          <a:xfrm>
            <a:off x="2061622" y="2648430"/>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1" name="Rectangle 29"/>
          <p:cNvSpPr>
            <a:spLocks noChangeArrowheads="1"/>
          </p:cNvSpPr>
          <p:nvPr/>
        </p:nvSpPr>
        <p:spPr bwMode="auto">
          <a:xfrm>
            <a:off x="2923769" y="2648430"/>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许兵</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40" name="Rectangle 28"/>
          <p:cNvSpPr>
            <a:spLocks noChangeArrowheads="1"/>
          </p:cNvSpPr>
          <p:nvPr/>
        </p:nvSpPr>
        <p:spPr bwMode="auto">
          <a:xfrm>
            <a:off x="3671290" y="2648430"/>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9" name="Rectangle 27"/>
          <p:cNvSpPr>
            <a:spLocks noChangeArrowheads="1"/>
          </p:cNvSpPr>
          <p:nvPr/>
        </p:nvSpPr>
        <p:spPr bwMode="auto">
          <a:xfrm>
            <a:off x="1363918" y="2648430"/>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8" name="Rectangle 26"/>
          <p:cNvSpPr>
            <a:spLocks noChangeArrowheads="1"/>
          </p:cNvSpPr>
          <p:nvPr/>
        </p:nvSpPr>
        <p:spPr bwMode="auto">
          <a:xfrm>
            <a:off x="2061622" y="3000125"/>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7" name="Rectangle 25"/>
          <p:cNvSpPr>
            <a:spLocks noChangeArrowheads="1"/>
          </p:cNvSpPr>
          <p:nvPr/>
        </p:nvSpPr>
        <p:spPr bwMode="auto">
          <a:xfrm>
            <a:off x="2923769" y="3000125"/>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李萍</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6" name="Rectangle 24"/>
          <p:cNvSpPr>
            <a:spLocks noChangeArrowheads="1"/>
          </p:cNvSpPr>
          <p:nvPr/>
        </p:nvSpPr>
        <p:spPr bwMode="auto">
          <a:xfrm>
            <a:off x="3671290" y="3000125"/>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5" name="Rectangle 23"/>
          <p:cNvSpPr>
            <a:spLocks noChangeArrowheads="1"/>
          </p:cNvSpPr>
          <p:nvPr/>
        </p:nvSpPr>
        <p:spPr bwMode="auto">
          <a:xfrm>
            <a:off x="1363918" y="3000125"/>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4" name="Rectangle 22"/>
          <p:cNvSpPr>
            <a:spLocks noChangeArrowheads="1"/>
          </p:cNvSpPr>
          <p:nvPr/>
        </p:nvSpPr>
        <p:spPr bwMode="auto">
          <a:xfrm>
            <a:off x="2061622" y="3357681"/>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3" name="Rectangle 21"/>
          <p:cNvSpPr>
            <a:spLocks noChangeArrowheads="1"/>
          </p:cNvSpPr>
          <p:nvPr/>
        </p:nvSpPr>
        <p:spPr bwMode="auto">
          <a:xfrm>
            <a:off x="2923769" y="3357681"/>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2" name="Rectangle 20"/>
          <p:cNvSpPr>
            <a:spLocks noChangeArrowheads="1"/>
          </p:cNvSpPr>
          <p:nvPr/>
        </p:nvSpPr>
        <p:spPr bwMode="auto">
          <a:xfrm>
            <a:off x="3671290" y="3357681"/>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1" name="Rectangle 19"/>
          <p:cNvSpPr>
            <a:spLocks noChangeArrowheads="1"/>
          </p:cNvSpPr>
          <p:nvPr/>
        </p:nvSpPr>
        <p:spPr bwMode="auto">
          <a:xfrm>
            <a:off x="1363918" y="3357681"/>
            <a:ext cx="525707"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30" name="Rectangle 18"/>
          <p:cNvSpPr>
            <a:spLocks noChangeArrowheads="1"/>
          </p:cNvSpPr>
          <p:nvPr/>
        </p:nvSpPr>
        <p:spPr bwMode="auto">
          <a:xfrm>
            <a:off x="6130627" y="428604"/>
            <a:ext cx="857315" cy="292102"/>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索引表</a:t>
            </a:r>
            <a:endParaRPr kumimoji="0" lang="zh-CN" sz="20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9" name="Rectangle 17"/>
          <p:cNvSpPr>
            <a:spLocks noChangeArrowheads="1"/>
          </p:cNvSpPr>
          <p:nvPr/>
        </p:nvSpPr>
        <p:spPr bwMode="auto">
          <a:xfrm>
            <a:off x="5739511" y="866512"/>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8" name="Rectangle 16"/>
          <p:cNvSpPr>
            <a:spLocks noChangeArrowheads="1"/>
          </p:cNvSpPr>
          <p:nvPr/>
        </p:nvSpPr>
        <p:spPr bwMode="auto">
          <a:xfrm>
            <a:off x="6602744" y="866512"/>
            <a:ext cx="747521" cy="357556"/>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地址</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7" name="Rectangle 15"/>
          <p:cNvSpPr>
            <a:spLocks noChangeArrowheads="1"/>
          </p:cNvSpPr>
          <p:nvPr/>
        </p:nvSpPr>
        <p:spPr bwMode="auto">
          <a:xfrm>
            <a:off x="5739510" y="1224068"/>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6" name="Rectangle 14"/>
          <p:cNvSpPr>
            <a:spLocks noChangeArrowheads="1"/>
          </p:cNvSpPr>
          <p:nvPr/>
        </p:nvSpPr>
        <p:spPr bwMode="auto">
          <a:xfrm>
            <a:off x="6602744" y="1224068"/>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5" name="Rectangle 13"/>
          <p:cNvSpPr>
            <a:spLocks noChangeArrowheads="1"/>
          </p:cNvSpPr>
          <p:nvPr/>
        </p:nvSpPr>
        <p:spPr bwMode="auto">
          <a:xfrm>
            <a:off x="5739510" y="1575763"/>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4" name="Rectangle 12"/>
          <p:cNvSpPr>
            <a:spLocks noChangeArrowheads="1"/>
          </p:cNvSpPr>
          <p:nvPr/>
        </p:nvSpPr>
        <p:spPr bwMode="auto">
          <a:xfrm>
            <a:off x="6602744" y="1575763"/>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3" name="Rectangle 11"/>
          <p:cNvSpPr>
            <a:spLocks noChangeArrowheads="1"/>
          </p:cNvSpPr>
          <p:nvPr/>
        </p:nvSpPr>
        <p:spPr bwMode="auto">
          <a:xfrm>
            <a:off x="5739510" y="1933319"/>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2" name="Rectangle 10"/>
          <p:cNvSpPr>
            <a:spLocks noChangeArrowheads="1"/>
          </p:cNvSpPr>
          <p:nvPr/>
        </p:nvSpPr>
        <p:spPr bwMode="auto">
          <a:xfrm>
            <a:off x="6602744" y="1933319"/>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1" name="Rectangle 9"/>
          <p:cNvSpPr>
            <a:spLocks noChangeArrowheads="1"/>
          </p:cNvSpPr>
          <p:nvPr/>
        </p:nvSpPr>
        <p:spPr bwMode="auto">
          <a:xfrm>
            <a:off x="5739510" y="2279151"/>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20" name="Rectangle 8"/>
          <p:cNvSpPr>
            <a:spLocks noChangeArrowheads="1"/>
          </p:cNvSpPr>
          <p:nvPr/>
        </p:nvSpPr>
        <p:spPr bwMode="auto">
          <a:xfrm>
            <a:off x="6602744" y="2279151"/>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9" name="Rectangle 7"/>
          <p:cNvSpPr>
            <a:spLocks noChangeArrowheads="1"/>
          </p:cNvSpPr>
          <p:nvPr/>
        </p:nvSpPr>
        <p:spPr bwMode="auto">
          <a:xfrm>
            <a:off x="5739510" y="2636707"/>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2018009</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8" name="Rectangle 6"/>
          <p:cNvSpPr>
            <a:spLocks noChangeArrowheads="1"/>
          </p:cNvSpPr>
          <p:nvPr/>
        </p:nvSpPr>
        <p:spPr bwMode="auto">
          <a:xfrm>
            <a:off x="6602744" y="2636707"/>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7" name="Rectangle 5"/>
          <p:cNvSpPr>
            <a:spLocks noChangeArrowheads="1"/>
          </p:cNvSpPr>
          <p:nvPr/>
        </p:nvSpPr>
        <p:spPr bwMode="auto">
          <a:xfrm>
            <a:off x="5739510" y="2988402"/>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6" name="Rectangle 4"/>
          <p:cNvSpPr>
            <a:spLocks noChangeArrowheads="1"/>
          </p:cNvSpPr>
          <p:nvPr/>
        </p:nvSpPr>
        <p:spPr bwMode="auto">
          <a:xfrm>
            <a:off x="6602744" y="2988402"/>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5" name="Rectangle 3"/>
          <p:cNvSpPr>
            <a:spLocks noChangeArrowheads="1"/>
          </p:cNvSpPr>
          <p:nvPr/>
        </p:nvSpPr>
        <p:spPr bwMode="auto">
          <a:xfrm>
            <a:off x="5739510" y="3345958"/>
            <a:ext cx="864000"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314" name="Rectangle 2"/>
          <p:cNvSpPr>
            <a:spLocks noChangeArrowheads="1"/>
          </p:cNvSpPr>
          <p:nvPr/>
        </p:nvSpPr>
        <p:spPr bwMode="auto">
          <a:xfrm>
            <a:off x="6602744" y="3345958"/>
            <a:ext cx="747521" cy="357556"/>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857224" y="4000504"/>
            <a:ext cx="7500990"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800"/>
              </a:lnSpc>
              <a:spcBef>
                <a:spcPts val="60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按关键字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的查找过程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先在索引表按折半查找方法找到关键字为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的索引项，得到其地址，所花时间为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再通过地址在数据表中找到对应的元素，所花时间为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，合起来的查找时间为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灯片编号占位符 6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714356"/>
            <a:ext cx="228601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分块查找</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20" name="组合 19"/>
          <p:cNvGrpSpPr/>
          <p:nvPr/>
        </p:nvGrpSpPr>
        <p:grpSpPr>
          <a:xfrm>
            <a:off x="1142976" y="2000240"/>
            <a:ext cx="6215106" cy="2311400"/>
            <a:chOff x="1142976" y="2000240"/>
            <a:chExt cx="6215106" cy="2311400"/>
          </a:xfrm>
        </p:grpSpPr>
        <p:sp>
          <p:nvSpPr>
            <p:cNvPr id="5" name="任意多边形 4"/>
            <p:cNvSpPr/>
            <p:nvPr/>
          </p:nvSpPr>
          <p:spPr>
            <a:xfrm>
              <a:off x="1142976" y="2000240"/>
              <a:ext cx="3962400" cy="2311400"/>
            </a:xfrm>
            <a:custGeom>
              <a:avLst/>
              <a:gdLst>
                <a:gd name="connsiteX0" fmla="*/ 0 w 3962400"/>
                <a:gd name="connsiteY0" fmla="*/ 2311400 h 2311400"/>
                <a:gd name="connsiteX1" fmla="*/ 254000 w 3962400"/>
                <a:gd name="connsiteY1" fmla="*/ 1955800 h 2311400"/>
                <a:gd name="connsiteX2" fmla="*/ 596900 w 3962400"/>
                <a:gd name="connsiteY2" fmla="*/ 1930400 h 2311400"/>
                <a:gd name="connsiteX3" fmla="*/ 863600 w 3962400"/>
                <a:gd name="connsiteY3" fmla="*/ 2032000 h 2311400"/>
                <a:gd name="connsiteX4" fmla="*/ 1041400 w 3962400"/>
                <a:gd name="connsiteY4" fmla="*/ 2146300 h 2311400"/>
                <a:gd name="connsiteX5" fmla="*/ 1231900 w 3962400"/>
                <a:gd name="connsiteY5" fmla="*/ 1917700 h 2311400"/>
                <a:gd name="connsiteX6" fmla="*/ 1587500 w 3962400"/>
                <a:gd name="connsiteY6" fmla="*/ 1346200 h 2311400"/>
                <a:gd name="connsiteX7" fmla="*/ 1739900 w 3962400"/>
                <a:gd name="connsiteY7" fmla="*/ 1219200 h 2311400"/>
                <a:gd name="connsiteX8" fmla="*/ 1968500 w 3962400"/>
                <a:gd name="connsiteY8" fmla="*/ 1371600 h 2311400"/>
                <a:gd name="connsiteX9" fmla="*/ 2057400 w 3962400"/>
                <a:gd name="connsiteY9" fmla="*/ 1524000 h 2311400"/>
                <a:gd name="connsiteX10" fmla="*/ 2260600 w 3962400"/>
                <a:gd name="connsiteY10" fmla="*/ 1511300 h 2311400"/>
                <a:gd name="connsiteX11" fmla="*/ 2286000 w 3962400"/>
                <a:gd name="connsiteY11" fmla="*/ 1346200 h 2311400"/>
                <a:gd name="connsiteX12" fmla="*/ 2324100 w 3962400"/>
                <a:gd name="connsiteY12" fmla="*/ 1143000 h 2311400"/>
                <a:gd name="connsiteX13" fmla="*/ 2400300 w 3962400"/>
                <a:gd name="connsiteY13" fmla="*/ 1028700 h 2311400"/>
                <a:gd name="connsiteX14" fmla="*/ 2476500 w 3962400"/>
                <a:gd name="connsiteY14" fmla="*/ 939800 h 2311400"/>
                <a:gd name="connsiteX15" fmla="*/ 2603500 w 3962400"/>
                <a:gd name="connsiteY15" fmla="*/ 736600 h 2311400"/>
                <a:gd name="connsiteX16" fmla="*/ 2882900 w 3962400"/>
                <a:gd name="connsiteY16" fmla="*/ 355600 h 2311400"/>
                <a:gd name="connsiteX17" fmla="*/ 3149600 w 3962400"/>
                <a:gd name="connsiteY17" fmla="*/ 609600 h 2311400"/>
                <a:gd name="connsiteX18" fmla="*/ 3200400 w 3962400"/>
                <a:gd name="connsiteY18" fmla="*/ 711200 h 2311400"/>
                <a:gd name="connsiteX19" fmla="*/ 3276600 w 3962400"/>
                <a:gd name="connsiteY19" fmla="*/ 774700 h 2311400"/>
                <a:gd name="connsiteX20" fmla="*/ 3390900 w 3962400"/>
                <a:gd name="connsiteY20" fmla="*/ 774700 h 2311400"/>
                <a:gd name="connsiteX21" fmla="*/ 3606800 w 3962400"/>
                <a:gd name="connsiteY21" fmla="*/ 571500 h 2311400"/>
                <a:gd name="connsiteX22" fmla="*/ 3606800 w 3962400"/>
                <a:gd name="connsiteY22" fmla="*/ 457200 h 2311400"/>
                <a:gd name="connsiteX23" fmla="*/ 3644900 w 3962400"/>
                <a:gd name="connsiteY23" fmla="*/ 266700 h 2311400"/>
                <a:gd name="connsiteX24" fmla="*/ 3721100 w 3962400"/>
                <a:gd name="connsiteY24" fmla="*/ 114300 h 2311400"/>
                <a:gd name="connsiteX25" fmla="*/ 3962400 w 3962400"/>
                <a:gd name="connsiteY25" fmla="*/ 0 h 2311400"/>
                <a:gd name="connsiteX0-1" fmla="*/ 0 w 3962400"/>
                <a:gd name="connsiteY0-2" fmla="*/ 2311400 h 2311400"/>
                <a:gd name="connsiteX1-3" fmla="*/ 254000 w 3962400"/>
                <a:gd name="connsiteY1-4" fmla="*/ 1955800 h 2311400"/>
                <a:gd name="connsiteX2-5" fmla="*/ 596900 w 3962400"/>
                <a:gd name="connsiteY2-6" fmla="*/ 1930400 h 2311400"/>
                <a:gd name="connsiteX3-7" fmla="*/ 863600 w 3962400"/>
                <a:gd name="connsiteY3-8" fmla="*/ 2032000 h 2311400"/>
                <a:gd name="connsiteX4-9" fmla="*/ 1041400 w 3962400"/>
                <a:gd name="connsiteY4-10" fmla="*/ 2146300 h 2311400"/>
                <a:gd name="connsiteX5-11" fmla="*/ 1231900 w 3962400"/>
                <a:gd name="connsiteY5-12" fmla="*/ 1917700 h 2311400"/>
                <a:gd name="connsiteX6-13" fmla="*/ 1587500 w 3962400"/>
                <a:gd name="connsiteY6-14" fmla="*/ 1346200 h 2311400"/>
                <a:gd name="connsiteX7-15" fmla="*/ 1739900 w 3962400"/>
                <a:gd name="connsiteY7-16" fmla="*/ 1219200 h 2311400"/>
                <a:gd name="connsiteX8-17" fmla="*/ 1968500 w 3962400"/>
                <a:gd name="connsiteY8-18" fmla="*/ 1371600 h 2311400"/>
                <a:gd name="connsiteX9-19" fmla="*/ 2057400 w 3962400"/>
                <a:gd name="connsiteY9-20" fmla="*/ 1524000 h 2311400"/>
                <a:gd name="connsiteX10-21" fmla="*/ 2260600 w 3962400"/>
                <a:gd name="connsiteY10-22" fmla="*/ 1511300 h 2311400"/>
                <a:gd name="connsiteX11-23" fmla="*/ 2286000 w 3962400"/>
                <a:gd name="connsiteY11-24" fmla="*/ 1346200 h 2311400"/>
                <a:gd name="connsiteX12-25" fmla="*/ 2324100 w 3962400"/>
                <a:gd name="connsiteY12-26" fmla="*/ 1143000 h 2311400"/>
                <a:gd name="connsiteX13-27" fmla="*/ 2400300 w 3962400"/>
                <a:gd name="connsiteY13-28" fmla="*/ 1028700 h 2311400"/>
                <a:gd name="connsiteX14-29" fmla="*/ 2476500 w 3962400"/>
                <a:gd name="connsiteY14-30" fmla="*/ 939800 h 2311400"/>
                <a:gd name="connsiteX15-31" fmla="*/ 2603500 w 3962400"/>
                <a:gd name="connsiteY15-32" fmla="*/ 736600 h 2311400"/>
                <a:gd name="connsiteX16-33" fmla="*/ 2882900 w 3962400"/>
                <a:gd name="connsiteY16-34" fmla="*/ 355600 h 2311400"/>
                <a:gd name="connsiteX17-35" fmla="*/ 3149600 w 3962400"/>
                <a:gd name="connsiteY17-36" fmla="*/ 609600 h 2311400"/>
                <a:gd name="connsiteX18-37" fmla="*/ 3200400 w 3962400"/>
                <a:gd name="connsiteY18-38" fmla="*/ 711200 h 2311400"/>
                <a:gd name="connsiteX19-39" fmla="*/ 3276600 w 3962400"/>
                <a:gd name="connsiteY19-40" fmla="*/ 774700 h 2311400"/>
                <a:gd name="connsiteX20-41" fmla="*/ 3390900 w 3962400"/>
                <a:gd name="connsiteY20-42" fmla="*/ 774700 h 2311400"/>
                <a:gd name="connsiteX21-43" fmla="*/ 3606800 w 3962400"/>
                <a:gd name="connsiteY21-44" fmla="*/ 571500 h 2311400"/>
                <a:gd name="connsiteX22-45" fmla="*/ 3606800 w 3962400"/>
                <a:gd name="connsiteY22-46" fmla="*/ 457200 h 2311400"/>
                <a:gd name="connsiteX23-47" fmla="*/ 3644900 w 3962400"/>
                <a:gd name="connsiteY23-48" fmla="*/ 266700 h 2311400"/>
                <a:gd name="connsiteX24-49" fmla="*/ 3721100 w 3962400"/>
                <a:gd name="connsiteY24-50" fmla="*/ 114300 h 2311400"/>
                <a:gd name="connsiteX25-51" fmla="*/ 3962400 w 3962400"/>
                <a:gd name="connsiteY25-52" fmla="*/ 0 h 23114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Lst>
              <a:rect l="l" t="t" r="r" b="b"/>
              <a:pathLst>
                <a:path w="3962400" h="2311400">
                  <a:moveTo>
                    <a:pt x="0" y="2311400"/>
                  </a:moveTo>
                  <a:cubicBezTo>
                    <a:pt x="77258" y="2165350"/>
                    <a:pt x="154517" y="2019300"/>
                    <a:pt x="254000" y="1955800"/>
                  </a:cubicBezTo>
                  <a:cubicBezTo>
                    <a:pt x="353483" y="1892300"/>
                    <a:pt x="495300" y="1917700"/>
                    <a:pt x="596900" y="1930400"/>
                  </a:cubicBezTo>
                  <a:cubicBezTo>
                    <a:pt x="698500" y="1943100"/>
                    <a:pt x="789517" y="1996017"/>
                    <a:pt x="863600" y="2032000"/>
                  </a:cubicBezTo>
                  <a:cubicBezTo>
                    <a:pt x="937683" y="2067983"/>
                    <a:pt x="980017" y="2165350"/>
                    <a:pt x="1041400" y="2146300"/>
                  </a:cubicBezTo>
                  <a:cubicBezTo>
                    <a:pt x="1102783" y="2127250"/>
                    <a:pt x="1140883" y="2051050"/>
                    <a:pt x="1231900" y="1917700"/>
                  </a:cubicBezTo>
                  <a:cubicBezTo>
                    <a:pt x="1322917" y="1784350"/>
                    <a:pt x="1502833" y="1462617"/>
                    <a:pt x="1587500" y="1346200"/>
                  </a:cubicBezTo>
                  <a:cubicBezTo>
                    <a:pt x="1672167" y="1229783"/>
                    <a:pt x="1676400" y="1214967"/>
                    <a:pt x="1739900" y="1219200"/>
                  </a:cubicBezTo>
                  <a:cubicBezTo>
                    <a:pt x="1803400" y="1223433"/>
                    <a:pt x="1915583" y="1320800"/>
                    <a:pt x="1968500" y="1371600"/>
                  </a:cubicBezTo>
                  <a:cubicBezTo>
                    <a:pt x="2021417" y="1422400"/>
                    <a:pt x="2008717" y="1500717"/>
                    <a:pt x="2057400" y="1524000"/>
                  </a:cubicBezTo>
                  <a:cubicBezTo>
                    <a:pt x="2106083" y="1547283"/>
                    <a:pt x="2222500" y="1540933"/>
                    <a:pt x="2260600" y="1511300"/>
                  </a:cubicBezTo>
                  <a:cubicBezTo>
                    <a:pt x="2298700" y="1481667"/>
                    <a:pt x="2275417" y="1407583"/>
                    <a:pt x="2286000" y="1346200"/>
                  </a:cubicBezTo>
                  <a:cubicBezTo>
                    <a:pt x="2296583" y="1284817"/>
                    <a:pt x="2305050" y="1195917"/>
                    <a:pt x="2324100" y="1143000"/>
                  </a:cubicBezTo>
                  <a:cubicBezTo>
                    <a:pt x="2343150" y="1090083"/>
                    <a:pt x="2374900" y="1062567"/>
                    <a:pt x="2400300" y="1028700"/>
                  </a:cubicBezTo>
                  <a:cubicBezTo>
                    <a:pt x="2425700" y="994833"/>
                    <a:pt x="2442633" y="988483"/>
                    <a:pt x="2476500" y="939800"/>
                  </a:cubicBezTo>
                  <a:cubicBezTo>
                    <a:pt x="2510367" y="891117"/>
                    <a:pt x="2535767" y="833967"/>
                    <a:pt x="2603500" y="736600"/>
                  </a:cubicBezTo>
                  <a:cubicBezTo>
                    <a:pt x="2671233" y="639233"/>
                    <a:pt x="2791883" y="376767"/>
                    <a:pt x="2882900" y="355600"/>
                  </a:cubicBezTo>
                  <a:cubicBezTo>
                    <a:pt x="2973917" y="334433"/>
                    <a:pt x="3096683" y="550333"/>
                    <a:pt x="3149600" y="609600"/>
                  </a:cubicBezTo>
                  <a:cubicBezTo>
                    <a:pt x="3202517" y="668867"/>
                    <a:pt x="3179233" y="683683"/>
                    <a:pt x="3200400" y="711200"/>
                  </a:cubicBezTo>
                  <a:cubicBezTo>
                    <a:pt x="3221567" y="738717"/>
                    <a:pt x="3244850" y="764117"/>
                    <a:pt x="3276600" y="774700"/>
                  </a:cubicBezTo>
                  <a:cubicBezTo>
                    <a:pt x="3308350" y="785283"/>
                    <a:pt x="3335867" y="808567"/>
                    <a:pt x="3390900" y="774700"/>
                  </a:cubicBezTo>
                  <a:cubicBezTo>
                    <a:pt x="3445933" y="740833"/>
                    <a:pt x="3570817" y="624417"/>
                    <a:pt x="3606800" y="571500"/>
                  </a:cubicBezTo>
                  <a:cubicBezTo>
                    <a:pt x="3642783" y="518583"/>
                    <a:pt x="3600450" y="508000"/>
                    <a:pt x="3606800" y="457200"/>
                  </a:cubicBezTo>
                  <a:cubicBezTo>
                    <a:pt x="3613150" y="406400"/>
                    <a:pt x="3625850" y="323850"/>
                    <a:pt x="3644900" y="266700"/>
                  </a:cubicBezTo>
                  <a:cubicBezTo>
                    <a:pt x="3663950" y="209550"/>
                    <a:pt x="3668183" y="158750"/>
                    <a:pt x="3721100" y="114300"/>
                  </a:cubicBezTo>
                  <a:cubicBezTo>
                    <a:pt x="3774017" y="69850"/>
                    <a:pt x="3868208" y="34925"/>
                    <a:pt x="3962400" y="0"/>
                  </a:cubicBezTo>
                </a:path>
              </a:pathLst>
            </a:custGeom>
            <a:ln w="38100">
              <a:solidFill>
                <a:srgbClr val="00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9"/>
            <p:cNvSpPr txBox="1"/>
            <p:nvPr/>
          </p:nvSpPr>
          <p:spPr>
            <a:xfrm>
              <a:off x="5429256" y="2028758"/>
              <a:ext cx="1928826" cy="313932"/>
            </a:xfrm>
            <a:prstGeom prst="rect">
              <a:avLst/>
            </a:prstGeom>
            <a:noFill/>
          </p:spPr>
          <p:txBody>
            <a:bodyPr wrap="square" rtlCol="0">
              <a:spAutoFit/>
            </a:bodyPr>
            <a:lstStyle/>
            <a:p>
              <a:pPr algn="l"/>
              <a:r>
                <a:rPr lang="zh-CN" altLang="en-US" sz="1800" dirty="0" smtClean="0">
                  <a:solidFill>
                    <a:srgbClr val="0000FF"/>
                  </a:solidFill>
                  <a:latin typeface="仿宋" panose="02010609060101010101" pitchFamily="49" charset="-122"/>
                  <a:ea typeface="仿宋" panose="02010609060101010101" pitchFamily="49" charset="-122"/>
                </a:rPr>
                <a:t>数据整体无序</a:t>
              </a:r>
              <a:endParaRPr lang="zh-CN" altLang="en-US" sz="1800" dirty="0">
                <a:solidFill>
                  <a:srgbClr val="0000FF"/>
                </a:solidFill>
                <a:latin typeface="仿宋" panose="02010609060101010101" pitchFamily="49" charset="-122"/>
                <a:ea typeface="仿宋" panose="02010609060101010101" pitchFamily="49" charset="-122"/>
              </a:endParaRPr>
            </a:p>
          </p:txBody>
        </p:sp>
      </p:grpSp>
      <p:grpSp>
        <p:nvGrpSpPr>
          <p:cNvPr id="21" name="组合 20"/>
          <p:cNvGrpSpPr/>
          <p:nvPr/>
        </p:nvGrpSpPr>
        <p:grpSpPr>
          <a:xfrm>
            <a:off x="1071538" y="1928802"/>
            <a:ext cx="6143668" cy="2571768"/>
            <a:chOff x="1071538" y="1928802"/>
            <a:chExt cx="6143668" cy="2571768"/>
          </a:xfrm>
        </p:grpSpPr>
        <p:sp>
          <p:nvSpPr>
            <p:cNvPr id="7" name="矩形 6"/>
            <p:cNvSpPr/>
            <p:nvPr/>
          </p:nvSpPr>
          <p:spPr>
            <a:xfrm>
              <a:off x="1071538" y="3643314"/>
              <a:ext cx="1357322" cy="857256"/>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8" name="矩形 7"/>
            <p:cNvSpPr/>
            <p:nvPr/>
          </p:nvSpPr>
          <p:spPr>
            <a:xfrm>
              <a:off x="2500298" y="2786058"/>
              <a:ext cx="1357322" cy="857256"/>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9" name="矩形 8"/>
            <p:cNvSpPr/>
            <p:nvPr/>
          </p:nvSpPr>
          <p:spPr>
            <a:xfrm>
              <a:off x="3903658" y="1928802"/>
              <a:ext cx="1357322" cy="857256"/>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TextBox 11"/>
            <p:cNvSpPr txBox="1"/>
            <p:nvPr/>
          </p:nvSpPr>
          <p:spPr>
            <a:xfrm>
              <a:off x="5000628" y="3500438"/>
              <a:ext cx="2214578" cy="338554"/>
            </a:xfrm>
            <a:prstGeom prst="rect">
              <a:avLst/>
            </a:prstGeom>
            <a:noFill/>
          </p:spPr>
          <p:txBody>
            <a:bodyPr wrap="square" rtlCol="0">
              <a:spAutoFit/>
            </a:bodyPr>
            <a:lstStyle/>
            <a:p>
              <a:pPr algn="l"/>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分块后按块有序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3" name="直接箭头连接符 12"/>
            <p:cNvCxnSpPr/>
            <p:nvPr/>
          </p:nvCxnSpPr>
          <p:spPr>
            <a:xfrm rot="10800000" flipV="1">
              <a:off x="2428860" y="3786190"/>
              <a:ext cx="2643206" cy="428628"/>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cxnSp>
          <p:nvCxnSpPr>
            <p:cNvPr id="14" name="直接箭头连接符 13"/>
            <p:cNvCxnSpPr>
              <a:stCxn id="12" idx="1"/>
            </p:cNvCxnSpPr>
            <p:nvPr/>
          </p:nvCxnSpPr>
          <p:spPr>
            <a:xfrm rot="10800000">
              <a:off x="3857620" y="3286125"/>
              <a:ext cx="1143008" cy="383591"/>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cxnSp>
          <p:nvCxnSpPr>
            <p:cNvPr id="15" name="直接箭头连接符 14"/>
            <p:cNvCxnSpPr/>
            <p:nvPr/>
          </p:nvCxnSpPr>
          <p:spPr>
            <a:xfrm rot="16200000" flipV="1">
              <a:off x="4684317" y="3041251"/>
              <a:ext cx="714380" cy="203994"/>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grpSp>
      <p:sp>
        <p:nvSpPr>
          <p:cNvPr id="24" name="灯片编号占位符 2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500034" y="500719"/>
            <a:ext cx="8208962" cy="1246495"/>
          </a:xfrm>
          <a:prstGeom prst="rect">
            <a:avLst/>
          </a:prstGeom>
          <a:noFill/>
          <a:ln w="9525">
            <a:noFill/>
            <a:miter lim="800000"/>
          </a:ln>
          <a:effectLst/>
        </p:spPr>
        <p:txBody>
          <a:bodyPr>
            <a:spAutoFit/>
          </a:bodyPr>
          <a:lstStyle/>
          <a:p>
            <a:pPr algn="l">
              <a:lnSpc>
                <a:spcPts val="2600"/>
              </a:lnSpc>
              <a:spcBef>
                <a:spcPct val="50000"/>
              </a:spcBef>
            </a:pPr>
            <a:r>
              <a:rPr kumimoji="1" lang="en-US" altLang="zh-CN" sz="2000" b="0">
                <a:solidFill>
                  <a:srgbClr val="000000"/>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，设有一个线性表，其中包含</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其</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关键字</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序列为</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ct val="50000"/>
              </a:spcBef>
            </a:pPr>
            <a:r>
              <a:rPr kumimoji="1" lang="zh-CN" altLang="en-US" sz="2000" dirty="0">
                <a:latin typeface="Consolas" panose="020B0609020204030204" pitchFamily="49" charset="0"/>
                <a:ea typeface="仿宋" panose="02010609060101010101" pitchFamily="49" charset="-122"/>
                <a:cs typeface="Consolas" panose="020B0609020204030204" pitchFamily="49" charset="0"/>
              </a:rPr>
              <a:t>　</a:t>
            </a:r>
            <a:r>
              <a:rPr kumimoji="1" lang="zh-CN" altLang="en-US" sz="2000">
                <a:latin typeface="Consolas" panose="020B0609020204030204" pitchFamily="49" charset="0"/>
                <a:ea typeface="仿宋" panose="02010609060101010101" pitchFamily="49" charset="-122"/>
                <a:cs typeface="Consolas" panose="020B0609020204030204" pitchFamily="49" charset="0"/>
              </a:rPr>
              <a:t>　</a:t>
            </a:r>
            <a:r>
              <a:rPr kumimoji="1"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14</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6</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9</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10</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22</a:t>
            </a:r>
            <a:r>
              <a:rPr kumimoji="1" lang="zh-CN" altLang="en-US"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34</a:t>
            </a:r>
            <a:r>
              <a:rPr kumimoji="1" lang="zh-CN" altLang="en-US"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18</a:t>
            </a:r>
            <a:r>
              <a:rPr kumimoji="1" lang="zh-CN" altLang="en-US"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19</a:t>
            </a:r>
            <a:r>
              <a:rPr kumimoji="1" lang="zh-CN" altLang="en-US"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4F5E02"/>
                </a:solidFill>
                <a:latin typeface="Consolas" panose="020B0609020204030204" pitchFamily="49" charset="0"/>
                <a:ea typeface="仿宋" panose="02010609060101010101" pitchFamily="49" charset="-122"/>
                <a:cs typeface="Consolas" panose="020B0609020204030204" pitchFamily="49" charset="0"/>
              </a:rPr>
              <a:t>31</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40</a:t>
            </a:r>
            <a:r>
              <a:rPr kumimoji="1" lang="zh-CN" altLang="en-US"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38</a:t>
            </a:r>
            <a:r>
              <a:rPr kumimoji="1" lang="zh-CN" altLang="en-US"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54</a:t>
            </a:r>
            <a:r>
              <a:rPr kumimoji="1" lang="zh-CN" altLang="en-US"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66</a:t>
            </a:r>
            <a:r>
              <a:rPr kumimoji="1" lang="zh-CN" altLang="en-US"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FF33CC"/>
                </a:solidFill>
                <a:latin typeface="Consolas" panose="020B0609020204030204" pitchFamily="49" charset="0"/>
                <a:ea typeface="仿宋" panose="02010609060101010101" pitchFamily="49" charset="-122"/>
                <a:cs typeface="Consolas" panose="020B0609020204030204" pitchFamily="49" charset="0"/>
              </a:rPr>
              <a:t> 46</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71</a:t>
            </a:r>
            <a:r>
              <a:rPr kumimoji="1" lang="zh-CN" altLang="en-US"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78</a:t>
            </a:r>
            <a:r>
              <a:rPr kumimoji="1" lang="zh-CN" altLang="en-US"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68</a:t>
            </a:r>
            <a:r>
              <a:rPr kumimoji="1" lang="zh-CN" altLang="en-US"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80</a:t>
            </a:r>
            <a:r>
              <a:rPr kumimoji="1" lang="zh-CN" altLang="en-US"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2060"/>
                </a:solidFill>
                <a:latin typeface="Consolas" panose="020B0609020204030204" pitchFamily="49" charset="0"/>
                <a:ea typeface="仿宋" panose="02010609060101010101" pitchFamily="49" charset="-122"/>
                <a:cs typeface="Consolas" panose="020B0609020204030204" pitchFamily="49" charset="0"/>
              </a:rPr>
              <a:t>85</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latin typeface="Consolas" panose="020B0609020204030204" pitchFamily="49" charset="0"/>
                <a:ea typeface="仿宋" panose="02010609060101010101" pitchFamily="49" charset="-122"/>
                <a:cs typeface="Consolas" panose="020B0609020204030204" pitchFamily="49" charset="0"/>
              </a:rPr>
              <a:t> 100</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latin typeface="Consolas" panose="020B0609020204030204" pitchFamily="49" charset="0"/>
                <a:ea typeface="仿宋" panose="02010609060101010101" pitchFamily="49" charset="-122"/>
                <a:cs typeface="Consolas" panose="020B0609020204030204" pitchFamily="49" charset="0"/>
              </a:rPr>
              <a:t> 94</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latin typeface="Consolas" panose="020B0609020204030204" pitchFamily="49" charset="0"/>
                <a:ea typeface="仿宋" panose="02010609060101010101" pitchFamily="49" charset="-122"/>
                <a:cs typeface="Consolas" panose="020B0609020204030204" pitchFamily="49" charset="0"/>
              </a:rPr>
              <a:t>88</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latin typeface="Consolas" panose="020B0609020204030204" pitchFamily="49" charset="0"/>
                <a:ea typeface="仿宋" panose="02010609060101010101" pitchFamily="49" charset="-122"/>
                <a:cs typeface="Consolas" panose="020B0609020204030204" pitchFamily="49" charset="0"/>
              </a:rPr>
              <a:t>96</a:t>
            </a:r>
            <a:r>
              <a:rPr kumimoji="1" lang="zh-CN" altLang="en-US" sz="2000" smtClean="0">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latin typeface="Consolas" panose="020B0609020204030204" pitchFamily="49" charset="0"/>
                <a:ea typeface="仿宋" panose="02010609060101010101" pitchFamily="49" charset="-122"/>
                <a:cs typeface="Consolas" panose="020B0609020204030204" pitchFamily="49" charset="0"/>
              </a:rPr>
              <a:t>87</a:t>
            </a:r>
            <a:r>
              <a:rPr kumimoji="1" lang="zh-CN" altLang="en-US" sz="2000" dirty="0">
                <a:latin typeface="Consolas" panose="020B0609020204030204" pitchFamily="49" charset="0"/>
                <a:ea typeface="仿宋" panose="02010609060101010101" pitchFamily="49" charset="-122"/>
                <a:cs typeface="Consolas" panose="020B0609020204030204" pitchFamily="49" charset="0"/>
              </a:rPr>
              <a:t>　　</a:t>
            </a:r>
            <a:endParaRPr kumimoji="1" lang="zh-CN" altLang="en-US" sz="2000" dirty="0">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785786" y="2071678"/>
            <a:ext cx="6357982" cy="400110"/>
          </a:xfrm>
          <a:prstGeom prst="rect">
            <a:avLst/>
          </a:prstGeom>
          <a:noFill/>
        </p:spPr>
        <p:txBody>
          <a:bodyPr wrap="square" rtlCol="0">
            <a:spAutoFit/>
          </a:bodyPr>
          <a:lstStyle/>
          <a:p>
            <a:pPr algn="l">
              <a:lnSpc>
                <a:spcPct val="100000"/>
              </a:lnSpc>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分块</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记录分为</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块，每块</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中有</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8417" name="Freeform 1"/>
          <p:cNvSpPr/>
          <p:nvPr/>
        </p:nvSpPr>
        <p:spPr bwMode="auto">
          <a:xfrm>
            <a:off x="2294930" y="2950132"/>
            <a:ext cx="4751388" cy="1714512"/>
          </a:xfrm>
          <a:custGeom>
            <a:avLst/>
            <a:gdLst/>
            <a:ahLst/>
            <a:cxnLst>
              <a:cxn ang="0">
                <a:pos x="0" y="1134"/>
              </a:cxn>
              <a:cxn ang="0">
                <a:pos x="227" y="998"/>
              </a:cxn>
              <a:cxn ang="0">
                <a:pos x="363" y="1089"/>
              </a:cxn>
              <a:cxn ang="0">
                <a:pos x="589" y="1089"/>
              </a:cxn>
              <a:cxn ang="0">
                <a:pos x="635" y="907"/>
              </a:cxn>
              <a:cxn ang="0">
                <a:pos x="725" y="817"/>
              </a:cxn>
              <a:cxn ang="0">
                <a:pos x="816" y="862"/>
              </a:cxn>
              <a:cxn ang="0">
                <a:pos x="1134" y="862"/>
              </a:cxn>
              <a:cxn ang="0">
                <a:pos x="1179" y="771"/>
              </a:cxn>
              <a:cxn ang="0">
                <a:pos x="1315" y="590"/>
              </a:cxn>
              <a:cxn ang="0">
                <a:pos x="1451" y="635"/>
              </a:cxn>
              <a:cxn ang="0">
                <a:pos x="1542" y="680"/>
              </a:cxn>
              <a:cxn ang="0">
                <a:pos x="1723" y="635"/>
              </a:cxn>
              <a:cxn ang="0">
                <a:pos x="1769" y="590"/>
              </a:cxn>
              <a:cxn ang="0">
                <a:pos x="1859" y="454"/>
              </a:cxn>
              <a:cxn ang="0">
                <a:pos x="2041" y="408"/>
              </a:cxn>
              <a:cxn ang="0">
                <a:pos x="2132" y="454"/>
              </a:cxn>
              <a:cxn ang="0">
                <a:pos x="2268" y="499"/>
              </a:cxn>
              <a:cxn ang="0">
                <a:pos x="2358" y="499"/>
              </a:cxn>
              <a:cxn ang="0">
                <a:pos x="2449" y="363"/>
              </a:cxn>
              <a:cxn ang="0">
                <a:pos x="2540" y="91"/>
              </a:cxn>
              <a:cxn ang="0">
                <a:pos x="2676" y="91"/>
              </a:cxn>
              <a:cxn ang="0">
                <a:pos x="2767" y="182"/>
              </a:cxn>
              <a:cxn ang="0">
                <a:pos x="2857" y="182"/>
              </a:cxn>
              <a:cxn ang="0">
                <a:pos x="2903" y="45"/>
              </a:cxn>
              <a:cxn ang="0">
                <a:pos x="2993" y="0"/>
              </a:cxn>
            </a:cxnLst>
            <a:rect l="0" t="0" r="r" b="b"/>
            <a:pathLst>
              <a:path w="2993" h="1134">
                <a:moveTo>
                  <a:pt x="0" y="1134"/>
                </a:moveTo>
                <a:cubicBezTo>
                  <a:pt x="83" y="1070"/>
                  <a:pt x="166" y="1006"/>
                  <a:pt x="227" y="998"/>
                </a:cubicBezTo>
                <a:cubicBezTo>
                  <a:pt x="288" y="990"/>
                  <a:pt x="303" y="1074"/>
                  <a:pt x="363" y="1089"/>
                </a:cubicBezTo>
                <a:cubicBezTo>
                  <a:pt x="423" y="1104"/>
                  <a:pt x="544" y="1119"/>
                  <a:pt x="589" y="1089"/>
                </a:cubicBezTo>
                <a:cubicBezTo>
                  <a:pt x="634" y="1059"/>
                  <a:pt x="612" y="952"/>
                  <a:pt x="635" y="907"/>
                </a:cubicBezTo>
                <a:cubicBezTo>
                  <a:pt x="658" y="862"/>
                  <a:pt x="695" y="824"/>
                  <a:pt x="725" y="817"/>
                </a:cubicBezTo>
                <a:cubicBezTo>
                  <a:pt x="755" y="810"/>
                  <a:pt x="748" y="855"/>
                  <a:pt x="816" y="862"/>
                </a:cubicBezTo>
                <a:cubicBezTo>
                  <a:pt x="884" y="869"/>
                  <a:pt x="1074" y="877"/>
                  <a:pt x="1134" y="862"/>
                </a:cubicBezTo>
                <a:cubicBezTo>
                  <a:pt x="1194" y="847"/>
                  <a:pt x="1149" y="816"/>
                  <a:pt x="1179" y="771"/>
                </a:cubicBezTo>
                <a:cubicBezTo>
                  <a:pt x="1209" y="726"/>
                  <a:pt x="1270" y="613"/>
                  <a:pt x="1315" y="590"/>
                </a:cubicBezTo>
                <a:cubicBezTo>
                  <a:pt x="1360" y="567"/>
                  <a:pt x="1413" y="620"/>
                  <a:pt x="1451" y="635"/>
                </a:cubicBezTo>
                <a:cubicBezTo>
                  <a:pt x="1489" y="650"/>
                  <a:pt x="1497" y="680"/>
                  <a:pt x="1542" y="680"/>
                </a:cubicBezTo>
                <a:cubicBezTo>
                  <a:pt x="1587" y="680"/>
                  <a:pt x="1685" y="650"/>
                  <a:pt x="1723" y="635"/>
                </a:cubicBezTo>
                <a:cubicBezTo>
                  <a:pt x="1761" y="620"/>
                  <a:pt x="1746" y="620"/>
                  <a:pt x="1769" y="590"/>
                </a:cubicBezTo>
                <a:cubicBezTo>
                  <a:pt x="1792" y="560"/>
                  <a:pt x="1814" y="484"/>
                  <a:pt x="1859" y="454"/>
                </a:cubicBezTo>
                <a:cubicBezTo>
                  <a:pt x="1904" y="424"/>
                  <a:pt x="1996" y="408"/>
                  <a:pt x="2041" y="408"/>
                </a:cubicBezTo>
                <a:cubicBezTo>
                  <a:pt x="2086" y="408"/>
                  <a:pt x="2094" y="439"/>
                  <a:pt x="2132" y="454"/>
                </a:cubicBezTo>
                <a:cubicBezTo>
                  <a:pt x="2170" y="469"/>
                  <a:pt x="2230" y="492"/>
                  <a:pt x="2268" y="499"/>
                </a:cubicBezTo>
                <a:cubicBezTo>
                  <a:pt x="2306" y="506"/>
                  <a:pt x="2328" y="522"/>
                  <a:pt x="2358" y="499"/>
                </a:cubicBezTo>
                <a:cubicBezTo>
                  <a:pt x="2388" y="476"/>
                  <a:pt x="2419" y="431"/>
                  <a:pt x="2449" y="363"/>
                </a:cubicBezTo>
                <a:cubicBezTo>
                  <a:pt x="2479" y="295"/>
                  <a:pt x="2502" y="136"/>
                  <a:pt x="2540" y="91"/>
                </a:cubicBezTo>
                <a:cubicBezTo>
                  <a:pt x="2578" y="46"/>
                  <a:pt x="2638" y="76"/>
                  <a:pt x="2676" y="91"/>
                </a:cubicBezTo>
                <a:cubicBezTo>
                  <a:pt x="2714" y="106"/>
                  <a:pt x="2737" y="167"/>
                  <a:pt x="2767" y="182"/>
                </a:cubicBezTo>
                <a:cubicBezTo>
                  <a:pt x="2797" y="197"/>
                  <a:pt x="2834" y="205"/>
                  <a:pt x="2857" y="182"/>
                </a:cubicBezTo>
                <a:cubicBezTo>
                  <a:pt x="2880" y="159"/>
                  <a:pt x="2880" y="75"/>
                  <a:pt x="2903" y="45"/>
                </a:cubicBezTo>
                <a:cubicBezTo>
                  <a:pt x="2926" y="15"/>
                  <a:pt x="2959" y="7"/>
                  <a:pt x="2993" y="0"/>
                </a:cubicBezTo>
              </a:path>
            </a:pathLst>
          </a:custGeom>
          <a:noFill/>
          <a:ln w="38100" cap="flat" cmpd="sng">
            <a:solidFill>
              <a:srgbClr val="0000FF"/>
            </a:solidFill>
            <a:prstDash val="solid"/>
            <a:round/>
            <a:headEnd type="none" w="med" len="med"/>
            <a:tailEnd type="none" w="lg" len="lg"/>
          </a:ln>
          <a:effectLst/>
        </p:spPr>
        <p:txBody>
          <a:bodyPr wrap="square" anchor="ctr">
            <a:noAutofit/>
          </a:bodyPr>
          <a:lstStyle/>
          <a:p>
            <a:endParaRPr lang="zh-CN" altLang="en-US">
              <a:latin typeface="Consolas" panose="020B0609020204030204" pitchFamily="49" charset="0"/>
              <a:cs typeface="Consolas" panose="020B0609020204030204" pitchFamily="49" charset="0"/>
            </a:endParaRPr>
          </a:p>
        </p:txBody>
      </p:sp>
      <p:sp>
        <p:nvSpPr>
          <p:cNvPr id="188423" name="Line 7"/>
          <p:cNvSpPr>
            <a:spLocks noChangeShapeType="1"/>
          </p:cNvSpPr>
          <p:nvPr/>
        </p:nvSpPr>
        <p:spPr bwMode="auto">
          <a:xfrm flipV="1">
            <a:off x="2500298" y="3500439"/>
            <a:ext cx="5000660" cy="1857387"/>
          </a:xfrm>
          <a:prstGeom prst="line">
            <a:avLst/>
          </a:prstGeom>
          <a:noFill/>
          <a:ln w="28575">
            <a:solidFill>
              <a:srgbClr val="FF0000"/>
            </a:solidFill>
            <a:round/>
            <a:tailEnd type="stealth" w="lg" len="lg"/>
          </a:ln>
          <a:effectLst/>
        </p:spPr>
        <p:txBody>
          <a:bodyPr wrap="square" anchor="ctr">
            <a:spAutoFit/>
          </a:bodyPr>
          <a:lstStyle/>
          <a:p>
            <a:endParaRPr lang="zh-CN" altLang="en-US">
              <a:latin typeface="Consolas" panose="020B0609020204030204" pitchFamily="49" charset="0"/>
              <a:cs typeface="Consolas" panose="020B0609020204030204" pitchFamily="49" charset="0"/>
            </a:endParaRPr>
          </a:p>
        </p:txBody>
      </p:sp>
      <p:sp>
        <p:nvSpPr>
          <p:cNvPr id="14" name="TextBox 13"/>
          <p:cNvSpPr txBox="1"/>
          <p:nvPr/>
        </p:nvSpPr>
        <p:spPr>
          <a:xfrm>
            <a:off x="785786" y="2928934"/>
            <a:ext cx="1428760"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微软雅黑" panose="020B0503020204020204" pitchFamily="34" charset="-122"/>
                <a:ea typeface="微软雅黑" panose="020B0503020204020204" pitchFamily="34" charset="-122"/>
                <a:cs typeface="Consolas" panose="020B0609020204030204" pitchFamily="49" charset="0"/>
              </a:rPr>
              <a:t>数据特性：</a:t>
            </a:r>
            <a:endParaRPr lang="zh-CN" altLang="en-US" sz="2000" smtClean="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grpSp>
        <p:nvGrpSpPr>
          <p:cNvPr id="26" name="组合 25"/>
          <p:cNvGrpSpPr/>
          <p:nvPr/>
        </p:nvGrpSpPr>
        <p:grpSpPr>
          <a:xfrm>
            <a:off x="2263778" y="3144836"/>
            <a:ext cx="5087938" cy="1584325"/>
            <a:chOff x="2263778" y="3144836"/>
            <a:chExt cx="5087938" cy="1584325"/>
          </a:xfrm>
        </p:grpSpPr>
        <p:sp>
          <p:nvSpPr>
            <p:cNvPr id="188418" name="Line 2"/>
            <p:cNvSpPr>
              <a:spLocks noChangeShapeType="1"/>
            </p:cNvSpPr>
            <p:nvPr/>
          </p:nvSpPr>
          <p:spPr bwMode="auto">
            <a:xfrm>
              <a:off x="2263778" y="4729161"/>
              <a:ext cx="1008063" cy="0"/>
            </a:xfrm>
            <a:prstGeom prst="line">
              <a:avLst/>
            </a:prstGeom>
            <a:noFill/>
            <a:ln w="38100">
              <a:solidFill>
                <a:srgbClr val="FF00FF"/>
              </a:solidFill>
              <a:round/>
              <a:tailEnd type="none" w="lg" len="lg"/>
            </a:ln>
            <a:effectLst/>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188419" name="Line 3"/>
            <p:cNvSpPr>
              <a:spLocks noChangeShapeType="1"/>
            </p:cNvSpPr>
            <p:nvPr/>
          </p:nvSpPr>
          <p:spPr bwMode="auto">
            <a:xfrm>
              <a:off x="3344866" y="4370386"/>
              <a:ext cx="1008062" cy="0"/>
            </a:xfrm>
            <a:prstGeom prst="line">
              <a:avLst/>
            </a:prstGeom>
            <a:noFill/>
            <a:ln w="38100">
              <a:solidFill>
                <a:srgbClr val="FF00FF"/>
              </a:solidFill>
              <a:round/>
              <a:tailEnd type="none" w="lg" len="lg"/>
            </a:ln>
            <a:effectLst/>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188420" name="Line 4"/>
            <p:cNvSpPr>
              <a:spLocks noChangeShapeType="1"/>
            </p:cNvSpPr>
            <p:nvPr/>
          </p:nvSpPr>
          <p:spPr bwMode="auto">
            <a:xfrm>
              <a:off x="4352928" y="4010023"/>
              <a:ext cx="1008063" cy="0"/>
            </a:xfrm>
            <a:prstGeom prst="line">
              <a:avLst/>
            </a:prstGeom>
            <a:noFill/>
            <a:ln w="38100">
              <a:solidFill>
                <a:srgbClr val="FF00FF"/>
              </a:solidFill>
              <a:round/>
              <a:tailEnd type="none" w="lg" len="lg"/>
            </a:ln>
            <a:effectLst/>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188421" name="Line 5"/>
            <p:cNvSpPr>
              <a:spLocks noChangeShapeType="1"/>
            </p:cNvSpPr>
            <p:nvPr/>
          </p:nvSpPr>
          <p:spPr bwMode="auto">
            <a:xfrm>
              <a:off x="5360991" y="3721098"/>
              <a:ext cx="1008062" cy="0"/>
            </a:xfrm>
            <a:prstGeom prst="line">
              <a:avLst/>
            </a:prstGeom>
            <a:noFill/>
            <a:ln w="38100">
              <a:solidFill>
                <a:srgbClr val="FF00FF"/>
              </a:solidFill>
              <a:round/>
              <a:tailEnd type="none" w="lg" len="lg"/>
            </a:ln>
            <a:effectLst/>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188422" name="Line 6"/>
            <p:cNvSpPr>
              <a:spLocks noChangeShapeType="1"/>
            </p:cNvSpPr>
            <p:nvPr/>
          </p:nvSpPr>
          <p:spPr bwMode="auto">
            <a:xfrm>
              <a:off x="6343653" y="3144836"/>
              <a:ext cx="1008063" cy="0"/>
            </a:xfrm>
            <a:prstGeom prst="line">
              <a:avLst/>
            </a:prstGeom>
            <a:noFill/>
            <a:ln w="38100">
              <a:solidFill>
                <a:srgbClr val="FF00FF"/>
              </a:solidFill>
              <a:round/>
              <a:tailEnd type="none" w="lg" len="lg"/>
            </a:ln>
            <a:effectLst/>
          </p:spPr>
          <p:txBody>
            <a:bodyPr anchor="ctr">
              <a:spAutoFit/>
            </a:bodyPr>
            <a:lstStyle/>
            <a:p>
              <a:endParaRPr lang="zh-CN" altLang="en-US">
                <a:latin typeface="Consolas" panose="020B0609020204030204" pitchFamily="49" charset="0"/>
                <a:cs typeface="Consolas" panose="020B0609020204030204" pitchFamily="49" charset="0"/>
              </a:endParaRPr>
            </a:p>
          </p:txBody>
        </p:sp>
      </p:grpSp>
      <p:grpSp>
        <p:nvGrpSpPr>
          <p:cNvPr id="28" name="组合 27"/>
          <p:cNvGrpSpPr/>
          <p:nvPr/>
        </p:nvGrpSpPr>
        <p:grpSpPr>
          <a:xfrm>
            <a:off x="2643174" y="3214686"/>
            <a:ext cx="4643470" cy="2471812"/>
            <a:chOff x="2643174" y="3214686"/>
            <a:chExt cx="4643470" cy="2471812"/>
          </a:xfrm>
        </p:grpSpPr>
        <p:sp>
          <p:nvSpPr>
            <p:cNvPr id="16" name="TextBox 15"/>
            <p:cNvSpPr txBox="1"/>
            <p:nvPr/>
          </p:nvSpPr>
          <p:spPr>
            <a:xfrm>
              <a:off x="3214678" y="5286388"/>
              <a:ext cx="407196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每组建立一个</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索引项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索引表</a:t>
              </a:r>
              <a:endPar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9" name="直接箭头连接符 18"/>
            <p:cNvCxnSpPr/>
            <p:nvPr/>
          </p:nvCxnSpPr>
          <p:spPr>
            <a:xfrm rot="10800000">
              <a:off x="2643174" y="4786322"/>
              <a:ext cx="1071570" cy="57150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1" name="直接箭头连接符 20"/>
            <p:cNvCxnSpPr/>
            <p:nvPr/>
          </p:nvCxnSpPr>
          <p:spPr>
            <a:xfrm rot="16200000" flipV="1">
              <a:off x="3679025" y="4607727"/>
              <a:ext cx="928694" cy="42862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3" name="直接箭头连接符 22"/>
            <p:cNvCxnSpPr/>
            <p:nvPr/>
          </p:nvCxnSpPr>
          <p:spPr>
            <a:xfrm rot="16200000" flipV="1">
              <a:off x="4393405" y="4464851"/>
              <a:ext cx="1143008" cy="21431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5" name="直接箭头连接符 24"/>
            <p:cNvCxnSpPr/>
            <p:nvPr/>
          </p:nvCxnSpPr>
          <p:spPr>
            <a:xfrm rot="5400000" flipH="1" flipV="1">
              <a:off x="5143504" y="4357694"/>
              <a:ext cx="1357322" cy="214314"/>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cxnSp>
          <p:nvCxnSpPr>
            <p:cNvPr id="27" name="直接箭头连接符 26"/>
            <p:cNvCxnSpPr/>
            <p:nvPr/>
          </p:nvCxnSpPr>
          <p:spPr>
            <a:xfrm rot="5400000" flipH="1" flipV="1">
              <a:off x="5750727" y="3821909"/>
              <a:ext cx="1928826" cy="714380"/>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grpSp>
      <p:sp>
        <p:nvSpPr>
          <p:cNvPr id="33" name="灯片编号占位符 3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84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188423"/>
                                        </p:tgtEl>
                                        <p:attrNameLst>
                                          <p:attrName>style.visibility</p:attrName>
                                        </p:attrNameLst>
                                      </p:cBhvr>
                                      <p:to>
                                        <p:strVal val="visible"/>
                                      </p:to>
                                    </p:set>
                                    <p:animEffect transition="in" filter="strips(upRight)">
                                      <p:cBhvr>
                                        <p:cTn id="21" dur="500"/>
                                        <p:tgtEl>
                                          <p:spTgt spid="18842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8417" grpId="0" animBg="1"/>
      <p:bldP spid="188423" grpId="0" animBg="1"/>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758" name="Group 366"/>
          <p:cNvGraphicFramePr>
            <a:graphicFrameLocks noGrp="1"/>
          </p:cNvGraphicFramePr>
          <p:nvPr/>
        </p:nvGraphicFramePr>
        <p:xfrm>
          <a:off x="179388" y="3422650"/>
          <a:ext cx="8785225" cy="1402080"/>
        </p:xfrm>
        <a:graphic>
          <a:graphicData uri="http://schemas.openxmlformats.org/drawingml/2006/table">
            <a:tbl>
              <a:tblPr/>
              <a:tblGrid>
                <a:gridCol w="352425"/>
                <a:gridCol w="349250"/>
                <a:gridCol w="323850"/>
                <a:gridCol w="379412"/>
                <a:gridCol w="352425"/>
                <a:gridCol w="352425"/>
                <a:gridCol w="349250"/>
                <a:gridCol w="352425"/>
                <a:gridCol w="350838"/>
                <a:gridCol w="350837"/>
                <a:gridCol w="352425"/>
                <a:gridCol w="350838"/>
                <a:gridCol w="352425"/>
                <a:gridCol w="350837"/>
                <a:gridCol w="352425"/>
                <a:gridCol w="350838"/>
                <a:gridCol w="350837"/>
                <a:gridCol w="352425"/>
                <a:gridCol w="349250"/>
                <a:gridCol w="352425"/>
                <a:gridCol w="352425"/>
                <a:gridCol w="350838"/>
                <a:gridCol w="352425"/>
                <a:gridCol w="349250"/>
                <a:gridCol w="352425"/>
              </a:tblGrid>
              <a:tr h="2603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22</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19</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31</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40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54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46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71</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78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80</a:t>
                      </a:r>
                      <a:endPar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85</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100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87</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6</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7</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8</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9</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15</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16</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17</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18</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19</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87785" name="Group 393"/>
          <p:cNvGraphicFramePr>
            <a:graphicFrameLocks noGrp="1"/>
          </p:cNvGraphicFramePr>
          <p:nvPr/>
        </p:nvGraphicFramePr>
        <p:xfrm>
          <a:off x="2700338" y="1322388"/>
          <a:ext cx="2903537" cy="775018"/>
        </p:xfrm>
        <a:graphic>
          <a:graphicData uri="http://schemas.openxmlformats.org/drawingml/2006/table">
            <a:tbl>
              <a:tblPr/>
              <a:tblGrid>
                <a:gridCol w="581025"/>
                <a:gridCol w="579437"/>
                <a:gridCol w="519113"/>
                <a:gridCol w="642937"/>
                <a:gridCol w="581025"/>
              </a:tblGrid>
              <a:tr h="4397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34</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66</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85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100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20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7786" name="Text Box 394"/>
          <p:cNvSpPr txBox="1">
            <a:spLocks noChangeArrowheads="1"/>
          </p:cNvSpPr>
          <p:nvPr/>
        </p:nvSpPr>
        <p:spPr bwMode="auto">
          <a:xfrm>
            <a:off x="3635375" y="830263"/>
            <a:ext cx="936625" cy="246221"/>
          </a:xfrm>
          <a:prstGeom prst="rect">
            <a:avLst/>
          </a:prstGeom>
          <a:noFill/>
          <a:ln w="9525">
            <a:noFill/>
            <a:miter lim="800000"/>
          </a:ln>
          <a:effectLst/>
        </p:spPr>
        <p:txBody>
          <a:bodyPr lIns="0" tIns="0" rIns="0" bIns="0">
            <a:spAutoFit/>
          </a:bodyPr>
          <a:lstStyle/>
          <a:p>
            <a:pPr algn="l">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索引表</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87" name="Text Box 395"/>
          <p:cNvSpPr txBox="1">
            <a:spLocks noChangeArrowheads="1"/>
          </p:cNvSpPr>
          <p:nvPr/>
        </p:nvSpPr>
        <p:spPr bwMode="auto">
          <a:xfrm>
            <a:off x="5724525" y="1335088"/>
            <a:ext cx="633425" cy="246221"/>
          </a:xfrm>
          <a:prstGeom prst="rect">
            <a:avLst/>
          </a:prstGeom>
          <a:noFill/>
          <a:ln w="9525">
            <a:noFill/>
            <a:miter lim="800000"/>
          </a:ln>
          <a:effectLst/>
        </p:spPr>
        <p:txBody>
          <a:bodyPr wrap="square" lIns="0" tIns="0" rIns="0" bIns="0">
            <a:spAutoFit/>
          </a:bodyPr>
          <a:lstStyle/>
          <a:p>
            <a:pPr algn="l">
              <a:lnSpc>
                <a:spcPct val="100000"/>
              </a:lnSpc>
              <a:spcBef>
                <a:spcPct val="50000"/>
              </a:spcBef>
            </a:pP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key</a:t>
            </a:r>
            <a:endPar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88" name="Text Box 396"/>
          <p:cNvSpPr txBox="1">
            <a:spLocks noChangeArrowheads="1"/>
          </p:cNvSpPr>
          <p:nvPr/>
        </p:nvSpPr>
        <p:spPr bwMode="auto">
          <a:xfrm>
            <a:off x="5724525" y="1766888"/>
            <a:ext cx="633425" cy="246221"/>
          </a:xfrm>
          <a:prstGeom prst="rect">
            <a:avLst/>
          </a:prstGeom>
          <a:noFill/>
          <a:ln w="9525">
            <a:noFill/>
            <a:miter lim="800000"/>
          </a:ln>
          <a:effectLst/>
        </p:spPr>
        <p:txBody>
          <a:bodyPr wrap="square" lIns="0" tIns="0" rIns="0" bIns="0">
            <a:spAutoFit/>
          </a:bodyPr>
          <a:lstStyle/>
          <a:p>
            <a:pPr algn="l">
              <a:lnSpc>
                <a:spcPct val="100000"/>
              </a:lnSpc>
              <a:spcBef>
                <a:spcPct val="50000"/>
              </a:spcBef>
            </a:pP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link</a:t>
            </a:r>
            <a:endPar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94" name="Text Box 402"/>
          <p:cNvSpPr txBox="1">
            <a:spLocks noChangeArrowheads="1"/>
          </p:cNvSpPr>
          <p:nvPr/>
        </p:nvSpPr>
        <p:spPr bwMode="auto">
          <a:xfrm>
            <a:off x="1000100" y="4643446"/>
            <a:ext cx="936625" cy="307777"/>
          </a:xfrm>
          <a:prstGeom prst="rect">
            <a:avLst/>
          </a:prstGeom>
          <a:noFill/>
          <a:ln w="9525">
            <a:noFill/>
            <a:miter lim="800000"/>
          </a:ln>
          <a:effectLst/>
        </p:spPr>
        <p:txBody>
          <a:bodyPr lIns="0" tIns="0" rIns="0" bIns="0">
            <a:spAutoFit/>
          </a:bodyPr>
          <a:lstStyle/>
          <a:p>
            <a:pPr algn="l">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数据表</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95" name="Text Box 403"/>
          <p:cNvSpPr txBox="1">
            <a:spLocks noChangeArrowheads="1"/>
          </p:cNvSpPr>
          <p:nvPr/>
        </p:nvSpPr>
        <p:spPr bwMode="auto">
          <a:xfrm>
            <a:off x="3214678" y="5214950"/>
            <a:ext cx="3143272" cy="400110"/>
          </a:xfrm>
          <a:prstGeom prst="rect">
            <a:avLst/>
          </a:prstGeom>
          <a:noFill/>
          <a:ln w="28575" algn="ctr">
            <a:noFill/>
            <a:miter lim="800000"/>
            <a:tailEnd type="none" w="lg" len="lg"/>
          </a:ln>
          <a:effectLst/>
        </p:spPr>
        <p:txBody>
          <a:bodyPr wrap="square">
            <a:spAutoFit/>
          </a:bodyPr>
          <a:lstStyle/>
          <a:p>
            <a:pPr algn="l">
              <a:lnSpc>
                <a:spcPct val="100000"/>
              </a:lnSpc>
              <a:spcBef>
                <a:spcPct val="50000"/>
              </a:spcBef>
            </a:pPr>
            <a:r>
              <a:rPr kumimoji="1" lang="zh-CN" altLang="en-US" sz="2000">
                <a:solidFill>
                  <a:srgbClr val="0000FF"/>
                </a:solidFill>
                <a:latin typeface="楷体" panose="02010609060101010101" pitchFamily="49" charset="-122"/>
                <a:ea typeface="楷体" panose="02010609060101010101" pitchFamily="49" charset="-122"/>
                <a:cs typeface="Consolas" panose="020B0609020204030204" pitchFamily="49" charset="0"/>
              </a:rPr>
              <a:t>分块查找的索引存储结构</a:t>
            </a:r>
            <a:endParaRPr kumimoji="1" lang="zh-CN" altLang="en-US" sz="200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cxnSp>
        <p:nvCxnSpPr>
          <p:cNvPr id="28" name="直接箭头连接符 27"/>
          <p:cNvCxnSpPr/>
          <p:nvPr/>
        </p:nvCxnSpPr>
        <p:spPr>
          <a:xfrm rot="10800000" flipV="1">
            <a:off x="428596" y="2071678"/>
            <a:ext cx="2500330" cy="13573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0" name="直接箭头连接符 29"/>
          <p:cNvCxnSpPr/>
          <p:nvPr/>
        </p:nvCxnSpPr>
        <p:spPr>
          <a:xfrm rot="5400000">
            <a:off x="2214546" y="2071678"/>
            <a:ext cx="1357322" cy="13573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p:nvPr/>
        </p:nvCxnSpPr>
        <p:spPr>
          <a:xfrm rot="5400000">
            <a:off x="3357554" y="2643182"/>
            <a:ext cx="1357322" cy="2143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4" name="直接箭头连接符 33"/>
          <p:cNvCxnSpPr/>
          <p:nvPr/>
        </p:nvCxnSpPr>
        <p:spPr>
          <a:xfrm rot="16200000" flipH="1">
            <a:off x="4500562" y="2285992"/>
            <a:ext cx="1357322" cy="9286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p:nvPr/>
        </p:nvCxnSpPr>
        <p:spPr>
          <a:xfrm>
            <a:off x="5357818" y="2071678"/>
            <a:ext cx="1928826" cy="135732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1" name="灯片编号占位符 2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94"/>
          <p:cNvSpPr txBox="1">
            <a:spLocks noChangeArrowheads="1"/>
          </p:cNvSpPr>
          <p:nvPr/>
        </p:nvSpPr>
        <p:spPr bwMode="auto">
          <a:xfrm>
            <a:off x="785786" y="1500174"/>
            <a:ext cx="7429552" cy="10254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72000" rIns="0" bIns="108000">
            <a:spAutoFit/>
          </a:bodyPr>
          <a:lstStyle/>
          <a:p>
            <a:pPr marL="457200" indent="-457200" algn="l">
              <a:lnSpc>
                <a:spcPts val="28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查找索</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表（有序）：可以顺序查找块，也可以</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二分查找块。</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2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查找数据块（无序）：只能</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顺序查找块中元素。</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85786" y="791158"/>
            <a:ext cx="1928826" cy="400110"/>
          </a:xfrm>
          <a:prstGeom prst="rect">
            <a:avLst/>
          </a:prstGeom>
          <a:noFill/>
        </p:spPr>
        <p:txBody>
          <a:bodyPr wrap="square" rtlCol="0">
            <a:spAutoFit/>
          </a:bodyPr>
          <a:lstStyle/>
          <a:p>
            <a:pPr algn="l">
              <a:lnSpc>
                <a:spcPct val="100000"/>
              </a:lnSpc>
            </a:pP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分块查找过程：</a:t>
            </a:r>
            <a:endParaRPr lang="zh-CN" altLang="en-US" sz="200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758" name="Group 366"/>
          <p:cNvGraphicFramePr>
            <a:graphicFrameLocks noGrp="1"/>
          </p:cNvGraphicFramePr>
          <p:nvPr/>
        </p:nvGraphicFramePr>
        <p:xfrm>
          <a:off x="179388" y="3422650"/>
          <a:ext cx="8785225" cy="1402080"/>
        </p:xfrm>
        <a:graphic>
          <a:graphicData uri="http://schemas.openxmlformats.org/drawingml/2006/table">
            <a:tbl>
              <a:tblPr/>
              <a:tblGrid>
                <a:gridCol w="352425"/>
                <a:gridCol w="349250"/>
                <a:gridCol w="323850"/>
                <a:gridCol w="379412"/>
                <a:gridCol w="352425"/>
                <a:gridCol w="352425"/>
                <a:gridCol w="349250"/>
                <a:gridCol w="352425"/>
                <a:gridCol w="350838"/>
                <a:gridCol w="350837"/>
                <a:gridCol w="352425"/>
                <a:gridCol w="350838"/>
                <a:gridCol w="352425"/>
                <a:gridCol w="350837"/>
                <a:gridCol w="352425"/>
                <a:gridCol w="350838"/>
                <a:gridCol w="350837"/>
                <a:gridCol w="352425"/>
                <a:gridCol w="349250"/>
                <a:gridCol w="352425"/>
                <a:gridCol w="352425"/>
                <a:gridCol w="350838"/>
                <a:gridCol w="352425"/>
                <a:gridCol w="349250"/>
                <a:gridCol w="352425"/>
              </a:tblGrid>
              <a:tr h="2603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22</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19</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31</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B3FD"/>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40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38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54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46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71</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78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68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80</a:t>
                      </a:r>
                      <a:endPar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85</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100</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94</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88</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96</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87</a:t>
                      </a:r>
                      <a:endParaRPr kumimoji="0" lang="en-US" altLang="zh-CN" sz="1600" b="1" i="0"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6</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7</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8</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9</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15</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16</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17</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18</a:t>
                      </a:r>
                      <a:endParaRPr kumimoji="0" lang="en-US" altLang="zh-CN" sz="1600" b="1"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19</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20</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21</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22</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23</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rPr>
                        <a:t>24</a:t>
                      </a:r>
                      <a:endParaRPr kumimoji="0" lang="en-US" altLang="zh-CN" sz="1600" b="1" i="0" u="none" strike="noStrike" cap="none" normalizeH="0" baseline="0" smtClean="0">
                        <a:ln>
                          <a:noFill/>
                        </a:ln>
                        <a:solidFill>
                          <a:srgbClr val="00B0F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87785" name="Group 393"/>
          <p:cNvGraphicFramePr>
            <a:graphicFrameLocks noGrp="1"/>
          </p:cNvGraphicFramePr>
          <p:nvPr/>
        </p:nvGraphicFramePr>
        <p:xfrm>
          <a:off x="2700338" y="1322388"/>
          <a:ext cx="2903537" cy="775018"/>
        </p:xfrm>
        <a:graphic>
          <a:graphicData uri="http://schemas.openxmlformats.org/drawingml/2006/table">
            <a:tbl>
              <a:tblPr/>
              <a:tblGrid>
                <a:gridCol w="581025"/>
                <a:gridCol w="579437"/>
                <a:gridCol w="519113"/>
                <a:gridCol w="642937"/>
                <a:gridCol w="581025"/>
              </a:tblGrid>
              <a:tr h="4397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14</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34</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66</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85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100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3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15</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rPr>
                        <a:t>20</a:t>
                      </a:r>
                      <a:endParaRPr kumimoji="0" lang="en-US" altLang="zh-CN" sz="1600" b="0" i="0" u="none" strike="noStrike" cap="none" normalizeH="0" baseline="0" smtClean="0">
                        <a:ln>
                          <a:noFill/>
                        </a:ln>
                        <a:solidFill>
                          <a:srgbClr val="FF0000"/>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7786" name="Text Box 394"/>
          <p:cNvSpPr txBox="1">
            <a:spLocks noChangeArrowheads="1"/>
          </p:cNvSpPr>
          <p:nvPr/>
        </p:nvSpPr>
        <p:spPr bwMode="auto">
          <a:xfrm>
            <a:off x="3635375" y="830263"/>
            <a:ext cx="936625" cy="246221"/>
          </a:xfrm>
          <a:prstGeom prst="rect">
            <a:avLst/>
          </a:prstGeom>
          <a:noFill/>
          <a:ln w="9525">
            <a:noFill/>
            <a:miter lim="800000"/>
          </a:ln>
          <a:effectLst/>
        </p:spPr>
        <p:txBody>
          <a:bodyPr lIns="0" tIns="0" rIns="0" bIns="0">
            <a:spAutoFit/>
          </a:bodyPr>
          <a:lstStyle/>
          <a:p>
            <a:pPr algn="l">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索引表</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87" name="Text Box 395"/>
          <p:cNvSpPr txBox="1">
            <a:spLocks noChangeArrowheads="1"/>
          </p:cNvSpPr>
          <p:nvPr/>
        </p:nvSpPr>
        <p:spPr bwMode="auto">
          <a:xfrm>
            <a:off x="5724525" y="1335088"/>
            <a:ext cx="633425" cy="246221"/>
          </a:xfrm>
          <a:prstGeom prst="rect">
            <a:avLst/>
          </a:prstGeom>
          <a:noFill/>
          <a:ln w="9525">
            <a:noFill/>
            <a:miter lim="800000"/>
          </a:ln>
          <a:effectLst/>
        </p:spPr>
        <p:txBody>
          <a:bodyPr wrap="square" lIns="0" tIns="0" rIns="0" bIns="0">
            <a:spAutoFit/>
          </a:bodyPr>
          <a:lstStyle/>
          <a:p>
            <a:pPr algn="l">
              <a:lnSpc>
                <a:spcPct val="100000"/>
              </a:lnSpc>
              <a:spcBef>
                <a:spcPct val="50000"/>
              </a:spcBef>
            </a:pP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key</a:t>
            </a:r>
            <a:endPar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88" name="Text Box 396"/>
          <p:cNvSpPr txBox="1">
            <a:spLocks noChangeArrowheads="1"/>
          </p:cNvSpPr>
          <p:nvPr/>
        </p:nvSpPr>
        <p:spPr bwMode="auto">
          <a:xfrm>
            <a:off x="5724525" y="1766888"/>
            <a:ext cx="633425" cy="246221"/>
          </a:xfrm>
          <a:prstGeom prst="rect">
            <a:avLst/>
          </a:prstGeom>
          <a:noFill/>
          <a:ln w="9525">
            <a:noFill/>
            <a:miter lim="800000"/>
          </a:ln>
          <a:effectLst/>
        </p:spPr>
        <p:txBody>
          <a:bodyPr wrap="square" lIns="0" tIns="0" rIns="0" bIns="0">
            <a:spAutoFit/>
          </a:bodyPr>
          <a:lstStyle/>
          <a:p>
            <a:pPr algn="l">
              <a:lnSpc>
                <a:spcPct val="100000"/>
              </a:lnSpc>
              <a:spcBef>
                <a:spcPct val="50000"/>
              </a:spcBef>
            </a:pP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link</a:t>
            </a:r>
            <a:endPar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94" name="Text Box 402"/>
          <p:cNvSpPr txBox="1">
            <a:spLocks noChangeArrowheads="1"/>
          </p:cNvSpPr>
          <p:nvPr/>
        </p:nvSpPr>
        <p:spPr bwMode="auto">
          <a:xfrm>
            <a:off x="928662" y="4572008"/>
            <a:ext cx="936625" cy="307777"/>
          </a:xfrm>
          <a:prstGeom prst="rect">
            <a:avLst/>
          </a:prstGeom>
          <a:noFill/>
          <a:ln w="9525">
            <a:noFill/>
            <a:miter lim="800000"/>
          </a:ln>
          <a:effectLst/>
        </p:spPr>
        <p:txBody>
          <a:bodyPr lIns="0" tIns="0" rIns="0" bIns="0">
            <a:spAutoFit/>
          </a:bodyPr>
          <a:lstStyle/>
          <a:p>
            <a:pPr algn="l">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数据表</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96" name="Text Box 404"/>
          <p:cNvSpPr txBox="1">
            <a:spLocks noChangeArrowheads="1"/>
          </p:cNvSpPr>
          <p:nvPr/>
        </p:nvSpPr>
        <p:spPr bwMode="auto">
          <a:xfrm>
            <a:off x="571472" y="5357826"/>
            <a:ext cx="5214974" cy="910607"/>
          </a:xfrm>
          <a:prstGeom prst="rect">
            <a:avLst/>
          </a:prstGeom>
          <a:ln>
            <a:noFill/>
            <a:tailEnd type="none" w="lg"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a:spAutoFit/>
          </a:bodyPr>
          <a:lstStyle/>
          <a:p>
            <a:pPr algn="l">
              <a:lnSpc>
                <a:spcPct val="100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）顺序查找索引表，比较</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）在对应块中查找，比较</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次，共比较</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7797" name="Oval 405"/>
          <p:cNvSpPr>
            <a:spLocks noChangeArrowheads="1"/>
          </p:cNvSpPr>
          <p:nvPr/>
        </p:nvSpPr>
        <p:spPr bwMode="auto">
          <a:xfrm>
            <a:off x="2867570" y="1309727"/>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799" name="Oval 407"/>
          <p:cNvSpPr>
            <a:spLocks noChangeArrowheads="1"/>
          </p:cNvSpPr>
          <p:nvPr/>
        </p:nvSpPr>
        <p:spPr bwMode="auto">
          <a:xfrm>
            <a:off x="3431132" y="1309727"/>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0" name="Oval 408"/>
          <p:cNvSpPr>
            <a:spLocks noChangeArrowheads="1"/>
          </p:cNvSpPr>
          <p:nvPr/>
        </p:nvSpPr>
        <p:spPr bwMode="auto">
          <a:xfrm>
            <a:off x="3994695" y="1309727"/>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1" name="Oval 409"/>
          <p:cNvSpPr>
            <a:spLocks noChangeArrowheads="1"/>
          </p:cNvSpPr>
          <p:nvPr/>
        </p:nvSpPr>
        <p:spPr bwMode="auto">
          <a:xfrm>
            <a:off x="4569370" y="1309727"/>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2" name="Oval 410"/>
          <p:cNvSpPr>
            <a:spLocks noChangeArrowheads="1"/>
          </p:cNvSpPr>
          <p:nvPr/>
        </p:nvSpPr>
        <p:spPr bwMode="auto">
          <a:xfrm>
            <a:off x="5485899" y="3521656"/>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3" name="Oval 411"/>
          <p:cNvSpPr>
            <a:spLocks noChangeArrowheads="1"/>
          </p:cNvSpPr>
          <p:nvPr/>
        </p:nvSpPr>
        <p:spPr bwMode="auto">
          <a:xfrm>
            <a:off x="5825624" y="3521656"/>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4" name="Oval 412"/>
          <p:cNvSpPr>
            <a:spLocks noChangeArrowheads="1"/>
          </p:cNvSpPr>
          <p:nvPr/>
        </p:nvSpPr>
        <p:spPr bwMode="auto">
          <a:xfrm>
            <a:off x="6193924" y="3521656"/>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5" name="Oval 413"/>
          <p:cNvSpPr>
            <a:spLocks noChangeArrowheads="1"/>
          </p:cNvSpPr>
          <p:nvPr/>
        </p:nvSpPr>
        <p:spPr bwMode="auto">
          <a:xfrm>
            <a:off x="6532061" y="3521656"/>
            <a:ext cx="259765" cy="406825"/>
          </a:xfrm>
          <a:prstGeom prst="ellipse">
            <a:avLst/>
          </a:prstGeom>
          <a:solidFill>
            <a:schemeClr val="accent1">
              <a:alpha val="0"/>
            </a:schemeClr>
          </a:solidFill>
          <a:ln w="19050" algn="ctr">
            <a:solidFill>
              <a:srgbClr val="00B0F0"/>
            </a:solidFill>
            <a:round/>
            <a:tailEnd type="none" w="lg" len="lg"/>
          </a:ln>
          <a:effectLst/>
        </p:spPr>
        <p:txBody>
          <a:bodyPr wrap="none" anchor="ctr">
            <a:spAutoFit/>
          </a:bodyPr>
          <a:lstStyle/>
          <a:p>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sp>
        <p:nvSpPr>
          <p:cNvPr id="187806" name="Text Box 414"/>
          <p:cNvSpPr txBox="1">
            <a:spLocks noChangeArrowheads="1"/>
          </p:cNvSpPr>
          <p:nvPr/>
        </p:nvSpPr>
        <p:spPr bwMode="auto">
          <a:xfrm>
            <a:off x="357158" y="285728"/>
            <a:ext cx="3286148" cy="400110"/>
          </a:xfrm>
          <a:prstGeom prst="rect">
            <a:avLst/>
          </a:prstGeom>
          <a:noFill/>
          <a:ln w="28575" algn="ctr">
            <a:noFill/>
            <a:miter lim="800000"/>
            <a:tailEnd type="none" w="lg" len="lg"/>
          </a:ln>
          <a:effectLst/>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查找关键</a:t>
            </a:r>
            <a:r>
              <a:rPr lang="zh-CN" altLang="en-US" sz="2000">
                <a:solidFill>
                  <a:srgbClr val="FF0000"/>
                </a:solidFill>
                <a:latin typeface="Consolas" panose="020B0609020204030204" pitchFamily="49" charset="0"/>
                <a:ea typeface="微软雅黑" panose="020B0503020204020204" pitchFamily="34" charset="-122"/>
                <a:cs typeface="Consolas" panose="020B0609020204030204" pitchFamily="49" charset="0"/>
              </a:rPr>
              <a:t>字</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为</a:t>
            </a:r>
            <a:r>
              <a:rPr lang="en-US" altLang="zh-CN" sz="2000" i="1"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k</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=80</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的元素</a:t>
            </a:r>
            <a:endParaRPr lang="zh-CN" altLang="en-US" sz="2000" dirty="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cxnSp>
        <p:nvCxnSpPr>
          <p:cNvPr id="21" name="直接箭头连接符 20"/>
          <p:cNvCxnSpPr/>
          <p:nvPr/>
        </p:nvCxnSpPr>
        <p:spPr>
          <a:xfrm rot="16200000" flipH="1">
            <a:off x="4536281" y="2321711"/>
            <a:ext cx="1357322" cy="85725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5643570" y="4929198"/>
            <a:ext cx="271464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成功找到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80</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的元素</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7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7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78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78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strips(downLeft)">
                                      <p:cBhvr>
                                        <p:cTn id="23" dur="10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780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8780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8780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780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87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96" grpId="0" animBg="1"/>
      <p:bldP spid="187797" grpId="0" animBg="1"/>
      <p:bldP spid="187799" grpId="0" animBg="1"/>
      <p:bldP spid="187800" grpId="0" animBg="1"/>
      <p:bldP spid="187801" grpId="0" animBg="1"/>
      <p:bldP spid="187802" grpId="0" animBg="1"/>
      <p:bldP spid="187803" grpId="0" animBg="1"/>
      <p:bldP spid="187804" grpId="0" animBg="1"/>
      <p:bldP spid="187805" grpId="0" animBg="1"/>
      <p:bldP spid="2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2143108" y="642918"/>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9.3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树表的查找</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1" name="TextBox 40"/>
          <p:cNvSpPr txBox="1"/>
          <p:nvPr/>
        </p:nvSpPr>
        <p:spPr>
          <a:xfrm>
            <a:off x="642910" y="1857364"/>
            <a:ext cx="7858180" cy="196217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几种特殊树形结构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统称为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树表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这里的树表采用链式存储结构，由于链式存储结构既适合查找，也适合数据修改，属于</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动态查找表</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对于动态查找表，不仅要讨论查找方法，还讨论修改方法。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285720" y="500042"/>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9.3.1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二叉排序树</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428736"/>
            <a:ext cx="328614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二叉排序树的定义</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1000100" y="3357562"/>
            <a:ext cx="7572428" cy="18082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若它的左子树非空，则左子树上所有结点值（默认为结点关键字）均</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小于</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根结点值。</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若它的右子树非空，则右子树上所有结点值均</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大于</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根结点值。</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左、右子树本身又各是一棵二叉排序树。</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642910" y="2357430"/>
            <a:ext cx="7500990"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二叉排序树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（简称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）又称二叉查找（搜索）树，其定义为：二叉排序树或者是空树，或者是满足如下性质的二叉树：</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714348" y="642918"/>
            <a:ext cx="2786082" cy="400110"/>
          </a:xfrm>
          <a:prstGeom prst="rect">
            <a:avLst/>
          </a:prstGeom>
          <a:noFill/>
          <a:ln w="9525">
            <a:noFill/>
            <a:miter lim="800000"/>
          </a:ln>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一棵二叉</a:t>
            </a:r>
            <a:r>
              <a:rPr lang="zh-CN" altLang="en-US" sz="2000">
                <a:solidFill>
                  <a:srgbClr val="FF0000"/>
                </a:solidFill>
                <a:latin typeface="Consolas" panose="020B0609020204030204" pitchFamily="49" charset="0"/>
                <a:ea typeface="微软雅黑" panose="020B0503020204020204" pitchFamily="34" charset="-122"/>
                <a:cs typeface="Consolas" panose="020B0609020204030204" pitchFamily="49" charset="0"/>
              </a:rPr>
              <a:t>排序</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树示例： </a:t>
            </a:r>
            <a:endParaRPr lang="zh-CN" altLang="en-US" sz="2000" dirty="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7"/>
          <p:cNvGrpSpPr/>
          <p:nvPr/>
        </p:nvGrpSpPr>
        <p:grpSpPr>
          <a:xfrm>
            <a:off x="2786050" y="1176050"/>
            <a:ext cx="2786082" cy="2395826"/>
            <a:chOff x="3214678" y="2857496"/>
            <a:chExt cx="3143272" cy="2824454"/>
          </a:xfrm>
        </p:grpSpPr>
        <p:sp>
          <p:nvSpPr>
            <p:cNvPr id="9" name="椭圆 8"/>
            <p:cNvSpPr/>
            <p:nvPr/>
          </p:nvSpPr>
          <p:spPr>
            <a:xfrm>
              <a:off x="4357686" y="2857496"/>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椭圆 9"/>
            <p:cNvSpPr/>
            <p:nvPr/>
          </p:nvSpPr>
          <p:spPr>
            <a:xfrm>
              <a:off x="3643306" y="364331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椭圆 10"/>
            <p:cNvSpPr/>
            <p:nvPr/>
          </p:nvSpPr>
          <p:spPr>
            <a:xfrm>
              <a:off x="3214678" y="4396066"/>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l">
                <a:lnSpc>
                  <a:spcPts val="1920"/>
                </a:lnSpc>
                <a:spcBef>
                  <a:spcPts val="0"/>
                </a:spcBef>
              </a:pP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椭圆 11"/>
            <p:cNvSpPr/>
            <p:nvPr/>
          </p:nvSpPr>
          <p:spPr>
            <a:xfrm>
              <a:off x="4000496" y="4396066"/>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椭圆 12"/>
            <p:cNvSpPr/>
            <p:nvPr/>
          </p:nvSpPr>
          <p:spPr>
            <a:xfrm>
              <a:off x="5000628" y="3643314"/>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椭圆 13"/>
            <p:cNvSpPr/>
            <p:nvPr/>
          </p:nvSpPr>
          <p:spPr>
            <a:xfrm>
              <a:off x="5605198" y="4396066"/>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椭圆 14"/>
            <p:cNvSpPr/>
            <p:nvPr/>
          </p:nvSpPr>
          <p:spPr>
            <a:xfrm>
              <a:off x="5248008" y="5253322"/>
              <a:ext cx="428628"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lnSpc>
                  <a:spcPts val="1920"/>
                </a:lnSpc>
                <a:spcBef>
                  <a:spcPts val="0"/>
                </a:spcBef>
              </a:pPr>
              <a:r>
                <a:rPr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椭圆 15"/>
            <p:cNvSpPr/>
            <p:nvPr/>
          </p:nvSpPr>
          <p:spPr>
            <a:xfrm>
              <a:off x="5929322" y="5253322"/>
              <a:ext cx="428628"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lnSpc>
                  <a:spcPts val="1920"/>
                </a:lnSpc>
                <a:spcBef>
                  <a:spcPts val="0"/>
                </a:spcBef>
              </a:pPr>
              <a:r>
                <a:rPr lang="en-US" altLang="zh-CN" sz="1600" b="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7" name="直接连接符 16"/>
            <p:cNvCxnSpPr>
              <a:stCxn id="9" idx="3"/>
              <a:endCxn id="10" idx="7"/>
            </p:cNvCxnSpPr>
            <p:nvPr/>
          </p:nvCxnSpPr>
          <p:spPr>
            <a:xfrm rot="5400000">
              <a:off x="3973444" y="3259072"/>
              <a:ext cx="482732" cy="41129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3"/>
              <a:endCxn id="11" idx="0"/>
            </p:cNvCxnSpPr>
            <p:nvPr/>
          </p:nvCxnSpPr>
          <p:spPr>
            <a:xfrm rot="5400000">
              <a:off x="3374088" y="4064076"/>
              <a:ext cx="386895" cy="27708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0" idx="5"/>
              <a:endCxn id="12" idx="0"/>
            </p:cNvCxnSpPr>
            <p:nvPr/>
          </p:nvCxnSpPr>
          <p:spPr>
            <a:xfrm rot="16200000" flipH="1">
              <a:off x="3918539" y="4099794"/>
              <a:ext cx="386895" cy="20564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9" idx="5"/>
              <a:endCxn id="13" idx="1"/>
            </p:cNvCxnSpPr>
            <p:nvPr/>
          </p:nvCxnSpPr>
          <p:spPr>
            <a:xfrm rot="16200000" flipH="1">
              <a:off x="4652105" y="3294791"/>
              <a:ext cx="482732" cy="339856"/>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3" idx="5"/>
              <a:endCxn id="14" idx="1"/>
            </p:cNvCxnSpPr>
            <p:nvPr/>
          </p:nvCxnSpPr>
          <p:spPr>
            <a:xfrm rot="16200000" flipH="1">
              <a:off x="5292394" y="4083262"/>
              <a:ext cx="449666" cy="30148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4" idx="3"/>
              <a:endCxn id="15" idx="0"/>
            </p:cNvCxnSpPr>
            <p:nvPr/>
          </p:nvCxnSpPr>
          <p:spPr>
            <a:xfrm rot="5400000">
              <a:off x="5319447" y="4904799"/>
              <a:ext cx="491399" cy="20564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4" idx="5"/>
              <a:endCxn id="16" idx="0"/>
            </p:cNvCxnSpPr>
            <p:nvPr/>
          </p:nvCxnSpPr>
          <p:spPr>
            <a:xfrm rot="16200000" flipH="1">
              <a:off x="5811646" y="4921331"/>
              <a:ext cx="491399" cy="17258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24" name="TextBox 23"/>
          <p:cNvSpPr txBox="1"/>
          <p:nvPr/>
        </p:nvSpPr>
        <p:spPr>
          <a:xfrm>
            <a:off x="500034" y="1928802"/>
            <a:ext cx="2000264" cy="1015663"/>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根结点最左下结点，即为关键字最小的结点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5786446" y="2464841"/>
            <a:ext cx="2857520" cy="707886"/>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根结点最右下结点，即为关键字最大的结点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1785918" y="3929066"/>
            <a:ext cx="5357850" cy="1323439"/>
          </a:xfrm>
          <a:prstGeom prst="rect">
            <a:avLst/>
          </a:prstGeom>
          <a:noFill/>
        </p:spPr>
        <p:txBody>
          <a:bodyPr wrap="square" rtlCol="0">
            <a:spAutoFit/>
          </a:bodyPr>
          <a:lstStyle/>
          <a:p>
            <a:pPr algn="l">
              <a:lnSpc>
                <a:spcPct val="100000"/>
              </a:lnSpc>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特点：</a:t>
            </a:r>
            <a:endParaRPr lang="en-US"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a:p>
            <a:pPr lvl="1"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中序序列：</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lvl="1" algn="l">
              <a:lnSpc>
                <a:spcPct val="100000"/>
              </a:lnSpc>
            </a:pPr>
            <a:r>
              <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rPr>
              <a:t>中序序列是一个递增有序序列！</a:t>
            </a:r>
            <a:endParaRPr lang="zh-CN" altLang="en-US" sz="2000">
              <a:solidFill>
                <a:srgbClr val="FF00FF"/>
              </a:solidFill>
              <a:latin typeface="微软雅黑" panose="020B0503020204020204" pitchFamily="34" charset="-122"/>
              <a:ea typeface="微软雅黑" panose="020B0503020204020204" pitchFamily="34" charset="-122"/>
              <a:cs typeface="Consolas" panose="020B0609020204030204" pitchFamily="49" charset="0"/>
            </a:endParaRPr>
          </a:p>
        </p:txBody>
      </p:sp>
      <p:cxnSp>
        <p:nvCxnSpPr>
          <p:cNvPr id="27" name="直接箭头连接符 26"/>
          <p:cNvCxnSpPr/>
          <p:nvPr/>
        </p:nvCxnSpPr>
        <p:spPr>
          <a:xfrm rot="5400000">
            <a:off x="5552946" y="2918415"/>
            <a:ext cx="315457" cy="277085"/>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cxnSp>
        <p:nvCxnSpPr>
          <p:cNvPr id="28" name="直接箭头连接符 27"/>
          <p:cNvCxnSpPr/>
          <p:nvPr/>
        </p:nvCxnSpPr>
        <p:spPr>
          <a:xfrm>
            <a:off x="2500298" y="2268995"/>
            <a:ext cx="285752" cy="231311"/>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35" name="灯片编号占位符 3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71480"/>
            <a:ext cx="414340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定义二叉排序树的结点类型如下：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642910" y="1198066"/>
            <a:ext cx="7858180" cy="352759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T1,typename T2&gt;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BSTNode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二叉排序树结点类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T1 key;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存放关键字</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假设关键字为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T1</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   T2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存放数据项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假设数据项为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T2</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BSTNode* lchild;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存放左孩子指针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   BSTNode* rchild;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存放右孩子指针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BSTNode(T1 k,T2 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key=k;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lchild=rchild=NULL;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新建结点默认为叶子结点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1"/>
          <p:cNvGrpSpPr/>
          <p:nvPr/>
        </p:nvGrpSpPr>
        <p:grpSpPr>
          <a:xfrm>
            <a:off x="500034" y="5105411"/>
            <a:ext cx="6429420" cy="714380"/>
            <a:chOff x="142844" y="5105411"/>
            <a:chExt cx="6429420" cy="714380"/>
          </a:xfrm>
        </p:grpSpPr>
        <p:sp>
          <p:nvSpPr>
            <p:cNvPr id="8" name="TextBox 7"/>
            <p:cNvSpPr txBox="1"/>
            <p:nvPr/>
          </p:nvSpPr>
          <p:spPr>
            <a:xfrm>
              <a:off x="142844" y="5214950"/>
              <a:ext cx="435771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二叉排序树的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椭圆 9"/>
            <p:cNvSpPr/>
            <p:nvPr/>
          </p:nvSpPr>
          <p:spPr bwMode="auto">
            <a:xfrm>
              <a:off x="5286380" y="5105411"/>
              <a:ext cx="1285884" cy="714380"/>
            </a:xfrm>
            <a:prstGeom prst="ellipse">
              <a:avLst/>
            </a:prstGeom>
            <a:ln>
              <a:tailEnd type="arrow" w="sm" len="sm"/>
            </a:ln>
          </p:spPr>
          <p:style>
            <a:lnRef idx="1">
              <a:schemeClr val="accent5"/>
            </a:lnRef>
            <a:fillRef idx="2">
              <a:schemeClr val="accent5"/>
            </a:fillRef>
            <a:effectRef idx="1">
              <a:schemeClr val="accent5"/>
            </a:effectRef>
            <a:fontRef idx="minor">
              <a:schemeClr val="dk1"/>
            </a:fontRef>
          </p:style>
          <p:txBody>
            <a:bodyPr vert="horz" wrap="square" lIns="0" tIns="126000" rIns="0" bIns="45720" numCol="1" rtlCol="0" anchor="t" anchorCtr="0" compatLnSpc="1"/>
            <a:lstStyle/>
            <a:p>
              <a:pPr algn="ctr"/>
              <a:r>
                <a:rPr lang="en-US" altLang="zh-CN" sz="1600" b="0" smtClean="0">
                  <a:solidFill>
                    <a:srgbClr val="0000FF"/>
                  </a:solidFill>
                  <a:latin typeface="Consolas" panose="020B0609020204030204" pitchFamily="49" charset="0"/>
                  <a:cs typeface="Consolas" panose="020B0609020204030204" pitchFamily="49" charset="0"/>
                </a:rPr>
                <a:t>key,data</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右箭头 10"/>
            <p:cNvSpPr/>
            <p:nvPr/>
          </p:nvSpPr>
          <p:spPr bwMode="auto">
            <a:xfrm>
              <a:off x="4643438" y="5286388"/>
              <a:ext cx="428628" cy="214314"/>
            </a:xfrm>
            <a:prstGeom prst="right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428604"/>
            <a:ext cx="535785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设计二叉排序树类模板</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BSTClass&lt;T1,T2&gt;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57158" y="972225"/>
            <a:ext cx="8572560" cy="50800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T1,typename T2&gt;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BSTClass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二叉排序树类模板</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BSTNode&lt;T1,T2&gt;* 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二叉排序树根结点</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BSTNode&lt;T1,T2&gt;* 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用于临时存放待删除结点的双亲</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BSTClass()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r=NULL; f=NULL;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~BSTClass()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析构函数</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DestroyBTree(r);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调用</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DestroyBTree()</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函数</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void DestroyBTree(BSTNode&lt;T1,T2&gt;* b)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释放所有的结点空间</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mn-ea"/>
                <a:cs typeface="Consolas" panose="020B0609020204030204" pitchFamily="49" charset="0"/>
              </a:rPr>
              <a:t>…</a:t>
            </a:r>
            <a:endParaRPr lang="en-US" altLang="zh-CN" sz="1800" smtClean="0">
              <a:solidFill>
                <a:srgbClr val="0000FF"/>
              </a:solidFill>
              <a:latin typeface="+mn-ea"/>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二叉排序树的基本运算算法</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414340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二叉排序树的插入和生成</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85786" y="1428736"/>
            <a:ext cx="757242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在根结点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的二叉排序树中插入关键字为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的结点的过程如下：</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785786" y="2000240"/>
            <a:ext cx="7572428" cy="22159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为空，创建一个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的结点，返回将它作为根结点。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&lt;p-&gt;key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结点的左子树中并且修改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的左</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&gt;p-&gt;key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结点的右子树中并且修改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的右</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其他情况是</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=p-&gt;key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，说明树中已有关键字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修改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值并</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返回</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42918"/>
            <a:ext cx="8501122" cy="574102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(T1 k,T2 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插入一个</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(k,d)</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(r,k,d);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BSTNode&lt;T1,T2&gt;*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(BSTNode&lt;T1,T2&gt;* p,T1 k,T2 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在以</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为根的</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BST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中插入关键字为</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的结点</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(p==NULL)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原树为空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p=new BSTNode&lt;T1,T2&gt;(k,d);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if (k&lt;p-&gt;key)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p-&gt;lchild=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(p-&gt;lchild,k,d);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的左子树中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if (k&gt;p-&gt;key)</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p-&gt;rchild=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(p-&gt;rchild,k,d);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的右子树中</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相同</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关键字</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data</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p-&gt;data=d;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71480"/>
            <a:ext cx="8215370" cy="1141210"/>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创建二叉排序树</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是从一个空树开始，先创建根结点，以后每插入一个关键字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，就调用一次</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InsertBST(k,d)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(k,d</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插入到当前的二叉排序树中。</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714348" y="1928802"/>
            <a:ext cx="7858180" cy="226737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CreateBST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(vector&lt;T1&gt;&amp; a,vector&lt;T2&gt;&amp; b)</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由</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向量创建一棵二叉排序树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r=new BSTNode&lt;T1,T2&gt;(a[0],b[0]);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创建根结点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i=1;i&lt;a.size();i++)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创建其他结点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InsertBST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(a[i],b[i]);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(a[i],b[i])</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85728"/>
            <a:ext cx="300039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二叉排序树的查找</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85720" y="1500174"/>
            <a:ext cx="8643998" cy="477922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BSTNode&lt;T1,T2&gt;*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SearchBST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(T1 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在二叉排序树中查找关键字为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_SearchBST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为二叉排序树的根结点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BSTNode&lt;T1,T2&gt;*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_SearchBST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(BSTNode&lt;T1,T2&gt;* p,T1 k)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SearchBST</a:t>
            </a:r>
            <a:r>
              <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方法调用</a:t>
            </a:r>
            <a:endParaRPr lang="zh-CN" altLang="zh-CN" sz="1800" smtClean="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(p==NULL) return 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(p-&gt;key==k) return 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找到后返回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(k&lt;p-&gt;key)</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_SearchBST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(p-&gt;lchild,k);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在左子树中递归查找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_SearchBST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(p-&gt;rchild,k);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在右子树中递归查找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57158" y="1000108"/>
            <a:ext cx="185738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查找算法：</a:t>
            </a:r>
            <a:endPar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1500174"/>
            <a:ext cx="7572428" cy="352401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与折半查找的判定树类似</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在二叉排序树中每个空指针处添加一个</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外部结点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在二叉排序树中查找时，若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查找成功</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，则是从根结点出发走了一条从根结点到查找到结点的路径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查找不成功</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，则是从根结点出发走了一条从根到某个外部结点的路径。</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因此与折半查找类似，查找中</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关键字比较的次数不超过树的高度</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785786" y="785794"/>
            <a:ext cx="185738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rPr>
              <a:t>查找说明：</a:t>
            </a:r>
            <a:endParaRPr lang="zh-CN" altLang="en-US" sz="2000" smtClean="0">
              <a:solidFill>
                <a:srgbClr val="0000FF"/>
              </a:solidFill>
              <a:latin typeface="楷体" panose="02010609060101010101" pitchFamily="49" charset="-122"/>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785794"/>
            <a:ext cx="8034364" cy="2260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lnSpc>
                <a:spcPts val="3000"/>
              </a:lnSpc>
              <a:spcBef>
                <a:spcPts val="60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9.7】 </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已知一组关键字为</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60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25,18,46,2,53,39,32,4,74,67,60,11</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3000"/>
              </a:lnSpc>
              <a:spcBef>
                <a:spcPts val="60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按表中的元素顺序依次插入到一棵初始为空的二叉排序树中，画出该二叉排序树，并求在等概率的情况下</a:t>
            </a:r>
            <a:r>
              <a:rPr lang="zh-CN" altLang="en-US" sz="2000" dirty="0">
                <a:solidFill>
                  <a:srgbClr val="FF00FF"/>
                </a:solidFill>
                <a:latin typeface="Consolas" panose="020B0609020204030204" pitchFamily="49" charset="0"/>
                <a:ea typeface="楷体" panose="02010609060101010101" pitchFamily="49" charset="-122"/>
                <a:cs typeface="Consolas" panose="020B0609020204030204" pitchFamily="49" charset="0"/>
              </a:rPr>
              <a:t>查找成功的平均查找长度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和</a:t>
            </a:r>
            <a:r>
              <a:rPr lang="zh-CN" altLang="en-US" sz="2000" dirty="0">
                <a:solidFill>
                  <a:srgbClr val="FF00FF"/>
                </a:solidFill>
                <a:latin typeface="Consolas" panose="020B0609020204030204" pitchFamily="49" charset="0"/>
                <a:ea typeface="楷体" panose="02010609060101010101" pitchFamily="49" charset="-122"/>
                <a:cs typeface="Consolas" panose="020B0609020204030204" pitchFamily="49" charset="0"/>
              </a:rPr>
              <a:t>查找不成功的平均查找长度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142976" y="285728"/>
            <a:ext cx="3357586" cy="400110"/>
          </a:xfrm>
          <a:prstGeom prst="rect">
            <a:avLst/>
          </a:prstGeom>
          <a:noFill/>
          <a:ln w="9525">
            <a:noFill/>
            <a:miter lim="800000"/>
          </a:ln>
        </p:spPr>
        <p:txBody>
          <a:bodyPr wrap="square">
            <a:spAutoFit/>
          </a:bodyPr>
          <a:lstStyle/>
          <a:p>
            <a:pPr algn="l">
              <a:lnSpc>
                <a:spcPct val="100000"/>
              </a:lnSpc>
              <a:spcBef>
                <a:spcPct val="5000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生</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成的二叉排序</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 </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3214678" y="1785926"/>
            <a:ext cx="432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25</a:t>
            </a:r>
            <a:endParaRPr lang="zh-CN" altLang="en-US" sz="1800" b="0">
              <a:solidFill>
                <a:srgbClr val="0000FF"/>
              </a:solidFill>
              <a:latin typeface="Consolas" panose="020B0609020204030204" pitchFamily="49" charset="0"/>
              <a:cs typeface="Consolas" panose="020B0609020204030204" pitchFamily="49" charset="0"/>
            </a:endParaRPr>
          </a:p>
        </p:txBody>
      </p:sp>
      <p:grpSp>
        <p:nvGrpSpPr>
          <p:cNvPr id="2" name="组合 6"/>
          <p:cNvGrpSpPr/>
          <p:nvPr/>
        </p:nvGrpSpPr>
        <p:grpSpPr>
          <a:xfrm>
            <a:off x="1928794" y="1983925"/>
            <a:ext cx="1285885" cy="983819"/>
            <a:chOff x="2857488" y="1983925"/>
            <a:chExt cx="1285885" cy="983819"/>
          </a:xfrm>
        </p:grpSpPr>
        <p:sp>
          <p:nvSpPr>
            <p:cNvPr id="8" name="椭圆 7"/>
            <p:cNvSpPr/>
            <p:nvPr/>
          </p:nvSpPr>
          <p:spPr>
            <a:xfrm>
              <a:off x="2857488" y="2571744"/>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18</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9" name="直接连接符 8"/>
            <p:cNvCxnSpPr>
              <a:stCxn id="6" idx="2"/>
              <a:endCxn id="8" idx="7"/>
            </p:cNvCxnSpPr>
            <p:nvPr/>
          </p:nvCxnSpPr>
          <p:spPr>
            <a:xfrm rot="10800000" flipV="1">
              <a:off x="3195496" y="1983925"/>
              <a:ext cx="947877" cy="6458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3" name="组合 9"/>
          <p:cNvGrpSpPr/>
          <p:nvPr/>
        </p:nvGrpSpPr>
        <p:grpSpPr>
          <a:xfrm>
            <a:off x="1428728" y="2909751"/>
            <a:ext cx="558060" cy="915249"/>
            <a:chOff x="2357422" y="2909751"/>
            <a:chExt cx="558060" cy="915249"/>
          </a:xfrm>
        </p:grpSpPr>
        <p:sp>
          <p:nvSpPr>
            <p:cNvPr id="11" name="椭圆 10"/>
            <p:cNvSpPr/>
            <p:nvPr/>
          </p:nvSpPr>
          <p:spPr>
            <a:xfrm>
              <a:off x="2357422" y="3429000"/>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8" idx="3"/>
              <a:endCxn id="11" idx="0"/>
            </p:cNvCxnSpPr>
            <p:nvPr/>
          </p:nvCxnSpPr>
          <p:spPr>
            <a:xfrm rot="5400000">
              <a:off x="2475828" y="2989346"/>
              <a:ext cx="519249"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4" name="组合 12"/>
          <p:cNvGrpSpPr/>
          <p:nvPr/>
        </p:nvGrpSpPr>
        <p:grpSpPr>
          <a:xfrm>
            <a:off x="3646678" y="1983926"/>
            <a:ext cx="1249884" cy="983818"/>
            <a:chOff x="4575372" y="1983926"/>
            <a:chExt cx="1249884" cy="983818"/>
          </a:xfrm>
        </p:grpSpPr>
        <p:sp>
          <p:nvSpPr>
            <p:cNvPr id="14" name="椭圆 13"/>
            <p:cNvSpPr/>
            <p:nvPr/>
          </p:nvSpPr>
          <p:spPr>
            <a:xfrm>
              <a:off x="5429256" y="2571744"/>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15" name="直接连接符 14"/>
            <p:cNvCxnSpPr>
              <a:stCxn id="6" idx="6"/>
              <a:endCxn id="14" idx="1"/>
            </p:cNvCxnSpPr>
            <p:nvPr/>
          </p:nvCxnSpPr>
          <p:spPr>
            <a:xfrm>
              <a:off x="4575372" y="1983926"/>
              <a:ext cx="911877" cy="6458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7" name="组合 15"/>
          <p:cNvGrpSpPr/>
          <p:nvPr/>
        </p:nvGrpSpPr>
        <p:grpSpPr>
          <a:xfrm>
            <a:off x="1766735" y="3767007"/>
            <a:ext cx="629497" cy="915249"/>
            <a:chOff x="2695429" y="3767007"/>
            <a:chExt cx="629497" cy="915249"/>
          </a:xfrm>
        </p:grpSpPr>
        <p:sp>
          <p:nvSpPr>
            <p:cNvPr id="17" name="椭圆 16"/>
            <p:cNvSpPr/>
            <p:nvPr/>
          </p:nvSpPr>
          <p:spPr>
            <a:xfrm>
              <a:off x="2928926" y="4286256"/>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18" name="直接连接符 17"/>
            <p:cNvCxnSpPr>
              <a:stCxn id="11" idx="5"/>
              <a:endCxn id="17" idx="1"/>
            </p:cNvCxnSpPr>
            <p:nvPr/>
          </p:nvCxnSpPr>
          <p:spPr>
            <a:xfrm rot="16200000" flipH="1">
              <a:off x="2552553" y="3909883"/>
              <a:ext cx="577242"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10" name="组合 18"/>
          <p:cNvGrpSpPr/>
          <p:nvPr/>
        </p:nvGrpSpPr>
        <p:grpSpPr>
          <a:xfrm>
            <a:off x="2338239" y="4624263"/>
            <a:ext cx="629497" cy="843811"/>
            <a:chOff x="3266933" y="4624263"/>
            <a:chExt cx="629497" cy="843811"/>
          </a:xfrm>
        </p:grpSpPr>
        <p:sp>
          <p:nvSpPr>
            <p:cNvPr id="20" name="椭圆 19"/>
            <p:cNvSpPr/>
            <p:nvPr/>
          </p:nvSpPr>
          <p:spPr>
            <a:xfrm>
              <a:off x="3500430" y="5072074"/>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11</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21" name="直接连接符 20"/>
            <p:cNvCxnSpPr>
              <a:stCxn id="17" idx="5"/>
              <a:endCxn id="20" idx="1"/>
            </p:cNvCxnSpPr>
            <p:nvPr/>
          </p:nvCxnSpPr>
          <p:spPr>
            <a:xfrm rot="16200000" flipH="1">
              <a:off x="3159776" y="4731420"/>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13" name="组合 21"/>
          <p:cNvGrpSpPr/>
          <p:nvPr/>
        </p:nvGrpSpPr>
        <p:grpSpPr>
          <a:xfrm>
            <a:off x="4000496" y="2909751"/>
            <a:ext cx="558060" cy="843811"/>
            <a:chOff x="4929190" y="2909751"/>
            <a:chExt cx="558060" cy="843811"/>
          </a:xfrm>
        </p:grpSpPr>
        <p:sp>
          <p:nvSpPr>
            <p:cNvPr id="23" name="椭圆 22"/>
            <p:cNvSpPr/>
            <p:nvPr/>
          </p:nvSpPr>
          <p:spPr>
            <a:xfrm>
              <a:off x="4929190" y="3357562"/>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39</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24" name="直接连接符 23"/>
            <p:cNvCxnSpPr>
              <a:stCxn id="14" idx="3"/>
              <a:endCxn id="23" idx="0"/>
            </p:cNvCxnSpPr>
            <p:nvPr/>
          </p:nvCxnSpPr>
          <p:spPr>
            <a:xfrm rot="5400000">
              <a:off x="5083315" y="2953627"/>
              <a:ext cx="447811"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16" name="组合 24"/>
          <p:cNvGrpSpPr/>
          <p:nvPr/>
        </p:nvGrpSpPr>
        <p:grpSpPr>
          <a:xfrm>
            <a:off x="4838569" y="2909750"/>
            <a:ext cx="700935" cy="843812"/>
            <a:chOff x="5767263" y="2909750"/>
            <a:chExt cx="700935" cy="843812"/>
          </a:xfrm>
        </p:grpSpPr>
        <p:sp>
          <p:nvSpPr>
            <p:cNvPr id="26" name="椭圆 25"/>
            <p:cNvSpPr/>
            <p:nvPr/>
          </p:nvSpPr>
          <p:spPr>
            <a:xfrm>
              <a:off x="6072198" y="3357562"/>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53</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27" name="直接连接符 26"/>
            <p:cNvCxnSpPr>
              <a:stCxn id="14" idx="5"/>
              <a:endCxn id="26" idx="0"/>
            </p:cNvCxnSpPr>
            <p:nvPr/>
          </p:nvCxnSpPr>
          <p:spPr>
            <a:xfrm rot="16200000" flipH="1">
              <a:off x="5794825" y="2882188"/>
              <a:ext cx="447811" cy="50293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组合 27"/>
          <p:cNvGrpSpPr/>
          <p:nvPr/>
        </p:nvGrpSpPr>
        <p:grpSpPr>
          <a:xfrm>
            <a:off x="3571868" y="3695569"/>
            <a:ext cx="486622" cy="915249"/>
            <a:chOff x="4500562" y="3695569"/>
            <a:chExt cx="486622" cy="915249"/>
          </a:xfrm>
        </p:grpSpPr>
        <p:sp>
          <p:nvSpPr>
            <p:cNvPr id="29" name="椭圆 28"/>
            <p:cNvSpPr/>
            <p:nvPr/>
          </p:nvSpPr>
          <p:spPr>
            <a:xfrm>
              <a:off x="4500562" y="4214818"/>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32</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0" name="直接连接符 29"/>
            <p:cNvCxnSpPr>
              <a:stCxn id="23" idx="3"/>
              <a:endCxn id="29" idx="0"/>
            </p:cNvCxnSpPr>
            <p:nvPr/>
          </p:nvCxnSpPr>
          <p:spPr>
            <a:xfrm rot="5400000">
              <a:off x="4583249" y="3810883"/>
              <a:ext cx="519249" cy="28862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组合 30"/>
          <p:cNvGrpSpPr/>
          <p:nvPr/>
        </p:nvGrpSpPr>
        <p:grpSpPr>
          <a:xfrm>
            <a:off x="5481511" y="3695569"/>
            <a:ext cx="700935" cy="915249"/>
            <a:chOff x="6410205" y="3695569"/>
            <a:chExt cx="700935" cy="915249"/>
          </a:xfrm>
        </p:grpSpPr>
        <p:sp>
          <p:nvSpPr>
            <p:cNvPr id="32" name="椭圆 31"/>
            <p:cNvSpPr/>
            <p:nvPr/>
          </p:nvSpPr>
          <p:spPr>
            <a:xfrm>
              <a:off x="6715140" y="4214818"/>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3" name="直接连接符 32"/>
            <p:cNvCxnSpPr>
              <a:stCxn id="26" idx="5"/>
              <a:endCxn id="32" idx="1"/>
            </p:cNvCxnSpPr>
            <p:nvPr/>
          </p:nvCxnSpPr>
          <p:spPr>
            <a:xfrm rot="16200000" flipH="1">
              <a:off x="6303048" y="3802726"/>
              <a:ext cx="577242" cy="36292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25" name="组合 33"/>
          <p:cNvGrpSpPr/>
          <p:nvPr/>
        </p:nvGrpSpPr>
        <p:grpSpPr>
          <a:xfrm>
            <a:off x="5143504" y="4552825"/>
            <a:ext cx="700935" cy="772373"/>
            <a:chOff x="6072198" y="4552825"/>
            <a:chExt cx="700935" cy="772373"/>
          </a:xfrm>
        </p:grpSpPr>
        <p:sp>
          <p:nvSpPr>
            <p:cNvPr id="35" name="椭圆 34"/>
            <p:cNvSpPr/>
            <p:nvPr/>
          </p:nvSpPr>
          <p:spPr>
            <a:xfrm>
              <a:off x="6072198" y="4929198"/>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67</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6" name="直接连接符 35"/>
            <p:cNvCxnSpPr>
              <a:stCxn id="32" idx="3"/>
              <a:endCxn id="35" idx="7"/>
            </p:cNvCxnSpPr>
            <p:nvPr/>
          </p:nvCxnSpPr>
          <p:spPr>
            <a:xfrm rot="5400000">
              <a:off x="6374486" y="4588544"/>
              <a:ext cx="434366" cy="36292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组合 36"/>
          <p:cNvGrpSpPr/>
          <p:nvPr/>
        </p:nvGrpSpPr>
        <p:grpSpPr>
          <a:xfrm>
            <a:off x="4572000" y="5267205"/>
            <a:ext cx="629497" cy="843811"/>
            <a:chOff x="5500694" y="5267205"/>
            <a:chExt cx="629497" cy="843811"/>
          </a:xfrm>
        </p:grpSpPr>
        <p:sp>
          <p:nvSpPr>
            <p:cNvPr id="38" name="椭圆 37"/>
            <p:cNvSpPr/>
            <p:nvPr/>
          </p:nvSpPr>
          <p:spPr>
            <a:xfrm>
              <a:off x="5500694" y="5715016"/>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9" name="直接连接符 38"/>
            <p:cNvCxnSpPr>
              <a:stCxn id="35" idx="3"/>
              <a:endCxn id="38" idx="7"/>
            </p:cNvCxnSpPr>
            <p:nvPr/>
          </p:nvCxnSpPr>
          <p:spPr>
            <a:xfrm rot="5400000">
              <a:off x="5731544" y="5374362"/>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40" name="TextBox 39"/>
          <p:cNvSpPr txBox="1"/>
          <p:nvPr/>
        </p:nvSpPr>
        <p:spPr>
          <a:xfrm>
            <a:off x="1142976"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25</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1" name="TextBox 40"/>
          <p:cNvSpPr txBox="1"/>
          <p:nvPr/>
        </p:nvSpPr>
        <p:spPr>
          <a:xfrm>
            <a:off x="1714480"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18</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2" name="TextBox 41"/>
          <p:cNvSpPr txBox="1"/>
          <p:nvPr/>
        </p:nvSpPr>
        <p:spPr>
          <a:xfrm>
            <a:off x="2285984"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46</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3" name="TextBox 42"/>
          <p:cNvSpPr txBox="1"/>
          <p:nvPr/>
        </p:nvSpPr>
        <p:spPr>
          <a:xfrm>
            <a:off x="2857488"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2</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4" name="TextBox 43"/>
          <p:cNvSpPr txBox="1"/>
          <p:nvPr/>
        </p:nvSpPr>
        <p:spPr>
          <a:xfrm>
            <a:off x="3357554"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53</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5" name="TextBox 44"/>
          <p:cNvSpPr txBox="1"/>
          <p:nvPr/>
        </p:nvSpPr>
        <p:spPr>
          <a:xfrm>
            <a:off x="3929058"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39</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6" name="TextBox 45"/>
          <p:cNvSpPr txBox="1"/>
          <p:nvPr/>
        </p:nvSpPr>
        <p:spPr>
          <a:xfrm>
            <a:off x="4500562"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32</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7" name="TextBox 46"/>
          <p:cNvSpPr txBox="1"/>
          <p:nvPr/>
        </p:nvSpPr>
        <p:spPr>
          <a:xfrm>
            <a:off x="5072066"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4</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8" name="TextBox 47"/>
          <p:cNvSpPr txBox="1"/>
          <p:nvPr/>
        </p:nvSpPr>
        <p:spPr>
          <a:xfrm>
            <a:off x="5572132"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74</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49" name="TextBox 48"/>
          <p:cNvSpPr txBox="1"/>
          <p:nvPr/>
        </p:nvSpPr>
        <p:spPr>
          <a:xfrm>
            <a:off x="6143636"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67</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50" name="TextBox 49"/>
          <p:cNvSpPr txBox="1"/>
          <p:nvPr/>
        </p:nvSpPr>
        <p:spPr>
          <a:xfrm>
            <a:off x="6715140"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60</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51" name="TextBox 50"/>
          <p:cNvSpPr txBox="1"/>
          <p:nvPr/>
        </p:nvSpPr>
        <p:spPr>
          <a:xfrm>
            <a:off x="7286644" y="971928"/>
            <a:ext cx="357190" cy="338554"/>
          </a:xfrm>
          <a:prstGeom prst="rect">
            <a:avLst/>
          </a:prstGeom>
          <a:noFill/>
        </p:spPr>
        <p:txBody>
          <a:bodyPr wrap="square" lIns="0" rIns="0" rtlCol="0">
            <a:spAutoFit/>
          </a:bodyPr>
          <a:lstStyle/>
          <a:p>
            <a:pPr algn="l"/>
            <a:r>
              <a:rPr lang="en-US" altLang="zh-CN" sz="2000" b="0" smtClean="0">
                <a:solidFill>
                  <a:srgbClr val="0000FF"/>
                </a:solidFill>
                <a:latin typeface="Consolas" panose="020B0609020204030204" pitchFamily="49" charset="0"/>
                <a:cs typeface="Consolas" panose="020B0609020204030204" pitchFamily="49" charset="0"/>
              </a:rPr>
              <a:t>11</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52" name="TextBox 51"/>
          <p:cNvSpPr txBox="1"/>
          <p:nvPr/>
        </p:nvSpPr>
        <p:spPr>
          <a:xfrm>
            <a:off x="6858016" y="3714752"/>
            <a:ext cx="1500198" cy="584775"/>
          </a:xfrm>
          <a:prstGeom prst="rect">
            <a:avLst/>
          </a:prstGeom>
          <a:noFill/>
        </p:spPr>
        <p:txBody>
          <a:bodyPr wrap="square" rtlCol="0">
            <a:spAutoFit/>
          </a:bodyPr>
          <a:lstStyle/>
          <a:p>
            <a:r>
              <a:rPr lang="zh-CN" altLang="en-US" sz="200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生成的二叉排序树</a:t>
            </a:r>
            <a:endParaRPr lang="zh-CN" altLang="en-US" sz="2000">
              <a:latin typeface="仿宋" panose="02010609060101010101" pitchFamily="49" charset="-122"/>
              <a:ea typeface="仿宋" panose="02010609060101010101" pitchFamily="49" charset="-122"/>
            </a:endParaRPr>
          </a:p>
        </p:txBody>
      </p:sp>
      <p:sp>
        <p:nvSpPr>
          <p:cNvPr id="53" name="左箭头 52"/>
          <p:cNvSpPr/>
          <p:nvPr/>
        </p:nvSpPr>
        <p:spPr>
          <a:xfrm>
            <a:off x="6429388" y="3857628"/>
            <a:ext cx="357190" cy="214314"/>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800"/>
          </a:p>
        </p:txBody>
      </p:sp>
      <p:pic>
        <p:nvPicPr>
          <p:cNvPr id="54" name="Picture 2"/>
          <p:cNvPicPr>
            <a:picLocks noChangeAspect="1" noChangeArrowheads="1"/>
          </p:cNvPicPr>
          <p:nvPr/>
        </p:nvPicPr>
        <p:blipFill>
          <a:blip r:embed="rId1" cstate="print"/>
          <a:srcRect/>
          <a:stretch>
            <a:fillRect/>
          </a:stretch>
        </p:blipFill>
        <p:spPr bwMode="auto">
          <a:xfrm>
            <a:off x="142844" y="0"/>
            <a:ext cx="928661" cy="1104040"/>
          </a:xfrm>
          <a:prstGeom prst="rect">
            <a:avLst/>
          </a:prstGeom>
          <a:noFill/>
          <a:ln w="9525">
            <a:noFill/>
            <a:miter lim="800000"/>
            <a:headEnd/>
            <a:tailEnd/>
          </a:ln>
        </p:spPr>
      </p:pic>
      <p:sp>
        <p:nvSpPr>
          <p:cNvPr id="67" name="灯片编号占位符 6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1" grpId="0"/>
      <p:bldP spid="42" grpId="0"/>
      <p:bldP spid="43" grpId="0"/>
      <p:bldP spid="44" grpId="0"/>
      <p:bldP spid="45" grpId="0"/>
      <p:bldP spid="46" grpId="0"/>
      <p:bldP spid="47" grpId="0"/>
      <p:bldP spid="48" grpId="0"/>
      <p:bldP spid="49" grpId="0"/>
      <p:bldP spid="50" grpId="0"/>
      <p:bldP spid="51" grpId="0"/>
      <p:bldP spid="5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椭圆 27"/>
          <p:cNvSpPr/>
          <p:nvPr/>
        </p:nvSpPr>
        <p:spPr>
          <a:xfrm>
            <a:off x="2143108" y="1000108"/>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18</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29" name="椭圆 28"/>
          <p:cNvSpPr/>
          <p:nvPr/>
        </p:nvSpPr>
        <p:spPr>
          <a:xfrm>
            <a:off x="3428992" y="214290"/>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25</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0" name="椭圆 29"/>
          <p:cNvSpPr/>
          <p:nvPr/>
        </p:nvSpPr>
        <p:spPr>
          <a:xfrm>
            <a:off x="1643042" y="1857364"/>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2214546" y="2714620"/>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2" name="椭圆 31"/>
          <p:cNvSpPr/>
          <p:nvPr/>
        </p:nvSpPr>
        <p:spPr>
          <a:xfrm>
            <a:off x="2786050" y="3500438"/>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11</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3" name="椭圆 32"/>
          <p:cNvSpPr/>
          <p:nvPr/>
        </p:nvSpPr>
        <p:spPr>
          <a:xfrm>
            <a:off x="4714876" y="1013171"/>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4" name="椭圆 33"/>
          <p:cNvSpPr/>
          <p:nvPr/>
        </p:nvSpPr>
        <p:spPr>
          <a:xfrm>
            <a:off x="4214810" y="179898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39</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5" name="椭圆 34"/>
          <p:cNvSpPr/>
          <p:nvPr/>
        </p:nvSpPr>
        <p:spPr>
          <a:xfrm>
            <a:off x="3786182" y="265624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32</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6" name="椭圆 35"/>
          <p:cNvSpPr/>
          <p:nvPr/>
        </p:nvSpPr>
        <p:spPr>
          <a:xfrm>
            <a:off x="5357818" y="179898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53</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7" name="椭圆 36"/>
          <p:cNvSpPr/>
          <p:nvPr/>
        </p:nvSpPr>
        <p:spPr>
          <a:xfrm>
            <a:off x="6000760" y="265624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8" name="椭圆 37"/>
          <p:cNvSpPr/>
          <p:nvPr/>
        </p:nvSpPr>
        <p:spPr>
          <a:xfrm>
            <a:off x="5357818" y="337062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67</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9" name="椭圆 38"/>
          <p:cNvSpPr/>
          <p:nvPr/>
        </p:nvSpPr>
        <p:spPr>
          <a:xfrm>
            <a:off x="4786314" y="4156443"/>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216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0" name="直接连接符 39"/>
          <p:cNvCxnSpPr>
            <a:stCxn id="29" idx="2"/>
            <a:endCxn id="28" idx="7"/>
          </p:cNvCxnSpPr>
          <p:nvPr/>
        </p:nvCxnSpPr>
        <p:spPr>
          <a:xfrm rot="10800000" flipV="1">
            <a:off x="2481116" y="412289"/>
            <a:ext cx="947877" cy="6458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28" idx="3"/>
            <a:endCxn id="30" idx="0"/>
          </p:cNvCxnSpPr>
          <p:nvPr/>
        </p:nvCxnSpPr>
        <p:spPr>
          <a:xfrm rot="5400000">
            <a:off x="1761448" y="1417710"/>
            <a:ext cx="519249"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6"/>
            <a:endCxn id="33" idx="1"/>
          </p:cNvCxnSpPr>
          <p:nvPr/>
        </p:nvCxnSpPr>
        <p:spPr>
          <a:xfrm>
            <a:off x="3824992" y="412290"/>
            <a:ext cx="947877" cy="65887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0" idx="5"/>
            <a:endCxn id="31" idx="1"/>
          </p:cNvCxnSpPr>
          <p:nvPr/>
        </p:nvCxnSpPr>
        <p:spPr>
          <a:xfrm rot="16200000" flipH="1">
            <a:off x="1838173" y="2338247"/>
            <a:ext cx="577242"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1" idx="5"/>
            <a:endCxn id="32" idx="1"/>
          </p:cNvCxnSpPr>
          <p:nvPr/>
        </p:nvCxnSpPr>
        <p:spPr>
          <a:xfrm rot="16200000" flipH="1">
            <a:off x="2445396" y="3159784"/>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3" idx="3"/>
            <a:endCxn id="34" idx="0"/>
          </p:cNvCxnSpPr>
          <p:nvPr/>
        </p:nvCxnSpPr>
        <p:spPr>
          <a:xfrm rot="5400000">
            <a:off x="4368935" y="1395054"/>
            <a:ext cx="447811"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33" idx="5"/>
            <a:endCxn id="36" idx="0"/>
          </p:cNvCxnSpPr>
          <p:nvPr/>
        </p:nvCxnSpPr>
        <p:spPr>
          <a:xfrm rot="16200000" flipH="1">
            <a:off x="5080445" y="1323615"/>
            <a:ext cx="447811" cy="50293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4" idx="3"/>
            <a:endCxn id="35" idx="0"/>
          </p:cNvCxnSpPr>
          <p:nvPr/>
        </p:nvCxnSpPr>
        <p:spPr>
          <a:xfrm rot="5400000">
            <a:off x="3868869" y="2252310"/>
            <a:ext cx="519249" cy="28862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36" idx="5"/>
            <a:endCxn id="37" idx="1"/>
          </p:cNvCxnSpPr>
          <p:nvPr/>
        </p:nvCxnSpPr>
        <p:spPr>
          <a:xfrm rot="16200000" flipH="1">
            <a:off x="5588668" y="2244153"/>
            <a:ext cx="577242" cy="36292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7" idx="3"/>
            <a:endCxn id="38" idx="7"/>
          </p:cNvCxnSpPr>
          <p:nvPr/>
        </p:nvCxnSpPr>
        <p:spPr>
          <a:xfrm rot="5400000">
            <a:off x="5660106" y="3029971"/>
            <a:ext cx="434366" cy="36292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38" idx="3"/>
            <a:endCxn id="39" idx="7"/>
          </p:cNvCxnSpPr>
          <p:nvPr/>
        </p:nvCxnSpPr>
        <p:spPr>
          <a:xfrm rot="5400000">
            <a:off x="5017164" y="3815789"/>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51" name="Text Box 3"/>
          <p:cNvSpPr txBox="1">
            <a:spLocks noChangeArrowheads="1"/>
          </p:cNvSpPr>
          <p:nvPr/>
        </p:nvSpPr>
        <p:spPr bwMode="auto">
          <a:xfrm>
            <a:off x="1000100" y="4786322"/>
            <a:ext cx="6215106" cy="400110"/>
          </a:xfrm>
          <a:prstGeom prst="rect">
            <a:avLst/>
          </a:prstGeom>
          <a:noFill/>
          <a:ln w="9525">
            <a:noFill/>
            <a:miter lim="800000"/>
          </a:ln>
        </p:spPr>
        <p:txBody>
          <a:bodyPr wrap="square">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等概率的情况下，查找成功的平均查找长度为：</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63492" name="Picture 4"/>
          <p:cNvPicPr>
            <a:picLocks noChangeAspect="1" noChangeArrowheads="1"/>
          </p:cNvPicPr>
          <p:nvPr/>
        </p:nvPicPr>
        <p:blipFill>
          <a:blip r:embed="rId1" cstate="print"/>
          <a:srcRect/>
          <a:stretch>
            <a:fillRect/>
          </a:stretch>
        </p:blipFill>
        <p:spPr bwMode="auto">
          <a:xfrm>
            <a:off x="1071538" y="5286388"/>
            <a:ext cx="5667375" cy="704850"/>
          </a:xfrm>
          <a:prstGeom prst="rect">
            <a:avLst/>
          </a:prstGeom>
          <a:noFill/>
          <a:ln w="9525">
            <a:noFill/>
            <a:miter lim="800000"/>
            <a:headEnd/>
            <a:tailEnd/>
          </a:ln>
        </p:spPr>
      </p:pic>
      <p:sp>
        <p:nvSpPr>
          <p:cNvPr id="54" name="TextBox 53"/>
          <p:cNvSpPr txBox="1"/>
          <p:nvPr/>
        </p:nvSpPr>
        <p:spPr>
          <a:xfrm>
            <a:off x="928662" y="202148"/>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928662" y="1000108"/>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928662" y="1916660"/>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928662" y="2761774"/>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928662" y="3559734"/>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928662" y="4202676"/>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灯片编号占位符 6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357422" y="88144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18</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 name="椭圆 4"/>
          <p:cNvSpPr/>
          <p:nvPr/>
        </p:nvSpPr>
        <p:spPr>
          <a:xfrm>
            <a:off x="3663402" y="15591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25</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1857356" y="169850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2</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2428860" y="2445237"/>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3000364" y="323105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11</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969382" y="881445"/>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429124" y="1627071"/>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39</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000496" y="237379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32</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5676198" y="1627071"/>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53</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6215074" y="237379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5572132" y="3088179"/>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67</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5" name="椭圆 14"/>
          <p:cNvSpPr/>
          <p:nvPr/>
        </p:nvSpPr>
        <p:spPr>
          <a:xfrm>
            <a:off x="5000628" y="3873997"/>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lIns="0" rIns="0" rtlCol="0" anchor="ctr"/>
          <a:lstStyle/>
          <a:p>
            <a:pPr algn="ctr">
              <a:lnSpc>
                <a:spcPts val="1920"/>
              </a:lnSpc>
              <a:spcBef>
                <a:spcPts val="0"/>
              </a:spcBef>
            </a:pP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16" name="直接连接符 15"/>
          <p:cNvCxnSpPr>
            <a:stCxn id="5" idx="2"/>
            <a:endCxn id="3" idx="7"/>
          </p:cNvCxnSpPr>
          <p:nvPr/>
        </p:nvCxnSpPr>
        <p:spPr>
          <a:xfrm rot="10800000" flipV="1">
            <a:off x="2695430" y="353914"/>
            <a:ext cx="967973" cy="58552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3" idx="3"/>
            <a:endCxn id="6" idx="0"/>
          </p:cNvCxnSpPr>
          <p:nvPr/>
        </p:nvCxnSpPr>
        <p:spPr>
          <a:xfrm rot="5400000">
            <a:off x="1995858" y="1278951"/>
            <a:ext cx="479057"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5" idx="6"/>
            <a:endCxn id="9" idx="1"/>
          </p:cNvCxnSpPr>
          <p:nvPr/>
        </p:nvCxnSpPr>
        <p:spPr>
          <a:xfrm>
            <a:off x="4059402" y="353915"/>
            <a:ext cx="967973" cy="58552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6" idx="5"/>
            <a:endCxn id="7" idx="1"/>
          </p:cNvCxnSpPr>
          <p:nvPr/>
        </p:nvCxnSpPr>
        <p:spPr>
          <a:xfrm rot="16200000" flipH="1">
            <a:off x="2107751" y="2124128"/>
            <a:ext cx="46671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5"/>
            <a:endCxn id="8" idx="1"/>
          </p:cNvCxnSpPr>
          <p:nvPr/>
        </p:nvCxnSpPr>
        <p:spPr>
          <a:xfrm rot="16200000" flipH="1">
            <a:off x="2659710" y="2890401"/>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3"/>
            <a:endCxn id="10" idx="0"/>
          </p:cNvCxnSpPr>
          <p:nvPr/>
        </p:nvCxnSpPr>
        <p:spPr>
          <a:xfrm rot="5400000">
            <a:off x="4623441" y="1223136"/>
            <a:ext cx="407619" cy="40025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9" idx="5"/>
            <a:endCxn id="12" idx="0"/>
          </p:cNvCxnSpPr>
          <p:nvPr/>
        </p:nvCxnSpPr>
        <p:spPr>
          <a:xfrm rot="16200000" flipH="1">
            <a:off x="5386984" y="1139856"/>
            <a:ext cx="407619" cy="56680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0" idx="3"/>
            <a:endCxn id="11" idx="0"/>
          </p:cNvCxnSpPr>
          <p:nvPr/>
        </p:nvCxnSpPr>
        <p:spPr>
          <a:xfrm rot="5400000">
            <a:off x="4138447" y="2025128"/>
            <a:ext cx="408721" cy="28862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2" idx="5"/>
            <a:endCxn id="13" idx="1"/>
          </p:cNvCxnSpPr>
          <p:nvPr/>
        </p:nvCxnSpPr>
        <p:spPr>
          <a:xfrm rot="16200000" flipH="1">
            <a:off x="5910279" y="2069004"/>
            <a:ext cx="466714" cy="25886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3" idx="3"/>
            <a:endCxn id="14" idx="7"/>
          </p:cNvCxnSpPr>
          <p:nvPr/>
        </p:nvCxnSpPr>
        <p:spPr>
          <a:xfrm rot="5400000">
            <a:off x="5874420" y="2747525"/>
            <a:ext cx="434366" cy="36292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3"/>
            <a:endCxn id="15" idx="7"/>
          </p:cNvCxnSpPr>
          <p:nvPr/>
        </p:nvCxnSpPr>
        <p:spPr>
          <a:xfrm rot="5400000">
            <a:off x="5231478" y="3533343"/>
            <a:ext cx="505804" cy="29149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nvGrpSpPr>
          <p:cNvPr id="2" name="组合 54"/>
          <p:cNvGrpSpPr/>
          <p:nvPr/>
        </p:nvGrpSpPr>
        <p:grpSpPr>
          <a:xfrm>
            <a:off x="1428728" y="1219451"/>
            <a:ext cx="5562116" cy="3733149"/>
            <a:chOff x="1428728" y="1219451"/>
            <a:chExt cx="5562116" cy="3733149"/>
          </a:xfrm>
        </p:grpSpPr>
        <p:sp>
          <p:nvSpPr>
            <p:cNvPr id="28" name="矩形 27"/>
            <p:cNvSpPr/>
            <p:nvPr/>
          </p:nvSpPr>
          <p:spPr>
            <a:xfrm>
              <a:off x="1428728" y="2588113"/>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29" name="矩形 28"/>
            <p:cNvSpPr/>
            <p:nvPr/>
          </p:nvSpPr>
          <p:spPr>
            <a:xfrm>
              <a:off x="2071670" y="3303595"/>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0" name="矩形 29"/>
            <p:cNvSpPr/>
            <p:nvPr/>
          </p:nvSpPr>
          <p:spPr>
            <a:xfrm>
              <a:off x="4901968" y="2445237"/>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1" name="矩形 30"/>
            <p:cNvSpPr/>
            <p:nvPr/>
          </p:nvSpPr>
          <p:spPr>
            <a:xfrm>
              <a:off x="5357818" y="2445237"/>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2" name="矩形 31"/>
            <p:cNvSpPr/>
            <p:nvPr/>
          </p:nvSpPr>
          <p:spPr>
            <a:xfrm>
              <a:off x="6705092" y="3150671"/>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3" name="矩形 32"/>
            <p:cNvSpPr/>
            <p:nvPr/>
          </p:nvSpPr>
          <p:spPr>
            <a:xfrm>
              <a:off x="6105264" y="3885147"/>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4" name="矩形 33"/>
            <p:cNvSpPr/>
            <p:nvPr/>
          </p:nvSpPr>
          <p:spPr>
            <a:xfrm>
              <a:off x="2714612" y="3986729"/>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35" name="矩形 34"/>
            <p:cNvSpPr/>
            <p:nvPr/>
          </p:nvSpPr>
          <p:spPr>
            <a:xfrm>
              <a:off x="3428992" y="3986729"/>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cxnSp>
          <p:nvCxnSpPr>
            <p:cNvPr id="36" name="直接连接符 35"/>
            <p:cNvCxnSpPr>
              <a:stCxn id="8" idx="3"/>
              <a:endCxn id="34" idx="0"/>
            </p:cNvCxnSpPr>
            <p:nvPr/>
          </p:nvCxnSpPr>
          <p:spPr>
            <a:xfrm rot="5400000">
              <a:off x="2749090" y="3677461"/>
              <a:ext cx="417667" cy="20086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8" idx="5"/>
              <a:endCxn id="35" idx="0"/>
            </p:cNvCxnSpPr>
            <p:nvPr/>
          </p:nvCxnSpPr>
          <p:spPr>
            <a:xfrm rot="16200000" flipH="1">
              <a:off x="3246286" y="3661146"/>
              <a:ext cx="417667" cy="2334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6" idx="3"/>
              <a:endCxn id="28" idx="0"/>
            </p:cNvCxnSpPr>
            <p:nvPr/>
          </p:nvCxnSpPr>
          <p:spPr>
            <a:xfrm rot="5400000">
              <a:off x="1467679" y="2140442"/>
              <a:ext cx="551597" cy="34374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0" idx="5"/>
              <a:endCxn id="30" idx="0"/>
            </p:cNvCxnSpPr>
            <p:nvPr/>
          </p:nvCxnSpPr>
          <p:spPr>
            <a:xfrm rot="16200000" flipH="1">
              <a:off x="4665908" y="2066300"/>
              <a:ext cx="480159" cy="27771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12" idx="3"/>
              <a:endCxn id="31" idx="0"/>
            </p:cNvCxnSpPr>
            <p:nvPr/>
          </p:nvCxnSpPr>
          <p:spPr>
            <a:xfrm rot="5400000">
              <a:off x="5377364" y="2088409"/>
              <a:ext cx="480159" cy="2334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13" idx="5"/>
              <a:endCxn id="32" idx="0"/>
            </p:cNvCxnSpPr>
            <p:nvPr/>
          </p:nvCxnSpPr>
          <p:spPr>
            <a:xfrm rot="16200000" flipH="1">
              <a:off x="6481092" y="2783794"/>
              <a:ext cx="438865" cy="29488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4" idx="5"/>
              <a:endCxn id="33" idx="0"/>
            </p:cNvCxnSpPr>
            <p:nvPr/>
          </p:nvCxnSpPr>
          <p:spPr>
            <a:xfrm rot="16200000" flipH="1">
              <a:off x="5849659" y="3486665"/>
              <a:ext cx="458961" cy="33800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928926" y="1769947"/>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cxnSp>
          <p:nvCxnSpPr>
            <p:cNvPr id="44" name="直接连接符 43"/>
            <p:cNvCxnSpPr>
              <a:stCxn id="3" idx="5"/>
              <a:endCxn id="43" idx="0"/>
            </p:cNvCxnSpPr>
            <p:nvPr/>
          </p:nvCxnSpPr>
          <p:spPr>
            <a:xfrm rot="16200000" flipH="1">
              <a:off x="2608368" y="1306512"/>
              <a:ext cx="550495" cy="37637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7" idx="3"/>
              <a:endCxn id="29" idx="0"/>
            </p:cNvCxnSpPr>
            <p:nvPr/>
          </p:nvCxnSpPr>
          <p:spPr>
            <a:xfrm rot="5400000">
              <a:off x="2090525" y="2907266"/>
              <a:ext cx="520351" cy="27230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3714744" y="3212848"/>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47" name="矩形 46"/>
            <p:cNvSpPr/>
            <p:nvPr/>
          </p:nvSpPr>
          <p:spPr>
            <a:xfrm>
              <a:off x="4448310" y="3212848"/>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cxnSp>
          <p:nvCxnSpPr>
            <p:cNvPr id="48" name="直接连接符 47"/>
            <p:cNvCxnSpPr>
              <a:stCxn id="11" idx="3"/>
              <a:endCxn id="46" idx="0"/>
            </p:cNvCxnSpPr>
            <p:nvPr/>
          </p:nvCxnSpPr>
          <p:spPr>
            <a:xfrm rot="5400000">
              <a:off x="3707534" y="2861893"/>
              <a:ext cx="501042" cy="20086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11" idx="5"/>
              <a:endCxn id="47" idx="0"/>
            </p:cNvCxnSpPr>
            <p:nvPr/>
          </p:nvCxnSpPr>
          <p:spPr>
            <a:xfrm rot="16200000" flipH="1">
              <a:off x="4214323" y="2835985"/>
              <a:ext cx="501042" cy="25268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4714876" y="4666848"/>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sp>
          <p:nvSpPr>
            <p:cNvPr id="51" name="矩形 50"/>
            <p:cNvSpPr/>
            <p:nvPr/>
          </p:nvSpPr>
          <p:spPr>
            <a:xfrm>
              <a:off x="5429256" y="4666848"/>
              <a:ext cx="285752" cy="28575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lnSpc>
                  <a:spcPts val="1920"/>
                </a:lnSpc>
                <a:spcBef>
                  <a:spcPts val="0"/>
                </a:spcBef>
              </a:pPr>
              <a:endParaRPr lang="zh-CN" altLang="en-US" sz="1800" b="0"/>
            </a:p>
          </p:txBody>
        </p:sp>
        <p:cxnSp>
          <p:nvCxnSpPr>
            <p:cNvPr id="52" name="直接连接符 51"/>
            <p:cNvCxnSpPr>
              <a:stCxn id="15" idx="3"/>
              <a:endCxn id="50" idx="0"/>
            </p:cNvCxnSpPr>
            <p:nvPr/>
          </p:nvCxnSpPr>
          <p:spPr>
            <a:xfrm rot="5400000">
              <a:off x="4730765" y="4338992"/>
              <a:ext cx="454844" cy="20086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15" idx="5"/>
              <a:endCxn id="51" idx="0"/>
            </p:cNvCxnSpPr>
            <p:nvPr/>
          </p:nvCxnSpPr>
          <p:spPr>
            <a:xfrm rot="16200000" flipH="1">
              <a:off x="5227961" y="4322677"/>
              <a:ext cx="454844" cy="2334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54" name="Text Box 5"/>
          <p:cNvSpPr txBox="1">
            <a:spLocks noChangeArrowheads="1"/>
          </p:cNvSpPr>
          <p:nvPr/>
        </p:nvSpPr>
        <p:spPr bwMode="auto">
          <a:xfrm>
            <a:off x="1071538" y="5286388"/>
            <a:ext cx="6429420" cy="400110"/>
          </a:xfrm>
          <a:prstGeom prst="rect">
            <a:avLst/>
          </a:prstGeom>
          <a:noFill/>
          <a:ln w="9525">
            <a:noFill/>
            <a:miter lim="800000"/>
          </a:ln>
        </p:spPr>
        <p:txBody>
          <a:bodyPr wrap="square">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等概率的情况下，查找不成功的平均查找长度为：</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64514" name="Picture 2"/>
          <p:cNvPicPr>
            <a:picLocks noChangeAspect="1" noChangeArrowheads="1"/>
          </p:cNvPicPr>
          <p:nvPr/>
        </p:nvPicPr>
        <p:blipFill>
          <a:blip r:embed="rId1" cstate="print"/>
          <a:srcRect/>
          <a:stretch>
            <a:fillRect/>
          </a:stretch>
        </p:blipFill>
        <p:spPr bwMode="auto">
          <a:xfrm>
            <a:off x="1643042" y="5786454"/>
            <a:ext cx="5181600" cy="733425"/>
          </a:xfrm>
          <a:prstGeom prst="rect">
            <a:avLst/>
          </a:prstGeom>
          <a:noFill/>
          <a:ln w="9525">
            <a:noFill/>
            <a:miter lim="800000"/>
            <a:headEnd/>
            <a:tailEnd/>
          </a:ln>
        </p:spPr>
      </p:pic>
      <p:sp>
        <p:nvSpPr>
          <p:cNvPr id="56" name="TextBox 55"/>
          <p:cNvSpPr txBox="1"/>
          <p:nvPr/>
        </p:nvSpPr>
        <p:spPr>
          <a:xfrm>
            <a:off x="714348" y="142852"/>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714348" y="857232"/>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714348" y="1714488"/>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TextBox 59"/>
          <p:cNvSpPr txBox="1"/>
          <p:nvPr/>
        </p:nvSpPr>
        <p:spPr>
          <a:xfrm>
            <a:off x="714348" y="2571744"/>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TextBox 60"/>
          <p:cNvSpPr txBox="1"/>
          <p:nvPr/>
        </p:nvSpPr>
        <p:spPr>
          <a:xfrm>
            <a:off x="714348" y="3345420"/>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TextBox 61"/>
          <p:cNvSpPr txBox="1"/>
          <p:nvPr/>
        </p:nvSpPr>
        <p:spPr>
          <a:xfrm>
            <a:off x="714348" y="4000504"/>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TextBox 62"/>
          <p:cNvSpPr txBox="1"/>
          <p:nvPr/>
        </p:nvSpPr>
        <p:spPr>
          <a:xfrm>
            <a:off x="714348" y="4662496"/>
            <a:ext cx="500066" cy="369332"/>
          </a:xfrm>
          <a:prstGeom prst="rect">
            <a:avLst/>
          </a:prstGeom>
          <a:noFill/>
        </p:spPr>
        <p:txBody>
          <a:bodyPr wrap="square" rtlCol="0">
            <a:spAutoFit/>
          </a:bodyPr>
          <a:lstStyle/>
          <a:p>
            <a:pPr algn="l">
              <a:lnSpc>
                <a:spcPct val="100000"/>
              </a:lnSpc>
              <a:spcBef>
                <a:spcPts val="0"/>
              </a:spcBef>
            </a:pP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灯片编号占位符 6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1107170"/>
            <a:ext cx="8643998" cy="196464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关键字集合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可以有多个</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不同顺序的关键字序列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，对于不同的关键字序列，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CreateBST()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算法创建的二叉排序树可能不同。</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例如，关键字序列为（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），创建的二叉排序树如图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所示。若关键字序列为（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），创建的二叉排序树如图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41"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31"/>
          <p:cNvGrpSpPr/>
          <p:nvPr/>
        </p:nvGrpSpPr>
        <p:grpSpPr>
          <a:xfrm>
            <a:off x="4482750" y="3143248"/>
            <a:ext cx="2285364" cy="3071834"/>
            <a:chOff x="5572784" y="3071810"/>
            <a:chExt cx="1785298" cy="2571768"/>
          </a:xfrm>
        </p:grpSpPr>
        <p:sp>
          <p:nvSpPr>
            <p:cNvPr id="34839" name="AutoShape 23"/>
            <p:cNvSpPr>
              <a:spLocks noChangeShapeType="1"/>
            </p:cNvSpPr>
            <p:nvPr/>
          </p:nvSpPr>
          <p:spPr bwMode="auto">
            <a:xfrm>
              <a:off x="5831298" y="3307128"/>
              <a:ext cx="1268271" cy="1642361"/>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28" name="Oval 12"/>
            <p:cNvSpPr>
              <a:spLocks noChangeArrowheads="1"/>
            </p:cNvSpPr>
            <p:nvPr/>
          </p:nvSpPr>
          <p:spPr bwMode="auto">
            <a:xfrm>
              <a:off x="5572784" y="307181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7" name="Oval 11"/>
            <p:cNvSpPr>
              <a:spLocks noChangeArrowheads="1"/>
            </p:cNvSpPr>
            <p:nvPr/>
          </p:nvSpPr>
          <p:spPr bwMode="auto">
            <a:xfrm>
              <a:off x="5815748" y="3378112"/>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6" name="Oval 10"/>
            <p:cNvSpPr>
              <a:spLocks noChangeArrowheads="1"/>
            </p:cNvSpPr>
            <p:nvPr/>
          </p:nvSpPr>
          <p:spPr bwMode="auto">
            <a:xfrm>
              <a:off x="6063571" y="3704834"/>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5" name="Oval 9"/>
            <p:cNvSpPr>
              <a:spLocks noChangeArrowheads="1"/>
            </p:cNvSpPr>
            <p:nvPr/>
          </p:nvSpPr>
          <p:spPr bwMode="auto">
            <a:xfrm>
              <a:off x="6311394" y="4002384"/>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4" name="Oval 8"/>
            <p:cNvSpPr>
              <a:spLocks noChangeArrowheads="1"/>
            </p:cNvSpPr>
            <p:nvPr/>
          </p:nvSpPr>
          <p:spPr bwMode="auto">
            <a:xfrm>
              <a:off x="6554358" y="4297017"/>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3" name="Oval 7"/>
            <p:cNvSpPr>
              <a:spLocks noChangeArrowheads="1"/>
            </p:cNvSpPr>
            <p:nvPr/>
          </p:nvSpPr>
          <p:spPr bwMode="auto">
            <a:xfrm>
              <a:off x="6807040" y="4600402"/>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2" name="Oval 6"/>
            <p:cNvSpPr>
              <a:spLocks noChangeArrowheads="1"/>
            </p:cNvSpPr>
            <p:nvPr/>
          </p:nvSpPr>
          <p:spPr bwMode="auto">
            <a:xfrm>
              <a:off x="7054863" y="4909621"/>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0" name="Text Box 4"/>
            <p:cNvSpPr txBox="1">
              <a:spLocks noChangeArrowheads="1"/>
            </p:cNvSpPr>
            <p:nvPr/>
          </p:nvSpPr>
          <p:spPr bwMode="auto">
            <a:xfrm>
              <a:off x="5857884" y="5357826"/>
              <a:ext cx="1428760" cy="2857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）高度为</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30"/>
          <p:cNvGrpSpPr/>
          <p:nvPr/>
        </p:nvGrpSpPr>
        <p:grpSpPr>
          <a:xfrm>
            <a:off x="1071538" y="3399958"/>
            <a:ext cx="2481865" cy="2886562"/>
            <a:chOff x="2161573" y="3328520"/>
            <a:chExt cx="2095320" cy="2315058"/>
          </a:xfrm>
        </p:grpSpPr>
        <p:sp>
          <p:nvSpPr>
            <p:cNvPr id="34838" name="Freeform 22"/>
            <p:cNvSpPr/>
            <p:nvPr/>
          </p:nvSpPr>
          <p:spPr bwMode="auto">
            <a:xfrm>
              <a:off x="2832153" y="4029611"/>
              <a:ext cx="207005" cy="290744"/>
            </a:xfrm>
            <a:custGeom>
              <a:avLst/>
              <a:gdLst/>
              <a:ahLst/>
              <a:cxnLst>
                <a:cxn ang="0">
                  <a:pos x="0" y="0"/>
                </a:cxn>
                <a:cxn ang="0">
                  <a:pos x="213" y="299"/>
                </a:cxn>
              </a:cxnLst>
              <a:rect l="0" t="0" r="r" b="b"/>
              <a:pathLst>
                <a:path w="213" h="299">
                  <a:moveTo>
                    <a:pt x="0" y="0"/>
                  </a:moveTo>
                  <a:lnTo>
                    <a:pt x="213" y="299"/>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37" name="Freeform 21"/>
            <p:cNvSpPr/>
            <p:nvPr/>
          </p:nvSpPr>
          <p:spPr bwMode="auto">
            <a:xfrm>
              <a:off x="2827294" y="4561506"/>
              <a:ext cx="166187" cy="254765"/>
            </a:xfrm>
            <a:custGeom>
              <a:avLst/>
              <a:gdLst/>
              <a:ahLst/>
              <a:cxnLst>
                <a:cxn ang="0">
                  <a:pos x="171" y="0"/>
                </a:cxn>
                <a:cxn ang="0">
                  <a:pos x="0" y="262"/>
                </a:cxn>
              </a:cxnLst>
              <a:rect l="0" t="0" r="r" b="b"/>
              <a:pathLst>
                <a:path w="171" h="262">
                  <a:moveTo>
                    <a:pt x="171" y="0"/>
                  </a:moveTo>
                  <a:lnTo>
                    <a:pt x="0" y="262"/>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36" name="Freeform 20"/>
            <p:cNvSpPr/>
            <p:nvPr/>
          </p:nvSpPr>
          <p:spPr bwMode="auto">
            <a:xfrm>
              <a:off x="2383156" y="3513274"/>
              <a:ext cx="743469" cy="801247"/>
            </a:xfrm>
            <a:custGeom>
              <a:avLst/>
              <a:gdLst/>
              <a:ahLst/>
              <a:cxnLst>
                <a:cxn ang="0">
                  <a:pos x="765" y="0"/>
                </a:cxn>
                <a:cxn ang="0">
                  <a:pos x="0" y="823"/>
                </a:cxn>
              </a:cxnLst>
              <a:rect l="0" t="0" r="r" b="b"/>
              <a:pathLst>
                <a:path w="765" h="823">
                  <a:moveTo>
                    <a:pt x="765" y="0"/>
                  </a:moveTo>
                  <a:lnTo>
                    <a:pt x="0" y="823"/>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35" name="Oval 19"/>
            <p:cNvSpPr>
              <a:spLocks noChangeArrowheads="1"/>
            </p:cNvSpPr>
            <p:nvPr/>
          </p:nvSpPr>
          <p:spPr bwMode="auto">
            <a:xfrm>
              <a:off x="3094554" y="332852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34" name="Oval 18"/>
            <p:cNvSpPr>
              <a:spLocks noChangeArrowheads="1"/>
            </p:cNvSpPr>
            <p:nvPr/>
          </p:nvSpPr>
          <p:spPr bwMode="auto">
            <a:xfrm>
              <a:off x="2613485" y="3780680"/>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33" name="Oval 17"/>
            <p:cNvSpPr>
              <a:spLocks noChangeArrowheads="1"/>
            </p:cNvSpPr>
            <p:nvPr/>
          </p:nvSpPr>
          <p:spPr bwMode="auto">
            <a:xfrm>
              <a:off x="3502733" y="3780680"/>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32" name="Oval 16"/>
            <p:cNvSpPr>
              <a:spLocks noChangeArrowheads="1"/>
            </p:cNvSpPr>
            <p:nvPr/>
          </p:nvSpPr>
          <p:spPr bwMode="auto">
            <a:xfrm>
              <a:off x="2161573" y="4309658"/>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31" name="Oval 15"/>
            <p:cNvSpPr>
              <a:spLocks noChangeArrowheads="1"/>
            </p:cNvSpPr>
            <p:nvPr/>
          </p:nvSpPr>
          <p:spPr bwMode="auto">
            <a:xfrm>
              <a:off x="2934198" y="4309658"/>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30" name="Oval 14"/>
            <p:cNvSpPr>
              <a:spLocks noChangeArrowheads="1"/>
            </p:cNvSpPr>
            <p:nvPr/>
          </p:nvSpPr>
          <p:spPr bwMode="auto">
            <a:xfrm>
              <a:off x="2630979" y="480752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9" name="Oval 13"/>
            <p:cNvSpPr>
              <a:spLocks noChangeArrowheads="1"/>
            </p:cNvSpPr>
            <p:nvPr/>
          </p:nvSpPr>
          <p:spPr bwMode="auto">
            <a:xfrm>
              <a:off x="3954646" y="4288266"/>
              <a:ext cx="302247"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21" name="Text Box 5"/>
            <p:cNvSpPr txBox="1">
              <a:spLocks noChangeArrowheads="1"/>
            </p:cNvSpPr>
            <p:nvPr/>
          </p:nvSpPr>
          <p:spPr bwMode="auto">
            <a:xfrm>
              <a:off x="2500298" y="5357826"/>
              <a:ext cx="1428760" cy="2857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）高度为</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819" name="AutoShape 3"/>
            <p:cNvSpPr>
              <a:spLocks noChangeShapeType="1"/>
            </p:cNvSpPr>
            <p:nvPr/>
          </p:nvSpPr>
          <p:spPr bwMode="auto">
            <a:xfrm>
              <a:off x="3353067" y="3563838"/>
              <a:ext cx="194371" cy="256710"/>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818" name="AutoShape 2"/>
            <p:cNvSpPr>
              <a:spLocks noChangeShapeType="1"/>
            </p:cNvSpPr>
            <p:nvPr/>
          </p:nvSpPr>
          <p:spPr bwMode="auto">
            <a:xfrm>
              <a:off x="3761246" y="4015025"/>
              <a:ext cx="238105" cy="313108"/>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28"/>
          <p:cNvGrpSpPr/>
          <p:nvPr/>
        </p:nvGrpSpPr>
        <p:grpSpPr>
          <a:xfrm>
            <a:off x="428596" y="142876"/>
            <a:ext cx="896901" cy="896901"/>
            <a:chOff x="388951" y="5103867"/>
            <a:chExt cx="896901" cy="896901"/>
          </a:xfrm>
        </p:grpSpPr>
        <p:sp>
          <p:nvSpPr>
            <p:cNvPr id="30" name="椭圆 2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4" name="文本框 14"/>
            <p:cNvSpPr txBox="1"/>
            <p:nvPr/>
          </p:nvSpPr>
          <p:spPr>
            <a:xfrm>
              <a:off x="525185" y="5431228"/>
              <a:ext cx="646331"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提示</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41" name="灯片编号占位符 4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5358470" y="571480"/>
            <a:ext cx="2428240" cy="2857520"/>
            <a:chOff x="5572784" y="3071810"/>
            <a:chExt cx="1785298" cy="2571768"/>
          </a:xfrm>
        </p:grpSpPr>
        <p:sp>
          <p:nvSpPr>
            <p:cNvPr id="5" name="AutoShape 23"/>
            <p:cNvSpPr>
              <a:spLocks noChangeShapeType="1"/>
            </p:cNvSpPr>
            <p:nvPr/>
          </p:nvSpPr>
          <p:spPr bwMode="auto">
            <a:xfrm>
              <a:off x="5831298" y="3307128"/>
              <a:ext cx="1268271" cy="1642361"/>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Oval 12"/>
            <p:cNvSpPr>
              <a:spLocks noChangeArrowheads="1"/>
            </p:cNvSpPr>
            <p:nvPr/>
          </p:nvSpPr>
          <p:spPr bwMode="auto">
            <a:xfrm>
              <a:off x="5572784" y="307181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Oval 11"/>
            <p:cNvSpPr>
              <a:spLocks noChangeArrowheads="1"/>
            </p:cNvSpPr>
            <p:nvPr/>
          </p:nvSpPr>
          <p:spPr bwMode="auto">
            <a:xfrm>
              <a:off x="5815748" y="3378112"/>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 name="Oval 10"/>
            <p:cNvSpPr>
              <a:spLocks noChangeArrowheads="1"/>
            </p:cNvSpPr>
            <p:nvPr/>
          </p:nvSpPr>
          <p:spPr bwMode="auto">
            <a:xfrm>
              <a:off x="6063571" y="3704834"/>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9"/>
            <p:cNvSpPr>
              <a:spLocks noChangeArrowheads="1"/>
            </p:cNvSpPr>
            <p:nvPr/>
          </p:nvSpPr>
          <p:spPr bwMode="auto">
            <a:xfrm>
              <a:off x="6311394" y="4002384"/>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Oval 8"/>
            <p:cNvSpPr>
              <a:spLocks noChangeArrowheads="1"/>
            </p:cNvSpPr>
            <p:nvPr/>
          </p:nvSpPr>
          <p:spPr bwMode="auto">
            <a:xfrm>
              <a:off x="6554358" y="4297017"/>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7"/>
            <p:cNvSpPr>
              <a:spLocks noChangeArrowheads="1"/>
            </p:cNvSpPr>
            <p:nvPr/>
          </p:nvSpPr>
          <p:spPr bwMode="auto">
            <a:xfrm>
              <a:off x="6807040" y="4600402"/>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Oval 6"/>
            <p:cNvSpPr>
              <a:spLocks noChangeArrowheads="1"/>
            </p:cNvSpPr>
            <p:nvPr/>
          </p:nvSpPr>
          <p:spPr bwMode="auto">
            <a:xfrm>
              <a:off x="7054863" y="4909621"/>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Text Box 4"/>
            <p:cNvSpPr txBox="1">
              <a:spLocks noChangeArrowheads="1"/>
            </p:cNvSpPr>
            <p:nvPr/>
          </p:nvSpPr>
          <p:spPr bwMode="auto">
            <a:xfrm>
              <a:off x="5857884" y="5357826"/>
              <a:ext cx="1428760" cy="2857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）高度为</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13"/>
          <p:cNvGrpSpPr/>
          <p:nvPr/>
        </p:nvGrpSpPr>
        <p:grpSpPr>
          <a:xfrm>
            <a:off x="785786" y="571480"/>
            <a:ext cx="2428892" cy="2928958"/>
            <a:chOff x="2161573" y="3328520"/>
            <a:chExt cx="2095320" cy="2315058"/>
          </a:xfrm>
        </p:grpSpPr>
        <p:sp>
          <p:nvSpPr>
            <p:cNvPr id="15" name="Freeform 22"/>
            <p:cNvSpPr/>
            <p:nvPr/>
          </p:nvSpPr>
          <p:spPr bwMode="auto">
            <a:xfrm>
              <a:off x="2832153" y="4029611"/>
              <a:ext cx="207005" cy="290744"/>
            </a:xfrm>
            <a:custGeom>
              <a:avLst/>
              <a:gdLst/>
              <a:ahLst/>
              <a:cxnLst>
                <a:cxn ang="0">
                  <a:pos x="0" y="0"/>
                </a:cxn>
                <a:cxn ang="0">
                  <a:pos x="213" y="299"/>
                </a:cxn>
              </a:cxnLst>
              <a:rect l="0" t="0" r="r" b="b"/>
              <a:pathLst>
                <a:path w="213" h="299">
                  <a:moveTo>
                    <a:pt x="0" y="0"/>
                  </a:moveTo>
                  <a:lnTo>
                    <a:pt x="213" y="299"/>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21"/>
            <p:cNvSpPr/>
            <p:nvPr/>
          </p:nvSpPr>
          <p:spPr bwMode="auto">
            <a:xfrm>
              <a:off x="2827294" y="4561506"/>
              <a:ext cx="166187" cy="254765"/>
            </a:xfrm>
            <a:custGeom>
              <a:avLst/>
              <a:gdLst/>
              <a:ahLst/>
              <a:cxnLst>
                <a:cxn ang="0">
                  <a:pos x="171" y="0"/>
                </a:cxn>
                <a:cxn ang="0">
                  <a:pos x="0" y="262"/>
                </a:cxn>
              </a:cxnLst>
              <a:rect l="0" t="0" r="r" b="b"/>
              <a:pathLst>
                <a:path w="171" h="262">
                  <a:moveTo>
                    <a:pt x="171" y="0"/>
                  </a:moveTo>
                  <a:lnTo>
                    <a:pt x="0" y="262"/>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20"/>
            <p:cNvSpPr/>
            <p:nvPr/>
          </p:nvSpPr>
          <p:spPr bwMode="auto">
            <a:xfrm>
              <a:off x="2383156" y="3513274"/>
              <a:ext cx="743469" cy="801247"/>
            </a:xfrm>
            <a:custGeom>
              <a:avLst/>
              <a:gdLst/>
              <a:ahLst/>
              <a:cxnLst>
                <a:cxn ang="0">
                  <a:pos x="765" y="0"/>
                </a:cxn>
                <a:cxn ang="0">
                  <a:pos x="0" y="823"/>
                </a:cxn>
              </a:cxnLst>
              <a:rect l="0" t="0" r="r" b="b"/>
              <a:pathLst>
                <a:path w="765" h="823">
                  <a:moveTo>
                    <a:pt x="765" y="0"/>
                  </a:moveTo>
                  <a:lnTo>
                    <a:pt x="0" y="823"/>
                  </a:lnTo>
                </a:path>
              </a:pathLst>
            </a:custGeom>
            <a:noFill/>
            <a:ln w="9525">
              <a:solidFill>
                <a:srgbClr val="000000"/>
              </a:solidFill>
              <a:round/>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Oval 19"/>
            <p:cNvSpPr>
              <a:spLocks noChangeArrowheads="1"/>
            </p:cNvSpPr>
            <p:nvPr/>
          </p:nvSpPr>
          <p:spPr bwMode="auto">
            <a:xfrm>
              <a:off x="3094554" y="332852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18"/>
            <p:cNvSpPr>
              <a:spLocks noChangeArrowheads="1"/>
            </p:cNvSpPr>
            <p:nvPr/>
          </p:nvSpPr>
          <p:spPr bwMode="auto">
            <a:xfrm>
              <a:off x="2613485" y="3780680"/>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17"/>
            <p:cNvSpPr>
              <a:spLocks noChangeArrowheads="1"/>
            </p:cNvSpPr>
            <p:nvPr/>
          </p:nvSpPr>
          <p:spPr bwMode="auto">
            <a:xfrm>
              <a:off x="3502733" y="3780680"/>
              <a:ext cx="303219" cy="27421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16"/>
            <p:cNvSpPr>
              <a:spLocks noChangeArrowheads="1"/>
            </p:cNvSpPr>
            <p:nvPr/>
          </p:nvSpPr>
          <p:spPr bwMode="auto">
            <a:xfrm>
              <a:off x="2161573" y="4309658"/>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15"/>
            <p:cNvSpPr>
              <a:spLocks noChangeArrowheads="1"/>
            </p:cNvSpPr>
            <p:nvPr/>
          </p:nvSpPr>
          <p:spPr bwMode="auto">
            <a:xfrm>
              <a:off x="2934198" y="4309658"/>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14"/>
            <p:cNvSpPr>
              <a:spLocks noChangeArrowheads="1"/>
            </p:cNvSpPr>
            <p:nvPr/>
          </p:nvSpPr>
          <p:spPr bwMode="auto">
            <a:xfrm>
              <a:off x="2630979" y="4807520"/>
              <a:ext cx="303219"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13"/>
            <p:cNvSpPr>
              <a:spLocks noChangeArrowheads="1"/>
            </p:cNvSpPr>
            <p:nvPr/>
          </p:nvSpPr>
          <p:spPr bwMode="auto">
            <a:xfrm>
              <a:off x="3954646" y="4288266"/>
              <a:ext cx="302247" cy="27518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5"/>
            <p:cNvSpPr txBox="1">
              <a:spLocks noChangeArrowheads="1"/>
            </p:cNvSpPr>
            <p:nvPr/>
          </p:nvSpPr>
          <p:spPr bwMode="auto">
            <a:xfrm>
              <a:off x="2500298" y="5357826"/>
              <a:ext cx="1428760" cy="2857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）高度为</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AutoShape 3"/>
            <p:cNvSpPr>
              <a:spLocks noChangeShapeType="1"/>
            </p:cNvSpPr>
            <p:nvPr/>
          </p:nvSpPr>
          <p:spPr bwMode="auto">
            <a:xfrm>
              <a:off x="3353067" y="3563838"/>
              <a:ext cx="194371" cy="256710"/>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AutoShape 2"/>
            <p:cNvSpPr>
              <a:spLocks noChangeShapeType="1"/>
            </p:cNvSpPr>
            <p:nvPr/>
          </p:nvSpPr>
          <p:spPr bwMode="auto">
            <a:xfrm>
              <a:off x="3761246" y="4015025"/>
              <a:ext cx="238105" cy="313108"/>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pic>
        <p:nvPicPr>
          <p:cNvPr id="33793" name="Picture 1"/>
          <p:cNvPicPr>
            <a:picLocks noChangeAspect="1" noChangeArrowheads="1"/>
          </p:cNvPicPr>
          <p:nvPr/>
        </p:nvPicPr>
        <p:blipFill>
          <a:blip r:embed="rId1" cstate="print"/>
          <a:srcRect/>
          <a:stretch>
            <a:fillRect/>
          </a:stretch>
        </p:blipFill>
        <p:spPr bwMode="auto">
          <a:xfrm>
            <a:off x="285721" y="4000504"/>
            <a:ext cx="3714776" cy="595044"/>
          </a:xfrm>
          <a:prstGeom prst="rect">
            <a:avLst/>
          </a:prstGeom>
          <a:noFill/>
          <a:ln w="9525">
            <a:noFill/>
            <a:miter lim="800000"/>
            <a:headEnd/>
            <a:tailEnd/>
          </a:ln>
        </p:spPr>
      </p:pic>
      <p:pic>
        <p:nvPicPr>
          <p:cNvPr id="33794" name="Picture 2"/>
          <p:cNvPicPr>
            <a:picLocks noChangeAspect="1" noChangeArrowheads="1"/>
          </p:cNvPicPr>
          <p:nvPr/>
        </p:nvPicPr>
        <p:blipFill>
          <a:blip r:embed="rId2" cstate="print"/>
          <a:srcRect/>
          <a:stretch>
            <a:fillRect/>
          </a:stretch>
        </p:blipFill>
        <p:spPr bwMode="auto">
          <a:xfrm>
            <a:off x="4071934" y="4500570"/>
            <a:ext cx="5000660" cy="571504"/>
          </a:xfrm>
          <a:prstGeom prst="rect">
            <a:avLst/>
          </a:prstGeom>
          <a:noFill/>
          <a:ln w="9525">
            <a:noFill/>
            <a:miter lim="800000"/>
            <a:headEnd/>
            <a:tailEnd/>
          </a:ln>
        </p:spPr>
      </p:pic>
      <p:sp>
        <p:nvSpPr>
          <p:cNvPr id="29" name="下箭头 28"/>
          <p:cNvSpPr/>
          <p:nvPr/>
        </p:nvSpPr>
        <p:spPr bwMode="auto">
          <a:xfrm>
            <a:off x="1785918" y="3500438"/>
            <a:ext cx="214314" cy="357190"/>
          </a:xfrm>
          <a:prstGeom prst="down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30" name="下箭头 29"/>
          <p:cNvSpPr/>
          <p:nvPr/>
        </p:nvSpPr>
        <p:spPr bwMode="auto">
          <a:xfrm>
            <a:off x="6500826" y="3500438"/>
            <a:ext cx="214314" cy="714380"/>
          </a:xfrm>
          <a:prstGeom prst="down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37" name="灯片编号占位符 3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75009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那么如何分析二叉排序树的查找性能呢？有如下两种分析方法。</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500166" y="1142984"/>
            <a:ext cx="7143800" cy="41844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给定</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关键字的集合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，假设所有关键字不相同，对应有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个关键字序列，每个关键字序列构造一棵二叉排序树，所有这些二叉排序树中查找每个关键字的平均时间为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给定含</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个关键字的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关键字序列</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构造一棵二叉排序树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其中查找性能最好的是高度最小的二叉排序树，</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最好查找性能为</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。查找性能最坏的是高度为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的二叉排序树（单支树），</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最坏查找性能为</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。平均情况由具体的关键字序列来确定。所以常说二叉排序树的时间复杂度在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之间，就是指这种分析方法。</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6" name="Picture 2"/>
          <p:cNvPicPr>
            <a:picLocks noChangeAspect="1" noChangeArrowheads="1"/>
          </p:cNvPicPr>
          <p:nvPr/>
        </p:nvPicPr>
        <p:blipFill>
          <a:blip r:embed="rId2" cstate="print"/>
          <a:srcRect/>
          <a:stretch>
            <a:fillRect/>
          </a:stretch>
        </p:blipFill>
        <p:spPr bwMode="auto">
          <a:xfrm>
            <a:off x="357158" y="1214422"/>
            <a:ext cx="1106357" cy="928694"/>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321471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4.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二叉排序树的删除</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71612"/>
            <a:ext cx="7786742" cy="279945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删除关键字与删除结点是一回事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（每个结点一个关键字）。</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删除一个结点时不能简单地把以该结点为根的子树都删去，只能删除该结点本身，并且还要保证删除后的二叉树仍然满足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性质。</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也就是说，在二叉排序树中删除一个结点就相当于删除有序序列（即该树的中序序列）中的一个结点。</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428604"/>
            <a:ext cx="371477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删除结点</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分为以下几种情况</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500034" y="928670"/>
            <a:ext cx="7858180"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是叶子结点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），删除该结点等同于删除该结点的子树，所以可以直接删除该结点。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2"/>
          <p:cNvGrpSpPr/>
          <p:nvPr/>
        </p:nvGrpSpPr>
        <p:grpSpPr>
          <a:xfrm>
            <a:off x="1107915" y="2260047"/>
            <a:ext cx="6607357" cy="2383399"/>
            <a:chOff x="1107915" y="1983783"/>
            <a:chExt cx="6607357" cy="2383399"/>
          </a:xfrm>
        </p:grpSpPr>
        <p:sp>
          <p:nvSpPr>
            <p:cNvPr id="6" name="Freeform 155"/>
            <p:cNvSpPr/>
            <p:nvPr/>
          </p:nvSpPr>
          <p:spPr bwMode="auto">
            <a:xfrm>
              <a:off x="1743610" y="2204716"/>
              <a:ext cx="247573"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154"/>
            <p:cNvSpPr/>
            <p:nvPr/>
          </p:nvSpPr>
          <p:spPr bwMode="auto">
            <a:xfrm>
              <a:off x="1714480" y="3067407"/>
              <a:ext cx="169421" cy="218717"/>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153"/>
            <p:cNvSpPr/>
            <p:nvPr/>
          </p:nvSpPr>
          <p:spPr bwMode="auto">
            <a:xfrm>
              <a:off x="1357290" y="2614064"/>
              <a:ext cx="185166" cy="243432"/>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152"/>
            <p:cNvSpPr/>
            <p:nvPr/>
          </p:nvSpPr>
          <p:spPr bwMode="auto">
            <a:xfrm>
              <a:off x="2693670" y="2628411"/>
              <a:ext cx="155765"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151"/>
            <p:cNvSpPr/>
            <p:nvPr/>
          </p:nvSpPr>
          <p:spPr bwMode="auto">
            <a:xfrm>
              <a:off x="3034083" y="3044453"/>
              <a:ext cx="133070" cy="171199"/>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150"/>
            <p:cNvSpPr/>
            <p:nvPr/>
          </p:nvSpPr>
          <p:spPr bwMode="auto">
            <a:xfrm>
              <a:off x="3360054" y="3408849"/>
              <a:ext cx="131007" cy="158766"/>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149"/>
            <p:cNvSpPr/>
            <p:nvPr/>
          </p:nvSpPr>
          <p:spPr bwMode="auto">
            <a:xfrm>
              <a:off x="1796219" y="2642757"/>
              <a:ext cx="209405" cy="286926"/>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148"/>
            <p:cNvSpPr/>
            <p:nvPr/>
          </p:nvSpPr>
          <p:spPr bwMode="auto">
            <a:xfrm>
              <a:off x="2285175" y="2190370"/>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Oval 147"/>
            <p:cNvSpPr>
              <a:spLocks noChangeArrowheads="1"/>
            </p:cNvSpPr>
            <p:nvPr/>
          </p:nvSpPr>
          <p:spPr bwMode="auto">
            <a:xfrm>
              <a:off x="1975709" y="1983783"/>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146"/>
            <p:cNvSpPr>
              <a:spLocks noChangeArrowheads="1"/>
            </p:cNvSpPr>
            <p:nvPr/>
          </p:nvSpPr>
          <p:spPr bwMode="auto">
            <a:xfrm>
              <a:off x="1507384" y="2405565"/>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145"/>
            <p:cNvSpPr>
              <a:spLocks noChangeArrowheads="1"/>
            </p:cNvSpPr>
            <p:nvPr/>
          </p:nvSpPr>
          <p:spPr bwMode="auto">
            <a:xfrm>
              <a:off x="2405867" y="2398870"/>
              <a:ext cx="320813"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144"/>
            <p:cNvSpPr>
              <a:spLocks noChangeArrowheads="1"/>
            </p:cNvSpPr>
            <p:nvPr/>
          </p:nvSpPr>
          <p:spPr bwMode="auto">
            <a:xfrm>
              <a:off x="1107915" y="2822564"/>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143"/>
            <p:cNvSpPr>
              <a:spLocks noChangeArrowheads="1"/>
            </p:cNvSpPr>
            <p:nvPr/>
          </p:nvSpPr>
          <p:spPr bwMode="auto">
            <a:xfrm>
              <a:off x="1847796" y="2822564"/>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142"/>
            <p:cNvSpPr>
              <a:spLocks noChangeArrowheads="1"/>
            </p:cNvSpPr>
            <p:nvPr/>
          </p:nvSpPr>
          <p:spPr bwMode="auto">
            <a:xfrm>
              <a:off x="1510665" y="3265024"/>
              <a:ext cx="322876"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141"/>
            <p:cNvSpPr>
              <a:spLocks noChangeArrowheads="1"/>
            </p:cNvSpPr>
            <p:nvPr/>
          </p:nvSpPr>
          <p:spPr bwMode="auto">
            <a:xfrm>
              <a:off x="2741122" y="2790046"/>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140"/>
            <p:cNvSpPr>
              <a:spLocks noChangeArrowheads="1"/>
            </p:cNvSpPr>
            <p:nvPr/>
          </p:nvSpPr>
          <p:spPr bwMode="auto">
            <a:xfrm>
              <a:off x="3083597" y="3164006"/>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139"/>
            <p:cNvSpPr>
              <a:spLocks noChangeArrowheads="1"/>
            </p:cNvSpPr>
            <p:nvPr/>
          </p:nvSpPr>
          <p:spPr bwMode="auto">
            <a:xfrm>
              <a:off x="3421947" y="3532228"/>
              <a:ext cx="321845" cy="298403"/>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Text Box 138"/>
            <p:cNvSpPr txBox="1">
              <a:spLocks noChangeArrowheads="1"/>
            </p:cNvSpPr>
            <p:nvPr/>
          </p:nvSpPr>
          <p:spPr bwMode="auto">
            <a:xfrm>
              <a:off x="2571736" y="4071942"/>
              <a:ext cx="3833217" cy="295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为叶子结点：直接删除</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AutoShape 137"/>
            <p:cNvSpPr>
              <a:spLocks noChangeArrowheads="1"/>
            </p:cNvSpPr>
            <p:nvPr/>
          </p:nvSpPr>
          <p:spPr bwMode="auto">
            <a:xfrm>
              <a:off x="3844884" y="3024369"/>
              <a:ext cx="1114078" cy="150158"/>
            </a:xfrm>
            <a:prstGeom prst="rightArrow">
              <a:avLst>
                <a:gd name="adj1" fmla="val 50000"/>
                <a:gd name="adj2" fmla="val 171975"/>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136"/>
            <p:cNvSpPr txBox="1">
              <a:spLocks noChangeArrowheads="1"/>
            </p:cNvSpPr>
            <p:nvPr/>
          </p:nvSpPr>
          <p:spPr bwMode="auto">
            <a:xfrm>
              <a:off x="3714744" y="2724108"/>
              <a:ext cx="1308936" cy="21790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删除结点</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Line 135"/>
            <p:cNvSpPr>
              <a:spLocks noChangeShapeType="1"/>
            </p:cNvSpPr>
            <p:nvPr/>
          </p:nvSpPr>
          <p:spPr bwMode="auto">
            <a:xfrm>
              <a:off x="3581838" y="3263474"/>
              <a:ext cx="0" cy="270667"/>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134"/>
            <p:cNvSpPr txBox="1">
              <a:spLocks noChangeArrowheads="1"/>
            </p:cNvSpPr>
            <p:nvPr/>
          </p:nvSpPr>
          <p:spPr bwMode="auto">
            <a:xfrm>
              <a:off x="3432262" y="3070277"/>
              <a:ext cx="252731" cy="232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116"/>
            <p:cNvSpPr/>
            <p:nvPr/>
          </p:nvSpPr>
          <p:spPr bwMode="auto">
            <a:xfrm>
              <a:off x="6053440" y="2200891"/>
              <a:ext cx="247573"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115"/>
            <p:cNvSpPr/>
            <p:nvPr/>
          </p:nvSpPr>
          <p:spPr bwMode="auto">
            <a:xfrm>
              <a:off x="6072198" y="3063582"/>
              <a:ext cx="121533" cy="222542"/>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114"/>
            <p:cNvSpPr/>
            <p:nvPr/>
          </p:nvSpPr>
          <p:spPr bwMode="auto">
            <a:xfrm>
              <a:off x="5643570" y="2610239"/>
              <a:ext cx="208716" cy="247257"/>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113"/>
            <p:cNvSpPr/>
            <p:nvPr/>
          </p:nvSpPr>
          <p:spPr bwMode="auto">
            <a:xfrm>
              <a:off x="7004532" y="2624585"/>
              <a:ext cx="154733"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112"/>
            <p:cNvSpPr/>
            <p:nvPr/>
          </p:nvSpPr>
          <p:spPr bwMode="auto">
            <a:xfrm>
              <a:off x="7344944" y="3040628"/>
              <a:ext cx="133070" cy="173112"/>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111"/>
            <p:cNvSpPr/>
            <p:nvPr/>
          </p:nvSpPr>
          <p:spPr bwMode="auto">
            <a:xfrm>
              <a:off x="6108112" y="2638931"/>
              <a:ext cx="208374" cy="286926"/>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110"/>
            <p:cNvSpPr/>
            <p:nvPr/>
          </p:nvSpPr>
          <p:spPr bwMode="auto">
            <a:xfrm>
              <a:off x="6595005" y="2186544"/>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Oval 109"/>
            <p:cNvSpPr>
              <a:spLocks noChangeArrowheads="1"/>
            </p:cNvSpPr>
            <p:nvPr/>
          </p:nvSpPr>
          <p:spPr bwMode="auto">
            <a:xfrm>
              <a:off x="5818245" y="2401739"/>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08"/>
            <p:cNvSpPr>
              <a:spLocks noChangeArrowheads="1"/>
            </p:cNvSpPr>
            <p:nvPr/>
          </p:nvSpPr>
          <p:spPr bwMode="auto">
            <a:xfrm>
              <a:off x="6715697" y="2396957"/>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07"/>
            <p:cNvSpPr>
              <a:spLocks noChangeArrowheads="1"/>
            </p:cNvSpPr>
            <p:nvPr/>
          </p:nvSpPr>
          <p:spPr bwMode="auto">
            <a:xfrm>
              <a:off x="5429256" y="2818738"/>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06"/>
            <p:cNvSpPr>
              <a:spLocks noChangeArrowheads="1"/>
            </p:cNvSpPr>
            <p:nvPr/>
          </p:nvSpPr>
          <p:spPr bwMode="auto">
            <a:xfrm>
              <a:off x="6158658" y="2818738"/>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05"/>
            <p:cNvSpPr>
              <a:spLocks noChangeArrowheads="1"/>
            </p:cNvSpPr>
            <p:nvPr/>
          </p:nvSpPr>
          <p:spPr bwMode="auto">
            <a:xfrm>
              <a:off x="5821791" y="3240132"/>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04"/>
            <p:cNvSpPr>
              <a:spLocks noChangeArrowheads="1"/>
            </p:cNvSpPr>
            <p:nvPr/>
          </p:nvSpPr>
          <p:spPr bwMode="auto">
            <a:xfrm>
              <a:off x="7050952" y="2786220"/>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03"/>
            <p:cNvSpPr>
              <a:spLocks noChangeArrowheads="1"/>
            </p:cNvSpPr>
            <p:nvPr/>
          </p:nvSpPr>
          <p:spPr bwMode="auto">
            <a:xfrm>
              <a:off x="7394459" y="3161137"/>
              <a:ext cx="320813"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38"/>
            <p:cNvSpPr>
              <a:spLocks noChangeArrowheads="1"/>
            </p:cNvSpPr>
            <p:nvPr/>
          </p:nvSpPr>
          <p:spPr bwMode="auto">
            <a:xfrm>
              <a:off x="6298949" y="1990478"/>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49" name="灯片编号占位符 48"/>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3"/>
          <p:cNvGrpSpPr/>
          <p:nvPr/>
        </p:nvGrpSpPr>
        <p:grpSpPr>
          <a:xfrm>
            <a:off x="1214414" y="2268579"/>
            <a:ext cx="7003676" cy="2374867"/>
            <a:chOff x="1214414" y="2268579"/>
            <a:chExt cx="7003676" cy="2374867"/>
          </a:xfrm>
        </p:grpSpPr>
        <p:sp>
          <p:nvSpPr>
            <p:cNvPr id="3" name="Text Box 133"/>
            <p:cNvSpPr txBox="1">
              <a:spLocks noChangeArrowheads="1"/>
            </p:cNvSpPr>
            <p:nvPr/>
          </p:nvSpPr>
          <p:spPr bwMode="auto">
            <a:xfrm>
              <a:off x="2000232" y="4348206"/>
              <a:ext cx="5357850" cy="295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仅有左孩子：用左孩子</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结点替代结点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 name="AutoShape 132"/>
            <p:cNvSpPr>
              <a:spLocks noChangeArrowheads="1"/>
            </p:cNvSpPr>
            <p:nvPr/>
          </p:nvSpPr>
          <p:spPr bwMode="auto">
            <a:xfrm>
              <a:off x="4009352" y="3369419"/>
              <a:ext cx="1114078" cy="149202"/>
            </a:xfrm>
            <a:prstGeom prst="rightArrow">
              <a:avLst>
                <a:gd name="adj1" fmla="val 50000"/>
                <a:gd name="adj2" fmla="val 173077"/>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131"/>
            <p:cNvSpPr txBox="1">
              <a:spLocks noChangeArrowheads="1"/>
            </p:cNvSpPr>
            <p:nvPr/>
          </p:nvSpPr>
          <p:spPr bwMode="auto">
            <a:xfrm>
              <a:off x="3999036" y="3137965"/>
              <a:ext cx="1072816" cy="19702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删除结点</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Line 130"/>
            <p:cNvSpPr>
              <a:spLocks noChangeShapeType="1"/>
            </p:cNvSpPr>
            <p:nvPr/>
          </p:nvSpPr>
          <p:spPr bwMode="auto">
            <a:xfrm>
              <a:off x="1858563" y="3608524"/>
              <a:ext cx="242415" cy="3826"/>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129"/>
            <p:cNvSpPr txBox="1">
              <a:spLocks noChangeArrowheads="1"/>
            </p:cNvSpPr>
            <p:nvPr/>
          </p:nvSpPr>
          <p:spPr bwMode="auto">
            <a:xfrm>
              <a:off x="2075189" y="3508100"/>
              <a:ext cx="251699" cy="232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Line 128"/>
            <p:cNvSpPr>
              <a:spLocks noChangeShapeType="1"/>
            </p:cNvSpPr>
            <p:nvPr/>
          </p:nvSpPr>
          <p:spPr bwMode="auto">
            <a:xfrm flipH="1" flipV="1">
              <a:off x="2309352" y="3250823"/>
              <a:ext cx="174333" cy="84165"/>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127"/>
            <p:cNvSpPr txBox="1">
              <a:spLocks noChangeArrowheads="1"/>
            </p:cNvSpPr>
            <p:nvPr/>
          </p:nvSpPr>
          <p:spPr bwMode="auto">
            <a:xfrm>
              <a:off x="2485747" y="3265169"/>
              <a:ext cx="253762" cy="232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102"/>
            <p:cNvSpPr/>
            <p:nvPr/>
          </p:nvSpPr>
          <p:spPr bwMode="auto">
            <a:xfrm>
              <a:off x="1877131" y="2488556"/>
              <a:ext cx="247573"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101"/>
            <p:cNvSpPr/>
            <p:nvPr/>
          </p:nvSpPr>
          <p:spPr bwMode="auto">
            <a:xfrm>
              <a:off x="1837932" y="3351247"/>
              <a:ext cx="179490" cy="172156"/>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100"/>
            <p:cNvSpPr/>
            <p:nvPr/>
          </p:nvSpPr>
          <p:spPr bwMode="auto">
            <a:xfrm>
              <a:off x="1431480" y="2897904"/>
              <a:ext cx="244498" cy="288627"/>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99"/>
            <p:cNvSpPr/>
            <p:nvPr/>
          </p:nvSpPr>
          <p:spPr bwMode="auto">
            <a:xfrm>
              <a:off x="2828223" y="2912250"/>
              <a:ext cx="153701"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98"/>
            <p:cNvSpPr/>
            <p:nvPr/>
          </p:nvSpPr>
          <p:spPr bwMode="auto">
            <a:xfrm>
              <a:off x="3168636" y="3328293"/>
              <a:ext cx="132039" cy="172156"/>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97"/>
            <p:cNvSpPr/>
            <p:nvPr/>
          </p:nvSpPr>
          <p:spPr bwMode="auto">
            <a:xfrm>
              <a:off x="3493575" y="3693645"/>
              <a:ext cx="132039" cy="157809"/>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96"/>
            <p:cNvSpPr/>
            <p:nvPr/>
          </p:nvSpPr>
          <p:spPr bwMode="auto">
            <a:xfrm>
              <a:off x="1930772" y="2926596"/>
              <a:ext cx="209405" cy="286926"/>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95"/>
            <p:cNvSpPr/>
            <p:nvPr/>
          </p:nvSpPr>
          <p:spPr bwMode="auto">
            <a:xfrm>
              <a:off x="2417665" y="2474210"/>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Oval 94"/>
            <p:cNvSpPr>
              <a:spLocks noChangeArrowheads="1"/>
            </p:cNvSpPr>
            <p:nvPr/>
          </p:nvSpPr>
          <p:spPr bwMode="auto">
            <a:xfrm>
              <a:off x="2109230" y="2268579"/>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93"/>
            <p:cNvSpPr>
              <a:spLocks noChangeArrowheads="1"/>
            </p:cNvSpPr>
            <p:nvPr/>
          </p:nvSpPr>
          <p:spPr bwMode="auto">
            <a:xfrm>
              <a:off x="1641937" y="2689404"/>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92"/>
            <p:cNvSpPr>
              <a:spLocks noChangeArrowheads="1"/>
            </p:cNvSpPr>
            <p:nvPr/>
          </p:nvSpPr>
          <p:spPr bwMode="auto">
            <a:xfrm>
              <a:off x="2539388" y="2684622"/>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90"/>
            <p:cNvSpPr>
              <a:spLocks noChangeArrowheads="1"/>
            </p:cNvSpPr>
            <p:nvPr/>
          </p:nvSpPr>
          <p:spPr bwMode="auto">
            <a:xfrm>
              <a:off x="1982349" y="3107360"/>
              <a:ext cx="320813" cy="297447"/>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89"/>
            <p:cNvSpPr>
              <a:spLocks noChangeArrowheads="1"/>
            </p:cNvSpPr>
            <p:nvPr/>
          </p:nvSpPr>
          <p:spPr bwMode="auto">
            <a:xfrm>
              <a:off x="1533624" y="3458366"/>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88"/>
            <p:cNvSpPr>
              <a:spLocks noChangeArrowheads="1"/>
            </p:cNvSpPr>
            <p:nvPr/>
          </p:nvSpPr>
          <p:spPr bwMode="auto">
            <a:xfrm>
              <a:off x="2874643" y="3073885"/>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Oval 87"/>
            <p:cNvSpPr>
              <a:spLocks noChangeArrowheads="1"/>
            </p:cNvSpPr>
            <p:nvPr/>
          </p:nvSpPr>
          <p:spPr bwMode="auto">
            <a:xfrm>
              <a:off x="3216087" y="3448802"/>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Oval 86"/>
            <p:cNvSpPr>
              <a:spLocks noChangeArrowheads="1"/>
            </p:cNvSpPr>
            <p:nvPr/>
          </p:nvSpPr>
          <p:spPr bwMode="auto">
            <a:xfrm>
              <a:off x="3555468" y="3817024"/>
              <a:ext cx="321845"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85"/>
            <p:cNvSpPr/>
            <p:nvPr/>
          </p:nvSpPr>
          <p:spPr bwMode="auto">
            <a:xfrm>
              <a:off x="6217908" y="2488556"/>
              <a:ext cx="247573"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84"/>
            <p:cNvSpPr/>
            <p:nvPr/>
          </p:nvSpPr>
          <p:spPr bwMode="auto">
            <a:xfrm>
              <a:off x="5860636" y="2897904"/>
              <a:ext cx="156118" cy="217189"/>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83"/>
            <p:cNvSpPr/>
            <p:nvPr/>
          </p:nvSpPr>
          <p:spPr bwMode="auto">
            <a:xfrm>
              <a:off x="7169000" y="2912250"/>
              <a:ext cx="154733"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2"/>
            <p:cNvSpPr/>
            <p:nvPr/>
          </p:nvSpPr>
          <p:spPr bwMode="auto">
            <a:xfrm>
              <a:off x="7509412" y="3328293"/>
              <a:ext cx="133070" cy="172156"/>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81"/>
            <p:cNvSpPr/>
            <p:nvPr/>
          </p:nvSpPr>
          <p:spPr bwMode="auto">
            <a:xfrm>
              <a:off x="7834352" y="3693645"/>
              <a:ext cx="132039" cy="157809"/>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80"/>
            <p:cNvSpPr/>
            <p:nvPr/>
          </p:nvSpPr>
          <p:spPr bwMode="auto">
            <a:xfrm>
              <a:off x="6272580" y="2926596"/>
              <a:ext cx="208374" cy="286926"/>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79"/>
            <p:cNvSpPr/>
            <p:nvPr/>
          </p:nvSpPr>
          <p:spPr bwMode="auto">
            <a:xfrm>
              <a:off x="6759473" y="2474210"/>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Oval 78"/>
            <p:cNvSpPr>
              <a:spLocks noChangeArrowheads="1"/>
            </p:cNvSpPr>
            <p:nvPr/>
          </p:nvSpPr>
          <p:spPr bwMode="auto">
            <a:xfrm>
              <a:off x="6450007" y="2268579"/>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77"/>
            <p:cNvSpPr>
              <a:spLocks noChangeArrowheads="1"/>
            </p:cNvSpPr>
            <p:nvPr/>
          </p:nvSpPr>
          <p:spPr bwMode="auto">
            <a:xfrm>
              <a:off x="5982713" y="2689404"/>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76"/>
            <p:cNvSpPr>
              <a:spLocks noChangeArrowheads="1"/>
            </p:cNvSpPr>
            <p:nvPr/>
          </p:nvSpPr>
          <p:spPr bwMode="auto">
            <a:xfrm>
              <a:off x="6880165" y="2684622"/>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75"/>
            <p:cNvSpPr>
              <a:spLocks noChangeArrowheads="1"/>
            </p:cNvSpPr>
            <p:nvPr/>
          </p:nvSpPr>
          <p:spPr bwMode="auto">
            <a:xfrm>
              <a:off x="5610229" y="3107360"/>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74"/>
            <p:cNvSpPr>
              <a:spLocks noChangeArrowheads="1"/>
            </p:cNvSpPr>
            <p:nvPr/>
          </p:nvSpPr>
          <p:spPr bwMode="auto">
            <a:xfrm>
              <a:off x="6323126" y="3107360"/>
              <a:ext cx="322876"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73"/>
            <p:cNvSpPr>
              <a:spLocks noChangeArrowheads="1"/>
            </p:cNvSpPr>
            <p:nvPr/>
          </p:nvSpPr>
          <p:spPr bwMode="auto">
            <a:xfrm>
              <a:off x="7215420" y="3073885"/>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72"/>
            <p:cNvSpPr>
              <a:spLocks noChangeArrowheads="1"/>
            </p:cNvSpPr>
            <p:nvPr/>
          </p:nvSpPr>
          <p:spPr bwMode="auto">
            <a:xfrm>
              <a:off x="7558927" y="3448802"/>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71"/>
            <p:cNvSpPr>
              <a:spLocks noChangeArrowheads="1"/>
            </p:cNvSpPr>
            <p:nvPr/>
          </p:nvSpPr>
          <p:spPr bwMode="auto">
            <a:xfrm>
              <a:off x="7896245" y="3817024"/>
              <a:ext cx="321845"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91"/>
            <p:cNvSpPr>
              <a:spLocks noChangeArrowheads="1"/>
            </p:cNvSpPr>
            <p:nvPr/>
          </p:nvSpPr>
          <p:spPr bwMode="auto">
            <a:xfrm>
              <a:off x="1214414" y="3043655"/>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43" name="TextBox 42"/>
          <p:cNvSpPr txBox="1"/>
          <p:nvPr/>
        </p:nvSpPr>
        <p:spPr>
          <a:xfrm>
            <a:off x="642910" y="642918"/>
            <a:ext cx="8072494" cy="1169551"/>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只有左孩子没有右孩子</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），根据二叉排序树的特点，可以用结点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的左子树替代结点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的子树，也就是直接用其左孩子替代它（结点替代</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灯片编号占位符 4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2"/>
          <p:cNvGrpSpPr/>
          <p:nvPr/>
        </p:nvGrpSpPr>
        <p:grpSpPr>
          <a:xfrm>
            <a:off x="1463042" y="2500306"/>
            <a:ext cx="6537982" cy="2428892"/>
            <a:chOff x="1463042" y="2500306"/>
            <a:chExt cx="6537982" cy="2428892"/>
          </a:xfrm>
        </p:grpSpPr>
        <p:sp>
          <p:nvSpPr>
            <p:cNvPr id="3" name="Text Box 126"/>
            <p:cNvSpPr txBox="1">
              <a:spLocks noChangeArrowheads="1"/>
            </p:cNvSpPr>
            <p:nvPr/>
          </p:nvSpPr>
          <p:spPr bwMode="auto">
            <a:xfrm>
              <a:off x="2071670" y="4591116"/>
              <a:ext cx="5429287" cy="33808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仅有右孩子：用右孩子</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结点替代结点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 name="AutoShape 125"/>
            <p:cNvSpPr>
              <a:spLocks noChangeArrowheads="1"/>
            </p:cNvSpPr>
            <p:nvPr/>
          </p:nvSpPr>
          <p:spPr bwMode="auto">
            <a:xfrm>
              <a:off x="4125478" y="3527501"/>
              <a:ext cx="1114078" cy="149202"/>
            </a:xfrm>
            <a:prstGeom prst="rightArrow">
              <a:avLst>
                <a:gd name="adj1" fmla="val 50000"/>
                <a:gd name="adj2" fmla="val 173077"/>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124"/>
            <p:cNvSpPr txBox="1">
              <a:spLocks noChangeArrowheads="1"/>
            </p:cNvSpPr>
            <p:nvPr/>
          </p:nvSpPr>
          <p:spPr bwMode="auto">
            <a:xfrm>
              <a:off x="4115162" y="3295091"/>
              <a:ext cx="1072816" cy="19797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删除结点</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Line 120"/>
            <p:cNvSpPr>
              <a:spLocks noChangeShapeType="1"/>
            </p:cNvSpPr>
            <p:nvPr/>
          </p:nvSpPr>
          <p:spPr bwMode="auto">
            <a:xfrm flipH="1">
              <a:off x="3392044" y="3339086"/>
              <a:ext cx="151638" cy="96598"/>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119"/>
            <p:cNvSpPr txBox="1">
              <a:spLocks noChangeArrowheads="1"/>
            </p:cNvSpPr>
            <p:nvPr/>
          </p:nvSpPr>
          <p:spPr bwMode="auto">
            <a:xfrm>
              <a:off x="3543682" y="3187972"/>
              <a:ext cx="252731" cy="232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Line 118"/>
            <p:cNvSpPr>
              <a:spLocks noChangeShapeType="1"/>
            </p:cNvSpPr>
            <p:nvPr/>
          </p:nvSpPr>
          <p:spPr bwMode="auto">
            <a:xfrm flipH="1">
              <a:off x="3156849" y="3832599"/>
              <a:ext cx="245510" cy="0"/>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117"/>
            <p:cNvSpPr txBox="1">
              <a:spLocks noChangeArrowheads="1"/>
            </p:cNvSpPr>
            <p:nvPr/>
          </p:nvSpPr>
          <p:spPr bwMode="auto">
            <a:xfrm>
              <a:off x="2927845" y="3714959"/>
              <a:ext cx="253762" cy="23336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70"/>
            <p:cNvSpPr/>
            <p:nvPr/>
          </p:nvSpPr>
          <p:spPr bwMode="auto">
            <a:xfrm>
              <a:off x="2068561" y="2721239"/>
              <a:ext cx="246541"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69"/>
            <p:cNvSpPr/>
            <p:nvPr/>
          </p:nvSpPr>
          <p:spPr bwMode="auto">
            <a:xfrm>
              <a:off x="2071670" y="3583930"/>
              <a:ext cx="136150" cy="202260"/>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68"/>
            <p:cNvSpPr/>
            <p:nvPr/>
          </p:nvSpPr>
          <p:spPr bwMode="auto">
            <a:xfrm>
              <a:off x="1714480" y="3130587"/>
              <a:ext cx="175711" cy="226975"/>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67"/>
            <p:cNvSpPr/>
            <p:nvPr/>
          </p:nvSpPr>
          <p:spPr bwMode="auto">
            <a:xfrm>
              <a:off x="3019653" y="3144933"/>
              <a:ext cx="154733"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66"/>
            <p:cNvSpPr/>
            <p:nvPr/>
          </p:nvSpPr>
          <p:spPr bwMode="auto">
            <a:xfrm>
              <a:off x="3360065" y="3560976"/>
              <a:ext cx="132039" cy="172156"/>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65"/>
            <p:cNvSpPr/>
            <p:nvPr/>
          </p:nvSpPr>
          <p:spPr bwMode="auto">
            <a:xfrm>
              <a:off x="3685005" y="3926328"/>
              <a:ext cx="132039" cy="157809"/>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64"/>
            <p:cNvSpPr/>
            <p:nvPr/>
          </p:nvSpPr>
          <p:spPr bwMode="auto">
            <a:xfrm>
              <a:off x="2122201" y="3158323"/>
              <a:ext cx="209405" cy="287882"/>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63"/>
            <p:cNvSpPr/>
            <p:nvPr/>
          </p:nvSpPr>
          <p:spPr bwMode="auto">
            <a:xfrm>
              <a:off x="2610126" y="2706892"/>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Oval 62"/>
            <p:cNvSpPr>
              <a:spLocks noChangeArrowheads="1"/>
            </p:cNvSpPr>
            <p:nvPr/>
          </p:nvSpPr>
          <p:spPr bwMode="auto">
            <a:xfrm>
              <a:off x="2299629" y="2500306"/>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61"/>
            <p:cNvSpPr>
              <a:spLocks noChangeArrowheads="1"/>
            </p:cNvSpPr>
            <p:nvPr/>
          </p:nvSpPr>
          <p:spPr bwMode="auto">
            <a:xfrm>
              <a:off x="1833366" y="2922087"/>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60"/>
            <p:cNvSpPr>
              <a:spLocks noChangeArrowheads="1"/>
            </p:cNvSpPr>
            <p:nvPr/>
          </p:nvSpPr>
          <p:spPr bwMode="auto">
            <a:xfrm>
              <a:off x="2729786" y="2916348"/>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59"/>
            <p:cNvSpPr>
              <a:spLocks noChangeArrowheads="1"/>
            </p:cNvSpPr>
            <p:nvPr/>
          </p:nvSpPr>
          <p:spPr bwMode="auto">
            <a:xfrm>
              <a:off x="1463042" y="3339086"/>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58"/>
            <p:cNvSpPr>
              <a:spLocks noChangeArrowheads="1"/>
            </p:cNvSpPr>
            <p:nvPr/>
          </p:nvSpPr>
          <p:spPr bwMode="auto">
            <a:xfrm>
              <a:off x="2173779" y="3339086"/>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57"/>
            <p:cNvSpPr>
              <a:spLocks noChangeArrowheads="1"/>
            </p:cNvSpPr>
            <p:nvPr/>
          </p:nvSpPr>
          <p:spPr bwMode="auto">
            <a:xfrm>
              <a:off x="1821263" y="3759250"/>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Oval 56"/>
            <p:cNvSpPr>
              <a:spLocks noChangeArrowheads="1"/>
            </p:cNvSpPr>
            <p:nvPr/>
          </p:nvSpPr>
          <p:spPr bwMode="auto">
            <a:xfrm>
              <a:off x="3066073" y="3306568"/>
              <a:ext cx="320813" cy="298403"/>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Oval 55"/>
            <p:cNvSpPr>
              <a:spLocks noChangeArrowheads="1"/>
            </p:cNvSpPr>
            <p:nvPr/>
          </p:nvSpPr>
          <p:spPr bwMode="auto">
            <a:xfrm>
              <a:off x="3408548" y="3681485"/>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Oval 54"/>
            <p:cNvSpPr>
              <a:spLocks noChangeArrowheads="1"/>
            </p:cNvSpPr>
            <p:nvPr/>
          </p:nvSpPr>
          <p:spPr bwMode="auto">
            <a:xfrm>
              <a:off x="3746898" y="4049706"/>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53"/>
            <p:cNvSpPr/>
            <p:nvPr/>
          </p:nvSpPr>
          <p:spPr bwMode="auto">
            <a:xfrm>
              <a:off x="6339192" y="2778624"/>
              <a:ext cx="247573" cy="215195"/>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52"/>
            <p:cNvSpPr/>
            <p:nvPr/>
          </p:nvSpPr>
          <p:spPr bwMode="auto">
            <a:xfrm>
              <a:off x="6357950" y="3641315"/>
              <a:ext cx="121533" cy="216313"/>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51"/>
            <p:cNvSpPr/>
            <p:nvPr/>
          </p:nvSpPr>
          <p:spPr bwMode="auto">
            <a:xfrm>
              <a:off x="5929322" y="3187972"/>
              <a:ext cx="208716" cy="241028"/>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50"/>
            <p:cNvSpPr/>
            <p:nvPr/>
          </p:nvSpPr>
          <p:spPr bwMode="auto">
            <a:xfrm>
              <a:off x="7290284" y="3202318"/>
              <a:ext cx="154733"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49"/>
            <p:cNvSpPr/>
            <p:nvPr/>
          </p:nvSpPr>
          <p:spPr bwMode="auto">
            <a:xfrm>
              <a:off x="7630696" y="3618361"/>
              <a:ext cx="133070" cy="171199"/>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48"/>
            <p:cNvSpPr/>
            <p:nvPr/>
          </p:nvSpPr>
          <p:spPr bwMode="auto">
            <a:xfrm>
              <a:off x="6393864" y="3216664"/>
              <a:ext cx="208374" cy="286926"/>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47"/>
            <p:cNvSpPr/>
            <p:nvPr/>
          </p:nvSpPr>
          <p:spPr bwMode="auto">
            <a:xfrm>
              <a:off x="6880757" y="2764278"/>
              <a:ext cx="216626" cy="237192"/>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Oval 46"/>
            <p:cNvSpPr>
              <a:spLocks noChangeArrowheads="1"/>
            </p:cNvSpPr>
            <p:nvPr/>
          </p:nvSpPr>
          <p:spPr bwMode="auto">
            <a:xfrm>
              <a:off x="6571291" y="2557691"/>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45"/>
            <p:cNvSpPr>
              <a:spLocks noChangeArrowheads="1"/>
            </p:cNvSpPr>
            <p:nvPr/>
          </p:nvSpPr>
          <p:spPr bwMode="auto">
            <a:xfrm>
              <a:off x="6103997" y="2979472"/>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44"/>
            <p:cNvSpPr>
              <a:spLocks noChangeArrowheads="1"/>
            </p:cNvSpPr>
            <p:nvPr/>
          </p:nvSpPr>
          <p:spPr bwMode="auto">
            <a:xfrm>
              <a:off x="7001449" y="2973734"/>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43"/>
            <p:cNvSpPr>
              <a:spLocks noChangeArrowheads="1"/>
            </p:cNvSpPr>
            <p:nvPr/>
          </p:nvSpPr>
          <p:spPr bwMode="auto">
            <a:xfrm>
              <a:off x="5750353" y="3396471"/>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42"/>
            <p:cNvSpPr>
              <a:spLocks noChangeArrowheads="1"/>
            </p:cNvSpPr>
            <p:nvPr/>
          </p:nvSpPr>
          <p:spPr bwMode="auto">
            <a:xfrm>
              <a:off x="6444410" y="3396471"/>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41"/>
            <p:cNvSpPr>
              <a:spLocks noChangeArrowheads="1"/>
            </p:cNvSpPr>
            <p:nvPr/>
          </p:nvSpPr>
          <p:spPr bwMode="auto">
            <a:xfrm>
              <a:off x="6107543" y="3802117"/>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40"/>
            <p:cNvSpPr>
              <a:spLocks noChangeArrowheads="1"/>
            </p:cNvSpPr>
            <p:nvPr/>
          </p:nvSpPr>
          <p:spPr bwMode="auto">
            <a:xfrm>
              <a:off x="7336704" y="3363953"/>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39"/>
            <p:cNvSpPr>
              <a:spLocks noChangeArrowheads="1"/>
            </p:cNvSpPr>
            <p:nvPr/>
          </p:nvSpPr>
          <p:spPr bwMode="auto">
            <a:xfrm>
              <a:off x="7680211" y="3738870"/>
              <a:ext cx="320813"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44" name="TextBox 43"/>
          <p:cNvSpPr txBox="1"/>
          <p:nvPr/>
        </p:nvSpPr>
        <p:spPr>
          <a:xfrm>
            <a:off x="571472" y="642918"/>
            <a:ext cx="7858180" cy="1169551"/>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只有右孩子没有左孩子</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），根据二叉排序树的特点，可以用结点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的右子树替代结点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的子树，也就是直接用其右孩子替代它（结点替代）</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灯片编号占位符 5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4"/>
          <p:cNvGrpSpPr/>
          <p:nvPr/>
        </p:nvGrpSpPr>
        <p:grpSpPr>
          <a:xfrm>
            <a:off x="1106883" y="1500174"/>
            <a:ext cx="6822703" cy="3022657"/>
            <a:chOff x="1106883" y="2192293"/>
            <a:chExt cx="6822703" cy="3022657"/>
          </a:xfrm>
        </p:grpSpPr>
        <p:sp>
          <p:nvSpPr>
            <p:cNvPr id="3" name="Text Box 123"/>
            <p:cNvSpPr txBox="1">
              <a:spLocks noChangeArrowheads="1"/>
            </p:cNvSpPr>
            <p:nvPr/>
          </p:nvSpPr>
          <p:spPr bwMode="auto">
            <a:xfrm>
              <a:off x="1754730" y="4243369"/>
              <a:ext cx="5746228" cy="971581"/>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有左右孩子：找到其左孩子的最右下结点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，置</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结点值为</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结点值（值替代），再删除</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a:t>
              </a:r>
              <a:r>
                <a:rPr kumimoji="0" lang="en-US" altLang="zh-CN" sz="18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结点没有右孩子，最多只有左孩子，采用</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删除）</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 name="AutoShape 122"/>
            <p:cNvSpPr>
              <a:spLocks noChangeArrowheads="1"/>
            </p:cNvSpPr>
            <p:nvPr/>
          </p:nvSpPr>
          <p:spPr bwMode="auto">
            <a:xfrm>
              <a:off x="3767268" y="3235748"/>
              <a:ext cx="1114078" cy="149202"/>
            </a:xfrm>
            <a:prstGeom prst="rightArrow">
              <a:avLst>
                <a:gd name="adj1" fmla="val 50000"/>
                <a:gd name="adj2" fmla="val 173077"/>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121"/>
            <p:cNvSpPr txBox="1">
              <a:spLocks noChangeArrowheads="1"/>
            </p:cNvSpPr>
            <p:nvPr/>
          </p:nvSpPr>
          <p:spPr bwMode="auto">
            <a:xfrm>
              <a:off x="3756952" y="3002381"/>
              <a:ext cx="1072816" cy="19797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删除结点</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Line 37"/>
            <p:cNvSpPr>
              <a:spLocks noChangeShapeType="1"/>
            </p:cNvSpPr>
            <p:nvPr/>
          </p:nvSpPr>
          <p:spPr bwMode="auto">
            <a:xfrm flipH="1">
              <a:off x="2280800" y="2307064"/>
              <a:ext cx="361044" cy="8608"/>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36"/>
            <p:cNvSpPr txBox="1">
              <a:spLocks noChangeArrowheads="1"/>
            </p:cNvSpPr>
            <p:nvPr/>
          </p:nvSpPr>
          <p:spPr bwMode="auto">
            <a:xfrm>
              <a:off x="2626370" y="2192293"/>
              <a:ext cx="251699" cy="232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p</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35"/>
            <p:cNvSpPr/>
            <p:nvPr/>
          </p:nvSpPr>
          <p:spPr bwMode="auto">
            <a:xfrm>
              <a:off x="1705193" y="2422790"/>
              <a:ext cx="247573" cy="216151"/>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34"/>
            <p:cNvSpPr/>
            <p:nvPr/>
          </p:nvSpPr>
          <p:spPr bwMode="auto">
            <a:xfrm>
              <a:off x="1714480" y="3285481"/>
              <a:ext cx="131004" cy="243508"/>
            </a:xfrm>
            <a:custGeom>
              <a:avLst/>
              <a:gdLst/>
              <a:ahLst/>
              <a:cxnLst>
                <a:cxn ang="0">
                  <a:pos x="173" y="0"/>
                </a:cxn>
                <a:cxn ang="0">
                  <a:pos x="0" y="180"/>
                </a:cxn>
              </a:cxnLst>
              <a:rect l="0" t="0" r="r" b="b"/>
              <a:pathLst>
                <a:path w="173" h="180">
                  <a:moveTo>
                    <a:pt x="173" y="0"/>
                  </a:moveTo>
                  <a:lnTo>
                    <a:pt x="0"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Freeform 33"/>
            <p:cNvSpPr/>
            <p:nvPr/>
          </p:nvSpPr>
          <p:spPr bwMode="auto">
            <a:xfrm>
              <a:off x="1285852" y="2832138"/>
              <a:ext cx="218188" cy="268223"/>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32"/>
            <p:cNvSpPr/>
            <p:nvPr/>
          </p:nvSpPr>
          <p:spPr bwMode="auto">
            <a:xfrm>
              <a:off x="2655253" y="2846485"/>
              <a:ext cx="155765"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31"/>
            <p:cNvSpPr/>
            <p:nvPr/>
          </p:nvSpPr>
          <p:spPr bwMode="auto">
            <a:xfrm>
              <a:off x="2995666" y="3262527"/>
              <a:ext cx="132039" cy="173112"/>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30"/>
            <p:cNvSpPr/>
            <p:nvPr/>
          </p:nvSpPr>
          <p:spPr bwMode="auto">
            <a:xfrm>
              <a:off x="3321637" y="3628836"/>
              <a:ext cx="132039" cy="156853"/>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29"/>
            <p:cNvSpPr/>
            <p:nvPr/>
          </p:nvSpPr>
          <p:spPr bwMode="auto">
            <a:xfrm>
              <a:off x="1757802" y="2861787"/>
              <a:ext cx="210437" cy="285970"/>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Freeform 28"/>
            <p:cNvSpPr/>
            <p:nvPr/>
          </p:nvSpPr>
          <p:spPr bwMode="auto">
            <a:xfrm>
              <a:off x="2246758" y="2408444"/>
              <a:ext cx="216626" cy="238149"/>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27"/>
            <p:cNvSpPr>
              <a:spLocks noChangeArrowheads="1"/>
            </p:cNvSpPr>
            <p:nvPr/>
          </p:nvSpPr>
          <p:spPr bwMode="auto">
            <a:xfrm>
              <a:off x="1937292" y="2202814"/>
              <a:ext cx="321845" cy="297447"/>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26"/>
            <p:cNvSpPr>
              <a:spLocks noChangeArrowheads="1"/>
            </p:cNvSpPr>
            <p:nvPr/>
          </p:nvSpPr>
          <p:spPr bwMode="auto">
            <a:xfrm>
              <a:off x="1469999" y="2623639"/>
              <a:ext cx="320813"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25"/>
            <p:cNvSpPr>
              <a:spLocks noChangeArrowheads="1"/>
            </p:cNvSpPr>
            <p:nvPr/>
          </p:nvSpPr>
          <p:spPr bwMode="auto">
            <a:xfrm>
              <a:off x="2367450" y="2618857"/>
              <a:ext cx="320813"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24"/>
            <p:cNvSpPr>
              <a:spLocks noChangeArrowheads="1"/>
            </p:cNvSpPr>
            <p:nvPr/>
          </p:nvSpPr>
          <p:spPr bwMode="auto">
            <a:xfrm>
              <a:off x="1106883" y="3040638"/>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23"/>
            <p:cNvSpPr>
              <a:spLocks noChangeArrowheads="1"/>
            </p:cNvSpPr>
            <p:nvPr/>
          </p:nvSpPr>
          <p:spPr bwMode="auto">
            <a:xfrm>
              <a:off x="1810411" y="3040638"/>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22"/>
            <p:cNvSpPr>
              <a:spLocks noChangeArrowheads="1"/>
            </p:cNvSpPr>
            <p:nvPr/>
          </p:nvSpPr>
          <p:spPr bwMode="auto">
            <a:xfrm>
              <a:off x="1464073" y="3457551"/>
              <a:ext cx="321845"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21"/>
            <p:cNvSpPr>
              <a:spLocks noChangeArrowheads="1"/>
            </p:cNvSpPr>
            <p:nvPr/>
          </p:nvSpPr>
          <p:spPr bwMode="auto">
            <a:xfrm>
              <a:off x="2702705" y="3008120"/>
              <a:ext cx="321845"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20"/>
            <p:cNvSpPr>
              <a:spLocks noChangeArrowheads="1"/>
            </p:cNvSpPr>
            <p:nvPr/>
          </p:nvSpPr>
          <p:spPr bwMode="auto">
            <a:xfrm>
              <a:off x="3044149" y="3383993"/>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Oval 19"/>
            <p:cNvSpPr>
              <a:spLocks noChangeArrowheads="1"/>
            </p:cNvSpPr>
            <p:nvPr/>
          </p:nvSpPr>
          <p:spPr bwMode="auto">
            <a:xfrm>
              <a:off x="3383530" y="3752214"/>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18"/>
            <p:cNvSpPr/>
            <p:nvPr/>
          </p:nvSpPr>
          <p:spPr bwMode="auto">
            <a:xfrm>
              <a:off x="5929404" y="2422790"/>
              <a:ext cx="247573" cy="216151"/>
            </a:xfrm>
            <a:custGeom>
              <a:avLst/>
              <a:gdLst/>
              <a:ahLst/>
              <a:cxnLst>
                <a:cxn ang="0">
                  <a:pos x="240" y="0"/>
                </a:cxn>
                <a:cxn ang="0">
                  <a:pos x="0" y="225"/>
                </a:cxn>
              </a:cxnLst>
              <a:rect l="0" t="0" r="r" b="b"/>
              <a:pathLst>
                <a:path w="240" h="225">
                  <a:moveTo>
                    <a:pt x="240" y="0"/>
                  </a:moveTo>
                  <a:lnTo>
                    <a:pt x="0" y="22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17"/>
            <p:cNvSpPr/>
            <p:nvPr/>
          </p:nvSpPr>
          <p:spPr bwMode="auto">
            <a:xfrm>
              <a:off x="5572132" y="2832138"/>
              <a:ext cx="156119" cy="196785"/>
            </a:xfrm>
            <a:custGeom>
              <a:avLst/>
              <a:gdLst/>
              <a:ahLst/>
              <a:cxnLst>
                <a:cxn ang="0">
                  <a:pos x="248" y="0"/>
                </a:cxn>
                <a:cxn ang="0">
                  <a:pos x="0" y="240"/>
                </a:cxn>
              </a:cxnLst>
              <a:rect l="0" t="0" r="r" b="b"/>
              <a:pathLst>
                <a:path w="248" h="240">
                  <a:moveTo>
                    <a:pt x="248" y="0"/>
                  </a:moveTo>
                  <a:lnTo>
                    <a:pt x="0"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16"/>
            <p:cNvSpPr/>
            <p:nvPr/>
          </p:nvSpPr>
          <p:spPr bwMode="auto">
            <a:xfrm>
              <a:off x="6880496" y="2846485"/>
              <a:ext cx="154733" cy="193197"/>
            </a:xfrm>
            <a:custGeom>
              <a:avLst/>
              <a:gdLst/>
              <a:ahLst/>
              <a:cxnLst>
                <a:cxn ang="0">
                  <a:pos x="0" y="0"/>
                </a:cxn>
                <a:cxn ang="0">
                  <a:pos x="150" y="202"/>
                </a:cxn>
              </a:cxnLst>
              <a:rect l="0" t="0" r="r" b="b"/>
              <a:pathLst>
                <a:path w="150" h="202">
                  <a:moveTo>
                    <a:pt x="0" y="0"/>
                  </a:moveTo>
                  <a:lnTo>
                    <a:pt x="150" y="20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15"/>
            <p:cNvSpPr/>
            <p:nvPr/>
          </p:nvSpPr>
          <p:spPr bwMode="auto">
            <a:xfrm>
              <a:off x="7220909" y="3262527"/>
              <a:ext cx="132039" cy="173112"/>
            </a:xfrm>
            <a:custGeom>
              <a:avLst/>
              <a:gdLst/>
              <a:ahLst/>
              <a:cxnLst>
                <a:cxn ang="0">
                  <a:pos x="0" y="0"/>
                </a:cxn>
                <a:cxn ang="0">
                  <a:pos x="128" y="180"/>
                </a:cxn>
              </a:cxnLst>
              <a:rect l="0" t="0" r="r" b="b"/>
              <a:pathLst>
                <a:path w="128" h="180">
                  <a:moveTo>
                    <a:pt x="0" y="0"/>
                  </a:moveTo>
                  <a:lnTo>
                    <a:pt x="128" y="18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14"/>
            <p:cNvSpPr/>
            <p:nvPr/>
          </p:nvSpPr>
          <p:spPr bwMode="auto">
            <a:xfrm>
              <a:off x="7546880" y="3628836"/>
              <a:ext cx="132039" cy="156853"/>
            </a:xfrm>
            <a:custGeom>
              <a:avLst/>
              <a:gdLst/>
              <a:ahLst/>
              <a:cxnLst>
                <a:cxn ang="0">
                  <a:pos x="0" y="0"/>
                </a:cxn>
                <a:cxn ang="0">
                  <a:pos x="128" y="165"/>
                </a:cxn>
              </a:cxnLst>
              <a:rect l="0" t="0" r="r" b="b"/>
              <a:pathLst>
                <a:path w="128" h="165">
                  <a:moveTo>
                    <a:pt x="0" y="0"/>
                  </a:moveTo>
                  <a:lnTo>
                    <a:pt x="128" y="16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13"/>
            <p:cNvSpPr/>
            <p:nvPr/>
          </p:nvSpPr>
          <p:spPr bwMode="auto">
            <a:xfrm>
              <a:off x="5983045" y="2861787"/>
              <a:ext cx="210437" cy="285970"/>
            </a:xfrm>
            <a:custGeom>
              <a:avLst/>
              <a:gdLst/>
              <a:ahLst/>
              <a:cxnLst>
                <a:cxn ang="0">
                  <a:pos x="0" y="0"/>
                </a:cxn>
                <a:cxn ang="0">
                  <a:pos x="203" y="300"/>
                </a:cxn>
              </a:cxnLst>
              <a:rect l="0" t="0" r="r" b="b"/>
              <a:pathLst>
                <a:path w="203" h="300">
                  <a:moveTo>
                    <a:pt x="0" y="0"/>
                  </a:moveTo>
                  <a:lnTo>
                    <a:pt x="203" y="30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12"/>
            <p:cNvSpPr/>
            <p:nvPr/>
          </p:nvSpPr>
          <p:spPr bwMode="auto">
            <a:xfrm>
              <a:off x="6470969" y="2408444"/>
              <a:ext cx="216626" cy="238149"/>
            </a:xfrm>
            <a:custGeom>
              <a:avLst/>
              <a:gdLst/>
              <a:ahLst/>
              <a:cxnLst>
                <a:cxn ang="0">
                  <a:pos x="0" y="0"/>
                </a:cxn>
                <a:cxn ang="0">
                  <a:pos x="210" y="248"/>
                </a:cxn>
              </a:cxnLst>
              <a:rect l="0" t="0" r="r" b="b"/>
              <a:pathLst>
                <a:path w="210" h="248">
                  <a:moveTo>
                    <a:pt x="0" y="0"/>
                  </a:moveTo>
                  <a:lnTo>
                    <a:pt x="210" y="24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6161503" y="2202814"/>
              <a:ext cx="322876"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0"/>
            <p:cNvSpPr>
              <a:spLocks noChangeArrowheads="1"/>
            </p:cNvSpPr>
            <p:nvPr/>
          </p:nvSpPr>
          <p:spPr bwMode="auto">
            <a:xfrm>
              <a:off x="5695241" y="2623639"/>
              <a:ext cx="320813"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9"/>
            <p:cNvSpPr>
              <a:spLocks noChangeArrowheads="1"/>
            </p:cNvSpPr>
            <p:nvPr/>
          </p:nvSpPr>
          <p:spPr bwMode="auto">
            <a:xfrm>
              <a:off x="6591661" y="2618857"/>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8"/>
            <p:cNvSpPr>
              <a:spLocks noChangeArrowheads="1"/>
            </p:cNvSpPr>
            <p:nvPr/>
          </p:nvSpPr>
          <p:spPr bwMode="auto">
            <a:xfrm>
              <a:off x="5392132" y="3040638"/>
              <a:ext cx="322876"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7"/>
            <p:cNvSpPr>
              <a:spLocks noChangeArrowheads="1"/>
            </p:cNvSpPr>
            <p:nvPr/>
          </p:nvSpPr>
          <p:spPr bwMode="auto">
            <a:xfrm>
              <a:off x="6035654" y="3040638"/>
              <a:ext cx="320813"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6"/>
            <p:cNvSpPr>
              <a:spLocks noChangeArrowheads="1"/>
            </p:cNvSpPr>
            <p:nvPr/>
          </p:nvSpPr>
          <p:spPr bwMode="auto">
            <a:xfrm>
              <a:off x="6926916" y="3039681"/>
              <a:ext cx="321845" cy="29936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5"/>
            <p:cNvSpPr>
              <a:spLocks noChangeArrowheads="1"/>
            </p:cNvSpPr>
            <p:nvPr/>
          </p:nvSpPr>
          <p:spPr bwMode="auto">
            <a:xfrm>
              <a:off x="7269392" y="3383993"/>
              <a:ext cx="321845" cy="29840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4"/>
            <p:cNvSpPr>
              <a:spLocks noChangeArrowheads="1"/>
            </p:cNvSpPr>
            <p:nvPr/>
          </p:nvSpPr>
          <p:spPr bwMode="auto">
            <a:xfrm>
              <a:off x="7607741" y="3752214"/>
              <a:ext cx="321845" cy="29744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Line 3"/>
            <p:cNvSpPr>
              <a:spLocks noChangeShapeType="1"/>
            </p:cNvSpPr>
            <p:nvPr/>
          </p:nvSpPr>
          <p:spPr bwMode="auto">
            <a:xfrm>
              <a:off x="2124003" y="3217576"/>
              <a:ext cx="243447" cy="4782"/>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pPr>
                <a:lnSpc>
                  <a:spcPts val="2000"/>
                </a:lnSpc>
              </a:pPr>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 Box 2"/>
            <p:cNvSpPr txBox="1">
              <a:spLocks noChangeArrowheads="1"/>
            </p:cNvSpPr>
            <p:nvPr/>
          </p:nvSpPr>
          <p:spPr bwMode="auto">
            <a:xfrm>
              <a:off x="2325156" y="3117151"/>
              <a:ext cx="252731" cy="23336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q</a:t>
              </a:r>
              <a:endPar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44" name="TextBox 43"/>
          <p:cNvSpPr txBox="1"/>
          <p:nvPr/>
        </p:nvSpPr>
        <p:spPr>
          <a:xfrm>
            <a:off x="500034" y="285728"/>
            <a:ext cx="8001056"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既有左孩子又有右孩子</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间接删除</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灯片编号占位符 5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9.3.2 </a:t>
            </a:r>
            <a:r>
              <a:rPr lang="zh-CN" altLang="zh-CN" smtClean="0">
                <a:latin typeface="Consolas" panose="020B0609020204030204" pitchFamily="49" charset="0"/>
                <a:ea typeface="微软雅黑" panose="020B0503020204020204" pitchFamily="34" charset="-122"/>
                <a:cs typeface="Consolas" panose="020B0609020204030204" pitchFamily="49" charset="0"/>
              </a:rPr>
              <a:t>平衡二叉树</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714348" y="1500174"/>
            <a:ext cx="7643866" cy="18761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既保持</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性质又保证树的高度较小，通过这样的</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平衡规则和操作</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来维护</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高度的二叉排序树称为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平衡二叉树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，平衡二叉树有多种</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较为著名的有</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286808" cy="1449216"/>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342900" indent="-342900" algn="l">
              <a:lnSpc>
                <a:spcPts val="2800"/>
              </a:lnSpc>
              <a:spcBef>
                <a:spcPts val="12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高度平衡性质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树中每个结点的左、右子树的高度至多相差</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也就是说，如果树</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v</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有孩子结点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y</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表示以结点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为根的子树高度。</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96"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43"/>
          <p:cNvGrpSpPr/>
          <p:nvPr/>
        </p:nvGrpSpPr>
        <p:grpSpPr>
          <a:xfrm>
            <a:off x="1293486" y="2357430"/>
            <a:ext cx="6342714" cy="2571768"/>
            <a:chOff x="852270" y="2357430"/>
            <a:chExt cx="6342714" cy="2571768"/>
          </a:xfrm>
        </p:grpSpPr>
        <p:sp>
          <p:nvSpPr>
            <p:cNvPr id="19494" name="Freeform 38"/>
            <p:cNvSpPr/>
            <p:nvPr/>
          </p:nvSpPr>
          <p:spPr bwMode="auto">
            <a:xfrm>
              <a:off x="4711488" y="3214255"/>
              <a:ext cx="177219" cy="273097"/>
            </a:xfrm>
            <a:custGeom>
              <a:avLst/>
              <a:gdLst/>
              <a:ahLst/>
              <a:cxnLst>
                <a:cxn ang="0">
                  <a:pos x="0" y="0"/>
                </a:cxn>
                <a:cxn ang="0">
                  <a:pos x="157" y="240"/>
                </a:cxn>
              </a:cxnLst>
              <a:rect l="0" t="0" r="r" b="b"/>
              <a:pathLst>
                <a:path w="157" h="240">
                  <a:moveTo>
                    <a:pt x="0" y="0"/>
                  </a:moveTo>
                  <a:lnTo>
                    <a:pt x="157" y="24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93" name="Freeform 37"/>
            <p:cNvSpPr/>
            <p:nvPr/>
          </p:nvSpPr>
          <p:spPr bwMode="auto">
            <a:xfrm>
              <a:off x="1745326" y="3733268"/>
              <a:ext cx="297522" cy="280862"/>
            </a:xfrm>
            <a:custGeom>
              <a:avLst/>
              <a:gdLst/>
              <a:ahLst/>
              <a:cxnLst>
                <a:cxn ang="0">
                  <a:pos x="263" y="0"/>
                </a:cxn>
                <a:cxn ang="0">
                  <a:pos x="0" y="247"/>
                </a:cxn>
              </a:cxnLst>
              <a:rect l="0" t="0" r="r" b="b"/>
              <a:pathLst>
                <a:path w="263" h="247">
                  <a:moveTo>
                    <a:pt x="263" y="0"/>
                  </a:moveTo>
                  <a:lnTo>
                    <a:pt x="0" y="24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92" name="Freeform 36"/>
            <p:cNvSpPr/>
            <p:nvPr/>
          </p:nvSpPr>
          <p:spPr bwMode="auto">
            <a:xfrm>
              <a:off x="1881151" y="3139185"/>
              <a:ext cx="238017" cy="398643"/>
            </a:xfrm>
            <a:custGeom>
              <a:avLst/>
              <a:gdLst/>
              <a:ahLst/>
              <a:cxnLst>
                <a:cxn ang="0">
                  <a:pos x="0" y="0"/>
                </a:cxn>
                <a:cxn ang="0">
                  <a:pos x="210" y="352"/>
                </a:cxn>
              </a:cxnLst>
              <a:rect l="0" t="0" r="r" b="b"/>
              <a:pathLst>
                <a:path w="210" h="352">
                  <a:moveTo>
                    <a:pt x="0" y="0"/>
                  </a:moveTo>
                  <a:lnTo>
                    <a:pt x="210" y="352"/>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91" name="Freeform 35"/>
            <p:cNvSpPr/>
            <p:nvPr/>
          </p:nvSpPr>
          <p:spPr bwMode="auto">
            <a:xfrm>
              <a:off x="1321034" y="2636998"/>
              <a:ext cx="848584" cy="893065"/>
            </a:xfrm>
            <a:custGeom>
              <a:avLst/>
              <a:gdLst/>
              <a:ahLst/>
              <a:cxnLst>
                <a:cxn ang="0">
                  <a:pos x="750" y="0"/>
                </a:cxn>
                <a:cxn ang="0">
                  <a:pos x="0" y="788"/>
                </a:cxn>
              </a:cxnLst>
              <a:rect l="0" t="0" r="r" b="b"/>
              <a:pathLst>
                <a:path w="750" h="788">
                  <a:moveTo>
                    <a:pt x="750" y="0"/>
                  </a:moveTo>
                  <a:lnTo>
                    <a:pt x="0" y="78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90" name="Freeform 34"/>
            <p:cNvSpPr/>
            <p:nvPr/>
          </p:nvSpPr>
          <p:spPr bwMode="auto">
            <a:xfrm>
              <a:off x="2535699" y="2646058"/>
              <a:ext cx="552356" cy="798581"/>
            </a:xfrm>
            <a:custGeom>
              <a:avLst/>
              <a:gdLst/>
              <a:ahLst/>
              <a:cxnLst>
                <a:cxn ang="0">
                  <a:pos x="0" y="0"/>
                </a:cxn>
                <a:cxn ang="0">
                  <a:pos x="487" y="705"/>
                </a:cxn>
              </a:cxnLst>
              <a:rect l="0" t="0" r="r" b="b"/>
              <a:pathLst>
                <a:path w="487" h="705">
                  <a:moveTo>
                    <a:pt x="0" y="0"/>
                  </a:moveTo>
                  <a:lnTo>
                    <a:pt x="487" y="7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89" name="Oval 33"/>
            <p:cNvSpPr>
              <a:spLocks noChangeArrowheads="1"/>
            </p:cNvSpPr>
            <p:nvPr/>
          </p:nvSpPr>
          <p:spPr bwMode="auto">
            <a:xfrm>
              <a:off x="2159269" y="2374256"/>
              <a:ext cx="407475" cy="35463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8" name="Oval 32"/>
            <p:cNvSpPr>
              <a:spLocks noChangeArrowheads="1"/>
            </p:cNvSpPr>
            <p:nvPr/>
          </p:nvSpPr>
          <p:spPr bwMode="auto">
            <a:xfrm>
              <a:off x="1597858" y="2833731"/>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7" name="Oval 31"/>
            <p:cNvSpPr>
              <a:spLocks noChangeArrowheads="1"/>
            </p:cNvSpPr>
            <p:nvPr/>
          </p:nvSpPr>
          <p:spPr bwMode="auto">
            <a:xfrm>
              <a:off x="2610726" y="2849263"/>
              <a:ext cx="353145" cy="35463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6" name="Oval 30"/>
            <p:cNvSpPr>
              <a:spLocks noChangeArrowheads="1"/>
            </p:cNvSpPr>
            <p:nvPr/>
          </p:nvSpPr>
          <p:spPr bwMode="auto">
            <a:xfrm>
              <a:off x="1071374" y="3432991"/>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5" name="Oval 29"/>
            <p:cNvSpPr>
              <a:spLocks noChangeArrowheads="1"/>
            </p:cNvSpPr>
            <p:nvPr/>
          </p:nvSpPr>
          <p:spPr bwMode="auto">
            <a:xfrm>
              <a:off x="1971701" y="3432991"/>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4" name="Oval 28"/>
            <p:cNvSpPr>
              <a:spLocks noChangeArrowheads="1"/>
            </p:cNvSpPr>
            <p:nvPr/>
          </p:nvSpPr>
          <p:spPr bwMode="auto">
            <a:xfrm>
              <a:off x="1478850" y="3962358"/>
              <a:ext cx="353145" cy="35463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3" name="Oval 27"/>
            <p:cNvSpPr>
              <a:spLocks noChangeArrowheads="1"/>
            </p:cNvSpPr>
            <p:nvPr/>
          </p:nvSpPr>
          <p:spPr bwMode="auto">
            <a:xfrm>
              <a:off x="2952229" y="3432991"/>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2" name="Text Box 26"/>
            <p:cNvSpPr txBox="1">
              <a:spLocks noChangeArrowheads="1"/>
            </p:cNvSpPr>
            <p:nvPr/>
          </p:nvSpPr>
          <p:spPr bwMode="auto">
            <a:xfrm>
              <a:off x="1852692" y="2392376"/>
              <a:ext cx="278118" cy="2743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1" name="Text Box 25"/>
            <p:cNvSpPr txBox="1">
              <a:spLocks noChangeArrowheads="1"/>
            </p:cNvSpPr>
            <p:nvPr/>
          </p:nvSpPr>
          <p:spPr bwMode="auto">
            <a:xfrm>
              <a:off x="3273528" y="3496411"/>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80" name="Text Box 24"/>
            <p:cNvSpPr txBox="1">
              <a:spLocks noChangeArrowheads="1"/>
            </p:cNvSpPr>
            <p:nvPr/>
          </p:nvSpPr>
          <p:spPr bwMode="auto">
            <a:xfrm>
              <a:off x="1275759" y="2816905"/>
              <a:ext cx="276825"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9" name="Text Box 23"/>
            <p:cNvSpPr txBox="1">
              <a:spLocks noChangeArrowheads="1"/>
            </p:cNvSpPr>
            <p:nvPr/>
          </p:nvSpPr>
          <p:spPr bwMode="auto">
            <a:xfrm>
              <a:off x="852270" y="3462760"/>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8" name="Text Box 22"/>
            <p:cNvSpPr txBox="1">
              <a:spLocks noChangeArrowheads="1"/>
            </p:cNvSpPr>
            <p:nvPr/>
          </p:nvSpPr>
          <p:spPr bwMode="auto">
            <a:xfrm>
              <a:off x="2324846" y="3495117"/>
              <a:ext cx="276825"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7" name="Text Box 21"/>
            <p:cNvSpPr txBox="1">
              <a:spLocks noChangeArrowheads="1"/>
            </p:cNvSpPr>
            <p:nvPr/>
          </p:nvSpPr>
          <p:spPr bwMode="auto">
            <a:xfrm>
              <a:off x="1773330" y="4071942"/>
              <a:ext cx="276825"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6" name="Text Box 20"/>
            <p:cNvSpPr txBox="1">
              <a:spLocks noChangeArrowheads="1"/>
            </p:cNvSpPr>
            <p:nvPr/>
          </p:nvSpPr>
          <p:spPr bwMode="auto">
            <a:xfrm>
              <a:off x="2991036" y="2882915"/>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5" name="Line 19"/>
            <p:cNvSpPr>
              <a:spLocks noChangeShapeType="1"/>
            </p:cNvSpPr>
            <p:nvPr/>
          </p:nvSpPr>
          <p:spPr bwMode="auto">
            <a:xfrm flipH="1">
              <a:off x="4632580" y="2636998"/>
              <a:ext cx="358320" cy="441355"/>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74" name="Freeform 18"/>
            <p:cNvSpPr/>
            <p:nvPr/>
          </p:nvSpPr>
          <p:spPr bwMode="auto">
            <a:xfrm>
              <a:off x="5279367" y="2653824"/>
              <a:ext cx="1575572" cy="1843079"/>
            </a:xfrm>
            <a:custGeom>
              <a:avLst/>
              <a:gdLst/>
              <a:ahLst/>
              <a:cxnLst>
                <a:cxn ang="0">
                  <a:pos x="0" y="0"/>
                </a:cxn>
                <a:cxn ang="0">
                  <a:pos x="1390" y="1626"/>
                </a:cxn>
              </a:cxnLst>
              <a:rect l="0" t="0" r="r" b="b"/>
              <a:pathLst>
                <a:path w="1390" h="1626">
                  <a:moveTo>
                    <a:pt x="0" y="0"/>
                  </a:moveTo>
                  <a:lnTo>
                    <a:pt x="1390" y="162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473" name="Oval 17"/>
            <p:cNvSpPr>
              <a:spLocks noChangeArrowheads="1"/>
            </p:cNvSpPr>
            <p:nvPr/>
          </p:nvSpPr>
          <p:spPr bwMode="auto">
            <a:xfrm>
              <a:off x="4979258" y="2374256"/>
              <a:ext cx="354439" cy="354637"/>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2" name="Oval 16"/>
            <p:cNvSpPr>
              <a:spLocks noChangeArrowheads="1"/>
            </p:cNvSpPr>
            <p:nvPr/>
          </p:nvSpPr>
          <p:spPr bwMode="auto">
            <a:xfrm>
              <a:off x="4419141" y="2902329"/>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1" name="Oval 15"/>
            <p:cNvSpPr>
              <a:spLocks noChangeArrowheads="1"/>
            </p:cNvSpPr>
            <p:nvPr/>
          </p:nvSpPr>
          <p:spPr bwMode="auto">
            <a:xfrm>
              <a:off x="5407430" y="2877737"/>
              <a:ext cx="354439" cy="354637"/>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70" name="Oval 14"/>
            <p:cNvSpPr>
              <a:spLocks noChangeArrowheads="1"/>
            </p:cNvSpPr>
            <p:nvPr/>
          </p:nvSpPr>
          <p:spPr bwMode="auto">
            <a:xfrm>
              <a:off x="4792983" y="3432991"/>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9" name="Oval 13"/>
            <p:cNvSpPr>
              <a:spLocks noChangeArrowheads="1"/>
            </p:cNvSpPr>
            <p:nvPr/>
          </p:nvSpPr>
          <p:spPr bwMode="auto">
            <a:xfrm>
              <a:off x="5808438" y="3341096"/>
              <a:ext cx="353145" cy="353343"/>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8" name="Oval 12"/>
            <p:cNvSpPr>
              <a:spLocks noChangeArrowheads="1"/>
            </p:cNvSpPr>
            <p:nvPr/>
          </p:nvSpPr>
          <p:spPr bwMode="auto">
            <a:xfrm>
              <a:off x="6215913" y="3819986"/>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7" name="Oval 11"/>
            <p:cNvSpPr>
              <a:spLocks noChangeArrowheads="1"/>
            </p:cNvSpPr>
            <p:nvPr/>
          </p:nvSpPr>
          <p:spPr bwMode="auto">
            <a:xfrm>
              <a:off x="6571646" y="4265224"/>
              <a:ext cx="353145" cy="353343"/>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6" name="Text Box 10"/>
            <p:cNvSpPr txBox="1">
              <a:spLocks noChangeArrowheads="1"/>
            </p:cNvSpPr>
            <p:nvPr/>
          </p:nvSpPr>
          <p:spPr bwMode="auto">
            <a:xfrm>
              <a:off x="4450478" y="4663867"/>
              <a:ext cx="2037760" cy="2653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）一棵非</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AVL</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树</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5" name="Text Box 9"/>
            <p:cNvSpPr txBox="1">
              <a:spLocks noChangeArrowheads="1"/>
            </p:cNvSpPr>
            <p:nvPr/>
          </p:nvSpPr>
          <p:spPr bwMode="auto">
            <a:xfrm>
              <a:off x="1314566" y="4647041"/>
              <a:ext cx="2045139" cy="26533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）一棵</a:t>
              </a:r>
              <a:r>
                <a:rPr kumimoji="0" lang="en-US" alt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AVL</a:t>
              </a: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树</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4" name="Text Box 8"/>
            <p:cNvSpPr txBox="1">
              <a:spLocks noChangeArrowheads="1"/>
            </p:cNvSpPr>
            <p:nvPr/>
          </p:nvSpPr>
          <p:spPr bwMode="auto">
            <a:xfrm>
              <a:off x="6916866" y="4309230"/>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3" name="Text Box 7"/>
            <p:cNvSpPr txBox="1">
              <a:spLocks noChangeArrowheads="1"/>
            </p:cNvSpPr>
            <p:nvPr/>
          </p:nvSpPr>
          <p:spPr bwMode="auto">
            <a:xfrm>
              <a:off x="6662196" y="3819986"/>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2" name="Text Box 6"/>
            <p:cNvSpPr txBox="1">
              <a:spLocks noChangeArrowheads="1"/>
            </p:cNvSpPr>
            <p:nvPr/>
          </p:nvSpPr>
          <p:spPr bwMode="auto">
            <a:xfrm>
              <a:off x="4645516" y="2357430"/>
              <a:ext cx="278118"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1" name="Text Box 5"/>
            <p:cNvSpPr txBox="1">
              <a:spLocks noChangeArrowheads="1"/>
            </p:cNvSpPr>
            <p:nvPr/>
          </p:nvSpPr>
          <p:spPr bwMode="auto">
            <a:xfrm>
              <a:off x="5823961" y="2847969"/>
              <a:ext cx="276825" cy="2743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60" name="Text Box 4"/>
            <p:cNvSpPr txBox="1">
              <a:spLocks noChangeArrowheads="1"/>
            </p:cNvSpPr>
            <p:nvPr/>
          </p:nvSpPr>
          <p:spPr bwMode="auto">
            <a:xfrm>
              <a:off x="6197803" y="3322976"/>
              <a:ext cx="276825" cy="2756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59" name="Text Box 3"/>
            <p:cNvSpPr txBox="1">
              <a:spLocks noChangeArrowheads="1"/>
            </p:cNvSpPr>
            <p:nvPr/>
          </p:nvSpPr>
          <p:spPr bwMode="auto">
            <a:xfrm>
              <a:off x="4124206" y="2939864"/>
              <a:ext cx="278118" cy="2743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58" name="Text Box 2"/>
            <p:cNvSpPr txBox="1">
              <a:spLocks noChangeArrowheads="1"/>
            </p:cNvSpPr>
            <p:nvPr/>
          </p:nvSpPr>
          <p:spPr bwMode="auto">
            <a:xfrm>
              <a:off x="4568339" y="3505471"/>
              <a:ext cx="276825" cy="2743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49" name="灯片编号占位符 48"/>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1500174"/>
            <a:ext cx="8429684" cy="427908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T1,typename T2&gt;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AVLNode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//AVL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树结点类模板</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T1 key;</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关键字</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T2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关键字对应的值</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int ht;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当前结点的子树高度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AVLNode* lchild,*rchild;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左右指针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AVLNode(T1 k,T2 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构造函数，新建结点均为叶子，高度为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key=k;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ht=1;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当前结点的子树高度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lchild=rchild=NULL;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57158" y="357166"/>
            <a:ext cx="8358246" cy="759182"/>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树中结点类型设计为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AVLNode&lt;T1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T2&gt;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类模板，每个结点存放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，其中关键字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类型，数据项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类型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1500174"/>
            <a:ext cx="8429684" cy="37966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T1,typename T2&gt;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AVLTree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//AVL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树类模板</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AVLNode* r;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//AVL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AVLTree():r(NULL)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getht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的子树高度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(p==NULL) return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p-&gt;ht;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//AVL</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树的其他基本运算算法</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57158" y="357166"/>
            <a:ext cx="8358246"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设计对应的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树类模板为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AVLTree&lt;T1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T2&gt;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，其中省略的析构函数与前面</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BSTClass&lt;T1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T2&gt;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中析构函数完全相同。</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857232"/>
            <a:ext cx="7715304"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如何使构造的二叉排序树是一棵</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树呢？</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关键</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是每次向树中插入新结点时使所有结点的平衡因子满足高度平衡性质，这就要求插入后一旦哪些结点失衡就要进行调整。</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400052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AVL</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树插入结点的调整方法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1428736"/>
            <a:ext cx="192882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1</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LL</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型调整</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843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498" name="Rectangle 6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70"/>
          <p:cNvGrpSpPr/>
          <p:nvPr/>
        </p:nvGrpSpPr>
        <p:grpSpPr>
          <a:xfrm>
            <a:off x="357158" y="2246614"/>
            <a:ext cx="1988869" cy="2452694"/>
            <a:chOff x="357158" y="2246614"/>
            <a:chExt cx="1988869" cy="2452694"/>
          </a:xfrm>
        </p:grpSpPr>
        <p:sp>
          <p:nvSpPr>
            <p:cNvPr id="18489" name="Line 57"/>
            <p:cNvSpPr>
              <a:spLocks noChangeShapeType="1"/>
            </p:cNvSpPr>
            <p:nvPr/>
          </p:nvSpPr>
          <p:spPr bwMode="auto">
            <a:xfrm>
              <a:off x="1937895" y="2520999"/>
              <a:ext cx="217533" cy="330700"/>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88" name="Freeform 56"/>
            <p:cNvSpPr/>
            <p:nvPr/>
          </p:nvSpPr>
          <p:spPr bwMode="auto">
            <a:xfrm>
              <a:off x="1470718" y="3206363"/>
              <a:ext cx="308689" cy="444528"/>
            </a:xfrm>
            <a:custGeom>
              <a:avLst/>
              <a:gdLst/>
              <a:ahLst/>
              <a:cxnLst>
                <a:cxn ang="0">
                  <a:pos x="0" y="0"/>
                </a:cxn>
                <a:cxn ang="0">
                  <a:pos x="340" y="424"/>
                </a:cxn>
              </a:cxnLst>
              <a:rect l="0" t="0" r="r" b="b"/>
              <a:pathLst>
                <a:path w="340" h="424">
                  <a:moveTo>
                    <a:pt x="0" y="0"/>
                  </a:moveTo>
                  <a:lnTo>
                    <a:pt x="340" y="424"/>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87" name="Line 55"/>
            <p:cNvSpPr>
              <a:spLocks noChangeShapeType="1"/>
            </p:cNvSpPr>
            <p:nvPr/>
          </p:nvSpPr>
          <p:spPr bwMode="auto">
            <a:xfrm flipH="1">
              <a:off x="899954" y="2487450"/>
              <a:ext cx="821445" cy="1186208"/>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86" name="Oval 54"/>
            <p:cNvSpPr>
              <a:spLocks noChangeArrowheads="1"/>
            </p:cNvSpPr>
            <p:nvPr/>
          </p:nvSpPr>
          <p:spPr bwMode="auto">
            <a:xfrm>
              <a:off x="1667533" y="2246614"/>
              <a:ext cx="327335" cy="328304"/>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85" name="Oval 53"/>
            <p:cNvSpPr>
              <a:spLocks noChangeArrowheads="1"/>
            </p:cNvSpPr>
            <p:nvPr/>
          </p:nvSpPr>
          <p:spPr bwMode="auto">
            <a:xfrm>
              <a:off x="1180674" y="2923591"/>
              <a:ext cx="326299" cy="328304"/>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84" name="Text Box 52"/>
            <p:cNvSpPr txBox="1">
              <a:spLocks noChangeArrowheads="1"/>
            </p:cNvSpPr>
            <p:nvPr/>
          </p:nvSpPr>
          <p:spPr bwMode="auto">
            <a:xfrm>
              <a:off x="1996939" y="2845708"/>
              <a:ext cx="349088"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83" name="AutoShape 51"/>
            <p:cNvSpPr/>
            <p:nvPr/>
          </p:nvSpPr>
          <p:spPr bwMode="auto">
            <a:xfrm>
              <a:off x="1797017" y="2845708"/>
              <a:ext cx="182313" cy="557158"/>
            </a:xfrm>
            <a:prstGeom prst="leftBrace">
              <a:avLst>
                <a:gd name="adj1" fmla="val 2201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82" name="Text Box 50"/>
            <p:cNvSpPr txBox="1">
              <a:spLocks noChangeArrowheads="1"/>
            </p:cNvSpPr>
            <p:nvPr/>
          </p:nvSpPr>
          <p:spPr bwMode="auto">
            <a:xfrm>
              <a:off x="1607452" y="2964329"/>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81" name="Text Box 49"/>
            <p:cNvSpPr txBox="1">
              <a:spLocks noChangeArrowheads="1"/>
            </p:cNvSpPr>
            <p:nvPr/>
          </p:nvSpPr>
          <p:spPr bwMode="auto">
            <a:xfrm>
              <a:off x="1607452" y="3629324"/>
              <a:ext cx="349088"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80" name="AutoShape 48"/>
            <p:cNvSpPr/>
            <p:nvPr/>
          </p:nvSpPr>
          <p:spPr bwMode="auto">
            <a:xfrm>
              <a:off x="1446893" y="3629324"/>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79" name="Text Box 47"/>
            <p:cNvSpPr txBox="1">
              <a:spLocks noChangeArrowheads="1"/>
            </p:cNvSpPr>
            <p:nvPr/>
          </p:nvSpPr>
          <p:spPr bwMode="auto">
            <a:xfrm>
              <a:off x="1220037" y="3749143"/>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78" name="Text Box 46"/>
            <p:cNvSpPr txBox="1">
              <a:spLocks noChangeArrowheads="1"/>
            </p:cNvSpPr>
            <p:nvPr/>
          </p:nvSpPr>
          <p:spPr bwMode="auto">
            <a:xfrm>
              <a:off x="753896" y="3631721"/>
              <a:ext cx="350124"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77" name="AutoShape 45"/>
            <p:cNvSpPr/>
            <p:nvPr/>
          </p:nvSpPr>
          <p:spPr bwMode="auto">
            <a:xfrm>
              <a:off x="584013" y="3631721"/>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76" name="Text Box 44"/>
            <p:cNvSpPr txBox="1">
              <a:spLocks noChangeArrowheads="1"/>
            </p:cNvSpPr>
            <p:nvPr/>
          </p:nvSpPr>
          <p:spPr bwMode="auto">
            <a:xfrm>
              <a:off x="357158" y="3751540"/>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75" name="Text Box 43"/>
            <p:cNvSpPr txBox="1">
              <a:spLocks noChangeArrowheads="1"/>
            </p:cNvSpPr>
            <p:nvPr/>
          </p:nvSpPr>
          <p:spPr bwMode="auto">
            <a:xfrm>
              <a:off x="1443785" y="2263388"/>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74" name="Text Box 42"/>
            <p:cNvSpPr txBox="1">
              <a:spLocks noChangeArrowheads="1"/>
            </p:cNvSpPr>
            <p:nvPr/>
          </p:nvSpPr>
          <p:spPr bwMode="auto">
            <a:xfrm>
              <a:off x="980751" y="2923591"/>
              <a:ext cx="186457"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1" name="Text Box 9"/>
            <p:cNvSpPr txBox="1">
              <a:spLocks noChangeArrowheads="1"/>
            </p:cNvSpPr>
            <p:nvPr/>
          </p:nvSpPr>
          <p:spPr bwMode="auto">
            <a:xfrm>
              <a:off x="1339162" y="4372202"/>
              <a:ext cx="816265" cy="3271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72"/>
          <p:cNvGrpSpPr/>
          <p:nvPr/>
        </p:nvGrpSpPr>
        <p:grpSpPr>
          <a:xfrm>
            <a:off x="5467102" y="2244217"/>
            <a:ext cx="2883861" cy="2470667"/>
            <a:chOff x="5467102" y="2244217"/>
            <a:chExt cx="2883861" cy="2470667"/>
          </a:xfrm>
        </p:grpSpPr>
        <p:sp>
          <p:nvSpPr>
            <p:cNvPr id="18494" name="Freeform 62"/>
            <p:cNvSpPr/>
            <p:nvPr/>
          </p:nvSpPr>
          <p:spPr bwMode="auto">
            <a:xfrm>
              <a:off x="7784342" y="3103319"/>
              <a:ext cx="316976" cy="462501"/>
            </a:xfrm>
            <a:custGeom>
              <a:avLst/>
              <a:gdLst/>
              <a:ahLst/>
              <a:cxnLst>
                <a:cxn ang="0">
                  <a:pos x="0" y="0"/>
                </a:cxn>
                <a:cxn ang="0">
                  <a:pos x="350" y="441"/>
                </a:cxn>
              </a:cxnLst>
              <a:rect l="0" t="0" r="r" b="b"/>
              <a:pathLst>
                <a:path w="350" h="441">
                  <a:moveTo>
                    <a:pt x="0" y="0"/>
                  </a:moveTo>
                  <a:lnTo>
                    <a:pt x="350" y="441"/>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93" name="Freeform 61"/>
            <p:cNvSpPr/>
            <p:nvPr/>
          </p:nvSpPr>
          <p:spPr bwMode="auto">
            <a:xfrm>
              <a:off x="7335811" y="3087743"/>
              <a:ext cx="224784" cy="503240"/>
            </a:xfrm>
            <a:custGeom>
              <a:avLst/>
              <a:gdLst/>
              <a:ahLst/>
              <a:cxnLst>
                <a:cxn ang="0">
                  <a:pos x="247" y="0"/>
                </a:cxn>
                <a:cxn ang="0">
                  <a:pos x="0" y="480"/>
                </a:cxn>
              </a:cxnLst>
              <a:rect l="0" t="0" r="r" b="b"/>
              <a:pathLst>
                <a:path w="247" h="480">
                  <a:moveTo>
                    <a:pt x="247" y="0"/>
                  </a:moveTo>
                  <a:lnTo>
                    <a:pt x="0" y="48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91" name="Line 59"/>
            <p:cNvSpPr>
              <a:spLocks noChangeShapeType="1"/>
            </p:cNvSpPr>
            <p:nvPr/>
          </p:nvSpPr>
          <p:spPr bwMode="auto">
            <a:xfrm>
              <a:off x="7407286" y="2517404"/>
              <a:ext cx="218568" cy="33070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58" name="AutoShape 26"/>
            <p:cNvSpPr>
              <a:spLocks noChangeArrowheads="1"/>
            </p:cNvSpPr>
            <p:nvPr/>
          </p:nvSpPr>
          <p:spPr bwMode="auto">
            <a:xfrm>
              <a:off x="5467102" y="3310606"/>
              <a:ext cx="925031" cy="208485"/>
            </a:xfrm>
            <a:prstGeom prst="rightArrow">
              <a:avLst>
                <a:gd name="adj1" fmla="val 50000"/>
                <a:gd name="adj2" fmla="val 128305"/>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56" name="Line 24"/>
            <p:cNvSpPr>
              <a:spLocks noChangeShapeType="1"/>
            </p:cNvSpPr>
            <p:nvPr/>
          </p:nvSpPr>
          <p:spPr bwMode="auto">
            <a:xfrm flipH="1">
              <a:off x="6844809" y="2505423"/>
              <a:ext cx="335622" cy="367844"/>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55" name="Oval 23"/>
            <p:cNvSpPr>
              <a:spLocks noChangeArrowheads="1"/>
            </p:cNvSpPr>
            <p:nvPr/>
          </p:nvSpPr>
          <p:spPr bwMode="auto">
            <a:xfrm>
              <a:off x="7133816" y="2244217"/>
              <a:ext cx="326299" cy="327106"/>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4" name="Oval 22"/>
            <p:cNvSpPr>
              <a:spLocks noChangeArrowheads="1"/>
            </p:cNvSpPr>
            <p:nvPr/>
          </p:nvSpPr>
          <p:spPr bwMode="auto">
            <a:xfrm>
              <a:off x="7502586" y="2828934"/>
              <a:ext cx="327335" cy="328304"/>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3" name="Text Box 21"/>
            <p:cNvSpPr txBox="1">
              <a:spLocks noChangeArrowheads="1"/>
            </p:cNvSpPr>
            <p:nvPr/>
          </p:nvSpPr>
          <p:spPr bwMode="auto">
            <a:xfrm>
              <a:off x="8001875" y="3550244"/>
              <a:ext cx="349088"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2" name="AutoShape 20"/>
            <p:cNvSpPr/>
            <p:nvPr/>
          </p:nvSpPr>
          <p:spPr bwMode="auto">
            <a:xfrm>
              <a:off x="7838208" y="3567018"/>
              <a:ext cx="129484" cy="557158"/>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51" name="Text Box 19"/>
            <p:cNvSpPr txBox="1">
              <a:spLocks noChangeArrowheads="1"/>
            </p:cNvSpPr>
            <p:nvPr/>
          </p:nvSpPr>
          <p:spPr bwMode="auto">
            <a:xfrm>
              <a:off x="7648643" y="3686837"/>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0" name="Text Box 18"/>
            <p:cNvSpPr txBox="1">
              <a:spLocks noChangeArrowheads="1"/>
            </p:cNvSpPr>
            <p:nvPr/>
          </p:nvSpPr>
          <p:spPr bwMode="auto">
            <a:xfrm>
              <a:off x="7166964" y="3575406"/>
              <a:ext cx="350124"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9" name="AutoShape 17"/>
            <p:cNvSpPr/>
            <p:nvPr/>
          </p:nvSpPr>
          <p:spPr bwMode="auto">
            <a:xfrm>
              <a:off x="7004333" y="3600568"/>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8" name="Text Box 16"/>
            <p:cNvSpPr txBox="1">
              <a:spLocks noChangeArrowheads="1"/>
            </p:cNvSpPr>
            <p:nvPr/>
          </p:nvSpPr>
          <p:spPr bwMode="auto">
            <a:xfrm>
              <a:off x="6813733" y="3720387"/>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7" name="Text Box 15"/>
            <p:cNvSpPr txBox="1">
              <a:spLocks noChangeArrowheads="1"/>
            </p:cNvSpPr>
            <p:nvPr/>
          </p:nvSpPr>
          <p:spPr bwMode="auto">
            <a:xfrm>
              <a:off x="6645922" y="2848105"/>
              <a:ext cx="349088"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6" name="AutoShape 14"/>
            <p:cNvSpPr/>
            <p:nvPr/>
          </p:nvSpPr>
          <p:spPr bwMode="auto">
            <a:xfrm>
              <a:off x="6485362" y="2848105"/>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45" name="Text Box 13"/>
            <p:cNvSpPr txBox="1">
              <a:spLocks noChangeArrowheads="1"/>
            </p:cNvSpPr>
            <p:nvPr/>
          </p:nvSpPr>
          <p:spPr bwMode="auto">
            <a:xfrm>
              <a:off x="6287511" y="2967924"/>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4" name="Text Box 12"/>
            <p:cNvSpPr txBox="1">
              <a:spLocks noChangeArrowheads="1"/>
            </p:cNvSpPr>
            <p:nvPr/>
          </p:nvSpPr>
          <p:spPr bwMode="auto">
            <a:xfrm>
              <a:off x="6913176" y="2259794"/>
              <a:ext cx="186457"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3" name="Text Box 11"/>
            <p:cNvSpPr txBox="1">
              <a:spLocks noChangeArrowheads="1"/>
            </p:cNvSpPr>
            <p:nvPr/>
          </p:nvSpPr>
          <p:spPr bwMode="auto">
            <a:xfrm>
              <a:off x="7843387" y="2776213"/>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2" name="Text Box 10"/>
            <p:cNvSpPr txBox="1">
              <a:spLocks noChangeArrowheads="1"/>
            </p:cNvSpPr>
            <p:nvPr/>
          </p:nvSpPr>
          <p:spPr bwMode="auto">
            <a:xfrm>
              <a:off x="6645922" y="3412452"/>
              <a:ext cx="350124" cy="207287"/>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39" name="Text Box 7"/>
            <p:cNvSpPr txBox="1">
              <a:spLocks noChangeArrowheads="1"/>
            </p:cNvSpPr>
            <p:nvPr/>
          </p:nvSpPr>
          <p:spPr bwMode="auto">
            <a:xfrm>
              <a:off x="6972221" y="4387778"/>
              <a:ext cx="816265" cy="3271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37" name="Text Box 5"/>
            <p:cNvSpPr txBox="1">
              <a:spLocks noChangeArrowheads="1"/>
            </p:cNvSpPr>
            <p:nvPr/>
          </p:nvSpPr>
          <p:spPr bwMode="auto">
            <a:xfrm>
              <a:off x="5495071" y="3044608"/>
              <a:ext cx="653634" cy="267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LL</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6" name="组合 71"/>
          <p:cNvGrpSpPr/>
          <p:nvPr/>
        </p:nvGrpSpPr>
        <p:grpSpPr>
          <a:xfrm>
            <a:off x="2486906" y="2096840"/>
            <a:ext cx="2867287" cy="2618044"/>
            <a:chOff x="2486906" y="2096840"/>
            <a:chExt cx="2867287" cy="2618044"/>
          </a:xfrm>
        </p:grpSpPr>
        <p:sp>
          <p:nvSpPr>
            <p:cNvPr id="18496" name="Text Box 64"/>
            <p:cNvSpPr txBox="1">
              <a:spLocks noChangeArrowheads="1"/>
            </p:cNvSpPr>
            <p:nvPr/>
          </p:nvSpPr>
          <p:spPr bwMode="auto">
            <a:xfrm>
              <a:off x="3878078" y="3260282"/>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95" name="Text Box 63"/>
            <p:cNvSpPr txBox="1">
              <a:spLocks noChangeArrowheads="1"/>
            </p:cNvSpPr>
            <p:nvPr/>
          </p:nvSpPr>
          <p:spPr bwMode="auto">
            <a:xfrm>
              <a:off x="4375296" y="2571323"/>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92" name="Freeform 60"/>
            <p:cNvSpPr/>
            <p:nvPr/>
          </p:nvSpPr>
          <p:spPr bwMode="auto">
            <a:xfrm>
              <a:off x="4472668" y="3197976"/>
              <a:ext cx="313868" cy="450519"/>
            </a:xfrm>
            <a:custGeom>
              <a:avLst/>
              <a:gdLst/>
              <a:ahLst/>
              <a:cxnLst>
                <a:cxn ang="0">
                  <a:pos x="0" y="0"/>
                </a:cxn>
                <a:cxn ang="0">
                  <a:pos x="346" y="429"/>
                </a:cxn>
              </a:cxnLst>
              <a:rect l="0" t="0" r="r" b="b"/>
              <a:pathLst>
                <a:path w="346" h="429">
                  <a:moveTo>
                    <a:pt x="0" y="0"/>
                  </a:moveTo>
                  <a:lnTo>
                    <a:pt x="346" y="42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90" name="Line 58"/>
            <p:cNvSpPr>
              <a:spLocks noChangeShapeType="1"/>
            </p:cNvSpPr>
            <p:nvPr/>
          </p:nvSpPr>
          <p:spPr bwMode="auto">
            <a:xfrm>
              <a:off x="4946060" y="2517404"/>
              <a:ext cx="217533" cy="33070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73" name="AutoShape 41"/>
            <p:cNvSpPr>
              <a:spLocks noChangeArrowheads="1"/>
            </p:cNvSpPr>
            <p:nvPr/>
          </p:nvSpPr>
          <p:spPr bwMode="auto">
            <a:xfrm>
              <a:off x="2663373" y="3310606"/>
              <a:ext cx="979933" cy="208485"/>
            </a:xfrm>
            <a:prstGeom prst="rightArrow">
              <a:avLst>
                <a:gd name="adj1" fmla="val 50000"/>
                <a:gd name="adj2" fmla="val 135920"/>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72" name="Line 40"/>
            <p:cNvSpPr>
              <a:spLocks noChangeShapeType="1"/>
            </p:cNvSpPr>
            <p:nvPr/>
          </p:nvSpPr>
          <p:spPr bwMode="auto">
            <a:xfrm flipH="1">
              <a:off x="3893616" y="2517404"/>
              <a:ext cx="820409" cy="1187406"/>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71" name="Oval 39"/>
            <p:cNvSpPr>
              <a:spLocks noChangeArrowheads="1"/>
            </p:cNvSpPr>
            <p:nvPr/>
          </p:nvSpPr>
          <p:spPr bwMode="auto">
            <a:xfrm>
              <a:off x="4678806" y="2244217"/>
              <a:ext cx="326299" cy="327106"/>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70" name="Oval 38"/>
            <p:cNvSpPr>
              <a:spLocks noChangeArrowheads="1"/>
            </p:cNvSpPr>
            <p:nvPr/>
          </p:nvSpPr>
          <p:spPr bwMode="auto">
            <a:xfrm>
              <a:off x="4187803" y="2921194"/>
              <a:ext cx="327335" cy="327106"/>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9" name="Text Box 37"/>
            <p:cNvSpPr txBox="1">
              <a:spLocks noChangeArrowheads="1"/>
            </p:cNvSpPr>
            <p:nvPr/>
          </p:nvSpPr>
          <p:spPr bwMode="auto">
            <a:xfrm>
              <a:off x="5004069" y="2842114"/>
              <a:ext cx="350124"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8" name="AutoShape 36"/>
            <p:cNvSpPr/>
            <p:nvPr/>
          </p:nvSpPr>
          <p:spPr bwMode="auto">
            <a:xfrm>
              <a:off x="4768926" y="2842114"/>
              <a:ext cx="181277" cy="557158"/>
            </a:xfrm>
            <a:prstGeom prst="leftBrace">
              <a:avLst>
                <a:gd name="adj1" fmla="val 22143"/>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67" name="Text Box 35"/>
            <p:cNvSpPr txBox="1">
              <a:spLocks noChangeArrowheads="1"/>
            </p:cNvSpPr>
            <p:nvPr/>
          </p:nvSpPr>
          <p:spPr bwMode="auto">
            <a:xfrm>
              <a:off x="4578326" y="2961933"/>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6" name="Text Box 34"/>
            <p:cNvSpPr txBox="1">
              <a:spLocks noChangeArrowheads="1"/>
            </p:cNvSpPr>
            <p:nvPr/>
          </p:nvSpPr>
          <p:spPr bwMode="auto">
            <a:xfrm>
              <a:off x="4614582" y="3625730"/>
              <a:ext cx="349088"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5" name="AutoShape 33"/>
            <p:cNvSpPr/>
            <p:nvPr/>
          </p:nvSpPr>
          <p:spPr bwMode="auto">
            <a:xfrm>
              <a:off x="4443663" y="3625730"/>
              <a:ext cx="129484" cy="557158"/>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64" name="Text Box 32"/>
            <p:cNvSpPr txBox="1">
              <a:spLocks noChangeArrowheads="1"/>
            </p:cNvSpPr>
            <p:nvPr/>
          </p:nvSpPr>
          <p:spPr bwMode="auto">
            <a:xfrm>
              <a:off x="4253063" y="3745549"/>
              <a:ext cx="186457"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3" name="Text Box 31"/>
            <p:cNvSpPr txBox="1">
              <a:spLocks noChangeArrowheads="1"/>
            </p:cNvSpPr>
            <p:nvPr/>
          </p:nvSpPr>
          <p:spPr bwMode="auto">
            <a:xfrm>
              <a:off x="3759989" y="3629324"/>
              <a:ext cx="349088"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2" name="AutoShape 30"/>
            <p:cNvSpPr/>
            <p:nvPr/>
          </p:nvSpPr>
          <p:spPr bwMode="auto">
            <a:xfrm>
              <a:off x="3583891" y="3629324"/>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61" name="Text Box 29"/>
            <p:cNvSpPr txBox="1">
              <a:spLocks noChangeArrowheads="1"/>
            </p:cNvSpPr>
            <p:nvPr/>
          </p:nvSpPr>
          <p:spPr bwMode="auto">
            <a:xfrm>
              <a:off x="3357036" y="3749143"/>
              <a:ext cx="186457"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60" name="Text Box 28"/>
            <p:cNvSpPr txBox="1">
              <a:spLocks noChangeArrowheads="1"/>
            </p:cNvSpPr>
            <p:nvPr/>
          </p:nvSpPr>
          <p:spPr bwMode="auto">
            <a:xfrm>
              <a:off x="4450914" y="2259794"/>
              <a:ext cx="186457"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9" name="Text Box 27"/>
            <p:cNvSpPr txBox="1">
              <a:spLocks noChangeArrowheads="1"/>
            </p:cNvSpPr>
            <p:nvPr/>
          </p:nvSpPr>
          <p:spPr bwMode="auto">
            <a:xfrm>
              <a:off x="3988916" y="2921194"/>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57" name="Text Box 25"/>
            <p:cNvSpPr txBox="1">
              <a:spLocks noChangeArrowheads="1"/>
            </p:cNvSpPr>
            <p:nvPr/>
          </p:nvSpPr>
          <p:spPr bwMode="auto">
            <a:xfrm>
              <a:off x="3759989" y="4192473"/>
              <a:ext cx="350124" cy="207287"/>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40" name="Text Box 8"/>
            <p:cNvSpPr txBox="1">
              <a:spLocks noChangeArrowheads="1"/>
            </p:cNvSpPr>
            <p:nvPr/>
          </p:nvSpPr>
          <p:spPr bwMode="auto">
            <a:xfrm>
              <a:off x="4315215" y="4387778"/>
              <a:ext cx="816265" cy="3271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38" name="Text Box 6"/>
            <p:cNvSpPr txBox="1">
              <a:spLocks noChangeArrowheads="1"/>
            </p:cNvSpPr>
            <p:nvPr/>
          </p:nvSpPr>
          <p:spPr bwMode="auto">
            <a:xfrm>
              <a:off x="2486906" y="3036221"/>
              <a:ext cx="1156400" cy="26719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插入一结点</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36" name="Line 4"/>
            <p:cNvSpPr>
              <a:spLocks noChangeShapeType="1"/>
            </p:cNvSpPr>
            <p:nvPr/>
          </p:nvSpPr>
          <p:spPr bwMode="auto">
            <a:xfrm flipV="1">
              <a:off x="4275852" y="2096840"/>
              <a:ext cx="0" cy="818363"/>
            </a:xfrm>
            <a:prstGeom prst="line">
              <a:avLst/>
            </a:prstGeom>
            <a:noFill/>
            <a:ln w="28575">
              <a:solidFill>
                <a:srgbClr val="FF00FF"/>
              </a:solidFill>
              <a:round/>
              <a:tailEnd type="arrow" w="sm"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7" name="组合 76"/>
          <p:cNvGrpSpPr/>
          <p:nvPr/>
        </p:nvGrpSpPr>
        <p:grpSpPr>
          <a:xfrm>
            <a:off x="5072066" y="2266942"/>
            <a:ext cx="1162058" cy="369332"/>
            <a:chOff x="5072066" y="2266942"/>
            <a:chExt cx="1162058" cy="369332"/>
          </a:xfrm>
        </p:grpSpPr>
        <p:sp>
          <p:nvSpPr>
            <p:cNvPr id="74" name="右箭头 73"/>
            <p:cNvSpPr/>
            <p:nvPr/>
          </p:nvSpPr>
          <p:spPr bwMode="auto">
            <a:xfrm>
              <a:off x="5072066" y="2357430"/>
              <a:ext cx="285752" cy="142876"/>
            </a:xfrm>
            <a:prstGeom prst="rightArrow">
              <a:avLst/>
            </a:prstGeom>
            <a:solidFill>
              <a:srgbClr val="FF0000"/>
            </a:solidFill>
            <a:ln>
              <a:tailEnd type="arrow" w="sm" len="sm"/>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75" name="TextBox 74"/>
            <p:cNvSpPr txBox="1"/>
            <p:nvPr/>
          </p:nvSpPr>
          <p:spPr>
            <a:xfrm>
              <a:off x="5305430" y="2266942"/>
              <a:ext cx="928694" cy="369332"/>
            </a:xfrm>
            <a:prstGeom prst="rect">
              <a:avLst/>
            </a:prstGeom>
            <a:noFill/>
          </p:spPr>
          <p:txBody>
            <a:bodyPr wrap="square" rtlCol="0">
              <a:spAutoFit/>
            </a:bodyPr>
            <a:lstStyle/>
            <a:p>
              <a:pPr algn="l">
                <a:lnSpc>
                  <a:spcPct val="100000"/>
                </a:lnSpc>
                <a:spcBef>
                  <a:spcPts val="0"/>
                </a:spcBef>
              </a:pPr>
              <a:r>
                <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右旋转</a:t>
              </a:r>
              <a:endPar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82" name="灯片编号占位符 8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285728"/>
            <a:ext cx="1714512" cy="453183"/>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en-US"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右旋转算法</a:t>
            </a:r>
            <a:endParaRPr lang="zh-CN" altLang="en-US" sz="2000" smtClean="0">
              <a:solidFill>
                <a:schemeClr val="bg1"/>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42844" y="928670"/>
            <a:ext cx="8858312" cy="32373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right_rotate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为根做右旋转</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AVLNode* b=a-&gt;lchild;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a-&gt;lchild=b-&gt;rchild;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b-&gt;rchild=a;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a-&gt;ht=max(getht(a-&gt;rchild),getht(a-&gt;lchild))+1;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更新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b-&gt;ht=max(getht(b-&gt;rchild),getht(b-&gt;lchild))+1;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更新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7"/>
          <p:cNvGrpSpPr/>
          <p:nvPr/>
        </p:nvGrpSpPr>
        <p:grpSpPr>
          <a:xfrm>
            <a:off x="1428728" y="4374127"/>
            <a:ext cx="5429288" cy="2198145"/>
            <a:chOff x="1428728" y="4374127"/>
            <a:chExt cx="5429288" cy="2198145"/>
          </a:xfrm>
        </p:grpSpPr>
        <p:grpSp>
          <p:nvGrpSpPr>
            <p:cNvPr id="3" name="组合 70"/>
            <p:cNvGrpSpPr/>
            <p:nvPr/>
          </p:nvGrpSpPr>
          <p:grpSpPr>
            <a:xfrm>
              <a:off x="1428728" y="4381442"/>
              <a:ext cx="1860569" cy="2177008"/>
              <a:chOff x="357158" y="2246614"/>
              <a:chExt cx="1988869" cy="2452694"/>
            </a:xfrm>
          </p:grpSpPr>
          <p:sp>
            <p:nvSpPr>
              <p:cNvPr id="99" name="Line 57"/>
              <p:cNvSpPr>
                <a:spLocks noChangeShapeType="1"/>
              </p:cNvSpPr>
              <p:nvPr/>
            </p:nvSpPr>
            <p:spPr bwMode="auto">
              <a:xfrm>
                <a:off x="1937895" y="2520999"/>
                <a:ext cx="217533" cy="330700"/>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0" name="Freeform 56"/>
              <p:cNvSpPr/>
              <p:nvPr/>
            </p:nvSpPr>
            <p:spPr bwMode="auto">
              <a:xfrm>
                <a:off x="1470718" y="3206363"/>
                <a:ext cx="308689" cy="444528"/>
              </a:xfrm>
              <a:custGeom>
                <a:avLst/>
                <a:gdLst/>
                <a:ahLst/>
                <a:cxnLst>
                  <a:cxn ang="0">
                    <a:pos x="0" y="0"/>
                  </a:cxn>
                  <a:cxn ang="0">
                    <a:pos x="340" y="424"/>
                  </a:cxn>
                </a:cxnLst>
                <a:rect l="0" t="0" r="r" b="b"/>
                <a:pathLst>
                  <a:path w="340" h="424">
                    <a:moveTo>
                      <a:pt x="0" y="0"/>
                    </a:moveTo>
                    <a:lnTo>
                      <a:pt x="340" y="424"/>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1" name="Line 55"/>
              <p:cNvSpPr>
                <a:spLocks noChangeShapeType="1"/>
              </p:cNvSpPr>
              <p:nvPr/>
            </p:nvSpPr>
            <p:spPr bwMode="auto">
              <a:xfrm flipH="1">
                <a:off x="899954" y="2487450"/>
                <a:ext cx="821445" cy="1186208"/>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2" name="Oval 54"/>
              <p:cNvSpPr>
                <a:spLocks noChangeArrowheads="1"/>
              </p:cNvSpPr>
              <p:nvPr/>
            </p:nvSpPr>
            <p:spPr bwMode="auto">
              <a:xfrm>
                <a:off x="1667533" y="2246614"/>
                <a:ext cx="327335" cy="328304"/>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 name="Oval 53"/>
              <p:cNvSpPr>
                <a:spLocks noChangeArrowheads="1"/>
              </p:cNvSpPr>
              <p:nvPr/>
            </p:nvSpPr>
            <p:spPr bwMode="auto">
              <a:xfrm>
                <a:off x="1180674" y="2923591"/>
                <a:ext cx="326299" cy="328304"/>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 name="Text Box 52"/>
              <p:cNvSpPr txBox="1">
                <a:spLocks noChangeArrowheads="1"/>
              </p:cNvSpPr>
              <p:nvPr/>
            </p:nvSpPr>
            <p:spPr bwMode="auto">
              <a:xfrm>
                <a:off x="1996939" y="2845708"/>
                <a:ext cx="349088"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 name="AutoShape 51"/>
              <p:cNvSpPr/>
              <p:nvPr/>
            </p:nvSpPr>
            <p:spPr bwMode="auto">
              <a:xfrm>
                <a:off x="1797017" y="2845708"/>
                <a:ext cx="182313" cy="557158"/>
              </a:xfrm>
              <a:prstGeom prst="leftBrace">
                <a:avLst>
                  <a:gd name="adj1" fmla="val 2201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6" name="Text Box 50"/>
              <p:cNvSpPr txBox="1">
                <a:spLocks noChangeArrowheads="1"/>
              </p:cNvSpPr>
              <p:nvPr/>
            </p:nvSpPr>
            <p:spPr bwMode="auto">
              <a:xfrm>
                <a:off x="1607452" y="2964329"/>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 name="Text Box 49"/>
              <p:cNvSpPr txBox="1">
                <a:spLocks noChangeArrowheads="1"/>
              </p:cNvSpPr>
              <p:nvPr/>
            </p:nvSpPr>
            <p:spPr bwMode="auto">
              <a:xfrm>
                <a:off x="1607452" y="3629324"/>
                <a:ext cx="349088" cy="57872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8" name="AutoShape 48"/>
              <p:cNvSpPr/>
              <p:nvPr/>
            </p:nvSpPr>
            <p:spPr bwMode="auto">
              <a:xfrm>
                <a:off x="1446893" y="3629324"/>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9" name="Text Box 47"/>
              <p:cNvSpPr txBox="1">
                <a:spLocks noChangeArrowheads="1"/>
              </p:cNvSpPr>
              <p:nvPr/>
            </p:nvSpPr>
            <p:spPr bwMode="auto">
              <a:xfrm>
                <a:off x="1220037" y="3749143"/>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 name="Text Box 46"/>
              <p:cNvSpPr txBox="1">
                <a:spLocks noChangeArrowheads="1"/>
              </p:cNvSpPr>
              <p:nvPr/>
            </p:nvSpPr>
            <p:spPr bwMode="auto">
              <a:xfrm>
                <a:off x="753896" y="3631721"/>
                <a:ext cx="350124" cy="57992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1" name="AutoShape 45"/>
              <p:cNvSpPr/>
              <p:nvPr/>
            </p:nvSpPr>
            <p:spPr bwMode="auto">
              <a:xfrm>
                <a:off x="584013" y="3631721"/>
                <a:ext cx="128448" cy="557158"/>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2" name="Text Box 44"/>
              <p:cNvSpPr txBox="1">
                <a:spLocks noChangeArrowheads="1"/>
              </p:cNvSpPr>
              <p:nvPr/>
            </p:nvSpPr>
            <p:spPr bwMode="auto">
              <a:xfrm>
                <a:off x="357158" y="3751540"/>
                <a:ext cx="185421"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3" name="Text Box 43"/>
              <p:cNvSpPr txBox="1">
                <a:spLocks noChangeArrowheads="1"/>
              </p:cNvSpPr>
              <p:nvPr/>
            </p:nvSpPr>
            <p:spPr bwMode="auto">
              <a:xfrm>
                <a:off x="1443785" y="2263388"/>
                <a:ext cx="185421" cy="2228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4" name="Text Box 42"/>
              <p:cNvSpPr txBox="1">
                <a:spLocks noChangeArrowheads="1"/>
              </p:cNvSpPr>
              <p:nvPr/>
            </p:nvSpPr>
            <p:spPr bwMode="auto">
              <a:xfrm>
                <a:off x="980751" y="2923591"/>
                <a:ext cx="186457" cy="2240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5" name="Text Box 9"/>
              <p:cNvSpPr txBox="1">
                <a:spLocks noChangeArrowheads="1"/>
              </p:cNvSpPr>
              <p:nvPr/>
            </p:nvSpPr>
            <p:spPr bwMode="auto">
              <a:xfrm>
                <a:off x="1339162" y="4372202"/>
                <a:ext cx="816265" cy="3271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旋转</a:t>
                </a: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前</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79" name="Freeform 62"/>
            <p:cNvSpPr/>
            <p:nvPr/>
          </p:nvSpPr>
          <p:spPr bwMode="auto">
            <a:xfrm>
              <a:off x="6327947" y="5141851"/>
              <a:ext cx="296528" cy="410515"/>
            </a:xfrm>
            <a:custGeom>
              <a:avLst/>
              <a:gdLst/>
              <a:ahLst/>
              <a:cxnLst>
                <a:cxn ang="0">
                  <a:pos x="0" y="0"/>
                </a:cxn>
                <a:cxn ang="0">
                  <a:pos x="350" y="441"/>
                </a:cxn>
              </a:cxnLst>
              <a:rect l="0" t="0" r="r" b="b"/>
              <a:pathLst>
                <a:path w="350" h="441">
                  <a:moveTo>
                    <a:pt x="0" y="0"/>
                  </a:moveTo>
                  <a:lnTo>
                    <a:pt x="350" y="441"/>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0" name="Freeform 61"/>
            <p:cNvSpPr/>
            <p:nvPr/>
          </p:nvSpPr>
          <p:spPr bwMode="auto">
            <a:xfrm>
              <a:off x="5908349" y="5128026"/>
              <a:ext cx="210283" cy="446674"/>
            </a:xfrm>
            <a:custGeom>
              <a:avLst/>
              <a:gdLst/>
              <a:ahLst/>
              <a:cxnLst>
                <a:cxn ang="0">
                  <a:pos x="247" y="0"/>
                </a:cxn>
                <a:cxn ang="0">
                  <a:pos x="0" y="480"/>
                </a:cxn>
              </a:cxnLst>
              <a:rect l="0" t="0" r="r" b="b"/>
              <a:pathLst>
                <a:path w="247" h="480">
                  <a:moveTo>
                    <a:pt x="247" y="0"/>
                  </a:moveTo>
                  <a:lnTo>
                    <a:pt x="0" y="48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Line 59"/>
            <p:cNvSpPr>
              <a:spLocks noChangeShapeType="1"/>
            </p:cNvSpPr>
            <p:nvPr/>
          </p:nvSpPr>
          <p:spPr bwMode="auto">
            <a:xfrm>
              <a:off x="5975214" y="4621794"/>
              <a:ext cx="204468" cy="29352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2" name="AutoShape 26"/>
            <p:cNvSpPr>
              <a:spLocks noChangeArrowheads="1"/>
            </p:cNvSpPr>
            <p:nvPr/>
          </p:nvSpPr>
          <p:spPr bwMode="auto">
            <a:xfrm>
              <a:off x="3761358" y="5230905"/>
              <a:ext cx="865359" cy="185051"/>
            </a:xfrm>
            <a:prstGeom prst="rightArrow">
              <a:avLst>
                <a:gd name="adj1" fmla="val 50000"/>
                <a:gd name="adj2" fmla="val 128305"/>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3" name="Line 24"/>
            <p:cNvSpPr>
              <a:spLocks noChangeShapeType="1"/>
            </p:cNvSpPr>
            <p:nvPr/>
          </p:nvSpPr>
          <p:spPr bwMode="auto">
            <a:xfrm flipH="1">
              <a:off x="5449022" y="4611160"/>
              <a:ext cx="313971" cy="326497"/>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4" name="Oval 23"/>
            <p:cNvSpPr>
              <a:spLocks noChangeArrowheads="1"/>
            </p:cNvSpPr>
            <p:nvPr/>
          </p:nvSpPr>
          <p:spPr bwMode="auto">
            <a:xfrm>
              <a:off x="5719384" y="4379314"/>
              <a:ext cx="305250" cy="29033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5" name="Oval 22"/>
            <p:cNvSpPr>
              <a:spLocks noChangeArrowheads="1"/>
            </p:cNvSpPr>
            <p:nvPr/>
          </p:nvSpPr>
          <p:spPr bwMode="auto">
            <a:xfrm>
              <a:off x="6064366" y="4898307"/>
              <a:ext cx="306219" cy="291402"/>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6" name="Text Box 21"/>
            <p:cNvSpPr txBox="1">
              <a:spLocks noChangeArrowheads="1"/>
            </p:cNvSpPr>
            <p:nvPr/>
          </p:nvSpPr>
          <p:spPr bwMode="auto">
            <a:xfrm>
              <a:off x="6531447" y="5538541"/>
              <a:ext cx="326569" cy="514740"/>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7" name="AutoShape 20"/>
            <p:cNvSpPr/>
            <p:nvPr/>
          </p:nvSpPr>
          <p:spPr bwMode="auto">
            <a:xfrm>
              <a:off x="6378338" y="5553429"/>
              <a:ext cx="121131" cy="49453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8" name="Text Box 19"/>
            <p:cNvSpPr txBox="1">
              <a:spLocks noChangeArrowheads="1"/>
            </p:cNvSpPr>
            <p:nvPr/>
          </p:nvSpPr>
          <p:spPr bwMode="auto">
            <a:xfrm>
              <a:off x="6201001" y="5659780"/>
              <a:ext cx="173460" cy="19781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9" name="Text Box 18"/>
            <p:cNvSpPr txBox="1">
              <a:spLocks noChangeArrowheads="1"/>
            </p:cNvSpPr>
            <p:nvPr/>
          </p:nvSpPr>
          <p:spPr bwMode="auto">
            <a:xfrm>
              <a:off x="5750395" y="5560874"/>
              <a:ext cx="327538" cy="514740"/>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 name="AutoShape 17"/>
            <p:cNvSpPr/>
            <p:nvPr/>
          </p:nvSpPr>
          <p:spPr bwMode="auto">
            <a:xfrm>
              <a:off x="5598254" y="5583208"/>
              <a:ext cx="120162" cy="49453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1" name="Text Box 16"/>
            <p:cNvSpPr txBox="1">
              <a:spLocks noChangeArrowheads="1"/>
            </p:cNvSpPr>
            <p:nvPr/>
          </p:nvSpPr>
          <p:spPr bwMode="auto">
            <a:xfrm>
              <a:off x="5419950" y="5689559"/>
              <a:ext cx="173460" cy="19887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2" name="Text Box 15"/>
            <p:cNvSpPr txBox="1">
              <a:spLocks noChangeArrowheads="1"/>
            </p:cNvSpPr>
            <p:nvPr/>
          </p:nvSpPr>
          <p:spPr bwMode="auto">
            <a:xfrm>
              <a:off x="5262964" y="4915324"/>
              <a:ext cx="326569" cy="514740"/>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3" name="AutoShape 14"/>
            <p:cNvSpPr/>
            <p:nvPr/>
          </p:nvSpPr>
          <p:spPr bwMode="auto">
            <a:xfrm>
              <a:off x="5112761" y="4915324"/>
              <a:ext cx="120162" cy="49453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4" name="Text Box 13"/>
            <p:cNvSpPr txBox="1">
              <a:spLocks noChangeArrowheads="1"/>
            </p:cNvSpPr>
            <p:nvPr/>
          </p:nvSpPr>
          <p:spPr bwMode="auto">
            <a:xfrm>
              <a:off x="4927673" y="5021675"/>
              <a:ext cx="173460" cy="19887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 name="Text Box 12"/>
            <p:cNvSpPr txBox="1">
              <a:spLocks noChangeArrowheads="1"/>
            </p:cNvSpPr>
            <p:nvPr/>
          </p:nvSpPr>
          <p:spPr bwMode="auto">
            <a:xfrm>
              <a:off x="5512978" y="4393140"/>
              <a:ext cx="174429" cy="19781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6" name="Text Box 11"/>
            <p:cNvSpPr txBox="1">
              <a:spLocks noChangeArrowheads="1"/>
            </p:cNvSpPr>
            <p:nvPr/>
          </p:nvSpPr>
          <p:spPr bwMode="auto">
            <a:xfrm>
              <a:off x="6383183" y="4851512"/>
              <a:ext cx="173460" cy="19781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7" name="Text Box 10"/>
            <p:cNvSpPr txBox="1">
              <a:spLocks noChangeArrowheads="1"/>
            </p:cNvSpPr>
            <p:nvPr/>
          </p:nvSpPr>
          <p:spPr bwMode="auto">
            <a:xfrm>
              <a:off x="5262964" y="5416236"/>
              <a:ext cx="327538" cy="183988"/>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8" name="Text Box 7"/>
            <p:cNvSpPr txBox="1">
              <a:spLocks noChangeArrowheads="1"/>
            </p:cNvSpPr>
            <p:nvPr/>
          </p:nvSpPr>
          <p:spPr bwMode="auto">
            <a:xfrm>
              <a:off x="5568214" y="6281933"/>
              <a:ext cx="763609" cy="29033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旋转</a:t>
              </a: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后</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44"/>
            <p:cNvGrpSpPr/>
            <p:nvPr/>
          </p:nvGrpSpPr>
          <p:grpSpPr>
            <a:xfrm>
              <a:off x="2986076" y="4374127"/>
              <a:ext cx="1162058" cy="369332"/>
              <a:chOff x="5072066" y="2266942"/>
              <a:chExt cx="1162058" cy="369332"/>
            </a:xfrm>
          </p:grpSpPr>
          <p:sp>
            <p:nvSpPr>
              <p:cNvPr id="46" name="右箭头 45"/>
              <p:cNvSpPr/>
              <p:nvPr/>
            </p:nvSpPr>
            <p:spPr bwMode="auto">
              <a:xfrm>
                <a:off x="5072066" y="2357430"/>
                <a:ext cx="285752" cy="142876"/>
              </a:xfrm>
              <a:prstGeom prst="rightArrow">
                <a:avLst/>
              </a:prstGeom>
              <a:solidFill>
                <a:srgbClr val="FF0000"/>
              </a:solidFill>
              <a:ln>
                <a:tailEnd type="arrow" w="sm" len="sm"/>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47" name="TextBox 46"/>
              <p:cNvSpPr txBox="1"/>
              <p:nvPr/>
            </p:nvSpPr>
            <p:spPr>
              <a:xfrm>
                <a:off x="5305430" y="2266942"/>
                <a:ext cx="928694" cy="369332"/>
              </a:xfrm>
              <a:prstGeom prst="rect">
                <a:avLst/>
              </a:prstGeom>
              <a:noFill/>
            </p:spPr>
            <p:txBody>
              <a:bodyPr wrap="square" rtlCol="0">
                <a:spAutoFit/>
              </a:bodyPr>
              <a:lstStyle/>
              <a:p>
                <a:pPr algn="l">
                  <a:lnSpc>
                    <a:spcPct val="100000"/>
                  </a:lnSpc>
                  <a:spcBef>
                    <a:spcPts val="0"/>
                  </a:spcBef>
                </a:pPr>
                <a:r>
                  <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右旋转</a:t>
                </a:r>
                <a:endPar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grpSp>
      </p:grpSp>
      <p:sp>
        <p:nvSpPr>
          <p:cNvPr id="53" name="灯片编号占位符 5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500042"/>
            <a:ext cx="450059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直接利用右旋转实现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LL</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调整</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1285860"/>
            <a:ext cx="8001056" cy="17416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LL</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型调整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right_rotate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928670"/>
            <a:ext cx="192882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2</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RR</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型调整</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6449" name="Rectangle 6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6442" name="Line 58"/>
          <p:cNvSpPr>
            <a:spLocks noChangeShapeType="1"/>
          </p:cNvSpPr>
          <p:nvPr/>
        </p:nvSpPr>
        <p:spPr bwMode="auto">
          <a:xfrm flipV="1">
            <a:off x="5182454" y="1884095"/>
            <a:ext cx="0" cy="869395"/>
          </a:xfrm>
          <a:prstGeom prst="line">
            <a:avLst/>
          </a:prstGeom>
          <a:noFill/>
          <a:ln w="28575">
            <a:solidFill>
              <a:srgbClr val="FF00FF"/>
            </a:solidFill>
            <a:round/>
            <a:tailEnd type="arrow" w="sm"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8"/>
          <p:cNvGrpSpPr/>
          <p:nvPr/>
        </p:nvGrpSpPr>
        <p:grpSpPr>
          <a:xfrm>
            <a:off x="285720" y="2161589"/>
            <a:ext cx="2149415" cy="2624733"/>
            <a:chOff x="285720" y="2161589"/>
            <a:chExt cx="2149415" cy="2624733"/>
          </a:xfrm>
        </p:grpSpPr>
        <p:sp>
          <p:nvSpPr>
            <p:cNvPr id="16447" name="Line 63"/>
            <p:cNvSpPr>
              <a:spLocks noChangeShapeType="1"/>
            </p:cNvSpPr>
            <p:nvPr/>
          </p:nvSpPr>
          <p:spPr bwMode="auto">
            <a:xfrm>
              <a:off x="1445187" y="2451811"/>
              <a:ext cx="229285" cy="35132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6" name="Freeform 52"/>
            <p:cNvSpPr/>
            <p:nvPr/>
          </p:nvSpPr>
          <p:spPr bwMode="auto">
            <a:xfrm>
              <a:off x="1824432" y="3053896"/>
              <a:ext cx="348818" cy="511708"/>
            </a:xfrm>
            <a:custGeom>
              <a:avLst/>
              <a:gdLst/>
              <a:ahLst/>
              <a:cxnLst>
                <a:cxn ang="0">
                  <a:pos x="0" y="0"/>
                </a:cxn>
                <a:cxn ang="0">
                  <a:pos x="367" y="459"/>
                </a:cxn>
              </a:cxnLst>
              <a:rect l="0" t="0" r="r" b="b"/>
              <a:pathLst>
                <a:path w="367" h="459">
                  <a:moveTo>
                    <a:pt x="0" y="0"/>
                  </a:moveTo>
                  <a:lnTo>
                    <a:pt x="367" y="45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5" name="Freeform 51"/>
            <p:cNvSpPr/>
            <p:nvPr/>
          </p:nvSpPr>
          <p:spPr bwMode="auto">
            <a:xfrm>
              <a:off x="1370207" y="3029711"/>
              <a:ext cx="246672" cy="562625"/>
            </a:xfrm>
            <a:custGeom>
              <a:avLst/>
              <a:gdLst/>
              <a:ahLst/>
              <a:cxnLst>
                <a:cxn ang="0">
                  <a:pos x="259" y="0"/>
                </a:cxn>
                <a:cxn ang="0">
                  <a:pos x="0" y="505"/>
                </a:cxn>
              </a:cxnLst>
              <a:rect l="0" t="0" r="r" b="b"/>
              <a:pathLst>
                <a:path w="259" h="505">
                  <a:moveTo>
                    <a:pt x="259" y="0"/>
                  </a:moveTo>
                  <a:lnTo>
                    <a:pt x="0" y="50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19" name="Line 35"/>
            <p:cNvSpPr>
              <a:spLocks noChangeShapeType="1"/>
            </p:cNvSpPr>
            <p:nvPr/>
          </p:nvSpPr>
          <p:spPr bwMode="auto">
            <a:xfrm flipH="1">
              <a:off x="855130" y="2439082"/>
              <a:ext cx="352078" cy="39078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18" name="Oval 34"/>
            <p:cNvSpPr>
              <a:spLocks noChangeArrowheads="1"/>
            </p:cNvSpPr>
            <p:nvPr/>
          </p:nvSpPr>
          <p:spPr bwMode="auto">
            <a:xfrm>
              <a:off x="1161569" y="2161589"/>
              <a:ext cx="343385" cy="34750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7" name="Oval 33"/>
            <p:cNvSpPr>
              <a:spLocks noChangeArrowheads="1"/>
            </p:cNvSpPr>
            <p:nvPr/>
          </p:nvSpPr>
          <p:spPr bwMode="auto">
            <a:xfrm>
              <a:off x="1545160" y="2782767"/>
              <a:ext cx="343385" cy="34750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6" name="Text Box 32"/>
            <p:cNvSpPr txBox="1">
              <a:spLocks noChangeArrowheads="1"/>
            </p:cNvSpPr>
            <p:nvPr/>
          </p:nvSpPr>
          <p:spPr bwMode="auto">
            <a:xfrm>
              <a:off x="2068930" y="3549057"/>
              <a:ext cx="366205" cy="61481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5" name="AutoShape 31"/>
            <p:cNvSpPr/>
            <p:nvPr/>
          </p:nvSpPr>
          <p:spPr bwMode="auto">
            <a:xfrm>
              <a:off x="1897238" y="3549057"/>
              <a:ext cx="135833" cy="59190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14" name="Text Box 30"/>
            <p:cNvSpPr txBox="1">
              <a:spLocks noChangeArrowheads="1"/>
            </p:cNvSpPr>
            <p:nvPr/>
          </p:nvSpPr>
          <p:spPr bwMode="auto">
            <a:xfrm>
              <a:off x="1697292" y="3676347"/>
              <a:ext cx="195599"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3" name="Text Box 29"/>
            <p:cNvSpPr txBox="1">
              <a:spLocks noChangeArrowheads="1"/>
            </p:cNvSpPr>
            <p:nvPr/>
          </p:nvSpPr>
          <p:spPr bwMode="auto">
            <a:xfrm>
              <a:off x="1193082" y="3575788"/>
              <a:ext cx="367291" cy="61481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2" name="AutoShape 28"/>
            <p:cNvSpPr/>
            <p:nvPr/>
          </p:nvSpPr>
          <p:spPr bwMode="auto">
            <a:xfrm>
              <a:off x="1030083" y="3575788"/>
              <a:ext cx="134746" cy="59190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11" name="Text Box 27"/>
            <p:cNvSpPr txBox="1">
              <a:spLocks noChangeArrowheads="1"/>
            </p:cNvSpPr>
            <p:nvPr/>
          </p:nvSpPr>
          <p:spPr bwMode="auto">
            <a:xfrm>
              <a:off x="830137" y="3703079"/>
              <a:ext cx="194512"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10" name="Text Box 26"/>
            <p:cNvSpPr txBox="1">
              <a:spLocks noChangeArrowheads="1"/>
            </p:cNvSpPr>
            <p:nvPr/>
          </p:nvSpPr>
          <p:spPr bwMode="auto">
            <a:xfrm>
              <a:off x="641058" y="2803134"/>
              <a:ext cx="367291" cy="61481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9" name="AutoShape 25"/>
            <p:cNvSpPr/>
            <p:nvPr/>
          </p:nvSpPr>
          <p:spPr bwMode="auto">
            <a:xfrm>
              <a:off x="485666" y="2803134"/>
              <a:ext cx="134746" cy="59190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8" name="Text Box 24"/>
            <p:cNvSpPr txBox="1">
              <a:spLocks noChangeArrowheads="1"/>
            </p:cNvSpPr>
            <p:nvPr/>
          </p:nvSpPr>
          <p:spPr bwMode="auto">
            <a:xfrm>
              <a:off x="285720" y="2930424"/>
              <a:ext cx="194512"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7" name="Text Box 23"/>
            <p:cNvSpPr txBox="1">
              <a:spLocks noChangeArrowheads="1"/>
            </p:cNvSpPr>
            <p:nvPr/>
          </p:nvSpPr>
          <p:spPr bwMode="auto">
            <a:xfrm>
              <a:off x="822530" y="2178136"/>
              <a:ext cx="299918" cy="23421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6" name="Text Box 22"/>
            <p:cNvSpPr txBox="1">
              <a:spLocks noChangeArrowheads="1"/>
            </p:cNvSpPr>
            <p:nvPr/>
          </p:nvSpPr>
          <p:spPr bwMode="auto">
            <a:xfrm>
              <a:off x="1902671" y="2726759"/>
              <a:ext cx="194512"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2" name="Text Box 18"/>
            <p:cNvSpPr txBox="1">
              <a:spLocks noChangeArrowheads="1"/>
            </p:cNvSpPr>
            <p:nvPr/>
          </p:nvSpPr>
          <p:spPr bwMode="auto">
            <a:xfrm>
              <a:off x="988789" y="4438819"/>
              <a:ext cx="856289" cy="34750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69"/>
          <p:cNvGrpSpPr/>
          <p:nvPr/>
        </p:nvGrpSpPr>
        <p:grpSpPr>
          <a:xfrm>
            <a:off x="2500300" y="1837463"/>
            <a:ext cx="3361317" cy="2911944"/>
            <a:chOff x="2500300" y="1837463"/>
            <a:chExt cx="3361317" cy="2911944"/>
          </a:xfrm>
        </p:grpSpPr>
        <p:sp>
          <p:nvSpPr>
            <p:cNvPr id="16446" name="Text Box 62"/>
            <p:cNvSpPr txBox="1">
              <a:spLocks noChangeArrowheads="1"/>
            </p:cNvSpPr>
            <p:nvPr/>
          </p:nvSpPr>
          <p:spPr bwMode="auto">
            <a:xfrm>
              <a:off x="4977075" y="2409805"/>
              <a:ext cx="195599"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45" name="Text Box 61"/>
            <p:cNvSpPr txBox="1">
              <a:spLocks noChangeArrowheads="1"/>
            </p:cNvSpPr>
            <p:nvPr/>
          </p:nvSpPr>
          <p:spPr bwMode="auto">
            <a:xfrm>
              <a:off x="5453033" y="3094629"/>
              <a:ext cx="195599"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44" name="Text Box 60"/>
            <p:cNvSpPr txBox="1">
              <a:spLocks noChangeArrowheads="1"/>
            </p:cNvSpPr>
            <p:nvPr/>
          </p:nvSpPr>
          <p:spPr bwMode="auto">
            <a:xfrm>
              <a:off x="2500300" y="2873143"/>
              <a:ext cx="1214444" cy="28385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插入一结点</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39" name="Line 55"/>
            <p:cNvSpPr>
              <a:spLocks noChangeShapeType="1"/>
            </p:cNvSpPr>
            <p:nvPr/>
          </p:nvSpPr>
          <p:spPr bwMode="auto">
            <a:xfrm>
              <a:off x="4871669" y="2431445"/>
              <a:ext cx="228199" cy="351322"/>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8" name="Freeform 54"/>
            <p:cNvSpPr/>
            <p:nvPr/>
          </p:nvSpPr>
          <p:spPr bwMode="auto">
            <a:xfrm>
              <a:off x="5265040" y="3029711"/>
              <a:ext cx="334692" cy="515527"/>
            </a:xfrm>
            <a:custGeom>
              <a:avLst/>
              <a:gdLst/>
              <a:ahLst/>
              <a:cxnLst>
                <a:cxn ang="0">
                  <a:pos x="0" y="0"/>
                </a:cxn>
                <a:cxn ang="0">
                  <a:pos x="352" y="463"/>
                </a:cxn>
              </a:cxnLst>
              <a:rect l="0" t="0" r="r" b="b"/>
              <a:pathLst>
                <a:path w="352" h="463">
                  <a:moveTo>
                    <a:pt x="0" y="0"/>
                  </a:moveTo>
                  <a:lnTo>
                    <a:pt x="352" y="463"/>
                  </a:lnTo>
                </a:path>
              </a:pathLst>
            </a:cu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7" name="Freeform 53"/>
            <p:cNvSpPr/>
            <p:nvPr/>
          </p:nvSpPr>
          <p:spPr bwMode="auto">
            <a:xfrm>
              <a:off x="4796690" y="2978795"/>
              <a:ext cx="246672" cy="593174"/>
            </a:xfrm>
            <a:custGeom>
              <a:avLst/>
              <a:gdLst/>
              <a:ahLst/>
              <a:cxnLst>
                <a:cxn ang="0">
                  <a:pos x="259" y="0"/>
                </a:cxn>
                <a:cxn ang="0">
                  <a:pos x="0" y="532"/>
                </a:cxn>
              </a:cxnLst>
              <a:rect l="0" t="0" r="r" b="b"/>
              <a:pathLst>
                <a:path w="259" h="532">
                  <a:moveTo>
                    <a:pt x="259" y="0"/>
                  </a:moveTo>
                  <a:lnTo>
                    <a:pt x="0" y="532"/>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20" name="AutoShape 36"/>
            <p:cNvSpPr>
              <a:spLocks noChangeArrowheads="1"/>
            </p:cNvSpPr>
            <p:nvPr/>
          </p:nvSpPr>
          <p:spPr bwMode="auto">
            <a:xfrm>
              <a:off x="2539259" y="3174822"/>
              <a:ext cx="1104047" cy="220213"/>
            </a:xfrm>
            <a:prstGeom prst="rightArrow">
              <a:avLst>
                <a:gd name="adj1" fmla="val 50000"/>
                <a:gd name="adj2" fmla="val 146821"/>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3" name="Text Box 19"/>
            <p:cNvSpPr txBox="1">
              <a:spLocks noChangeArrowheads="1"/>
            </p:cNvSpPr>
            <p:nvPr/>
          </p:nvSpPr>
          <p:spPr bwMode="auto">
            <a:xfrm>
              <a:off x="4477211" y="4401904"/>
              <a:ext cx="856289" cy="34750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1" name="Line 17"/>
            <p:cNvSpPr>
              <a:spLocks noChangeShapeType="1"/>
            </p:cNvSpPr>
            <p:nvPr/>
          </p:nvSpPr>
          <p:spPr bwMode="auto">
            <a:xfrm flipH="1">
              <a:off x="4281612" y="2418716"/>
              <a:ext cx="352078" cy="39078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00" name="Oval 16"/>
            <p:cNvSpPr>
              <a:spLocks noChangeArrowheads="1"/>
            </p:cNvSpPr>
            <p:nvPr/>
          </p:nvSpPr>
          <p:spPr bwMode="auto">
            <a:xfrm>
              <a:off x="4588051" y="2141222"/>
              <a:ext cx="342298" cy="34750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9" name="Oval 15"/>
            <p:cNvSpPr>
              <a:spLocks noChangeArrowheads="1"/>
            </p:cNvSpPr>
            <p:nvPr/>
          </p:nvSpPr>
          <p:spPr bwMode="auto">
            <a:xfrm>
              <a:off x="4971642" y="2762401"/>
              <a:ext cx="342298" cy="348776"/>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8" name="Text Box 14"/>
            <p:cNvSpPr txBox="1">
              <a:spLocks noChangeArrowheads="1"/>
            </p:cNvSpPr>
            <p:nvPr/>
          </p:nvSpPr>
          <p:spPr bwMode="auto">
            <a:xfrm>
              <a:off x="5495412" y="3528690"/>
              <a:ext cx="366205" cy="6160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7" name="AutoShape 13"/>
            <p:cNvSpPr/>
            <p:nvPr/>
          </p:nvSpPr>
          <p:spPr bwMode="auto">
            <a:xfrm>
              <a:off x="5338933" y="3537601"/>
              <a:ext cx="135833" cy="507890"/>
            </a:xfrm>
            <a:prstGeom prst="leftBrace">
              <a:avLst>
                <a:gd name="adj1" fmla="val 266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6" name="Text Box 12"/>
            <p:cNvSpPr txBox="1">
              <a:spLocks noChangeArrowheads="1"/>
            </p:cNvSpPr>
            <p:nvPr/>
          </p:nvSpPr>
          <p:spPr bwMode="auto">
            <a:xfrm>
              <a:off x="5138988" y="3664891"/>
              <a:ext cx="195599"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5" name="Text Box 11"/>
            <p:cNvSpPr txBox="1">
              <a:spLocks noChangeArrowheads="1"/>
            </p:cNvSpPr>
            <p:nvPr/>
          </p:nvSpPr>
          <p:spPr bwMode="auto">
            <a:xfrm>
              <a:off x="4619564" y="3555421"/>
              <a:ext cx="366205" cy="6160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4" name="AutoShape 10"/>
            <p:cNvSpPr/>
            <p:nvPr/>
          </p:nvSpPr>
          <p:spPr bwMode="auto">
            <a:xfrm>
              <a:off x="4440265" y="3564332"/>
              <a:ext cx="135833" cy="59190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3" name="Text Box 9"/>
            <p:cNvSpPr txBox="1">
              <a:spLocks noChangeArrowheads="1"/>
            </p:cNvSpPr>
            <p:nvPr/>
          </p:nvSpPr>
          <p:spPr bwMode="auto">
            <a:xfrm>
              <a:off x="4241406" y="3691622"/>
              <a:ext cx="194512"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2" name="Text Box 8"/>
            <p:cNvSpPr txBox="1">
              <a:spLocks noChangeArrowheads="1"/>
            </p:cNvSpPr>
            <p:nvPr/>
          </p:nvSpPr>
          <p:spPr bwMode="auto">
            <a:xfrm>
              <a:off x="4067540" y="2782767"/>
              <a:ext cx="366205" cy="6160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91" name="AutoShape 7"/>
            <p:cNvSpPr/>
            <p:nvPr/>
          </p:nvSpPr>
          <p:spPr bwMode="auto">
            <a:xfrm>
              <a:off x="3889328" y="2791677"/>
              <a:ext cx="135833" cy="59190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390" name="Text Box 6"/>
            <p:cNvSpPr txBox="1">
              <a:spLocks noChangeArrowheads="1"/>
            </p:cNvSpPr>
            <p:nvPr/>
          </p:nvSpPr>
          <p:spPr bwMode="auto">
            <a:xfrm>
              <a:off x="3689382" y="2918968"/>
              <a:ext cx="195599"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89" name="Text Box 5"/>
            <p:cNvSpPr txBox="1">
              <a:spLocks noChangeArrowheads="1"/>
            </p:cNvSpPr>
            <p:nvPr/>
          </p:nvSpPr>
          <p:spPr bwMode="auto">
            <a:xfrm>
              <a:off x="4572000" y="1837463"/>
              <a:ext cx="298832" cy="23421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88" name="Text Box 4"/>
            <p:cNvSpPr txBox="1">
              <a:spLocks noChangeArrowheads="1"/>
            </p:cNvSpPr>
            <p:nvPr/>
          </p:nvSpPr>
          <p:spPr bwMode="auto">
            <a:xfrm>
              <a:off x="5329153" y="2706393"/>
              <a:ext cx="346645" cy="28767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87" name="Text Box 3"/>
            <p:cNvSpPr txBox="1">
              <a:spLocks noChangeArrowheads="1"/>
            </p:cNvSpPr>
            <p:nvPr/>
          </p:nvSpPr>
          <p:spPr bwMode="auto">
            <a:xfrm>
              <a:off x="5494326" y="4067130"/>
              <a:ext cx="367291" cy="22021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70"/>
          <p:cNvGrpSpPr/>
          <p:nvPr/>
        </p:nvGrpSpPr>
        <p:grpSpPr>
          <a:xfrm>
            <a:off x="6023530" y="2120856"/>
            <a:ext cx="2588425" cy="2605639"/>
            <a:chOff x="6023530" y="2120856"/>
            <a:chExt cx="2588425" cy="2605639"/>
          </a:xfrm>
        </p:grpSpPr>
        <p:sp>
          <p:nvSpPr>
            <p:cNvPr id="16443" name="Text Box 59"/>
            <p:cNvSpPr txBox="1">
              <a:spLocks noChangeArrowheads="1"/>
            </p:cNvSpPr>
            <p:nvPr/>
          </p:nvSpPr>
          <p:spPr bwMode="auto">
            <a:xfrm>
              <a:off x="6122416" y="2731851"/>
              <a:ext cx="685683" cy="28385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RR</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41" name="Line 57"/>
            <p:cNvSpPr>
              <a:spLocks noChangeShapeType="1"/>
            </p:cNvSpPr>
            <p:nvPr/>
          </p:nvSpPr>
          <p:spPr bwMode="auto">
            <a:xfrm>
              <a:off x="8182724" y="2412351"/>
              <a:ext cx="228199" cy="35004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40" name="Freeform 56"/>
            <p:cNvSpPr/>
            <p:nvPr/>
          </p:nvSpPr>
          <p:spPr bwMode="auto">
            <a:xfrm>
              <a:off x="7664387" y="3095902"/>
              <a:ext cx="352078" cy="516800"/>
            </a:xfrm>
            <a:custGeom>
              <a:avLst/>
              <a:gdLst/>
              <a:ahLst/>
              <a:cxnLst>
                <a:cxn ang="0">
                  <a:pos x="0" y="0"/>
                </a:cxn>
                <a:cxn ang="0">
                  <a:pos x="370" y="463"/>
                </a:cxn>
              </a:cxnLst>
              <a:rect l="0" t="0" r="r" b="b"/>
              <a:pathLst>
                <a:path w="370" h="463">
                  <a:moveTo>
                    <a:pt x="0" y="0"/>
                  </a:moveTo>
                  <a:lnTo>
                    <a:pt x="370" y="463"/>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4" name="Line 50"/>
            <p:cNvSpPr>
              <a:spLocks noChangeShapeType="1"/>
            </p:cNvSpPr>
            <p:nvPr/>
          </p:nvSpPr>
          <p:spPr bwMode="auto">
            <a:xfrm flipH="1">
              <a:off x="7086284" y="2394531"/>
              <a:ext cx="861722" cy="126017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33" name="Oval 49"/>
            <p:cNvSpPr>
              <a:spLocks noChangeArrowheads="1"/>
            </p:cNvSpPr>
            <p:nvPr/>
          </p:nvSpPr>
          <p:spPr bwMode="auto">
            <a:xfrm>
              <a:off x="7899106" y="2120856"/>
              <a:ext cx="342298" cy="34750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32" name="Oval 48"/>
            <p:cNvSpPr>
              <a:spLocks noChangeArrowheads="1"/>
            </p:cNvSpPr>
            <p:nvPr/>
          </p:nvSpPr>
          <p:spPr bwMode="auto">
            <a:xfrm>
              <a:off x="7388375" y="2840048"/>
              <a:ext cx="342298" cy="347503"/>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31" name="Text Box 47"/>
            <p:cNvSpPr txBox="1">
              <a:spLocks noChangeArrowheads="1"/>
            </p:cNvSpPr>
            <p:nvPr/>
          </p:nvSpPr>
          <p:spPr bwMode="auto">
            <a:xfrm>
              <a:off x="8244664" y="2756036"/>
              <a:ext cx="366205" cy="6160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30" name="AutoShape 46"/>
            <p:cNvSpPr/>
            <p:nvPr/>
          </p:nvSpPr>
          <p:spPr bwMode="auto">
            <a:xfrm>
              <a:off x="8065365" y="2756036"/>
              <a:ext cx="135833" cy="59190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29" name="Text Box 45"/>
            <p:cNvSpPr txBox="1">
              <a:spLocks noChangeArrowheads="1"/>
            </p:cNvSpPr>
            <p:nvPr/>
          </p:nvSpPr>
          <p:spPr bwMode="auto">
            <a:xfrm>
              <a:off x="7865419" y="2883327"/>
              <a:ext cx="195599"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8" name="Text Box 44"/>
            <p:cNvSpPr txBox="1">
              <a:spLocks noChangeArrowheads="1"/>
            </p:cNvSpPr>
            <p:nvPr/>
          </p:nvSpPr>
          <p:spPr bwMode="auto">
            <a:xfrm>
              <a:off x="7834993" y="3588517"/>
              <a:ext cx="367291" cy="6160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7" name="AutoShape 43"/>
            <p:cNvSpPr/>
            <p:nvPr/>
          </p:nvSpPr>
          <p:spPr bwMode="auto">
            <a:xfrm>
              <a:off x="7664387" y="3597427"/>
              <a:ext cx="134746" cy="59190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26" name="Text Box 42"/>
            <p:cNvSpPr txBox="1">
              <a:spLocks noChangeArrowheads="1"/>
            </p:cNvSpPr>
            <p:nvPr/>
          </p:nvSpPr>
          <p:spPr bwMode="auto">
            <a:xfrm>
              <a:off x="7464442" y="3724718"/>
              <a:ext cx="194512"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5" name="Text Box 41"/>
            <p:cNvSpPr txBox="1">
              <a:spLocks noChangeArrowheads="1"/>
            </p:cNvSpPr>
            <p:nvPr/>
          </p:nvSpPr>
          <p:spPr bwMode="auto">
            <a:xfrm>
              <a:off x="6940671" y="3592336"/>
              <a:ext cx="366205" cy="61481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4" name="AutoShape 40"/>
            <p:cNvSpPr/>
            <p:nvPr/>
          </p:nvSpPr>
          <p:spPr bwMode="auto">
            <a:xfrm>
              <a:off x="6785279" y="3601246"/>
              <a:ext cx="134746" cy="59190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423" name="Text Box 39"/>
            <p:cNvSpPr txBox="1">
              <a:spLocks noChangeArrowheads="1"/>
            </p:cNvSpPr>
            <p:nvPr/>
          </p:nvSpPr>
          <p:spPr bwMode="auto">
            <a:xfrm>
              <a:off x="6585333" y="3728537"/>
              <a:ext cx="194512"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2" name="Text Box 38"/>
            <p:cNvSpPr txBox="1">
              <a:spLocks noChangeArrowheads="1"/>
            </p:cNvSpPr>
            <p:nvPr/>
          </p:nvSpPr>
          <p:spPr bwMode="auto">
            <a:xfrm>
              <a:off x="7664387" y="2137403"/>
              <a:ext cx="194512" cy="23803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21" name="Text Box 37"/>
            <p:cNvSpPr txBox="1">
              <a:spLocks noChangeArrowheads="1"/>
            </p:cNvSpPr>
            <p:nvPr/>
          </p:nvSpPr>
          <p:spPr bwMode="auto">
            <a:xfrm>
              <a:off x="7178650" y="2840048"/>
              <a:ext cx="195599" cy="23676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5" name="Text Box 21"/>
            <p:cNvSpPr txBox="1">
              <a:spLocks noChangeArrowheads="1"/>
            </p:cNvSpPr>
            <p:nvPr/>
          </p:nvSpPr>
          <p:spPr bwMode="auto">
            <a:xfrm>
              <a:off x="8244664" y="3341573"/>
              <a:ext cx="367291" cy="22021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404" name="Text Box 20"/>
            <p:cNvSpPr txBox="1">
              <a:spLocks noChangeArrowheads="1"/>
            </p:cNvSpPr>
            <p:nvPr/>
          </p:nvSpPr>
          <p:spPr bwMode="auto">
            <a:xfrm>
              <a:off x="7554634" y="4377719"/>
              <a:ext cx="856289" cy="34877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386" name="AutoShape 2"/>
            <p:cNvSpPr>
              <a:spLocks noChangeArrowheads="1"/>
            </p:cNvSpPr>
            <p:nvPr/>
          </p:nvSpPr>
          <p:spPr bwMode="auto">
            <a:xfrm>
              <a:off x="6023530" y="3046259"/>
              <a:ext cx="955175" cy="220213"/>
            </a:xfrm>
            <a:prstGeom prst="rightArrow">
              <a:avLst>
                <a:gd name="adj1" fmla="val 50000"/>
                <a:gd name="adj2" fmla="val 127023"/>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6" name="组合 76"/>
          <p:cNvGrpSpPr/>
          <p:nvPr/>
        </p:nvGrpSpPr>
        <p:grpSpPr>
          <a:xfrm>
            <a:off x="3500430" y="2121560"/>
            <a:ext cx="1243544" cy="338554"/>
            <a:chOff x="3704696" y="1285860"/>
            <a:chExt cx="1243544" cy="338554"/>
          </a:xfrm>
        </p:grpSpPr>
        <p:sp>
          <p:nvSpPr>
            <p:cNvPr id="75" name="TextBox 74"/>
            <p:cNvSpPr txBox="1"/>
            <p:nvPr/>
          </p:nvSpPr>
          <p:spPr>
            <a:xfrm>
              <a:off x="4019546" y="1285860"/>
              <a:ext cx="928694" cy="338554"/>
            </a:xfrm>
            <a:prstGeom prst="rect">
              <a:avLst/>
            </a:prstGeom>
            <a:noFill/>
          </p:spPr>
          <p:txBody>
            <a:bodyPr wrap="square" rtlCol="0">
              <a:spAutoFit/>
            </a:bodyPr>
            <a:lstStyle/>
            <a:p>
              <a:pPr algn="l">
                <a:lnSpc>
                  <a:spcPct val="100000"/>
                </a:lnSpc>
                <a:spcBef>
                  <a:spcPts val="0"/>
                </a:spcBef>
              </a:pPr>
              <a:r>
                <a:rPr lang="zh-CN" altLang="en-US"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左旋转</a:t>
              </a:r>
              <a:endParaRPr lang="zh-CN" altLang="en-US" sz="16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76" name="左箭头 75"/>
            <p:cNvSpPr/>
            <p:nvPr/>
          </p:nvSpPr>
          <p:spPr bwMode="auto">
            <a:xfrm>
              <a:off x="3704696" y="1388544"/>
              <a:ext cx="357190" cy="142876"/>
            </a:xfrm>
            <a:prstGeom prst="leftArrow">
              <a:avLst/>
            </a:prstGeom>
            <a:solidFill>
              <a:srgbClr val="FF0000"/>
            </a:solidFill>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81" name="灯片编号占位符 8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644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4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57158" y="285728"/>
            <a:ext cx="1714512" cy="453183"/>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en-US"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左旋转算法</a:t>
            </a:r>
            <a:endParaRPr lang="zh-CN" altLang="en-US" sz="2000" smtClean="0">
              <a:solidFill>
                <a:schemeClr val="bg1"/>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214314" y="1000108"/>
            <a:ext cx="8858280" cy="26627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left_rotate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为根做左旋转</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AVLNode* b=a-&gt;rchild;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a-&gt;rchild=b-&gt;lchild;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b-&gt;lchild=a;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a-&gt;ht=max(getht(a-&gt;rchild),getht(a-&gt;lchild))+1;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更新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b-&gt;ht=max(getht(b-&gt;rchild),getht(b-&gt;lchild))+1;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更新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结点的高度</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1"/>
          <p:cNvGrpSpPr/>
          <p:nvPr/>
        </p:nvGrpSpPr>
        <p:grpSpPr>
          <a:xfrm>
            <a:off x="1285852" y="4143380"/>
            <a:ext cx="5572164" cy="2093962"/>
            <a:chOff x="500034" y="3621054"/>
            <a:chExt cx="5572164" cy="2093962"/>
          </a:xfrm>
        </p:grpSpPr>
        <p:sp>
          <p:nvSpPr>
            <p:cNvPr id="11" name="Line 63"/>
            <p:cNvSpPr>
              <a:spLocks noChangeShapeType="1"/>
            </p:cNvSpPr>
            <p:nvPr/>
          </p:nvSpPr>
          <p:spPr bwMode="auto">
            <a:xfrm>
              <a:off x="2122130" y="3881049"/>
              <a:ext cx="221882" cy="27599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52"/>
            <p:cNvSpPr/>
            <p:nvPr/>
          </p:nvSpPr>
          <p:spPr bwMode="auto">
            <a:xfrm>
              <a:off x="2489130" y="4354040"/>
              <a:ext cx="337555" cy="401992"/>
            </a:xfrm>
            <a:custGeom>
              <a:avLst/>
              <a:gdLst/>
              <a:ahLst/>
              <a:cxnLst>
                <a:cxn ang="0">
                  <a:pos x="0" y="0"/>
                </a:cxn>
                <a:cxn ang="0">
                  <a:pos x="367" y="459"/>
                </a:cxn>
              </a:cxnLst>
              <a:rect l="0" t="0" r="r" b="b"/>
              <a:pathLst>
                <a:path w="367" h="459">
                  <a:moveTo>
                    <a:pt x="0" y="0"/>
                  </a:moveTo>
                  <a:lnTo>
                    <a:pt x="367" y="45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51"/>
            <p:cNvSpPr/>
            <p:nvPr/>
          </p:nvSpPr>
          <p:spPr bwMode="auto">
            <a:xfrm>
              <a:off x="2049571" y="4335041"/>
              <a:ext cx="238707" cy="441992"/>
            </a:xfrm>
            <a:custGeom>
              <a:avLst/>
              <a:gdLst/>
              <a:ahLst/>
              <a:cxnLst>
                <a:cxn ang="0">
                  <a:pos x="259" y="0"/>
                </a:cxn>
                <a:cxn ang="0">
                  <a:pos x="0" y="505"/>
                </a:cxn>
              </a:cxnLst>
              <a:rect l="0" t="0" r="r" b="b"/>
              <a:pathLst>
                <a:path w="259" h="505">
                  <a:moveTo>
                    <a:pt x="259" y="0"/>
                  </a:moveTo>
                  <a:lnTo>
                    <a:pt x="0" y="50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35"/>
            <p:cNvSpPr>
              <a:spLocks noChangeShapeType="1"/>
            </p:cNvSpPr>
            <p:nvPr/>
          </p:nvSpPr>
          <p:spPr bwMode="auto">
            <a:xfrm flipH="1">
              <a:off x="1551125" y="3871049"/>
              <a:ext cx="340710" cy="30699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Oval 34"/>
            <p:cNvSpPr>
              <a:spLocks noChangeArrowheads="1"/>
            </p:cNvSpPr>
            <p:nvPr/>
          </p:nvSpPr>
          <p:spPr bwMode="auto">
            <a:xfrm>
              <a:off x="1847669" y="3653053"/>
              <a:ext cx="332298" cy="27299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3"/>
            <p:cNvSpPr>
              <a:spLocks noChangeArrowheads="1"/>
            </p:cNvSpPr>
            <p:nvPr/>
          </p:nvSpPr>
          <p:spPr bwMode="auto">
            <a:xfrm>
              <a:off x="2218875" y="4141044"/>
              <a:ext cx="332298" cy="27299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32"/>
            <p:cNvSpPr txBox="1">
              <a:spLocks noChangeArrowheads="1"/>
            </p:cNvSpPr>
            <p:nvPr/>
          </p:nvSpPr>
          <p:spPr bwMode="auto">
            <a:xfrm>
              <a:off x="2725733" y="4743034"/>
              <a:ext cx="354381" cy="482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AutoShape 31"/>
            <p:cNvSpPr/>
            <p:nvPr/>
          </p:nvSpPr>
          <p:spPr bwMode="auto">
            <a:xfrm>
              <a:off x="2559585" y="4743034"/>
              <a:ext cx="131447" cy="46499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30"/>
            <p:cNvSpPr txBox="1">
              <a:spLocks noChangeArrowheads="1"/>
            </p:cNvSpPr>
            <p:nvPr/>
          </p:nvSpPr>
          <p:spPr bwMode="auto">
            <a:xfrm>
              <a:off x="2366095" y="4843031"/>
              <a:ext cx="189283"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29"/>
            <p:cNvSpPr txBox="1">
              <a:spLocks noChangeArrowheads="1"/>
            </p:cNvSpPr>
            <p:nvPr/>
          </p:nvSpPr>
          <p:spPr bwMode="auto">
            <a:xfrm>
              <a:off x="1878165" y="4764033"/>
              <a:ext cx="355432" cy="482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AutoShape 28"/>
            <p:cNvSpPr/>
            <p:nvPr/>
          </p:nvSpPr>
          <p:spPr bwMode="auto">
            <a:xfrm>
              <a:off x="1720429" y="4764033"/>
              <a:ext cx="130395" cy="46499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 Box 27"/>
            <p:cNvSpPr txBox="1">
              <a:spLocks noChangeArrowheads="1"/>
            </p:cNvSpPr>
            <p:nvPr/>
          </p:nvSpPr>
          <p:spPr bwMode="auto">
            <a:xfrm>
              <a:off x="1526939" y="4864032"/>
              <a:ext cx="188232"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Text Box 26"/>
            <p:cNvSpPr txBox="1">
              <a:spLocks noChangeArrowheads="1"/>
            </p:cNvSpPr>
            <p:nvPr/>
          </p:nvSpPr>
          <p:spPr bwMode="auto">
            <a:xfrm>
              <a:off x="1343965" y="4157044"/>
              <a:ext cx="355432" cy="482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AutoShape 25"/>
            <p:cNvSpPr/>
            <p:nvPr/>
          </p:nvSpPr>
          <p:spPr bwMode="auto">
            <a:xfrm>
              <a:off x="1193590" y="4157044"/>
              <a:ext cx="130395" cy="46499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24"/>
            <p:cNvSpPr txBox="1">
              <a:spLocks noChangeArrowheads="1"/>
            </p:cNvSpPr>
            <p:nvPr/>
          </p:nvSpPr>
          <p:spPr bwMode="auto">
            <a:xfrm>
              <a:off x="1000100" y="4257042"/>
              <a:ext cx="188232"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Text Box 23"/>
            <p:cNvSpPr txBox="1">
              <a:spLocks noChangeArrowheads="1"/>
            </p:cNvSpPr>
            <p:nvPr/>
          </p:nvSpPr>
          <p:spPr bwMode="auto">
            <a:xfrm>
              <a:off x="2210064" y="3666053"/>
              <a:ext cx="290234" cy="183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22"/>
            <p:cNvSpPr txBox="1">
              <a:spLocks noChangeArrowheads="1"/>
            </p:cNvSpPr>
            <p:nvPr/>
          </p:nvSpPr>
          <p:spPr bwMode="auto">
            <a:xfrm>
              <a:off x="2564842" y="4097045"/>
              <a:ext cx="188232"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18"/>
            <p:cNvSpPr txBox="1">
              <a:spLocks noChangeArrowheads="1"/>
            </p:cNvSpPr>
            <p:nvPr/>
          </p:nvSpPr>
          <p:spPr bwMode="auto">
            <a:xfrm>
              <a:off x="1680468" y="5442021"/>
              <a:ext cx="828641" cy="27299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旋转</a:t>
              </a: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前</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Line 57"/>
            <p:cNvSpPr>
              <a:spLocks noChangeShapeType="1"/>
            </p:cNvSpPr>
            <p:nvPr/>
          </p:nvSpPr>
          <p:spPr bwMode="auto">
            <a:xfrm>
              <a:off x="5656826" y="3850049"/>
              <a:ext cx="220831" cy="27499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56"/>
            <p:cNvSpPr/>
            <p:nvPr/>
          </p:nvSpPr>
          <p:spPr bwMode="auto">
            <a:xfrm>
              <a:off x="5155225" y="4387040"/>
              <a:ext cx="340710" cy="405993"/>
            </a:xfrm>
            <a:custGeom>
              <a:avLst/>
              <a:gdLst/>
              <a:ahLst/>
              <a:cxnLst>
                <a:cxn ang="0">
                  <a:pos x="0" y="0"/>
                </a:cxn>
                <a:cxn ang="0">
                  <a:pos x="370" y="463"/>
                </a:cxn>
              </a:cxnLst>
              <a:rect l="0" t="0" r="r" b="b"/>
              <a:pathLst>
                <a:path w="370" h="463">
                  <a:moveTo>
                    <a:pt x="0" y="0"/>
                  </a:moveTo>
                  <a:lnTo>
                    <a:pt x="370" y="463"/>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50"/>
            <p:cNvSpPr>
              <a:spLocks noChangeShapeType="1"/>
            </p:cNvSpPr>
            <p:nvPr/>
          </p:nvSpPr>
          <p:spPr bwMode="auto">
            <a:xfrm flipH="1">
              <a:off x="4595788" y="3836050"/>
              <a:ext cx="833898" cy="98998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Oval 49"/>
            <p:cNvSpPr>
              <a:spLocks noChangeArrowheads="1"/>
            </p:cNvSpPr>
            <p:nvPr/>
          </p:nvSpPr>
          <p:spPr bwMode="auto">
            <a:xfrm>
              <a:off x="5382366" y="3621054"/>
              <a:ext cx="331246" cy="27299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 name="Oval 48"/>
            <p:cNvSpPr>
              <a:spLocks noChangeArrowheads="1"/>
            </p:cNvSpPr>
            <p:nvPr/>
          </p:nvSpPr>
          <p:spPr bwMode="auto">
            <a:xfrm>
              <a:off x="4888125" y="4186044"/>
              <a:ext cx="331246" cy="27299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Text Box 47"/>
            <p:cNvSpPr txBox="1">
              <a:spLocks noChangeArrowheads="1"/>
            </p:cNvSpPr>
            <p:nvPr/>
          </p:nvSpPr>
          <p:spPr bwMode="auto">
            <a:xfrm>
              <a:off x="5716766" y="4120045"/>
              <a:ext cx="354381" cy="483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AutoShape 46"/>
            <p:cNvSpPr/>
            <p:nvPr/>
          </p:nvSpPr>
          <p:spPr bwMode="auto">
            <a:xfrm>
              <a:off x="5543256" y="4120045"/>
              <a:ext cx="131447" cy="464992"/>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 Box 45"/>
            <p:cNvSpPr txBox="1">
              <a:spLocks noChangeArrowheads="1"/>
            </p:cNvSpPr>
            <p:nvPr/>
          </p:nvSpPr>
          <p:spPr bwMode="auto">
            <a:xfrm>
              <a:off x="5349766" y="4220043"/>
              <a:ext cx="189283" cy="186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Text Box 44"/>
            <p:cNvSpPr txBox="1">
              <a:spLocks noChangeArrowheads="1"/>
            </p:cNvSpPr>
            <p:nvPr/>
          </p:nvSpPr>
          <p:spPr bwMode="auto">
            <a:xfrm>
              <a:off x="5320323" y="4774033"/>
              <a:ext cx="355432" cy="483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AutoShape 43"/>
            <p:cNvSpPr/>
            <p:nvPr/>
          </p:nvSpPr>
          <p:spPr bwMode="auto">
            <a:xfrm>
              <a:off x="5155225" y="4781033"/>
              <a:ext cx="130395" cy="46499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 Box 42"/>
            <p:cNvSpPr txBox="1">
              <a:spLocks noChangeArrowheads="1"/>
            </p:cNvSpPr>
            <p:nvPr/>
          </p:nvSpPr>
          <p:spPr bwMode="auto">
            <a:xfrm>
              <a:off x="4961736" y="4881031"/>
              <a:ext cx="188232" cy="186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Text Box 41"/>
            <p:cNvSpPr txBox="1">
              <a:spLocks noChangeArrowheads="1"/>
            </p:cNvSpPr>
            <p:nvPr/>
          </p:nvSpPr>
          <p:spPr bwMode="auto">
            <a:xfrm>
              <a:off x="4454877" y="4777033"/>
              <a:ext cx="354381" cy="48299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AutoShape 40"/>
            <p:cNvSpPr/>
            <p:nvPr/>
          </p:nvSpPr>
          <p:spPr bwMode="auto">
            <a:xfrm>
              <a:off x="4304502" y="4784033"/>
              <a:ext cx="130395" cy="464992"/>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 Box 39"/>
            <p:cNvSpPr txBox="1">
              <a:spLocks noChangeArrowheads="1"/>
            </p:cNvSpPr>
            <p:nvPr/>
          </p:nvSpPr>
          <p:spPr bwMode="auto">
            <a:xfrm>
              <a:off x="4111012" y="4884031"/>
              <a:ext cx="188232"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Text Box 38"/>
            <p:cNvSpPr txBox="1">
              <a:spLocks noChangeArrowheads="1"/>
            </p:cNvSpPr>
            <p:nvPr/>
          </p:nvSpPr>
          <p:spPr bwMode="auto">
            <a:xfrm>
              <a:off x="5155225" y="3634053"/>
              <a:ext cx="188232" cy="186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Text Box 37"/>
            <p:cNvSpPr txBox="1">
              <a:spLocks noChangeArrowheads="1"/>
            </p:cNvSpPr>
            <p:nvPr/>
          </p:nvSpPr>
          <p:spPr bwMode="auto">
            <a:xfrm>
              <a:off x="4685172" y="4186044"/>
              <a:ext cx="189283" cy="18599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Text Box 21"/>
            <p:cNvSpPr txBox="1">
              <a:spLocks noChangeArrowheads="1"/>
            </p:cNvSpPr>
            <p:nvPr/>
          </p:nvSpPr>
          <p:spPr bwMode="auto">
            <a:xfrm>
              <a:off x="5716766" y="4580036"/>
              <a:ext cx="355432" cy="172997"/>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Text Box 20"/>
            <p:cNvSpPr txBox="1">
              <a:spLocks noChangeArrowheads="1"/>
            </p:cNvSpPr>
            <p:nvPr/>
          </p:nvSpPr>
          <p:spPr bwMode="auto">
            <a:xfrm>
              <a:off x="5049016" y="5441021"/>
              <a:ext cx="828641" cy="27399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旋转</a:t>
              </a:r>
              <a:r>
                <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后</a:t>
              </a:r>
              <a:endParaRPr kumimoji="0" lang="zh-CN"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AutoShape 2"/>
            <p:cNvSpPr>
              <a:spLocks noChangeArrowheads="1"/>
            </p:cNvSpPr>
            <p:nvPr/>
          </p:nvSpPr>
          <p:spPr bwMode="auto">
            <a:xfrm>
              <a:off x="3286116" y="4357694"/>
              <a:ext cx="924334" cy="172997"/>
            </a:xfrm>
            <a:prstGeom prst="rightArrow">
              <a:avLst>
                <a:gd name="adj1" fmla="val 50000"/>
                <a:gd name="adj2" fmla="val 127023"/>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47"/>
            <p:cNvGrpSpPr/>
            <p:nvPr/>
          </p:nvGrpSpPr>
          <p:grpSpPr>
            <a:xfrm>
              <a:off x="500034" y="3624264"/>
              <a:ext cx="1281121" cy="369332"/>
              <a:chOff x="3852335" y="1285860"/>
              <a:chExt cx="1281121" cy="369332"/>
            </a:xfrm>
          </p:grpSpPr>
          <p:sp>
            <p:nvSpPr>
              <p:cNvPr id="50" name="TextBox 49"/>
              <p:cNvSpPr txBox="1"/>
              <p:nvPr/>
            </p:nvSpPr>
            <p:spPr>
              <a:xfrm>
                <a:off x="3852335" y="1285860"/>
                <a:ext cx="928694" cy="369332"/>
              </a:xfrm>
              <a:prstGeom prst="rect">
                <a:avLst/>
              </a:prstGeom>
              <a:noFill/>
            </p:spPr>
            <p:txBody>
              <a:bodyPr wrap="square" rtlCol="0">
                <a:spAutoFit/>
              </a:bodyPr>
              <a:lstStyle/>
              <a:p>
                <a:pPr algn="l">
                  <a:lnSpc>
                    <a:spcPct val="100000"/>
                  </a:lnSpc>
                  <a:spcBef>
                    <a:spcPts val="0"/>
                  </a:spcBef>
                </a:pPr>
                <a:r>
                  <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左旋转</a:t>
                </a:r>
                <a:endParaRPr lang="zh-CN" altLang="en-US"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左箭头 50"/>
              <p:cNvSpPr/>
              <p:nvPr/>
            </p:nvSpPr>
            <p:spPr bwMode="auto">
              <a:xfrm>
                <a:off x="4776266" y="1388544"/>
                <a:ext cx="357190" cy="142876"/>
              </a:xfrm>
              <a:prstGeom prst="leftArrow">
                <a:avLst/>
              </a:prstGeom>
              <a:solidFill>
                <a:srgbClr val="FF0000"/>
              </a:solidFill>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grpSp>
      </p:grpSp>
      <p:sp>
        <p:nvSpPr>
          <p:cNvPr id="56" name="灯片编号占位符 5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500042"/>
            <a:ext cx="450059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直接利用左旋转实现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RR</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调整</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1285860"/>
            <a:ext cx="8001056" cy="17416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型调整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left_rotate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714356"/>
            <a:ext cx="192882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3</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LR</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型调整</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5445" name="Rectangle 8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90"/>
          <p:cNvGrpSpPr/>
          <p:nvPr/>
        </p:nvGrpSpPr>
        <p:grpSpPr>
          <a:xfrm>
            <a:off x="305226" y="1591537"/>
            <a:ext cx="2123634" cy="2864492"/>
            <a:chOff x="0" y="2064706"/>
            <a:chExt cx="2123634" cy="2864492"/>
          </a:xfrm>
        </p:grpSpPr>
        <p:sp>
          <p:nvSpPr>
            <p:cNvPr id="15429" name="Freeform 69"/>
            <p:cNvSpPr/>
            <p:nvPr/>
          </p:nvSpPr>
          <p:spPr bwMode="auto">
            <a:xfrm>
              <a:off x="893691" y="2286422"/>
              <a:ext cx="219696" cy="386023"/>
            </a:xfrm>
            <a:custGeom>
              <a:avLst/>
              <a:gdLst/>
              <a:ahLst/>
              <a:cxnLst>
                <a:cxn ang="0">
                  <a:pos x="249" y="0"/>
                </a:cxn>
                <a:cxn ang="0">
                  <a:pos x="0" y="391"/>
                </a:cxn>
              </a:cxnLst>
              <a:rect l="0" t="0" r="r" b="b"/>
              <a:pathLst>
                <a:path w="249" h="391">
                  <a:moveTo>
                    <a:pt x="249" y="0"/>
                  </a:moveTo>
                  <a:lnTo>
                    <a:pt x="0" y="39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8" name="Freeform 68"/>
            <p:cNvSpPr/>
            <p:nvPr/>
          </p:nvSpPr>
          <p:spPr bwMode="auto">
            <a:xfrm>
              <a:off x="1320730" y="3488044"/>
              <a:ext cx="276164" cy="436503"/>
            </a:xfrm>
            <a:custGeom>
              <a:avLst/>
              <a:gdLst/>
              <a:ahLst/>
              <a:cxnLst>
                <a:cxn ang="0">
                  <a:pos x="0" y="0"/>
                </a:cxn>
                <a:cxn ang="0">
                  <a:pos x="313" y="441"/>
                </a:cxn>
              </a:cxnLst>
              <a:rect l="0" t="0" r="r" b="b"/>
              <a:pathLst>
                <a:path w="313" h="441">
                  <a:moveTo>
                    <a:pt x="0" y="0"/>
                  </a:moveTo>
                  <a:lnTo>
                    <a:pt x="313" y="44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7" name="Freeform 67"/>
            <p:cNvSpPr/>
            <p:nvPr/>
          </p:nvSpPr>
          <p:spPr bwMode="auto">
            <a:xfrm>
              <a:off x="893691" y="3451421"/>
              <a:ext cx="246165" cy="478075"/>
            </a:xfrm>
            <a:custGeom>
              <a:avLst/>
              <a:gdLst/>
              <a:ahLst/>
              <a:cxnLst>
                <a:cxn ang="0">
                  <a:pos x="279" y="0"/>
                </a:cxn>
                <a:cxn ang="0">
                  <a:pos x="0" y="483"/>
                </a:cxn>
              </a:cxnLst>
              <a:rect l="0" t="0" r="r" b="b"/>
              <a:pathLst>
                <a:path w="279" h="483">
                  <a:moveTo>
                    <a:pt x="279" y="0"/>
                  </a:moveTo>
                  <a:lnTo>
                    <a:pt x="0" y="483"/>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6" name="Freeform 66"/>
            <p:cNvSpPr/>
            <p:nvPr/>
          </p:nvSpPr>
          <p:spPr bwMode="auto">
            <a:xfrm>
              <a:off x="699583" y="2820916"/>
              <a:ext cx="149111" cy="247451"/>
            </a:xfrm>
            <a:custGeom>
              <a:avLst/>
              <a:gdLst/>
              <a:ahLst/>
              <a:cxnLst>
                <a:cxn ang="0">
                  <a:pos x="169" y="0"/>
                </a:cxn>
                <a:cxn ang="0">
                  <a:pos x="0" y="250"/>
                </a:cxn>
              </a:cxnLst>
              <a:rect l="0" t="0" r="r" b="b"/>
              <a:pathLst>
                <a:path w="169" h="250">
                  <a:moveTo>
                    <a:pt x="169" y="0"/>
                  </a:moveTo>
                  <a:lnTo>
                    <a:pt x="0" y="250"/>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4" name="Freeform 64"/>
            <p:cNvSpPr/>
            <p:nvPr/>
          </p:nvSpPr>
          <p:spPr bwMode="auto">
            <a:xfrm>
              <a:off x="981040" y="2841702"/>
              <a:ext cx="218813" cy="415718"/>
            </a:xfrm>
            <a:custGeom>
              <a:avLst/>
              <a:gdLst/>
              <a:ahLst/>
              <a:cxnLst>
                <a:cxn ang="0">
                  <a:pos x="0" y="0"/>
                </a:cxn>
                <a:cxn ang="0">
                  <a:pos x="248" y="420"/>
                </a:cxn>
              </a:cxnLst>
              <a:rect l="0" t="0" r="r" b="b"/>
              <a:pathLst>
                <a:path w="248" h="420">
                  <a:moveTo>
                    <a:pt x="0" y="0"/>
                  </a:moveTo>
                  <a:lnTo>
                    <a:pt x="248" y="420"/>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2" name="Oval 62"/>
            <p:cNvSpPr>
              <a:spLocks noChangeArrowheads="1"/>
            </p:cNvSpPr>
            <p:nvPr/>
          </p:nvSpPr>
          <p:spPr bwMode="auto">
            <a:xfrm>
              <a:off x="1048978" y="2064706"/>
              <a:ext cx="317632" cy="30881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21" name="Oval 61"/>
            <p:cNvSpPr>
              <a:spLocks noChangeArrowheads="1"/>
            </p:cNvSpPr>
            <p:nvPr/>
          </p:nvSpPr>
          <p:spPr bwMode="auto">
            <a:xfrm>
              <a:off x="760462" y="2601180"/>
              <a:ext cx="317632" cy="30881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20" name="Text Box 60"/>
            <p:cNvSpPr txBox="1">
              <a:spLocks noChangeArrowheads="1"/>
            </p:cNvSpPr>
            <p:nvPr/>
          </p:nvSpPr>
          <p:spPr bwMode="auto">
            <a:xfrm>
              <a:off x="1484840" y="3889904"/>
              <a:ext cx="249694"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9" name="AutoShape 59"/>
            <p:cNvSpPr/>
            <p:nvPr/>
          </p:nvSpPr>
          <p:spPr bwMode="auto">
            <a:xfrm flipH="1">
              <a:off x="1762769" y="3893863"/>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18" name="Text Box 58"/>
            <p:cNvSpPr txBox="1">
              <a:spLocks noChangeArrowheads="1"/>
            </p:cNvSpPr>
            <p:nvPr/>
          </p:nvSpPr>
          <p:spPr bwMode="auto">
            <a:xfrm>
              <a:off x="1892469" y="4041344"/>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7" name="Text Box 57"/>
            <p:cNvSpPr txBox="1">
              <a:spLocks noChangeArrowheads="1"/>
            </p:cNvSpPr>
            <p:nvPr/>
          </p:nvSpPr>
          <p:spPr bwMode="auto">
            <a:xfrm>
              <a:off x="729581" y="3913659"/>
              <a:ext cx="249694"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6" name="AutoShape 56"/>
            <p:cNvSpPr/>
            <p:nvPr/>
          </p:nvSpPr>
          <p:spPr bwMode="auto">
            <a:xfrm>
              <a:off x="580471" y="3913659"/>
              <a:ext cx="124406" cy="525586"/>
            </a:xfrm>
            <a:prstGeom prst="leftBrace">
              <a:avLst>
                <a:gd name="adj1" fmla="val 31383"/>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15" name="Text Box 55"/>
            <p:cNvSpPr txBox="1">
              <a:spLocks noChangeArrowheads="1"/>
            </p:cNvSpPr>
            <p:nvPr/>
          </p:nvSpPr>
          <p:spPr bwMode="auto">
            <a:xfrm>
              <a:off x="394303" y="4026497"/>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4" name="Text Box 54"/>
            <p:cNvSpPr txBox="1">
              <a:spLocks noChangeArrowheads="1"/>
            </p:cNvSpPr>
            <p:nvPr/>
          </p:nvSpPr>
          <p:spPr bwMode="auto">
            <a:xfrm>
              <a:off x="561942" y="3059459"/>
              <a:ext cx="249694" cy="54538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3" name="AutoShape 53"/>
            <p:cNvSpPr/>
            <p:nvPr/>
          </p:nvSpPr>
          <p:spPr bwMode="auto">
            <a:xfrm>
              <a:off x="420772" y="3059459"/>
              <a:ext cx="125288" cy="524596"/>
            </a:xfrm>
            <a:prstGeom prst="leftBrace">
              <a:avLst>
                <a:gd name="adj1" fmla="val 31103"/>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12" name="Text Box 52"/>
            <p:cNvSpPr txBox="1">
              <a:spLocks noChangeArrowheads="1"/>
            </p:cNvSpPr>
            <p:nvPr/>
          </p:nvSpPr>
          <p:spPr bwMode="auto">
            <a:xfrm>
              <a:off x="0" y="3215848"/>
              <a:ext cx="434007" cy="2131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11" name="Line 51"/>
            <p:cNvSpPr>
              <a:spLocks noChangeShapeType="1"/>
            </p:cNvSpPr>
            <p:nvPr/>
          </p:nvSpPr>
          <p:spPr bwMode="auto">
            <a:xfrm>
              <a:off x="1311907" y="2322055"/>
              <a:ext cx="211755" cy="31178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10" name="Text Box 50"/>
            <p:cNvSpPr txBox="1">
              <a:spLocks noChangeArrowheads="1"/>
            </p:cNvSpPr>
            <p:nvPr/>
          </p:nvSpPr>
          <p:spPr bwMode="auto">
            <a:xfrm>
              <a:off x="797519" y="2079553"/>
              <a:ext cx="277928" cy="20785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9" name="Text Box 49"/>
            <p:cNvSpPr txBox="1">
              <a:spLocks noChangeArrowheads="1"/>
            </p:cNvSpPr>
            <p:nvPr/>
          </p:nvSpPr>
          <p:spPr bwMode="auto">
            <a:xfrm>
              <a:off x="580471" y="2559608"/>
              <a:ext cx="179992"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6" name="Text Box 46"/>
            <p:cNvSpPr txBox="1">
              <a:spLocks noChangeArrowheads="1"/>
            </p:cNvSpPr>
            <p:nvPr/>
          </p:nvSpPr>
          <p:spPr bwMode="auto">
            <a:xfrm>
              <a:off x="888398" y="4620379"/>
              <a:ext cx="794081" cy="30881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4" name="Oval 44"/>
            <p:cNvSpPr>
              <a:spLocks noChangeArrowheads="1"/>
            </p:cNvSpPr>
            <p:nvPr/>
          </p:nvSpPr>
          <p:spPr bwMode="auto">
            <a:xfrm>
              <a:off x="1078095" y="3210899"/>
              <a:ext cx="317632" cy="30782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3" name="Text Box 43"/>
            <p:cNvSpPr txBox="1">
              <a:spLocks noChangeArrowheads="1"/>
            </p:cNvSpPr>
            <p:nvPr/>
          </p:nvSpPr>
          <p:spPr bwMode="auto">
            <a:xfrm>
              <a:off x="1378081" y="2630874"/>
              <a:ext cx="249694"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2" name="AutoShape 42"/>
            <p:cNvSpPr/>
            <p:nvPr/>
          </p:nvSpPr>
          <p:spPr bwMode="auto">
            <a:xfrm flipH="1">
              <a:off x="1664832" y="2634833"/>
              <a:ext cx="99701" cy="525586"/>
            </a:xfrm>
            <a:prstGeom prst="leftBrace">
              <a:avLst>
                <a:gd name="adj1" fmla="val 39159"/>
                <a:gd name="adj2" fmla="val 49528"/>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01" name="Text Box 41"/>
            <p:cNvSpPr txBox="1">
              <a:spLocks noChangeArrowheads="1"/>
            </p:cNvSpPr>
            <p:nvPr/>
          </p:nvSpPr>
          <p:spPr bwMode="auto">
            <a:xfrm>
              <a:off x="1801590" y="2782314"/>
              <a:ext cx="322044" cy="27318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88"/>
          <p:cNvGrpSpPr/>
          <p:nvPr/>
        </p:nvGrpSpPr>
        <p:grpSpPr>
          <a:xfrm>
            <a:off x="5944828" y="1470781"/>
            <a:ext cx="3056328" cy="2723553"/>
            <a:chOff x="5659076" y="1943950"/>
            <a:chExt cx="3056328" cy="2723553"/>
          </a:xfrm>
        </p:grpSpPr>
        <p:sp>
          <p:nvSpPr>
            <p:cNvPr id="15442" name="Text Box 82"/>
            <p:cNvSpPr txBox="1">
              <a:spLocks noChangeArrowheads="1"/>
            </p:cNvSpPr>
            <p:nvPr/>
          </p:nvSpPr>
          <p:spPr bwMode="auto">
            <a:xfrm>
              <a:off x="5697897" y="2654629"/>
              <a:ext cx="634382" cy="25339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LR</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40" name="Freeform 80"/>
            <p:cNvSpPr/>
            <p:nvPr/>
          </p:nvSpPr>
          <p:spPr bwMode="auto">
            <a:xfrm>
              <a:off x="7719274" y="2767467"/>
              <a:ext cx="292928" cy="495892"/>
            </a:xfrm>
            <a:custGeom>
              <a:avLst/>
              <a:gdLst/>
              <a:ahLst/>
              <a:cxnLst>
                <a:cxn ang="0">
                  <a:pos x="0" y="0"/>
                </a:cxn>
                <a:cxn ang="0">
                  <a:pos x="332" y="501"/>
                </a:cxn>
              </a:cxnLst>
              <a:rect l="0" t="0" r="r" b="b"/>
              <a:pathLst>
                <a:path w="332" h="501">
                  <a:moveTo>
                    <a:pt x="0" y="0"/>
                  </a:moveTo>
                  <a:lnTo>
                    <a:pt x="332" y="50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9" name="Line 79"/>
            <p:cNvSpPr>
              <a:spLocks noChangeShapeType="1"/>
            </p:cNvSpPr>
            <p:nvPr/>
          </p:nvSpPr>
          <p:spPr bwMode="auto">
            <a:xfrm flipH="1">
              <a:off x="7416641" y="2798151"/>
              <a:ext cx="136758" cy="55429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8" name="Freeform 78"/>
            <p:cNvSpPr/>
            <p:nvPr/>
          </p:nvSpPr>
          <p:spPr bwMode="auto">
            <a:xfrm>
              <a:off x="6925193" y="2820916"/>
              <a:ext cx="187050" cy="493912"/>
            </a:xfrm>
            <a:custGeom>
              <a:avLst/>
              <a:gdLst/>
              <a:ahLst/>
              <a:cxnLst>
                <a:cxn ang="0">
                  <a:pos x="0" y="0"/>
                </a:cxn>
                <a:cxn ang="0">
                  <a:pos x="212" y="499"/>
                </a:cxn>
              </a:cxnLst>
              <a:rect l="0" t="0" r="r" b="b"/>
              <a:pathLst>
                <a:path w="212" h="499">
                  <a:moveTo>
                    <a:pt x="0" y="0"/>
                  </a:moveTo>
                  <a:lnTo>
                    <a:pt x="212" y="49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7" name="Line 77"/>
            <p:cNvSpPr>
              <a:spLocks noChangeShapeType="1"/>
            </p:cNvSpPr>
            <p:nvPr/>
          </p:nvSpPr>
          <p:spPr bwMode="auto">
            <a:xfrm flipH="1">
              <a:off x="6874019" y="2278504"/>
              <a:ext cx="198520" cy="33158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6" name="Line 76"/>
            <p:cNvSpPr>
              <a:spLocks noChangeShapeType="1"/>
            </p:cNvSpPr>
            <p:nvPr/>
          </p:nvSpPr>
          <p:spPr bwMode="auto">
            <a:xfrm>
              <a:off x="7320469" y="2278504"/>
              <a:ext cx="224107" cy="32663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5" name="Freeform 65"/>
            <p:cNvSpPr/>
            <p:nvPr/>
          </p:nvSpPr>
          <p:spPr bwMode="auto">
            <a:xfrm>
              <a:off x="6548446" y="2798151"/>
              <a:ext cx="224107" cy="560229"/>
            </a:xfrm>
            <a:custGeom>
              <a:avLst/>
              <a:gdLst/>
              <a:ahLst/>
              <a:cxnLst>
                <a:cxn ang="0">
                  <a:pos x="254" y="0"/>
                </a:cxn>
                <a:cxn ang="0">
                  <a:pos x="0" y="567"/>
                </a:cxn>
              </a:cxnLst>
              <a:rect l="0" t="0" r="r" b="b"/>
              <a:pathLst>
                <a:path w="254" h="567">
                  <a:moveTo>
                    <a:pt x="254" y="0"/>
                  </a:moveTo>
                  <a:lnTo>
                    <a:pt x="0" y="567"/>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08" name="Text Box 48"/>
            <p:cNvSpPr txBox="1">
              <a:spLocks noChangeArrowheads="1"/>
            </p:cNvSpPr>
            <p:nvPr/>
          </p:nvSpPr>
          <p:spPr bwMode="auto">
            <a:xfrm>
              <a:off x="6929454" y="4357694"/>
              <a:ext cx="794081" cy="30980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0" name="AutoShape 40"/>
            <p:cNvSpPr>
              <a:spLocks noChangeArrowheads="1"/>
            </p:cNvSpPr>
            <p:nvPr/>
          </p:nvSpPr>
          <p:spPr bwMode="auto">
            <a:xfrm>
              <a:off x="5659076" y="2880305"/>
              <a:ext cx="760553" cy="196971"/>
            </a:xfrm>
            <a:prstGeom prst="rightArrow">
              <a:avLst>
                <a:gd name="adj1" fmla="val 50000"/>
                <a:gd name="adj2" fmla="val 108291"/>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82" name="Oval 22"/>
            <p:cNvSpPr>
              <a:spLocks noChangeArrowheads="1"/>
            </p:cNvSpPr>
            <p:nvPr/>
          </p:nvSpPr>
          <p:spPr bwMode="auto">
            <a:xfrm>
              <a:off x="7030188" y="2032043"/>
              <a:ext cx="317632" cy="30782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1" name="Oval 21"/>
            <p:cNvSpPr>
              <a:spLocks noChangeArrowheads="1"/>
            </p:cNvSpPr>
            <p:nvPr/>
          </p:nvSpPr>
          <p:spPr bwMode="auto">
            <a:xfrm>
              <a:off x="6679910" y="2574455"/>
              <a:ext cx="317632" cy="30980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0" name="Text Box 20"/>
            <p:cNvSpPr txBox="1">
              <a:spLocks noChangeArrowheads="1"/>
            </p:cNvSpPr>
            <p:nvPr/>
          </p:nvSpPr>
          <p:spPr bwMode="auto">
            <a:xfrm>
              <a:off x="7262236" y="1943950"/>
              <a:ext cx="277046" cy="20785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9" name="Text Box 19"/>
            <p:cNvSpPr txBox="1">
              <a:spLocks noChangeArrowheads="1"/>
            </p:cNvSpPr>
            <p:nvPr/>
          </p:nvSpPr>
          <p:spPr bwMode="auto">
            <a:xfrm>
              <a:off x="6485802" y="2431923"/>
              <a:ext cx="304398" cy="20587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8" name="Oval 18"/>
            <p:cNvSpPr>
              <a:spLocks noChangeArrowheads="1"/>
            </p:cNvSpPr>
            <p:nvPr/>
          </p:nvSpPr>
          <p:spPr bwMode="auto">
            <a:xfrm>
              <a:off x="7469580" y="2568516"/>
              <a:ext cx="317632" cy="30881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7" name="Text Box 17"/>
            <p:cNvSpPr txBox="1">
              <a:spLocks noChangeArrowheads="1"/>
            </p:cNvSpPr>
            <p:nvPr/>
          </p:nvSpPr>
          <p:spPr bwMode="auto">
            <a:xfrm>
              <a:off x="7795153" y="2590292"/>
              <a:ext cx="305280" cy="20390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6" name="Text Box 16"/>
            <p:cNvSpPr txBox="1">
              <a:spLocks noChangeArrowheads="1"/>
            </p:cNvSpPr>
            <p:nvPr/>
          </p:nvSpPr>
          <p:spPr bwMode="auto">
            <a:xfrm>
              <a:off x="7010777" y="3806761"/>
              <a:ext cx="249694" cy="195981"/>
            </a:xfrm>
            <a:prstGeom prst="rect">
              <a:avLst/>
            </a:prstGeom>
            <a:solidFill>
              <a:srgbClr val="B2B2B2"/>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5" name="Text Box 15"/>
            <p:cNvSpPr txBox="1">
              <a:spLocks noChangeArrowheads="1"/>
            </p:cNvSpPr>
            <p:nvPr/>
          </p:nvSpPr>
          <p:spPr bwMode="auto">
            <a:xfrm>
              <a:off x="7346056" y="3291073"/>
              <a:ext cx="249694" cy="54538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4" name="AutoShape 14"/>
            <p:cNvSpPr/>
            <p:nvPr/>
          </p:nvSpPr>
          <p:spPr bwMode="auto">
            <a:xfrm flipH="1">
              <a:off x="7614279" y="3303940"/>
              <a:ext cx="99701" cy="525586"/>
            </a:xfrm>
            <a:prstGeom prst="leftBrace">
              <a:avLst>
                <a:gd name="adj1" fmla="val 39159"/>
                <a:gd name="adj2" fmla="val 55551"/>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73" name="Text Box 13"/>
            <p:cNvSpPr txBox="1">
              <a:spLocks noChangeArrowheads="1"/>
            </p:cNvSpPr>
            <p:nvPr/>
          </p:nvSpPr>
          <p:spPr bwMode="auto">
            <a:xfrm>
              <a:off x="7720156" y="3458350"/>
              <a:ext cx="180874"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2" name="Text Box 12"/>
            <p:cNvSpPr txBox="1">
              <a:spLocks noChangeArrowheads="1"/>
            </p:cNvSpPr>
            <p:nvPr/>
          </p:nvSpPr>
          <p:spPr bwMode="auto">
            <a:xfrm>
              <a:off x="7013424" y="3284144"/>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71" name="AutoShape 11"/>
            <p:cNvSpPr/>
            <p:nvPr/>
          </p:nvSpPr>
          <p:spPr bwMode="auto">
            <a:xfrm>
              <a:off x="6873137" y="3296022"/>
              <a:ext cx="99701" cy="525586"/>
            </a:xfrm>
            <a:prstGeom prst="leftBrace">
              <a:avLst>
                <a:gd name="adj1" fmla="val 39159"/>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70" name="Text Box 10"/>
            <p:cNvSpPr txBox="1">
              <a:spLocks noChangeArrowheads="1"/>
            </p:cNvSpPr>
            <p:nvPr/>
          </p:nvSpPr>
          <p:spPr bwMode="auto">
            <a:xfrm>
              <a:off x="6726673" y="3443503"/>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9" name="Text Box 9"/>
            <p:cNvSpPr txBox="1">
              <a:spLocks noChangeArrowheads="1"/>
            </p:cNvSpPr>
            <p:nvPr/>
          </p:nvSpPr>
          <p:spPr bwMode="auto">
            <a:xfrm>
              <a:off x="6487566" y="3304930"/>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8" name="AutoShape 8"/>
            <p:cNvSpPr/>
            <p:nvPr/>
          </p:nvSpPr>
          <p:spPr bwMode="auto">
            <a:xfrm>
              <a:off x="6326986" y="3320767"/>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67" name="Text Box 7"/>
            <p:cNvSpPr txBox="1">
              <a:spLocks noChangeArrowheads="1"/>
            </p:cNvSpPr>
            <p:nvPr/>
          </p:nvSpPr>
          <p:spPr bwMode="auto">
            <a:xfrm>
              <a:off x="6027000" y="3462309"/>
              <a:ext cx="359101" cy="2227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6" name="Text Box 6"/>
            <p:cNvSpPr txBox="1">
              <a:spLocks noChangeArrowheads="1"/>
            </p:cNvSpPr>
            <p:nvPr/>
          </p:nvSpPr>
          <p:spPr bwMode="auto">
            <a:xfrm>
              <a:off x="7913382" y="3236634"/>
              <a:ext cx="249694" cy="64931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5" name="AutoShape 5"/>
            <p:cNvSpPr/>
            <p:nvPr/>
          </p:nvSpPr>
          <p:spPr bwMode="auto">
            <a:xfrm flipH="1">
              <a:off x="8193958" y="3251481"/>
              <a:ext cx="99701" cy="605760"/>
            </a:xfrm>
            <a:prstGeom prst="leftBrace">
              <a:avLst>
                <a:gd name="adj1" fmla="val 45133"/>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64" name="Text Box 4"/>
            <p:cNvSpPr txBox="1">
              <a:spLocks noChangeArrowheads="1"/>
            </p:cNvSpPr>
            <p:nvPr/>
          </p:nvSpPr>
          <p:spPr bwMode="auto">
            <a:xfrm>
              <a:off x="8343951" y="3506850"/>
              <a:ext cx="371453" cy="25536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89"/>
          <p:cNvGrpSpPr/>
          <p:nvPr/>
        </p:nvGrpSpPr>
        <p:grpSpPr>
          <a:xfrm>
            <a:off x="2600568" y="1214422"/>
            <a:ext cx="3114440" cy="3241607"/>
            <a:chOff x="2214546" y="1687591"/>
            <a:chExt cx="3114440" cy="3241607"/>
          </a:xfrm>
        </p:grpSpPr>
        <p:sp>
          <p:nvSpPr>
            <p:cNvPr id="15443" name="Text Box 83"/>
            <p:cNvSpPr txBox="1">
              <a:spLocks noChangeArrowheads="1"/>
            </p:cNvSpPr>
            <p:nvPr/>
          </p:nvSpPr>
          <p:spPr bwMode="auto">
            <a:xfrm>
              <a:off x="2214546" y="2614047"/>
              <a:ext cx="1143008" cy="2514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插入一结点</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41" name="Freeform 81"/>
            <p:cNvSpPr/>
            <p:nvPr/>
          </p:nvSpPr>
          <p:spPr bwMode="auto">
            <a:xfrm>
              <a:off x="3890817" y="1687591"/>
              <a:ext cx="502035" cy="1489654"/>
            </a:xfrm>
            <a:custGeom>
              <a:avLst/>
              <a:gdLst/>
              <a:ahLst/>
              <a:cxnLst>
                <a:cxn ang="0">
                  <a:pos x="569" y="1506"/>
                </a:cxn>
                <a:cxn ang="0">
                  <a:pos x="569" y="1229"/>
                </a:cxn>
                <a:cxn ang="0">
                  <a:pos x="479" y="1004"/>
                </a:cxn>
                <a:cxn ang="0">
                  <a:pos x="284" y="801"/>
                </a:cxn>
                <a:cxn ang="0">
                  <a:pos x="134" y="524"/>
                </a:cxn>
                <a:cxn ang="0">
                  <a:pos x="0" y="0"/>
                </a:cxn>
              </a:cxnLst>
              <a:rect l="0" t="0" r="r" b="b"/>
              <a:pathLst>
                <a:path w="569" h="1506">
                  <a:moveTo>
                    <a:pt x="569" y="1506"/>
                  </a:moveTo>
                  <a:lnTo>
                    <a:pt x="569" y="1229"/>
                  </a:lnTo>
                  <a:cubicBezTo>
                    <a:pt x="554" y="1145"/>
                    <a:pt x="526" y="1075"/>
                    <a:pt x="479" y="1004"/>
                  </a:cubicBezTo>
                  <a:cubicBezTo>
                    <a:pt x="432" y="933"/>
                    <a:pt x="345" y="881"/>
                    <a:pt x="284" y="801"/>
                  </a:cubicBezTo>
                  <a:lnTo>
                    <a:pt x="134" y="524"/>
                  </a:lnTo>
                  <a:lnTo>
                    <a:pt x="0" y="0"/>
                  </a:lnTo>
                </a:path>
              </a:pathLst>
            </a:custGeom>
            <a:noFill/>
            <a:ln w="28575">
              <a:solidFill>
                <a:srgbClr val="FF00FF"/>
              </a:solidFill>
              <a:round/>
              <a:tailEnd type="arrow" w="sm"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5" name="Freeform 75"/>
            <p:cNvSpPr/>
            <p:nvPr/>
          </p:nvSpPr>
          <p:spPr bwMode="auto">
            <a:xfrm>
              <a:off x="4059339" y="3420737"/>
              <a:ext cx="247930" cy="498861"/>
            </a:xfrm>
            <a:custGeom>
              <a:avLst/>
              <a:gdLst/>
              <a:ahLst/>
              <a:cxnLst>
                <a:cxn ang="0">
                  <a:pos x="281" y="0"/>
                </a:cxn>
                <a:cxn ang="0">
                  <a:pos x="0" y="504"/>
                </a:cxn>
              </a:cxnLst>
              <a:rect l="0" t="0" r="r" b="b"/>
              <a:pathLst>
                <a:path w="281" h="504">
                  <a:moveTo>
                    <a:pt x="281" y="0"/>
                  </a:moveTo>
                  <a:lnTo>
                    <a:pt x="0" y="504"/>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4" name="Line 74"/>
            <p:cNvSpPr>
              <a:spLocks noChangeShapeType="1"/>
            </p:cNvSpPr>
            <p:nvPr/>
          </p:nvSpPr>
          <p:spPr bwMode="auto">
            <a:xfrm>
              <a:off x="3951697" y="2794192"/>
              <a:ext cx="366159" cy="439473"/>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3" name="Freeform 73"/>
            <p:cNvSpPr/>
            <p:nvPr/>
          </p:nvSpPr>
          <p:spPr bwMode="auto">
            <a:xfrm>
              <a:off x="3916404" y="2292361"/>
              <a:ext cx="239107" cy="320696"/>
            </a:xfrm>
            <a:custGeom>
              <a:avLst/>
              <a:gdLst/>
              <a:ahLst/>
              <a:cxnLst>
                <a:cxn ang="0">
                  <a:pos x="271" y="0"/>
                </a:cxn>
                <a:cxn ang="0">
                  <a:pos x="0" y="323"/>
                </a:cxn>
              </a:cxnLst>
              <a:rect l="0" t="0" r="r" b="b"/>
              <a:pathLst>
                <a:path w="271" h="323">
                  <a:moveTo>
                    <a:pt x="271" y="0"/>
                  </a:moveTo>
                  <a:lnTo>
                    <a:pt x="0" y="323"/>
                  </a:lnTo>
                </a:path>
              </a:pathLst>
            </a:cu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2" name="Freeform 72"/>
            <p:cNvSpPr/>
            <p:nvPr/>
          </p:nvSpPr>
          <p:spPr bwMode="auto">
            <a:xfrm>
              <a:off x="4376089" y="2304239"/>
              <a:ext cx="275281" cy="308819"/>
            </a:xfrm>
            <a:custGeom>
              <a:avLst/>
              <a:gdLst/>
              <a:ahLst/>
              <a:cxnLst>
                <a:cxn ang="0">
                  <a:pos x="0" y="0"/>
                </a:cxn>
                <a:cxn ang="0">
                  <a:pos x="312" y="311"/>
                </a:cxn>
              </a:cxnLst>
              <a:rect l="0" t="0" r="r" b="b"/>
              <a:pathLst>
                <a:path w="312" h="311">
                  <a:moveTo>
                    <a:pt x="0" y="0"/>
                  </a:moveTo>
                  <a:lnTo>
                    <a:pt x="312" y="31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1" name="Freeform 71"/>
            <p:cNvSpPr/>
            <p:nvPr/>
          </p:nvSpPr>
          <p:spPr bwMode="auto">
            <a:xfrm>
              <a:off x="4526082" y="3456370"/>
              <a:ext cx="316750" cy="484014"/>
            </a:xfrm>
            <a:custGeom>
              <a:avLst/>
              <a:gdLst/>
              <a:ahLst/>
              <a:cxnLst>
                <a:cxn ang="0">
                  <a:pos x="0" y="0"/>
                </a:cxn>
                <a:cxn ang="0">
                  <a:pos x="359" y="489"/>
                </a:cxn>
              </a:cxnLst>
              <a:rect l="0" t="0" r="r" b="b"/>
              <a:pathLst>
                <a:path w="359" h="489">
                  <a:moveTo>
                    <a:pt x="0" y="0"/>
                  </a:moveTo>
                  <a:lnTo>
                    <a:pt x="359" y="48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30" name="Freeform 70"/>
            <p:cNvSpPr/>
            <p:nvPr/>
          </p:nvSpPr>
          <p:spPr bwMode="auto">
            <a:xfrm>
              <a:off x="3711708" y="2840712"/>
              <a:ext cx="117347" cy="222706"/>
            </a:xfrm>
            <a:custGeom>
              <a:avLst/>
              <a:gdLst/>
              <a:ahLst/>
              <a:cxnLst>
                <a:cxn ang="0">
                  <a:pos x="133" y="0"/>
                </a:cxn>
                <a:cxn ang="0">
                  <a:pos x="0" y="225"/>
                </a:cxn>
              </a:cxnLst>
              <a:rect l="0" t="0" r="r" b="b"/>
              <a:pathLst>
                <a:path w="133" h="225">
                  <a:moveTo>
                    <a:pt x="133" y="0"/>
                  </a:moveTo>
                  <a:lnTo>
                    <a:pt x="0" y="22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23" name="AutoShape 63"/>
            <p:cNvSpPr>
              <a:spLocks noChangeArrowheads="1"/>
            </p:cNvSpPr>
            <p:nvPr/>
          </p:nvSpPr>
          <p:spPr bwMode="auto">
            <a:xfrm>
              <a:off x="2317714" y="2921876"/>
              <a:ext cx="952897" cy="195981"/>
            </a:xfrm>
            <a:prstGeom prst="rightArrow">
              <a:avLst>
                <a:gd name="adj1" fmla="val 50000"/>
                <a:gd name="adj2" fmla="val 136364"/>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407" name="Text Box 47"/>
            <p:cNvSpPr txBox="1">
              <a:spLocks noChangeArrowheads="1"/>
            </p:cNvSpPr>
            <p:nvPr/>
          </p:nvSpPr>
          <p:spPr bwMode="auto">
            <a:xfrm>
              <a:off x="4054045" y="4620379"/>
              <a:ext cx="793198" cy="30881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405" name="Text Box 45"/>
            <p:cNvSpPr txBox="1">
              <a:spLocks noChangeArrowheads="1"/>
            </p:cNvSpPr>
            <p:nvPr/>
          </p:nvSpPr>
          <p:spPr bwMode="auto">
            <a:xfrm>
              <a:off x="3979048" y="4373918"/>
              <a:ext cx="249694" cy="195981"/>
            </a:xfrm>
            <a:prstGeom prst="rect">
              <a:avLst/>
            </a:prstGeom>
            <a:solidFill>
              <a:srgbClr val="B2B2B2"/>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9" name="Oval 39"/>
            <p:cNvSpPr>
              <a:spLocks noChangeArrowheads="1"/>
            </p:cNvSpPr>
            <p:nvPr/>
          </p:nvSpPr>
          <p:spPr bwMode="auto">
            <a:xfrm>
              <a:off x="4113160" y="2046890"/>
              <a:ext cx="317632" cy="30782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8" name="Oval 38"/>
            <p:cNvSpPr>
              <a:spLocks noChangeArrowheads="1"/>
            </p:cNvSpPr>
            <p:nvPr/>
          </p:nvSpPr>
          <p:spPr bwMode="auto">
            <a:xfrm>
              <a:off x="3723178" y="2559608"/>
              <a:ext cx="317632" cy="30980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7" name="Text Box 37"/>
            <p:cNvSpPr txBox="1">
              <a:spLocks noChangeArrowheads="1"/>
            </p:cNvSpPr>
            <p:nvPr/>
          </p:nvSpPr>
          <p:spPr bwMode="auto">
            <a:xfrm>
              <a:off x="4688427" y="3873078"/>
              <a:ext cx="249694" cy="54538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6" name="AutoShape 36"/>
            <p:cNvSpPr/>
            <p:nvPr/>
          </p:nvSpPr>
          <p:spPr bwMode="auto">
            <a:xfrm flipH="1">
              <a:off x="4961944" y="3885945"/>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95" name="Text Box 35"/>
            <p:cNvSpPr txBox="1">
              <a:spLocks noChangeArrowheads="1"/>
            </p:cNvSpPr>
            <p:nvPr/>
          </p:nvSpPr>
          <p:spPr bwMode="auto">
            <a:xfrm>
              <a:off x="5103114" y="4043324"/>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4" name="Text Box 34"/>
            <p:cNvSpPr txBox="1">
              <a:spLocks noChangeArrowheads="1"/>
            </p:cNvSpPr>
            <p:nvPr/>
          </p:nvSpPr>
          <p:spPr bwMode="auto">
            <a:xfrm>
              <a:off x="3978166" y="3851302"/>
              <a:ext cx="249694"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3" name="AutoShape 33"/>
            <p:cNvSpPr/>
            <p:nvPr/>
          </p:nvSpPr>
          <p:spPr bwMode="auto">
            <a:xfrm>
              <a:off x="3821115" y="3871098"/>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92" name="Text Box 32"/>
            <p:cNvSpPr txBox="1">
              <a:spLocks noChangeArrowheads="1"/>
            </p:cNvSpPr>
            <p:nvPr/>
          </p:nvSpPr>
          <p:spPr bwMode="auto">
            <a:xfrm>
              <a:off x="3627006" y="4013630"/>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1" name="Text Box 31"/>
            <p:cNvSpPr txBox="1">
              <a:spLocks noChangeArrowheads="1"/>
            </p:cNvSpPr>
            <p:nvPr/>
          </p:nvSpPr>
          <p:spPr bwMode="auto">
            <a:xfrm>
              <a:off x="3626124" y="3040653"/>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90" name="AutoShape 30"/>
            <p:cNvSpPr/>
            <p:nvPr/>
          </p:nvSpPr>
          <p:spPr bwMode="auto">
            <a:xfrm>
              <a:off x="3478778" y="3051541"/>
              <a:ext cx="124406" cy="524596"/>
            </a:xfrm>
            <a:prstGeom prst="leftBrace">
              <a:avLst>
                <a:gd name="adj1" fmla="val 31324"/>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89" name="Text Box 29"/>
            <p:cNvSpPr txBox="1">
              <a:spLocks noChangeArrowheads="1"/>
            </p:cNvSpPr>
            <p:nvPr/>
          </p:nvSpPr>
          <p:spPr bwMode="auto">
            <a:xfrm>
              <a:off x="3141734" y="3198031"/>
              <a:ext cx="357336" cy="2227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8" name="Text Box 28"/>
            <p:cNvSpPr txBox="1">
              <a:spLocks noChangeArrowheads="1"/>
            </p:cNvSpPr>
            <p:nvPr/>
          </p:nvSpPr>
          <p:spPr bwMode="auto">
            <a:xfrm>
              <a:off x="4356678" y="1997400"/>
              <a:ext cx="277928" cy="2088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7" name="Text Box 27"/>
            <p:cNvSpPr txBox="1">
              <a:spLocks noChangeArrowheads="1"/>
            </p:cNvSpPr>
            <p:nvPr/>
          </p:nvSpPr>
          <p:spPr bwMode="auto">
            <a:xfrm>
              <a:off x="3450544" y="2491312"/>
              <a:ext cx="303515" cy="20488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6" name="Oval 26"/>
            <p:cNvSpPr>
              <a:spLocks noChangeArrowheads="1"/>
            </p:cNvSpPr>
            <p:nvPr/>
          </p:nvSpPr>
          <p:spPr bwMode="auto">
            <a:xfrm>
              <a:off x="4248153" y="3192093"/>
              <a:ext cx="317632" cy="308819"/>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5" name="Text Box 25"/>
            <p:cNvSpPr txBox="1">
              <a:spLocks noChangeArrowheads="1"/>
            </p:cNvSpPr>
            <p:nvPr/>
          </p:nvSpPr>
          <p:spPr bwMode="auto">
            <a:xfrm>
              <a:off x="4584314" y="2598210"/>
              <a:ext cx="249694" cy="59982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84" name="AutoShape 24"/>
            <p:cNvSpPr/>
            <p:nvPr/>
          </p:nvSpPr>
          <p:spPr bwMode="auto">
            <a:xfrm flipH="1">
              <a:off x="4856949" y="2607119"/>
              <a:ext cx="99701" cy="570127"/>
            </a:xfrm>
            <a:prstGeom prst="leftBrace">
              <a:avLst>
                <a:gd name="adj1" fmla="val 42478"/>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383" name="Text Box 23"/>
            <p:cNvSpPr txBox="1">
              <a:spLocks noChangeArrowheads="1"/>
            </p:cNvSpPr>
            <p:nvPr/>
          </p:nvSpPr>
          <p:spPr bwMode="auto">
            <a:xfrm>
              <a:off x="5006942" y="2765487"/>
              <a:ext cx="322044" cy="24250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3" name="Text Box 3"/>
            <p:cNvSpPr txBox="1">
              <a:spLocks noChangeArrowheads="1"/>
            </p:cNvSpPr>
            <p:nvPr/>
          </p:nvSpPr>
          <p:spPr bwMode="auto">
            <a:xfrm>
              <a:off x="3841408" y="2295331"/>
              <a:ext cx="179992"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362" name="Text Box 2"/>
            <p:cNvSpPr txBox="1">
              <a:spLocks noChangeArrowheads="1"/>
            </p:cNvSpPr>
            <p:nvPr/>
          </p:nvSpPr>
          <p:spPr bwMode="auto">
            <a:xfrm>
              <a:off x="4158158" y="2820916"/>
              <a:ext cx="180874"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92" name="TextBox 91"/>
          <p:cNvSpPr txBox="1"/>
          <p:nvPr/>
        </p:nvSpPr>
        <p:spPr>
          <a:xfrm>
            <a:off x="1357290" y="4929198"/>
            <a:ext cx="642942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LR</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双旋转</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的左子树</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先左旋转，再按根结点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右旋转！</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8" name="灯片编号占位符 9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264320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型调整算法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1071546"/>
            <a:ext cx="8001056" cy="17394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型调整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AVLNode* b=a-&gt;lchild;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a-&gt;lchild=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left_rotate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左旋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right_rotate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右旋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
          <p:cNvGrpSpPr/>
          <p:nvPr/>
        </p:nvGrpSpPr>
        <p:grpSpPr>
          <a:xfrm>
            <a:off x="714348" y="3000372"/>
            <a:ext cx="6286544" cy="2739450"/>
            <a:chOff x="1928794" y="1357280"/>
            <a:chExt cx="6286544" cy="2739450"/>
          </a:xfrm>
        </p:grpSpPr>
        <p:sp>
          <p:nvSpPr>
            <p:cNvPr id="8" name="Freeform 80"/>
            <p:cNvSpPr/>
            <p:nvPr/>
          </p:nvSpPr>
          <p:spPr bwMode="auto">
            <a:xfrm>
              <a:off x="7219208" y="2294298"/>
              <a:ext cx="292928" cy="495892"/>
            </a:xfrm>
            <a:custGeom>
              <a:avLst/>
              <a:gdLst/>
              <a:ahLst/>
              <a:cxnLst>
                <a:cxn ang="0">
                  <a:pos x="0" y="0"/>
                </a:cxn>
                <a:cxn ang="0">
                  <a:pos x="332" y="501"/>
                </a:cxn>
              </a:cxnLst>
              <a:rect l="0" t="0" r="r" b="b"/>
              <a:pathLst>
                <a:path w="332" h="501">
                  <a:moveTo>
                    <a:pt x="0" y="0"/>
                  </a:moveTo>
                  <a:lnTo>
                    <a:pt x="332" y="50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79"/>
            <p:cNvSpPr>
              <a:spLocks noChangeShapeType="1"/>
            </p:cNvSpPr>
            <p:nvPr/>
          </p:nvSpPr>
          <p:spPr bwMode="auto">
            <a:xfrm flipH="1">
              <a:off x="6916575" y="2324982"/>
              <a:ext cx="136758" cy="55429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78"/>
            <p:cNvSpPr/>
            <p:nvPr/>
          </p:nvSpPr>
          <p:spPr bwMode="auto">
            <a:xfrm>
              <a:off x="6425127" y="2347747"/>
              <a:ext cx="187050" cy="493912"/>
            </a:xfrm>
            <a:custGeom>
              <a:avLst/>
              <a:gdLst/>
              <a:ahLst/>
              <a:cxnLst>
                <a:cxn ang="0">
                  <a:pos x="0" y="0"/>
                </a:cxn>
                <a:cxn ang="0">
                  <a:pos x="212" y="499"/>
                </a:cxn>
              </a:cxnLst>
              <a:rect l="0" t="0" r="r" b="b"/>
              <a:pathLst>
                <a:path w="212" h="499">
                  <a:moveTo>
                    <a:pt x="0" y="0"/>
                  </a:moveTo>
                  <a:lnTo>
                    <a:pt x="212" y="49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77"/>
            <p:cNvSpPr>
              <a:spLocks noChangeShapeType="1"/>
            </p:cNvSpPr>
            <p:nvPr/>
          </p:nvSpPr>
          <p:spPr bwMode="auto">
            <a:xfrm flipH="1">
              <a:off x="6373953" y="1805335"/>
              <a:ext cx="198520" cy="33158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76"/>
            <p:cNvSpPr>
              <a:spLocks noChangeShapeType="1"/>
            </p:cNvSpPr>
            <p:nvPr/>
          </p:nvSpPr>
          <p:spPr bwMode="auto">
            <a:xfrm>
              <a:off x="6820403" y="1805335"/>
              <a:ext cx="224107" cy="32663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65"/>
            <p:cNvSpPr/>
            <p:nvPr/>
          </p:nvSpPr>
          <p:spPr bwMode="auto">
            <a:xfrm>
              <a:off x="6048380" y="2324982"/>
              <a:ext cx="224107" cy="560229"/>
            </a:xfrm>
            <a:custGeom>
              <a:avLst/>
              <a:gdLst/>
              <a:ahLst/>
              <a:cxnLst>
                <a:cxn ang="0">
                  <a:pos x="254" y="0"/>
                </a:cxn>
                <a:cxn ang="0">
                  <a:pos x="0" y="567"/>
                </a:cxn>
              </a:cxnLst>
              <a:rect l="0" t="0" r="r" b="b"/>
              <a:pathLst>
                <a:path w="254" h="567">
                  <a:moveTo>
                    <a:pt x="254" y="0"/>
                  </a:moveTo>
                  <a:lnTo>
                    <a:pt x="0" y="567"/>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 Box 48"/>
            <p:cNvSpPr txBox="1">
              <a:spLocks noChangeArrowheads="1"/>
            </p:cNvSpPr>
            <p:nvPr/>
          </p:nvSpPr>
          <p:spPr bwMode="auto">
            <a:xfrm>
              <a:off x="4500562" y="2357412"/>
              <a:ext cx="794081" cy="30980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LR</a:t>
              </a: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AutoShape 40"/>
            <p:cNvSpPr>
              <a:spLocks noChangeArrowheads="1"/>
            </p:cNvSpPr>
            <p:nvPr/>
          </p:nvSpPr>
          <p:spPr bwMode="auto">
            <a:xfrm>
              <a:off x="4597265" y="2714620"/>
              <a:ext cx="760553" cy="196971"/>
            </a:xfrm>
            <a:prstGeom prst="rightArrow">
              <a:avLst>
                <a:gd name="adj1" fmla="val 50000"/>
                <a:gd name="adj2" fmla="val 108291"/>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Oval 22"/>
            <p:cNvSpPr>
              <a:spLocks noChangeArrowheads="1"/>
            </p:cNvSpPr>
            <p:nvPr/>
          </p:nvSpPr>
          <p:spPr bwMode="auto">
            <a:xfrm>
              <a:off x="6530122" y="1558874"/>
              <a:ext cx="317632" cy="30782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21"/>
            <p:cNvSpPr>
              <a:spLocks noChangeArrowheads="1"/>
            </p:cNvSpPr>
            <p:nvPr/>
          </p:nvSpPr>
          <p:spPr bwMode="auto">
            <a:xfrm>
              <a:off x="6179844" y="2101286"/>
              <a:ext cx="317632" cy="30980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Text Box 20"/>
            <p:cNvSpPr txBox="1">
              <a:spLocks noChangeArrowheads="1"/>
            </p:cNvSpPr>
            <p:nvPr/>
          </p:nvSpPr>
          <p:spPr bwMode="auto">
            <a:xfrm>
              <a:off x="6762170" y="1470781"/>
              <a:ext cx="277046" cy="20785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9"/>
            <p:cNvSpPr txBox="1">
              <a:spLocks noChangeArrowheads="1"/>
            </p:cNvSpPr>
            <p:nvPr/>
          </p:nvSpPr>
          <p:spPr bwMode="auto">
            <a:xfrm>
              <a:off x="5985736" y="1958754"/>
              <a:ext cx="304398" cy="20587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18"/>
            <p:cNvSpPr>
              <a:spLocks noChangeArrowheads="1"/>
            </p:cNvSpPr>
            <p:nvPr/>
          </p:nvSpPr>
          <p:spPr bwMode="auto">
            <a:xfrm>
              <a:off x="6969514" y="2095347"/>
              <a:ext cx="317632" cy="30881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Text Box 17"/>
            <p:cNvSpPr txBox="1">
              <a:spLocks noChangeArrowheads="1"/>
            </p:cNvSpPr>
            <p:nvPr/>
          </p:nvSpPr>
          <p:spPr bwMode="auto">
            <a:xfrm>
              <a:off x="7295087" y="2117123"/>
              <a:ext cx="305280" cy="20390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Text Box 16"/>
            <p:cNvSpPr txBox="1">
              <a:spLocks noChangeArrowheads="1"/>
            </p:cNvSpPr>
            <p:nvPr/>
          </p:nvSpPr>
          <p:spPr bwMode="auto">
            <a:xfrm>
              <a:off x="6510711" y="3333592"/>
              <a:ext cx="249694" cy="195981"/>
            </a:xfrm>
            <a:prstGeom prst="rect">
              <a:avLst/>
            </a:prstGeom>
            <a:solidFill>
              <a:srgbClr val="B2B2B2"/>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Text Box 15"/>
            <p:cNvSpPr txBox="1">
              <a:spLocks noChangeArrowheads="1"/>
            </p:cNvSpPr>
            <p:nvPr/>
          </p:nvSpPr>
          <p:spPr bwMode="auto">
            <a:xfrm>
              <a:off x="6845990" y="2817904"/>
              <a:ext cx="249694" cy="54538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AutoShape 14"/>
            <p:cNvSpPr/>
            <p:nvPr/>
          </p:nvSpPr>
          <p:spPr bwMode="auto">
            <a:xfrm flipH="1">
              <a:off x="7114213" y="2830771"/>
              <a:ext cx="99701" cy="525586"/>
            </a:xfrm>
            <a:prstGeom prst="leftBrace">
              <a:avLst>
                <a:gd name="adj1" fmla="val 39159"/>
                <a:gd name="adj2" fmla="val 55551"/>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13"/>
            <p:cNvSpPr txBox="1">
              <a:spLocks noChangeArrowheads="1"/>
            </p:cNvSpPr>
            <p:nvPr/>
          </p:nvSpPr>
          <p:spPr bwMode="auto">
            <a:xfrm>
              <a:off x="7220090" y="2985181"/>
              <a:ext cx="180874"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Text Box 12"/>
            <p:cNvSpPr txBox="1">
              <a:spLocks noChangeArrowheads="1"/>
            </p:cNvSpPr>
            <p:nvPr/>
          </p:nvSpPr>
          <p:spPr bwMode="auto">
            <a:xfrm>
              <a:off x="6513358" y="2810975"/>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AutoShape 11"/>
            <p:cNvSpPr/>
            <p:nvPr/>
          </p:nvSpPr>
          <p:spPr bwMode="auto">
            <a:xfrm>
              <a:off x="6373071" y="2822853"/>
              <a:ext cx="99701" cy="525586"/>
            </a:xfrm>
            <a:prstGeom prst="leftBrace">
              <a:avLst>
                <a:gd name="adj1" fmla="val 39159"/>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10"/>
            <p:cNvSpPr txBox="1">
              <a:spLocks noChangeArrowheads="1"/>
            </p:cNvSpPr>
            <p:nvPr/>
          </p:nvSpPr>
          <p:spPr bwMode="auto">
            <a:xfrm>
              <a:off x="6226607" y="2970334"/>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Text Box 9"/>
            <p:cNvSpPr txBox="1">
              <a:spLocks noChangeArrowheads="1"/>
            </p:cNvSpPr>
            <p:nvPr/>
          </p:nvSpPr>
          <p:spPr bwMode="auto">
            <a:xfrm>
              <a:off x="5987500" y="2831761"/>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AutoShape 8"/>
            <p:cNvSpPr/>
            <p:nvPr/>
          </p:nvSpPr>
          <p:spPr bwMode="auto">
            <a:xfrm>
              <a:off x="5826920" y="2847598"/>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 Box 7"/>
            <p:cNvSpPr txBox="1">
              <a:spLocks noChangeArrowheads="1"/>
            </p:cNvSpPr>
            <p:nvPr/>
          </p:nvSpPr>
          <p:spPr bwMode="auto">
            <a:xfrm>
              <a:off x="5526934" y="2989140"/>
              <a:ext cx="359101" cy="2227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Text Box 6"/>
            <p:cNvSpPr txBox="1">
              <a:spLocks noChangeArrowheads="1"/>
            </p:cNvSpPr>
            <p:nvPr/>
          </p:nvSpPr>
          <p:spPr bwMode="auto">
            <a:xfrm>
              <a:off x="7413316" y="2763465"/>
              <a:ext cx="249694" cy="64931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 name="AutoShape 5"/>
            <p:cNvSpPr/>
            <p:nvPr/>
          </p:nvSpPr>
          <p:spPr bwMode="auto">
            <a:xfrm flipH="1">
              <a:off x="7693892" y="2778312"/>
              <a:ext cx="99701" cy="605760"/>
            </a:xfrm>
            <a:prstGeom prst="leftBrace">
              <a:avLst>
                <a:gd name="adj1" fmla="val 45133"/>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 Box 4"/>
            <p:cNvSpPr txBox="1">
              <a:spLocks noChangeArrowheads="1"/>
            </p:cNvSpPr>
            <p:nvPr/>
          </p:nvSpPr>
          <p:spPr bwMode="auto">
            <a:xfrm>
              <a:off x="7843885" y="3033681"/>
              <a:ext cx="371453" cy="25536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Freeform 81"/>
            <p:cNvSpPr/>
            <p:nvPr/>
          </p:nvSpPr>
          <p:spPr bwMode="auto">
            <a:xfrm>
              <a:off x="2643186" y="1357280"/>
              <a:ext cx="536726" cy="1346796"/>
            </a:xfrm>
            <a:custGeom>
              <a:avLst/>
              <a:gdLst>
                <a:gd name="connsiteX0" fmla="*/ 10691 w 10691"/>
                <a:gd name="connsiteY0" fmla="*/ 9041 h 9041"/>
                <a:gd name="connsiteX1" fmla="*/ 10691 w 10691"/>
                <a:gd name="connsiteY1" fmla="*/ 7202 h 9041"/>
                <a:gd name="connsiteX2" fmla="*/ 9109 w 10691"/>
                <a:gd name="connsiteY2" fmla="*/ 5708 h 9041"/>
                <a:gd name="connsiteX3" fmla="*/ 5682 w 10691"/>
                <a:gd name="connsiteY3" fmla="*/ 4360 h 9041"/>
                <a:gd name="connsiteX4" fmla="*/ 3046 w 10691"/>
                <a:gd name="connsiteY4" fmla="*/ 2520 h 9041"/>
                <a:gd name="connsiteX5" fmla="*/ 0 w 10691"/>
                <a:gd name="connsiteY5" fmla="*/ 0 h 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91" h="9041">
                  <a:moveTo>
                    <a:pt x="10691" y="9041"/>
                  </a:moveTo>
                  <a:lnTo>
                    <a:pt x="10691" y="7202"/>
                  </a:lnTo>
                  <a:cubicBezTo>
                    <a:pt x="10427" y="6644"/>
                    <a:pt x="9935" y="6179"/>
                    <a:pt x="9109" y="5708"/>
                  </a:cubicBezTo>
                  <a:cubicBezTo>
                    <a:pt x="8283" y="5236"/>
                    <a:pt x="6754" y="4891"/>
                    <a:pt x="5682" y="4360"/>
                  </a:cubicBezTo>
                  <a:lnTo>
                    <a:pt x="3046" y="2520"/>
                  </a:lnTo>
                  <a:lnTo>
                    <a:pt x="0" y="0"/>
                  </a:lnTo>
                </a:path>
              </a:pathLst>
            </a:custGeom>
            <a:noFill/>
            <a:ln w="28575">
              <a:solidFill>
                <a:srgbClr val="FF00FF"/>
              </a:solidFill>
              <a:round/>
              <a:tailEnd type="arrow" w="sm"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Freeform 75"/>
            <p:cNvSpPr/>
            <p:nvPr/>
          </p:nvSpPr>
          <p:spPr bwMode="auto">
            <a:xfrm>
              <a:off x="2846399" y="2947568"/>
              <a:ext cx="247930" cy="498861"/>
            </a:xfrm>
            <a:custGeom>
              <a:avLst/>
              <a:gdLst/>
              <a:ahLst/>
              <a:cxnLst>
                <a:cxn ang="0">
                  <a:pos x="281" y="0"/>
                </a:cxn>
                <a:cxn ang="0">
                  <a:pos x="0" y="504"/>
                </a:cxn>
              </a:cxnLst>
              <a:rect l="0" t="0" r="r" b="b"/>
              <a:pathLst>
                <a:path w="281" h="504">
                  <a:moveTo>
                    <a:pt x="281" y="0"/>
                  </a:moveTo>
                  <a:lnTo>
                    <a:pt x="0" y="504"/>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Line 74"/>
            <p:cNvSpPr>
              <a:spLocks noChangeShapeType="1"/>
            </p:cNvSpPr>
            <p:nvPr/>
          </p:nvSpPr>
          <p:spPr bwMode="auto">
            <a:xfrm>
              <a:off x="2738757" y="2321023"/>
              <a:ext cx="366159" cy="439473"/>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Freeform 73"/>
            <p:cNvSpPr/>
            <p:nvPr/>
          </p:nvSpPr>
          <p:spPr bwMode="auto">
            <a:xfrm>
              <a:off x="2703464" y="1819192"/>
              <a:ext cx="239107" cy="320696"/>
            </a:xfrm>
            <a:custGeom>
              <a:avLst/>
              <a:gdLst/>
              <a:ahLst/>
              <a:cxnLst>
                <a:cxn ang="0">
                  <a:pos x="271" y="0"/>
                </a:cxn>
                <a:cxn ang="0">
                  <a:pos x="0" y="323"/>
                </a:cxn>
              </a:cxnLst>
              <a:rect l="0" t="0" r="r" b="b"/>
              <a:pathLst>
                <a:path w="271" h="323">
                  <a:moveTo>
                    <a:pt x="271" y="0"/>
                  </a:moveTo>
                  <a:lnTo>
                    <a:pt x="0" y="323"/>
                  </a:lnTo>
                </a:path>
              </a:pathLst>
            </a:cu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Freeform 72"/>
            <p:cNvSpPr/>
            <p:nvPr/>
          </p:nvSpPr>
          <p:spPr bwMode="auto">
            <a:xfrm>
              <a:off x="3163149" y="1831070"/>
              <a:ext cx="275281" cy="308819"/>
            </a:xfrm>
            <a:custGeom>
              <a:avLst/>
              <a:gdLst/>
              <a:ahLst/>
              <a:cxnLst>
                <a:cxn ang="0">
                  <a:pos x="0" y="0"/>
                </a:cxn>
                <a:cxn ang="0">
                  <a:pos x="312" y="311"/>
                </a:cxn>
              </a:cxnLst>
              <a:rect l="0" t="0" r="r" b="b"/>
              <a:pathLst>
                <a:path w="312" h="311">
                  <a:moveTo>
                    <a:pt x="0" y="0"/>
                  </a:moveTo>
                  <a:lnTo>
                    <a:pt x="312" y="311"/>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Freeform 71"/>
            <p:cNvSpPr/>
            <p:nvPr/>
          </p:nvSpPr>
          <p:spPr bwMode="auto">
            <a:xfrm>
              <a:off x="3313142" y="2983201"/>
              <a:ext cx="316750" cy="484014"/>
            </a:xfrm>
            <a:custGeom>
              <a:avLst/>
              <a:gdLst/>
              <a:ahLst/>
              <a:cxnLst>
                <a:cxn ang="0">
                  <a:pos x="0" y="0"/>
                </a:cxn>
                <a:cxn ang="0">
                  <a:pos x="359" y="489"/>
                </a:cxn>
              </a:cxnLst>
              <a:rect l="0" t="0" r="r" b="b"/>
              <a:pathLst>
                <a:path w="359" h="489">
                  <a:moveTo>
                    <a:pt x="0" y="0"/>
                  </a:moveTo>
                  <a:lnTo>
                    <a:pt x="359" y="489"/>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Freeform 70"/>
            <p:cNvSpPr/>
            <p:nvPr/>
          </p:nvSpPr>
          <p:spPr bwMode="auto">
            <a:xfrm>
              <a:off x="2498768" y="2367543"/>
              <a:ext cx="117347" cy="222706"/>
            </a:xfrm>
            <a:custGeom>
              <a:avLst/>
              <a:gdLst/>
              <a:ahLst/>
              <a:cxnLst>
                <a:cxn ang="0">
                  <a:pos x="133" y="0"/>
                </a:cxn>
                <a:cxn ang="0">
                  <a:pos x="0" y="225"/>
                </a:cxn>
              </a:cxnLst>
              <a:rect l="0" t="0" r="r" b="b"/>
              <a:pathLst>
                <a:path w="133" h="225">
                  <a:moveTo>
                    <a:pt x="133" y="0"/>
                  </a:moveTo>
                  <a:lnTo>
                    <a:pt x="0" y="22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 Box 45"/>
            <p:cNvSpPr txBox="1">
              <a:spLocks noChangeArrowheads="1"/>
            </p:cNvSpPr>
            <p:nvPr/>
          </p:nvSpPr>
          <p:spPr bwMode="auto">
            <a:xfrm>
              <a:off x="2766108" y="3900749"/>
              <a:ext cx="249694" cy="195981"/>
            </a:xfrm>
            <a:prstGeom prst="rect">
              <a:avLst/>
            </a:prstGeom>
            <a:solidFill>
              <a:srgbClr val="B2B2B2"/>
            </a:solidFill>
            <a:ln w="9525">
              <a:solidFill>
                <a:srgbClr val="000000"/>
              </a:solid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39"/>
            <p:cNvSpPr>
              <a:spLocks noChangeArrowheads="1"/>
            </p:cNvSpPr>
            <p:nvPr/>
          </p:nvSpPr>
          <p:spPr bwMode="auto">
            <a:xfrm>
              <a:off x="2900220" y="1573721"/>
              <a:ext cx="317632" cy="30782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38"/>
            <p:cNvSpPr>
              <a:spLocks noChangeArrowheads="1"/>
            </p:cNvSpPr>
            <p:nvPr/>
          </p:nvSpPr>
          <p:spPr bwMode="auto">
            <a:xfrm>
              <a:off x="2510238" y="2086439"/>
              <a:ext cx="317632" cy="309809"/>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Text Box 37"/>
            <p:cNvSpPr txBox="1">
              <a:spLocks noChangeArrowheads="1"/>
            </p:cNvSpPr>
            <p:nvPr/>
          </p:nvSpPr>
          <p:spPr bwMode="auto">
            <a:xfrm>
              <a:off x="3475487" y="3399909"/>
              <a:ext cx="249694" cy="54538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AutoShape 36"/>
            <p:cNvSpPr/>
            <p:nvPr/>
          </p:nvSpPr>
          <p:spPr bwMode="auto">
            <a:xfrm flipH="1">
              <a:off x="3749004" y="3412776"/>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 Box 35"/>
            <p:cNvSpPr txBox="1">
              <a:spLocks noChangeArrowheads="1"/>
            </p:cNvSpPr>
            <p:nvPr/>
          </p:nvSpPr>
          <p:spPr bwMode="auto">
            <a:xfrm>
              <a:off x="3890174" y="3570155"/>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9" name="Text Box 34"/>
            <p:cNvSpPr txBox="1">
              <a:spLocks noChangeArrowheads="1"/>
            </p:cNvSpPr>
            <p:nvPr/>
          </p:nvSpPr>
          <p:spPr bwMode="auto">
            <a:xfrm>
              <a:off x="2765226" y="3378133"/>
              <a:ext cx="249694"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AutoShape 33"/>
            <p:cNvSpPr/>
            <p:nvPr/>
          </p:nvSpPr>
          <p:spPr bwMode="auto">
            <a:xfrm>
              <a:off x="2608175" y="3397929"/>
              <a:ext cx="125288" cy="525586"/>
            </a:xfrm>
            <a:prstGeom prst="leftBrace">
              <a:avLst>
                <a:gd name="adj1" fmla="val 31162"/>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 Box 32"/>
            <p:cNvSpPr txBox="1">
              <a:spLocks noChangeArrowheads="1"/>
            </p:cNvSpPr>
            <p:nvPr/>
          </p:nvSpPr>
          <p:spPr bwMode="auto">
            <a:xfrm>
              <a:off x="2414066" y="3540461"/>
              <a:ext cx="180874" cy="21082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Text Box 31"/>
            <p:cNvSpPr txBox="1">
              <a:spLocks noChangeArrowheads="1"/>
            </p:cNvSpPr>
            <p:nvPr/>
          </p:nvSpPr>
          <p:spPr bwMode="auto">
            <a:xfrm>
              <a:off x="2413184" y="2567484"/>
              <a:ext cx="250577" cy="546372"/>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AutoShape 30"/>
            <p:cNvSpPr/>
            <p:nvPr/>
          </p:nvSpPr>
          <p:spPr bwMode="auto">
            <a:xfrm>
              <a:off x="2265838" y="2578372"/>
              <a:ext cx="124406" cy="524596"/>
            </a:xfrm>
            <a:prstGeom prst="leftBrace">
              <a:avLst>
                <a:gd name="adj1" fmla="val 31324"/>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 Box 29"/>
            <p:cNvSpPr txBox="1">
              <a:spLocks noChangeArrowheads="1"/>
            </p:cNvSpPr>
            <p:nvPr/>
          </p:nvSpPr>
          <p:spPr bwMode="auto">
            <a:xfrm>
              <a:off x="1928794" y="2724862"/>
              <a:ext cx="357336" cy="2227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 name="Text Box 28"/>
            <p:cNvSpPr txBox="1">
              <a:spLocks noChangeArrowheads="1"/>
            </p:cNvSpPr>
            <p:nvPr/>
          </p:nvSpPr>
          <p:spPr bwMode="auto">
            <a:xfrm>
              <a:off x="3143738" y="1524231"/>
              <a:ext cx="277928" cy="2088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 name="Text Box 27"/>
            <p:cNvSpPr txBox="1">
              <a:spLocks noChangeArrowheads="1"/>
            </p:cNvSpPr>
            <p:nvPr/>
          </p:nvSpPr>
          <p:spPr bwMode="auto">
            <a:xfrm>
              <a:off x="2237604" y="2018143"/>
              <a:ext cx="303515" cy="20488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7" name="Oval 26"/>
            <p:cNvSpPr>
              <a:spLocks noChangeArrowheads="1"/>
            </p:cNvSpPr>
            <p:nvPr/>
          </p:nvSpPr>
          <p:spPr bwMode="auto">
            <a:xfrm>
              <a:off x="3035213" y="2718924"/>
              <a:ext cx="317632" cy="308819"/>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8" name="Text Box 25"/>
            <p:cNvSpPr txBox="1">
              <a:spLocks noChangeArrowheads="1"/>
            </p:cNvSpPr>
            <p:nvPr/>
          </p:nvSpPr>
          <p:spPr bwMode="auto">
            <a:xfrm>
              <a:off x="3371374" y="2125041"/>
              <a:ext cx="249694" cy="59982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08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 name="AutoShape 24"/>
            <p:cNvSpPr/>
            <p:nvPr/>
          </p:nvSpPr>
          <p:spPr bwMode="auto">
            <a:xfrm flipH="1">
              <a:off x="3644009" y="2133950"/>
              <a:ext cx="99701" cy="570127"/>
            </a:xfrm>
            <a:prstGeom prst="leftBrace">
              <a:avLst>
                <a:gd name="adj1" fmla="val 42478"/>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Text Box 23"/>
            <p:cNvSpPr txBox="1">
              <a:spLocks noChangeArrowheads="1"/>
            </p:cNvSpPr>
            <p:nvPr/>
          </p:nvSpPr>
          <p:spPr bwMode="auto">
            <a:xfrm>
              <a:off x="3794002" y="2292318"/>
              <a:ext cx="322044" cy="24250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 name="Text Box 3"/>
            <p:cNvSpPr txBox="1">
              <a:spLocks noChangeArrowheads="1"/>
            </p:cNvSpPr>
            <p:nvPr/>
          </p:nvSpPr>
          <p:spPr bwMode="auto">
            <a:xfrm>
              <a:off x="2628468" y="1822162"/>
              <a:ext cx="179992"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2" name="Text Box 2"/>
            <p:cNvSpPr txBox="1">
              <a:spLocks noChangeArrowheads="1"/>
            </p:cNvSpPr>
            <p:nvPr/>
          </p:nvSpPr>
          <p:spPr bwMode="auto">
            <a:xfrm>
              <a:off x="2945218" y="2347747"/>
              <a:ext cx="180874" cy="20983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69" name="灯片编号占位符 68"/>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714356"/>
            <a:ext cx="192882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4</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RL</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型调整</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4423" name="Rectangle 8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90"/>
          <p:cNvGrpSpPr/>
          <p:nvPr/>
        </p:nvGrpSpPr>
        <p:grpSpPr>
          <a:xfrm>
            <a:off x="5570230" y="1548158"/>
            <a:ext cx="3216612" cy="2923719"/>
            <a:chOff x="5427354" y="2040243"/>
            <a:chExt cx="3216612" cy="2923719"/>
          </a:xfrm>
        </p:grpSpPr>
        <p:sp>
          <p:nvSpPr>
            <p:cNvPr id="14419" name="Text Box 83"/>
            <p:cNvSpPr txBox="1">
              <a:spLocks noChangeArrowheads="1"/>
            </p:cNvSpPr>
            <p:nvPr/>
          </p:nvSpPr>
          <p:spPr bwMode="auto">
            <a:xfrm>
              <a:off x="5427354" y="2961544"/>
              <a:ext cx="644844" cy="26205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RL</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13" name="Line 77"/>
            <p:cNvSpPr>
              <a:spLocks noChangeShapeType="1"/>
            </p:cNvSpPr>
            <p:nvPr/>
          </p:nvSpPr>
          <p:spPr bwMode="auto">
            <a:xfrm>
              <a:off x="7310335" y="2315223"/>
              <a:ext cx="227892" cy="3396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2" name="Freeform 76"/>
            <p:cNvSpPr/>
            <p:nvPr/>
          </p:nvSpPr>
          <p:spPr bwMode="auto">
            <a:xfrm>
              <a:off x="7742616" y="2825229"/>
              <a:ext cx="235046" cy="539384"/>
            </a:xfrm>
            <a:custGeom>
              <a:avLst/>
              <a:gdLst/>
              <a:ahLst/>
              <a:cxnLst>
                <a:cxn ang="0">
                  <a:pos x="0" y="0"/>
                </a:cxn>
                <a:cxn ang="0">
                  <a:pos x="262" y="525"/>
                </a:cxn>
              </a:cxnLst>
              <a:rect l="0" t="0" r="r" b="b"/>
              <a:pathLst>
                <a:path w="262" h="525">
                  <a:moveTo>
                    <a:pt x="0" y="0"/>
                  </a:moveTo>
                  <a:lnTo>
                    <a:pt x="262" y="52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1" name="Line 75"/>
            <p:cNvSpPr>
              <a:spLocks noChangeShapeType="1"/>
            </p:cNvSpPr>
            <p:nvPr/>
          </p:nvSpPr>
          <p:spPr bwMode="auto">
            <a:xfrm flipH="1">
              <a:off x="7342015" y="2861658"/>
              <a:ext cx="182927" cy="61811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9" name="Line 73"/>
            <p:cNvSpPr>
              <a:spLocks noChangeShapeType="1"/>
            </p:cNvSpPr>
            <p:nvPr/>
          </p:nvSpPr>
          <p:spPr bwMode="auto">
            <a:xfrm>
              <a:off x="6862726" y="2916889"/>
              <a:ext cx="161466" cy="510006"/>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8" name="Line 72"/>
            <p:cNvSpPr>
              <a:spLocks noChangeShapeType="1"/>
            </p:cNvSpPr>
            <p:nvPr/>
          </p:nvSpPr>
          <p:spPr bwMode="auto">
            <a:xfrm flipH="1">
              <a:off x="6375261" y="2861658"/>
              <a:ext cx="317823" cy="54055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92" name="Text Box 56"/>
            <p:cNvSpPr txBox="1">
              <a:spLocks noChangeArrowheads="1"/>
            </p:cNvSpPr>
            <p:nvPr/>
          </p:nvSpPr>
          <p:spPr bwMode="auto">
            <a:xfrm>
              <a:off x="6725786" y="4643152"/>
              <a:ext cx="805288" cy="3208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4" name="Line 48"/>
            <p:cNvSpPr>
              <a:spLocks noChangeShapeType="1"/>
            </p:cNvSpPr>
            <p:nvPr/>
          </p:nvSpPr>
          <p:spPr bwMode="auto">
            <a:xfrm flipH="1">
              <a:off x="6791190" y="2315223"/>
              <a:ext cx="268770" cy="43832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83" name="Oval 47"/>
            <p:cNvSpPr>
              <a:spLocks noChangeArrowheads="1"/>
            </p:cNvSpPr>
            <p:nvPr/>
          </p:nvSpPr>
          <p:spPr bwMode="auto">
            <a:xfrm>
              <a:off x="7017039" y="2059045"/>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2" name="Oval 46"/>
            <p:cNvSpPr>
              <a:spLocks noChangeArrowheads="1"/>
            </p:cNvSpPr>
            <p:nvPr/>
          </p:nvSpPr>
          <p:spPr bwMode="auto">
            <a:xfrm>
              <a:off x="6608263" y="2624282"/>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1" name="Text Box 45"/>
            <p:cNvSpPr txBox="1">
              <a:spLocks noChangeArrowheads="1"/>
            </p:cNvSpPr>
            <p:nvPr/>
          </p:nvSpPr>
          <p:spPr bwMode="auto">
            <a:xfrm>
              <a:off x="7308291" y="2040243"/>
              <a:ext cx="281033"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0" name="Text Box 44"/>
            <p:cNvSpPr txBox="1">
              <a:spLocks noChangeArrowheads="1"/>
            </p:cNvSpPr>
            <p:nvPr/>
          </p:nvSpPr>
          <p:spPr bwMode="auto">
            <a:xfrm>
              <a:off x="6307813" y="2574927"/>
              <a:ext cx="308626" cy="21269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9" name="Oval 43"/>
            <p:cNvSpPr>
              <a:spLocks noChangeArrowheads="1"/>
            </p:cNvSpPr>
            <p:nvPr/>
          </p:nvSpPr>
          <p:spPr bwMode="auto">
            <a:xfrm>
              <a:off x="7462604" y="2618406"/>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8" name="Text Box 42"/>
            <p:cNvSpPr txBox="1">
              <a:spLocks noChangeArrowheads="1"/>
            </p:cNvSpPr>
            <p:nvPr/>
          </p:nvSpPr>
          <p:spPr bwMode="auto">
            <a:xfrm>
              <a:off x="7750791" y="2639559"/>
              <a:ext cx="308626" cy="21269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7" name="Text Box 41"/>
            <p:cNvSpPr txBox="1">
              <a:spLocks noChangeArrowheads="1"/>
            </p:cNvSpPr>
            <p:nvPr/>
          </p:nvSpPr>
          <p:spPr bwMode="auto">
            <a:xfrm>
              <a:off x="7216317" y="3874618"/>
              <a:ext cx="249353" cy="203297"/>
            </a:xfrm>
            <a:prstGeom prst="rect">
              <a:avLst/>
            </a:prstGeom>
            <a:solidFill>
              <a:srgbClr val="B2B2B2"/>
            </a:solidFill>
            <a:ln w="9525">
              <a:solidFill>
                <a:srgbClr val="000000"/>
              </a:solidFill>
              <a:miter lim="800000"/>
            </a:ln>
          </p:spPr>
          <p:txBody>
            <a:bodyPr vert="horz" wrap="square" lIns="82296" tIns="41148" rIns="82296" bIns="41148"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6" name="Text Box 40"/>
            <p:cNvSpPr txBox="1">
              <a:spLocks noChangeArrowheads="1"/>
            </p:cNvSpPr>
            <p:nvPr/>
          </p:nvSpPr>
          <p:spPr bwMode="auto">
            <a:xfrm>
              <a:off x="7216317" y="3368138"/>
              <a:ext cx="249353"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5" name="AutoShape 39"/>
            <p:cNvSpPr/>
            <p:nvPr/>
          </p:nvSpPr>
          <p:spPr bwMode="auto">
            <a:xfrm flipH="1">
              <a:off x="7493262" y="3395166"/>
              <a:ext cx="126720" cy="546435"/>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74" name="Text Box 38"/>
            <p:cNvSpPr txBox="1">
              <a:spLocks noChangeArrowheads="1"/>
            </p:cNvSpPr>
            <p:nvPr/>
          </p:nvSpPr>
          <p:spPr bwMode="auto">
            <a:xfrm>
              <a:off x="7614873" y="3525605"/>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3" name="Text Box 37"/>
            <p:cNvSpPr txBox="1">
              <a:spLocks noChangeArrowheads="1"/>
            </p:cNvSpPr>
            <p:nvPr/>
          </p:nvSpPr>
          <p:spPr bwMode="auto">
            <a:xfrm>
              <a:off x="6859660" y="3362263"/>
              <a:ext cx="248331"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2" name="AutoShape 36"/>
            <p:cNvSpPr/>
            <p:nvPr/>
          </p:nvSpPr>
          <p:spPr bwMode="auto">
            <a:xfrm>
              <a:off x="6710457" y="3362263"/>
              <a:ext cx="127742" cy="546435"/>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71" name="Text Box 35"/>
            <p:cNvSpPr txBox="1">
              <a:spLocks noChangeArrowheads="1"/>
            </p:cNvSpPr>
            <p:nvPr/>
          </p:nvSpPr>
          <p:spPr bwMode="auto">
            <a:xfrm>
              <a:off x="6563298" y="3525605"/>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70" name="Text Box 34"/>
            <p:cNvSpPr txBox="1">
              <a:spLocks noChangeArrowheads="1"/>
            </p:cNvSpPr>
            <p:nvPr/>
          </p:nvSpPr>
          <p:spPr bwMode="auto">
            <a:xfrm>
              <a:off x="6270001" y="3383415"/>
              <a:ext cx="248331"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69" name="AutoShape 33"/>
            <p:cNvSpPr/>
            <p:nvPr/>
          </p:nvSpPr>
          <p:spPr bwMode="auto">
            <a:xfrm>
              <a:off x="6106491" y="3381065"/>
              <a:ext cx="127742" cy="685100"/>
            </a:xfrm>
            <a:prstGeom prst="leftBrace">
              <a:avLst>
                <a:gd name="adj1" fmla="val 3886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68" name="Text Box 32"/>
            <p:cNvSpPr txBox="1">
              <a:spLocks noChangeArrowheads="1"/>
            </p:cNvSpPr>
            <p:nvPr/>
          </p:nvSpPr>
          <p:spPr bwMode="auto">
            <a:xfrm>
              <a:off x="5759031" y="3624316"/>
              <a:ext cx="363810" cy="23150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67" name="Text Box 31"/>
            <p:cNvSpPr txBox="1">
              <a:spLocks noChangeArrowheads="1"/>
            </p:cNvSpPr>
            <p:nvPr/>
          </p:nvSpPr>
          <p:spPr bwMode="auto">
            <a:xfrm>
              <a:off x="7862182" y="3343460"/>
              <a:ext cx="248331" cy="729755"/>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66" name="AutoShape 30"/>
            <p:cNvSpPr/>
            <p:nvPr/>
          </p:nvSpPr>
          <p:spPr bwMode="auto">
            <a:xfrm flipH="1">
              <a:off x="8143216" y="3352861"/>
              <a:ext cx="126720" cy="707427"/>
            </a:xfrm>
            <a:prstGeom prst="leftBrace">
              <a:avLst>
                <a:gd name="adj1" fmla="val 4045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65" name="Text Box 29"/>
            <p:cNvSpPr txBox="1">
              <a:spLocks noChangeArrowheads="1"/>
            </p:cNvSpPr>
            <p:nvPr/>
          </p:nvSpPr>
          <p:spPr bwMode="auto">
            <a:xfrm>
              <a:off x="8266870" y="3594938"/>
              <a:ext cx="377096" cy="26440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62" name="AutoShape 26"/>
            <p:cNvSpPr>
              <a:spLocks noChangeArrowheads="1"/>
            </p:cNvSpPr>
            <p:nvPr/>
          </p:nvSpPr>
          <p:spPr bwMode="auto">
            <a:xfrm>
              <a:off x="5429256" y="3214686"/>
              <a:ext cx="603433" cy="214314"/>
            </a:xfrm>
            <a:prstGeom prst="rightArrow">
              <a:avLst>
                <a:gd name="adj1" fmla="val 50000"/>
                <a:gd name="adj2" fmla="val 135057"/>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92"/>
          <p:cNvGrpSpPr/>
          <p:nvPr/>
        </p:nvGrpSpPr>
        <p:grpSpPr>
          <a:xfrm>
            <a:off x="214282" y="1601039"/>
            <a:ext cx="2203301" cy="2978950"/>
            <a:chOff x="214282" y="2093124"/>
            <a:chExt cx="2203301" cy="2978950"/>
          </a:xfrm>
        </p:grpSpPr>
        <p:sp>
          <p:nvSpPr>
            <p:cNvPr id="14418" name="Freeform 82"/>
            <p:cNvSpPr/>
            <p:nvPr/>
          </p:nvSpPr>
          <p:spPr bwMode="auto">
            <a:xfrm>
              <a:off x="716054" y="3535006"/>
              <a:ext cx="239134" cy="497079"/>
            </a:xfrm>
            <a:custGeom>
              <a:avLst/>
              <a:gdLst/>
              <a:ahLst/>
              <a:cxnLst>
                <a:cxn ang="0">
                  <a:pos x="267" y="0"/>
                </a:cxn>
                <a:cxn ang="0">
                  <a:pos x="0" y="483"/>
                </a:cxn>
              </a:cxnLst>
              <a:rect l="0" t="0" r="r" b="b"/>
              <a:pathLst>
                <a:path w="267" h="483">
                  <a:moveTo>
                    <a:pt x="267" y="0"/>
                  </a:moveTo>
                  <a:lnTo>
                    <a:pt x="0" y="483"/>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7" name="Line 81"/>
            <p:cNvSpPr>
              <a:spLocks noChangeShapeType="1"/>
            </p:cNvSpPr>
            <p:nvPr/>
          </p:nvSpPr>
          <p:spPr bwMode="auto">
            <a:xfrm flipH="1">
              <a:off x="1109501" y="2861658"/>
              <a:ext cx="393447" cy="44184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6" name="Freeform 80"/>
            <p:cNvSpPr/>
            <p:nvPr/>
          </p:nvSpPr>
          <p:spPr bwMode="auto">
            <a:xfrm>
              <a:off x="1404841" y="2362228"/>
              <a:ext cx="188037" cy="347838"/>
            </a:xfrm>
            <a:custGeom>
              <a:avLst/>
              <a:gdLst/>
              <a:ahLst/>
              <a:cxnLst>
                <a:cxn ang="0">
                  <a:pos x="0" y="0"/>
                </a:cxn>
                <a:cxn ang="0">
                  <a:pos x="210" y="338"/>
                </a:cxn>
              </a:cxnLst>
              <a:rect l="0" t="0" r="r" b="b"/>
              <a:pathLst>
                <a:path w="210" h="338">
                  <a:moveTo>
                    <a:pt x="0" y="0"/>
                  </a:moveTo>
                  <a:lnTo>
                    <a:pt x="210" y="338"/>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5" name="Freeform 79"/>
            <p:cNvSpPr/>
            <p:nvPr/>
          </p:nvSpPr>
          <p:spPr bwMode="auto">
            <a:xfrm>
              <a:off x="1145269" y="3506803"/>
              <a:ext cx="146137" cy="499429"/>
            </a:xfrm>
            <a:custGeom>
              <a:avLst/>
              <a:gdLst/>
              <a:ahLst/>
              <a:cxnLst>
                <a:cxn ang="0">
                  <a:pos x="0" y="0"/>
                </a:cxn>
                <a:cxn ang="0">
                  <a:pos x="163" y="485"/>
                </a:cxn>
              </a:cxnLst>
              <a:rect l="0" t="0" r="r" b="b"/>
              <a:pathLst>
                <a:path w="163" h="485">
                  <a:moveTo>
                    <a:pt x="0" y="0"/>
                  </a:moveTo>
                  <a:lnTo>
                    <a:pt x="163" y="48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14" name="Freeform 78"/>
            <p:cNvSpPr/>
            <p:nvPr/>
          </p:nvSpPr>
          <p:spPr bwMode="auto">
            <a:xfrm>
              <a:off x="1693028" y="2939216"/>
              <a:ext cx="114457" cy="393668"/>
            </a:xfrm>
            <a:custGeom>
              <a:avLst/>
              <a:gdLst/>
              <a:ahLst/>
              <a:cxnLst>
                <a:cxn ang="0">
                  <a:pos x="0" y="0"/>
                </a:cxn>
                <a:cxn ang="0">
                  <a:pos x="128" y="383"/>
                </a:cxn>
              </a:cxnLst>
              <a:rect l="0" t="0" r="r" b="b"/>
              <a:pathLst>
                <a:path w="128" h="383">
                  <a:moveTo>
                    <a:pt x="0" y="0"/>
                  </a:moveTo>
                  <a:lnTo>
                    <a:pt x="128" y="383"/>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6" name="Line 70"/>
            <p:cNvSpPr>
              <a:spLocks noChangeShapeType="1"/>
            </p:cNvSpPr>
            <p:nvPr/>
          </p:nvSpPr>
          <p:spPr bwMode="auto">
            <a:xfrm flipH="1">
              <a:off x="765107" y="2349302"/>
              <a:ext cx="415929" cy="29965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5" name="Oval 69"/>
            <p:cNvSpPr>
              <a:spLocks noChangeArrowheads="1"/>
            </p:cNvSpPr>
            <p:nvPr/>
          </p:nvSpPr>
          <p:spPr bwMode="auto">
            <a:xfrm>
              <a:off x="1138115" y="2093124"/>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04" name="Oval 68"/>
            <p:cNvSpPr>
              <a:spLocks noChangeArrowheads="1"/>
            </p:cNvSpPr>
            <p:nvPr/>
          </p:nvSpPr>
          <p:spPr bwMode="auto">
            <a:xfrm>
              <a:off x="1431412" y="2673637"/>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03" name="Text Box 67"/>
            <p:cNvSpPr txBox="1">
              <a:spLocks noChangeArrowheads="1"/>
            </p:cNvSpPr>
            <p:nvPr/>
          </p:nvSpPr>
          <p:spPr bwMode="auto">
            <a:xfrm>
              <a:off x="1126874" y="3948651"/>
              <a:ext cx="249353"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02" name="AutoShape 66"/>
            <p:cNvSpPr/>
            <p:nvPr/>
          </p:nvSpPr>
          <p:spPr bwMode="auto">
            <a:xfrm flipH="1">
              <a:off x="1409951" y="3958052"/>
              <a:ext cx="126720" cy="546435"/>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1" name="Text Box 65"/>
            <p:cNvSpPr txBox="1">
              <a:spLocks noChangeArrowheads="1"/>
            </p:cNvSpPr>
            <p:nvPr/>
          </p:nvSpPr>
          <p:spPr bwMode="auto">
            <a:xfrm>
              <a:off x="1580615" y="4121395"/>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00" name="Text Box 64"/>
            <p:cNvSpPr txBox="1">
              <a:spLocks noChangeArrowheads="1"/>
            </p:cNvSpPr>
            <p:nvPr/>
          </p:nvSpPr>
          <p:spPr bwMode="auto">
            <a:xfrm>
              <a:off x="603641" y="3923974"/>
              <a:ext cx="248331"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9" name="AutoShape 63"/>
            <p:cNvSpPr/>
            <p:nvPr/>
          </p:nvSpPr>
          <p:spPr bwMode="auto">
            <a:xfrm>
              <a:off x="442174" y="3923974"/>
              <a:ext cx="127742" cy="546435"/>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98" name="Text Box 62"/>
            <p:cNvSpPr txBox="1">
              <a:spLocks noChangeArrowheads="1"/>
            </p:cNvSpPr>
            <p:nvPr/>
          </p:nvSpPr>
          <p:spPr bwMode="auto">
            <a:xfrm>
              <a:off x="275598" y="4074390"/>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7" name="Text Box 61"/>
            <p:cNvSpPr txBox="1">
              <a:spLocks noChangeArrowheads="1"/>
            </p:cNvSpPr>
            <p:nvPr/>
          </p:nvSpPr>
          <p:spPr bwMode="auto">
            <a:xfrm>
              <a:off x="652694" y="2537323"/>
              <a:ext cx="249353"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80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6" name="AutoShape 60"/>
            <p:cNvSpPr/>
            <p:nvPr/>
          </p:nvSpPr>
          <p:spPr bwMode="auto">
            <a:xfrm>
              <a:off x="492249" y="2552599"/>
              <a:ext cx="126720" cy="676874"/>
            </a:xfrm>
            <a:prstGeom prst="leftBrace">
              <a:avLst>
                <a:gd name="adj1" fmla="val 38710"/>
                <a:gd name="adj2" fmla="val 50069"/>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95" name="Text Box 59"/>
            <p:cNvSpPr txBox="1">
              <a:spLocks noChangeArrowheads="1"/>
            </p:cNvSpPr>
            <p:nvPr/>
          </p:nvSpPr>
          <p:spPr bwMode="auto">
            <a:xfrm>
              <a:off x="214282" y="2789975"/>
              <a:ext cx="295340" cy="25030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4" name="Text Box 58"/>
            <p:cNvSpPr txBox="1">
              <a:spLocks noChangeArrowheads="1"/>
            </p:cNvSpPr>
            <p:nvPr/>
          </p:nvSpPr>
          <p:spPr bwMode="auto">
            <a:xfrm>
              <a:off x="818248" y="2108401"/>
              <a:ext cx="282055"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3" name="Text Box 57"/>
            <p:cNvSpPr txBox="1">
              <a:spLocks noChangeArrowheads="1"/>
            </p:cNvSpPr>
            <p:nvPr/>
          </p:nvSpPr>
          <p:spPr bwMode="auto">
            <a:xfrm>
              <a:off x="1740037" y="2537323"/>
              <a:ext cx="183949"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90" name="Text Box 54"/>
            <p:cNvSpPr txBox="1">
              <a:spLocks noChangeArrowheads="1"/>
            </p:cNvSpPr>
            <p:nvPr/>
          </p:nvSpPr>
          <p:spPr bwMode="auto">
            <a:xfrm>
              <a:off x="974605" y="4751264"/>
              <a:ext cx="806310" cy="3208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8" name="Oval 52"/>
            <p:cNvSpPr>
              <a:spLocks noChangeArrowheads="1"/>
            </p:cNvSpPr>
            <p:nvPr/>
          </p:nvSpPr>
          <p:spPr bwMode="auto">
            <a:xfrm>
              <a:off x="903069" y="3284704"/>
              <a:ext cx="322933"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7" name="Text Box 51"/>
            <p:cNvSpPr txBox="1">
              <a:spLocks noChangeArrowheads="1"/>
            </p:cNvSpPr>
            <p:nvPr/>
          </p:nvSpPr>
          <p:spPr bwMode="auto">
            <a:xfrm>
              <a:off x="1659304" y="3284704"/>
              <a:ext cx="246287"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80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6" name="AutoShape 50"/>
            <p:cNvSpPr/>
            <p:nvPr/>
          </p:nvSpPr>
          <p:spPr bwMode="auto">
            <a:xfrm flipH="1">
              <a:off x="1934206" y="3284704"/>
              <a:ext cx="127742" cy="688625"/>
            </a:xfrm>
            <a:prstGeom prst="leftBrace">
              <a:avLst>
                <a:gd name="adj1" fmla="val 3906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85" name="Text Box 49"/>
            <p:cNvSpPr txBox="1">
              <a:spLocks noChangeArrowheads="1"/>
            </p:cNvSpPr>
            <p:nvPr/>
          </p:nvSpPr>
          <p:spPr bwMode="auto">
            <a:xfrm>
              <a:off x="2118155" y="3531481"/>
              <a:ext cx="299428" cy="2009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1" name="Text Box 5"/>
            <p:cNvSpPr txBox="1">
              <a:spLocks noChangeArrowheads="1"/>
            </p:cNvSpPr>
            <p:nvPr/>
          </p:nvSpPr>
          <p:spPr bwMode="auto">
            <a:xfrm>
              <a:off x="1226002" y="3358737"/>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91"/>
          <p:cNvGrpSpPr/>
          <p:nvPr/>
        </p:nvGrpSpPr>
        <p:grpSpPr>
          <a:xfrm>
            <a:off x="2285984" y="1285860"/>
            <a:ext cx="3214710" cy="3365567"/>
            <a:chOff x="2214546" y="1706507"/>
            <a:chExt cx="3214710" cy="3365567"/>
          </a:xfrm>
        </p:grpSpPr>
        <p:sp>
          <p:nvSpPr>
            <p:cNvPr id="14421" name="Text Box 85"/>
            <p:cNvSpPr txBox="1">
              <a:spLocks noChangeArrowheads="1"/>
            </p:cNvSpPr>
            <p:nvPr/>
          </p:nvSpPr>
          <p:spPr bwMode="auto">
            <a:xfrm>
              <a:off x="4189644" y="2740620"/>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20" name="Text Box 84"/>
            <p:cNvSpPr txBox="1">
              <a:spLocks noChangeArrowheads="1"/>
            </p:cNvSpPr>
            <p:nvPr/>
          </p:nvSpPr>
          <p:spPr bwMode="auto">
            <a:xfrm>
              <a:off x="2214546" y="2874584"/>
              <a:ext cx="1143008" cy="26205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插入一结点</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410" name="Line 74"/>
            <p:cNvSpPr>
              <a:spLocks noChangeShapeType="1"/>
            </p:cNvSpPr>
            <p:nvPr/>
          </p:nvSpPr>
          <p:spPr bwMode="auto">
            <a:xfrm>
              <a:off x="4667911" y="2768823"/>
              <a:ext cx="210519" cy="38896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407" name="AutoShape 71"/>
            <p:cNvSpPr>
              <a:spLocks noChangeArrowheads="1"/>
            </p:cNvSpPr>
            <p:nvPr/>
          </p:nvSpPr>
          <p:spPr bwMode="auto">
            <a:xfrm>
              <a:off x="2352908" y="3146039"/>
              <a:ext cx="974930" cy="203297"/>
            </a:xfrm>
            <a:prstGeom prst="rightArrow">
              <a:avLst>
                <a:gd name="adj1" fmla="val 50000"/>
                <a:gd name="adj2" fmla="val 137861"/>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91" name="Text Box 55"/>
            <p:cNvSpPr txBox="1">
              <a:spLocks noChangeArrowheads="1"/>
            </p:cNvSpPr>
            <p:nvPr/>
          </p:nvSpPr>
          <p:spPr bwMode="auto">
            <a:xfrm>
              <a:off x="3979124" y="4751264"/>
              <a:ext cx="805288" cy="3208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插入后</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89" name="Text Box 53"/>
            <p:cNvSpPr txBox="1">
              <a:spLocks noChangeArrowheads="1"/>
            </p:cNvSpPr>
            <p:nvPr/>
          </p:nvSpPr>
          <p:spPr bwMode="auto">
            <a:xfrm>
              <a:off x="4213148" y="4312941"/>
              <a:ext cx="249353" cy="203297"/>
            </a:xfrm>
            <a:prstGeom prst="rect">
              <a:avLst/>
            </a:prstGeom>
            <a:solidFill>
              <a:srgbClr val="B2B2B2"/>
            </a:solidFill>
            <a:ln w="9525">
              <a:solidFill>
                <a:srgbClr val="000000"/>
              </a:solidFill>
              <a:miter lim="800000"/>
            </a:ln>
          </p:spPr>
          <p:txBody>
            <a:bodyPr vert="horz" wrap="square" lIns="82296" tIns="41148" rIns="82296" bIns="41148"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64" name="Line 28"/>
            <p:cNvSpPr>
              <a:spLocks noChangeShapeType="1"/>
            </p:cNvSpPr>
            <p:nvPr/>
          </p:nvSpPr>
          <p:spPr bwMode="auto">
            <a:xfrm flipH="1">
              <a:off x="3836053" y="3342285"/>
              <a:ext cx="202344" cy="49472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63" name="Line 27"/>
            <p:cNvSpPr>
              <a:spLocks noChangeShapeType="1"/>
            </p:cNvSpPr>
            <p:nvPr/>
          </p:nvSpPr>
          <p:spPr bwMode="auto">
            <a:xfrm flipH="1">
              <a:off x="4189644" y="2744145"/>
              <a:ext cx="313735" cy="383092"/>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61" name="Line 25"/>
            <p:cNvSpPr>
              <a:spLocks noChangeShapeType="1"/>
            </p:cNvSpPr>
            <p:nvPr/>
          </p:nvSpPr>
          <p:spPr bwMode="auto">
            <a:xfrm flipH="1">
              <a:off x="3871820" y="2170683"/>
              <a:ext cx="219717" cy="35723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60" name="Oval 24"/>
            <p:cNvSpPr>
              <a:spLocks noChangeArrowheads="1"/>
            </p:cNvSpPr>
            <p:nvPr/>
          </p:nvSpPr>
          <p:spPr bwMode="auto">
            <a:xfrm>
              <a:off x="4048616" y="1914505"/>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9" name="Oval 23"/>
            <p:cNvSpPr>
              <a:spLocks noChangeArrowheads="1"/>
            </p:cNvSpPr>
            <p:nvPr/>
          </p:nvSpPr>
          <p:spPr bwMode="auto">
            <a:xfrm>
              <a:off x="4449216" y="2495018"/>
              <a:ext cx="322933"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8" name="Text Box 22"/>
            <p:cNvSpPr txBox="1">
              <a:spLocks noChangeArrowheads="1"/>
            </p:cNvSpPr>
            <p:nvPr/>
          </p:nvSpPr>
          <p:spPr bwMode="auto">
            <a:xfrm>
              <a:off x="4212126" y="3770032"/>
              <a:ext cx="249353"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7" name="AutoShape 21"/>
            <p:cNvSpPr/>
            <p:nvPr/>
          </p:nvSpPr>
          <p:spPr bwMode="auto">
            <a:xfrm flipH="1">
              <a:off x="4488050" y="3778258"/>
              <a:ext cx="126720" cy="546435"/>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56" name="Text Box 20"/>
            <p:cNvSpPr txBox="1">
              <a:spLocks noChangeArrowheads="1"/>
            </p:cNvSpPr>
            <p:nvPr/>
          </p:nvSpPr>
          <p:spPr bwMode="auto">
            <a:xfrm>
              <a:off x="4629077" y="3942776"/>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5" name="Text Box 19"/>
            <p:cNvSpPr txBox="1">
              <a:spLocks noChangeArrowheads="1"/>
            </p:cNvSpPr>
            <p:nvPr/>
          </p:nvSpPr>
          <p:spPr bwMode="auto">
            <a:xfrm>
              <a:off x="3688893" y="3745354"/>
              <a:ext cx="248331"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4" name="AutoShape 18"/>
            <p:cNvSpPr/>
            <p:nvPr/>
          </p:nvSpPr>
          <p:spPr bwMode="auto">
            <a:xfrm>
              <a:off x="3527427" y="3761806"/>
              <a:ext cx="127742" cy="546435"/>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53" name="Text Box 17"/>
            <p:cNvSpPr txBox="1">
              <a:spLocks noChangeArrowheads="1"/>
            </p:cNvSpPr>
            <p:nvPr/>
          </p:nvSpPr>
          <p:spPr bwMode="auto">
            <a:xfrm>
              <a:off x="3346544" y="3925149"/>
              <a:ext cx="182927"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2" name="Text Box 16"/>
            <p:cNvSpPr txBox="1">
              <a:spLocks noChangeArrowheads="1"/>
            </p:cNvSpPr>
            <p:nvPr/>
          </p:nvSpPr>
          <p:spPr bwMode="auto">
            <a:xfrm>
              <a:off x="3761451" y="2419810"/>
              <a:ext cx="248331"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51" name="AutoShape 15"/>
            <p:cNvSpPr/>
            <p:nvPr/>
          </p:nvSpPr>
          <p:spPr bwMode="auto">
            <a:xfrm>
              <a:off x="3598963" y="2442137"/>
              <a:ext cx="126720" cy="673348"/>
            </a:xfrm>
            <a:prstGeom prst="leftBrace">
              <a:avLst>
                <a:gd name="adj1" fmla="val 38508"/>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50" name="Text Box 14"/>
            <p:cNvSpPr txBox="1">
              <a:spLocks noChangeArrowheads="1"/>
            </p:cNvSpPr>
            <p:nvPr/>
          </p:nvSpPr>
          <p:spPr bwMode="auto">
            <a:xfrm>
              <a:off x="3325083" y="2679807"/>
              <a:ext cx="295340" cy="2491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9" name="Line 13"/>
            <p:cNvSpPr>
              <a:spLocks noChangeShapeType="1"/>
            </p:cNvSpPr>
            <p:nvPr/>
          </p:nvSpPr>
          <p:spPr bwMode="auto">
            <a:xfrm>
              <a:off x="4315342" y="2182434"/>
              <a:ext cx="214607" cy="324335"/>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48" name="Line 12"/>
            <p:cNvSpPr>
              <a:spLocks noChangeShapeType="1"/>
            </p:cNvSpPr>
            <p:nvPr/>
          </p:nvSpPr>
          <p:spPr bwMode="auto">
            <a:xfrm>
              <a:off x="4230521" y="3344636"/>
              <a:ext cx="120589" cy="41952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47" name="Text Box 11"/>
            <p:cNvSpPr txBox="1">
              <a:spLocks noChangeArrowheads="1"/>
            </p:cNvSpPr>
            <p:nvPr/>
          </p:nvSpPr>
          <p:spPr bwMode="auto">
            <a:xfrm>
              <a:off x="3728749" y="1929781"/>
              <a:ext cx="282055"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6" name="Text Box 10"/>
            <p:cNvSpPr txBox="1">
              <a:spLocks noChangeArrowheads="1"/>
            </p:cNvSpPr>
            <p:nvPr/>
          </p:nvSpPr>
          <p:spPr bwMode="auto">
            <a:xfrm>
              <a:off x="4731271" y="2358703"/>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5" name="Oval 9"/>
            <p:cNvSpPr>
              <a:spLocks noChangeArrowheads="1"/>
            </p:cNvSpPr>
            <p:nvPr/>
          </p:nvSpPr>
          <p:spPr bwMode="auto">
            <a:xfrm>
              <a:off x="3988322" y="3106085"/>
              <a:ext cx="322933" cy="320810"/>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4" name="Text Box 8"/>
            <p:cNvSpPr txBox="1">
              <a:spLocks noChangeArrowheads="1"/>
            </p:cNvSpPr>
            <p:nvPr/>
          </p:nvSpPr>
          <p:spPr bwMode="auto">
            <a:xfrm>
              <a:off x="4704701" y="3106085"/>
              <a:ext cx="246287" cy="69920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3" name="AutoShape 7"/>
            <p:cNvSpPr/>
            <p:nvPr/>
          </p:nvSpPr>
          <p:spPr bwMode="auto">
            <a:xfrm flipH="1">
              <a:off x="4976537" y="3099034"/>
              <a:ext cx="127742" cy="695676"/>
            </a:xfrm>
            <a:prstGeom prst="leftBrace">
              <a:avLst>
                <a:gd name="adj1" fmla="val 3946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342" name="Text Box 6"/>
            <p:cNvSpPr txBox="1">
              <a:spLocks noChangeArrowheads="1"/>
            </p:cNvSpPr>
            <p:nvPr/>
          </p:nvSpPr>
          <p:spPr bwMode="auto">
            <a:xfrm>
              <a:off x="5128806" y="3358737"/>
              <a:ext cx="300450" cy="2009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40" name="Text Box 4"/>
            <p:cNvSpPr txBox="1">
              <a:spLocks noChangeArrowheads="1"/>
            </p:cNvSpPr>
            <p:nvPr/>
          </p:nvSpPr>
          <p:spPr bwMode="auto">
            <a:xfrm>
              <a:off x="4314320" y="3142514"/>
              <a:ext cx="282055"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39" name="Text Box 3"/>
            <p:cNvSpPr txBox="1">
              <a:spLocks noChangeArrowheads="1"/>
            </p:cNvSpPr>
            <p:nvPr/>
          </p:nvSpPr>
          <p:spPr bwMode="auto">
            <a:xfrm>
              <a:off x="4450238" y="2173033"/>
              <a:ext cx="183949"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338" name="Freeform 2"/>
            <p:cNvSpPr/>
            <p:nvPr/>
          </p:nvSpPr>
          <p:spPr bwMode="auto">
            <a:xfrm>
              <a:off x="4126283" y="1706507"/>
              <a:ext cx="509948" cy="1365499"/>
            </a:xfrm>
            <a:custGeom>
              <a:avLst/>
              <a:gdLst/>
              <a:ahLst/>
              <a:cxnLst>
                <a:cxn ang="0">
                  <a:pos x="0" y="1327"/>
                </a:cxn>
                <a:cxn ang="0">
                  <a:pos x="45" y="997"/>
                </a:cxn>
                <a:cxn ang="0">
                  <a:pos x="83" y="832"/>
                </a:cxn>
                <a:cxn ang="0">
                  <a:pos x="150" y="667"/>
                </a:cxn>
                <a:cxn ang="0">
                  <a:pos x="360" y="465"/>
                </a:cxn>
                <a:cxn ang="0">
                  <a:pos x="428" y="360"/>
                </a:cxn>
                <a:cxn ang="0">
                  <a:pos x="570" y="0"/>
                </a:cxn>
              </a:cxnLst>
              <a:rect l="0" t="0" r="r" b="b"/>
              <a:pathLst>
                <a:path w="570" h="1327">
                  <a:moveTo>
                    <a:pt x="0" y="1327"/>
                  </a:moveTo>
                  <a:lnTo>
                    <a:pt x="45" y="997"/>
                  </a:lnTo>
                  <a:cubicBezTo>
                    <a:pt x="59" y="915"/>
                    <a:pt x="65" y="887"/>
                    <a:pt x="83" y="832"/>
                  </a:cubicBezTo>
                  <a:cubicBezTo>
                    <a:pt x="101" y="777"/>
                    <a:pt x="104" y="728"/>
                    <a:pt x="150" y="667"/>
                  </a:cubicBezTo>
                  <a:lnTo>
                    <a:pt x="360" y="465"/>
                  </a:lnTo>
                  <a:lnTo>
                    <a:pt x="428" y="360"/>
                  </a:lnTo>
                  <a:lnTo>
                    <a:pt x="570" y="0"/>
                  </a:lnTo>
                </a:path>
              </a:pathLst>
            </a:custGeom>
            <a:noFill/>
            <a:ln w="28575">
              <a:solidFill>
                <a:srgbClr val="FF00FF"/>
              </a:solidFill>
              <a:round/>
              <a:tailEnd type="arrow" w="med"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94" name="TextBox 93"/>
          <p:cNvSpPr txBox="1"/>
          <p:nvPr/>
        </p:nvSpPr>
        <p:spPr>
          <a:xfrm>
            <a:off x="1500166" y="5072074"/>
            <a:ext cx="6357982" cy="400110"/>
          </a:xfrm>
          <a:prstGeom prst="rect">
            <a:avLst/>
          </a:prstGeom>
          <a:noFill/>
        </p:spPr>
        <p:txBody>
          <a:bodyPr wrap="square" rtlCol="0">
            <a:spAutoFit/>
          </a:bodyPr>
          <a:lstStyle/>
          <a:p>
            <a:pPr algn="l">
              <a:lnSpc>
                <a:spcPct val="100000"/>
              </a:lnSpc>
              <a:spcBef>
                <a:spcPts val="0"/>
              </a:spcBef>
            </a:pP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RL</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双旋转</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的左子树</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先右旋转，再按根结点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左旋转！</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0" name="灯片编号占位符 9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264320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型调整算法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1071546"/>
            <a:ext cx="8001056" cy="16287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RL</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(AVLNode* 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型调整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AVLNode* b=a-&gt;rchild;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a-&gt;rchild=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right_rotate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右旋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left_rotate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左旋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62"/>
          <p:cNvGrpSpPr/>
          <p:nvPr/>
        </p:nvGrpSpPr>
        <p:grpSpPr>
          <a:xfrm>
            <a:off x="686933" y="3214686"/>
            <a:ext cx="6528273" cy="2809731"/>
            <a:chOff x="1928794" y="1285860"/>
            <a:chExt cx="6528273" cy="2809731"/>
          </a:xfrm>
        </p:grpSpPr>
        <p:sp>
          <p:nvSpPr>
            <p:cNvPr id="64" name="Line 77"/>
            <p:cNvSpPr>
              <a:spLocks noChangeShapeType="1"/>
            </p:cNvSpPr>
            <p:nvPr/>
          </p:nvSpPr>
          <p:spPr bwMode="auto">
            <a:xfrm>
              <a:off x="7123436" y="1823138"/>
              <a:ext cx="227892" cy="3396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Freeform 76"/>
            <p:cNvSpPr/>
            <p:nvPr/>
          </p:nvSpPr>
          <p:spPr bwMode="auto">
            <a:xfrm>
              <a:off x="7555717" y="2333144"/>
              <a:ext cx="235046" cy="539384"/>
            </a:xfrm>
            <a:custGeom>
              <a:avLst/>
              <a:gdLst/>
              <a:ahLst/>
              <a:cxnLst>
                <a:cxn ang="0">
                  <a:pos x="0" y="0"/>
                </a:cxn>
                <a:cxn ang="0">
                  <a:pos x="262" y="525"/>
                </a:cxn>
              </a:cxnLst>
              <a:rect l="0" t="0" r="r" b="b"/>
              <a:pathLst>
                <a:path w="262" h="525">
                  <a:moveTo>
                    <a:pt x="0" y="0"/>
                  </a:moveTo>
                  <a:lnTo>
                    <a:pt x="262" y="525"/>
                  </a:lnTo>
                </a:path>
              </a:pathLst>
            </a:cu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Line 75"/>
            <p:cNvSpPr>
              <a:spLocks noChangeShapeType="1"/>
            </p:cNvSpPr>
            <p:nvPr/>
          </p:nvSpPr>
          <p:spPr bwMode="auto">
            <a:xfrm flipH="1">
              <a:off x="7155116" y="2369573"/>
              <a:ext cx="182927" cy="61811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Line 73"/>
            <p:cNvSpPr>
              <a:spLocks noChangeShapeType="1"/>
            </p:cNvSpPr>
            <p:nvPr/>
          </p:nvSpPr>
          <p:spPr bwMode="auto">
            <a:xfrm>
              <a:off x="6675827" y="2424804"/>
              <a:ext cx="161466" cy="510006"/>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Line 72"/>
            <p:cNvSpPr>
              <a:spLocks noChangeShapeType="1"/>
            </p:cNvSpPr>
            <p:nvPr/>
          </p:nvSpPr>
          <p:spPr bwMode="auto">
            <a:xfrm flipH="1">
              <a:off x="6188362" y="2369573"/>
              <a:ext cx="317823" cy="54055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Text Box 56"/>
            <p:cNvSpPr txBox="1">
              <a:spLocks noChangeArrowheads="1"/>
            </p:cNvSpPr>
            <p:nvPr/>
          </p:nvSpPr>
          <p:spPr bwMode="auto">
            <a:xfrm>
              <a:off x="4429124" y="2428868"/>
              <a:ext cx="805288" cy="3208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RL</a:t>
              </a: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调整</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0" name="Line 48"/>
            <p:cNvSpPr>
              <a:spLocks noChangeShapeType="1"/>
            </p:cNvSpPr>
            <p:nvPr/>
          </p:nvSpPr>
          <p:spPr bwMode="auto">
            <a:xfrm flipH="1">
              <a:off x="6604291" y="1823138"/>
              <a:ext cx="268770" cy="43832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 name="Oval 47"/>
            <p:cNvSpPr>
              <a:spLocks noChangeArrowheads="1"/>
            </p:cNvSpPr>
            <p:nvPr/>
          </p:nvSpPr>
          <p:spPr bwMode="auto">
            <a:xfrm>
              <a:off x="6830140" y="1566960"/>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2" name="Oval 46"/>
            <p:cNvSpPr>
              <a:spLocks noChangeArrowheads="1"/>
            </p:cNvSpPr>
            <p:nvPr/>
          </p:nvSpPr>
          <p:spPr bwMode="auto">
            <a:xfrm>
              <a:off x="6421364" y="2132197"/>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3" name="Text Box 45"/>
            <p:cNvSpPr txBox="1">
              <a:spLocks noChangeArrowheads="1"/>
            </p:cNvSpPr>
            <p:nvPr/>
          </p:nvSpPr>
          <p:spPr bwMode="auto">
            <a:xfrm>
              <a:off x="7121392" y="1548158"/>
              <a:ext cx="281033"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4" name="Text Box 44"/>
            <p:cNvSpPr txBox="1">
              <a:spLocks noChangeArrowheads="1"/>
            </p:cNvSpPr>
            <p:nvPr/>
          </p:nvSpPr>
          <p:spPr bwMode="auto">
            <a:xfrm>
              <a:off x="6120914" y="2082842"/>
              <a:ext cx="308626" cy="21269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5" name="Oval 43"/>
            <p:cNvSpPr>
              <a:spLocks noChangeArrowheads="1"/>
            </p:cNvSpPr>
            <p:nvPr/>
          </p:nvSpPr>
          <p:spPr bwMode="auto">
            <a:xfrm>
              <a:off x="7275705" y="2126321"/>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6" name="Text Box 42"/>
            <p:cNvSpPr txBox="1">
              <a:spLocks noChangeArrowheads="1"/>
            </p:cNvSpPr>
            <p:nvPr/>
          </p:nvSpPr>
          <p:spPr bwMode="auto">
            <a:xfrm>
              <a:off x="7563892" y="2147474"/>
              <a:ext cx="308626" cy="21269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7" name="Text Box 41"/>
            <p:cNvSpPr txBox="1">
              <a:spLocks noChangeArrowheads="1"/>
            </p:cNvSpPr>
            <p:nvPr/>
          </p:nvSpPr>
          <p:spPr bwMode="auto">
            <a:xfrm>
              <a:off x="7029418" y="3382533"/>
              <a:ext cx="249353" cy="203297"/>
            </a:xfrm>
            <a:prstGeom prst="rect">
              <a:avLst/>
            </a:prstGeom>
            <a:solidFill>
              <a:srgbClr val="B2B2B2"/>
            </a:solidFill>
            <a:ln w="9525">
              <a:solidFill>
                <a:srgbClr val="000000"/>
              </a:solidFill>
              <a:miter lim="800000"/>
            </a:ln>
          </p:spPr>
          <p:txBody>
            <a:bodyPr vert="horz" wrap="square" lIns="82296" tIns="41148" rIns="82296" bIns="41148"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8" name="Text Box 40"/>
            <p:cNvSpPr txBox="1">
              <a:spLocks noChangeArrowheads="1"/>
            </p:cNvSpPr>
            <p:nvPr/>
          </p:nvSpPr>
          <p:spPr bwMode="auto">
            <a:xfrm>
              <a:off x="7029418" y="2876053"/>
              <a:ext cx="249353"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9" name="AutoShape 39"/>
            <p:cNvSpPr/>
            <p:nvPr/>
          </p:nvSpPr>
          <p:spPr bwMode="auto">
            <a:xfrm flipH="1">
              <a:off x="7306363" y="2903081"/>
              <a:ext cx="126720" cy="546435"/>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0" name="Text Box 38"/>
            <p:cNvSpPr txBox="1">
              <a:spLocks noChangeArrowheads="1"/>
            </p:cNvSpPr>
            <p:nvPr/>
          </p:nvSpPr>
          <p:spPr bwMode="auto">
            <a:xfrm>
              <a:off x="7427974" y="3033520"/>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1" name="Text Box 37"/>
            <p:cNvSpPr txBox="1">
              <a:spLocks noChangeArrowheads="1"/>
            </p:cNvSpPr>
            <p:nvPr/>
          </p:nvSpPr>
          <p:spPr bwMode="auto">
            <a:xfrm>
              <a:off x="6672761" y="2870178"/>
              <a:ext cx="248331"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2" name="AutoShape 36"/>
            <p:cNvSpPr/>
            <p:nvPr/>
          </p:nvSpPr>
          <p:spPr bwMode="auto">
            <a:xfrm>
              <a:off x="6523558" y="2870178"/>
              <a:ext cx="127742" cy="546435"/>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3" name="Text Box 35"/>
            <p:cNvSpPr txBox="1">
              <a:spLocks noChangeArrowheads="1"/>
            </p:cNvSpPr>
            <p:nvPr/>
          </p:nvSpPr>
          <p:spPr bwMode="auto">
            <a:xfrm>
              <a:off x="6376399" y="3033520"/>
              <a:ext cx="182927"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4" name="Text Box 34"/>
            <p:cNvSpPr txBox="1">
              <a:spLocks noChangeArrowheads="1"/>
            </p:cNvSpPr>
            <p:nvPr/>
          </p:nvSpPr>
          <p:spPr bwMode="auto">
            <a:xfrm>
              <a:off x="6083102" y="2891330"/>
              <a:ext cx="248331"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5" name="AutoShape 33"/>
            <p:cNvSpPr/>
            <p:nvPr/>
          </p:nvSpPr>
          <p:spPr bwMode="auto">
            <a:xfrm>
              <a:off x="5919592" y="2888980"/>
              <a:ext cx="127742" cy="685100"/>
            </a:xfrm>
            <a:prstGeom prst="leftBrace">
              <a:avLst>
                <a:gd name="adj1" fmla="val 3886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6" name="Text Box 32"/>
            <p:cNvSpPr txBox="1">
              <a:spLocks noChangeArrowheads="1"/>
            </p:cNvSpPr>
            <p:nvPr/>
          </p:nvSpPr>
          <p:spPr bwMode="auto">
            <a:xfrm>
              <a:off x="5572132" y="3132231"/>
              <a:ext cx="363810" cy="23150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7" name="Text Box 31"/>
            <p:cNvSpPr txBox="1">
              <a:spLocks noChangeArrowheads="1"/>
            </p:cNvSpPr>
            <p:nvPr/>
          </p:nvSpPr>
          <p:spPr bwMode="auto">
            <a:xfrm>
              <a:off x="7675283" y="2851375"/>
              <a:ext cx="248331" cy="729755"/>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72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8" name="AutoShape 30"/>
            <p:cNvSpPr/>
            <p:nvPr/>
          </p:nvSpPr>
          <p:spPr bwMode="auto">
            <a:xfrm flipH="1">
              <a:off x="7956317" y="2860776"/>
              <a:ext cx="126720" cy="707427"/>
            </a:xfrm>
            <a:prstGeom prst="leftBrace">
              <a:avLst>
                <a:gd name="adj1" fmla="val 4045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9" name="Text Box 29"/>
            <p:cNvSpPr txBox="1">
              <a:spLocks noChangeArrowheads="1"/>
            </p:cNvSpPr>
            <p:nvPr/>
          </p:nvSpPr>
          <p:spPr bwMode="auto">
            <a:xfrm>
              <a:off x="8079971" y="3102853"/>
              <a:ext cx="377096" cy="26440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0" name="AutoShape 26"/>
            <p:cNvSpPr>
              <a:spLocks noChangeArrowheads="1"/>
            </p:cNvSpPr>
            <p:nvPr/>
          </p:nvSpPr>
          <p:spPr bwMode="auto">
            <a:xfrm>
              <a:off x="4500562" y="2786058"/>
              <a:ext cx="603433" cy="214314"/>
            </a:xfrm>
            <a:prstGeom prst="rightArrow">
              <a:avLst>
                <a:gd name="adj1" fmla="val 50000"/>
                <a:gd name="adj2" fmla="val 135057"/>
              </a:avLst>
            </a:prstGeom>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1" name="Text Box 85"/>
            <p:cNvSpPr txBox="1">
              <a:spLocks noChangeArrowheads="1"/>
            </p:cNvSpPr>
            <p:nvPr/>
          </p:nvSpPr>
          <p:spPr bwMode="auto">
            <a:xfrm>
              <a:off x="2793355" y="2319973"/>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2" name="Line 74"/>
            <p:cNvSpPr>
              <a:spLocks noChangeShapeType="1"/>
            </p:cNvSpPr>
            <p:nvPr/>
          </p:nvSpPr>
          <p:spPr bwMode="auto">
            <a:xfrm>
              <a:off x="3271622" y="2348176"/>
              <a:ext cx="210519" cy="38896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3" name="Text Box 53"/>
            <p:cNvSpPr txBox="1">
              <a:spLocks noChangeArrowheads="1"/>
            </p:cNvSpPr>
            <p:nvPr/>
          </p:nvSpPr>
          <p:spPr bwMode="auto">
            <a:xfrm>
              <a:off x="2816859" y="3892294"/>
              <a:ext cx="249353" cy="203297"/>
            </a:xfrm>
            <a:prstGeom prst="rect">
              <a:avLst/>
            </a:prstGeom>
            <a:solidFill>
              <a:srgbClr val="B2B2B2"/>
            </a:solidFill>
            <a:ln w="9525">
              <a:solidFill>
                <a:srgbClr val="000000"/>
              </a:solidFill>
              <a:miter lim="800000"/>
            </a:ln>
          </p:spPr>
          <p:txBody>
            <a:bodyPr vert="horz" wrap="square" lIns="82296" tIns="41148" rIns="82296" bIns="41148"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4" name="Line 28"/>
            <p:cNvSpPr>
              <a:spLocks noChangeShapeType="1"/>
            </p:cNvSpPr>
            <p:nvPr/>
          </p:nvSpPr>
          <p:spPr bwMode="auto">
            <a:xfrm flipH="1">
              <a:off x="2439764" y="2921638"/>
              <a:ext cx="202344" cy="49472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 name="Line 27"/>
            <p:cNvSpPr>
              <a:spLocks noChangeShapeType="1"/>
            </p:cNvSpPr>
            <p:nvPr/>
          </p:nvSpPr>
          <p:spPr bwMode="auto">
            <a:xfrm flipH="1">
              <a:off x="2793355" y="2323498"/>
              <a:ext cx="313735" cy="383092"/>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6" name="Line 25"/>
            <p:cNvSpPr>
              <a:spLocks noChangeShapeType="1"/>
            </p:cNvSpPr>
            <p:nvPr/>
          </p:nvSpPr>
          <p:spPr bwMode="auto">
            <a:xfrm flipH="1">
              <a:off x="2475531" y="1750036"/>
              <a:ext cx="219717" cy="357239"/>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7" name="Oval 24"/>
            <p:cNvSpPr>
              <a:spLocks noChangeArrowheads="1"/>
            </p:cNvSpPr>
            <p:nvPr/>
          </p:nvSpPr>
          <p:spPr bwMode="auto">
            <a:xfrm>
              <a:off x="2652327" y="1493858"/>
              <a:ext cx="321911"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8" name="Oval 23"/>
            <p:cNvSpPr>
              <a:spLocks noChangeArrowheads="1"/>
            </p:cNvSpPr>
            <p:nvPr/>
          </p:nvSpPr>
          <p:spPr bwMode="auto">
            <a:xfrm>
              <a:off x="3052927" y="2074371"/>
              <a:ext cx="322933" cy="32081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9" name="Text Box 22"/>
            <p:cNvSpPr txBox="1">
              <a:spLocks noChangeArrowheads="1"/>
            </p:cNvSpPr>
            <p:nvPr/>
          </p:nvSpPr>
          <p:spPr bwMode="auto">
            <a:xfrm>
              <a:off x="2815837" y="3349385"/>
              <a:ext cx="249353"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γ</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0" name="AutoShape 21"/>
            <p:cNvSpPr/>
            <p:nvPr/>
          </p:nvSpPr>
          <p:spPr bwMode="auto">
            <a:xfrm flipH="1">
              <a:off x="3091761" y="3357611"/>
              <a:ext cx="126720" cy="546435"/>
            </a:xfrm>
            <a:prstGeom prst="leftBrace">
              <a:avLst>
                <a:gd name="adj1" fmla="val 3125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1" name="Text Box 20"/>
            <p:cNvSpPr txBox="1">
              <a:spLocks noChangeArrowheads="1"/>
            </p:cNvSpPr>
            <p:nvPr/>
          </p:nvSpPr>
          <p:spPr bwMode="auto">
            <a:xfrm>
              <a:off x="3232788" y="3522129"/>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 name="Text Box 19"/>
            <p:cNvSpPr txBox="1">
              <a:spLocks noChangeArrowheads="1"/>
            </p:cNvSpPr>
            <p:nvPr/>
          </p:nvSpPr>
          <p:spPr bwMode="auto">
            <a:xfrm>
              <a:off x="2292604" y="3324707"/>
              <a:ext cx="248331" cy="567587"/>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β</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 name="AutoShape 18"/>
            <p:cNvSpPr/>
            <p:nvPr/>
          </p:nvSpPr>
          <p:spPr bwMode="auto">
            <a:xfrm>
              <a:off x="2131138" y="3341159"/>
              <a:ext cx="127742" cy="546435"/>
            </a:xfrm>
            <a:prstGeom prst="leftBrace">
              <a:avLst>
                <a:gd name="adj1" fmla="val 31000"/>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4" name="Text Box 17"/>
            <p:cNvSpPr txBox="1">
              <a:spLocks noChangeArrowheads="1"/>
            </p:cNvSpPr>
            <p:nvPr/>
          </p:nvSpPr>
          <p:spPr bwMode="auto">
            <a:xfrm>
              <a:off x="1950255" y="3504502"/>
              <a:ext cx="182927"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 name="Text Box 16"/>
            <p:cNvSpPr txBox="1">
              <a:spLocks noChangeArrowheads="1"/>
            </p:cNvSpPr>
            <p:nvPr/>
          </p:nvSpPr>
          <p:spPr bwMode="auto">
            <a:xfrm>
              <a:off x="2365162" y="1999163"/>
              <a:ext cx="248331" cy="700376"/>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α</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 name="AutoShape 15"/>
            <p:cNvSpPr/>
            <p:nvPr/>
          </p:nvSpPr>
          <p:spPr bwMode="auto">
            <a:xfrm>
              <a:off x="2202674" y="2021490"/>
              <a:ext cx="126720" cy="673348"/>
            </a:xfrm>
            <a:prstGeom prst="leftBrace">
              <a:avLst>
                <a:gd name="adj1" fmla="val 38508"/>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7" name="Text Box 14"/>
            <p:cNvSpPr txBox="1">
              <a:spLocks noChangeArrowheads="1"/>
            </p:cNvSpPr>
            <p:nvPr/>
          </p:nvSpPr>
          <p:spPr bwMode="auto">
            <a:xfrm>
              <a:off x="1928794" y="2259160"/>
              <a:ext cx="295340" cy="2491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8" name="Line 13"/>
            <p:cNvSpPr>
              <a:spLocks noChangeShapeType="1"/>
            </p:cNvSpPr>
            <p:nvPr/>
          </p:nvSpPr>
          <p:spPr bwMode="auto">
            <a:xfrm>
              <a:off x="2919053" y="1761787"/>
              <a:ext cx="214607" cy="324335"/>
            </a:xfrm>
            <a:prstGeom prst="line">
              <a:avLst/>
            </a:prstGeom>
            <a:noFill/>
            <a:ln w="2857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9" name="Line 12"/>
            <p:cNvSpPr>
              <a:spLocks noChangeShapeType="1"/>
            </p:cNvSpPr>
            <p:nvPr/>
          </p:nvSpPr>
          <p:spPr bwMode="auto">
            <a:xfrm>
              <a:off x="2834232" y="2923989"/>
              <a:ext cx="120589" cy="41952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 name="Text Box 11"/>
            <p:cNvSpPr txBox="1">
              <a:spLocks noChangeArrowheads="1"/>
            </p:cNvSpPr>
            <p:nvPr/>
          </p:nvSpPr>
          <p:spPr bwMode="auto">
            <a:xfrm>
              <a:off x="2332460" y="1509134"/>
              <a:ext cx="282055"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1" name="Text Box 10"/>
            <p:cNvSpPr txBox="1">
              <a:spLocks noChangeArrowheads="1"/>
            </p:cNvSpPr>
            <p:nvPr/>
          </p:nvSpPr>
          <p:spPr bwMode="auto">
            <a:xfrm>
              <a:off x="3334982" y="1938056"/>
              <a:ext cx="183949" cy="2185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2" name="Oval 9"/>
            <p:cNvSpPr>
              <a:spLocks noChangeArrowheads="1"/>
            </p:cNvSpPr>
            <p:nvPr/>
          </p:nvSpPr>
          <p:spPr bwMode="auto">
            <a:xfrm>
              <a:off x="2592033" y="2685438"/>
              <a:ext cx="322933" cy="320810"/>
            </a:xfrm>
            <a:prstGeom prst="ellipse">
              <a:avLst/>
            </a:prstGeom>
          </p:spPr>
          <p:style>
            <a:lnRef idx="1">
              <a:schemeClr val="accent6"/>
            </a:lnRef>
            <a:fillRef idx="3">
              <a:schemeClr val="accent6"/>
            </a:fillRef>
            <a:effectRef idx="2">
              <a:schemeClr val="accent6"/>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3" name="Text Box 8"/>
            <p:cNvSpPr txBox="1">
              <a:spLocks noChangeArrowheads="1"/>
            </p:cNvSpPr>
            <p:nvPr/>
          </p:nvSpPr>
          <p:spPr bwMode="auto">
            <a:xfrm>
              <a:off x="3308412" y="2685438"/>
              <a:ext cx="246287" cy="699201"/>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4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δ</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4" name="AutoShape 7"/>
            <p:cNvSpPr/>
            <p:nvPr/>
          </p:nvSpPr>
          <p:spPr bwMode="auto">
            <a:xfrm flipH="1">
              <a:off x="3580248" y="2678387"/>
              <a:ext cx="127742" cy="695676"/>
            </a:xfrm>
            <a:prstGeom prst="leftBrace">
              <a:avLst>
                <a:gd name="adj1" fmla="val 39467"/>
                <a:gd name="adj2" fmla="val 50000"/>
              </a:avLst>
            </a:prstGeom>
            <a:noFill/>
            <a:ln w="9525">
              <a:solidFill>
                <a:srgbClr val="000000"/>
              </a:solidFill>
              <a:roun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5" name="Text Box 6"/>
            <p:cNvSpPr txBox="1">
              <a:spLocks noChangeArrowheads="1"/>
            </p:cNvSpPr>
            <p:nvPr/>
          </p:nvSpPr>
          <p:spPr bwMode="auto">
            <a:xfrm>
              <a:off x="3732517" y="2938090"/>
              <a:ext cx="300450" cy="2009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6" name="Text Box 4"/>
            <p:cNvSpPr txBox="1">
              <a:spLocks noChangeArrowheads="1"/>
            </p:cNvSpPr>
            <p:nvPr/>
          </p:nvSpPr>
          <p:spPr bwMode="auto">
            <a:xfrm>
              <a:off x="2918031" y="2721867"/>
              <a:ext cx="282055" cy="21622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7" name="Text Box 3"/>
            <p:cNvSpPr txBox="1">
              <a:spLocks noChangeArrowheads="1"/>
            </p:cNvSpPr>
            <p:nvPr/>
          </p:nvSpPr>
          <p:spPr bwMode="auto">
            <a:xfrm>
              <a:off x="3053949" y="1752386"/>
              <a:ext cx="183949" cy="21974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8" name="Freeform 2"/>
            <p:cNvSpPr/>
            <p:nvPr/>
          </p:nvSpPr>
          <p:spPr bwMode="auto">
            <a:xfrm>
              <a:off x="2729994" y="1285860"/>
              <a:ext cx="509948" cy="1365499"/>
            </a:xfrm>
            <a:custGeom>
              <a:avLst/>
              <a:gdLst/>
              <a:ahLst/>
              <a:cxnLst>
                <a:cxn ang="0">
                  <a:pos x="0" y="1327"/>
                </a:cxn>
                <a:cxn ang="0">
                  <a:pos x="45" y="997"/>
                </a:cxn>
                <a:cxn ang="0">
                  <a:pos x="83" y="832"/>
                </a:cxn>
                <a:cxn ang="0">
                  <a:pos x="150" y="667"/>
                </a:cxn>
                <a:cxn ang="0">
                  <a:pos x="360" y="465"/>
                </a:cxn>
                <a:cxn ang="0">
                  <a:pos x="428" y="360"/>
                </a:cxn>
                <a:cxn ang="0">
                  <a:pos x="570" y="0"/>
                </a:cxn>
              </a:cxnLst>
              <a:rect l="0" t="0" r="r" b="b"/>
              <a:pathLst>
                <a:path w="570" h="1327">
                  <a:moveTo>
                    <a:pt x="0" y="1327"/>
                  </a:moveTo>
                  <a:lnTo>
                    <a:pt x="45" y="997"/>
                  </a:lnTo>
                  <a:cubicBezTo>
                    <a:pt x="59" y="915"/>
                    <a:pt x="65" y="887"/>
                    <a:pt x="83" y="832"/>
                  </a:cubicBezTo>
                  <a:cubicBezTo>
                    <a:pt x="101" y="777"/>
                    <a:pt x="104" y="728"/>
                    <a:pt x="150" y="667"/>
                  </a:cubicBezTo>
                  <a:lnTo>
                    <a:pt x="360" y="465"/>
                  </a:lnTo>
                  <a:lnTo>
                    <a:pt x="428" y="360"/>
                  </a:lnTo>
                  <a:lnTo>
                    <a:pt x="570" y="0"/>
                  </a:lnTo>
                </a:path>
              </a:pathLst>
            </a:custGeom>
            <a:noFill/>
            <a:ln w="28575">
              <a:solidFill>
                <a:srgbClr val="FF00FF"/>
              </a:solidFill>
              <a:round/>
              <a:tailEnd type="arrow" w="med" len="med"/>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22" name="灯片编号占位符 12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642910" y="285728"/>
            <a:ext cx="7415234" cy="810478"/>
          </a:xfrm>
          <a:prstGeom prst="rect">
            <a:avLst/>
          </a:prstGeom>
          <a:noFill/>
          <a:ln w="9525">
            <a:noFill/>
            <a:miter lim="800000"/>
          </a:ln>
        </p:spPr>
        <p:txBody>
          <a:bodyPr wrap="square">
            <a:spAutoFit/>
          </a:bodyPr>
          <a:lstStyle/>
          <a:p>
            <a:pPr algn="just">
              <a:lnSpc>
                <a:spcPts val="2800"/>
              </a:lnSpc>
              <a:spcBef>
                <a:spcPts val="0"/>
              </a:spcBef>
            </a:pP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9.9】</a:t>
            </a:r>
            <a:r>
              <a:rPr kumimoji="1"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输入</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关键字</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序列（</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16</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26</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18</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14</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15</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给</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出构造一棵</a:t>
            </a:r>
            <a:r>
              <a:rPr kumimoji="1" lang="en-US"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AVL</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树的步骤。</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244" name="Rectangle 3"/>
          <p:cNvSpPr>
            <a:spLocks noChangeArrowheads="1"/>
          </p:cNvSpPr>
          <p:nvPr/>
        </p:nvSpPr>
        <p:spPr bwMode="auto">
          <a:xfrm>
            <a:off x="2376488" y="347663"/>
            <a:ext cx="9144000" cy="0"/>
          </a:xfrm>
          <a:prstGeom prst="rect">
            <a:avLst/>
          </a:prstGeom>
          <a:noFill/>
          <a:ln w="9525">
            <a:noFill/>
            <a:miter lim="800000"/>
          </a:ln>
        </p:spPr>
        <p:txBody>
          <a:bodyPr>
            <a:spAutoFit/>
          </a:bodyPr>
          <a:lstStyle/>
          <a:p>
            <a:endParaRPr lang="zh-CN" altLang="en-US"/>
          </a:p>
        </p:txBody>
      </p:sp>
      <p:sp>
        <p:nvSpPr>
          <p:cNvPr id="7" name="TextBox 6"/>
          <p:cNvSpPr txBox="1"/>
          <p:nvPr/>
        </p:nvSpPr>
        <p:spPr>
          <a:xfrm>
            <a:off x="2357422" y="1428736"/>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16</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8" name="TextBox 7"/>
          <p:cNvSpPr txBox="1"/>
          <p:nvPr/>
        </p:nvSpPr>
        <p:spPr>
          <a:xfrm>
            <a:off x="2928926" y="1428736"/>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3</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9" name="TextBox 8"/>
          <p:cNvSpPr txBox="1"/>
          <p:nvPr/>
        </p:nvSpPr>
        <p:spPr>
          <a:xfrm>
            <a:off x="3500430" y="1428736"/>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7</a:t>
            </a:r>
            <a:endParaRPr lang="zh-CN" altLang="en-US" sz="2000" b="0">
              <a:solidFill>
                <a:srgbClr val="0000FF"/>
              </a:solidFill>
              <a:latin typeface="Consolas" panose="020B0609020204030204" pitchFamily="49" charset="0"/>
              <a:cs typeface="Consolas" panose="020B0609020204030204" pitchFamily="49" charset="0"/>
            </a:endParaRPr>
          </a:p>
        </p:txBody>
      </p:sp>
      <p:grpSp>
        <p:nvGrpSpPr>
          <p:cNvPr id="2" name="组合 31"/>
          <p:cNvGrpSpPr/>
          <p:nvPr/>
        </p:nvGrpSpPr>
        <p:grpSpPr>
          <a:xfrm>
            <a:off x="928662" y="2428868"/>
            <a:ext cx="583354" cy="542939"/>
            <a:chOff x="1338104" y="2428868"/>
            <a:chExt cx="714787" cy="624380"/>
          </a:xfrm>
        </p:grpSpPr>
        <p:sp>
          <p:nvSpPr>
            <p:cNvPr id="6" name="Oval 4"/>
            <p:cNvSpPr>
              <a:spLocks noChangeArrowheads="1"/>
            </p:cNvSpPr>
            <p:nvPr/>
          </p:nvSpPr>
          <p:spPr bwMode="auto">
            <a:xfrm>
              <a:off x="1567670" y="2639248"/>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2" name="TextBox 11"/>
            <p:cNvSpPr txBox="1"/>
            <p:nvPr/>
          </p:nvSpPr>
          <p:spPr>
            <a:xfrm>
              <a:off x="1338104" y="2428868"/>
              <a:ext cx="285752"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grpSp>
      <p:grpSp>
        <p:nvGrpSpPr>
          <p:cNvPr id="3" name="组合 32"/>
          <p:cNvGrpSpPr/>
          <p:nvPr/>
        </p:nvGrpSpPr>
        <p:grpSpPr>
          <a:xfrm>
            <a:off x="1947980" y="2415805"/>
            <a:ext cx="975811" cy="1237618"/>
            <a:chOff x="2357422" y="2415805"/>
            <a:chExt cx="1195667" cy="1423261"/>
          </a:xfrm>
        </p:grpSpPr>
        <p:sp>
          <p:nvSpPr>
            <p:cNvPr id="13" name="Oval 4"/>
            <p:cNvSpPr>
              <a:spLocks noChangeArrowheads="1"/>
            </p:cNvSpPr>
            <p:nvPr/>
          </p:nvSpPr>
          <p:spPr bwMode="auto">
            <a:xfrm>
              <a:off x="3067868" y="2639248"/>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4" name="TextBox 13"/>
            <p:cNvSpPr txBox="1"/>
            <p:nvPr/>
          </p:nvSpPr>
          <p:spPr>
            <a:xfrm>
              <a:off x="2902800" y="2415805"/>
              <a:ext cx="285752"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15" name="Oval 4"/>
            <p:cNvSpPr>
              <a:spLocks noChangeArrowheads="1"/>
            </p:cNvSpPr>
            <p:nvPr/>
          </p:nvSpPr>
          <p:spPr bwMode="auto">
            <a:xfrm>
              <a:off x="2571737" y="3425066"/>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6" name="TextBox 15"/>
            <p:cNvSpPr txBox="1"/>
            <p:nvPr/>
          </p:nvSpPr>
          <p:spPr>
            <a:xfrm>
              <a:off x="2357422" y="3214686"/>
              <a:ext cx="285752"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24" name="直接连接符 23"/>
            <p:cNvCxnSpPr>
              <a:stCxn id="13" idx="3"/>
              <a:endCxn id="15" idx="0"/>
            </p:cNvCxnSpPr>
            <p:nvPr/>
          </p:nvCxnSpPr>
          <p:spPr>
            <a:xfrm rot="5400000">
              <a:off x="2760415" y="3046552"/>
              <a:ext cx="432447" cy="32458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4" name="组合 33"/>
          <p:cNvGrpSpPr/>
          <p:nvPr/>
        </p:nvGrpSpPr>
        <p:grpSpPr>
          <a:xfrm>
            <a:off x="3448178" y="2357430"/>
            <a:ext cx="1254072" cy="1785339"/>
            <a:chOff x="3857620" y="2357430"/>
            <a:chExt cx="1536623" cy="2053140"/>
          </a:xfrm>
        </p:grpSpPr>
        <p:sp>
          <p:nvSpPr>
            <p:cNvPr id="17" name="Oval 4"/>
            <p:cNvSpPr>
              <a:spLocks noChangeArrowheads="1"/>
            </p:cNvSpPr>
            <p:nvPr/>
          </p:nvSpPr>
          <p:spPr bwMode="auto">
            <a:xfrm>
              <a:off x="4782380" y="2567810"/>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8" name="TextBox 17"/>
            <p:cNvSpPr txBox="1"/>
            <p:nvPr/>
          </p:nvSpPr>
          <p:spPr>
            <a:xfrm>
              <a:off x="4500562" y="2357430"/>
              <a:ext cx="285753"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2</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19" name="Oval 4"/>
            <p:cNvSpPr>
              <a:spLocks noChangeArrowheads="1"/>
            </p:cNvSpPr>
            <p:nvPr/>
          </p:nvSpPr>
          <p:spPr bwMode="auto">
            <a:xfrm>
              <a:off x="4210876" y="3353628"/>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0" name="TextBox 19"/>
            <p:cNvSpPr txBox="1"/>
            <p:nvPr/>
          </p:nvSpPr>
          <p:spPr>
            <a:xfrm>
              <a:off x="3857620" y="3143248"/>
              <a:ext cx="500066" cy="696088"/>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1" name="Oval 4"/>
            <p:cNvSpPr>
              <a:spLocks noChangeArrowheads="1"/>
            </p:cNvSpPr>
            <p:nvPr/>
          </p:nvSpPr>
          <p:spPr bwMode="auto">
            <a:xfrm>
              <a:off x="4818805" y="3996570"/>
              <a:ext cx="485222"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2" name="TextBox 21"/>
            <p:cNvSpPr txBox="1"/>
            <p:nvPr/>
          </p:nvSpPr>
          <p:spPr>
            <a:xfrm>
              <a:off x="5108490" y="3714752"/>
              <a:ext cx="285753"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26" name="直接连接符 25"/>
            <p:cNvCxnSpPr>
              <a:stCxn id="17" idx="3"/>
              <a:endCxn id="19" idx="0"/>
            </p:cNvCxnSpPr>
            <p:nvPr/>
          </p:nvCxnSpPr>
          <p:spPr>
            <a:xfrm rot="5400000">
              <a:off x="4437240" y="2937428"/>
              <a:ext cx="432447" cy="39995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9" idx="5"/>
              <a:endCxn id="21" idx="1"/>
            </p:cNvCxnSpPr>
            <p:nvPr/>
          </p:nvCxnSpPr>
          <p:spPr>
            <a:xfrm rot="16200000" flipH="1">
              <a:off x="4582351" y="3749686"/>
              <a:ext cx="350200" cy="264826"/>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30" name="TextBox 29"/>
          <p:cNvSpPr txBox="1"/>
          <p:nvPr/>
        </p:nvSpPr>
        <p:spPr>
          <a:xfrm>
            <a:off x="3910299" y="2820317"/>
            <a:ext cx="233209" cy="348813"/>
          </a:xfrm>
          <a:prstGeom prst="rect">
            <a:avLst/>
          </a:prstGeom>
          <a:noFill/>
        </p:spPr>
        <p:txBody>
          <a:bodyPr wrap="square" rtlCol="0">
            <a:spAutoFit/>
          </a:bodyPr>
          <a:lstStyle/>
          <a:p>
            <a:pPr>
              <a:lnSpc>
                <a:spcPts val="2000"/>
              </a:lnSpc>
              <a:spcBef>
                <a:spcPts val="0"/>
              </a:spcBef>
            </a:pPr>
            <a:r>
              <a:rPr lang="en-US" altLang="zh-CN" sz="1800" b="0" smtClean="0">
                <a:solidFill>
                  <a:schemeClr val="tx1"/>
                </a:solidFill>
                <a:latin typeface="Consolas" panose="020B0609020204030204" pitchFamily="49" charset="0"/>
                <a:cs typeface="Consolas" panose="020B0609020204030204" pitchFamily="49" charset="0"/>
              </a:rPr>
              <a:t>L</a:t>
            </a:r>
            <a:endParaRPr lang="zh-CN" altLang="en-US" sz="1800" b="0">
              <a:solidFill>
                <a:schemeClr val="tx1"/>
              </a:solidFill>
              <a:latin typeface="Consolas" panose="020B0609020204030204" pitchFamily="49" charset="0"/>
              <a:cs typeface="Consolas" panose="020B0609020204030204" pitchFamily="49" charset="0"/>
            </a:endParaRPr>
          </a:p>
        </p:txBody>
      </p:sp>
      <p:sp>
        <p:nvSpPr>
          <p:cNvPr id="31" name="TextBox 30"/>
          <p:cNvSpPr txBox="1"/>
          <p:nvPr/>
        </p:nvSpPr>
        <p:spPr>
          <a:xfrm>
            <a:off x="4000632" y="3609977"/>
            <a:ext cx="233209" cy="348813"/>
          </a:xfrm>
          <a:prstGeom prst="rect">
            <a:avLst/>
          </a:prstGeom>
          <a:noFill/>
        </p:spPr>
        <p:txBody>
          <a:bodyPr wrap="square" rtlCol="0">
            <a:spAutoFit/>
          </a:bodyPr>
          <a:lstStyle/>
          <a:p>
            <a:pPr>
              <a:lnSpc>
                <a:spcPts val="2000"/>
              </a:lnSpc>
              <a:spcBef>
                <a:spcPts val="0"/>
              </a:spcBef>
            </a:pPr>
            <a:r>
              <a:rPr lang="en-US" altLang="zh-CN" sz="1800" b="0" smtClean="0">
                <a:solidFill>
                  <a:schemeClr val="tx1"/>
                </a:solidFill>
                <a:latin typeface="Consolas" panose="020B0609020204030204" pitchFamily="49" charset="0"/>
                <a:cs typeface="Consolas" panose="020B0609020204030204" pitchFamily="49" charset="0"/>
              </a:rPr>
              <a:t>R</a:t>
            </a:r>
            <a:endParaRPr lang="zh-CN" altLang="en-US" sz="1800" b="0">
              <a:solidFill>
                <a:schemeClr val="tx1"/>
              </a:solidFill>
              <a:latin typeface="Consolas" panose="020B0609020204030204" pitchFamily="49" charset="0"/>
              <a:cs typeface="Consolas" panose="020B0609020204030204" pitchFamily="49" charset="0"/>
            </a:endParaRPr>
          </a:p>
        </p:txBody>
      </p:sp>
      <p:grpSp>
        <p:nvGrpSpPr>
          <p:cNvPr id="5" name="组合 45"/>
          <p:cNvGrpSpPr/>
          <p:nvPr/>
        </p:nvGrpSpPr>
        <p:grpSpPr>
          <a:xfrm>
            <a:off x="6234260" y="2500306"/>
            <a:ext cx="1500198" cy="1350499"/>
            <a:chOff x="6643702" y="2285992"/>
            <a:chExt cx="1838202" cy="1553074"/>
          </a:xfrm>
        </p:grpSpPr>
        <p:sp>
          <p:nvSpPr>
            <p:cNvPr id="36" name="Oval 4"/>
            <p:cNvSpPr>
              <a:spLocks noChangeArrowheads="1"/>
            </p:cNvSpPr>
            <p:nvPr/>
          </p:nvSpPr>
          <p:spPr bwMode="auto">
            <a:xfrm>
              <a:off x="7354148" y="2567810"/>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7" name="TextBox 36"/>
            <p:cNvSpPr txBox="1"/>
            <p:nvPr/>
          </p:nvSpPr>
          <p:spPr>
            <a:xfrm>
              <a:off x="7358083" y="2285992"/>
              <a:ext cx="285752"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38" name="Oval 4"/>
            <p:cNvSpPr>
              <a:spLocks noChangeArrowheads="1"/>
            </p:cNvSpPr>
            <p:nvPr/>
          </p:nvSpPr>
          <p:spPr bwMode="auto">
            <a:xfrm>
              <a:off x="6782644" y="3425066"/>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9" name="TextBox 38"/>
            <p:cNvSpPr txBox="1"/>
            <p:nvPr/>
          </p:nvSpPr>
          <p:spPr>
            <a:xfrm>
              <a:off x="6643702" y="3143248"/>
              <a:ext cx="357190"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0" name="Oval 4"/>
            <p:cNvSpPr>
              <a:spLocks noChangeArrowheads="1"/>
            </p:cNvSpPr>
            <p:nvPr/>
          </p:nvSpPr>
          <p:spPr bwMode="auto">
            <a:xfrm>
              <a:off x="7906466" y="3425066"/>
              <a:ext cx="485221" cy="41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1" name="TextBox 40"/>
            <p:cNvSpPr txBox="1"/>
            <p:nvPr/>
          </p:nvSpPr>
          <p:spPr>
            <a:xfrm>
              <a:off x="8196152" y="3143248"/>
              <a:ext cx="285752" cy="40113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42" name="直接连接符 41"/>
            <p:cNvCxnSpPr>
              <a:stCxn id="36" idx="3"/>
              <a:endCxn id="38" idx="0"/>
            </p:cNvCxnSpPr>
            <p:nvPr/>
          </p:nvCxnSpPr>
          <p:spPr>
            <a:xfrm rot="5400000">
              <a:off x="6973289" y="2973147"/>
              <a:ext cx="503885" cy="39995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6" idx="5"/>
              <a:endCxn id="40" idx="0"/>
            </p:cNvCxnSpPr>
            <p:nvPr/>
          </p:nvCxnSpPr>
          <p:spPr>
            <a:xfrm rot="16200000" flipH="1">
              <a:off x="7706751" y="2982740"/>
              <a:ext cx="503885" cy="380766"/>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47" name="右箭头 46"/>
          <p:cNvSpPr/>
          <p:nvPr/>
        </p:nvSpPr>
        <p:spPr>
          <a:xfrm>
            <a:off x="5234128" y="3214686"/>
            <a:ext cx="583022" cy="24848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spcBef>
                <a:spcPts val="0"/>
              </a:spcBef>
            </a:pPr>
            <a:endParaRPr lang="zh-CN" altLang="en-US" sz="1800" b="0"/>
          </a:p>
        </p:txBody>
      </p:sp>
      <p:sp>
        <p:nvSpPr>
          <p:cNvPr id="51" name="灯片编号占位符 5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30" grpId="0"/>
      <p:bldP spid="31" grpId="0"/>
      <p:bldP spid="4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ChangeArrowheads="1"/>
          </p:cNvSpPr>
          <p:nvPr/>
        </p:nvSpPr>
        <p:spPr bwMode="auto">
          <a:xfrm>
            <a:off x="2376488" y="347663"/>
            <a:ext cx="9144000" cy="0"/>
          </a:xfrm>
          <a:prstGeom prst="rect">
            <a:avLst/>
          </a:prstGeom>
          <a:noFill/>
          <a:ln w="9525">
            <a:noFill/>
            <a:miter lim="800000"/>
          </a:ln>
        </p:spPr>
        <p:txBody>
          <a:bodyPr>
            <a:spAutoFit/>
          </a:bodyPr>
          <a:lstStyle/>
          <a:p>
            <a:endParaRPr lang="zh-CN" altLang="en-US"/>
          </a:p>
        </p:txBody>
      </p:sp>
      <p:sp>
        <p:nvSpPr>
          <p:cNvPr id="10" name="TextBox 9"/>
          <p:cNvSpPr txBox="1"/>
          <p:nvPr/>
        </p:nvSpPr>
        <p:spPr>
          <a:xfrm>
            <a:off x="1928794" y="599998"/>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11</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11" name="TextBox 10"/>
          <p:cNvSpPr txBox="1"/>
          <p:nvPr/>
        </p:nvSpPr>
        <p:spPr>
          <a:xfrm>
            <a:off x="2500298" y="599998"/>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9</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36" name="Oval 4"/>
          <p:cNvSpPr>
            <a:spLocks noChangeArrowheads="1"/>
          </p:cNvSpPr>
          <p:nvPr/>
        </p:nvSpPr>
        <p:spPr bwMode="auto">
          <a:xfrm>
            <a:off x="1924860" y="2424934"/>
            <a:ext cx="396000" cy="396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8" name="Oval 4"/>
          <p:cNvSpPr>
            <a:spLocks noChangeArrowheads="1"/>
          </p:cNvSpPr>
          <p:nvPr/>
        </p:nvSpPr>
        <p:spPr bwMode="auto">
          <a:xfrm>
            <a:off x="1353356" y="3282190"/>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0" name="Oval 4"/>
          <p:cNvSpPr>
            <a:spLocks noChangeArrowheads="1"/>
          </p:cNvSpPr>
          <p:nvPr/>
        </p:nvSpPr>
        <p:spPr bwMode="auto">
          <a:xfrm>
            <a:off x="2477178" y="3282190"/>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42" name="直接连接符 41"/>
          <p:cNvCxnSpPr>
            <a:stCxn id="36" idx="3"/>
            <a:endCxn id="38" idx="0"/>
          </p:cNvCxnSpPr>
          <p:nvPr/>
        </p:nvCxnSpPr>
        <p:spPr>
          <a:xfrm rot="5400000">
            <a:off x="1507481" y="2806817"/>
            <a:ext cx="519249" cy="4314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6" idx="5"/>
            <a:endCxn id="40" idx="0"/>
          </p:cNvCxnSpPr>
          <p:nvPr/>
        </p:nvCxnSpPr>
        <p:spPr>
          <a:xfrm rot="16200000" flipH="1">
            <a:off x="2209398" y="2816409"/>
            <a:ext cx="519249" cy="4123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nvGrpSpPr>
          <p:cNvPr id="2" name="组合 50"/>
          <p:cNvGrpSpPr/>
          <p:nvPr/>
        </p:nvGrpSpPr>
        <p:grpSpPr>
          <a:xfrm>
            <a:off x="1928794" y="2071678"/>
            <a:ext cx="1053791" cy="2326468"/>
            <a:chOff x="1928794" y="2071678"/>
            <a:chExt cx="1123822" cy="2530829"/>
          </a:xfrm>
        </p:grpSpPr>
        <p:sp>
          <p:nvSpPr>
            <p:cNvPr id="37" name="TextBox 36"/>
            <p:cNvSpPr txBox="1"/>
            <p:nvPr/>
          </p:nvSpPr>
          <p:spPr>
            <a:xfrm>
              <a:off x="1928794" y="2071678"/>
              <a:ext cx="500066"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2766864" y="3000372"/>
              <a:ext cx="285752"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6" name="Oval 4"/>
            <p:cNvSpPr>
              <a:spLocks noChangeArrowheads="1"/>
            </p:cNvSpPr>
            <p:nvPr/>
          </p:nvSpPr>
          <p:spPr bwMode="auto">
            <a:xfrm>
              <a:off x="2071670" y="4210884"/>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8" name="TextBox 47"/>
            <p:cNvSpPr txBox="1"/>
            <p:nvPr/>
          </p:nvSpPr>
          <p:spPr>
            <a:xfrm>
              <a:off x="2500298" y="4131238"/>
              <a:ext cx="285752"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50" name="直接连接符 49"/>
            <p:cNvCxnSpPr>
              <a:stCxn id="40" idx="3"/>
              <a:endCxn id="46" idx="0"/>
            </p:cNvCxnSpPr>
            <p:nvPr/>
          </p:nvCxnSpPr>
          <p:spPr>
            <a:xfrm rot="5400000">
              <a:off x="2185104" y="3820519"/>
              <a:ext cx="488090" cy="29264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grpSp>
        <p:nvGrpSpPr>
          <p:cNvPr id="3" name="组合 68"/>
          <p:cNvGrpSpPr/>
          <p:nvPr/>
        </p:nvGrpSpPr>
        <p:grpSpPr>
          <a:xfrm>
            <a:off x="4071934" y="2361364"/>
            <a:ext cx="1138768" cy="2283720"/>
            <a:chOff x="4071934" y="2361364"/>
            <a:chExt cx="1214446" cy="2484326"/>
          </a:xfrm>
        </p:grpSpPr>
        <p:sp>
          <p:nvSpPr>
            <p:cNvPr id="59" name="TextBox 58"/>
            <p:cNvSpPr txBox="1"/>
            <p:nvPr/>
          </p:nvSpPr>
          <p:spPr>
            <a:xfrm>
              <a:off x="4786315" y="2361364"/>
              <a:ext cx="500065"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-2</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61" name="TextBox 60"/>
            <p:cNvSpPr txBox="1"/>
            <p:nvPr/>
          </p:nvSpPr>
          <p:spPr>
            <a:xfrm>
              <a:off x="4519748" y="3492230"/>
              <a:ext cx="285752"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64" name="TextBox 63"/>
            <p:cNvSpPr txBox="1"/>
            <p:nvPr/>
          </p:nvSpPr>
          <p:spPr>
            <a:xfrm>
              <a:off x="4071934" y="4466237"/>
              <a:ext cx="285752" cy="37945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grpSp>
      <p:grpSp>
        <p:nvGrpSpPr>
          <p:cNvPr id="4" name="组合 90"/>
          <p:cNvGrpSpPr/>
          <p:nvPr/>
        </p:nvGrpSpPr>
        <p:grpSpPr>
          <a:xfrm>
            <a:off x="3372804" y="1785926"/>
            <a:ext cx="1449791" cy="2897093"/>
            <a:chOff x="3372807" y="1785926"/>
            <a:chExt cx="1546140" cy="3151579"/>
          </a:xfrm>
        </p:grpSpPr>
        <p:cxnSp>
          <p:nvCxnSpPr>
            <p:cNvPr id="62" name="直接连接符 61"/>
            <p:cNvCxnSpPr>
              <a:stCxn id="54" idx="3"/>
              <a:endCxn id="60" idx="0"/>
            </p:cNvCxnSpPr>
            <p:nvPr/>
          </p:nvCxnSpPr>
          <p:spPr>
            <a:xfrm rot="5400000">
              <a:off x="4133168" y="3146566"/>
              <a:ext cx="594423" cy="2561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60" idx="3"/>
              <a:endCxn id="63" idx="0"/>
            </p:cNvCxnSpPr>
            <p:nvPr/>
          </p:nvCxnSpPr>
          <p:spPr>
            <a:xfrm rot="5400000">
              <a:off x="3683852" y="4076763"/>
              <a:ext cx="639735" cy="29850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52" name="Oval 4"/>
            <p:cNvSpPr>
              <a:spLocks noChangeArrowheads="1"/>
            </p:cNvSpPr>
            <p:nvPr/>
          </p:nvSpPr>
          <p:spPr bwMode="auto">
            <a:xfrm>
              <a:off x="3944312" y="1785926"/>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53" name="Oval 4"/>
            <p:cNvSpPr>
              <a:spLocks noChangeArrowheads="1"/>
            </p:cNvSpPr>
            <p:nvPr/>
          </p:nvSpPr>
          <p:spPr bwMode="auto">
            <a:xfrm>
              <a:off x="3372807" y="2643182"/>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54" name="Oval 4"/>
            <p:cNvSpPr>
              <a:spLocks noChangeArrowheads="1"/>
            </p:cNvSpPr>
            <p:nvPr/>
          </p:nvSpPr>
          <p:spPr bwMode="auto">
            <a:xfrm>
              <a:off x="4496630" y="2643182"/>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55" name="直接连接符 54"/>
            <p:cNvCxnSpPr>
              <a:stCxn id="52" idx="3"/>
              <a:endCxn id="53" idx="0"/>
            </p:cNvCxnSpPr>
            <p:nvPr/>
          </p:nvCxnSpPr>
          <p:spPr>
            <a:xfrm rot="5400000">
              <a:off x="3533571" y="2170592"/>
              <a:ext cx="522985" cy="42219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52" idx="5"/>
              <a:endCxn id="54" idx="0"/>
            </p:cNvCxnSpPr>
            <p:nvPr/>
          </p:nvCxnSpPr>
          <p:spPr>
            <a:xfrm rot="16200000" flipH="1">
              <a:off x="4244793" y="2180185"/>
              <a:ext cx="522985" cy="40300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60" name="Oval 4"/>
            <p:cNvSpPr>
              <a:spLocks noChangeArrowheads="1"/>
            </p:cNvSpPr>
            <p:nvPr/>
          </p:nvSpPr>
          <p:spPr bwMode="auto">
            <a:xfrm>
              <a:off x="4091122" y="3571876"/>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63" name="Oval 4"/>
            <p:cNvSpPr>
              <a:spLocks noChangeArrowheads="1"/>
            </p:cNvSpPr>
            <p:nvPr/>
          </p:nvSpPr>
          <p:spPr bwMode="auto">
            <a:xfrm>
              <a:off x="3643310" y="4545882"/>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grpSp>
      <p:sp>
        <p:nvSpPr>
          <p:cNvPr id="67" name="TextBox 66"/>
          <p:cNvSpPr txBox="1"/>
          <p:nvPr/>
        </p:nvSpPr>
        <p:spPr>
          <a:xfrm>
            <a:off x="4071934" y="3000372"/>
            <a:ext cx="267945" cy="348813"/>
          </a:xfrm>
          <a:prstGeom prst="rect">
            <a:avLst/>
          </a:prstGeom>
          <a:noFill/>
        </p:spPr>
        <p:txBody>
          <a:bodyPr wrap="square" rtlCol="0">
            <a:spAutoFit/>
          </a:bodyPr>
          <a:lstStyle/>
          <a:p>
            <a:pPr>
              <a:lnSpc>
                <a:spcPts val="2000"/>
              </a:lnSpc>
              <a:spcBef>
                <a:spcPts val="0"/>
              </a:spcBef>
            </a:pPr>
            <a:r>
              <a:rPr lang="en-US" altLang="zh-CN" sz="1800" b="0" smtClean="0">
                <a:solidFill>
                  <a:schemeClr val="tx1"/>
                </a:solidFill>
                <a:latin typeface="Consolas" panose="020B0609020204030204" pitchFamily="49" charset="0"/>
                <a:cs typeface="Consolas" panose="020B0609020204030204" pitchFamily="49" charset="0"/>
              </a:rPr>
              <a:t>L</a:t>
            </a:r>
            <a:endParaRPr lang="zh-CN" altLang="en-US" sz="1800" b="0">
              <a:solidFill>
                <a:schemeClr val="tx1"/>
              </a:solidFill>
              <a:latin typeface="Consolas" panose="020B0609020204030204" pitchFamily="49" charset="0"/>
              <a:cs typeface="Consolas" panose="020B0609020204030204" pitchFamily="49" charset="0"/>
            </a:endParaRPr>
          </a:p>
        </p:txBody>
      </p:sp>
      <p:sp>
        <p:nvSpPr>
          <p:cNvPr id="68" name="TextBox 67"/>
          <p:cNvSpPr txBox="1"/>
          <p:nvPr/>
        </p:nvSpPr>
        <p:spPr>
          <a:xfrm>
            <a:off x="3714744" y="3929066"/>
            <a:ext cx="267945" cy="348813"/>
          </a:xfrm>
          <a:prstGeom prst="rect">
            <a:avLst/>
          </a:prstGeom>
          <a:noFill/>
        </p:spPr>
        <p:txBody>
          <a:bodyPr wrap="square" rtlCol="0">
            <a:spAutoFit/>
          </a:bodyPr>
          <a:lstStyle/>
          <a:p>
            <a:pPr>
              <a:lnSpc>
                <a:spcPts val="2000"/>
              </a:lnSpc>
              <a:spcBef>
                <a:spcPts val="0"/>
              </a:spcBef>
            </a:pPr>
            <a:r>
              <a:rPr lang="en-US" altLang="zh-CN" sz="1800" b="0" smtClean="0">
                <a:solidFill>
                  <a:schemeClr val="tx1"/>
                </a:solidFill>
                <a:latin typeface="Consolas" panose="020B0609020204030204" pitchFamily="49" charset="0"/>
                <a:cs typeface="Consolas" panose="020B0609020204030204" pitchFamily="49" charset="0"/>
              </a:rPr>
              <a:t>L</a:t>
            </a:r>
            <a:endParaRPr lang="zh-CN" altLang="en-US" sz="1800" b="0">
              <a:solidFill>
                <a:schemeClr val="tx1"/>
              </a:solidFill>
              <a:latin typeface="Consolas" panose="020B0609020204030204" pitchFamily="49" charset="0"/>
              <a:cs typeface="Consolas" panose="020B0609020204030204" pitchFamily="49" charset="0"/>
            </a:endParaRPr>
          </a:p>
        </p:txBody>
      </p:sp>
      <p:sp>
        <p:nvSpPr>
          <p:cNvPr id="70" name="右箭头 69"/>
          <p:cNvSpPr/>
          <p:nvPr/>
        </p:nvSpPr>
        <p:spPr>
          <a:xfrm>
            <a:off x="5429256" y="2928934"/>
            <a:ext cx="401918" cy="197008"/>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spcBef>
                <a:spcPts val="0"/>
              </a:spcBef>
            </a:pPr>
            <a:endParaRPr lang="zh-CN" altLang="en-US" sz="1800" b="0"/>
          </a:p>
        </p:txBody>
      </p:sp>
      <p:grpSp>
        <p:nvGrpSpPr>
          <p:cNvPr id="5" name="组合 88"/>
          <p:cNvGrpSpPr/>
          <p:nvPr/>
        </p:nvGrpSpPr>
        <p:grpSpPr>
          <a:xfrm>
            <a:off x="6143633" y="1971026"/>
            <a:ext cx="1839583" cy="2001737"/>
            <a:chOff x="6143636" y="1968806"/>
            <a:chExt cx="1961836" cy="2177574"/>
          </a:xfrm>
        </p:grpSpPr>
        <p:sp>
          <p:nvSpPr>
            <p:cNvPr id="71" name="Oval 4"/>
            <p:cNvSpPr>
              <a:spLocks noChangeArrowheads="1"/>
            </p:cNvSpPr>
            <p:nvPr/>
          </p:nvSpPr>
          <p:spPr bwMode="auto">
            <a:xfrm>
              <a:off x="6715140" y="1968806"/>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2" name="Oval 4"/>
            <p:cNvSpPr>
              <a:spLocks noChangeArrowheads="1"/>
            </p:cNvSpPr>
            <p:nvPr/>
          </p:nvSpPr>
          <p:spPr bwMode="auto">
            <a:xfrm>
              <a:off x="6143636" y="2826063"/>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3" name="Oval 4"/>
            <p:cNvSpPr>
              <a:spLocks noChangeArrowheads="1"/>
            </p:cNvSpPr>
            <p:nvPr/>
          </p:nvSpPr>
          <p:spPr bwMode="auto">
            <a:xfrm>
              <a:off x="7267458" y="2826063"/>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4" name="直接连接符 73"/>
            <p:cNvCxnSpPr>
              <a:stCxn id="71" idx="3"/>
              <a:endCxn id="72" idx="0"/>
            </p:cNvCxnSpPr>
            <p:nvPr/>
          </p:nvCxnSpPr>
          <p:spPr>
            <a:xfrm rot="5400000">
              <a:off x="6304402" y="2353473"/>
              <a:ext cx="522986" cy="42219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71" idx="5"/>
              <a:endCxn id="73" idx="0"/>
            </p:cNvCxnSpPr>
            <p:nvPr/>
          </p:nvCxnSpPr>
          <p:spPr>
            <a:xfrm rot="16200000" flipH="1">
              <a:off x="7015624" y="2363065"/>
              <a:ext cx="522986" cy="40300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76" name="Oval 4"/>
            <p:cNvSpPr>
              <a:spLocks noChangeArrowheads="1"/>
            </p:cNvSpPr>
            <p:nvPr/>
          </p:nvSpPr>
          <p:spPr bwMode="auto">
            <a:xfrm>
              <a:off x="6861950" y="3754757"/>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77" name="直接连接符 76"/>
            <p:cNvCxnSpPr>
              <a:stCxn id="73" idx="3"/>
              <a:endCxn id="76" idx="0"/>
            </p:cNvCxnSpPr>
            <p:nvPr/>
          </p:nvCxnSpPr>
          <p:spPr>
            <a:xfrm rot="5400000">
              <a:off x="6903995" y="3329447"/>
              <a:ext cx="594423" cy="2561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78" name="Oval 4"/>
            <p:cNvSpPr>
              <a:spLocks noChangeArrowheads="1"/>
            </p:cNvSpPr>
            <p:nvPr/>
          </p:nvSpPr>
          <p:spPr bwMode="auto">
            <a:xfrm>
              <a:off x="7669143" y="3754757"/>
              <a:ext cx="422317" cy="39162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80" name="TextBox 79"/>
            <p:cNvSpPr txBox="1"/>
            <p:nvPr/>
          </p:nvSpPr>
          <p:spPr>
            <a:xfrm>
              <a:off x="7514975" y="2571745"/>
              <a:ext cx="338759" cy="37945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81" name="TextBox 80"/>
            <p:cNvSpPr txBox="1"/>
            <p:nvPr/>
          </p:nvSpPr>
          <p:spPr>
            <a:xfrm>
              <a:off x="6753120" y="3420968"/>
              <a:ext cx="285752" cy="37945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82" name="TextBox 81"/>
            <p:cNvSpPr txBox="1"/>
            <p:nvPr/>
          </p:nvSpPr>
          <p:spPr>
            <a:xfrm>
              <a:off x="7819720" y="3425068"/>
              <a:ext cx="285752" cy="37945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87" name="直接连接符 86"/>
            <p:cNvCxnSpPr>
              <a:stCxn id="73" idx="5"/>
              <a:endCxn id="78" idx="0"/>
            </p:cNvCxnSpPr>
            <p:nvPr/>
          </p:nvCxnSpPr>
          <p:spPr>
            <a:xfrm rot="16200000" flipH="1">
              <a:off x="7456902" y="3331358"/>
              <a:ext cx="594423" cy="25237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69" name="灯片编号占位符 68"/>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67" grpId="0"/>
      <p:bldP spid="68" grpId="0"/>
      <p:bldP spid="7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57356" y="428604"/>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26</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5" name="Oval 4"/>
          <p:cNvSpPr>
            <a:spLocks noChangeArrowheads="1"/>
          </p:cNvSpPr>
          <p:nvPr/>
        </p:nvSpPr>
        <p:spPr bwMode="auto">
          <a:xfrm>
            <a:off x="1785918" y="1643049"/>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Oval 4"/>
          <p:cNvSpPr>
            <a:spLocks noChangeArrowheads="1"/>
          </p:cNvSpPr>
          <p:nvPr/>
        </p:nvSpPr>
        <p:spPr bwMode="auto">
          <a:xfrm>
            <a:off x="1214414" y="2500305"/>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Oval 4"/>
          <p:cNvSpPr>
            <a:spLocks noChangeArrowheads="1"/>
          </p:cNvSpPr>
          <p:nvPr/>
        </p:nvSpPr>
        <p:spPr bwMode="auto">
          <a:xfrm>
            <a:off x="2338236" y="2500305"/>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8" name="直接连接符 7"/>
          <p:cNvCxnSpPr>
            <a:stCxn id="5" idx="3"/>
            <a:endCxn id="6" idx="0"/>
          </p:cNvCxnSpPr>
          <p:nvPr/>
        </p:nvCxnSpPr>
        <p:spPr>
          <a:xfrm rot="5400000">
            <a:off x="1353175" y="2009568"/>
            <a:ext cx="549977" cy="4314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5" idx="5"/>
            <a:endCxn id="7" idx="0"/>
          </p:cNvCxnSpPr>
          <p:nvPr/>
        </p:nvCxnSpPr>
        <p:spPr>
          <a:xfrm rot="16200000" flipH="1">
            <a:off x="2055092" y="2019160"/>
            <a:ext cx="549977" cy="412311"/>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0" name="Oval 4"/>
          <p:cNvSpPr>
            <a:spLocks noChangeArrowheads="1"/>
          </p:cNvSpPr>
          <p:nvPr/>
        </p:nvSpPr>
        <p:spPr bwMode="auto">
          <a:xfrm>
            <a:off x="1932728" y="3428999"/>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1" name="直接连接符 10"/>
          <p:cNvCxnSpPr>
            <a:stCxn id="7" idx="3"/>
            <a:endCxn id="10" idx="0"/>
          </p:cNvCxnSpPr>
          <p:nvPr/>
        </p:nvCxnSpPr>
        <p:spPr>
          <a:xfrm rot="5400000">
            <a:off x="1952772" y="2985541"/>
            <a:ext cx="621415" cy="26550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12" name="Oval 4"/>
          <p:cNvSpPr>
            <a:spLocks noChangeArrowheads="1"/>
          </p:cNvSpPr>
          <p:nvPr/>
        </p:nvSpPr>
        <p:spPr bwMode="auto">
          <a:xfrm>
            <a:off x="2726858" y="3435940"/>
            <a:ext cx="416382" cy="35667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3" name="TextBox 12"/>
          <p:cNvSpPr txBox="1"/>
          <p:nvPr/>
        </p:nvSpPr>
        <p:spPr>
          <a:xfrm>
            <a:off x="2571736" y="2353872"/>
            <a:ext cx="500066"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15" name="TextBox 14"/>
          <p:cNvSpPr txBox="1"/>
          <p:nvPr/>
        </p:nvSpPr>
        <p:spPr>
          <a:xfrm>
            <a:off x="3071802" y="3202544"/>
            <a:ext cx="236075"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16" name="直接连接符 15"/>
          <p:cNvCxnSpPr>
            <a:stCxn id="7" idx="5"/>
            <a:endCxn id="12" idx="0"/>
          </p:cNvCxnSpPr>
          <p:nvPr/>
        </p:nvCxnSpPr>
        <p:spPr>
          <a:xfrm rot="16200000" flipH="1">
            <a:off x="2491468" y="2992359"/>
            <a:ext cx="628356" cy="258806"/>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324216" y="3975130"/>
            <a:ext cx="236075"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grpSp>
        <p:nvGrpSpPr>
          <p:cNvPr id="3" name="组合 21"/>
          <p:cNvGrpSpPr/>
          <p:nvPr/>
        </p:nvGrpSpPr>
        <p:grpSpPr>
          <a:xfrm>
            <a:off x="3050710" y="3740384"/>
            <a:ext cx="396000" cy="811133"/>
            <a:chOff x="3012610" y="3797037"/>
            <a:chExt cx="479329" cy="1146158"/>
          </a:xfrm>
        </p:grpSpPr>
        <p:sp>
          <p:nvSpPr>
            <p:cNvPr id="18" name="Oval 4"/>
            <p:cNvSpPr>
              <a:spLocks noChangeArrowheads="1"/>
            </p:cNvSpPr>
            <p:nvPr/>
          </p:nvSpPr>
          <p:spPr bwMode="auto">
            <a:xfrm>
              <a:off x="3012610" y="4434503"/>
              <a:ext cx="479329" cy="508692"/>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0" name="直接连接符 19"/>
            <p:cNvCxnSpPr>
              <a:stCxn id="12" idx="5"/>
              <a:endCxn id="18" idx="0"/>
            </p:cNvCxnSpPr>
            <p:nvPr/>
          </p:nvCxnSpPr>
          <p:spPr>
            <a:xfrm rot="16200000" flipH="1">
              <a:off x="2832806" y="4015033"/>
              <a:ext cx="637466" cy="20147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2000232" y="1428736"/>
            <a:ext cx="500066"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-2</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3" name="TextBox 22"/>
          <p:cNvSpPr txBox="1"/>
          <p:nvPr/>
        </p:nvSpPr>
        <p:spPr>
          <a:xfrm>
            <a:off x="2357422" y="2032489"/>
            <a:ext cx="236075"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R</a:t>
            </a:r>
            <a:endParaRPr lang="zh-CN" altLang="en-US" sz="1800" b="0">
              <a:solidFill>
                <a:srgbClr val="FF0000"/>
              </a:solidFill>
              <a:latin typeface="Consolas" panose="020B0609020204030204" pitchFamily="49" charset="0"/>
              <a:cs typeface="Consolas" panose="020B0609020204030204" pitchFamily="49" charset="0"/>
            </a:endParaRPr>
          </a:p>
        </p:txBody>
      </p:sp>
      <p:sp>
        <p:nvSpPr>
          <p:cNvPr id="24" name="TextBox 23"/>
          <p:cNvSpPr txBox="1"/>
          <p:nvPr/>
        </p:nvSpPr>
        <p:spPr>
          <a:xfrm>
            <a:off x="2857488" y="2988230"/>
            <a:ext cx="236075"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R</a:t>
            </a:r>
            <a:endParaRPr lang="zh-CN" altLang="en-US" sz="1800" b="0">
              <a:solidFill>
                <a:srgbClr val="FF0000"/>
              </a:solidFill>
              <a:latin typeface="Consolas" panose="020B0609020204030204" pitchFamily="49" charset="0"/>
              <a:cs typeface="Consolas" panose="020B0609020204030204" pitchFamily="49" charset="0"/>
            </a:endParaRPr>
          </a:p>
        </p:txBody>
      </p:sp>
      <p:grpSp>
        <p:nvGrpSpPr>
          <p:cNvPr id="4" name="组合 61"/>
          <p:cNvGrpSpPr/>
          <p:nvPr/>
        </p:nvGrpSpPr>
        <p:grpSpPr>
          <a:xfrm>
            <a:off x="3929058" y="1724715"/>
            <a:ext cx="3196543" cy="2204351"/>
            <a:chOff x="3929058" y="1263085"/>
            <a:chExt cx="3869181" cy="3114824"/>
          </a:xfrm>
        </p:grpSpPr>
        <p:sp>
          <p:nvSpPr>
            <p:cNvPr id="25" name="右箭头 24"/>
            <p:cNvSpPr/>
            <p:nvPr/>
          </p:nvSpPr>
          <p:spPr>
            <a:xfrm>
              <a:off x="3929058" y="2714620"/>
              <a:ext cx="500066"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spcBef>
                  <a:spcPts val="0"/>
                </a:spcBef>
              </a:pPr>
              <a:endParaRPr lang="zh-CN" altLang="en-US" sz="1800" b="0"/>
            </a:p>
          </p:txBody>
        </p:sp>
        <p:sp>
          <p:nvSpPr>
            <p:cNvPr id="26" name="Oval 4"/>
            <p:cNvSpPr>
              <a:spLocks noChangeArrowheads="1"/>
            </p:cNvSpPr>
            <p:nvPr/>
          </p:nvSpPr>
          <p:spPr bwMode="auto">
            <a:xfrm>
              <a:off x="5572132" y="2709899"/>
              <a:ext cx="479329" cy="50869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7" name="Oval 4"/>
            <p:cNvSpPr>
              <a:spLocks noChangeArrowheads="1"/>
            </p:cNvSpPr>
            <p:nvPr/>
          </p:nvSpPr>
          <p:spPr bwMode="auto">
            <a:xfrm>
              <a:off x="5155033" y="3869216"/>
              <a:ext cx="479329" cy="50869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8" name="Oval 4"/>
            <p:cNvSpPr>
              <a:spLocks noChangeArrowheads="1"/>
            </p:cNvSpPr>
            <p:nvPr/>
          </p:nvSpPr>
          <p:spPr bwMode="auto">
            <a:xfrm>
              <a:off x="6095257" y="1477397"/>
              <a:ext cx="479329" cy="508692"/>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1" name="Oval 4"/>
            <p:cNvSpPr>
              <a:spLocks noChangeArrowheads="1"/>
            </p:cNvSpPr>
            <p:nvPr/>
          </p:nvSpPr>
          <p:spPr bwMode="auto">
            <a:xfrm>
              <a:off x="5940851" y="3869216"/>
              <a:ext cx="479329" cy="50869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3" name="Oval 4"/>
            <p:cNvSpPr>
              <a:spLocks noChangeArrowheads="1"/>
            </p:cNvSpPr>
            <p:nvPr/>
          </p:nvSpPr>
          <p:spPr bwMode="auto">
            <a:xfrm>
              <a:off x="6669011" y="2709900"/>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4" name="TextBox 33"/>
            <p:cNvSpPr txBox="1"/>
            <p:nvPr/>
          </p:nvSpPr>
          <p:spPr>
            <a:xfrm>
              <a:off x="6429388" y="1263085"/>
              <a:ext cx="353195"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35" name="TextBox 34"/>
            <p:cNvSpPr txBox="1"/>
            <p:nvPr/>
          </p:nvSpPr>
          <p:spPr>
            <a:xfrm>
              <a:off x="5583662" y="3869218"/>
              <a:ext cx="285751"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37" name="TextBox 36"/>
            <p:cNvSpPr txBox="1"/>
            <p:nvPr/>
          </p:nvSpPr>
          <p:spPr>
            <a:xfrm>
              <a:off x="6369479" y="3718134"/>
              <a:ext cx="285751"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5977702" y="2560634"/>
              <a:ext cx="357190"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7" name="Oval 4"/>
            <p:cNvSpPr>
              <a:spLocks noChangeArrowheads="1"/>
            </p:cNvSpPr>
            <p:nvPr/>
          </p:nvSpPr>
          <p:spPr bwMode="auto">
            <a:xfrm>
              <a:off x="7072985" y="3869216"/>
              <a:ext cx="479329" cy="50869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8" name="TextBox 47"/>
            <p:cNvSpPr txBox="1"/>
            <p:nvPr/>
          </p:nvSpPr>
          <p:spPr>
            <a:xfrm>
              <a:off x="7512488" y="3730274"/>
              <a:ext cx="285751"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50" name="直接连接符 49"/>
            <p:cNvCxnSpPr>
              <a:stCxn id="28" idx="3"/>
              <a:endCxn id="26" idx="0"/>
            </p:cNvCxnSpPr>
            <p:nvPr/>
          </p:nvCxnSpPr>
          <p:spPr>
            <a:xfrm rot="5400000">
              <a:off x="5589473" y="2133918"/>
              <a:ext cx="798307" cy="353656"/>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26" idx="3"/>
              <a:endCxn id="27" idx="0"/>
            </p:cNvCxnSpPr>
            <p:nvPr/>
          </p:nvCxnSpPr>
          <p:spPr>
            <a:xfrm rot="5400000">
              <a:off x="5155952" y="3382840"/>
              <a:ext cx="725122" cy="24763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6" idx="5"/>
              <a:endCxn id="31" idx="0"/>
            </p:cNvCxnSpPr>
            <p:nvPr/>
          </p:nvCxnSpPr>
          <p:spPr>
            <a:xfrm rot="16200000" flipH="1">
              <a:off x="5718330" y="3407030"/>
              <a:ext cx="725122" cy="19925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33" idx="5"/>
              <a:endCxn id="47" idx="0"/>
            </p:cNvCxnSpPr>
            <p:nvPr/>
          </p:nvCxnSpPr>
          <p:spPr>
            <a:xfrm rot="16200000" flipH="1">
              <a:off x="6841363" y="3397929"/>
              <a:ext cx="729125" cy="21344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8" idx="5"/>
              <a:endCxn id="33" idx="0"/>
            </p:cNvCxnSpPr>
            <p:nvPr/>
          </p:nvCxnSpPr>
          <p:spPr>
            <a:xfrm rot="16200000" flipH="1">
              <a:off x="6313546" y="2102436"/>
              <a:ext cx="798308" cy="41662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985859" y="2563602"/>
              <a:ext cx="574959" cy="492885"/>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grpSp>
      <p:sp>
        <p:nvSpPr>
          <p:cNvPr id="51" name="灯片编号占位符 5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5" grpId="0"/>
      <p:bldP spid="19" grpId="0"/>
      <p:bldP spid="21" grpId="0"/>
      <p:bldP spid="23" grpId="0"/>
      <p:bldP spid="2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3108" y="428604"/>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18</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5" name="Oval 4"/>
          <p:cNvSpPr>
            <a:spLocks noChangeArrowheads="1"/>
          </p:cNvSpPr>
          <p:nvPr/>
        </p:nvSpPr>
        <p:spPr bwMode="auto">
          <a:xfrm>
            <a:off x="1571604" y="2454178"/>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Oval 4"/>
          <p:cNvSpPr>
            <a:spLocks noChangeArrowheads="1"/>
          </p:cNvSpPr>
          <p:nvPr/>
        </p:nvSpPr>
        <p:spPr bwMode="auto">
          <a:xfrm>
            <a:off x="1142976" y="341200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Oval 4"/>
          <p:cNvSpPr>
            <a:spLocks noChangeArrowheads="1"/>
          </p:cNvSpPr>
          <p:nvPr/>
        </p:nvSpPr>
        <p:spPr bwMode="auto">
          <a:xfrm>
            <a:off x="2071670" y="1571613"/>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8" name="Oval 4"/>
          <p:cNvSpPr>
            <a:spLocks noChangeArrowheads="1"/>
          </p:cNvSpPr>
          <p:nvPr/>
        </p:nvSpPr>
        <p:spPr bwMode="auto">
          <a:xfrm>
            <a:off x="1928794" y="341200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9" name="Oval 4"/>
          <p:cNvSpPr>
            <a:spLocks noChangeArrowheads="1"/>
          </p:cNvSpPr>
          <p:nvPr/>
        </p:nvSpPr>
        <p:spPr bwMode="auto">
          <a:xfrm>
            <a:off x="2668483" y="2454178"/>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4" name="Oval 4"/>
          <p:cNvSpPr>
            <a:spLocks noChangeArrowheads="1"/>
          </p:cNvSpPr>
          <p:nvPr/>
        </p:nvSpPr>
        <p:spPr bwMode="auto">
          <a:xfrm>
            <a:off x="3060928" y="341200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5" name="TextBox 14"/>
          <p:cNvSpPr txBox="1"/>
          <p:nvPr/>
        </p:nvSpPr>
        <p:spPr>
          <a:xfrm>
            <a:off x="3500430" y="3286124"/>
            <a:ext cx="244930"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16" name="直接连接符 15"/>
          <p:cNvCxnSpPr>
            <a:stCxn id="7" idx="3"/>
            <a:endCxn id="5" idx="0"/>
          </p:cNvCxnSpPr>
          <p:nvPr/>
        </p:nvCxnSpPr>
        <p:spPr>
          <a:xfrm rot="5400000">
            <a:off x="1661991" y="1986506"/>
            <a:ext cx="575286" cy="36005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5" idx="3"/>
            <a:endCxn id="6" idx="0"/>
          </p:cNvCxnSpPr>
          <p:nvPr/>
        </p:nvCxnSpPr>
        <p:spPr>
          <a:xfrm rot="5400000">
            <a:off x="1160014" y="2942420"/>
            <a:ext cx="650547" cy="28862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5" idx="5"/>
            <a:endCxn id="8" idx="0"/>
          </p:cNvCxnSpPr>
          <p:nvPr/>
        </p:nvCxnSpPr>
        <p:spPr>
          <a:xfrm rot="16200000" flipH="1">
            <a:off x="1692929" y="2978138"/>
            <a:ext cx="650547" cy="21718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5"/>
            <a:endCxn id="14" idx="0"/>
          </p:cNvCxnSpPr>
          <p:nvPr/>
        </p:nvCxnSpPr>
        <p:spPr>
          <a:xfrm rot="16200000" flipH="1">
            <a:off x="2807436" y="2960511"/>
            <a:ext cx="650547" cy="252438"/>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5"/>
            <a:endCxn id="9" idx="0"/>
          </p:cNvCxnSpPr>
          <p:nvPr/>
        </p:nvCxnSpPr>
        <p:spPr>
          <a:xfrm rot="16200000" flipH="1">
            <a:off x="2350437" y="1938132"/>
            <a:ext cx="575286" cy="456806"/>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071802" y="2285992"/>
            <a:ext cx="551093"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-2</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2" name="Oval 4"/>
          <p:cNvSpPr>
            <a:spLocks noChangeArrowheads="1"/>
          </p:cNvSpPr>
          <p:nvPr/>
        </p:nvSpPr>
        <p:spPr bwMode="auto">
          <a:xfrm>
            <a:off x="2639240" y="4353761"/>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18</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4" name="直接连接符 23"/>
          <p:cNvCxnSpPr>
            <a:stCxn id="14" idx="3"/>
            <a:endCxn id="22" idx="0"/>
          </p:cNvCxnSpPr>
          <p:nvPr/>
        </p:nvCxnSpPr>
        <p:spPr>
          <a:xfrm rot="5400000">
            <a:off x="2660842" y="3895682"/>
            <a:ext cx="634478" cy="281681"/>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143240" y="4416990"/>
            <a:ext cx="244930"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6" name="TextBox 25"/>
          <p:cNvSpPr txBox="1"/>
          <p:nvPr/>
        </p:nvSpPr>
        <p:spPr>
          <a:xfrm>
            <a:off x="3182429" y="2928934"/>
            <a:ext cx="244930"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R</a:t>
            </a:r>
            <a:endParaRPr lang="zh-CN" altLang="en-US" sz="1800" b="0">
              <a:solidFill>
                <a:srgbClr val="FF0000"/>
              </a:solidFill>
              <a:latin typeface="Consolas" panose="020B0609020204030204" pitchFamily="49" charset="0"/>
              <a:cs typeface="Consolas" panose="020B0609020204030204" pitchFamily="49" charset="0"/>
            </a:endParaRPr>
          </a:p>
        </p:txBody>
      </p:sp>
      <p:sp>
        <p:nvSpPr>
          <p:cNvPr id="27" name="TextBox 26"/>
          <p:cNvSpPr txBox="1"/>
          <p:nvPr/>
        </p:nvSpPr>
        <p:spPr>
          <a:xfrm>
            <a:off x="2714612" y="3857628"/>
            <a:ext cx="244930"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L</a:t>
            </a:r>
            <a:endParaRPr lang="zh-CN" altLang="en-US" sz="1800" b="0">
              <a:solidFill>
                <a:srgbClr val="FF0000"/>
              </a:solidFill>
              <a:latin typeface="Consolas" panose="020B0609020204030204" pitchFamily="49" charset="0"/>
              <a:cs typeface="Consolas" panose="020B0609020204030204" pitchFamily="49" charset="0"/>
            </a:endParaRPr>
          </a:p>
        </p:txBody>
      </p:sp>
      <p:grpSp>
        <p:nvGrpSpPr>
          <p:cNvPr id="3" name="组合 48"/>
          <p:cNvGrpSpPr/>
          <p:nvPr/>
        </p:nvGrpSpPr>
        <p:grpSpPr>
          <a:xfrm>
            <a:off x="4143372" y="1643050"/>
            <a:ext cx="3000397" cy="2448580"/>
            <a:chOff x="4143372" y="1643050"/>
            <a:chExt cx="3500463" cy="2749072"/>
          </a:xfrm>
        </p:grpSpPr>
        <p:sp>
          <p:nvSpPr>
            <p:cNvPr id="28" name="Oval 4"/>
            <p:cNvSpPr>
              <a:spLocks noChangeArrowheads="1"/>
            </p:cNvSpPr>
            <p:nvPr/>
          </p:nvSpPr>
          <p:spPr bwMode="auto">
            <a:xfrm>
              <a:off x="5500694" y="2525615"/>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9" name="Oval 4"/>
            <p:cNvSpPr>
              <a:spLocks noChangeArrowheads="1"/>
            </p:cNvSpPr>
            <p:nvPr/>
          </p:nvSpPr>
          <p:spPr bwMode="auto">
            <a:xfrm>
              <a:off x="5072066" y="3496504"/>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0" name="Oval 4"/>
            <p:cNvSpPr>
              <a:spLocks noChangeArrowheads="1"/>
            </p:cNvSpPr>
            <p:nvPr/>
          </p:nvSpPr>
          <p:spPr bwMode="auto">
            <a:xfrm>
              <a:off x="6105264" y="1643050"/>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1" name="Oval 4"/>
            <p:cNvSpPr>
              <a:spLocks noChangeArrowheads="1"/>
            </p:cNvSpPr>
            <p:nvPr/>
          </p:nvSpPr>
          <p:spPr bwMode="auto">
            <a:xfrm>
              <a:off x="5857884" y="3496504"/>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2" name="Oval 4"/>
            <p:cNvSpPr>
              <a:spLocks noChangeArrowheads="1"/>
            </p:cNvSpPr>
            <p:nvPr/>
          </p:nvSpPr>
          <p:spPr bwMode="auto">
            <a:xfrm>
              <a:off x="6754329" y="2525615"/>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18</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3" name="Oval 4"/>
            <p:cNvSpPr>
              <a:spLocks noChangeArrowheads="1"/>
            </p:cNvSpPr>
            <p:nvPr/>
          </p:nvSpPr>
          <p:spPr bwMode="auto">
            <a:xfrm>
              <a:off x="7139834" y="3483441"/>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4" name="TextBox 33"/>
            <p:cNvSpPr txBox="1"/>
            <p:nvPr/>
          </p:nvSpPr>
          <p:spPr>
            <a:xfrm>
              <a:off x="7286644" y="3988361"/>
              <a:ext cx="285752" cy="391620"/>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35" name="直接连接符 34"/>
            <p:cNvCxnSpPr>
              <a:stCxn id="30" idx="3"/>
              <a:endCxn id="28" idx="0"/>
            </p:cNvCxnSpPr>
            <p:nvPr/>
          </p:nvCxnSpPr>
          <p:spPr>
            <a:xfrm rot="5400000">
              <a:off x="5683521" y="2036212"/>
              <a:ext cx="537576" cy="44122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8" idx="3"/>
              <a:endCxn id="29" idx="0"/>
            </p:cNvCxnSpPr>
            <p:nvPr/>
          </p:nvCxnSpPr>
          <p:spPr>
            <a:xfrm rot="5400000">
              <a:off x="5122760" y="3050910"/>
              <a:ext cx="625900" cy="26528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8" idx="5"/>
              <a:endCxn id="31" idx="0"/>
            </p:cNvCxnSpPr>
            <p:nvPr/>
          </p:nvCxnSpPr>
          <p:spPr>
            <a:xfrm rot="16200000" flipH="1">
              <a:off x="5679010" y="3086629"/>
              <a:ext cx="625900" cy="193849"/>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2" idx="5"/>
              <a:endCxn id="33" idx="0"/>
            </p:cNvCxnSpPr>
            <p:nvPr/>
          </p:nvCxnSpPr>
          <p:spPr>
            <a:xfrm rot="16200000" flipH="1">
              <a:off x="6953333" y="3065940"/>
              <a:ext cx="612837" cy="22216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0" idx="5"/>
              <a:endCxn id="32" idx="0"/>
            </p:cNvCxnSpPr>
            <p:nvPr/>
          </p:nvCxnSpPr>
          <p:spPr>
            <a:xfrm rot="16200000" flipH="1">
              <a:off x="6473680" y="2013965"/>
              <a:ext cx="537576" cy="48572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215208" y="2357429"/>
              <a:ext cx="428627" cy="391620"/>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1" name="Oval 4"/>
            <p:cNvSpPr>
              <a:spLocks noChangeArrowheads="1"/>
            </p:cNvSpPr>
            <p:nvPr/>
          </p:nvSpPr>
          <p:spPr bwMode="auto">
            <a:xfrm>
              <a:off x="6429388" y="3496504"/>
              <a:ext cx="462000" cy="40418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3" name="TextBox 42"/>
            <p:cNvSpPr txBox="1"/>
            <p:nvPr/>
          </p:nvSpPr>
          <p:spPr>
            <a:xfrm>
              <a:off x="6572263" y="4000502"/>
              <a:ext cx="285752" cy="391620"/>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6" name="右箭头 45"/>
            <p:cNvSpPr/>
            <p:nvPr/>
          </p:nvSpPr>
          <p:spPr>
            <a:xfrm>
              <a:off x="4143372" y="2928934"/>
              <a:ext cx="571504" cy="357190"/>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000"/>
                </a:lnSpc>
                <a:spcBef>
                  <a:spcPts val="0"/>
                </a:spcBef>
              </a:pPr>
              <a:endParaRPr lang="zh-CN" altLang="en-US" sz="1800" b="0"/>
            </a:p>
          </p:txBody>
        </p:sp>
        <p:cxnSp>
          <p:nvCxnSpPr>
            <p:cNvPr id="48" name="直接连接符 47"/>
            <p:cNvCxnSpPr>
              <a:stCxn id="32" idx="3"/>
              <a:endCxn id="41" idx="0"/>
            </p:cNvCxnSpPr>
            <p:nvPr/>
          </p:nvCxnSpPr>
          <p:spPr>
            <a:xfrm rot="5400000">
              <a:off x="6428238" y="3102753"/>
              <a:ext cx="625900" cy="161600"/>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51" name="灯片编号占位符 5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P spid="21" grpId="0"/>
      <p:bldP spid="22" grpId="0" animBg="1"/>
      <p:bldP spid="25" grpId="0"/>
      <p:bldP spid="26" grpId="0"/>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4"/>
          <p:cNvSpPr>
            <a:spLocks noChangeArrowheads="1"/>
          </p:cNvSpPr>
          <p:nvPr/>
        </p:nvSpPr>
        <p:spPr bwMode="auto">
          <a:xfrm>
            <a:off x="2214546" y="2525615"/>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Oval 4"/>
          <p:cNvSpPr>
            <a:spLocks noChangeArrowheads="1"/>
          </p:cNvSpPr>
          <p:nvPr/>
        </p:nvSpPr>
        <p:spPr bwMode="auto">
          <a:xfrm>
            <a:off x="1785918" y="3483441"/>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5" name="Oval 4"/>
          <p:cNvSpPr>
            <a:spLocks noChangeArrowheads="1"/>
          </p:cNvSpPr>
          <p:nvPr/>
        </p:nvSpPr>
        <p:spPr bwMode="auto">
          <a:xfrm>
            <a:off x="2819116" y="1681150"/>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Oval 4"/>
          <p:cNvSpPr>
            <a:spLocks noChangeArrowheads="1"/>
          </p:cNvSpPr>
          <p:nvPr/>
        </p:nvSpPr>
        <p:spPr bwMode="auto">
          <a:xfrm>
            <a:off x="2571736" y="3483441"/>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Oval 4"/>
          <p:cNvSpPr>
            <a:spLocks noChangeArrowheads="1"/>
          </p:cNvSpPr>
          <p:nvPr/>
        </p:nvSpPr>
        <p:spPr bwMode="auto">
          <a:xfrm>
            <a:off x="3468181" y="2525615"/>
            <a:ext cx="444706" cy="393373"/>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18</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8" name="Oval 4"/>
          <p:cNvSpPr>
            <a:spLocks noChangeArrowheads="1"/>
          </p:cNvSpPr>
          <p:nvPr/>
        </p:nvSpPr>
        <p:spPr bwMode="auto">
          <a:xfrm>
            <a:off x="3853686" y="3483441"/>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0" name="直接连接符 9"/>
          <p:cNvCxnSpPr>
            <a:stCxn id="5" idx="3"/>
            <a:endCxn id="3" idx="0"/>
          </p:cNvCxnSpPr>
          <p:nvPr/>
        </p:nvCxnSpPr>
        <p:spPr>
          <a:xfrm rot="5400000">
            <a:off x="2376235" y="2024741"/>
            <a:ext cx="537186" cy="46456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3" idx="3"/>
            <a:endCxn id="4" idx="0"/>
          </p:cNvCxnSpPr>
          <p:nvPr/>
        </p:nvCxnSpPr>
        <p:spPr>
          <a:xfrm rot="5400000">
            <a:off x="1802956" y="3013857"/>
            <a:ext cx="650547" cy="28862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3" idx="5"/>
            <a:endCxn id="6" idx="0"/>
          </p:cNvCxnSpPr>
          <p:nvPr/>
        </p:nvCxnSpPr>
        <p:spPr>
          <a:xfrm rot="16200000" flipH="1">
            <a:off x="2335871" y="3049575"/>
            <a:ext cx="650547" cy="21718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 idx="5"/>
            <a:endCxn id="8" idx="0"/>
          </p:cNvCxnSpPr>
          <p:nvPr/>
        </p:nvCxnSpPr>
        <p:spPr>
          <a:xfrm rot="16200000" flipH="1">
            <a:off x="3638693" y="3070447"/>
            <a:ext cx="622061" cy="20392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5" idx="5"/>
            <a:endCxn id="7" idx="0"/>
          </p:cNvCxnSpPr>
          <p:nvPr/>
        </p:nvCxnSpPr>
        <p:spPr>
          <a:xfrm rot="16200000" flipH="1">
            <a:off x="3155235" y="1990316"/>
            <a:ext cx="537186" cy="5334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16" name="Oval 4"/>
          <p:cNvSpPr>
            <a:spLocks noChangeArrowheads="1"/>
          </p:cNvSpPr>
          <p:nvPr/>
        </p:nvSpPr>
        <p:spPr bwMode="auto">
          <a:xfrm>
            <a:off x="3143240" y="3483441"/>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连接符 18"/>
          <p:cNvCxnSpPr>
            <a:stCxn id="7" idx="3"/>
            <a:endCxn id="16" idx="0"/>
          </p:cNvCxnSpPr>
          <p:nvPr/>
        </p:nvCxnSpPr>
        <p:spPr>
          <a:xfrm rot="5400000">
            <a:off x="3126244" y="3076377"/>
            <a:ext cx="622061" cy="19206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786050" y="428604"/>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14</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21" name="Oval 4"/>
          <p:cNvSpPr>
            <a:spLocks noChangeArrowheads="1"/>
          </p:cNvSpPr>
          <p:nvPr/>
        </p:nvSpPr>
        <p:spPr bwMode="auto">
          <a:xfrm>
            <a:off x="2857488" y="4405320"/>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14</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2" name="直接连接符 21"/>
          <p:cNvCxnSpPr>
            <a:stCxn id="16" idx="3"/>
            <a:endCxn id="21" idx="0"/>
          </p:cNvCxnSpPr>
          <p:nvPr/>
        </p:nvCxnSpPr>
        <p:spPr>
          <a:xfrm rot="5400000">
            <a:off x="2821061" y="4025148"/>
            <a:ext cx="614600" cy="14574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nvGrpSpPr>
          <p:cNvPr id="2" name="组合 24"/>
          <p:cNvGrpSpPr/>
          <p:nvPr/>
        </p:nvGrpSpPr>
        <p:grpSpPr>
          <a:xfrm>
            <a:off x="2819667" y="1466837"/>
            <a:ext cx="1344715" cy="3066251"/>
            <a:chOff x="2205021" y="1428737"/>
            <a:chExt cx="1524010" cy="3928557"/>
          </a:xfrm>
        </p:grpSpPr>
        <p:sp>
          <p:nvSpPr>
            <p:cNvPr id="15" name="TextBox 14"/>
            <p:cNvSpPr txBox="1"/>
            <p:nvPr/>
          </p:nvSpPr>
          <p:spPr>
            <a:xfrm>
              <a:off x="3300403" y="2695406"/>
              <a:ext cx="428628" cy="446908"/>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17" name="TextBox 16"/>
            <p:cNvSpPr txBox="1"/>
            <p:nvPr/>
          </p:nvSpPr>
          <p:spPr>
            <a:xfrm>
              <a:off x="2205021" y="4910386"/>
              <a:ext cx="285752" cy="446908"/>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3" name="TextBox 22"/>
            <p:cNvSpPr txBox="1"/>
            <p:nvPr/>
          </p:nvSpPr>
          <p:spPr>
            <a:xfrm>
              <a:off x="2490774" y="3716941"/>
              <a:ext cx="285752" cy="446908"/>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4" name="TextBox 23"/>
            <p:cNvSpPr txBox="1"/>
            <p:nvPr/>
          </p:nvSpPr>
          <p:spPr>
            <a:xfrm>
              <a:off x="2490772" y="1428737"/>
              <a:ext cx="647706" cy="446908"/>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grpSp>
      <p:sp>
        <p:nvSpPr>
          <p:cNvPr id="31" name="灯片编号占位符 3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4"/>
          <p:cNvSpPr>
            <a:spLocks noChangeArrowheads="1"/>
          </p:cNvSpPr>
          <p:nvPr/>
        </p:nvSpPr>
        <p:spPr bwMode="auto">
          <a:xfrm>
            <a:off x="1643042" y="2101748"/>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 name="Oval 4"/>
          <p:cNvSpPr>
            <a:spLocks noChangeArrowheads="1"/>
          </p:cNvSpPr>
          <p:nvPr/>
        </p:nvSpPr>
        <p:spPr bwMode="auto">
          <a:xfrm>
            <a:off x="1233464" y="298337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5" name="Oval 4"/>
          <p:cNvSpPr>
            <a:spLocks noChangeArrowheads="1"/>
          </p:cNvSpPr>
          <p:nvPr/>
        </p:nvSpPr>
        <p:spPr bwMode="auto">
          <a:xfrm>
            <a:off x="2238087" y="1228708"/>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6" name="Oval 4"/>
          <p:cNvSpPr>
            <a:spLocks noChangeArrowheads="1"/>
          </p:cNvSpPr>
          <p:nvPr/>
        </p:nvSpPr>
        <p:spPr bwMode="auto">
          <a:xfrm>
            <a:off x="2000232" y="298337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Oval 4"/>
          <p:cNvSpPr>
            <a:spLocks noChangeArrowheads="1"/>
          </p:cNvSpPr>
          <p:nvPr/>
        </p:nvSpPr>
        <p:spPr bwMode="auto">
          <a:xfrm>
            <a:off x="2896677" y="2101748"/>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18</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8" name="Oval 4"/>
          <p:cNvSpPr>
            <a:spLocks noChangeArrowheads="1"/>
          </p:cNvSpPr>
          <p:nvPr/>
        </p:nvSpPr>
        <p:spPr bwMode="auto">
          <a:xfrm>
            <a:off x="3282182" y="298337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0" name="直接连接符 9"/>
          <p:cNvCxnSpPr>
            <a:stCxn id="5" idx="3"/>
            <a:endCxn id="3" idx="0"/>
          </p:cNvCxnSpPr>
          <p:nvPr/>
        </p:nvCxnSpPr>
        <p:spPr>
          <a:xfrm rot="5400000">
            <a:off x="1785681" y="1591348"/>
            <a:ext cx="565761" cy="45503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3" idx="3"/>
            <a:endCxn id="4" idx="0"/>
          </p:cNvCxnSpPr>
          <p:nvPr/>
        </p:nvCxnSpPr>
        <p:spPr>
          <a:xfrm rot="5400000">
            <a:off x="1279077" y="2561415"/>
            <a:ext cx="574347" cy="26957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3" idx="5"/>
            <a:endCxn id="6" idx="0"/>
          </p:cNvCxnSpPr>
          <p:nvPr/>
        </p:nvCxnSpPr>
        <p:spPr>
          <a:xfrm rot="16200000" flipH="1">
            <a:off x="1802467" y="2587608"/>
            <a:ext cx="574347" cy="21718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 idx="5"/>
            <a:endCxn id="8" idx="0"/>
          </p:cNvCxnSpPr>
          <p:nvPr/>
        </p:nvCxnSpPr>
        <p:spPr>
          <a:xfrm rot="16200000" flipH="1">
            <a:off x="3070260" y="2573451"/>
            <a:ext cx="574347" cy="24549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5" idx="5"/>
            <a:endCxn id="7" idx="0"/>
          </p:cNvCxnSpPr>
          <p:nvPr/>
        </p:nvCxnSpPr>
        <p:spPr>
          <a:xfrm rot="16200000" flipH="1">
            <a:off x="2552505" y="1559575"/>
            <a:ext cx="565761" cy="51858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16" name="Oval 4"/>
          <p:cNvSpPr>
            <a:spLocks noChangeArrowheads="1"/>
          </p:cNvSpPr>
          <p:nvPr/>
        </p:nvSpPr>
        <p:spPr bwMode="auto">
          <a:xfrm>
            <a:off x="2571736" y="2983374"/>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7" name="TextBox 16"/>
          <p:cNvSpPr txBox="1"/>
          <p:nvPr/>
        </p:nvSpPr>
        <p:spPr>
          <a:xfrm>
            <a:off x="2000232" y="3670358"/>
            <a:ext cx="490498"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-1</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19" name="直接连接符 18"/>
          <p:cNvCxnSpPr>
            <a:stCxn id="7" idx="3"/>
            <a:endCxn id="16" idx="0"/>
          </p:cNvCxnSpPr>
          <p:nvPr/>
        </p:nvCxnSpPr>
        <p:spPr>
          <a:xfrm rot="5400000">
            <a:off x="2575030" y="2603733"/>
            <a:ext cx="574347" cy="18493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143108" y="396448"/>
            <a:ext cx="500066" cy="338554"/>
          </a:xfrm>
          <a:prstGeom prst="rect">
            <a:avLst/>
          </a:prstGeom>
          <a:noFill/>
        </p:spPr>
        <p:txBody>
          <a:bodyPr wrap="square" rtlCol="0">
            <a:spAutoFit/>
          </a:bodyPr>
          <a:lstStyle/>
          <a:p>
            <a:r>
              <a:rPr lang="en-US" altLang="zh-CN" sz="2000" b="0" smtClean="0">
                <a:solidFill>
                  <a:srgbClr val="0000FF"/>
                </a:solidFill>
                <a:latin typeface="Consolas" panose="020B0609020204030204" pitchFamily="49" charset="0"/>
                <a:cs typeface="Consolas" panose="020B0609020204030204" pitchFamily="49" charset="0"/>
              </a:rPr>
              <a:t>15</a:t>
            </a:r>
            <a:endParaRPr lang="zh-CN" altLang="en-US" sz="2000" b="0">
              <a:solidFill>
                <a:srgbClr val="0000FF"/>
              </a:solidFill>
              <a:latin typeface="Consolas" panose="020B0609020204030204" pitchFamily="49" charset="0"/>
              <a:cs typeface="Consolas" panose="020B0609020204030204" pitchFamily="49" charset="0"/>
            </a:endParaRPr>
          </a:p>
        </p:txBody>
      </p:sp>
      <p:sp>
        <p:nvSpPr>
          <p:cNvPr id="21" name="Oval 4"/>
          <p:cNvSpPr>
            <a:spLocks noChangeArrowheads="1"/>
          </p:cNvSpPr>
          <p:nvPr/>
        </p:nvSpPr>
        <p:spPr bwMode="auto">
          <a:xfrm>
            <a:off x="2214546" y="3930983"/>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14</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2" name="直接连接符 21"/>
          <p:cNvCxnSpPr>
            <a:stCxn id="16" idx="3"/>
            <a:endCxn id="21" idx="0"/>
          </p:cNvCxnSpPr>
          <p:nvPr/>
        </p:nvCxnSpPr>
        <p:spPr>
          <a:xfrm rot="5400000">
            <a:off x="2200973" y="3502227"/>
            <a:ext cx="640330" cy="217183"/>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928926" y="2714619"/>
            <a:ext cx="245249"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2</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25" name="Oval 4"/>
          <p:cNvSpPr>
            <a:spLocks noChangeArrowheads="1"/>
          </p:cNvSpPr>
          <p:nvPr/>
        </p:nvSpPr>
        <p:spPr bwMode="auto">
          <a:xfrm>
            <a:off x="2605074" y="4710122"/>
            <a:ext cx="396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15</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6" name="TextBox 25"/>
          <p:cNvSpPr txBox="1"/>
          <p:nvPr/>
        </p:nvSpPr>
        <p:spPr>
          <a:xfrm>
            <a:off x="2390760" y="4627627"/>
            <a:ext cx="245249" cy="348813"/>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27" name="直接连接符 26"/>
          <p:cNvCxnSpPr>
            <a:stCxn id="21" idx="5"/>
            <a:endCxn id="25" idx="0"/>
          </p:cNvCxnSpPr>
          <p:nvPr/>
        </p:nvCxnSpPr>
        <p:spPr>
          <a:xfrm rot="16200000" flipH="1">
            <a:off x="2441883" y="4348931"/>
            <a:ext cx="471860" cy="250521"/>
          </a:xfrm>
          <a:prstGeom prst="line">
            <a:avLst/>
          </a:prstGeom>
          <a:ln w="28575">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543161" y="3519488"/>
            <a:ext cx="245249"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L</a:t>
            </a:r>
            <a:endParaRPr lang="zh-CN" altLang="en-US" sz="1800" b="0">
              <a:solidFill>
                <a:srgbClr val="FF0000"/>
              </a:solidFill>
              <a:latin typeface="Consolas" panose="020B0609020204030204" pitchFamily="49" charset="0"/>
              <a:cs typeface="Consolas" panose="020B0609020204030204" pitchFamily="49" charset="0"/>
            </a:endParaRPr>
          </a:p>
        </p:txBody>
      </p:sp>
      <p:sp>
        <p:nvSpPr>
          <p:cNvPr id="30" name="TextBox 29"/>
          <p:cNvSpPr txBox="1"/>
          <p:nvPr/>
        </p:nvSpPr>
        <p:spPr>
          <a:xfrm>
            <a:off x="2686037" y="4281494"/>
            <a:ext cx="245249" cy="348813"/>
          </a:xfrm>
          <a:prstGeom prst="rect">
            <a:avLst/>
          </a:prstGeom>
          <a:noFill/>
        </p:spPr>
        <p:txBody>
          <a:bodyPr wrap="square" rtlCol="0">
            <a:spAutoFit/>
          </a:bodyPr>
          <a:lstStyle/>
          <a:p>
            <a:pPr>
              <a:lnSpc>
                <a:spcPts val="2000"/>
              </a:lnSpc>
              <a:spcBef>
                <a:spcPts val="0"/>
              </a:spcBef>
            </a:pPr>
            <a:r>
              <a:rPr lang="en-US" altLang="zh-CN" sz="1800" b="0" smtClean="0">
                <a:solidFill>
                  <a:srgbClr val="FF0000"/>
                </a:solidFill>
                <a:latin typeface="Consolas" panose="020B0609020204030204" pitchFamily="49" charset="0"/>
                <a:cs typeface="Consolas" panose="020B0609020204030204" pitchFamily="49" charset="0"/>
              </a:rPr>
              <a:t>R</a:t>
            </a:r>
            <a:endParaRPr lang="zh-CN" altLang="en-US" sz="1800" b="0">
              <a:solidFill>
                <a:srgbClr val="FF0000"/>
              </a:solidFill>
              <a:latin typeface="Consolas" panose="020B0609020204030204" pitchFamily="49" charset="0"/>
              <a:cs typeface="Consolas" panose="020B0609020204030204" pitchFamily="49" charset="0"/>
            </a:endParaRPr>
          </a:p>
        </p:txBody>
      </p:sp>
      <p:grpSp>
        <p:nvGrpSpPr>
          <p:cNvPr id="2" name="组合 55"/>
          <p:cNvGrpSpPr/>
          <p:nvPr/>
        </p:nvGrpSpPr>
        <p:grpSpPr>
          <a:xfrm>
            <a:off x="4429124" y="1238235"/>
            <a:ext cx="3279827" cy="2949051"/>
            <a:chOff x="4429124" y="1242854"/>
            <a:chExt cx="3489177" cy="3092106"/>
          </a:xfrm>
        </p:grpSpPr>
        <p:sp>
          <p:nvSpPr>
            <p:cNvPr id="31" name="Oval 4"/>
            <p:cNvSpPr>
              <a:spLocks noChangeArrowheads="1"/>
            </p:cNvSpPr>
            <p:nvPr/>
          </p:nvSpPr>
          <p:spPr bwMode="auto">
            <a:xfrm>
              <a:off x="5857883" y="2115433"/>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7</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2" name="Oval 4"/>
            <p:cNvSpPr>
              <a:spLocks noChangeArrowheads="1"/>
            </p:cNvSpPr>
            <p:nvPr/>
          </p:nvSpPr>
          <p:spPr bwMode="auto">
            <a:xfrm>
              <a:off x="5429256" y="2983375"/>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3</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3" name="Oval 4"/>
            <p:cNvSpPr>
              <a:spLocks noChangeArrowheads="1"/>
            </p:cNvSpPr>
            <p:nvPr/>
          </p:nvSpPr>
          <p:spPr bwMode="auto">
            <a:xfrm>
              <a:off x="6452320" y="1242854"/>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11</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4" name="Oval 4"/>
            <p:cNvSpPr>
              <a:spLocks noChangeArrowheads="1"/>
            </p:cNvSpPr>
            <p:nvPr/>
          </p:nvSpPr>
          <p:spPr bwMode="auto">
            <a:xfrm>
              <a:off x="6215074" y="2983375"/>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9</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5" name="Oval 4"/>
            <p:cNvSpPr>
              <a:spLocks noChangeArrowheads="1"/>
            </p:cNvSpPr>
            <p:nvPr/>
          </p:nvSpPr>
          <p:spPr bwMode="auto">
            <a:xfrm>
              <a:off x="7111518" y="2115433"/>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18</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6" name="Oval 4"/>
            <p:cNvSpPr>
              <a:spLocks noChangeArrowheads="1"/>
            </p:cNvSpPr>
            <p:nvPr/>
          </p:nvSpPr>
          <p:spPr bwMode="auto">
            <a:xfrm>
              <a:off x="7497024" y="2983375"/>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26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37" name="直接连接符 36"/>
            <p:cNvCxnSpPr>
              <a:stCxn id="33" idx="3"/>
              <a:endCxn id="31" idx="0"/>
            </p:cNvCxnSpPr>
            <p:nvPr/>
          </p:nvCxnSpPr>
          <p:spPr>
            <a:xfrm rot="5400000">
              <a:off x="6032181" y="1633598"/>
              <a:ext cx="518175" cy="44549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1" idx="3"/>
              <a:endCxn id="32" idx="0"/>
            </p:cNvCxnSpPr>
            <p:nvPr/>
          </p:nvCxnSpPr>
          <p:spPr>
            <a:xfrm rot="5400000">
              <a:off x="5522967" y="2586764"/>
              <a:ext cx="513540" cy="27968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1" idx="5"/>
              <a:endCxn id="34" idx="0"/>
            </p:cNvCxnSpPr>
            <p:nvPr/>
          </p:nvCxnSpPr>
          <p:spPr>
            <a:xfrm rot="16200000" flipH="1">
              <a:off x="6064819" y="2622482"/>
              <a:ext cx="513540" cy="20824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5" idx="5"/>
              <a:endCxn id="36" idx="0"/>
            </p:cNvCxnSpPr>
            <p:nvPr/>
          </p:nvCxnSpPr>
          <p:spPr>
            <a:xfrm rot="16200000" flipH="1">
              <a:off x="7332612" y="2608325"/>
              <a:ext cx="513540" cy="23656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3" idx="5"/>
              <a:endCxn id="35" idx="0"/>
            </p:cNvCxnSpPr>
            <p:nvPr/>
          </p:nvCxnSpPr>
          <p:spPr>
            <a:xfrm rot="16200000" flipH="1">
              <a:off x="6807941" y="1601217"/>
              <a:ext cx="518175" cy="51025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2" name="Oval 4"/>
            <p:cNvSpPr>
              <a:spLocks noChangeArrowheads="1"/>
            </p:cNvSpPr>
            <p:nvPr/>
          </p:nvSpPr>
          <p:spPr bwMode="auto">
            <a:xfrm>
              <a:off x="6786578" y="2983375"/>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15</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3" name="TextBox 42"/>
            <p:cNvSpPr txBox="1"/>
            <p:nvPr/>
          </p:nvSpPr>
          <p:spPr>
            <a:xfrm>
              <a:off x="6215074" y="3910621"/>
              <a:ext cx="357190" cy="36573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44" name="直接连接符 43"/>
            <p:cNvCxnSpPr>
              <a:stCxn id="35" idx="3"/>
              <a:endCxn id="42" idx="0"/>
            </p:cNvCxnSpPr>
            <p:nvPr/>
          </p:nvCxnSpPr>
          <p:spPr>
            <a:xfrm rot="5400000">
              <a:off x="6828446" y="2638608"/>
              <a:ext cx="513540" cy="17599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5" name="Oval 4"/>
            <p:cNvSpPr>
              <a:spLocks noChangeArrowheads="1"/>
            </p:cNvSpPr>
            <p:nvPr/>
          </p:nvSpPr>
          <p:spPr bwMode="auto">
            <a:xfrm>
              <a:off x="6487763" y="3919751"/>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14</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46" name="直接连接符 45"/>
            <p:cNvCxnSpPr>
              <a:stCxn id="42" idx="3"/>
              <a:endCxn id="45" idx="0"/>
            </p:cNvCxnSpPr>
            <p:nvPr/>
          </p:nvCxnSpPr>
          <p:spPr>
            <a:xfrm rot="5400000">
              <a:off x="6482352" y="3553829"/>
              <a:ext cx="581972" cy="14987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089049" y="2801160"/>
              <a:ext cx="285752" cy="36573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sp>
          <p:nvSpPr>
            <p:cNvPr id="48" name="Oval 4"/>
            <p:cNvSpPr>
              <a:spLocks noChangeArrowheads="1"/>
            </p:cNvSpPr>
            <p:nvPr/>
          </p:nvSpPr>
          <p:spPr bwMode="auto">
            <a:xfrm>
              <a:off x="7162953" y="3919751"/>
              <a:ext cx="421277" cy="415209"/>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lnSpc>
                  <a:spcPts val="2000"/>
                </a:lnSpc>
                <a:spcBef>
                  <a:spcPts val="0"/>
                </a:spcBef>
              </a:pPr>
              <a:r>
                <a:rPr kumimoji="1" lang="en-US" altLang="zh-CN" sz="1800" b="0" smtClean="0">
                  <a:solidFill>
                    <a:srgbClr val="0000FF"/>
                  </a:solidFill>
                  <a:latin typeface="Consolas" panose="020B0609020204030204" pitchFamily="49" charset="0"/>
                  <a:ea typeface="宋体" panose="02010600030101010101" pitchFamily="2" charset="-122"/>
                  <a:cs typeface="Consolas" panose="020B0609020204030204" pitchFamily="49" charset="0"/>
                </a:rPr>
                <a:t>16</a:t>
              </a:r>
              <a:endParaRPr kumimoji="1" lang="en-US" altLang="zh-CN" sz="18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49" name="TextBox 48"/>
            <p:cNvSpPr txBox="1"/>
            <p:nvPr/>
          </p:nvSpPr>
          <p:spPr>
            <a:xfrm>
              <a:off x="7487278" y="3839183"/>
              <a:ext cx="285752" cy="365734"/>
            </a:xfrm>
            <a:prstGeom prst="rect">
              <a:avLst/>
            </a:prstGeom>
            <a:noFill/>
          </p:spPr>
          <p:txBody>
            <a:bodyPr wrap="square" rtlCol="0">
              <a:spAutoFit/>
            </a:bodyPr>
            <a:lstStyle/>
            <a:p>
              <a:pPr>
                <a:lnSpc>
                  <a:spcPts val="2000"/>
                </a:lnSpc>
                <a:spcBef>
                  <a:spcPts val="0"/>
                </a:spcBef>
              </a:pPr>
              <a:r>
                <a:rPr lang="en-US" altLang="zh-CN" sz="1800" b="0" smtClean="0">
                  <a:solidFill>
                    <a:srgbClr val="FF00FF"/>
                  </a:solidFill>
                  <a:latin typeface="Consolas" panose="020B0609020204030204" pitchFamily="49" charset="0"/>
                  <a:cs typeface="Consolas" panose="020B0609020204030204" pitchFamily="49" charset="0"/>
                </a:rPr>
                <a:t>0</a:t>
              </a:r>
              <a:endParaRPr lang="zh-CN" altLang="en-US" sz="1800" b="0">
                <a:solidFill>
                  <a:srgbClr val="FF00FF"/>
                </a:solidFill>
                <a:latin typeface="Consolas" panose="020B0609020204030204" pitchFamily="49" charset="0"/>
                <a:cs typeface="Consolas" panose="020B0609020204030204" pitchFamily="49" charset="0"/>
              </a:endParaRPr>
            </a:p>
          </p:txBody>
        </p:sp>
        <p:cxnSp>
          <p:nvCxnSpPr>
            <p:cNvPr id="54" name="直接连接符 53"/>
            <p:cNvCxnSpPr>
              <a:stCxn id="42" idx="5"/>
              <a:endCxn id="48" idx="0"/>
            </p:cNvCxnSpPr>
            <p:nvPr/>
          </p:nvCxnSpPr>
          <p:spPr>
            <a:xfrm rot="16200000" flipH="1">
              <a:off x="6968890" y="3515048"/>
              <a:ext cx="581972" cy="22743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55" name="右箭头 54"/>
            <p:cNvSpPr/>
            <p:nvPr/>
          </p:nvSpPr>
          <p:spPr>
            <a:xfrm>
              <a:off x="4429124" y="2643182"/>
              <a:ext cx="571504"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spcBef>
                  <a:spcPts val="0"/>
                </a:spcBef>
              </a:pPr>
              <a:endParaRPr lang="zh-CN" altLang="en-US" sz="1800" b="0"/>
            </a:p>
          </p:txBody>
        </p:sp>
      </p:grpSp>
      <p:sp>
        <p:nvSpPr>
          <p:cNvPr id="57" name="TextBox 56"/>
          <p:cNvSpPr txBox="1"/>
          <p:nvPr/>
        </p:nvSpPr>
        <p:spPr>
          <a:xfrm>
            <a:off x="5715008" y="5223327"/>
            <a:ext cx="2214578" cy="348813"/>
          </a:xfrm>
          <a:prstGeom prst="rect">
            <a:avLst/>
          </a:prstGeom>
          <a:noFill/>
        </p:spPr>
        <p:txBody>
          <a:bodyPr wrap="square" rtlCol="0">
            <a:spAutoFit/>
          </a:bodyPr>
          <a:lstStyle/>
          <a:p>
            <a:pPr>
              <a:lnSpc>
                <a:spcPts val="2000"/>
              </a:lnSpc>
              <a:spcBef>
                <a:spcPts val="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构造的结果</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58" name="上箭头 57"/>
          <p:cNvSpPr/>
          <p:nvPr/>
        </p:nvSpPr>
        <p:spPr>
          <a:xfrm>
            <a:off x="6643702" y="4572008"/>
            <a:ext cx="214314" cy="4286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spcBef>
                <a:spcPts val="0"/>
              </a:spcBef>
            </a:pPr>
            <a:endParaRPr lang="zh-CN" altLang="en-US" sz="1800" b="0"/>
          </a:p>
        </p:txBody>
      </p:sp>
      <p:sp>
        <p:nvSpPr>
          <p:cNvPr id="60" name="灯片编号占位符 5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P spid="25" grpId="0" animBg="1"/>
      <p:bldP spid="26" grpId="0"/>
      <p:bldP spid="29" grpId="0"/>
      <p:bldP spid="30" grpId="0"/>
      <p:bldP spid="57" grpId="0"/>
      <p:bldP spid="5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400052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AVL</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树</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删除</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结点的调整方法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pic>
        <p:nvPicPr>
          <p:cNvPr id="7" name="Picture 2"/>
          <p:cNvPicPr>
            <a:picLocks noChangeAspect="1" noChangeArrowheads="1"/>
          </p:cNvPicPr>
          <p:nvPr/>
        </p:nvPicPr>
        <p:blipFill>
          <a:blip r:embed="rId1" cstate="print"/>
          <a:srcRect/>
          <a:stretch>
            <a:fillRect/>
          </a:stretch>
        </p:blipFill>
        <p:spPr bwMode="auto">
          <a:xfrm>
            <a:off x="2285984" y="1500174"/>
            <a:ext cx="1838325" cy="1781175"/>
          </a:xfrm>
          <a:prstGeom prst="rect">
            <a:avLst/>
          </a:prstGeom>
          <a:noFill/>
          <a:ln w="9525">
            <a:noFill/>
            <a:miter lim="800000"/>
            <a:headEnd/>
            <a:tailEnd/>
          </a:ln>
        </p:spPr>
      </p:pic>
      <p:sp>
        <p:nvSpPr>
          <p:cNvPr id="9" name="TextBox 8"/>
          <p:cNvSpPr txBox="1"/>
          <p:nvPr/>
        </p:nvSpPr>
        <p:spPr>
          <a:xfrm>
            <a:off x="2928926" y="3357562"/>
            <a:ext cx="8572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rPr>
              <a:t>自学</a:t>
            </a:r>
            <a:endPar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250033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a:t>
            </a:r>
            <a:r>
              <a:rPr lang="en-US" altLang="zh-CN" sz="2200" smtClean="0">
                <a:latin typeface="Consolas" panose="020B0609020204030204" pitchFamily="49" charset="0"/>
                <a:ea typeface="微软雅黑" panose="020B0503020204020204" pitchFamily="34" charset="-122"/>
                <a:cs typeface="Consolas" panose="020B0609020204030204" pitchFamily="49" charset="0"/>
              </a:rPr>
              <a:t>AVL</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树的查找</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7929618"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构造一系列的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）是高度为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且结点数尽可能少的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总是让左子树较高）</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5"/>
          <p:cNvSpPr txBox="1">
            <a:spLocks noChangeArrowheads="1"/>
          </p:cNvSpPr>
          <p:nvPr/>
        </p:nvSpPr>
        <p:spPr bwMode="auto">
          <a:xfrm>
            <a:off x="2357422" y="5643578"/>
            <a:ext cx="4714908" cy="400110"/>
          </a:xfrm>
          <a:prstGeom prst="rect">
            <a:avLst/>
          </a:prstGeom>
          <a:noFill/>
          <a:ln w="9525">
            <a:noFill/>
            <a:miter lim="800000"/>
          </a:ln>
        </p:spPr>
        <p:txBody>
          <a:bodyPr wrap="square">
            <a:spAutoFit/>
          </a:bodyPr>
          <a:lstStyle/>
          <a:p>
            <a:pPr algn="ctr" fontAlgn="ctr">
              <a:lnSpc>
                <a:spcPct val="100000"/>
              </a:lnSpc>
              <a:spcBef>
                <a:spcPct val="500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高度固定结</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点个数</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最少的平衡二叉树 </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Oval 4"/>
          <p:cNvSpPr>
            <a:spLocks noChangeArrowheads="1"/>
          </p:cNvSpPr>
          <p:nvPr/>
        </p:nvSpPr>
        <p:spPr bwMode="auto">
          <a:xfrm>
            <a:off x="1142976" y="2789971"/>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8" name="TextBox 7"/>
          <p:cNvSpPr txBox="1"/>
          <p:nvPr/>
        </p:nvSpPr>
        <p:spPr>
          <a:xfrm>
            <a:off x="1071538" y="2357430"/>
            <a:ext cx="500066" cy="313932"/>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baseline="-25000" smtClean="0">
                <a:solidFill>
                  <a:srgbClr val="0000FF"/>
                </a:solidFill>
                <a:latin typeface="Consolas" panose="020B0609020204030204" pitchFamily="49" charset="0"/>
                <a:cs typeface="Consolas" panose="020B0609020204030204" pitchFamily="49" charset="0"/>
              </a:rPr>
              <a:t>1</a:t>
            </a:r>
            <a:endParaRPr lang="zh-CN" altLang="en-US" sz="1800" baseline="-25000">
              <a:solidFill>
                <a:srgbClr val="0000FF"/>
              </a:solidFill>
              <a:latin typeface="Consolas" panose="020B0609020204030204" pitchFamily="49" charset="0"/>
              <a:cs typeface="Consolas" panose="020B0609020204030204" pitchFamily="49" charset="0"/>
            </a:endParaRPr>
          </a:p>
        </p:txBody>
      </p:sp>
      <p:sp>
        <p:nvSpPr>
          <p:cNvPr id="10" name="TextBox 9"/>
          <p:cNvSpPr txBox="1"/>
          <p:nvPr/>
        </p:nvSpPr>
        <p:spPr>
          <a:xfrm>
            <a:off x="2571736" y="2357430"/>
            <a:ext cx="500066" cy="313932"/>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baseline="-25000" smtClean="0">
                <a:solidFill>
                  <a:srgbClr val="0000FF"/>
                </a:solidFill>
                <a:latin typeface="Consolas" panose="020B0609020204030204" pitchFamily="49" charset="0"/>
                <a:cs typeface="Consolas" panose="020B0609020204030204" pitchFamily="49" charset="0"/>
              </a:rPr>
              <a:t>2</a:t>
            </a:r>
            <a:endParaRPr lang="zh-CN" altLang="en-US" sz="1800" baseline="-25000">
              <a:solidFill>
                <a:srgbClr val="0000FF"/>
              </a:solidFill>
              <a:latin typeface="Consolas" panose="020B0609020204030204" pitchFamily="49" charset="0"/>
              <a:cs typeface="Consolas" panose="020B0609020204030204" pitchFamily="49" charset="0"/>
            </a:endParaRPr>
          </a:p>
        </p:txBody>
      </p:sp>
      <p:grpSp>
        <p:nvGrpSpPr>
          <p:cNvPr id="2" name="组合 36"/>
          <p:cNvGrpSpPr/>
          <p:nvPr/>
        </p:nvGrpSpPr>
        <p:grpSpPr>
          <a:xfrm>
            <a:off x="2285984" y="2789971"/>
            <a:ext cx="717190" cy="1174336"/>
            <a:chOff x="2285984" y="3090463"/>
            <a:chExt cx="717190" cy="1174336"/>
          </a:xfrm>
        </p:grpSpPr>
        <p:sp>
          <p:nvSpPr>
            <p:cNvPr id="9" name="Oval 4"/>
            <p:cNvSpPr>
              <a:spLocks noChangeArrowheads="1"/>
            </p:cNvSpPr>
            <p:nvPr/>
          </p:nvSpPr>
          <p:spPr bwMode="auto">
            <a:xfrm>
              <a:off x="2643174" y="3090463"/>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1" name="Oval 4"/>
            <p:cNvSpPr>
              <a:spLocks noChangeArrowheads="1"/>
            </p:cNvSpPr>
            <p:nvPr/>
          </p:nvSpPr>
          <p:spPr bwMode="auto">
            <a:xfrm>
              <a:off x="2285984" y="3904799"/>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2" name="直接连接符 11"/>
            <p:cNvCxnSpPr>
              <a:stCxn id="9" idx="3"/>
              <a:endCxn id="11" idx="0"/>
            </p:cNvCxnSpPr>
            <p:nvPr/>
          </p:nvCxnSpPr>
          <p:spPr>
            <a:xfrm rot="5400000">
              <a:off x="2327412" y="3536315"/>
              <a:ext cx="507057" cy="2299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4500562" y="2357430"/>
            <a:ext cx="500066" cy="313932"/>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baseline="-25000" smtClean="0">
                <a:solidFill>
                  <a:srgbClr val="0000FF"/>
                </a:solidFill>
                <a:latin typeface="Consolas" panose="020B0609020204030204" pitchFamily="49" charset="0"/>
                <a:cs typeface="Consolas" panose="020B0609020204030204" pitchFamily="49" charset="0"/>
              </a:rPr>
              <a:t>3</a:t>
            </a:r>
            <a:endParaRPr lang="zh-CN" altLang="en-US" sz="1800" baseline="-25000">
              <a:solidFill>
                <a:srgbClr val="0000FF"/>
              </a:solidFill>
              <a:latin typeface="Consolas" panose="020B0609020204030204" pitchFamily="49" charset="0"/>
              <a:cs typeface="Consolas" panose="020B0609020204030204" pitchFamily="49" charset="0"/>
            </a:endParaRPr>
          </a:p>
        </p:txBody>
      </p:sp>
      <p:grpSp>
        <p:nvGrpSpPr>
          <p:cNvPr id="4" name="组合 34"/>
          <p:cNvGrpSpPr/>
          <p:nvPr/>
        </p:nvGrpSpPr>
        <p:grpSpPr>
          <a:xfrm>
            <a:off x="3917908" y="2789971"/>
            <a:ext cx="1475348" cy="1892088"/>
            <a:chOff x="3917908" y="3161901"/>
            <a:chExt cx="1475348" cy="1892088"/>
          </a:xfrm>
        </p:grpSpPr>
        <p:sp>
          <p:nvSpPr>
            <p:cNvPr id="13" name="Oval 4"/>
            <p:cNvSpPr>
              <a:spLocks noChangeArrowheads="1"/>
            </p:cNvSpPr>
            <p:nvPr/>
          </p:nvSpPr>
          <p:spPr bwMode="auto">
            <a:xfrm>
              <a:off x="4572000" y="3161901"/>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5" name="Oval 4"/>
            <p:cNvSpPr>
              <a:spLocks noChangeArrowheads="1"/>
            </p:cNvSpPr>
            <p:nvPr/>
          </p:nvSpPr>
          <p:spPr bwMode="auto">
            <a:xfrm>
              <a:off x="4214810" y="3976237"/>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6" name="直接连接符 15"/>
            <p:cNvCxnSpPr>
              <a:stCxn id="13" idx="3"/>
              <a:endCxn id="15" idx="0"/>
            </p:cNvCxnSpPr>
            <p:nvPr/>
          </p:nvCxnSpPr>
          <p:spPr>
            <a:xfrm rot="5400000">
              <a:off x="4256238" y="3607753"/>
              <a:ext cx="507057" cy="2299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17" name="Oval 4"/>
            <p:cNvSpPr>
              <a:spLocks noChangeArrowheads="1"/>
            </p:cNvSpPr>
            <p:nvPr/>
          </p:nvSpPr>
          <p:spPr bwMode="auto">
            <a:xfrm>
              <a:off x="3917908" y="4693989"/>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18" name="Oval 4"/>
            <p:cNvSpPr>
              <a:spLocks noChangeArrowheads="1"/>
            </p:cNvSpPr>
            <p:nvPr/>
          </p:nvSpPr>
          <p:spPr bwMode="auto">
            <a:xfrm>
              <a:off x="5033256" y="4047675"/>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19" name="直接连接符 18"/>
            <p:cNvCxnSpPr>
              <a:stCxn id="15" idx="3"/>
              <a:endCxn id="17" idx="0"/>
            </p:cNvCxnSpPr>
            <p:nvPr/>
          </p:nvCxnSpPr>
          <p:spPr>
            <a:xfrm rot="5400000">
              <a:off x="3977484" y="4403941"/>
              <a:ext cx="410473" cy="16962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3" idx="5"/>
              <a:endCxn id="18" idx="0"/>
            </p:cNvCxnSpPr>
            <p:nvPr/>
          </p:nvCxnSpPr>
          <p:spPr>
            <a:xfrm rot="16200000" flipH="1">
              <a:off x="4757020" y="3591438"/>
              <a:ext cx="578495" cy="333977"/>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6929454" y="2357430"/>
            <a:ext cx="500066" cy="313932"/>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baseline="-25000" smtClean="0">
                <a:solidFill>
                  <a:srgbClr val="0000FF"/>
                </a:solidFill>
                <a:latin typeface="Consolas" panose="020B0609020204030204" pitchFamily="49" charset="0"/>
                <a:cs typeface="Consolas" panose="020B0609020204030204" pitchFamily="49" charset="0"/>
              </a:rPr>
              <a:t>4</a:t>
            </a:r>
            <a:endParaRPr lang="zh-CN" altLang="en-US" sz="1800" baseline="-25000">
              <a:solidFill>
                <a:srgbClr val="0000FF"/>
              </a:solidFill>
              <a:latin typeface="Consolas" panose="020B0609020204030204" pitchFamily="49" charset="0"/>
              <a:cs typeface="Consolas" panose="020B0609020204030204" pitchFamily="49" charset="0"/>
            </a:endParaRPr>
          </a:p>
        </p:txBody>
      </p:sp>
      <p:grpSp>
        <p:nvGrpSpPr>
          <p:cNvPr id="35" name="组合 35"/>
          <p:cNvGrpSpPr/>
          <p:nvPr/>
        </p:nvGrpSpPr>
        <p:grpSpPr>
          <a:xfrm>
            <a:off x="5786446" y="2789971"/>
            <a:ext cx="2392892" cy="2646016"/>
            <a:chOff x="5786446" y="3118981"/>
            <a:chExt cx="2392892" cy="2646016"/>
          </a:xfrm>
        </p:grpSpPr>
        <p:sp>
          <p:nvSpPr>
            <p:cNvPr id="21" name="Oval 4"/>
            <p:cNvSpPr>
              <a:spLocks noChangeArrowheads="1"/>
            </p:cNvSpPr>
            <p:nvPr/>
          </p:nvSpPr>
          <p:spPr bwMode="auto">
            <a:xfrm>
              <a:off x="6469580" y="3872909"/>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3" name="Oval 4"/>
            <p:cNvSpPr>
              <a:spLocks noChangeArrowheads="1"/>
            </p:cNvSpPr>
            <p:nvPr/>
          </p:nvSpPr>
          <p:spPr bwMode="auto">
            <a:xfrm>
              <a:off x="6072198" y="4687245"/>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4" name="直接连接符 23"/>
            <p:cNvCxnSpPr>
              <a:stCxn id="21" idx="3"/>
              <a:endCxn id="23" idx="0"/>
            </p:cNvCxnSpPr>
            <p:nvPr/>
          </p:nvCxnSpPr>
          <p:spPr>
            <a:xfrm rot="5400000">
              <a:off x="6133722" y="4298665"/>
              <a:ext cx="507057" cy="27010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25" name="Oval 4"/>
            <p:cNvSpPr>
              <a:spLocks noChangeArrowheads="1"/>
            </p:cNvSpPr>
            <p:nvPr/>
          </p:nvSpPr>
          <p:spPr bwMode="auto">
            <a:xfrm>
              <a:off x="5786446" y="5404997"/>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26" name="Oval 4"/>
            <p:cNvSpPr>
              <a:spLocks noChangeArrowheads="1"/>
            </p:cNvSpPr>
            <p:nvPr/>
          </p:nvSpPr>
          <p:spPr bwMode="auto">
            <a:xfrm>
              <a:off x="6890644" y="4758683"/>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27" name="直接连接符 26"/>
            <p:cNvCxnSpPr>
              <a:stCxn id="23" idx="3"/>
              <a:endCxn id="25" idx="0"/>
            </p:cNvCxnSpPr>
            <p:nvPr/>
          </p:nvCxnSpPr>
          <p:spPr>
            <a:xfrm rot="5400000">
              <a:off x="5840447" y="5120524"/>
              <a:ext cx="410473" cy="158473"/>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5"/>
              <a:endCxn id="26" idx="0"/>
            </p:cNvCxnSpPr>
            <p:nvPr/>
          </p:nvCxnSpPr>
          <p:spPr>
            <a:xfrm rot="16200000" flipH="1">
              <a:off x="6634504" y="4322542"/>
              <a:ext cx="578495" cy="293785"/>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29" name="Oval 4"/>
            <p:cNvSpPr>
              <a:spLocks noChangeArrowheads="1"/>
            </p:cNvSpPr>
            <p:nvPr/>
          </p:nvSpPr>
          <p:spPr bwMode="auto">
            <a:xfrm>
              <a:off x="7819338" y="3947719"/>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30" name="Oval 4"/>
            <p:cNvSpPr>
              <a:spLocks noChangeArrowheads="1"/>
            </p:cNvSpPr>
            <p:nvPr/>
          </p:nvSpPr>
          <p:spPr bwMode="auto">
            <a:xfrm>
              <a:off x="7462148" y="4762055"/>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31" name="直接连接符 30"/>
            <p:cNvCxnSpPr>
              <a:stCxn id="29" idx="3"/>
              <a:endCxn id="30" idx="0"/>
            </p:cNvCxnSpPr>
            <p:nvPr/>
          </p:nvCxnSpPr>
          <p:spPr>
            <a:xfrm rot="5400000">
              <a:off x="7503576" y="4393571"/>
              <a:ext cx="507057" cy="229911"/>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sp>
          <p:nvSpPr>
            <p:cNvPr id="32" name="Oval 4"/>
            <p:cNvSpPr>
              <a:spLocks noChangeArrowheads="1"/>
            </p:cNvSpPr>
            <p:nvPr/>
          </p:nvSpPr>
          <p:spPr bwMode="auto">
            <a:xfrm>
              <a:off x="7103576" y="3118981"/>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cxnSp>
          <p:nvCxnSpPr>
            <p:cNvPr id="33" name="直接连接符 32"/>
            <p:cNvCxnSpPr>
              <a:stCxn id="32" idx="3"/>
              <a:endCxn id="21" idx="7"/>
            </p:cNvCxnSpPr>
            <p:nvPr/>
          </p:nvCxnSpPr>
          <p:spPr>
            <a:xfrm rot="5400000">
              <a:off x="6716893" y="3486226"/>
              <a:ext cx="499370" cy="379438"/>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2" idx="5"/>
              <a:endCxn id="29" idx="1"/>
            </p:cNvCxnSpPr>
            <p:nvPr/>
          </p:nvCxnSpPr>
          <p:spPr>
            <a:xfrm rot="16200000" flipH="1">
              <a:off x="7354367" y="3482748"/>
              <a:ext cx="574180" cy="46120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43" name="灯片编号占位符 4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0" y="571480"/>
            <a:ext cx="8786874" cy="400110"/>
          </a:xfrm>
          <a:prstGeom prst="rect">
            <a:avLst/>
          </a:prstGeom>
          <a:noFill/>
          <a:ln w="9525">
            <a:noFill/>
            <a:miter lim="800000"/>
          </a:ln>
        </p:spPr>
        <p:txBody>
          <a:bodyPr wrap="square">
            <a:spAutoFit/>
          </a:bodyPr>
          <a:lstStyle/>
          <a:p>
            <a:pPr algn="l" fontAlgn="ctr">
              <a:lnSpc>
                <a:spcPts val="2400"/>
              </a:lnSpc>
              <a:spcBef>
                <a:spcPts val="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构造</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，先分别构造</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，使</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以</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作为其</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根结点的</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左、右子</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2285984" y="1214422"/>
            <a:ext cx="3000396" cy="2389344"/>
            <a:chOff x="3143240" y="2000240"/>
            <a:chExt cx="3000396" cy="2389344"/>
          </a:xfrm>
        </p:grpSpPr>
        <p:sp>
          <p:nvSpPr>
            <p:cNvPr id="6" name="Oval 4"/>
            <p:cNvSpPr>
              <a:spLocks noChangeArrowheads="1"/>
            </p:cNvSpPr>
            <p:nvPr/>
          </p:nvSpPr>
          <p:spPr bwMode="auto">
            <a:xfrm>
              <a:off x="4429124" y="2385948"/>
              <a:ext cx="396000" cy="432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endParaRPr kumimoji="1" lang="en-US" altLang="zh-CN" sz="2000" b="0">
                <a:solidFill>
                  <a:srgbClr val="0000FF"/>
                </a:solidFill>
                <a:latin typeface="Consolas" panose="020B0609020204030204" pitchFamily="49" charset="0"/>
                <a:ea typeface="宋体" panose="02010600030101010101" pitchFamily="2" charset="-122"/>
                <a:cs typeface="Consolas" panose="020B0609020204030204" pitchFamily="49" charset="0"/>
              </a:endParaRPr>
            </a:p>
          </p:txBody>
        </p:sp>
        <p:sp>
          <p:nvSpPr>
            <p:cNvPr id="7" name="TextBox 6"/>
            <p:cNvSpPr txBox="1"/>
            <p:nvPr/>
          </p:nvSpPr>
          <p:spPr>
            <a:xfrm>
              <a:off x="4357686" y="2000240"/>
              <a:ext cx="500066" cy="317908"/>
            </a:xfrm>
            <a:prstGeom prst="rect">
              <a:avLst/>
            </a:prstGeom>
            <a:noFill/>
          </p:spPr>
          <p:txBody>
            <a:bodyPr wrap="square" rtlCol="0">
              <a:spAutoFit/>
            </a:bodyPr>
            <a:lstStyle/>
            <a:p>
              <a:r>
                <a:rPr lang="en-US" altLang="zh-CN" sz="1800" i="1" smtClean="0">
                  <a:solidFill>
                    <a:srgbClr val="0000FF"/>
                  </a:solidFill>
                  <a:latin typeface="Consolas" panose="020B0609020204030204" pitchFamily="49" charset="0"/>
                  <a:cs typeface="Consolas" panose="020B0609020204030204" pitchFamily="49" charset="0"/>
                </a:rPr>
                <a:t>T</a:t>
              </a:r>
              <a:r>
                <a:rPr lang="en-US" altLang="zh-CN" sz="1800" i="1" baseline="-25000" smtClean="0">
                  <a:solidFill>
                    <a:srgbClr val="0000FF"/>
                  </a:solidFill>
                  <a:latin typeface="Consolas" panose="020B0609020204030204" pitchFamily="49" charset="0"/>
                  <a:cs typeface="Consolas" panose="020B0609020204030204" pitchFamily="49" charset="0"/>
                </a:rPr>
                <a:t>h</a:t>
              </a:r>
              <a:endParaRPr lang="zh-CN" altLang="en-US" sz="1800" baseline="-25000">
                <a:solidFill>
                  <a:srgbClr val="0000FF"/>
                </a:solidFill>
                <a:latin typeface="Consolas" panose="020B0609020204030204" pitchFamily="49" charset="0"/>
                <a:cs typeface="Consolas" panose="020B0609020204030204" pitchFamily="49" charset="0"/>
              </a:endParaRPr>
            </a:p>
          </p:txBody>
        </p:sp>
        <p:sp>
          <p:nvSpPr>
            <p:cNvPr id="8" name="等腰三角形 7"/>
            <p:cNvSpPr/>
            <p:nvPr/>
          </p:nvSpPr>
          <p:spPr>
            <a:xfrm>
              <a:off x="3143240" y="3318014"/>
              <a:ext cx="1214446" cy="1071570"/>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smtClean="0">
                  <a:latin typeface="Consolas" panose="020B0609020204030204" pitchFamily="49" charset="0"/>
                  <a:cs typeface="Consolas" panose="020B0609020204030204" pitchFamily="49" charset="0"/>
                </a:rPr>
                <a:t>T</a:t>
              </a:r>
              <a:r>
                <a:rPr lang="en-US" altLang="zh-CN" sz="2000" i="1" baseline="-25000" smtClean="0">
                  <a:latin typeface="Consolas" panose="020B0609020204030204" pitchFamily="49" charset="0"/>
                  <a:cs typeface="Consolas" panose="020B0609020204030204" pitchFamily="49" charset="0"/>
                </a:rPr>
                <a:t>h</a:t>
              </a:r>
              <a:r>
                <a:rPr lang="en-US" altLang="zh-CN" sz="2000" baseline="-25000" smtClean="0">
                  <a:latin typeface="Consolas" panose="020B0609020204030204" pitchFamily="49" charset="0"/>
                  <a:cs typeface="Consolas" panose="020B0609020204030204" pitchFamily="49" charset="0"/>
                </a:rPr>
                <a:t>-1</a:t>
              </a:r>
              <a:endParaRPr lang="zh-CN" altLang="en-US" sz="2000" baseline="-25000">
                <a:latin typeface="Consolas" panose="020B0609020204030204" pitchFamily="49" charset="0"/>
                <a:cs typeface="Consolas" panose="020B0609020204030204" pitchFamily="49" charset="0"/>
              </a:endParaRPr>
            </a:p>
          </p:txBody>
        </p:sp>
        <p:sp>
          <p:nvSpPr>
            <p:cNvPr id="9" name="等腰三角形 8"/>
            <p:cNvSpPr/>
            <p:nvPr/>
          </p:nvSpPr>
          <p:spPr>
            <a:xfrm>
              <a:off x="4929190" y="3318014"/>
              <a:ext cx="1214446" cy="1071570"/>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i="1" smtClean="0">
                  <a:latin typeface="Consolas" panose="020B0609020204030204" pitchFamily="49" charset="0"/>
                  <a:cs typeface="Consolas" panose="020B0609020204030204" pitchFamily="49" charset="0"/>
                </a:rPr>
                <a:t>T</a:t>
              </a:r>
              <a:r>
                <a:rPr lang="en-US" altLang="zh-CN" sz="2000" i="1" baseline="-25000" smtClean="0">
                  <a:latin typeface="Consolas" panose="020B0609020204030204" pitchFamily="49" charset="0"/>
                  <a:cs typeface="Consolas" panose="020B0609020204030204" pitchFamily="49" charset="0"/>
                </a:rPr>
                <a:t>h</a:t>
              </a:r>
              <a:r>
                <a:rPr lang="en-US" altLang="zh-CN" sz="2000" baseline="-25000" smtClean="0">
                  <a:latin typeface="Consolas" panose="020B0609020204030204" pitchFamily="49" charset="0"/>
                  <a:cs typeface="Consolas" panose="020B0609020204030204" pitchFamily="49" charset="0"/>
                </a:rPr>
                <a:t>-2</a:t>
              </a:r>
              <a:endParaRPr lang="zh-CN" altLang="en-US" sz="2000" baseline="-25000">
                <a:latin typeface="Consolas" panose="020B0609020204030204" pitchFamily="49" charset="0"/>
                <a:cs typeface="Consolas" panose="020B0609020204030204" pitchFamily="49" charset="0"/>
              </a:endParaRPr>
            </a:p>
          </p:txBody>
        </p:sp>
        <p:cxnSp>
          <p:nvCxnSpPr>
            <p:cNvPr id="10" name="直接连接符 9"/>
            <p:cNvCxnSpPr>
              <a:stCxn id="6" idx="3"/>
              <a:endCxn id="8" idx="0"/>
            </p:cNvCxnSpPr>
            <p:nvPr/>
          </p:nvCxnSpPr>
          <p:spPr>
            <a:xfrm rot="5400000">
              <a:off x="3837125" y="2668021"/>
              <a:ext cx="563331" cy="736654"/>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5"/>
              <a:endCxn id="9" idx="0"/>
            </p:cNvCxnSpPr>
            <p:nvPr/>
          </p:nvCxnSpPr>
          <p:spPr>
            <a:xfrm rot="16200000" flipH="1">
              <a:off x="4870107" y="2651707"/>
              <a:ext cx="563331" cy="769282"/>
            </a:xfrm>
            <a:prstGeom prst="line">
              <a:avLst/>
            </a:prstGeom>
            <a:ln w="28575">
              <a:solidFill>
                <a:srgbClr val="006600"/>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785786" y="4214818"/>
            <a:ext cx="471490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（高度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是正整数）为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1071538" y="4786322"/>
            <a:ext cx="3429024" cy="1179911"/>
          </a:xfrm>
          <a:prstGeom prst="rect">
            <a:avLst/>
          </a:prstGeom>
          <a:solidFill>
            <a:schemeClr val="accent6">
              <a:lumMod val="20000"/>
              <a:lumOff val="80000"/>
            </a:schemeClr>
          </a:solidFill>
        </p:spPr>
        <p:style>
          <a:lnRef idx="3">
            <a:schemeClr val="lt1"/>
          </a:lnRef>
          <a:fillRef idx="1">
            <a:schemeClr val="accent3"/>
          </a:fillRef>
          <a:effectRef idx="1">
            <a:schemeClr val="accent3"/>
          </a:effectRef>
          <a:fontRef idx="minor">
            <a:schemeClr val="lt1"/>
          </a:fontRef>
        </p:style>
        <p:txBody>
          <a:bodyPr wrap="square" lIns="180000" tIns="108000" bIns="108000" rtlCol="0">
            <a:spAutoFit/>
          </a:bodyPr>
          <a:lstStyle/>
          <a:p>
            <a:pPr algn="l">
              <a:lnSpc>
                <a:spcPts val="2500"/>
              </a:lnSpc>
              <a:spcBef>
                <a:spcPts val="0"/>
              </a:spcBef>
            </a:pPr>
            <a:r>
              <a:rPr lang="pt-BR" altLang="zh-CN" sz="2000" i="1" smtClean="0">
                <a:solidFill>
                  <a:srgbClr val="0000FF"/>
                </a:solidFill>
                <a:latin typeface="Consolas" panose="020B0609020204030204" pitchFamily="49" charset="0"/>
                <a:cs typeface="Consolas" panose="020B0609020204030204" pitchFamily="49" charset="0"/>
              </a:rPr>
              <a:t>N</a:t>
            </a:r>
            <a:r>
              <a:rPr lang="pt-BR" altLang="zh-CN" sz="2000" smtClean="0">
                <a:solidFill>
                  <a:srgbClr val="0000FF"/>
                </a:solidFill>
                <a:latin typeface="Consolas" panose="020B0609020204030204" pitchFamily="49" charset="0"/>
                <a:cs typeface="Consolas" panose="020B0609020204030204" pitchFamily="49" charset="0"/>
              </a:rPr>
              <a:t>(1)=1</a:t>
            </a:r>
            <a:endParaRPr lang="pt-BR" altLang="zh-CN" sz="2000" smtClean="0">
              <a:solidFill>
                <a:srgbClr val="0000FF"/>
              </a:solidFill>
              <a:latin typeface="Consolas" panose="020B0609020204030204" pitchFamily="49" charset="0"/>
              <a:cs typeface="Consolas" panose="020B0609020204030204" pitchFamily="49" charset="0"/>
            </a:endParaRPr>
          </a:p>
          <a:p>
            <a:pPr algn="l">
              <a:lnSpc>
                <a:spcPts val="2500"/>
              </a:lnSpc>
              <a:spcBef>
                <a:spcPts val="0"/>
              </a:spcBef>
            </a:pPr>
            <a:r>
              <a:rPr lang="pt-BR" altLang="zh-CN" sz="2000" i="1" smtClean="0">
                <a:solidFill>
                  <a:srgbClr val="0000FF"/>
                </a:solidFill>
                <a:latin typeface="Consolas" panose="020B0609020204030204" pitchFamily="49" charset="0"/>
                <a:cs typeface="Consolas" panose="020B0609020204030204" pitchFamily="49" charset="0"/>
              </a:rPr>
              <a:t>N</a:t>
            </a:r>
            <a:r>
              <a:rPr lang="pt-BR" altLang="zh-CN" sz="2000" smtClean="0">
                <a:solidFill>
                  <a:srgbClr val="0000FF"/>
                </a:solidFill>
                <a:latin typeface="Consolas" panose="020B0609020204030204" pitchFamily="49" charset="0"/>
                <a:cs typeface="Consolas" panose="020B0609020204030204" pitchFamily="49" charset="0"/>
              </a:rPr>
              <a:t>(2)=2</a:t>
            </a:r>
            <a:endParaRPr lang="pt-BR" altLang="zh-CN" sz="2000" smtClean="0">
              <a:solidFill>
                <a:srgbClr val="0000FF"/>
              </a:solidFill>
              <a:latin typeface="Consolas" panose="020B0609020204030204" pitchFamily="49" charset="0"/>
              <a:cs typeface="Consolas" panose="020B0609020204030204" pitchFamily="49" charset="0"/>
            </a:endParaRPr>
          </a:p>
          <a:p>
            <a:pPr algn="l">
              <a:lnSpc>
                <a:spcPts val="2500"/>
              </a:lnSpc>
              <a:spcBef>
                <a:spcPts val="0"/>
              </a:spcBef>
            </a:pPr>
            <a:r>
              <a:rPr lang="pt-BR" altLang="zh-CN" sz="2000" i="1" smtClean="0">
                <a:solidFill>
                  <a:srgbClr val="0000FF"/>
                </a:solidFill>
                <a:latin typeface="Consolas" panose="020B0609020204030204" pitchFamily="49" charset="0"/>
                <a:cs typeface="Consolas" panose="020B0609020204030204" pitchFamily="49" charset="0"/>
              </a:rPr>
              <a:t>N</a:t>
            </a:r>
            <a:r>
              <a:rPr lang="pt-BR" altLang="zh-CN" sz="2000" smtClean="0">
                <a:solidFill>
                  <a:srgbClr val="0000FF"/>
                </a:solidFill>
                <a:latin typeface="Consolas" panose="020B0609020204030204" pitchFamily="49" charset="0"/>
                <a:cs typeface="Consolas" panose="020B0609020204030204" pitchFamily="49" charset="0"/>
              </a:rPr>
              <a:t>(</a:t>
            </a:r>
            <a:r>
              <a:rPr lang="pt-BR" altLang="zh-CN" sz="2000" i="1" smtClean="0">
                <a:solidFill>
                  <a:srgbClr val="0000FF"/>
                </a:solidFill>
                <a:latin typeface="Consolas" panose="020B0609020204030204" pitchFamily="49" charset="0"/>
                <a:cs typeface="Consolas" panose="020B0609020204030204" pitchFamily="49" charset="0"/>
              </a:rPr>
              <a:t>h</a:t>
            </a:r>
            <a:r>
              <a:rPr lang="pt-BR" altLang="zh-CN" sz="2000" smtClean="0">
                <a:solidFill>
                  <a:srgbClr val="0000FF"/>
                </a:solidFill>
                <a:latin typeface="Consolas" panose="020B0609020204030204" pitchFamily="49" charset="0"/>
                <a:cs typeface="Consolas" panose="020B0609020204030204" pitchFamily="49" charset="0"/>
              </a:rPr>
              <a:t>)=</a:t>
            </a:r>
            <a:r>
              <a:rPr lang="pt-BR" altLang="zh-CN" sz="2000" i="1" smtClean="0">
                <a:solidFill>
                  <a:srgbClr val="0000FF"/>
                </a:solidFill>
                <a:latin typeface="Consolas" panose="020B0609020204030204" pitchFamily="49" charset="0"/>
                <a:cs typeface="Consolas" panose="020B0609020204030204" pitchFamily="49" charset="0"/>
              </a:rPr>
              <a:t>N</a:t>
            </a:r>
            <a:r>
              <a:rPr lang="pt-BR" altLang="zh-CN" sz="2000" smtClean="0">
                <a:solidFill>
                  <a:srgbClr val="0000FF"/>
                </a:solidFill>
                <a:latin typeface="Consolas" panose="020B0609020204030204" pitchFamily="49" charset="0"/>
                <a:cs typeface="Consolas" panose="020B0609020204030204" pitchFamily="49" charset="0"/>
              </a:rPr>
              <a:t>(</a:t>
            </a:r>
            <a:r>
              <a:rPr lang="pt-BR" altLang="zh-CN" sz="2000" i="1" smtClean="0">
                <a:solidFill>
                  <a:srgbClr val="0000FF"/>
                </a:solidFill>
                <a:latin typeface="Consolas" panose="020B0609020204030204" pitchFamily="49" charset="0"/>
                <a:cs typeface="Consolas" panose="020B0609020204030204" pitchFamily="49" charset="0"/>
              </a:rPr>
              <a:t>h</a:t>
            </a:r>
            <a:r>
              <a:rPr lang="pt-BR" altLang="zh-CN" sz="2000" smtClean="0">
                <a:solidFill>
                  <a:srgbClr val="0000FF"/>
                </a:solidFill>
                <a:latin typeface="Consolas" panose="020B0609020204030204" pitchFamily="49" charset="0"/>
                <a:cs typeface="Consolas" panose="020B0609020204030204" pitchFamily="49" charset="0"/>
              </a:rPr>
              <a:t>-1)+</a:t>
            </a:r>
            <a:r>
              <a:rPr lang="pt-BR" altLang="zh-CN" sz="2000" i="1" smtClean="0">
                <a:solidFill>
                  <a:srgbClr val="0000FF"/>
                </a:solidFill>
                <a:latin typeface="Consolas" panose="020B0609020204030204" pitchFamily="49" charset="0"/>
                <a:cs typeface="Consolas" panose="020B0609020204030204" pitchFamily="49" charset="0"/>
              </a:rPr>
              <a:t>N</a:t>
            </a:r>
            <a:r>
              <a:rPr lang="pt-BR" altLang="zh-CN" sz="2000" smtClean="0">
                <a:solidFill>
                  <a:srgbClr val="0000FF"/>
                </a:solidFill>
                <a:latin typeface="Consolas" panose="020B0609020204030204" pitchFamily="49" charset="0"/>
                <a:cs typeface="Consolas" panose="020B0609020204030204" pitchFamily="49" charset="0"/>
              </a:rPr>
              <a:t>(</a:t>
            </a:r>
            <a:r>
              <a:rPr lang="pt-BR" altLang="zh-CN" sz="2000" i="1" smtClean="0">
                <a:solidFill>
                  <a:srgbClr val="0000FF"/>
                </a:solidFill>
                <a:latin typeface="Consolas" panose="020B0609020204030204" pitchFamily="49" charset="0"/>
                <a:cs typeface="Consolas" panose="020B0609020204030204" pitchFamily="49" charset="0"/>
              </a:rPr>
              <a:t>h</a:t>
            </a:r>
            <a:r>
              <a:rPr lang="pt-BR" altLang="zh-CN" sz="2000" smtClean="0">
                <a:solidFill>
                  <a:srgbClr val="0000FF"/>
                </a:solidFill>
                <a:latin typeface="Consolas" panose="020B0609020204030204" pitchFamily="49" charset="0"/>
                <a:cs typeface="Consolas" panose="020B0609020204030204" pitchFamily="49" charset="0"/>
              </a:rPr>
              <a:t>-2)+1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500042"/>
            <a:ext cx="7715304" cy="2708434"/>
          </a:xfrm>
          <a:prstGeom prst="rect">
            <a:avLst/>
          </a:prstGeom>
          <a:noFill/>
        </p:spPr>
        <p:txBody>
          <a:bodyPr wrap="square" rtlCol="0">
            <a:spAutoFit/>
          </a:bodyPr>
          <a:lstStyle/>
          <a:p>
            <a:pPr algn="l">
              <a:lnSpc>
                <a:spcPct val="1000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Fibonacci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数的关系：</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endPar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(2)=1</a:t>
            </a:r>
            <a:endPar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通过检查两个序列的前几项就可发现两者之间的对应关系：</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+2)-1</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1265" name="Picture 1"/>
          <p:cNvPicPr>
            <a:picLocks noChangeAspect="1" noChangeArrowheads="1"/>
          </p:cNvPicPr>
          <p:nvPr/>
        </p:nvPicPr>
        <p:blipFill>
          <a:blip r:embed="rId1" cstate="print"/>
          <a:srcRect/>
          <a:stretch>
            <a:fillRect/>
          </a:stretch>
        </p:blipFill>
        <p:spPr bwMode="auto">
          <a:xfrm>
            <a:off x="1285852" y="3452816"/>
            <a:ext cx="3409950" cy="476250"/>
          </a:xfrm>
          <a:prstGeom prst="rect">
            <a:avLst/>
          </a:prstGeom>
          <a:noFill/>
          <a:ln w="9525">
            <a:noFill/>
            <a:miter lim="800000"/>
            <a:headEnd/>
            <a:tailEnd/>
          </a:ln>
        </p:spPr>
      </p:pic>
      <p:pic>
        <p:nvPicPr>
          <p:cNvPr id="11266" name="Picture 2"/>
          <p:cNvPicPr>
            <a:picLocks noChangeAspect="1" noChangeArrowheads="1"/>
          </p:cNvPicPr>
          <p:nvPr/>
        </p:nvPicPr>
        <p:blipFill>
          <a:blip r:embed="rId2" cstate="print"/>
          <a:srcRect/>
          <a:stretch>
            <a:fillRect/>
          </a:stretch>
        </p:blipFill>
        <p:spPr bwMode="auto">
          <a:xfrm>
            <a:off x="1785918" y="4595824"/>
            <a:ext cx="2143125" cy="476250"/>
          </a:xfrm>
          <a:prstGeom prst="rect">
            <a:avLst/>
          </a:prstGeom>
          <a:noFill/>
          <a:ln w="9525">
            <a:noFill/>
            <a:miter lim="800000"/>
            <a:headEnd/>
            <a:tailEnd/>
          </a:ln>
        </p:spPr>
      </p:pic>
      <p:sp>
        <p:nvSpPr>
          <p:cNvPr id="6" name="下箭头 5"/>
          <p:cNvSpPr/>
          <p:nvPr/>
        </p:nvSpPr>
        <p:spPr bwMode="auto">
          <a:xfrm>
            <a:off x="2714612" y="4024320"/>
            <a:ext cx="214314" cy="357190"/>
          </a:xfrm>
          <a:prstGeom prst="downArrow">
            <a:avLst/>
          </a:prstGeom>
          <a:ln>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lstStyle/>
          <a:p>
            <a:pPr algn="ctr"/>
            <a:endParaRPr lang="zh-CN" altLang="en-US" sz="1600">
              <a:solidFill>
                <a:srgbClr val="0000FF"/>
              </a:solidFill>
              <a:latin typeface="Consolas" panose="020B0609020204030204" pitchFamily="49" charset="0"/>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642918"/>
            <a:ext cx="500066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如果树中有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个结点，那么树的最大高度为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41" name="Picture 1"/>
          <p:cNvPicPr>
            <a:picLocks noChangeAspect="1" noChangeArrowheads="1"/>
          </p:cNvPicPr>
          <p:nvPr/>
        </p:nvPicPr>
        <p:blipFill>
          <a:blip r:embed="rId1" cstate="print"/>
          <a:srcRect/>
          <a:stretch>
            <a:fillRect/>
          </a:stretch>
        </p:blipFill>
        <p:spPr bwMode="auto">
          <a:xfrm>
            <a:off x="1214414" y="1071546"/>
            <a:ext cx="5610225" cy="590550"/>
          </a:xfrm>
          <a:prstGeom prst="rect">
            <a:avLst/>
          </a:prstGeom>
          <a:noFill/>
          <a:ln w="9525">
            <a:noFill/>
            <a:miter lim="800000"/>
            <a:headEnd/>
            <a:tailEnd/>
          </a:ln>
        </p:spPr>
      </p:pic>
      <p:sp>
        <p:nvSpPr>
          <p:cNvPr id="5" name="TextBox 4"/>
          <p:cNvSpPr txBox="1"/>
          <p:nvPr/>
        </p:nvSpPr>
        <p:spPr>
          <a:xfrm>
            <a:off x="1643042" y="2071678"/>
            <a:ext cx="685804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含有</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个结点的</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AVL</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树对应的查找时间复杂度为</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2</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endPar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6" name="Oval 11"/>
          <p:cNvSpPr>
            <a:spLocks noChangeArrowheads="1"/>
          </p:cNvSpPr>
          <p:nvPr/>
        </p:nvSpPr>
        <p:spPr bwMode="auto">
          <a:xfrm>
            <a:off x="714348" y="1928802"/>
            <a:ext cx="857256"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latinLnBrk="1"/>
            <a:r>
              <a:rPr kumimoji="1" lang="zh-CN" altLang="en-US" sz="18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结论</a:t>
            </a:r>
            <a:endParaRPr kumimoji="1" lang="en-US" altLang="ko-KR" sz="18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428596" y="2071678"/>
            <a:ext cx="8464578" cy="1043747"/>
          </a:xfrm>
          <a:prstGeom prst="rect">
            <a:avLst/>
          </a:prstGeom>
          <a:noFill/>
          <a:ln w="9525">
            <a:noFill/>
            <a:miter lim="800000"/>
          </a:ln>
        </p:spPr>
        <p:txBody>
          <a:bodyPr wrap="square">
            <a:spAutoFit/>
          </a:bodyPr>
          <a:lstStyle/>
          <a:p>
            <a:pPr algn="l">
              <a:lnSpc>
                <a:spcPct val="15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又称为</a:t>
            </a:r>
            <a:r>
              <a:rPr lang="zh-CN" altLang="en-US" sz="2200" b="1" dirty="0">
                <a:solidFill>
                  <a:srgbClr val="FF00FF"/>
                </a:solidFill>
                <a:latin typeface="Consolas" panose="020B0609020204030204" pitchFamily="49" charset="0"/>
                <a:ea typeface="楷体" panose="02010609060101010101" pitchFamily="49" charset="-122"/>
                <a:cs typeface="Consolas" panose="020B0609020204030204" pitchFamily="49" charset="0"/>
              </a:rPr>
              <a:t>多路平衡</a:t>
            </a:r>
            <a:r>
              <a:rPr lang="zh-CN" altLang="en-US" sz="2200" b="1">
                <a:solidFill>
                  <a:srgbClr val="FF00FF"/>
                </a:solidFill>
                <a:latin typeface="Consolas" panose="020B0609020204030204" pitchFamily="49" charset="0"/>
                <a:ea typeface="楷体" panose="02010609060101010101" pitchFamily="49" charset="-122"/>
                <a:cs typeface="Consolas" panose="020B0609020204030204" pitchFamily="49" charset="0"/>
              </a:rPr>
              <a:t>查找</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一种组织和维护</a:t>
            </a:r>
            <a:r>
              <a:rPr lang="zh-CN" altLang="en-US" sz="2200" b="1" dirty="0">
                <a:solidFill>
                  <a:srgbClr val="CC00CC"/>
                </a:solidFill>
                <a:latin typeface="Consolas" panose="020B0609020204030204" pitchFamily="49" charset="0"/>
                <a:ea typeface="楷体" panose="02010609060101010101" pitchFamily="49" charset="-122"/>
                <a:cs typeface="Consolas" panose="020B0609020204030204" pitchFamily="49" charset="0"/>
              </a:rPr>
              <a:t>外存文件</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系统非常有效的数据结构。       </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57347" name="Text Box 2" descr="花束"/>
          <p:cNvSpPr txBox="1">
            <a:spLocks noChangeArrowheads="1"/>
          </p:cNvSpPr>
          <p:nvPr/>
        </p:nvSpPr>
        <p:spPr bwMode="auto">
          <a:xfrm>
            <a:off x="714348" y="1071546"/>
            <a:ext cx="2500330" cy="584775"/>
          </a:xfrm>
          <a:prstGeom prst="rect">
            <a:avLst/>
          </a:prstGeom>
          <a:blipFill dpi="0" rotWithShape="1">
            <a:blip r:embed="rId1" cstate="print"/>
            <a:srcRect/>
            <a:tile tx="0" ty="0" sx="100000" sy="100000" flip="none" algn="tl"/>
          </a:blipFill>
          <a:ln w="28575" algn="ctr">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spcBef>
                <a:spcPct val="50000"/>
              </a:spcBef>
            </a:pPr>
            <a:r>
              <a:rPr lang="en-US" altLang="zh-CN" sz="3200" b="1">
                <a:ea typeface="隶书" panose="02010509060101010101" pitchFamily="49" charset="-122"/>
              </a:rPr>
              <a:t>9.3.3  </a:t>
            </a:r>
            <a:r>
              <a:rPr lang="en-US" altLang="zh-CN" sz="3200" b="1" smtClean="0">
                <a:ea typeface="隶书" panose="02010509060101010101" pitchFamily="49" charset="-122"/>
              </a:rPr>
              <a:t>B</a:t>
            </a:r>
            <a:r>
              <a:rPr lang="zh-CN" altLang="en-US" sz="3200" b="1" smtClean="0">
                <a:ea typeface="隶书" panose="02010509060101010101" pitchFamily="49" charset="-122"/>
              </a:rPr>
              <a:t>树</a:t>
            </a:r>
            <a:endParaRPr kumimoji="0" lang="zh-CN" altLang="en-US" sz="3200" b="1" dirty="0">
              <a:solidFill>
                <a:srgbClr val="3333FF"/>
              </a:solidFill>
              <a:ea typeface="隶书" panose="02010509060101010101" pitchFamily="49" charset="-122"/>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5"/>
          <p:cNvSpPr txBox="1">
            <a:spLocks noChangeArrowheads="1"/>
          </p:cNvSpPr>
          <p:nvPr/>
        </p:nvSpPr>
        <p:spPr bwMode="auto">
          <a:xfrm>
            <a:off x="539750" y="285728"/>
            <a:ext cx="2449513" cy="457200"/>
          </a:xfrm>
          <a:prstGeom prst="rect">
            <a:avLst/>
          </a:prstGeom>
          <a:solidFill>
            <a:srgbClr val="9900FF"/>
          </a:solidFill>
          <a:ln w="28575" algn="ctr">
            <a:noFill/>
            <a:miter lim="800000"/>
          </a:ln>
        </p:spPr>
        <p:txBody>
          <a:bodyPr>
            <a:spAutoFit/>
          </a:bodyPr>
          <a:lstStyle/>
          <a:p>
            <a:pPr>
              <a:spcBef>
                <a:spcPct val="50000"/>
              </a:spcBef>
            </a:pPr>
            <a:r>
              <a:rPr kumimoji="0" lang="en-US" altLang="zh-CN" sz="2400" b="1"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 B</a:t>
            </a:r>
            <a:r>
              <a:rPr kumimoji="0"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树</a:t>
            </a:r>
            <a:r>
              <a:rPr kumimoji="0"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的定义</a:t>
            </a:r>
            <a:endParaRPr kumimoji="0" lang="zh-CN" altLang="en-US" sz="24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 name="Text Box 4"/>
          <p:cNvSpPr txBox="1">
            <a:spLocks noChangeArrowheads="1"/>
          </p:cNvSpPr>
          <p:nvPr/>
        </p:nvSpPr>
        <p:spPr bwMode="auto">
          <a:xfrm>
            <a:off x="428596" y="1071546"/>
            <a:ext cx="2428892" cy="430887"/>
          </a:xfrm>
          <a:prstGeom prst="rect">
            <a:avLst/>
          </a:prstGeom>
          <a:noFill/>
          <a:ln w="9525">
            <a:noFill/>
            <a:miter lim="800000"/>
          </a:ln>
        </p:spPr>
        <p:txBody>
          <a:bodyPr wrap="square">
            <a:spAutoFit/>
          </a:bodyPr>
          <a:lstStyle/>
          <a:p>
            <a:pPr>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643306" y="1457254"/>
            <a:ext cx="1143008"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根结点</a:t>
            </a:r>
            <a:endParaRPr lang="zh-CN" altLang="en-US" sz="2000" b="1" dirty="0">
              <a:solidFill>
                <a:srgbClr val="9900FF"/>
              </a:solidFill>
              <a:latin typeface="楷体" panose="02010609060101010101" pitchFamily="49" charset="-122"/>
              <a:ea typeface="楷体" panose="02010609060101010101" pitchFamily="49" charset="-122"/>
            </a:endParaRPr>
          </a:p>
        </p:txBody>
      </p:sp>
      <p:grpSp>
        <p:nvGrpSpPr>
          <p:cNvPr id="81" name="组合 80"/>
          <p:cNvGrpSpPr/>
          <p:nvPr/>
        </p:nvGrpSpPr>
        <p:grpSpPr>
          <a:xfrm>
            <a:off x="1278740" y="3699516"/>
            <a:ext cx="7722416" cy="872492"/>
            <a:chOff x="1278740" y="3699516"/>
            <a:chExt cx="7722416" cy="872492"/>
          </a:xfrm>
        </p:grpSpPr>
        <p:grpSp>
          <p:nvGrpSpPr>
            <p:cNvPr id="72" name="组合 71"/>
            <p:cNvGrpSpPr/>
            <p:nvPr/>
          </p:nvGrpSpPr>
          <p:grpSpPr>
            <a:xfrm>
              <a:off x="1278740" y="3699516"/>
              <a:ext cx="5593595" cy="736602"/>
              <a:chOff x="850112" y="3413922"/>
              <a:chExt cx="5593595" cy="736602"/>
            </a:xfrm>
          </p:grpSpPr>
          <p:cxnSp>
            <p:nvCxnSpPr>
              <p:cNvPr id="14" name="直接连接符 13"/>
              <p:cNvCxnSpPr/>
              <p:nvPr/>
            </p:nvCxnSpPr>
            <p:spPr>
              <a:xfrm rot="5400000">
                <a:off x="753671"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50112"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rot="5400000">
                <a:off x="1010848"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07289"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p:nvPr/>
            </p:nvCxnSpPr>
            <p:spPr>
              <a:xfrm rot="5400000">
                <a:off x="1268024"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6446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1782378"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8819"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3" name="直接连接符 22"/>
              <p:cNvCxnSpPr/>
              <p:nvPr/>
            </p:nvCxnSpPr>
            <p:spPr>
              <a:xfrm rot="5400000">
                <a:off x="2039555"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3599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5" name="直接连接符 24"/>
              <p:cNvCxnSpPr/>
              <p:nvPr/>
            </p:nvCxnSpPr>
            <p:spPr>
              <a:xfrm rot="5400000">
                <a:off x="2296732"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393173"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2811085"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2907527"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0" name="直接连接符 29"/>
              <p:cNvCxnSpPr/>
              <p:nvPr/>
            </p:nvCxnSpPr>
            <p:spPr>
              <a:xfrm rot="5400000">
                <a:off x="306826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16470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2" name="直接连接符 31"/>
              <p:cNvCxnSpPr/>
              <p:nvPr/>
            </p:nvCxnSpPr>
            <p:spPr>
              <a:xfrm rot="5400000">
                <a:off x="3325439"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421880"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3775498"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71940"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7" name="直接连接符 36"/>
              <p:cNvCxnSpPr/>
              <p:nvPr/>
            </p:nvCxnSpPr>
            <p:spPr>
              <a:xfrm rot="5400000">
                <a:off x="403267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2911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9" name="直接连接符 38"/>
              <p:cNvCxnSpPr/>
              <p:nvPr/>
            </p:nvCxnSpPr>
            <p:spPr>
              <a:xfrm rot="5400000">
                <a:off x="428985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38629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4739911"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4836353"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4" name="直接连接符 43"/>
              <p:cNvCxnSpPr/>
              <p:nvPr/>
            </p:nvCxnSpPr>
            <p:spPr>
              <a:xfrm rot="5400000">
                <a:off x="499708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09352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6" name="直接连接符 45"/>
              <p:cNvCxnSpPr/>
              <p:nvPr/>
            </p:nvCxnSpPr>
            <p:spPr>
              <a:xfrm rot="5400000">
                <a:off x="525426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35070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5704324"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800766"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1" name="直接连接符 50"/>
              <p:cNvCxnSpPr/>
              <p:nvPr/>
            </p:nvCxnSpPr>
            <p:spPr>
              <a:xfrm rot="5400000">
                <a:off x="5961501"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057942"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3" name="直接连接符 52"/>
              <p:cNvCxnSpPr/>
              <p:nvPr/>
            </p:nvCxnSpPr>
            <p:spPr>
              <a:xfrm rot="5400000">
                <a:off x="621867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31511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69" name="TextBox 68"/>
            <p:cNvSpPr txBox="1"/>
            <p:nvPr/>
          </p:nvSpPr>
          <p:spPr>
            <a:xfrm>
              <a:off x="7281882" y="4075060"/>
              <a:ext cx="171927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外部结点层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70" name="右大括号 69"/>
            <p:cNvSpPr/>
            <p:nvPr/>
          </p:nvSpPr>
          <p:spPr>
            <a:xfrm>
              <a:off x="7143768" y="4000504"/>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80" name="组合 79"/>
          <p:cNvGrpSpPr/>
          <p:nvPr/>
        </p:nvGrpSpPr>
        <p:grpSpPr>
          <a:xfrm>
            <a:off x="436221" y="1915314"/>
            <a:ext cx="8493497" cy="2013752"/>
            <a:chOff x="436221" y="1915314"/>
            <a:chExt cx="8493497" cy="2013752"/>
          </a:xfrm>
        </p:grpSpPr>
        <p:sp>
          <p:nvSpPr>
            <p:cNvPr id="12" name="矩形 11"/>
            <p:cNvSpPr/>
            <p:nvPr/>
          </p:nvSpPr>
          <p:spPr>
            <a:xfrm>
              <a:off x="3721920" y="1928644"/>
              <a:ext cx="835825" cy="356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1214446"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0" name="矩形 19"/>
            <p:cNvSpPr/>
            <p:nvPr/>
          </p:nvSpPr>
          <p:spPr>
            <a:xfrm>
              <a:off x="2243153"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3271860"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236273"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5200686"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6165099"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2243153"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noAutofit/>
            </a:bodyP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072098"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noAutofit/>
            </a:bodyPr>
            <a:lstStyle/>
            <a:p>
              <a:pPr algn="ctr"/>
              <a:r>
                <a:rPr lang="en-US" altLang="zh-CN" sz="1800" b="1" smtClean="0">
                  <a:solidFill>
                    <a:srgbClr val="3333FF"/>
                  </a:solidFill>
                  <a:latin typeface="Consolas" panose="020B0609020204030204" pitchFamily="49" charset="0"/>
                  <a:cs typeface="Consolas" panose="020B0609020204030204" pitchFamily="49" charset="0"/>
                </a:rPr>
                <a:t>13 </a:t>
              </a:r>
              <a:r>
                <a:rPr lang="en-US" altLang="zh-CN" sz="1800" b="1" dirty="0" smtClean="0">
                  <a:solidFill>
                    <a:srgbClr val="3333FF"/>
                  </a:solidFill>
                  <a:latin typeface="Consolas" panose="020B0609020204030204" pitchFamily="49" charset="0"/>
                  <a:cs typeface="Consolas" panose="020B0609020204030204" pitchFamily="49" charset="0"/>
                </a:rPr>
                <a:t>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7" name="直接连接符 56"/>
            <p:cNvCxnSpPr/>
            <p:nvPr/>
          </p:nvCxnSpPr>
          <p:spPr>
            <a:xfrm rot="10800000" flipV="1">
              <a:off x="3014684" y="2185821"/>
              <a:ext cx="964413" cy="385765"/>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364862" y="2185821"/>
              <a:ext cx="835825" cy="38576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13" idx="0"/>
            </p:cNvCxnSpPr>
            <p:nvPr/>
          </p:nvCxnSpPr>
          <p:spPr>
            <a:xfrm rot="10800000" flipV="1">
              <a:off x="1632359" y="2828763"/>
              <a:ext cx="803678" cy="5786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27" idx="0"/>
            </p:cNvCxnSpPr>
            <p:nvPr/>
          </p:nvCxnSpPr>
          <p:spPr>
            <a:xfrm>
              <a:off x="2886095" y="2828763"/>
              <a:ext cx="803678"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20" idx="0"/>
            </p:cNvCxnSpPr>
            <p:nvPr/>
          </p:nvCxnSpPr>
          <p:spPr>
            <a:xfrm rot="16200000" flipH="1">
              <a:off x="2355668" y="3102013"/>
              <a:ext cx="578648" cy="321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34" idx="0"/>
            </p:cNvCxnSpPr>
            <p:nvPr/>
          </p:nvCxnSpPr>
          <p:spPr>
            <a:xfrm rot="5400000">
              <a:off x="4623430" y="2859519"/>
              <a:ext cx="608013" cy="54650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48" idx="0"/>
            </p:cNvCxnSpPr>
            <p:nvPr/>
          </p:nvCxnSpPr>
          <p:spPr>
            <a:xfrm>
              <a:off x="5843628" y="2828763"/>
              <a:ext cx="739383"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1" idx="0"/>
            </p:cNvCxnSpPr>
            <p:nvPr/>
          </p:nvCxnSpPr>
          <p:spPr>
            <a:xfrm rot="16200000" flipH="1">
              <a:off x="5234224" y="3052401"/>
              <a:ext cx="608013" cy="1607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358114" y="3429000"/>
              <a:ext cx="1571604" cy="400110"/>
            </a:xfrm>
            <a:prstGeom prst="rect">
              <a:avLst/>
            </a:prstGeom>
            <a:solidFill>
              <a:schemeClr val="bg1"/>
            </a:solidFill>
          </p:spPr>
          <p:txBody>
            <a:bodyPr wrap="square" rtlCol="0">
              <a:noAutofit/>
            </a:bodyPr>
            <a:lstStyle/>
            <a:p>
              <a:r>
                <a:rPr lang="zh-CN" altLang="en-US" sz="2000" b="1" smtClean="0">
                  <a:solidFill>
                    <a:srgbClr val="9900FF"/>
                  </a:solidFill>
                  <a:latin typeface="楷体" panose="02010609060101010101" pitchFamily="49" charset="-122"/>
                  <a:ea typeface="楷体" panose="02010609060101010101" pitchFamily="49" charset="-122"/>
                </a:rPr>
                <a:t>叶子结点层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67" name="右大括号 66"/>
            <p:cNvSpPr/>
            <p:nvPr/>
          </p:nvSpPr>
          <p:spPr>
            <a:xfrm>
              <a:off x="7143768" y="3357562"/>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zh-CN" altLang="en-US"/>
            </a:p>
          </p:txBody>
        </p:sp>
        <p:sp>
          <p:nvSpPr>
            <p:cNvPr id="73" name="左大括号 72"/>
            <p:cNvSpPr/>
            <p:nvPr/>
          </p:nvSpPr>
          <p:spPr>
            <a:xfrm>
              <a:off x="928662" y="1915314"/>
              <a:ext cx="214314" cy="1728000"/>
            </a:xfrm>
            <a:prstGeom prst="lef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zh-CN" altLang="en-US"/>
            </a:p>
          </p:txBody>
        </p:sp>
        <p:sp>
          <p:nvSpPr>
            <p:cNvPr id="74" name="TextBox 73"/>
            <p:cNvSpPr txBox="1"/>
            <p:nvPr/>
          </p:nvSpPr>
          <p:spPr>
            <a:xfrm>
              <a:off x="436221" y="2000240"/>
              <a:ext cx="492443" cy="1500198"/>
            </a:xfrm>
            <a:prstGeom prst="rect">
              <a:avLst/>
            </a:prstGeom>
            <a:noFill/>
          </p:spPr>
          <p:txBody>
            <a:bodyPr vert="eaVert" wrap="square" rtlCol="0">
              <a:noAutofit/>
            </a:bodyPr>
            <a:lstStyle/>
            <a:p>
              <a:r>
                <a:rPr lang="zh-CN" altLang="en-US" sz="2000" b="1" smtClean="0">
                  <a:solidFill>
                    <a:srgbClr val="9900FF"/>
                  </a:solidFill>
                  <a:latin typeface="楷体" panose="02010609060101010101" pitchFamily="49" charset="-122"/>
                  <a:ea typeface="楷体" panose="02010609060101010101" pitchFamily="49" charset="-122"/>
                </a:rPr>
                <a:t>内部结点</a:t>
              </a:r>
              <a:endParaRPr lang="zh-CN" altLang="en-US" sz="2000" b="1" dirty="0" smtClean="0">
                <a:solidFill>
                  <a:srgbClr val="9900FF"/>
                </a:solidFill>
                <a:latin typeface="楷体" panose="02010609060101010101" pitchFamily="49" charset="-122"/>
                <a:ea typeface="楷体" panose="02010609060101010101" pitchFamily="49" charset="-122"/>
              </a:endParaRPr>
            </a:p>
          </p:txBody>
        </p:sp>
      </p:grpSp>
      <p:grpSp>
        <p:nvGrpSpPr>
          <p:cNvPr id="78" name="组合 77"/>
          <p:cNvGrpSpPr/>
          <p:nvPr/>
        </p:nvGrpSpPr>
        <p:grpSpPr>
          <a:xfrm>
            <a:off x="428596" y="4714884"/>
            <a:ext cx="8462992" cy="1043052"/>
            <a:chOff x="428596" y="4714884"/>
            <a:chExt cx="8462992" cy="1043052"/>
          </a:xfrm>
        </p:grpSpPr>
        <p:sp>
          <p:nvSpPr>
            <p:cNvPr id="68" name="Text Box 4"/>
            <p:cNvSpPr txBox="1">
              <a:spLocks noChangeArrowheads="1"/>
            </p:cNvSpPr>
            <p:nvPr/>
          </p:nvSpPr>
          <p:spPr bwMode="auto">
            <a:xfrm>
              <a:off x="428596" y="4714884"/>
              <a:ext cx="8462992" cy="461665"/>
            </a:xfrm>
            <a:prstGeom prst="rect">
              <a:avLst/>
            </a:prstGeom>
            <a:noFill/>
            <a:ln w="28575" algn="ctr">
              <a:noFill/>
              <a:miter lim="800000"/>
            </a:ln>
          </p:spPr>
          <p:txBody>
            <a:bodyPr wrap="square">
              <a:spAutoFit/>
            </a:bodyPr>
            <a:lstStyle/>
            <a:p>
              <a:pPr algn="l">
                <a:lnSpc>
                  <a:spcPct val="12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或者是一棵</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空</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树，或者</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满足要求</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叉</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6" name="TextBox 75"/>
            <p:cNvSpPr txBox="1"/>
            <p:nvPr/>
          </p:nvSpPr>
          <p:spPr>
            <a:xfrm>
              <a:off x="500034" y="5357826"/>
              <a:ext cx="8143932" cy="400110"/>
            </a:xfrm>
            <a:prstGeom prst="rect">
              <a:avLst/>
            </a:prstGeom>
            <a:noFill/>
          </p:spPr>
          <p:txBody>
            <a:bodyPr wrap="square" rtlCol="0">
              <a:spAutoFit/>
            </a:bodyPr>
            <a:lstStyle/>
            <a:p>
              <a:pPr marL="457200" indent="-457200"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树中每个结点</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至多有</a:t>
              </a:r>
              <a:r>
                <a:rPr lang="en-US" altLang="zh-CN" sz="2000" b="1" i="1" smtClean="0">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个孩子</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结点（即至多有</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en-US" altLang="zh-CN" sz="2000" b="1" smtClean="0">
                  <a:solidFill>
                    <a:srgbClr val="3333FF"/>
                  </a:solidFill>
                  <a:latin typeface="Consolas" panose="020B0609020204030204" pitchFamily="49" charset="0"/>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个关键字）</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79" name="TextBox 78"/>
          <p:cNvSpPr txBox="1"/>
          <p:nvPr/>
        </p:nvSpPr>
        <p:spPr>
          <a:xfrm>
            <a:off x="2214546" y="5857892"/>
            <a:ext cx="3714776"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最多关键字个数</a:t>
            </a:r>
            <a:r>
              <a:rPr lang="en-US" altLang="zh-CN" sz="2000" b="1" smtClean="0">
                <a:latin typeface="Consolas" panose="020B0609020204030204" pitchFamily="49" charset="0"/>
                <a:ea typeface="楷体" panose="02010609060101010101" pitchFamily="49" charset="-122"/>
                <a:cs typeface="Consolas" panose="020B0609020204030204" pitchFamily="49" charset="0"/>
              </a:rPr>
              <a:t>Max </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en-US" altLang="zh-CN" sz="2000" b="1" smtClean="0">
                <a:solidFill>
                  <a:srgbClr val="3333FF"/>
                </a:solidFill>
                <a:latin typeface="Consolas" panose="020B0609020204030204" pitchFamily="49" charset="0"/>
                <a:ea typeface="+mn-ea"/>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82" name="灯片编号占位符 81"/>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Box 4"/>
          <p:cNvSpPr txBox="1">
            <a:spLocks noChangeArrowheads="1"/>
          </p:cNvSpPr>
          <p:nvPr/>
        </p:nvSpPr>
        <p:spPr bwMode="auto">
          <a:xfrm>
            <a:off x="428596" y="285728"/>
            <a:ext cx="2428892" cy="430887"/>
          </a:xfrm>
          <a:prstGeom prst="rect">
            <a:avLst/>
          </a:prstGeom>
          <a:noFill/>
          <a:ln w="9525">
            <a:noFill/>
            <a:miter lim="800000"/>
          </a:ln>
        </p:spPr>
        <p:txBody>
          <a:bodyPr wrap="square">
            <a:spAutoFit/>
          </a:bodyPr>
          <a:lstStyle/>
          <a:p>
            <a:pPr>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643306" y="671436"/>
            <a:ext cx="1143008"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根结点</a:t>
            </a:r>
            <a:endParaRPr lang="zh-CN" altLang="en-US" sz="2000" b="1" dirty="0">
              <a:solidFill>
                <a:srgbClr val="9900FF"/>
              </a:solidFill>
              <a:latin typeface="楷体" panose="02010609060101010101" pitchFamily="49" charset="-122"/>
              <a:ea typeface="楷体" panose="02010609060101010101" pitchFamily="49" charset="-122"/>
            </a:endParaRPr>
          </a:p>
        </p:txBody>
      </p:sp>
      <p:grpSp>
        <p:nvGrpSpPr>
          <p:cNvPr id="2" name="组合 80"/>
          <p:cNvGrpSpPr/>
          <p:nvPr/>
        </p:nvGrpSpPr>
        <p:grpSpPr>
          <a:xfrm>
            <a:off x="1278740" y="2913698"/>
            <a:ext cx="7722416" cy="872492"/>
            <a:chOff x="1278740" y="3699516"/>
            <a:chExt cx="7722416" cy="872492"/>
          </a:xfrm>
        </p:grpSpPr>
        <p:grpSp>
          <p:nvGrpSpPr>
            <p:cNvPr id="3" name="组合 71"/>
            <p:cNvGrpSpPr/>
            <p:nvPr/>
          </p:nvGrpSpPr>
          <p:grpSpPr>
            <a:xfrm>
              <a:off x="1278740" y="3699516"/>
              <a:ext cx="5593595" cy="736602"/>
              <a:chOff x="850112" y="3413922"/>
              <a:chExt cx="5593595" cy="736602"/>
            </a:xfrm>
          </p:grpSpPr>
          <p:cxnSp>
            <p:nvCxnSpPr>
              <p:cNvPr id="14" name="直接连接符 13"/>
              <p:cNvCxnSpPr/>
              <p:nvPr/>
            </p:nvCxnSpPr>
            <p:spPr>
              <a:xfrm rot="5400000">
                <a:off x="753671"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50112"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rot="5400000">
                <a:off x="1010848"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07289"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p:nvPr/>
            </p:nvCxnSpPr>
            <p:spPr>
              <a:xfrm rot="5400000">
                <a:off x="1268024"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6446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1782378"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8819"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3" name="直接连接符 22"/>
              <p:cNvCxnSpPr/>
              <p:nvPr/>
            </p:nvCxnSpPr>
            <p:spPr>
              <a:xfrm rot="5400000">
                <a:off x="2039555"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3599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5" name="直接连接符 24"/>
              <p:cNvCxnSpPr/>
              <p:nvPr/>
            </p:nvCxnSpPr>
            <p:spPr>
              <a:xfrm rot="5400000">
                <a:off x="2296732"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393173"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2811085"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2907527"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0" name="直接连接符 29"/>
              <p:cNvCxnSpPr/>
              <p:nvPr/>
            </p:nvCxnSpPr>
            <p:spPr>
              <a:xfrm rot="5400000">
                <a:off x="306826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16470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2" name="直接连接符 31"/>
              <p:cNvCxnSpPr/>
              <p:nvPr/>
            </p:nvCxnSpPr>
            <p:spPr>
              <a:xfrm rot="5400000">
                <a:off x="3325439"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421880"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3775498"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71940"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7" name="直接连接符 36"/>
              <p:cNvCxnSpPr/>
              <p:nvPr/>
            </p:nvCxnSpPr>
            <p:spPr>
              <a:xfrm rot="5400000">
                <a:off x="403267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2911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9" name="直接连接符 38"/>
              <p:cNvCxnSpPr/>
              <p:nvPr/>
            </p:nvCxnSpPr>
            <p:spPr>
              <a:xfrm rot="5400000">
                <a:off x="428985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38629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4739911"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4836353"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4" name="直接连接符 43"/>
              <p:cNvCxnSpPr/>
              <p:nvPr/>
            </p:nvCxnSpPr>
            <p:spPr>
              <a:xfrm rot="5400000">
                <a:off x="499708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09352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6" name="直接连接符 45"/>
              <p:cNvCxnSpPr/>
              <p:nvPr/>
            </p:nvCxnSpPr>
            <p:spPr>
              <a:xfrm rot="5400000">
                <a:off x="525426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35070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5704324"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800766"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1" name="直接连接符 50"/>
              <p:cNvCxnSpPr/>
              <p:nvPr/>
            </p:nvCxnSpPr>
            <p:spPr>
              <a:xfrm rot="5400000">
                <a:off x="5961501"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057942"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3" name="直接连接符 52"/>
              <p:cNvCxnSpPr/>
              <p:nvPr/>
            </p:nvCxnSpPr>
            <p:spPr>
              <a:xfrm rot="5400000">
                <a:off x="621867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31511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69" name="TextBox 68"/>
            <p:cNvSpPr txBox="1"/>
            <p:nvPr/>
          </p:nvSpPr>
          <p:spPr>
            <a:xfrm>
              <a:off x="7281882" y="4075060"/>
              <a:ext cx="171927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外部结点层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70" name="右大括号 69"/>
            <p:cNvSpPr/>
            <p:nvPr/>
          </p:nvSpPr>
          <p:spPr>
            <a:xfrm>
              <a:off x="7143768" y="4000504"/>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79"/>
          <p:cNvGrpSpPr/>
          <p:nvPr/>
        </p:nvGrpSpPr>
        <p:grpSpPr>
          <a:xfrm>
            <a:off x="436221" y="1129496"/>
            <a:ext cx="8493497" cy="2013752"/>
            <a:chOff x="436221" y="1915314"/>
            <a:chExt cx="8493497" cy="2013752"/>
          </a:xfrm>
        </p:grpSpPr>
        <p:sp>
          <p:nvSpPr>
            <p:cNvPr id="12" name="矩形 11"/>
            <p:cNvSpPr/>
            <p:nvPr/>
          </p:nvSpPr>
          <p:spPr>
            <a:xfrm>
              <a:off x="3721920" y="1928644"/>
              <a:ext cx="835825" cy="356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1214446"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0" name="矩形 19"/>
            <p:cNvSpPr/>
            <p:nvPr/>
          </p:nvSpPr>
          <p:spPr>
            <a:xfrm>
              <a:off x="2243153"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3271860"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236273"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5200686"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6165099"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2243153"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072098"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13 </a:t>
              </a:r>
              <a:r>
                <a:rPr lang="en-US" altLang="zh-CN" sz="1800" b="1" dirty="0" smtClean="0">
                  <a:solidFill>
                    <a:srgbClr val="3333FF"/>
                  </a:solidFill>
                  <a:latin typeface="Consolas" panose="020B0609020204030204" pitchFamily="49" charset="0"/>
                  <a:cs typeface="Consolas" panose="020B0609020204030204" pitchFamily="49" charset="0"/>
                </a:rPr>
                <a:t>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7" name="直接连接符 56"/>
            <p:cNvCxnSpPr/>
            <p:nvPr/>
          </p:nvCxnSpPr>
          <p:spPr>
            <a:xfrm rot="10800000" flipV="1">
              <a:off x="3014684" y="2185821"/>
              <a:ext cx="964413" cy="385765"/>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364862" y="2185821"/>
              <a:ext cx="835825" cy="38576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13" idx="0"/>
            </p:cNvCxnSpPr>
            <p:nvPr/>
          </p:nvCxnSpPr>
          <p:spPr>
            <a:xfrm rot="10800000" flipV="1">
              <a:off x="1632359" y="2828763"/>
              <a:ext cx="803678" cy="5786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27" idx="0"/>
            </p:cNvCxnSpPr>
            <p:nvPr/>
          </p:nvCxnSpPr>
          <p:spPr>
            <a:xfrm>
              <a:off x="2886095" y="2828763"/>
              <a:ext cx="803678"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20" idx="0"/>
            </p:cNvCxnSpPr>
            <p:nvPr/>
          </p:nvCxnSpPr>
          <p:spPr>
            <a:xfrm rot="16200000" flipH="1">
              <a:off x="2355668" y="3102013"/>
              <a:ext cx="578648" cy="321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34" idx="0"/>
            </p:cNvCxnSpPr>
            <p:nvPr/>
          </p:nvCxnSpPr>
          <p:spPr>
            <a:xfrm rot="5400000">
              <a:off x="4623430" y="2859519"/>
              <a:ext cx="608013" cy="54650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48" idx="0"/>
            </p:cNvCxnSpPr>
            <p:nvPr/>
          </p:nvCxnSpPr>
          <p:spPr>
            <a:xfrm>
              <a:off x="5843628" y="2828763"/>
              <a:ext cx="739383"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1" idx="0"/>
            </p:cNvCxnSpPr>
            <p:nvPr/>
          </p:nvCxnSpPr>
          <p:spPr>
            <a:xfrm rot="16200000" flipH="1">
              <a:off x="5234224" y="3052401"/>
              <a:ext cx="608013" cy="1607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358114" y="3429000"/>
              <a:ext cx="157160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叶子结点层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67" name="右大括号 66"/>
            <p:cNvSpPr/>
            <p:nvPr/>
          </p:nvSpPr>
          <p:spPr>
            <a:xfrm>
              <a:off x="7143768" y="3357562"/>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左大括号 72"/>
            <p:cNvSpPr/>
            <p:nvPr/>
          </p:nvSpPr>
          <p:spPr>
            <a:xfrm>
              <a:off x="928662" y="1915314"/>
              <a:ext cx="214314" cy="1728000"/>
            </a:xfrm>
            <a:prstGeom prst="lef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73"/>
            <p:cNvSpPr txBox="1"/>
            <p:nvPr/>
          </p:nvSpPr>
          <p:spPr>
            <a:xfrm>
              <a:off x="436221" y="2000240"/>
              <a:ext cx="492443" cy="1500198"/>
            </a:xfrm>
            <a:prstGeom prst="rect">
              <a:avLst/>
            </a:prstGeom>
            <a:noFill/>
          </p:spPr>
          <p:txBody>
            <a:bodyPr vert="eaVert"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内部结点</a:t>
              </a:r>
              <a:endParaRPr lang="zh-CN" altLang="en-US" sz="2000" b="1" dirty="0" smtClean="0">
                <a:solidFill>
                  <a:srgbClr val="9900FF"/>
                </a:solidFill>
                <a:latin typeface="楷体" panose="02010609060101010101" pitchFamily="49" charset="-122"/>
                <a:ea typeface="楷体" panose="02010609060101010101" pitchFamily="49" charset="-122"/>
              </a:endParaRPr>
            </a:p>
          </p:txBody>
        </p:sp>
      </p:grpSp>
      <p:sp>
        <p:nvSpPr>
          <p:cNvPr id="68" name="Text Box 4"/>
          <p:cNvSpPr txBox="1">
            <a:spLocks noChangeArrowheads="1"/>
          </p:cNvSpPr>
          <p:nvPr/>
        </p:nvSpPr>
        <p:spPr bwMode="auto">
          <a:xfrm>
            <a:off x="428596" y="3929066"/>
            <a:ext cx="8462992" cy="498598"/>
          </a:xfrm>
          <a:prstGeom prst="rect">
            <a:avLst/>
          </a:prstGeom>
          <a:noFill/>
          <a:ln w="28575" algn="ctr">
            <a:noFill/>
            <a:miter lim="800000"/>
          </a:ln>
        </p:spPr>
        <p:txBody>
          <a:bodyPr wrap="square">
            <a:spAutoFit/>
          </a:bodyPr>
          <a:lstStyle/>
          <a:p>
            <a:pPr algn="l">
              <a:lnSpc>
                <a:spcPct val="12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或者是一棵</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空</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树，或者</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满足要求</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叉</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77" name="组合 76"/>
          <p:cNvGrpSpPr/>
          <p:nvPr/>
        </p:nvGrpSpPr>
        <p:grpSpPr>
          <a:xfrm>
            <a:off x="500034" y="4572008"/>
            <a:ext cx="8143932" cy="1328804"/>
            <a:chOff x="500034" y="4572008"/>
            <a:chExt cx="8143932" cy="1328804"/>
          </a:xfrm>
        </p:grpSpPr>
        <p:sp>
          <p:nvSpPr>
            <p:cNvPr id="76" name="TextBox 75"/>
            <p:cNvSpPr txBox="1"/>
            <p:nvPr/>
          </p:nvSpPr>
          <p:spPr>
            <a:xfrm>
              <a:off x="500034" y="4572008"/>
              <a:ext cx="8143932" cy="707886"/>
            </a:xfrm>
            <a:prstGeom prst="rect">
              <a:avLst/>
            </a:prstGeom>
            <a:noFill/>
          </p:spPr>
          <p:txBody>
            <a:bodyPr wrap="square" rtlCol="0">
              <a:spAutoFit/>
            </a:bodyPr>
            <a:lstStyle/>
            <a:p>
              <a:pPr marL="457200" indent="-457200"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除根结点外，其他非叶子节子点</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至少有</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lang="en-US" altLang="zh-CN" sz="2000" b="1" i="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a:t>
              </a:r>
              <a:r>
                <a:rPr lang="en-US" altLang="zh-CN" sz="2000" b="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/2</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个孩子</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结点（即至少有</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/2</a:t>
              </a:r>
              <a:r>
                <a:rPr lang="en-US" altLang="zh-CN" sz="2000" b="1" smtClean="0">
                  <a:solidFill>
                    <a:srgbClr val="3333FF"/>
                  </a:solidFill>
                  <a:latin typeface="Consolas" panose="020B0609020204030204" pitchFamily="49" charset="0"/>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a:t>
              </a:r>
              <a:r>
                <a:rPr lang="en-US" altLang="zh-CN" sz="2000" b="1" smtClean="0">
                  <a:solidFill>
                    <a:srgbClr val="3333FF"/>
                  </a:solidFill>
                  <a:latin typeface="Consolas" panose="020B0609020204030204" pitchFamily="49" charset="0"/>
                  <a:cs typeface="Consolas" panose="020B0609020204030204" pitchFamily="49" charset="0"/>
                  <a:sym typeface="Symbol" panose="05050102010706020507" pitchFamily="18" charset="2"/>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1)/2</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个关键字）；</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2" name="TextBox 71"/>
            <p:cNvSpPr txBox="1"/>
            <p:nvPr/>
          </p:nvSpPr>
          <p:spPr>
            <a:xfrm>
              <a:off x="2214546" y="5500702"/>
              <a:ext cx="471490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最少关键字个数</a:t>
              </a:r>
              <a:r>
                <a:rPr lang="en-US" altLang="zh-CN" sz="2000" b="1" smtClean="0">
                  <a:latin typeface="Consolas" panose="020B0609020204030204" pitchFamily="49" charset="0"/>
                  <a:ea typeface="楷体" panose="02010609060101010101" pitchFamily="49" charset="-122"/>
                  <a:cs typeface="Consolas" panose="020B0609020204030204" pitchFamily="49" charset="0"/>
                </a:rPr>
                <a:t>Min </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 </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/2</a:t>
              </a:r>
              <a:r>
                <a:rPr lang="en-US" altLang="zh-CN" sz="2000" b="1" smtClean="0">
                  <a:solidFill>
                    <a:srgbClr val="3333FF"/>
                  </a:solidFill>
                  <a:latin typeface="Consolas" panose="020B0609020204030204" pitchFamily="49" charset="0"/>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78" name="灯片编号占位符 77"/>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Box 4"/>
          <p:cNvSpPr txBox="1">
            <a:spLocks noChangeArrowheads="1"/>
          </p:cNvSpPr>
          <p:nvPr/>
        </p:nvSpPr>
        <p:spPr bwMode="auto">
          <a:xfrm>
            <a:off x="428596" y="285728"/>
            <a:ext cx="2428892" cy="430887"/>
          </a:xfrm>
          <a:prstGeom prst="rect">
            <a:avLst/>
          </a:prstGeom>
          <a:noFill/>
          <a:ln w="9525">
            <a:noFill/>
            <a:miter lim="800000"/>
          </a:ln>
        </p:spPr>
        <p:txBody>
          <a:bodyPr wrap="square">
            <a:spAutoFit/>
          </a:bodyPr>
          <a:lstStyle/>
          <a:p>
            <a:pPr>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643306" y="671436"/>
            <a:ext cx="1143008"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根结点</a:t>
            </a:r>
            <a:endParaRPr lang="zh-CN" altLang="en-US" sz="2000" b="1" dirty="0">
              <a:solidFill>
                <a:srgbClr val="9900FF"/>
              </a:solidFill>
              <a:latin typeface="楷体" panose="02010609060101010101" pitchFamily="49" charset="-122"/>
              <a:ea typeface="楷体" panose="02010609060101010101" pitchFamily="49" charset="-122"/>
            </a:endParaRPr>
          </a:p>
        </p:txBody>
      </p:sp>
      <p:grpSp>
        <p:nvGrpSpPr>
          <p:cNvPr id="2" name="组合 80"/>
          <p:cNvGrpSpPr/>
          <p:nvPr/>
        </p:nvGrpSpPr>
        <p:grpSpPr>
          <a:xfrm>
            <a:off x="1278740" y="2913698"/>
            <a:ext cx="7722416" cy="872492"/>
            <a:chOff x="1278740" y="3699516"/>
            <a:chExt cx="7722416" cy="872492"/>
          </a:xfrm>
        </p:grpSpPr>
        <p:grpSp>
          <p:nvGrpSpPr>
            <p:cNvPr id="3" name="组合 71"/>
            <p:cNvGrpSpPr/>
            <p:nvPr/>
          </p:nvGrpSpPr>
          <p:grpSpPr>
            <a:xfrm>
              <a:off x="1278740" y="3699516"/>
              <a:ext cx="5593595" cy="736602"/>
              <a:chOff x="850112" y="3413922"/>
              <a:chExt cx="5593595" cy="736602"/>
            </a:xfrm>
          </p:grpSpPr>
          <p:cxnSp>
            <p:nvCxnSpPr>
              <p:cNvPr id="14" name="直接连接符 13"/>
              <p:cNvCxnSpPr/>
              <p:nvPr/>
            </p:nvCxnSpPr>
            <p:spPr>
              <a:xfrm rot="5400000">
                <a:off x="753671"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50112"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rot="5400000">
                <a:off x="1010848"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07289"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p:nvPr/>
            </p:nvCxnSpPr>
            <p:spPr>
              <a:xfrm rot="5400000">
                <a:off x="1268024"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6446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1782378"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8819"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3" name="直接连接符 22"/>
              <p:cNvCxnSpPr/>
              <p:nvPr/>
            </p:nvCxnSpPr>
            <p:spPr>
              <a:xfrm rot="5400000">
                <a:off x="2039555"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3599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5" name="直接连接符 24"/>
              <p:cNvCxnSpPr/>
              <p:nvPr/>
            </p:nvCxnSpPr>
            <p:spPr>
              <a:xfrm rot="5400000">
                <a:off x="2296732"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393173"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2811085"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2907527"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0" name="直接连接符 29"/>
              <p:cNvCxnSpPr/>
              <p:nvPr/>
            </p:nvCxnSpPr>
            <p:spPr>
              <a:xfrm rot="5400000">
                <a:off x="306826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16470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2" name="直接连接符 31"/>
              <p:cNvCxnSpPr/>
              <p:nvPr/>
            </p:nvCxnSpPr>
            <p:spPr>
              <a:xfrm rot="5400000">
                <a:off x="3325439"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421880"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3775498"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71940"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7" name="直接连接符 36"/>
              <p:cNvCxnSpPr/>
              <p:nvPr/>
            </p:nvCxnSpPr>
            <p:spPr>
              <a:xfrm rot="5400000">
                <a:off x="403267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2911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9" name="直接连接符 38"/>
              <p:cNvCxnSpPr/>
              <p:nvPr/>
            </p:nvCxnSpPr>
            <p:spPr>
              <a:xfrm rot="5400000">
                <a:off x="428985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38629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4739911"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4836353"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4" name="直接连接符 43"/>
              <p:cNvCxnSpPr/>
              <p:nvPr/>
            </p:nvCxnSpPr>
            <p:spPr>
              <a:xfrm rot="5400000">
                <a:off x="499708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09352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6" name="直接连接符 45"/>
              <p:cNvCxnSpPr/>
              <p:nvPr/>
            </p:nvCxnSpPr>
            <p:spPr>
              <a:xfrm rot="5400000">
                <a:off x="525426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35070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5704324"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800766"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1" name="直接连接符 50"/>
              <p:cNvCxnSpPr/>
              <p:nvPr/>
            </p:nvCxnSpPr>
            <p:spPr>
              <a:xfrm rot="5400000">
                <a:off x="5961501"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057942"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3" name="直接连接符 52"/>
              <p:cNvCxnSpPr/>
              <p:nvPr/>
            </p:nvCxnSpPr>
            <p:spPr>
              <a:xfrm rot="5400000">
                <a:off x="621867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31511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69" name="TextBox 68"/>
            <p:cNvSpPr txBox="1"/>
            <p:nvPr/>
          </p:nvSpPr>
          <p:spPr>
            <a:xfrm>
              <a:off x="7281882" y="4075060"/>
              <a:ext cx="171927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外部结点层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70" name="右大括号 69"/>
            <p:cNvSpPr/>
            <p:nvPr/>
          </p:nvSpPr>
          <p:spPr>
            <a:xfrm>
              <a:off x="7143768" y="4000504"/>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79"/>
          <p:cNvGrpSpPr/>
          <p:nvPr/>
        </p:nvGrpSpPr>
        <p:grpSpPr>
          <a:xfrm>
            <a:off x="436221" y="1129496"/>
            <a:ext cx="8493497" cy="2013752"/>
            <a:chOff x="436221" y="1915314"/>
            <a:chExt cx="8493497" cy="2013752"/>
          </a:xfrm>
        </p:grpSpPr>
        <p:sp>
          <p:nvSpPr>
            <p:cNvPr id="12" name="矩形 11"/>
            <p:cNvSpPr/>
            <p:nvPr/>
          </p:nvSpPr>
          <p:spPr>
            <a:xfrm>
              <a:off x="3721920" y="1928644"/>
              <a:ext cx="835825" cy="356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1214446"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0" name="矩形 19"/>
            <p:cNvSpPr/>
            <p:nvPr/>
          </p:nvSpPr>
          <p:spPr>
            <a:xfrm>
              <a:off x="2243153"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3271860"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236273"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5200686"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6165099"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2243153"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072098"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13 </a:t>
              </a:r>
              <a:r>
                <a:rPr lang="en-US" altLang="zh-CN" sz="1800" b="1" dirty="0" smtClean="0">
                  <a:solidFill>
                    <a:srgbClr val="3333FF"/>
                  </a:solidFill>
                  <a:latin typeface="Consolas" panose="020B0609020204030204" pitchFamily="49" charset="0"/>
                  <a:cs typeface="Consolas" panose="020B0609020204030204" pitchFamily="49" charset="0"/>
                </a:rPr>
                <a:t>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7" name="直接连接符 56"/>
            <p:cNvCxnSpPr/>
            <p:nvPr/>
          </p:nvCxnSpPr>
          <p:spPr>
            <a:xfrm rot="10800000" flipV="1">
              <a:off x="3014684" y="2185821"/>
              <a:ext cx="964413" cy="385765"/>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364862" y="2185821"/>
              <a:ext cx="835825" cy="38576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13" idx="0"/>
            </p:cNvCxnSpPr>
            <p:nvPr/>
          </p:nvCxnSpPr>
          <p:spPr>
            <a:xfrm rot="10800000" flipV="1">
              <a:off x="1632359" y="2828763"/>
              <a:ext cx="803678" cy="5786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27" idx="0"/>
            </p:cNvCxnSpPr>
            <p:nvPr/>
          </p:nvCxnSpPr>
          <p:spPr>
            <a:xfrm>
              <a:off x="2886095" y="2828763"/>
              <a:ext cx="803678"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20" idx="0"/>
            </p:cNvCxnSpPr>
            <p:nvPr/>
          </p:nvCxnSpPr>
          <p:spPr>
            <a:xfrm rot="16200000" flipH="1">
              <a:off x="2355668" y="3102013"/>
              <a:ext cx="578648" cy="321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34" idx="0"/>
            </p:cNvCxnSpPr>
            <p:nvPr/>
          </p:nvCxnSpPr>
          <p:spPr>
            <a:xfrm rot="5400000">
              <a:off x="4623430" y="2859519"/>
              <a:ext cx="608013" cy="54650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48" idx="0"/>
            </p:cNvCxnSpPr>
            <p:nvPr/>
          </p:nvCxnSpPr>
          <p:spPr>
            <a:xfrm>
              <a:off x="5843628" y="2828763"/>
              <a:ext cx="739383"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1" idx="0"/>
            </p:cNvCxnSpPr>
            <p:nvPr/>
          </p:nvCxnSpPr>
          <p:spPr>
            <a:xfrm rot="16200000" flipH="1">
              <a:off x="5234224" y="3052401"/>
              <a:ext cx="608013" cy="1607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358114" y="3429000"/>
              <a:ext cx="157160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叶子结点层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67" name="右大括号 66"/>
            <p:cNvSpPr/>
            <p:nvPr/>
          </p:nvSpPr>
          <p:spPr>
            <a:xfrm>
              <a:off x="7143768" y="3357562"/>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左大括号 72"/>
            <p:cNvSpPr/>
            <p:nvPr/>
          </p:nvSpPr>
          <p:spPr>
            <a:xfrm>
              <a:off x="928662" y="1915314"/>
              <a:ext cx="214314" cy="1728000"/>
            </a:xfrm>
            <a:prstGeom prst="lef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73"/>
            <p:cNvSpPr txBox="1"/>
            <p:nvPr/>
          </p:nvSpPr>
          <p:spPr>
            <a:xfrm>
              <a:off x="436221" y="2000240"/>
              <a:ext cx="492443" cy="1500198"/>
            </a:xfrm>
            <a:prstGeom prst="rect">
              <a:avLst/>
            </a:prstGeom>
            <a:noFill/>
          </p:spPr>
          <p:txBody>
            <a:bodyPr vert="eaVert"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内部结点</a:t>
              </a:r>
              <a:endParaRPr lang="zh-CN" altLang="en-US" sz="2000" b="1" dirty="0" smtClean="0">
                <a:solidFill>
                  <a:srgbClr val="9900FF"/>
                </a:solidFill>
                <a:latin typeface="楷体" panose="02010609060101010101" pitchFamily="49" charset="-122"/>
                <a:ea typeface="楷体" panose="02010609060101010101" pitchFamily="49" charset="-122"/>
              </a:endParaRPr>
            </a:p>
          </p:txBody>
        </p:sp>
      </p:grpSp>
      <p:sp>
        <p:nvSpPr>
          <p:cNvPr id="68" name="Text Box 4"/>
          <p:cNvSpPr txBox="1">
            <a:spLocks noChangeArrowheads="1"/>
          </p:cNvSpPr>
          <p:nvPr/>
        </p:nvSpPr>
        <p:spPr bwMode="auto">
          <a:xfrm>
            <a:off x="428596" y="3929066"/>
            <a:ext cx="8462992" cy="498598"/>
          </a:xfrm>
          <a:prstGeom prst="rect">
            <a:avLst/>
          </a:prstGeom>
          <a:noFill/>
          <a:ln w="28575" algn="ctr">
            <a:noFill/>
            <a:miter lim="800000"/>
          </a:ln>
        </p:spPr>
        <p:txBody>
          <a:bodyPr wrap="square">
            <a:spAutoFit/>
          </a:bodyPr>
          <a:lstStyle/>
          <a:p>
            <a:pPr algn="l">
              <a:lnSpc>
                <a:spcPct val="12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或者是一棵</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空</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树，或者</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满足要求</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叉</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6" name="TextBox 75"/>
          <p:cNvSpPr txBox="1"/>
          <p:nvPr/>
        </p:nvSpPr>
        <p:spPr>
          <a:xfrm>
            <a:off x="500034" y="4572008"/>
            <a:ext cx="8143932" cy="400110"/>
          </a:xfrm>
          <a:prstGeom prst="rect">
            <a:avLst/>
          </a:prstGeom>
          <a:noFill/>
        </p:spPr>
        <p:txBody>
          <a:bodyPr wrap="square" rtlCol="0">
            <a:spAutoFit/>
          </a:bodyPr>
          <a:lstStyle/>
          <a:p>
            <a:pPr marL="457200" indent="-457200"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若根结点不是叶子结点，则根结点至少有两个孩子结点；</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7" name="灯片编号占位符 76"/>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Box 4"/>
          <p:cNvSpPr txBox="1">
            <a:spLocks noChangeArrowheads="1"/>
          </p:cNvSpPr>
          <p:nvPr/>
        </p:nvSpPr>
        <p:spPr bwMode="auto">
          <a:xfrm>
            <a:off x="428596" y="285728"/>
            <a:ext cx="2428892" cy="430887"/>
          </a:xfrm>
          <a:prstGeom prst="rect">
            <a:avLst/>
          </a:prstGeom>
          <a:noFill/>
          <a:ln w="9525">
            <a:noFill/>
            <a:miter lim="800000"/>
          </a:ln>
        </p:spPr>
        <p:txBody>
          <a:bodyPr wrap="square">
            <a:spAutoFit/>
          </a:bodyPr>
          <a:lstStyle/>
          <a:p>
            <a:pPr>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643306" y="671436"/>
            <a:ext cx="1143008"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根结点</a:t>
            </a:r>
            <a:endParaRPr lang="zh-CN" altLang="en-US" sz="2000" b="1" dirty="0">
              <a:solidFill>
                <a:srgbClr val="9900FF"/>
              </a:solidFill>
              <a:latin typeface="楷体" panose="02010609060101010101" pitchFamily="49" charset="-122"/>
              <a:ea typeface="楷体" panose="02010609060101010101" pitchFamily="49" charset="-122"/>
            </a:endParaRPr>
          </a:p>
        </p:txBody>
      </p:sp>
      <p:grpSp>
        <p:nvGrpSpPr>
          <p:cNvPr id="2" name="组合 80"/>
          <p:cNvGrpSpPr/>
          <p:nvPr/>
        </p:nvGrpSpPr>
        <p:grpSpPr>
          <a:xfrm>
            <a:off x="1278740" y="2913698"/>
            <a:ext cx="7722416" cy="872492"/>
            <a:chOff x="1278740" y="3699516"/>
            <a:chExt cx="7722416" cy="872492"/>
          </a:xfrm>
        </p:grpSpPr>
        <p:grpSp>
          <p:nvGrpSpPr>
            <p:cNvPr id="3" name="组合 71"/>
            <p:cNvGrpSpPr/>
            <p:nvPr/>
          </p:nvGrpSpPr>
          <p:grpSpPr>
            <a:xfrm>
              <a:off x="1278740" y="3699516"/>
              <a:ext cx="5593595" cy="736602"/>
              <a:chOff x="850112" y="3413922"/>
              <a:chExt cx="5593595" cy="736602"/>
            </a:xfrm>
          </p:grpSpPr>
          <p:cxnSp>
            <p:nvCxnSpPr>
              <p:cNvPr id="14" name="直接连接符 13"/>
              <p:cNvCxnSpPr/>
              <p:nvPr/>
            </p:nvCxnSpPr>
            <p:spPr>
              <a:xfrm rot="5400000">
                <a:off x="753671"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50112"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rot="5400000">
                <a:off x="1010848"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07289"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p:nvPr/>
            </p:nvCxnSpPr>
            <p:spPr>
              <a:xfrm rot="5400000">
                <a:off x="1268024"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6446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1782378"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8819"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3" name="直接连接符 22"/>
              <p:cNvCxnSpPr/>
              <p:nvPr/>
            </p:nvCxnSpPr>
            <p:spPr>
              <a:xfrm rot="5400000">
                <a:off x="2039555"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3599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5" name="直接连接符 24"/>
              <p:cNvCxnSpPr/>
              <p:nvPr/>
            </p:nvCxnSpPr>
            <p:spPr>
              <a:xfrm rot="5400000">
                <a:off x="2296732"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393173"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2811085"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2907527"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0" name="直接连接符 29"/>
              <p:cNvCxnSpPr/>
              <p:nvPr/>
            </p:nvCxnSpPr>
            <p:spPr>
              <a:xfrm rot="5400000">
                <a:off x="306826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16470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2" name="直接连接符 31"/>
              <p:cNvCxnSpPr/>
              <p:nvPr/>
            </p:nvCxnSpPr>
            <p:spPr>
              <a:xfrm rot="5400000">
                <a:off x="3325439"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421880"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3775498"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71940"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7" name="直接连接符 36"/>
              <p:cNvCxnSpPr/>
              <p:nvPr/>
            </p:nvCxnSpPr>
            <p:spPr>
              <a:xfrm rot="5400000">
                <a:off x="403267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2911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9" name="直接连接符 38"/>
              <p:cNvCxnSpPr/>
              <p:nvPr/>
            </p:nvCxnSpPr>
            <p:spPr>
              <a:xfrm rot="5400000">
                <a:off x="428985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38629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4739911"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4836353"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4" name="直接连接符 43"/>
              <p:cNvCxnSpPr/>
              <p:nvPr/>
            </p:nvCxnSpPr>
            <p:spPr>
              <a:xfrm rot="5400000">
                <a:off x="499708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09352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6" name="直接连接符 45"/>
              <p:cNvCxnSpPr/>
              <p:nvPr/>
            </p:nvCxnSpPr>
            <p:spPr>
              <a:xfrm rot="5400000">
                <a:off x="525426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35070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5704324"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800766"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1" name="直接连接符 50"/>
              <p:cNvCxnSpPr/>
              <p:nvPr/>
            </p:nvCxnSpPr>
            <p:spPr>
              <a:xfrm rot="5400000">
                <a:off x="5961501"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057942"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3" name="直接连接符 52"/>
              <p:cNvCxnSpPr/>
              <p:nvPr/>
            </p:nvCxnSpPr>
            <p:spPr>
              <a:xfrm rot="5400000">
                <a:off x="621867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31511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69" name="TextBox 68"/>
            <p:cNvSpPr txBox="1"/>
            <p:nvPr/>
          </p:nvSpPr>
          <p:spPr>
            <a:xfrm>
              <a:off x="7281882" y="4075060"/>
              <a:ext cx="171927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外部结点层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70" name="右大括号 69"/>
            <p:cNvSpPr/>
            <p:nvPr/>
          </p:nvSpPr>
          <p:spPr>
            <a:xfrm>
              <a:off x="7143768" y="4000504"/>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79"/>
          <p:cNvGrpSpPr/>
          <p:nvPr/>
        </p:nvGrpSpPr>
        <p:grpSpPr>
          <a:xfrm>
            <a:off x="436221" y="1129496"/>
            <a:ext cx="8493497" cy="2013752"/>
            <a:chOff x="436221" y="1915314"/>
            <a:chExt cx="8493497" cy="2013752"/>
          </a:xfrm>
        </p:grpSpPr>
        <p:sp>
          <p:nvSpPr>
            <p:cNvPr id="12" name="矩形 11"/>
            <p:cNvSpPr/>
            <p:nvPr/>
          </p:nvSpPr>
          <p:spPr>
            <a:xfrm>
              <a:off x="3721920" y="1928644"/>
              <a:ext cx="835825" cy="356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1214446"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0" name="矩形 19"/>
            <p:cNvSpPr/>
            <p:nvPr/>
          </p:nvSpPr>
          <p:spPr>
            <a:xfrm>
              <a:off x="2243153"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3271860"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236273"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5200686"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6165099"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2243153"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072098"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13 </a:t>
              </a:r>
              <a:r>
                <a:rPr lang="en-US" altLang="zh-CN" sz="1800" b="1" dirty="0" smtClean="0">
                  <a:solidFill>
                    <a:srgbClr val="3333FF"/>
                  </a:solidFill>
                  <a:latin typeface="Consolas" panose="020B0609020204030204" pitchFamily="49" charset="0"/>
                  <a:cs typeface="Consolas" panose="020B0609020204030204" pitchFamily="49" charset="0"/>
                </a:rPr>
                <a:t>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7" name="直接连接符 56"/>
            <p:cNvCxnSpPr/>
            <p:nvPr/>
          </p:nvCxnSpPr>
          <p:spPr>
            <a:xfrm rot="10800000" flipV="1">
              <a:off x="3014684" y="2185821"/>
              <a:ext cx="964413" cy="385765"/>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364862" y="2185821"/>
              <a:ext cx="835825" cy="38576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13" idx="0"/>
            </p:cNvCxnSpPr>
            <p:nvPr/>
          </p:nvCxnSpPr>
          <p:spPr>
            <a:xfrm rot="10800000" flipV="1">
              <a:off x="1632359" y="2828763"/>
              <a:ext cx="803678" cy="5786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27" idx="0"/>
            </p:cNvCxnSpPr>
            <p:nvPr/>
          </p:nvCxnSpPr>
          <p:spPr>
            <a:xfrm>
              <a:off x="2886095" y="2828763"/>
              <a:ext cx="803678"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20" idx="0"/>
            </p:cNvCxnSpPr>
            <p:nvPr/>
          </p:nvCxnSpPr>
          <p:spPr>
            <a:xfrm rot="16200000" flipH="1">
              <a:off x="2355668" y="3102013"/>
              <a:ext cx="578648" cy="321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34" idx="0"/>
            </p:cNvCxnSpPr>
            <p:nvPr/>
          </p:nvCxnSpPr>
          <p:spPr>
            <a:xfrm rot="5400000">
              <a:off x="4623430" y="2859519"/>
              <a:ext cx="608013" cy="54650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48" idx="0"/>
            </p:cNvCxnSpPr>
            <p:nvPr/>
          </p:nvCxnSpPr>
          <p:spPr>
            <a:xfrm>
              <a:off x="5843628" y="2828763"/>
              <a:ext cx="739383"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1" idx="0"/>
            </p:cNvCxnSpPr>
            <p:nvPr/>
          </p:nvCxnSpPr>
          <p:spPr>
            <a:xfrm rot="16200000" flipH="1">
              <a:off x="5234224" y="3052401"/>
              <a:ext cx="608013" cy="1607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358114" y="3429000"/>
              <a:ext cx="157160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叶子结点层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67" name="右大括号 66"/>
            <p:cNvSpPr/>
            <p:nvPr/>
          </p:nvSpPr>
          <p:spPr>
            <a:xfrm>
              <a:off x="7143768" y="3357562"/>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左大括号 72"/>
            <p:cNvSpPr/>
            <p:nvPr/>
          </p:nvSpPr>
          <p:spPr>
            <a:xfrm>
              <a:off x="928662" y="1915314"/>
              <a:ext cx="214314" cy="1728000"/>
            </a:xfrm>
            <a:prstGeom prst="lef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73"/>
            <p:cNvSpPr txBox="1"/>
            <p:nvPr/>
          </p:nvSpPr>
          <p:spPr>
            <a:xfrm>
              <a:off x="436221" y="2000240"/>
              <a:ext cx="492443" cy="1500198"/>
            </a:xfrm>
            <a:prstGeom prst="rect">
              <a:avLst/>
            </a:prstGeom>
            <a:noFill/>
          </p:spPr>
          <p:txBody>
            <a:bodyPr vert="eaVert"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内部结点</a:t>
              </a:r>
              <a:endParaRPr lang="zh-CN" altLang="en-US" sz="2000" b="1" dirty="0" smtClean="0">
                <a:solidFill>
                  <a:srgbClr val="9900FF"/>
                </a:solidFill>
                <a:latin typeface="楷体" panose="02010609060101010101" pitchFamily="49" charset="-122"/>
                <a:ea typeface="楷体" panose="02010609060101010101" pitchFamily="49" charset="-122"/>
              </a:endParaRPr>
            </a:p>
          </p:txBody>
        </p:sp>
      </p:grpSp>
      <p:sp>
        <p:nvSpPr>
          <p:cNvPr id="68" name="Text Box 4"/>
          <p:cNvSpPr txBox="1">
            <a:spLocks noChangeArrowheads="1"/>
          </p:cNvSpPr>
          <p:nvPr/>
        </p:nvSpPr>
        <p:spPr bwMode="auto">
          <a:xfrm>
            <a:off x="428596" y="3929066"/>
            <a:ext cx="8462992" cy="498598"/>
          </a:xfrm>
          <a:prstGeom prst="rect">
            <a:avLst/>
          </a:prstGeom>
          <a:noFill/>
          <a:ln w="28575" algn="ctr">
            <a:noFill/>
            <a:miter lim="800000"/>
          </a:ln>
        </p:spPr>
        <p:txBody>
          <a:bodyPr wrap="square">
            <a:spAutoFit/>
          </a:bodyPr>
          <a:lstStyle/>
          <a:p>
            <a:pPr algn="l">
              <a:lnSpc>
                <a:spcPct val="12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或者是一棵</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空</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树，或者</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满足要求</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叉</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6" name="TextBox 75"/>
          <p:cNvSpPr txBox="1"/>
          <p:nvPr/>
        </p:nvSpPr>
        <p:spPr>
          <a:xfrm>
            <a:off x="500034" y="4572008"/>
            <a:ext cx="7358114" cy="400110"/>
          </a:xfrm>
          <a:prstGeom prst="rect">
            <a:avLst/>
          </a:prstGeom>
          <a:noFill/>
        </p:spPr>
        <p:txBody>
          <a:bodyPr wrap="square" rtlCol="0">
            <a:spAutoFit/>
          </a:bodyPr>
          <a:lstStyle/>
          <a:p>
            <a:pPr marL="457200" indent="-457200" algn="l"/>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每个结点的结构如下，</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结点中</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按关键字大小顺序排列</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72" name="Group 29"/>
          <p:cNvGraphicFramePr>
            <a:graphicFrameLocks noGrp="1"/>
          </p:cNvGraphicFramePr>
          <p:nvPr/>
        </p:nvGraphicFramePr>
        <p:xfrm>
          <a:off x="1373188" y="5143512"/>
          <a:ext cx="6172200" cy="519113"/>
        </p:xfrm>
        <a:graphic>
          <a:graphicData uri="http://schemas.openxmlformats.org/drawingml/2006/table">
            <a:tbl>
              <a:tblPr/>
              <a:tblGrid>
                <a:gridCol w="754062"/>
                <a:gridCol w="676275"/>
                <a:gridCol w="677863"/>
                <a:gridCol w="677862"/>
                <a:gridCol w="628650"/>
                <a:gridCol w="725488"/>
                <a:gridCol w="677862"/>
                <a:gridCol w="676275"/>
                <a:gridCol w="677863"/>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n</a:t>
                      </a:r>
                      <a:endParaRPr kumimoji="0" lang="en-US" altLang="zh-CN" sz="2000" b="1" i="1"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p</a:t>
                      </a:r>
                      <a:r>
                        <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0</a:t>
                      </a:r>
                      <a:endPar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k</a:t>
                      </a:r>
                      <a:r>
                        <a:rPr kumimoji="0" lang="en-US" altLang="zh-CN" sz="2000" b="1" i="0"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b="1" i="0"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p</a:t>
                      </a:r>
                      <a:r>
                        <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1</a:t>
                      </a:r>
                      <a:endPar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k</a:t>
                      </a:r>
                      <a:r>
                        <a:rPr kumimoji="0" lang="en-US" altLang="zh-CN" sz="2000" b="1" i="0"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2000" b="1" i="0"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p</a:t>
                      </a:r>
                      <a:r>
                        <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2</a:t>
                      </a:r>
                      <a:endParaRPr kumimoji="0" lang="en-US" altLang="zh-CN" sz="2000" b="1" i="0"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a:t>
                      </a:r>
                      <a:endParaRPr kumimoji="0" lang="en-US" altLang="zh-CN" sz="2000" b="1" i="0"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k</a:t>
                      </a:r>
                      <a:r>
                        <a:rPr kumimoji="0" lang="en-US" altLang="zh-CN" sz="2000" b="1" i="1"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rPr>
                        <a:t>n</a:t>
                      </a:r>
                      <a:endParaRPr kumimoji="0" lang="en-US" altLang="zh-CN" sz="2000" b="1" i="1" u="none" strike="noStrike" cap="none" normalizeH="0" baseline="-25000" smtClean="0">
                        <a:ln>
                          <a:noFill/>
                        </a:ln>
                        <a:solidFill>
                          <a:srgbClr val="CC00CC"/>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1" u="none" strike="noStrike" cap="none" normalizeH="0" baseline="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p</a:t>
                      </a:r>
                      <a:r>
                        <a:rPr kumimoji="0" lang="en-US" altLang="zh-CN" sz="2000" b="1" i="1"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rPr>
                        <a:t>n</a:t>
                      </a:r>
                      <a:endParaRPr kumimoji="0" lang="en-US" altLang="zh-CN" sz="2000" b="1" i="1" u="none" strike="noStrike" cap="none" normalizeH="0" baseline="-25000" smtClean="0">
                        <a:ln>
                          <a:noFill/>
                        </a:ln>
                        <a:solidFill>
                          <a:srgbClr val="3333FF"/>
                        </a:solidFill>
                        <a:effectLst/>
                        <a:latin typeface="Consolas" panose="020B0609020204030204" pitchFamily="49" charset="0"/>
                        <a:ea typeface="宋体" panose="02010600030101010101" pitchFamily="2" charset="-122"/>
                        <a:cs typeface="Consolas" panose="020B0609020204030204" pitchFamily="49"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77" name="灯片编号占位符 76"/>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Box 4"/>
          <p:cNvSpPr txBox="1">
            <a:spLocks noChangeArrowheads="1"/>
          </p:cNvSpPr>
          <p:nvPr/>
        </p:nvSpPr>
        <p:spPr bwMode="auto">
          <a:xfrm>
            <a:off x="428596" y="285728"/>
            <a:ext cx="2428892" cy="430887"/>
          </a:xfrm>
          <a:prstGeom prst="rect">
            <a:avLst/>
          </a:prstGeom>
          <a:noFill/>
          <a:ln w="9525">
            <a:noFill/>
            <a:miter lim="800000"/>
          </a:ln>
        </p:spPr>
        <p:txBody>
          <a:bodyPr wrap="square">
            <a:spAutoFit/>
          </a:bodyPr>
          <a:lstStyle/>
          <a:p>
            <a:pPr>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643306" y="671436"/>
            <a:ext cx="1143008"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根结点</a:t>
            </a:r>
            <a:endParaRPr lang="zh-CN" altLang="en-US" sz="2000" b="1" dirty="0">
              <a:solidFill>
                <a:srgbClr val="9900FF"/>
              </a:solidFill>
              <a:latin typeface="楷体" panose="02010609060101010101" pitchFamily="49" charset="-122"/>
              <a:ea typeface="楷体" panose="02010609060101010101" pitchFamily="49" charset="-122"/>
            </a:endParaRPr>
          </a:p>
        </p:txBody>
      </p:sp>
      <p:grpSp>
        <p:nvGrpSpPr>
          <p:cNvPr id="2" name="组合 80"/>
          <p:cNvGrpSpPr/>
          <p:nvPr/>
        </p:nvGrpSpPr>
        <p:grpSpPr>
          <a:xfrm>
            <a:off x="1278740" y="2913698"/>
            <a:ext cx="7722416" cy="872492"/>
            <a:chOff x="1278740" y="3699516"/>
            <a:chExt cx="7722416" cy="872492"/>
          </a:xfrm>
        </p:grpSpPr>
        <p:grpSp>
          <p:nvGrpSpPr>
            <p:cNvPr id="3" name="组合 71"/>
            <p:cNvGrpSpPr/>
            <p:nvPr/>
          </p:nvGrpSpPr>
          <p:grpSpPr>
            <a:xfrm>
              <a:off x="1278740" y="3699516"/>
              <a:ext cx="5593595" cy="736602"/>
              <a:chOff x="850112" y="3413922"/>
              <a:chExt cx="5593595" cy="736602"/>
            </a:xfrm>
          </p:grpSpPr>
          <p:cxnSp>
            <p:nvCxnSpPr>
              <p:cNvPr id="14" name="直接连接符 13"/>
              <p:cNvCxnSpPr/>
              <p:nvPr/>
            </p:nvCxnSpPr>
            <p:spPr>
              <a:xfrm rot="5400000">
                <a:off x="753671"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50112"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6" name="直接连接符 15"/>
              <p:cNvCxnSpPr/>
              <p:nvPr/>
            </p:nvCxnSpPr>
            <p:spPr>
              <a:xfrm rot="5400000">
                <a:off x="1010848"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07289"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p:nvPr/>
            </p:nvCxnSpPr>
            <p:spPr>
              <a:xfrm rot="5400000">
                <a:off x="1268024"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6446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1782378" y="3574658"/>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878819" y="373539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3" name="直接连接符 22"/>
              <p:cNvCxnSpPr/>
              <p:nvPr/>
            </p:nvCxnSpPr>
            <p:spPr>
              <a:xfrm rot="5400000">
                <a:off x="2039555"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135996"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5" name="直接连接符 24"/>
              <p:cNvCxnSpPr/>
              <p:nvPr/>
            </p:nvCxnSpPr>
            <p:spPr>
              <a:xfrm rot="5400000">
                <a:off x="2296732" y="357394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393173" y="373467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2811085"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2907527"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0" name="直接连接符 29"/>
              <p:cNvCxnSpPr/>
              <p:nvPr/>
            </p:nvCxnSpPr>
            <p:spPr>
              <a:xfrm rot="5400000">
                <a:off x="306826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16470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2" name="直接连接符 31"/>
              <p:cNvCxnSpPr/>
              <p:nvPr/>
            </p:nvCxnSpPr>
            <p:spPr>
              <a:xfrm rot="5400000">
                <a:off x="3325439"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3421880"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3775498"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3871940"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7" name="直接连接符 36"/>
              <p:cNvCxnSpPr/>
              <p:nvPr/>
            </p:nvCxnSpPr>
            <p:spPr>
              <a:xfrm rot="5400000">
                <a:off x="403267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2911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9" name="直接连接符 38"/>
              <p:cNvCxnSpPr/>
              <p:nvPr/>
            </p:nvCxnSpPr>
            <p:spPr>
              <a:xfrm rot="5400000">
                <a:off x="4289852"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386293"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4739911"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4836353"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4" name="直接连接符 43"/>
              <p:cNvCxnSpPr/>
              <p:nvPr/>
            </p:nvCxnSpPr>
            <p:spPr>
              <a:xfrm rot="5400000">
                <a:off x="499708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09352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6" name="直接连接符 45"/>
              <p:cNvCxnSpPr/>
              <p:nvPr/>
            </p:nvCxnSpPr>
            <p:spPr>
              <a:xfrm rot="5400000">
                <a:off x="5254265"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5350706"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5704324" y="3604023"/>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800766" y="3764759"/>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1" name="直接连接符 50"/>
              <p:cNvCxnSpPr/>
              <p:nvPr/>
            </p:nvCxnSpPr>
            <p:spPr>
              <a:xfrm rot="5400000">
                <a:off x="5961501"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057942"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3" name="直接连接符 52"/>
              <p:cNvCxnSpPr/>
              <p:nvPr/>
            </p:nvCxnSpPr>
            <p:spPr>
              <a:xfrm rot="5400000">
                <a:off x="6218678" y="3603309"/>
                <a:ext cx="321471" cy="1429"/>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315119" y="3764044"/>
                <a:ext cx="128588" cy="3857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69" name="TextBox 68"/>
            <p:cNvSpPr txBox="1"/>
            <p:nvPr/>
          </p:nvSpPr>
          <p:spPr>
            <a:xfrm>
              <a:off x="7281882" y="4075060"/>
              <a:ext cx="171927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外部结点层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70" name="右大括号 69"/>
            <p:cNvSpPr/>
            <p:nvPr/>
          </p:nvSpPr>
          <p:spPr>
            <a:xfrm>
              <a:off x="7143768" y="4000504"/>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79"/>
          <p:cNvGrpSpPr/>
          <p:nvPr/>
        </p:nvGrpSpPr>
        <p:grpSpPr>
          <a:xfrm>
            <a:off x="436221" y="1129496"/>
            <a:ext cx="8493497" cy="2013752"/>
            <a:chOff x="436221" y="1915314"/>
            <a:chExt cx="8493497" cy="2013752"/>
          </a:xfrm>
        </p:grpSpPr>
        <p:sp>
          <p:nvSpPr>
            <p:cNvPr id="12" name="矩形 11"/>
            <p:cNvSpPr/>
            <p:nvPr/>
          </p:nvSpPr>
          <p:spPr>
            <a:xfrm>
              <a:off x="3721920" y="1928644"/>
              <a:ext cx="835825" cy="3564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1214446"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0" name="矩形 19"/>
            <p:cNvSpPr/>
            <p:nvPr/>
          </p:nvSpPr>
          <p:spPr>
            <a:xfrm>
              <a:off x="2243153" y="340741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3271860"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236273"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5200686"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6165099" y="3436776"/>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2243153"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072098" y="2600951"/>
              <a:ext cx="835825" cy="3564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13 18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7" name="直接连接符 56"/>
            <p:cNvCxnSpPr/>
            <p:nvPr/>
          </p:nvCxnSpPr>
          <p:spPr>
            <a:xfrm rot="10800000" flipV="1">
              <a:off x="3014684" y="2185821"/>
              <a:ext cx="964413" cy="385765"/>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364862" y="2185821"/>
              <a:ext cx="835825" cy="38576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endCxn id="13" idx="0"/>
            </p:cNvCxnSpPr>
            <p:nvPr/>
          </p:nvCxnSpPr>
          <p:spPr>
            <a:xfrm rot="10800000" flipV="1">
              <a:off x="1632359" y="2828763"/>
              <a:ext cx="803678" cy="5786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27" idx="0"/>
            </p:cNvCxnSpPr>
            <p:nvPr/>
          </p:nvCxnSpPr>
          <p:spPr>
            <a:xfrm>
              <a:off x="2886095" y="2828763"/>
              <a:ext cx="803678"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20" idx="0"/>
            </p:cNvCxnSpPr>
            <p:nvPr/>
          </p:nvCxnSpPr>
          <p:spPr>
            <a:xfrm rot="16200000" flipH="1">
              <a:off x="2355668" y="3102013"/>
              <a:ext cx="578648" cy="321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34" idx="0"/>
            </p:cNvCxnSpPr>
            <p:nvPr/>
          </p:nvCxnSpPr>
          <p:spPr>
            <a:xfrm rot="5400000">
              <a:off x="4623430" y="2859519"/>
              <a:ext cx="608013" cy="54650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48" idx="0"/>
            </p:cNvCxnSpPr>
            <p:nvPr/>
          </p:nvCxnSpPr>
          <p:spPr>
            <a:xfrm>
              <a:off x="5843628" y="2828763"/>
              <a:ext cx="739383" cy="60801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41" idx="0"/>
            </p:cNvCxnSpPr>
            <p:nvPr/>
          </p:nvCxnSpPr>
          <p:spPr>
            <a:xfrm rot="16200000" flipH="1">
              <a:off x="5234224" y="3052401"/>
              <a:ext cx="608013" cy="1607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7358114" y="3429000"/>
              <a:ext cx="1571604" cy="400110"/>
            </a:xfrm>
            <a:prstGeom prst="rect">
              <a:avLst/>
            </a:prstGeom>
            <a:solidFill>
              <a:schemeClr val="bg1"/>
            </a:solidFill>
          </p:spPr>
          <p:txBody>
            <a:bodyPr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叶子结点层</a:t>
              </a:r>
              <a:endParaRPr lang="zh-CN" altLang="en-US" sz="2000" b="1" dirty="0">
                <a:solidFill>
                  <a:srgbClr val="9900FF"/>
                </a:solidFill>
                <a:latin typeface="楷体" panose="02010609060101010101" pitchFamily="49" charset="-122"/>
                <a:ea typeface="楷体" panose="02010609060101010101" pitchFamily="49" charset="-122"/>
              </a:endParaRPr>
            </a:p>
          </p:txBody>
        </p:sp>
        <p:sp>
          <p:nvSpPr>
            <p:cNvPr id="67" name="右大括号 66"/>
            <p:cNvSpPr/>
            <p:nvPr/>
          </p:nvSpPr>
          <p:spPr>
            <a:xfrm>
              <a:off x="7143768" y="3357562"/>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左大括号 72"/>
            <p:cNvSpPr/>
            <p:nvPr/>
          </p:nvSpPr>
          <p:spPr>
            <a:xfrm>
              <a:off x="928662" y="1915314"/>
              <a:ext cx="214314" cy="1728000"/>
            </a:xfrm>
            <a:prstGeom prst="lef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73"/>
            <p:cNvSpPr txBox="1"/>
            <p:nvPr/>
          </p:nvSpPr>
          <p:spPr>
            <a:xfrm>
              <a:off x="436221" y="2000240"/>
              <a:ext cx="492443" cy="1500198"/>
            </a:xfrm>
            <a:prstGeom prst="rect">
              <a:avLst/>
            </a:prstGeom>
            <a:noFill/>
          </p:spPr>
          <p:txBody>
            <a:bodyPr vert="eaVert" wrap="square" rtlCol="0">
              <a:spAutoFit/>
            </a:bodyPr>
            <a:lstStyle/>
            <a:p>
              <a:r>
                <a:rPr lang="zh-CN" altLang="en-US" sz="2000" b="1" smtClean="0">
                  <a:solidFill>
                    <a:srgbClr val="9900FF"/>
                  </a:solidFill>
                  <a:latin typeface="楷体" panose="02010609060101010101" pitchFamily="49" charset="-122"/>
                  <a:ea typeface="楷体" panose="02010609060101010101" pitchFamily="49" charset="-122"/>
                </a:rPr>
                <a:t>内部结点</a:t>
              </a:r>
              <a:endParaRPr lang="zh-CN" altLang="en-US" sz="2000" b="1" dirty="0" smtClean="0">
                <a:solidFill>
                  <a:srgbClr val="9900FF"/>
                </a:solidFill>
                <a:latin typeface="楷体" panose="02010609060101010101" pitchFamily="49" charset="-122"/>
                <a:ea typeface="楷体" panose="02010609060101010101" pitchFamily="49" charset="-122"/>
              </a:endParaRPr>
            </a:p>
          </p:txBody>
        </p:sp>
      </p:grpSp>
      <p:sp>
        <p:nvSpPr>
          <p:cNvPr id="68" name="Text Box 4"/>
          <p:cNvSpPr txBox="1">
            <a:spLocks noChangeArrowheads="1"/>
          </p:cNvSpPr>
          <p:nvPr/>
        </p:nvSpPr>
        <p:spPr bwMode="auto">
          <a:xfrm>
            <a:off x="428596" y="3929066"/>
            <a:ext cx="8462992" cy="498598"/>
          </a:xfrm>
          <a:prstGeom prst="rect">
            <a:avLst/>
          </a:prstGeom>
          <a:noFill/>
          <a:ln w="28575" algn="ctr">
            <a:noFill/>
            <a:miter lim="800000"/>
          </a:ln>
        </p:spPr>
        <p:txBody>
          <a:bodyPr wrap="square">
            <a:spAutoFit/>
          </a:bodyPr>
          <a:lstStyle/>
          <a:p>
            <a:pPr algn="l">
              <a:lnSpc>
                <a:spcPct val="12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a:solidFill>
                  <a:srgbClr val="FF00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或者是一棵</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空</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树，或者</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是</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满足要求</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叉</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6" name="TextBox 75"/>
          <p:cNvSpPr txBox="1"/>
          <p:nvPr/>
        </p:nvSpPr>
        <p:spPr>
          <a:xfrm>
            <a:off x="500034" y="4572008"/>
            <a:ext cx="8143932" cy="707886"/>
          </a:xfrm>
          <a:prstGeom prst="rect">
            <a:avLst/>
          </a:prstGeom>
          <a:noFill/>
        </p:spPr>
        <p:txBody>
          <a:bodyPr wrap="square" rtlCol="0">
            <a:spAutoFit/>
          </a:bodyPr>
          <a:lstStyle/>
          <a:p>
            <a:pPr marL="457200" indent="-457200"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所有外部结点都在同一层上。</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树是所有结点的</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平衡因子均等于</a:t>
            </a:r>
            <a:r>
              <a:rPr lang="en-US" altLang="zh-CN"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0</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的多路查找树。</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7" name="TextBox 76"/>
          <p:cNvSpPr txBox="1"/>
          <p:nvPr/>
        </p:nvSpPr>
        <p:spPr>
          <a:xfrm>
            <a:off x="714348" y="5500702"/>
            <a:ext cx="7858180"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在计算</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树的高度时，需要计入最底层的外部结点</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8" name="灯片编号占位符 77"/>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4"/>
          <p:cNvSpPr txBox="1">
            <a:spLocks noChangeArrowheads="1"/>
          </p:cNvSpPr>
          <p:nvPr/>
        </p:nvSpPr>
        <p:spPr bwMode="auto">
          <a:xfrm>
            <a:off x="2857520" y="3429000"/>
            <a:ext cx="2071702" cy="400110"/>
          </a:xfrm>
          <a:prstGeom prst="rect">
            <a:avLst/>
          </a:prstGeom>
          <a:noFill/>
          <a:ln w="9525">
            <a:noFill/>
            <a:miter lim="800000"/>
          </a:ln>
        </p:spPr>
        <p:txBody>
          <a:bodyPr wrap="square">
            <a:spAutoFit/>
          </a:bodyPr>
          <a:lstStyle/>
          <a:p>
            <a:pPr>
              <a:spcBef>
                <a:spcPct val="50000"/>
              </a:spcBef>
            </a:pPr>
            <a:r>
              <a:rPr lang="zh-CN" altLang="en-US" sz="2000" b="1" dirty="0">
                <a:solidFill>
                  <a:srgbClr val="CC00CC"/>
                </a:solidFill>
                <a:ea typeface="楷体" panose="02010609060101010101" pitchFamily="49" charset="-122"/>
                <a:cs typeface="Times New Roman" panose="02020603050405020304" pitchFamily="18" charset="0"/>
              </a:rPr>
              <a:t>一棵</a:t>
            </a:r>
            <a:r>
              <a:rPr lang="en-US" altLang="zh-CN" sz="2000" b="1">
                <a:solidFill>
                  <a:srgbClr val="CC00CC"/>
                </a:solidFill>
                <a:ea typeface="楷体" panose="02010609060101010101" pitchFamily="49" charset="-122"/>
                <a:cs typeface="Times New Roman" panose="02020603050405020304" pitchFamily="18" charset="0"/>
              </a:rPr>
              <a:t>3</a:t>
            </a:r>
            <a:r>
              <a:rPr lang="zh-CN" altLang="en-US" sz="2000" b="1" smtClean="0">
                <a:solidFill>
                  <a:srgbClr val="CC00CC"/>
                </a:solidFill>
                <a:ea typeface="楷体" panose="02010609060101010101" pitchFamily="49" charset="-122"/>
                <a:cs typeface="Times New Roman" panose="02020603050405020304" pitchFamily="18" charset="0"/>
              </a:rPr>
              <a:t>阶</a:t>
            </a:r>
            <a:r>
              <a:rPr lang="en-US" altLang="zh-CN" sz="2000" b="1" smtClean="0">
                <a:solidFill>
                  <a:srgbClr val="CC00CC"/>
                </a:solidFill>
                <a:ea typeface="楷体" panose="02010609060101010101" pitchFamily="49" charset="-122"/>
                <a:cs typeface="Times New Roman" panose="02020603050405020304" pitchFamily="18" charset="0"/>
              </a:rPr>
              <a:t>B</a:t>
            </a:r>
            <a:r>
              <a:rPr lang="zh-CN" altLang="en-US" sz="2000" b="1" smtClean="0">
                <a:solidFill>
                  <a:srgbClr val="CC00CC"/>
                </a:solidFill>
                <a:ea typeface="楷体" panose="02010609060101010101" pitchFamily="49" charset="-122"/>
                <a:cs typeface="Times New Roman" panose="02020603050405020304" pitchFamily="18" charset="0"/>
              </a:rPr>
              <a:t>树</a:t>
            </a:r>
            <a:endParaRPr lang="zh-CN" altLang="en-US" sz="2000" b="1" dirty="0">
              <a:solidFill>
                <a:srgbClr val="CC00CC"/>
              </a:solidFill>
              <a:ea typeface="楷体" panose="02010609060101010101" pitchFamily="49" charset="-122"/>
              <a:cs typeface="Times New Roman" panose="02020603050405020304" pitchFamily="18" charset="0"/>
            </a:endParaRPr>
          </a:p>
        </p:txBody>
      </p:sp>
      <p:sp>
        <p:nvSpPr>
          <p:cNvPr id="2052" name="Rectangle 3"/>
          <p:cNvSpPr>
            <a:spLocks noChangeArrowheads="1"/>
          </p:cNvSpPr>
          <p:nvPr/>
        </p:nvSpPr>
        <p:spPr bwMode="auto">
          <a:xfrm>
            <a:off x="214346" y="3197068"/>
            <a:ext cx="9144000" cy="0"/>
          </a:xfrm>
          <a:prstGeom prst="rect">
            <a:avLst/>
          </a:prstGeom>
          <a:noFill/>
          <a:ln w="9525">
            <a:noFill/>
            <a:miter lim="800000"/>
          </a:ln>
        </p:spPr>
        <p:txBody>
          <a:bodyPr wrap="none" anchor="ctr">
            <a:spAutoFit/>
          </a:bodyPr>
          <a:lstStyle/>
          <a:p>
            <a:endParaRPr lang="zh-CN" altLang="en-US"/>
          </a:p>
        </p:txBody>
      </p:sp>
      <p:sp>
        <p:nvSpPr>
          <p:cNvPr id="2053" name="Text Box 4"/>
          <p:cNvSpPr txBox="1">
            <a:spLocks noChangeArrowheads="1"/>
          </p:cNvSpPr>
          <p:nvPr/>
        </p:nvSpPr>
        <p:spPr bwMode="auto">
          <a:xfrm>
            <a:off x="1143008" y="4071942"/>
            <a:ext cx="6572264" cy="861774"/>
          </a:xfrm>
          <a:prstGeom prst="rect">
            <a:avLst/>
          </a:prstGeom>
          <a:noFill/>
          <a:ln w="9525">
            <a:noFill/>
            <a:miter lim="800000"/>
          </a:ln>
        </p:spPr>
        <p:txBody>
          <a:bodyPr wrap="square">
            <a:spAutoFit/>
          </a:bodyPr>
          <a:lstStyle/>
          <a:p>
            <a:pPr marL="457200" indent="-457200" algn="l">
              <a:spcBef>
                <a:spcPct val="50000"/>
              </a:spcBef>
              <a:buBlip>
                <a:blip r:embed="rId1"/>
              </a:buBlip>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非根非外部结点的</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marL="457200" indent="-457200" algn="l">
              <a:spcBef>
                <a:spcPct val="50000"/>
              </a:spcBef>
              <a:buBlip>
                <a:blip r:embed="rId1"/>
              </a:buBlip>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非根非外部结点的孩子结点个数</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054" name="Text Box 5"/>
          <p:cNvSpPr txBox="1">
            <a:spLocks noChangeArrowheads="1"/>
          </p:cNvSpPr>
          <p:nvPr/>
        </p:nvSpPr>
        <p:spPr bwMode="auto">
          <a:xfrm>
            <a:off x="465171" y="5183192"/>
            <a:ext cx="8280400" cy="738664"/>
          </a:xfrm>
          <a:prstGeom prst="rect">
            <a:avLst/>
          </a:prstGeom>
          <a:noFill/>
          <a:ln w="28575" algn="ctr">
            <a:noFill/>
            <a:miter lim="800000"/>
          </a:ln>
        </p:spPr>
        <p:txBody>
          <a:bodyPr>
            <a:spAutoFit/>
          </a:bodyPr>
          <a:lstStyle/>
          <a:p>
            <a:pPr algn="l">
              <a:spcBef>
                <a:spcPct val="50000"/>
              </a:spcBef>
            </a:pP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kumimoji="0" lang="zh-CN" altLang="en-US" sz="2200" b="1">
                <a:latin typeface="Consolas" panose="020B0609020204030204" pitchFamily="49" charset="0"/>
                <a:ea typeface="黑体" panose="02010609060101010101" pitchFamily="49" charset="-122"/>
                <a:cs typeface="Consolas" panose="020B0609020204030204" pitchFamily="49" charset="0"/>
              </a:rPr>
              <a:t>说明</a:t>
            </a:r>
            <a:r>
              <a:rPr kumimoji="0" lang="zh-CN" altLang="en-US" sz="2200" b="1" smtClean="0">
                <a:latin typeface="Consolas" panose="020B0609020204030204" pitchFamily="49" charset="0"/>
                <a:ea typeface="黑体" panose="02010609060101010101" pitchFamily="49" charset="-122"/>
                <a:cs typeface="Consolas" panose="020B0609020204030204" pitchFamily="49" charset="0"/>
              </a:rPr>
              <a:t>：</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外部结点就是失败结点，指向</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它的指针</a:t>
            </a:r>
            <a:r>
              <a:rPr kumimoji="0"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为</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空，不</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含有</a:t>
            </a:r>
            <a:r>
              <a:rPr kumimoji="0"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任何</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信息，是</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虚设的。</a:t>
            </a:r>
            <a:r>
              <a:rPr kumimoji="0"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中总有</a:t>
            </a:r>
            <a:r>
              <a:rPr kumimoji="0" lang="en-US" altLang="zh-CN" sz="20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n</a:t>
            </a:r>
            <a:r>
              <a:rPr kumimoji="0"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关键字，则</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外部结点个数</a:t>
            </a:r>
            <a:r>
              <a:rPr kumimoji="0" lang="zh-CN" altLang="en-US" sz="2000" b="1" dirty="0">
                <a:solidFill>
                  <a:srgbClr val="FF00FF"/>
                </a:solidFill>
                <a:latin typeface="Consolas" panose="020B0609020204030204" pitchFamily="49" charset="0"/>
                <a:ea typeface="楷体" panose="02010609060101010101" pitchFamily="49" charset="-122"/>
                <a:cs typeface="Consolas" panose="020B0609020204030204" pitchFamily="49" charset="0"/>
              </a:rPr>
              <a:t>为</a:t>
            </a:r>
            <a:r>
              <a:rPr kumimoji="0" lang="en-US" altLang="zh-CN" sz="2000" b="1" i="1" dirty="0" err="1">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kumimoji="0" lang="en-US" altLang="zh-CN" sz="2000" b="1" dirty="0" err="1">
                <a:solidFill>
                  <a:srgbClr val="FF00FF"/>
                </a:solidFill>
                <a:latin typeface="Consolas" panose="020B0609020204030204" pitchFamily="49" charset="0"/>
                <a:ea typeface="楷体" panose="02010609060101010101" pitchFamily="49" charset="-122"/>
                <a:cs typeface="Consolas" panose="020B0609020204030204" pitchFamily="49" charset="0"/>
              </a:rPr>
              <a:t>+1</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68" name="组合 67"/>
          <p:cNvGrpSpPr/>
          <p:nvPr/>
        </p:nvGrpSpPr>
        <p:grpSpPr>
          <a:xfrm>
            <a:off x="785818" y="214132"/>
            <a:ext cx="2500330" cy="609600"/>
            <a:chOff x="785818" y="214132"/>
            <a:chExt cx="2500330" cy="609600"/>
          </a:xfrm>
        </p:grpSpPr>
        <p:sp>
          <p:nvSpPr>
            <p:cNvPr id="2056" name="Text Box 7"/>
            <p:cNvSpPr txBox="1">
              <a:spLocks noChangeArrowheads="1"/>
            </p:cNvSpPr>
            <p:nvPr/>
          </p:nvSpPr>
          <p:spPr bwMode="auto">
            <a:xfrm>
              <a:off x="785818" y="214132"/>
              <a:ext cx="2159000" cy="609600"/>
            </a:xfrm>
            <a:prstGeom prst="rect">
              <a:avLst/>
            </a:prstGeom>
            <a:noFill/>
            <a:ln w="28575" algn="ctr">
              <a:noFill/>
              <a:miter lim="800000"/>
            </a:ln>
          </p:spPr>
          <p:txBody>
            <a:bodyPr lIns="0" tIns="0" rIns="0" bIns="0">
              <a:spAutoFit/>
            </a:bodyPr>
            <a:lstStyle/>
            <a:p>
              <a:pPr algn="l">
                <a:spcBef>
                  <a:spcPct val="50000"/>
                </a:spcBef>
              </a:pPr>
              <a:r>
                <a:rPr kumimoji="0" lang="zh-CN" altLang="en-US" sz="2000" b="1">
                  <a:solidFill>
                    <a:srgbClr val="3333FF"/>
                  </a:solidFill>
                  <a:ea typeface="楷体" panose="02010609060101010101" pitchFamily="49" charset="-122"/>
                  <a:cs typeface="Times New Roman" panose="02020603050405020304" pitchFamily="18" charset="0"/>
                </a:rPr>
                <a:t>通过</a:t>
              </a:r>
              <a:r>
                <a:rPr kumimoji="0" lang="zh-CN" altLang="en-US" sz="2000" b="1" smtClean="0">
                  <a:solidFill>
                    <a:srgbClr val="3333FF"/>
                  </a:solidFill>
                  <a:ea typeface="楷体" panose="02010609060101010101" pitchFamily="49" charset="-122"/>
                  <a:cs typeface="Times New Roman" panose="02020603050405020304" pitchFamily="18" charset="0"/>
                </a:rPr>
                <a:t>该结点指针</a:t>
              </a:r>
              <a:r>
                <a:rPr kumimoji="0" lang="zh-CN" altLang="en-US" sz="2000" b="1" dirty="0">
                  <a:solidFill>
                    <a:srgbClr val="3333FF"/>
                  </a:solidFill>
                  <a:ea typeface="楷体" panose="02010609060101010101" pitchFamily="49" charset="-122"/>
                  <a:cs typeface="Times New Roman" panose="02020603050405020304" pitchFamily="18" charset="0"/>
                </a:rPr>
                <a:t>可以实现随机查找</a:t>
              </a:r>
              <a:endParaRPr kumimoji="0" lang="zh-CN" altLang="en-US" sz="2000" b="1" dirty="0">
                <a:solidFill>
                  <a:srgbClr val="3333FF"/>
                </a:solidFill>
                <a:ea typeface="楷体" panose="02010609060101010101" pitchFamily="49" charset="-122"/>
                <a:cs typeface="Times New Roman" panose="02020603050405020304" pitchFamily="18" charset="0"/>
              </a:endParaRPr>
            </a:p>
          </p:txBody>
        </p:sp>
        <p:cxnSp>
          <p:nvCxnSpPr>
            <p:cNvPr id="10" name="直接箭头连接符 9"/>
            <p:cNvCxnSpPr>
              <a:stCxn id="2056" idx="3"/>
            </p:cNvCxnSpPr>
            <p:nvPr/>
          </p:nvCxnSpPr>
          <p:spPr>
            <a:xfrm>
              <a:off x="2944818" y="518932"/>
              <a:ext cx="341330" cy="123828"/>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sp>
        <p:nvSpPr>
          <p:cNvPr id="11" name="TextBox 10"/>
          <p:cNvSpPr txBox="1"/>
          <p:nvPr/>
        </p:nvSpPr>
        <p:spPr>
          <a:xfrm>
            <a:off x="4357718" y="599840"/>
            <a:ext cx="1143008" cy="400110"/>
          </a:xfrm>
          <a:prstGeom prst="rect">
            <a:avLst/>
          </a:prstGeom>
          <a:solidFill>
            <a:schemeClr val="bg1"/>
          </a:solidFill>
        </p:spPr>
        <p:txBody>
          <a:bodyPr wrap="square" rtlCol="0">
            <a:spAutoFit/>
          </a:bodyPr>
          <a:lstStyle/>
          <a:p>
            <a:r>
              <a:rPr lang="zh-CN" altLang="en-US" sz="2000" b="1" smtClean="0">
                <a:solidFill>
                  <a:srgbClr val="FF00FF"/>
                </a:solidFill>
                <a:latin typeface="楷体" panose="02010609060101010101" pitchFamily="49" charset="-122"/>
                <a:ea typeface="楷体" panose="02010609060101010101" pitchFamily="49" charset="-122"/>
              </a:rPr>
              <a:t>根结点</a:t>
            </a:r>
            <a:endParaRPr lang="zh-CN" altLang="en-US" sz="2000" b="1" dirty="0">
              <a:solidFill>
                <a:srgbClr val="FF00FF"/>
              </a:solidFill>
              <a:latin typeface="楷体" panose="02010609060101010101" pitchFamily="49" charset="-122"/>
              <a:ea typeface="楷体" panose="02010609060101010101" pitchFamily="49" charset="-122"/>
            </a:endParaRPr>
          </a:p>
        </p:txBody>
      </p:sp>
      <p:grpSp>
        <p:nvGrpSpPr>
          <p:cNvPr id="14" name="组合 13"/>
          <p:cNvGrpSpPr>
            <a:grpSpLocks noChangeAspect="1"/>
          </p:cNvGrpSpPr>
          <p:nvPr/>
        </p:nvGrpSpPr>
        <p:grpSpPr>
          <a:xfrm>
            <a:off x="785818" y="642760"/>
            <a:ext cx="5786478" cy="2507474"/>
            <a:chOff x="1571604" y="3357562"/>
            <a:chExt cx="6429420" cy="2786082"/>
          </a:xfrm>
        </p:grpSpPr>
        <p:sp>
          <p:nvSpPr>
            <p:cNvPr id="15" name="矩形 14"/>
            <p:cNvSpPr/>
            <p:nvPr/>
          </p:nvSpPr>
          <p:spPr>
            <a:xfrm>
              <a:off x="4357686" y="3357562"/>
              <a:ext cx="928694" cy="396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10</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6" name="矩形 15"/>
            <p:cNvSpPr/>
            <p:nvPr/>
          </p:nvSpPr>
          <p:spPr>
            <a:xfrm>
              <a:off x="1571604" y="5000636"/>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1   2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17" name="直接连接符 16"/>
            <p:cNvCxnSpPr/>
            <p:nvPr/>
          </p:nvCxnSpPr>
          <p:spPr>
            <a:xfrm rot="5400000">
              <a:off x="1535885" y="5503793"/>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643042" y="5682388"/>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9" name="直接连接符 18"/>
            <p:cNvCxnSpPr/>
            <p:nvPr/>
          </p:nvCxnSpPr>
          <p:spPr>
            <a:xfrm rot="5400000">
              <a:off x="1821637" y="5502999"/>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928794" y="5681594"/>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1" name="直接连接符 20"/>
            <p:cNvCxnSpPr/>
            <p:nvPr/>
          </p:nvCxnSpPr>
          <p:spPr>
            <a:xfrm rot="5400000">
              <a:off x="2107389" y="5502999"/>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2214546" y="5681594"/>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23" name="矩形 22"/>
            <p:cNvSpPr/>
            <p:nvPr/>
          </p:nvSpPr>
          <p:spPr>
            <a:xfrm>
              <a:off x="2714612" y="5000636"/>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4   5</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24" name="直接连接符 23"/>
            <p:cNvCxnSpPr/>
            <p:nvPr/>
          </p:nvCxnSpPr>
          <p:spPr>
            <a:xfrm rot="5400000">
              <a:off x="2678893" y="5503793"/>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2786050" y="5682388"/>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6" name="直接连接符 25"/>
            <p:cNvCxnSpPr/>
            <p:nvPr/>
          </p:nvCxnSpPr>
          <p:spPr>
            <a:xfrm rot="5400000">
              <a:off x="2964645" y="5502999"/>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3071802" y="5681594"/>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28" name="直接连接符 27"/>
            <p:cNvCxnSpPr/>
            <p:nvPr/>
          </p:nvCxnSpPr>
          <p:spPr>
            <a:xfrm rot="5400000">
              <a:off x="3250397" y="5502999"/>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357554" y="5681594"/>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0" name="矩形 29"/>
            <p:cNvSpPr/>
            <p:nvPr/>
          </p:nvSpPr>
          <p:spPr>
            <a:xfrm>
              <a:off x="3857620" y="503326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7   9</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31" name="直接连接符 30"/>
            <p:cNvCxnSpPr/>
            <p:nvPr/>
          </p:nvCxnSpPr>
          <p:spPr>
            <a:xfrm rot="5400000">
              <a:off x="3821901" y="5536421"/>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3929058" y="5715016"/>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3" name="直接连接符 32"/>
            <p:cNvCxnSpPr/>
            <p:nvPr/>
          </p:nvCxnSpPr>
          <p:spPr>
            <a:xfrm rot="5400000">
              <a:off x="4107653"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4214810"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35" name="直接连接符 34"/>
            <p:cNvCxnSpPr/>
            <p:nvPr/>
          </p:nvCxnSpPr>
          <p:spPr>
            <a:xfrm rot="5400000">
              <a:off x="4393405"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4500562"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37" name="矩形 36"/>
            <p:cNvSpPr/>
            <p:nvPr/>
          </p:nvSpPr>
          <p:spPr>
            <a:xfrm>
              <a:off x="4929190" y="503326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11 12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38" name="直接连接符 37"/>
            <p:cNvCxnSpPr/>
            <p:nvPr/>
          </p:nvCxnSpPr>
          <p:spPr>
            <a:xfrm rot="5400000">
              <a:off x="4893471" y="5536421"/>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5000628" y="5715016"/>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0" name="直接连接符 39"/>
            <p:cNvCxnSpPr/>
            <p:nvPr/>
          </p:nvCxnSpPr>
          <p:spPr>
            <a:xfrm rot="5400000">
              <a:off x="5179223"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5286380"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2" name="直接连接符 41"/>
            <p:cNvCxnSpPr/>
            <p:nvPr/>
          </p:nvCxnSpPr>
          <p:spPr>
            <a:xfrm rot="5400000">
              <a:off x="5464975"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5572132"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4" name="矩形 43"/>
            <p:cNvSpPr/>
            <p:nvPr/>
          </p:nvSpPr>
          <p:spPr>
            <a:xfrm>
              <a:off x="6000760" y="503326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14 17</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45" name="直接连接符 44"/>
            <p:cNvCxnSpPr/>
            <p:nvPr/>
          </p:nvCxnSpPr>
          <p:spPr>
            <a:xfrm rot="5400000">
              <a:off x="5965041" y="5536421"/>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6072198" y="5715016"/>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7" name="直接连接符 46"/>
            <p:cNvCxnSpPr/>
            <p:nvPr/>
          </p:nvCxnSpPr>
          <p:spPr>
            <a:xfrm rot="5400000">
              <a:off x="6250793"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6357950"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49" name="直接连接符 48"/>
            <p:cNvCxnSpPr/>
            <p:nvPr/>
          </p:nvCxnSpPr>
          <p:spPr>
            <a:xfrm rot="5400000">
              <a:off x="6536545"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6643702"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1" name="矩形 50"/>
            <p:cNvSpPr/>
            <p:nvPr/>
          </p:nvSpPr>
          <p:spPr>
            <a:xfrm>
              <a:off x="7072330" y="503326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19 20</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52" name="直接连接符 51"/>
            <p:cNvCxnSpPr/>
            <p:nvPr/>
          </p:nvCxnSpPr>
          <p:spPr>
            <a:xfrm rot="5400000">
              <a:off x="7036611" y="5536421"/>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7143768" y="5715016"/>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4" name="直接连接符 53"/>
            <p:cNvCxnSpPr/>
            <p:nvPr/>
          </p:nvCxnSpPr>
          <p:spPr>
            <a:xfrm rot="5400000">
              <a:off x="7322363"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7429520"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56" name="直接连接符 55"/>
            <p:cNvCxnSpPr/>
            <p:nvPr/>
          </p:nvCxnSpPr>
          <p:spPr>
            <a:xfrm rot="5400000">
              <a:off x="7608115" y="5535627"/>
              <a:ext cx="357190" cy="1588"/>
            </a:xfrm>
            <a:prstGeom prst="line">
              <a:avLst/>
            </a:prstGeom>
            <a:ln w="28575">
              <a:solidFill>
                <a:srgbClr val="3333FF"/>
              </a:solidFill>
              <a:tailEnd type="none"/>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7715272" y="5714222"/>
              <a:ext cx="14287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58" name="矩形 57"/>
            <p:cNvSpPr/>
            <p:nvPr/>
          </p:nvSpPr>
          <p:spPr>
            <a:xfrm>
              <a:off x="2714612" y="4104570"/>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1" dirty="0" smtClean="0">
                  <a:solidFill>
                    <a:srgbClr val="3333FF"/>
                  </a:solidFill>
                  <a:latin typeface="Consolas" panose="020B0609020204030204" pitchFamily="49" charset="0"/>
                  <a:cs typeface="Consolas" panose="020B0609020204030204" pitchFamily="49" charset="0"/>
                </a:rPr>
                <a:t>3  6</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59" name="矩形 58"/>
            <p:cNvSpPr/>
            <p:nvPr/>
          </p:nvSpPr>
          <p:spPr>
            <a:xfrm>
              <a:off x="5857884" y="4104570"/>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13 </a:t>
              </a:r>
              <a:r>
                <a:rPr lang="en-US" altLang="zh-CN" sz="1800" b="1" dirty="0" smtClean="0">
                  <a:solidFill>
                    <a:srgbClr val="3333FF"/>
                  </a:solidFill>
                  <a:latin typeface="Consolas" panose="020B0609020204030204" pitchFamily="49" charset="0"/>
                  <a:cs typeface="Consolas" panose="020B0609020204030204" pitchFamily="49" charset="0"/>
                </a:rPr>
                <a:t>18</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60" name="直接连接符 59"/>
            <p:cNvCxnSpPr/>
            <p:nvPr/>
          </p:nvCxnSpPr>
          <p:spPr>
            <a:xfrm rot="10800000" flipV="1">
              <a:off x="3571868" y="3643314"/>
              <a:ext cx="1071570" cy="428628"/>
            </a:xfrm>
            <a:prstGeom prst="line">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5072066" y="3643314"/>
              <a:ext cx="928694" cy="42862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16" idx="0"/>
            </p:cNvCxnSpPr>
            <p:nvPr/>
          </p:nvCxnSpPr>
          <p:spPr>
            <a:xfrm rot="10800000" flipV="1">
              <a:off x="2035952" y="4357694"/>
              <a:ext cx="892975" cy="6429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30" idx="0"/>
            </p:cNvCxnSpPr>
            <p:nvPr/>
          </p:nvCxnSpPr>
          <p:spPr>
            <a:xfrm>
              <a:off x="3428992" y="4357694"/>
              <a:ext cx="892975" cy="67557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endCxn id="23" idx="0"/>
            </p:cNvCxnSpPr>
            <p:nvPr/>
          </p:nvCxnSpPr>
          <p:spPr>
            <a:xfrm rot="16200000" flipH="1">
              <a:off x="2839628" y="4661305"/>
              <a:ext cx="642942"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endCxn id="37" idx="0"/>
            </p:cNvCxnSpPr>
            <p:nvPr/>
          </p:nvCxnSpPr>
          <p:spPr>
            <a:xfrm rot="5400000">
              <a:off x="5359364" y="4391868"/>
              <a:ext cx="675570" cy="60722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endCxn id="51" idx="0"/>
            </p:cNvCxnSpPr>
            <p:nvPr/>
          </p:nvCxnSpPr>
          <p:spPr>
            <a:xfrm>
              <a:off x="6715140" y="4357694"/>
              <a:ext cx="821537" cy="67557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endCxn id="44" idx="0"/>
            </p:cNvCxnSpPr>
            <p:nvPr/>
          </p:nvCxnSpPr>
          <p:spPr>
            <a:xfrm rot="16200000" flipH="1">
              <a:off x="6038024" y="4606181"/>
              <a:ext cx="675570" cy="17859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6715140" y="2071678"/>
            <a:ext cx="1857388" cy="571504"/>
            <a:chOff x="6715140" y="2071678"/>
            <a:chExt cx="2286016" cy="571504"/>
          </a:xfrm>
        </p:grpSpPr>
        <p:sp>
          <p:nvSpPr>
            <p:cNvPr id="13" name="TextBox 12"/>
            <p:cNvSpPr txBox="1"/>
            <p:nvPr/>
          </p:nvSpPr>
          <p:spPr>
            <a:xfrm>
              <a:off x="6929486" y="2142958"/>
              <a:ext cx="2071670" cy="400110"/>
            </a:xfrm>
            <a:prstGeom prst="rect">
              <a:avLst/>
            </a:prstGeom>
            <a:solidFill>
              <a:schemeClr val="bg1"/>
            </a:solidFill>
          </p:spPr>
          <p:txBody>
            <a:bodyPr wrap="square" rtlCol="0">
              <a:spAutoFit/>
            </a:bodyPr>
            <a:lstStyle/>
            <a:p>
              <a:pPr algn="l"/>
              <a:r>
                <a:rPr lang="zh-CN" altLang="en-US" sz="2000" b="1" smtClean="0">
                  <a:solidFill>
                    <a:srgbClr val="FF00FF"/>
                  </a:solidFill>
                  <a:latin typeface="楷体" panose="02010609060101010101" pitchFamily="49" charset="-122"/>
                  <a:ea typeface="楷体" panose="02010609060101010101" pitchFamily="49" charset="-122"/>
                </a:rPr>
                <a:t>叶子结点层</a:t>
              </a:r>
              <a:endParaRPr lang="zh-CN" altLang="en-US" sz="2000" b="1" dirty="0">
                <a:solidFill>
                  <a:srgbClr val="FF00FF"/>
                </a:solidFill>
                <a:latin typeface="楷体" panose="02010609060101010101" pitchFamily="49" charset="-122"/>
                <a:ea typeface="楷体" panose="02010609060101010101" pitchFamily="49" charset="-122"/>
              </a:endParaRPr>
            </a:p>
          </p:txBody>
        </p:sp>
        <p:sp>
          <p:nvSpPr>
            <p:cNvPr id="71" name="右大括号 70"/>
            <p:cNvSpPr/>
            <p:nvPr/>
          </p:nvSpPr>
          <p:spPr>
            <a:xfrm>
              <a:off x="6715140" y="2071678"/>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FF"/>
                </a:solidFill>
              </a:endParaRPr>
            </a:p>
          </p:txBody>
        </p:sp>
      </p:grpSp>
      <p:grpSp>
        <p:nvGrpSpPr>
          <p:cNvPr id="73" name="组合 72"/>
          <p:cNvGrpSpPr/>
          <p:nvPr/>
        </p:nvGrpSpPr>
        <p:grpSpPr>
          <a:xfrm>
            <a:off x="6677040" y="2714620"/>
            <a:ext cx="1933588" cy="571504"/>
            <a:chOff x="6715140" y="2714620"/>
            <a:chExt cx="1631122" cy="571504"/>
          </a:xfrm>
        </p:grpSpPr>
        <p:sp>
          <p:nvSpPr>
            <p:cNvPr id="12" name="TextBox 11"/>
            <p:cNvSpPr txBox="1"/>
            <p:nvPr/>
          </p:nvSpPr>
          <p:spPr>
            <a:xfrm>
              <a:off x="6917534" y="2789176"/>
              <a:ext cx="1428728" cy="400110"/>
            </a:xfrm>
            <a:prstGeom prst="rect">
              <a:avLst/>
            </a:prstGeom>
            <a:solidFill>
              <a:schemeClr val="bg1"/>
            </a:solidFill>
          </p:spPr>
          <p:txBody>
            <a:bodyPr wrap="square" rtlCol="0">
              <a:spAutoFit/>
            </a:bodyPr>
            <a:lstStyle/>
            <a:p>
              <a:pPr algn="l"/>
              <a:r>
                <a:rPr lang="zh-CN" altLang="en-US" sz="2000" b="1" smtClean="0">
                  <a:solidFill>
                    <a:srgbClr val="FF00FF"/>
                  </a:solidFill>
                  <a:latin typeface="楷体" panose="02010609060101010101" pitchFamily="49" charset="-122"/>
                  <a:ea typeface="楷体" panose="02010609060101010101" pitchFamily="49" charset="-122"/>
                </a:rPr>
                <a:t>外部结点层</a:t>
              </a:r>
              <a:endParaRPr lang="zh-CN" altLang="en-US" sz="2000" b="1" dirty="0">
                <a:solidFill>
                  <a:srgbClr val="FF00FF"/>
                </a:solidFill>
                <a:latin typeface="楷体" panose="02010609060101010101" pitchFamily="49" charset="-122"/>
                <a:ea typeface="楷体" panose="02010609060101010101" pitchFamily="49" charset="-122"/>
              </a:endParaRPr>
            </a:p>
          </p:txBody>
        </p:sp>
        <p:sp>
          <p:nvSpPr>
            <p:cNvPr id="72" name="右大括号 71"/>
            <p:cNvSpPr/>
            <p:nvPr/>
          </p:nvSpPr>
          <p:spPr>
            <a:xfrm>
              <a:off x="6715140" y="2714620"/>
              <a:ext cx="214314" cy="571504"/>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00FF"/>
                </a:solidFill>
              </a:endParaRPr>
            </a:p>
          </p:txBody>
        </p:sp>
      </p:grpSp>
      <p:sp>
        <p:nvSpPr>
          <p:cNvPr id="75" name="灯片编号占位符 7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p:bldP spid="205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28600" y="920750"/>
            <a:ext cx="7772424" cy="3420900"/>
          </a:xfrm>
          <a:prstGeom prst="rect">
            <a:avLst/>
          </a:prstGeom>
        </p:spPr>
        <p:style>
          <a:lnRef idx="1">
            <a:schemeClr val="accent3"/>
          </a:lnRef>
          <a:fillRef idx="2">
            <a:schemeClr val="accent3"/>
          </a:fillRef>
          <a:effectRef idx="1">
            <a:schemeClr val="accent3"/>
          </a:effectRef>
          <a:fontRef idx="minor">
            <a:schemeClr val="dk1"/>
          </a:fontRef>
        </p:style>
        <p:txBody>
          <a:bodyPr wrap="square" lIns="216000" tIns="180000" rIns="180000" bIns="108000">
            <a:spAutoFit/>
          </a:bodyPr>
          <a:lstStyle/>
          <a:p>
            <a:pPr algn="just" fontAlgn="ctr">
              <a:lnSpc>
                <a:spcPct val="90000"/>
              </a:lnSpc>
              <a:spcBef>
                <a:spcPct val="50000"/>
              </a:spcBef>
            </a:pP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#define </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MAXM</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 10		</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zh-CN" altLang="en-US"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定义</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B</a:t>
            </a:r>
            <a:r>
              <a:rPr lang="zh-CN" altLang="en-US"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树</a:t>
            </a:r>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的最大的阶数</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en-US" altLang="zh-CN" sz="1800" b="1" err="1" smtClean="0">
                <a:solidFill>
                  <a:srgbClr val="3333FF"/>
                </a:solidFill>
                <a:latin typeface="Consolas" panose="020B0609020204030204" pitchFamily="49" charset="0"/>
                <a:ea typeface="仿宋" panose="02010609060101010101" pitchFamily="49" charset="-122"/>
                <a:cs typeface="Consolas" panose="020B0609020204030204" pitchFamily="49" charset="0"/>
              </a:rPr>
              <a:t>typedef</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KeyType</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KeyType</a:t>
            </a:r>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为关键字类型</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150000"/>
              </a:lnSpc>
              <a:spcBef>
                <a:spcPct val="50000"/>
              </a:spcBef>
            </a:pP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typedef</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struct</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 node </a:t>
            </a:r>
            <a:endParaRPr lang="en-US" altLang="zh-CN" sz="1800" b="1" dirty="0" smtClean="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b="1" dirty="0" err="1">
                <a:solidFill>
                  <a:srgbClr val="FF00FF"/>
                </a:solidFill>
                <a:latin typeface="Consolas" panose="020B0609020204030204" pitchFamily="49" charset="0"/>
                <a:ea typeface="仿宋" panose="02010609060101010101" pitchFamily="49" charset="-122"/>
                <a:cs typeface="Consolas" panose="020B0609020204030204" pitchFamily="49" charset="0"/>
              </a:rPr>
              <a:t>keynum</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zh-CN" altLang="en-US"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结点当前</a:t>
            </a:r>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拥有的关键字的个数</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zh-CN" altLang="en-US" sz="1800" b="1">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KeyType </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key[</a:t>
            </a:r>
            <a:r>
              <a:rPr lang="en-US" altLang="zh-CN" sz="1800" b="1" dirty="0" err="1">
                <a:solidFill>
                  <a:srgbClr val="FF00FF"/>
                </a:solidFill>
                <a:latin typeface="Consolas" panose="020B0609020204030204" pitchFamily="49" charset="0"/>
                <a:ea typeface="仿宋" panose="02010609060101010101" pitchFamily="49" charset="-122"/>
                <a:cs typeface="Consolas" panose="020B0609020204030204" pitchFamily="49" charset="0"/>
              </a:rPr>
              <a:t>MAXM</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1..keynum</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存放关键字</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zh-CN" altLang="en-US" sz="1800" b="1">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node *parent;</a:t>
            </a:r>
            <a:r>
              <a:rPr lang="en-US" altLang="zh-CN" sz="1800" b="1">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zh-CN" altLang="en-US"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双亲结点指针</a:t>
            </a:r>
            <a:endPar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zh-CN" altLang="en-US" sz="1800" b="1">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zh-CN" altLang="en-US"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FF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node *</a:t>
            </a:r>
            <a:r>
              <a:rPr lang="en-US" altLang="zh-CN" sz="1800" b="1" dirty="0" err="1">
                <a:solidFill>
                  <a:srgbClr val="FF00FF"/>
                </a:solidFill>
                <a:latin typeface="Consolas" panose="020B0609020204030204" pitchFamily="49" charset="0"/>
                <a:ea typeface="仿宋" panose="02010609060101010101" pitchFamily="49" charset="-122"/>
                <a:cs typeface="Consolas" panose="020B0609020204030204" pitchFamily="49" charset="0"/>
              </a:rPr>
              <a:t>ptr</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b="1" dirty="0" err="1">
                <a:solidFill>
                  <a:srgbClr val="FF00FF"/>
                </a:solidFill>
                <a:latin typeface="Consolas" panose="020B0609020204030204" pitchFamily="49" charset="0"/>
                <a:ea typeface="仿宋" panose="02010609060101010101" pitchFamily="49" charset="-122"/>
                <a:cs typeface="Consolas" panose="020B0609020204030204" pitchFamily="49" charset="0"/>
              </a:rPr>
              <a:t>MAXM</a:t>
            </a:r>
            <a:r>
              <a:rPr lang="en-US" altLang="zh-CN" sz="1800" b="1"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zh-CN" altLang="en-US" sz="1800" b="1" smtClean="0">
                <a:solidFill>
                  <a:srgbClr val="3333FF"/>
                </a:solidFill>
                <a:latin typeface="Consolas" panose="020B0609020204030204" pitchFamily="49" charset="0"/>
                <a:ea typeface="仿宋" panose="02010609060101010101" pitchFamily="49" charset="-122"/>
                <a:cs typeface="Consolas" panose="020B0609020204030204" pitchFamily="49" charset="0"/>
              </a:rPr>
              <a:t>孩子结点指针</a:t>
            </a:r>
            <a:r>
              <a:rPr lang="zh-CN" altLang="en-US"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数组</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en-US" altLang="zh-CN" sz="1800" b="1" dirty="0" err="1">
                <a:solidFill>
                  <a:srgbClr val="3333FF"/>
                </a:solidFill>
                <a:latin typeface="Consolas" panose="020B0609020204030204" pitchFamily="49" charset="0"/>
                <a:ea typeface="仿宋" panose="02010609060101010101" pitchFamily="49" charset="-122"/>
                <a:cs typeface="Consolas" panose="020B0609020204030204" pitchFamily="49" charset="0"/>
              </a:rPr>
              <a:t>0..keynum</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a:p>
            <a:pPr algn="just" fontAlgn="ctr">
              <a:lnSpc>
                <a:spcPct val="90000"/>
              </a:lnSpc>
              <a:spcBef>
                <a:spcPct val="50000"/>
              </a:spcBef>
            </a:pP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b="1" dirty="0" err="1" smtClean="0">
                <a:solidFill>
                  <a:srgbClr val="FF0000"/>
                </a:solidFill>
                <a:latin typeface="Consolas" panose="020B0609020204030204" pitchFamily="49" charset="0"/>
                <a:ea typeface="仿宋" panose="02010609060101010101" pitchFamily="49" charset="-122"/>
                <a:cs typeface="Consolas" panose="020B0609020204030204" pitchFamily="49" charset="0"/>
              </a:rPr>
              <a:t>BTNode</a:t>
            </a:r>
            <a:r>
              <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b="1" dirty="0">
              <a:solidFill>
                <a:srgbClr val="3333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395" name="Text Box 3"/>
          <p:cNvSpPr txBox="1">
            <a:spLocks noChangeArrowheads="1"/>
          </p:cNvSpPr>
          <p:nvPr/>
        </p:nvSpPr>
        <p:spPr bwMode="auto">
          <a:xfrm>
            <a:off x="250825" y="260350"/>
            <a:ext cx="7993063" cy="405496"/>
          </a:xfrm>
          <a:prstGeom prst="rect">
            <a:avLst/>
          </a:prstGeom>
          <a:noFill/>
          <a:ln w="28575" algn="ctr">
            <a:noFill/>
            <a:miter lim="800000"/>
          </a:ln>
        </p:spPr>
        <p:txBody>
          <a:bodyPr>
            <a:spAutoFit/>
          </a:bodyPr>
          <a:lstStyle/>
          <a:p>
            <a:pPr algn="just" fontAlgn="ctr">
              <a:lnSpc>
                <a:spcPct val="90000"/>
              </a:lnSpc>
              <a:spcBef>
                <a:spcPct val="50000"/>
              </a:spcBef>
            </a:pPr>
            <a:r>
              <a:rPr lang="zh-CN" altLang="en-US" sz="2200" b="1" smtClean="0">
                <a:solidFill>
                  <a:srgbClr val="3333FF"/>
                </a:solidFill>
                <a:ea typeface="楷体" panose="02010609060101010101" pitchFamily="49" charset="-122"/>
                <a:cs typeface="Times New Roman" panose="02020603050405020304" pitchFamily="18" charset="0"/>
              </a:rPr>
              <a:t>在</a:t>
            </a:r>
            <a:r>
              <a:rPr lang="en-US" altLang="zh-CN" sz="2200" b="1" smtClean="0">
                <a:solidFill>
                  <a:srgbClr val="3333FF"/>
                </a:solidFill>
                <a:ea typeface="楷体" panose="02010609060101010101" pitchFamily="49" charset="-122"/>
                <a:cs typeface="Times New Roman" panose="02020603050405020304" pitchFamily="18" charset="0"/>
              </a:rPr>
              <a:t>B</a:t>
            </a:r>
            <a:r>
              <a:rPr lang="zh-CN" altLang="en-US" sz="2200" b="1" smtClean="0">
                <a:solidFill>
                  <a:srgbClr val="3333FF"/>
                </a:solidFill>
                <a:ea typeface="楷体" panose="02010609060101010101" pitchFamily="49" charset="-122"/>
                <a:cs typeface="Times New Roman" panose="02020603050405020304" pitchFamily="18" charset="0"/>
              </a:rPr>
              <a:t>树</a:t>
            </a:r>
            <a:r>
              <a:rPr lang="zh-CN" altLang="en-US" sz="2200" b="1" dirty="0">
                <a:solidFill>
                  <a:srgbClr val="3333FF"/>
                </a:solidFill>
                <a:ea typeface="楷体" panose="02010609060101010101" pitchFamily="49" charset="-122"/>
                <a:cs typeface="Times New Roman" panose="02020603050405020304" pitchFamily="18" charset="0"/>
              </a:rPr>
              <a:t>的存储</a:t>
            </a:r>
            <a:r>
              <a:rPr lang="zh-CN" altLang="en-US" sz="2200" b="1">
                <a:solidFill>
                  <a:srgbClr val="3333FF"/>
                </a:solidFill>
                <a:ea typeface="楷体" panose="02010609060101010101" pitchFamily="49" charset="-122"/>
                <a:cs typeface="Times New Roman" panose="02020603050405020304" pitchFamily="18" charset="0"/>
              </a:rPr>
              <a:t>结构</a:t>
            </a:r>
            <a:r>
              <a:rPr lang="zh-CN" altLang="en-US" sz="2200" b="1" smtClean="0">
                <a:solidFill>
                  <a:srgbClr val="3333FF"/>
                </a:solidFill>
                <a:ea typeface="楷体" panose="02010609060101010101" pitchFamily="49" charset="-122"/>
                <a:cs typeface="Times New Roman" panose="02020603050405020304" pitchFamily="18" charset="0"/>
              </a:rPr>
              <a:t>中，结点的</a:t>
            </a:r>
            <a:r>
              <a:rPr lang="zh-CN" altLang="en-US" sz="2200" b="1" dirty="0">
                <a:solidFill>
                  <a:srgbClr val="3333FF"/>
                </a:solidFill>
                <a:ea typeface="楷体" panose="02010609060101010101" pitchFamily="49" charset="-122"/>
                <a:cs typeface="Times New Roman" panose="02020603050405020304" pitchFamily="18" charset="0"/>
              </a:rPr>
              <a:t>类型定义如下：</a:t>
            </a:r>
            <a:endParaRPr kumimoji="0" lang="zh-CN" altLang="en-US" sz="2200" b="1" dirty="0">
              <a:solidFill>
                <a:srgbClr val="3333FF"/>
              </a:solidFill>
              <a:ea typeface="楷体" panose="02010609060101010101" pitchFamily="49" charset="-122"/>
              <a:cs typeface="Times New Roman" panose="02020603050405020304" pitchFamily="18"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642910" y="882610"/>
            <a:ext cx="8172480" cy="2278572"/>
          </a:xfrm>
          <a:prstGeom prst="rect">
            <a:avLst/>
          </a:prstGeom>
          <a:noFill/>
          <a:ln w="9525">
            <a:noFill/>
            <a:miter lim="800000"/>
          </a:ln>
        </p:spPr>
        <p:txBody>
          <a:bodyPr wrap="square">
            <a:spAutoFit/>
          </a:bodyPr>
          <a:lstStyle/>
          <a:p>
            <a:pPr algn="just" fontAlgn="ctr">
              <a:lnSpc>
                <a:spcPct val="7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将</a:t>
            </a:r>
            <a:r>
              <a:rPr lang="en-US" altLang="zh-CN" sz="2200" b="1" i="1" dirty="0">
                <a:latin typeface="Consolas" panose="020B0609020204030204" pitchFamily="49" charset="0"/>
                <a:ea typeface="楷体" panose="02010609060101010101" pitchFamily="49" charset="-122"/>
                <a:cs typeface="Consolas" panose="020B0609020204030204" pitchFamily="49" charset="0"/>
              </a:rPr>
              <a:t>k</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与</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根结点中</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key[</a:t>
            </a:r>
            <a:r>
              <a:rPr lang="en-US" altLang="zh-CN" sz="2200" b="1" i="1" dirty="0" err="1">
                <a:solidFill>
                  <a:srgbClr val="3333FF"/>
                </a:solidFill>
                <a:latin typeface="Consolas" panose="020B0609020204030204" pitchFamily="49" charset="0"/>
                <a:ea typeface="楷体" panose="02010609060101010101" pitchFamily="49" charset="-122"/>
                <a:cs typeface="Consolas" panose="020B0609020204030204" pitchFamily="49" charset="0"/>
              </a:rPr>
              <a:t>i</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进行比较：</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ts val="264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en-US" altLang="zh-CN" sz="2000" b="1" i="1">
                <a:latin typeface="Consolas" panose="020B0609020204030204" pitchFamily="49" charset="0"/>
                <a:ea typeface="楷体" panose="02010609060101010101" pitchFamily="49" charset="-122"/>
                <a:cs typeface="Consolas" panose="020B0609020204030204" pitchFamily="49" charset="0"/>
              </a:rPr>
              <a:t>k</a:t>
            </a:r>
            <a:r>
              <a:rPr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=key[</a:t>
            </a:r>
            <a:r>
              <a:rPr lang="en-US" altLang="zh-CN" sz="2000" b="1" i="1" err="1">
                <a:solidFill>
                  <a:srgbClr val="3333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，则</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查找成功；</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ts val="264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en-US" altLang="zh-CN" sz="2000" b="1" i="1" dirty="0">
                <a:latin typeface="Consolas" panose="020B0609020204030204" pitchFamily="49" charset="0"/>
                <a:ea typeface="楷体" panose="02010609060101010101" pitchFamily="49" charset="-122"/>
                <a:cs typeface="Consolas" panose="020B0609020204030204" pitchFamily="49" charset="0"/>
              </a:rPr>
              <a:t>k</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key[1</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，则</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沿着指针</a:t>
            </a:r>
            <a:r>
              <a:rPr lang="en-US" altLang="zh-CN" sz="2000" b="1" dirty="0" err="1">
                <a:solidFill>
                  <a:srgbClr val="3333FF"/>
                </a:solidFill>
                <a:latin typeface="Consolas" panose="020B0609020204030204" pitchFamily="49" charset="0"/>
                <a:ea typeface="楷体" panose="02010609060101010101" pitchFamily="49" charset="-122"/>
                <a:cs typeface="Consolas" panose="020B0609020204030204" pitchFamily="49" charset="0"/>
              </a:rPr>
              <a:t>ptr</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[0]</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所指的子树继续查找；</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ts val="264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key[</a:t>
            </a:r>
            <a:r>
              <a:rPr lang="en-US" altLang="zh-CN" sz="2000" b="1" i="1" dirty="0" err="1">
                <a:solidFill>
                  <a:srgbClr val="3333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a:latin typeface="Consolas" panose="020B0609020204030204" pitchFamily="49" charset="0"/>
                <a:ea typeface="楷体" panose="02010609060101010101" pitchFamily="49" charset="-122"/>
                <a:cs typeface="Consolas" panose="020B0609020204030204" pitchFamily="49" charset="0"/>
              </a:rPr>
              <a:t>k</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key[</a:t>
            </a:r>
            <a:r>
              <a:rPr lang="en-US" altLang="zh-CN" sz="2000" b="1" i="1" err="1">
                <a:solidFill>
                  <a:srgbClr val="3333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1" err="1">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，则</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沿着指针</a:t>
            </a:r>
            <a:r>
              <a:rPr lang="en-US" altLang="zh-CN" sz="2000" b="1" dirty="0" err="1">
                <a:solidFill>
                  <a:srgbClr val="3333FF"/>
                </a:solidFill>
                <a:latin typeface="Consolas" panose="020B0609020204030204" pitchFamily="49" charset="0"/>
                <a:ea typeface="楷体" panose="02010609060101010101" pitchFamily="49" charset="-122"/>
                <a:cs typeface="Consolas" panose="020B0609020204030204" pitchFamily="49" charset="0"/>
              </a:rPr>
              <a:t>ptr</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err="1">
                <a:solidFill>
                  <a:srgbClr val="3333FF"/>
                </a:solidFill>
                <a:latin typeface="Consolas" panose="020B0609020204030204" pitchFamily="49" charset="0"/>
                <a:ea typeface="楷体" panose="02010609060101010101" pitchFamily="49" charset="-122"/>
                <a:cs typeface="Consolas" panose="020B0609020204030204" pitchFamily="49" charset="0"/>
              </a:rPr>
              <a:t>i</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所指的子树继续查找；</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ts val="264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en-US" altLang="zh-CN" sz="2000" b="1" i="1" dirty="0">
                <a:latin typeface="Consolas" panose="020B0609020204030204" pitchFamily="49" charset="0"/>
                <a:ea typeface="楷体" panose="02010609060101010101" pitchFamily="49" charset="-122"/>
                <a:cs typeface="Consolas" panose="020B0609020204030204" pitchFamily="49" charset="0"/>
              </a:rPr>
              <a:t>k</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a:solidFill>
                  <a:srgbClr val="3333FF"/>
                </a:solidFill>
                <a:latin typeface="Consolas" panose="020B0609020204030204" pitchFamily="49" charset="0"/>
                <a:ea typeface="楷体" panose="02010609060101010101" pitchFamily="49" charset="-122"/>
                <a:cs typeface="Consolas" panose="020B0609020204030204" pitchFamily="49" charset="0"/>
              </a:rPr>
              <a:t>key[</a:t>
            </a:r>
            <a:r>
              <a:rPr lang="en-US" altLang="zh-CN" sz="2000" b="1" i="1">
                <a:solidFill>
                  <a:srgbClr val="3333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，则</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沿着指针</a:t>
            </a:r>
            <a:r>
              <a:rPr lang="en-US" altLang="zh-CN" sz="2000" b="1" dirty="0" err="1">
                <a:solidFill>
                  <a:srgbClr val="3333FF"/>
                </a:solidFill>
                <a:latin typeface="Consolas" panose="020B0609020204030204" pitchFamily="49" charset="0"/>
                <a:ea typeface="楷体" panose="02010609060101010101" pitchFamily="49" charset="-122"/>
                <a:cs typeface="Consolas" panose="020B0609020204030204" pitchFamily="49" charset="0"/>
              </a:rPr>
              <a:t>ptr</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所指的子树继续查找。 </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0419" name="Text Box 3"/>
          <p:cNvSpPr txBox="1">
            <a:spLocks noChangeArrowheads="1"/>
          </p:cNvSpPr>
          <p:nvPr/>
        </p:nvSpPr>
        <p:spPr bwMode="auto">
          <a:xfrm>
            <a:off x="323850" y="214290"/>
            <a:ext cx="2519363" cy="457200"/>
          </a:xfrm>
          <a:prstGeom prst="rect">
            <a:avLst/>
          </a:prstGeom>
          <a:solidFill>
            <a:srgbClr val="9900FF"/>
          </a:solidFill>
          <a:ln w="28575" algn="ctr">
            <a:noFill/>
            <a:miter lim="800000"/>
          </a:ln>
        </p:spPr>
        <p:txBody>
          <a:bodyPr>
            <a:spAutoFit/>
          </a:bodyPr>
          <a:lstStyle/>
          <a:p>
            <a:pPr marL="457200" indent="-457200">
              <a:spcBef>
                <a:spcPct val="50000"/>
              </a:spcBef>
            </a:pPr>
            <a:r>
              <a:rPr kumimoji="0" lang="en-US" altLang="zh-CN"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2</a:t>
            </a:r>
            <a:r>
              <a:rPr kumimoji="0" lang="zh-CN" altLang="en-US"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B</a:t>
            </a:r>
            <a:r>
              <a:rPr lang="zh-CN" altLang="en-US"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树</a:t>
            </a:r>
            <a:r>
              <a:rPr lang="zh-CN" altLang="en-US" sz="24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的查找</a:t>
            </a:r>
            <a:endParaRPr kumimoji="0" lang="zh-CN" altLang="en-US" sz="24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0420" name="Rectangle 4"/>
          <p:cNvSpPr>
            <a:spLocks noChangeArrowheads="1"/>
          </p:cNvSpPr>
          <p:nvPr/>
        </p:nvSpPr>
        <p:spPr bwMode="auto">
          <a:xfrm>
            <a:off x="1847840" y="3857628"/>
            <a:ext cx="1582738" cy="4318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r>
              <a:rPr kumimoji="0" lang="en-US" altLang="zh-CN" sz="2000" b="1" i="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baseline="-25000">
                <a:solidFill>
                  <a:srgbClr val="3333FF"/>
                </a:solidFill>
                <a:latin typeface="Consolas" panose="020B0609020204030204" pitchFamily="49" charset="0"/>
                <a:ea typeface="楷体_GB2312" pitchFamily="49" charset="-122"/>
                <a:cs typeface="Consolas" panose="020B0609020204030204" pitchFamily="49" charset="0"/>
              </a:rPr>
              <a:t>1</a:t>
            </a:r>
            <a:r>
              <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rPr>
              <a:t> </a:t>
            </a:r>
            <a:r>
              <a:rPr kumimoji="0" lang="en-US" altLang="zh-CN" sz="2000" b="1" i="1">
                <a:solidFill>
                  <a:srgbClr val="FF00FF"/>
                </a:solidFill>
                <a:latin typeface="Consolas" panose="020B0609020204030204" pitchFamily="49" charset="0"/>
                <a:ea typeface="楷体_GB2312" pitchFamily="49" charset="-122"/>
                <a:cs typeface="Consolas" panose="020B0609020204030204" pitchFamily="49" charset="0"/>
              </a:rPr>
              <a:t>k</a:t>
            </a:r>
            <a:r>
              <a:rPr kumimoji="0" lang="en-US" altLang="zh-CN" sz="2000" b="1" baseline="-25000">
                <a:solidFill>
                  <a:srgbClr val="FF00FF"/>
                </a:solidFill>
                <a:latin typeface="Consolas" panose="020B0609020204030204" pitchFamily="49" charset="0"/>
                <a:ea typeface="楷体_GB2312" pitchFamily="49" charset="-122"/>
                <a:cs typeface="Consolas" panose="020B0609020204030204" pitchFamily="49" charset="0"/>
              </a:rPr>
              <a:t>2</a:t>
            </a:r>
            <a:r>
              <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rPr>
              <a:t> </a:t>
            </a:r>
            <a:r>
              <a:rPr kumimoji="0" lang="en-US" altLang="zh-CN" sz="2000" b="1" i="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baseline="-25000">
                <a:solidFill>
                  <a:srgbClr val="3333FF"/>
                </a:solidFill>
                <a:latin typeface="Consolas" panose="020B0609020204030204" pitchFamily="49" charset="0"/>
                <a:ea typeface="楷体_GB2312" pitchFamily="49" charset="-122"/>
                <a:cs typeface="Consolas" panose="020B0609020204030204" pitchFamily="49" charset="0"/>
              </a:rPr>
              <a:t>3</a:t>
            </a:r>
            <a:endParaRPr kumimoji="0" lang="en-US" altLang="zh-CN" sz="2000" b="1" baseline="-25000">
              <a:solidFill>
                <a:srgbClr val="3333FF"/>
              </a:solidFill>
              <a:latin typeface="Consolas" panose="020B0609020204030204" pitchFamily="49" charset="0"/>
              <a:ea typeface="楷体_GB2312" pitchFamily="49" charset="-122"/>
              <a:cs typeface="Consolas" panose="020B0609020204030204" pitchFamily="49" charset="0"/>
            </a:endParaRPr>
          </a:p>
        </p:txBody>
      </p:sp>
      <p:grpSp>
        <p:nvGrpSpPr>
          <p:cNvPr id="13" name="组合 12"/>
          <p:cNvGrpSpPr/>
          <p:nvPr/>
        </p:nvGrpSpPr>
        <p:grpSpPr>
          <a:xfrm>
            <a:off x="1643042" y="4216403"/>
            <a:ext cx="1511300" cy="1492268"/>
            <a:chOff x="3071802" y="4508500"/>
            <a:chExt cx="1511300" cy="1492268"/>
          </a:xfrm>
        </p:grpSpPr>
        <p:sp>
          <p:nvSpPr>
            <p:cNvPr id="60421" name="Freeform 5"/>
            <p:cNvSpPr/>
            <p:nvPr/>
          </p:nvSpPr>
          <p:spPr bwMode="auto">
            <a:xfrm>
              <a:off x="3925875" y="4508500"/>
              <a:ext cx="0" cy="952500"/>
            </a:xfrm>
            <a:custGeom>
              <a:avLst/>
              <a:gdLst>
                <a:gd name="T0" fmla="*/ 552 w 552"/>
                <a:gd name="T1" fmla="*/ 0 h 600"/>
                <a:gd name="T2" fmla="*/ 0 w 552"/>
                <a:gd name="T3" fmla="*/ 600 h 600"/>
                <a:gd name="T4" fmla="*/ 0 60000 65536"/>
                <a:gd name="T5" fmla="*/ 0 60000 65536"/>
                <a:gd name="T6" fmla="*/ 0 w 552"/>
                <a:gd name="T7" fmla="*/ 0 h 600"/>
                <a:gd name="T8" fmla="*/ 552 w 552"/>
                <a:gd name="T9" fmla="*/ 600 h 600"/>
              </a:gdLst>
              <a:ahLst/>
              <a:cxnLst>
                <a:cxn ang="T4">
                  <a:pos x="T0" y="T1"/>
                </a:cxn>
                <a:cxn ang="T5">
                  <a:pos x="T2" y="T3"/>
                </a:cxn>
              </a:cxnLst>
              <a:rect l="T6" t="T7" r="T8" b="T9"/>
              <a:pathLst>
                <a:path w="552" h="600">
                  <a:moveTo>
                    <a:pt x="552" y="0"/>
                  </a:moveTo>
                  <a:lnTo>
                    <a:pt x="0" y="600"/>
                  </a:lnTo>
                </a:path>
              </a:pathLst>
            </a:cu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0422" name="Text Box 6"/>
            <p:cNvSpPr txBox="1">
              <a:spLocks noChangeArrowheads="1"/>
            </p:cNvSpPr>
            <p:nvPr/>
          </p:nvSpPr>
          <p:spPr bwMode="auto">
            <a:xfrm>
              <a:off x="3071802" y="4772025"/>
              <a:ext cx="1511300" cy="400110"/>
            </a:xfrm>
            <a:prstGeom prst="rect">
              <a:avLst/>
            </a:prstGeom>
            <a:noFill/>
            <a:ln w="28575" algn="ctr">
              <a:noFill/>
              <a:miter lim="800000"/>
            </a:ln>
          </p:spPr>
          <p:txBody>
            <a:bodyPr>
              <a:spAutoFit/>
            </a:bodyPr>
            <a:lstStyle/>
            <a:p>
              <a:pPr>
                <a:spcBef>
                  <a:spcPct val="50000"/>
                </a:spcBef>
              </a:pPr>
              <a:r>
                <a:rPr kumimoji="0" lang="en-US" altLang="zh-CN" sz="2000" b="1" i="1" dirty="0" err="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baseline="-25000" dirty="0" err="1">
                  <a:solidFill>
                    <a:srgbClr val="3333FF"/>
                  </a:solidFill>
                  <a:latin typeface="Consolas" panose="020B0609020204030204" pitchFamily="49" charset="0"/>
                  <a:ea typeface="楷体_GB2312" pitchFamily="49" charset="-122"/>
                  <a:cs typeface="Consolas" panose="020B0609020204030204" pitchFamily="49" charset="0"/>
                </a:rPr>
                <a:t>1</a:t>
              </a:r>
              <a:r>
                <a:rPr kumimoji="0" lang="en-US" altLang="zh-CN" sz="2000" b="1" i="1" dirty="0">
                  <a:solidFill>
                    <a:srgbClr val="3333FF"/>
                  </a:solidFill>
                  <a:latin typeface="Consolas" panose="020B0609020204030204" pitchFamily="49" charset="0"/>
                  <a:ea typeface="楷体_GB2312" pitchFamily="49" charset="-122"/>
                  <a:cs typeface="Consolas" panose="020B0609020204030204" pitchFamily="49" charset="0"/>
                </a:rPr>
                <a:t>&lt;</a:t>
              </a:r>
              <a:r>
                <a:rPr kumimoji="0" lang="en-US" altLang="zh-CN" sz="2000" b="1" i="1" dirty="0">
                  <a:latin typeface="Consolas" panose="020B0609020204030204" pitchFamily="49" charset="0"/>
                  <a:ea typeface="楷体_GB2312" pitchFamily="49" charset="-122"/>
                  <a:cs typeface="Consolas" panose="020B0609020204030204" pitchFamily="49" charset="0"/>
                </a:rPr>
                <a:t>k</a:t>
              </a:r>
              <a:r>
                <a:rPr kumimoji="0" lang="en-US" altLang="zh-CN" sz="2000" b="1" i="1" dirty="0">
                  <a:solidFill>
                    <a:srgbClr val="3333FF"/>
                  </a:solidFill>
                  <a:latin typeface="Consolas" panose="020B0609020204030204" pitchFamily="49" charset="0"/>
                  <a:ea typeface="楷体_GB2312" pitchFamily="49" charset="-122"/>
                  <a:cs typeface="Consolas" panose="020B0609020204030204" pitchFamily="49" charset="0"/>
                </a:rPr>
                <a:t>&lt;</a:t>
              </a:r>
              <a:r>
                <a:rPr kumimoji="0" lang="en-US" altLang="zh-CN" sz="2000" b="1" i="1" dirty="0" err="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baseline="-25000" dirty="0" err="1">
                  <a:solidFill>
                    <a:srgbClr val="3333FF"/>
                  </a:solidFill>
                  <a:latin typeface="Consolas" panose="020B0609020204030204" pitchFamily="49" charset="0"/>
                  <a:ea typeface="楷体_GB2312" pitchFamily="49" charset="-122"/>
                  <a:cs typeface="Consolas" panose="020B0609020204030204" pitchFamily="49" charset="0"/>
                </a:rPr>
                <a:t>2</a:t>
              </a:r>
              <a:endParaRPr kumimoji="0" lang="en-US" altLang="zh-CN" sz="2000" b="1" baseline="-25000"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9" name="等腰三角形 8"/>
            <p:cNvSpPr/>
            <p:nvPr/>
          </p:nvSpPr>
          <p:spPr>
            <a:xfrm>
              <a:off x="3600425" y="5429264"/>
              <a:ext cx="642942" cy="571504"/>
            </a:xfrm>
            <a:prstGeom prst="triangl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grpSp>
        <p:nvGrpSpPr>
          <p:cNvPr id="18" name="组合 17"/>
          <p:cNvGrpSpPr/>
          <p:nvPr/>
        </p:nvGrpSpPr>
        <p:grpSpPr>
          <a:xfrm>
            <a:off x="3149604" y="4208466"/>
            <a:ext cx="1422396" cy="1520843"/>
            <a:chOff x="4578364" y="4500563"/>
            <a:chExt cx="1422396" cy="1520843"/>
          </a:xfrm>
        </p:grpSpPr>
        <p:sp>
          <p:nvSpPr>
            <p:cNvPr id="60423" name="Freeform 7"/>
            <p:cNvSpPr/>
            <p:nvPr/>
          </p:nvSpPr>
          <p:spPr bwMode="auto">
            <a:xfrm>
              <a:off x="4578364" y="4500563"/>
              <a:ext cx="744537" cy="871537"/>
            </a:xfrm>
            <a:custGeom>
              <a:avLst/>
              <a:gdLst>
                <a:gd name="T0" fmla="*/ 0 w 469"/>
                <a:gd name="T1" fmla="*/ 0 h 549"/>
                <a:gd name="T2" fmla="*/ 469 w 469"/>
                <a:gd name="T3" fmla="*/ 549 h 549"/>
                <a:gd name="T4" fmla="*/ 0 60000 65536"/>
                <a:gd name="T5" fmla="*/ 0 60000 65536"/>
                <a:gd name="T6" fmla="*/ 0 w 469"/>
                <a:gd name="T7" fmla="*/ 0 h 549"/>
                <a:gd name="T8" fmla="*/ 469 w 469"/>
                <a:gd name="T9" fmla="*/ 549 h 549"/>
              </a:gdLst>
              <a:ahLst/>
              <a:cxnLst>
                <a:cxn ang="T4">
                  <a:pos x="T0" y="T1"/>
                </a:cxn>
                <a:cxn ang="T5">
                  <a:pos x="T2" y="T3"/>
                </a:cxn>
              </a:cxnLst>
              <a:rect l="T6" t="T7" r="T8" b="T9"/>
              <a:pathLst>
                <a:path w="469" h="549">
                  <a:moveTo>
                    <a:pt x="0" y="0"/>
                  </a:moveTo>
                  <a:lnTo>
                    <a:pt x="469" y="549"/>
                  </a:lnTo>
                </a:path>
              </a:pathLst>
            </a:cu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0424" name="Text Box 8"/>
            <p:cNvSpPr txBox="1">
              <a:spLocks noChangeArrowheads="1"/>
            </p:cNvSpPr>
            <p:nvPr/>
          </p:nvSpPr>
          <p:spPr bwMode="auto">
            <a:xfrm>
              <a:off x="4989526" y="4772025"/>
              <a:ext cx="1011234" cy="400110"/>
            </a:xfrm>
            <a:prstGeom prst="rect">
              <a:avLst/>
            </a:prstGeom>
            <a:noFill/>
            <a:ln w="28575" algn="ctr">
              <a:noFill/>
              <a:miter lim="800000"/>
            </a:ln>
          </p:spPr>
          <p:txBody>
            <a:bodyPr wrap="square">
              <a:spAutoFit/>
            </a:bodyPr>
            <a:lstStyle/>
            <a:p>
              <a:pPr>
                <a:spcBef>
                  <a:spcPct val="50000"/>
                </a:spcBef>
              </a:pPr>
              <a:r>
                <a:rPr kumimoji="0" lang="en-US" altLang="zh-CN" sz="2000" b="1" i="1" smtClean="0">
                  <a:latin typeface="Consolas" panose="020B0609020204030204" pitchFamily="49" charset="0"/>
                  <a:ea typeface="楷体_GB2312" pitchFamily="49" charset="-122"/>
                  <a:cs typeface="Consolas" panose="020B0609020204030204" pitchFamily="49" charset="0"/>
                </a:rPr>
                <a:t>k</a:t>
              </a:r>
              <a:r>
                <a:rPr kumimoji="0" lang="en-US" altLang="zh-CN" sz="2000" b="1" i="1" smtClean="0">
                  <a:solidFill>
                    <a:srgbClr val="3333FF"/>
                  </a:solidFill>
                  <a:latin typeface="Consolas" panose="020B0609020204030204" pitchFamily="49" charset="0"/>
                  <a:ea typeface="楷体_GB2312" pitchFamily="49" charset="-122"/>
                  <a:cs typeface="Consolas" panose="020B0609020204030204" pitchFamily="49" charset="0"/>
                </a:rPr>
                <a:t>&gt;k</a:t>
              </a:r>
              <a:r>
                <a:rPr kumimoji="0" lang="en-US" altLang="zh-CN" sz="2000" b="1" baseline="-25000" smtClean="0">
                  <a:solidFill>
                    <a:srgbClr val="3333FF"/>
                  </a:solidFill>
                  <a:latin typeface="Consolas" panose="020B0609020204030204" pitchFamily="49" charset="0"/>
                  <a:ea typeface="楷体_GB2312" pitchFamily="49" charset="-122"/>
                  <a:cs typeface="Consolas" panose="020B0609020204030204" pitchFamily="49" charset="0"/>
                </a:rPr>
                <a:t>3</a:t>
              </a:r>
              <a:endParaRPr kumimoji="0" lang="en-US" altLang="zh-CN" sz="2000" b="1" baseline="-2500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10" name="等腰三角形 9"/>
            <p:cNvSpPr/>
            <p:nvPr/>
          </p:nvSpPr>
          <p:spPr>
            <a:xfrm>
              <a:off x="4987939" y="5449902"/>
              <a:ext cx="642942" cy="571504"/>
            </a:xfrm>
            <a:prstGeom prst="triangl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grpSp>
        <p:nvGrpSpPr>
          <p:cNvPr id="17" name="组合 16"/>
          <p:cNvGrpSpPr/>
          <p:nvPr/>
        </p:nvGrpSpPr>
        <p:grpSpPr>
          <a:xfrm>
            <a:off x="757205" y="4208473"/>
            <a:ext cx="1314465" cy="1482743"/>
            <a:chOff x="1357290" y="4572008"/>
            <a:chExt cx="1314465" cy="1482743"/>
          </a:xfrm>
        </p:grpSpPr>
        <p:sp>
          <p:nvSpPr>
            <p:cNvPr id="14" name="Freeform 7"/>
            <p:cNvSpPr/>
            <p:nvPr/>
          </p:nvSpPr>
          <p:spPr bwMode="auto">
            <a:xfrm flipH="1">
              <a:off x="2058970" y="4572008"/>
              <a:ext cx="612785" cy="871537"/>
            </a:xfrm>
            <a:custGeom>
              <a:avLst/>
              <a:gdLst>
                <a:gd name="T0" fmla="*/ 0 w 469"/>
                <a:gd name="T1" fmla="*/ 0 h 549"/>
                <a:gd name="T2" fmla="*/ 469 w 469"/>
                <a:gd name="T3" fmla="*/ 549 h 549"/>
                <a:gd name="T4" fmla="*/ 0 60000 65536"/>
                <a:gd name="T5" fmla="*/ 0 60000 65536"/>
                <a:gd name="T6" fmla="*/ 0 w 469"/>
                <a:gd name="T7" fmla="*/ 0 h 549"/>
                <a:gd name="T8" fmla="*/ 469 w 469"/>
                <a:gd name="T9" fmla="*/ 549 h 549"/>
              </a:gdLst>
              <a:ahLst/>
              <a:cxnLst>
                <a:cxn ang="T4">
                  <a:pos x="T0" y="T1"/>
                </a:cxn>
                <a:cxn ang="T5">
                  <a:pos x="T2" y="T3"/>
                </a:cxn>
              </a:cxnLst>
              <a:rect l="T6" t="T7" r="T8" b="T9"/>
              <a:pathLst>
                <a:path w="469" h="549">
                  <a:moveTo>
                    <a:pt x="0" y="0"/>
                  </a:moveTo>
                  <a:lnTo>
                    <a:pt x="469" y="549"/>
                  </a:lnTo>
                </a:path>
              </a:pathLst>
            </a:cu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15" name="Text Box 8"/>
            <p:cNvSpPr txBox="1">
              <a:spLocks noChangeArrowheads="1"/>
            </p:cNvSpPr>
            <p:nvPr/>
          </p:nvSpPr>
          <p:spPr bwMode="auto">
            <a:xfrm>
              <a:off x="1357290" y="4843470"/>
              <a:ext cx="1011234" cy="400110"/>
            </a:xfrm>
            <a:prstGeom prst="rect">
              <a:avLst/>
            </a:prstGeom>
            <a:noFill/>
            <a:ln w="28575" algn="ctr">
              <a:noFill/>
              <a:miter lim="800000"/>
            </a:ln>
          </p:spPr>
          <p:txBody>
            <a:bodyPr wrap="square">
              <a:spAutoFit/>
            </a:bodyPr>
            <a:lstStyle/>
            <a:p>
              <a:pPr>
                <a:spcBef>
                  <a:spcPct val="50000"/>
                </a:spcBef>
              </a:pPr>
              <a:r>
                <a:rPr kumimoji="0" lang="en-US" altLang="zh-CN" sz="2000" b="1" i="1" smtClean="0">
                  <a:latin typeface="Consolas" panose="020B0609020204030204" pitchFamily="49" charset="0"/>
                  <a:ea typeface="楷体_GB2312" pitchFamily="49" charset="-122"/>
                  <a:cs typeface="Consolas" panose="020B0609020204030204" pitchFamily="49" charset="0"/>
                </a:rPr>
                <a:t>k</a:t>
              </a:r>
              <a:r>
                <a:rPr kumimoji="0" lang="en-US" altLang="zh-CN" sz="2000" b="1" i="1" smtClean="0">
                  <a:solidFill>
                    <a:srgbClr val="3333FF"/>
                  </a:solidFill>
                  <a:latin typeface="Consolas" panose="020B0609020204030204" pitchFamily="49" charset="0"/>
                  <a:ea typeface="楷体_GB2312" pitchFamily="49" charset="-122"/>
                  <a:cs typeface="Consolas" panose="020B0609020204030204" pitchFamily="49" charset="0"/>
                </a:rPr>
                <a:t>&lt;k</a:t>
              </a:r>
              <a:r>
                <a:rPr kumimoji="0" lang="en-US" altLang="zh-CN" sz="2000" b="1" baseline="-25000" smtClean="0">
                  <a:solidFill>
                    <a:srgbClr val="3333FF"/>
                  </a:solidFill>
                  <a:latin typeface="Consolas" panose="020B0609020204030204" pitchFamily="49" charset="0"/>
                  <a:ea typeface="楷体_GB2312" pitchFamily="49" charset="-122"/>
                  <a:cs typeface="Consolas" panose="020B0609020204030204" pitchFamily="49" charset="0"/>
                </a:rPr>
                <a:t>1</a:t>
              </a:r>
              <a:endParaRPr kumimoji="0" lang="en-US" altLang="zh-CN" sz="2000" b="1" baseline="-2500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16" name="等腰三角形 15"/>
            <p:cNvSpPr/>
            <p:nvPr/>
          </p:nvSpPr>
          <p:spPr>
            <a:xfrm>
              <a:off x="1695427" y="5483247"/>
              <a:ext cx="642942" cy="571504"/>
            </a:xfrm>
            <a:prstGeom prst="triangl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sp>
        <p:nvSpPr>
          <p:cNvPr id="19" name="灯片编号占位符 18"/>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
        <p:nvSpPr>
          <p:cNvPr id="20" name="TextBox 19"/>
          <p:cNvSpPr txBox="1"/>
          <p:nvPr/>
        </p:nvSpPr>
        <p:spPr>
          <a:xfrm>
            <a:off x="4857752" y="4643446"/>
            <a:ext cx="3929090" cy="1138773"/>
          </a:xfrm>
          <a:prstGeom prst="rect">
            <a:avLst/>
          </a:prstGeom>
          <a:noFill/>
        </p:spPr>
        <p:txBody>
          <a:bodyPr wrap="square" rtlCol="0">
            <a:spAutoFit/>
          </a:bodyPr>
          <a:lstStyle/>
          <a:p>
            <a:pPr algn="l"/>
            <a:r>
              <a:rPr lang="zh-CN" altLang="en-US" sz="2400" b="1" smtClean="0">
                <a:latin typeface="Consolas" panose="020B0609020204030204" pitchFamily="49" charset="0"/>
                <a:ea typeface="黑体" panose="02010609060101010101" pitchFamily="49" charset="-122"/>
                <a:cs typeface="Consolas" panose="020B0609020204030204" pitchFamily="49" charset="0"/>
              </a:rPr>
              <a:t>说明：</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当查找到某个叶结点时，若相应的指针为空，落入一个外部结点，表示查找失败。</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1" name="TextBox 20"/>
          <p:cNvSpPr txBox="1"/>
          <p:nvPr/>
        </p:nvSpPr>
        <p:spPr>
          <a:xfrm>
            <a:off x="2143108" y="3429000"/>
            <a:ext cx="1143008" cy="400110"/>
          </a:xfrm>
          <a:prstGeom prst="rect">
            <a:avLst/>
          </a:prstGeom>
          <a:noFill/>
        </p:spPr>
        <p:txBody>
          <a:bodyPr wrap="square" rtlCol="0">
            <a:spAutoFit/>
          </a:bodyPr>
          <a:lstStyle/>
          <a:p>
            <a:pPr algn="l"/>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 k</a:t>
            </a:r>
            <a:r>
              <a:rPr lang="en-US" altLang="zh-CN" sz="2000" b="1" baseline="-25000" smtClean="0">
                <a:solidFill>
                  <a:srgbClr val="3333FF"/>
                </a:solidFill>
                <a:latin typeface="Consolas" panose="020B0609020204030204" pitchFamily="49" charset="0"/>
                <a:ea typeface="楷体" panose="02010609060101010101" pitchFamily="49" charset="-122"/>
                <a:cs typeface="Consolas" panose="020B0609020204030204" pitchFamily="49" charset="0"/>
              </a:rPr>
              <a:t>2</a:t>
            </a:r>
            <a:endParaRPr lang="zh-CN" altLang="en-US" sz="2000" b="1" baseline="-25000"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604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1" nodeType="clickEffect">
                                  <p:stCondLst>
                                    <p:cond delay="0"/>
                                  </p:stCondLst>
                                  <p:childTnLst>
                                    <p:animEffect transition="out" filter="wipe(down)">
                                      <p:cBhvr>
                                        <p:cTn id="16" dur="500"/>
                                        <p:tgtEl>
                                          <p:spTgt spid="21"/>
                                        </p:tgtEl>
                                      </p:cBhvr>
                                    </p:animEffect>
                                    <p:set>
                                      <p:cBhvr>
                                        <p:cTn id="17" dur="1" fill="hold">
                                          <p:stCondLst>
                                            <p:cond delay="499"/>
                                          </p:stCondLst>
                                        </p:cTn>
                                        <p:tgtEl>
                                          <p:spTgt spid="21"/>
                                        </p:tgtEl>
                                        <p:attrNameLst>
                                          <p:attrName>style.visibility</p:attrName>
                                        </p:attrNameLst>
                                      </p:cBhvr>
                                      <p:to>
                                        <p:strVal val="hidden"/>
                                      </p:to>
                                    </p:se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60418">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nodeType="clickEffect">
                                  <p:stCondLst>
                                    <p:cond delay="0"/>
                                  </p:stCondLst>
                                  <p:childTnLst>
                                    <p:animEffect transition="out" filter="wipe(down)">
                                      <p:cBhvr>
                                        <p:cTn id="28" dur="500"/>
                                        <p:tgtEl>
                                          <p:spTgt spid="17"/>
                                        </p:tgtEl>
                                      </p:cBhvr>
                                    </p:animEffect>
                                    <p:set>
                                      <p:cBhvr>
                                        <p:cTn id="29" dur="1" fill="hold">
                                          <p:stCondLst>
                                            <p:cond delay="499"/>
                                          </p:stCondLst>
                                        </p:cTn>
                                        <p:tgtEl>
                                          <p:spTgt spid="17"/>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60418">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nodeType="clickEffect">
                                  <p:stCondLst>
                                    <p:cond delay="0"/>
                                  </p:stCondLst>
                                  <p:childTnLst>
                                    <p:animEffect transition="out" filter="wipe(down)">
                                      <p:cBhvr>
                                        <p:cTn id="40" dur="500"/>
                                        <p:tgtEl>
                                          <p:spTgt spid="13"/>
                                        </p:tgtEl>
                                      </p:cBhvr>
                                    </p:animEffect>
                                    <p:set>
                                      <p:cBhvr>
                                        <p:cTn id="41" dur="1" fill="hold">
                                          <p:stCondLst>
                                            <p:cond delay="499"/>
                                          </p:stCondLst>
                                        </p:cTn>
                                        <p:tgtEl>
                                          <p:spTgt spid="13"/>
                                        </p:tgtEl>
                                        <p:attrNameLst>
                                          <p:attrName>style.visibility</p:attrName>
                                        </p:attrNameLst>
                                      </p:cBhvr>
                                      <p:to>
                                        <p:strVal val="hidden"/>
                                      </p:to>
                                    </p:se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0"/>
                                          </p:stCondLst>
                                        </p:cTn>
                                        <p:tgtEl>
                                          <p:spTgt spid="60418">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nodeType="clickEffect">
                                  <p:stCondLst>
                                    <p:cond delay="0"/>
                                  </p:stCondLst>
                                  <p:childTnLst>
                                    <p:animEffect transition="out" filter="wipe(down)">
                                      <p:cBhvr>
                                        <p:cTn id="52" dur="500"/>
                                        <p:tgtEl>
                                          <p:spTgt spid="18"/>
                                        </p:tgtEl>
                                      </p:cBhvr>
                                    </p:animEffect>
                                    <p:set>
                                      <p:cBhvr>
                                        <p:cTn id="53" dur="1" fill="hold">
                                          <p:stCondLst>
                                            <p:cond delay="499"/>
                                          </p:stCondLst>
                                        </p:cTn>
                                        <p:tgtEl>
                                          <p:spTgt spid="18"/>
                                        </p:tgtEl>
                                        <p:attrNameLst>
                                          <p:attrName>style.visibility</p:attrName>
                                        </p:attrNameLst>
                                      </p:cBhvr>
                                      <p:to>
                                        <p:strVal val="hidden"/>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ldLvl="0" animBg="1"/>
      <p:bldP spid="20" grpId="0"/>
      <p:bldP spid="21" grpId="0"/>
      <p:bldP spid="21"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357158" y="1928802"/>
            <a:ext cx="8393113" cy="1631216"/>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gn="just" fontAlgn="t">
              <a:lnSpc>
                <a:spcPct val="15000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查找该</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插入结点（注意</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zh-CN" altLang="en-US" sz="2000" b="1" smtClean="0">
                <a:solidFill>
                  <a:srgbClr val="CC00CC"/>
                </a:solidFill>
                <a:latin typeface="Consolas" panose="020B0609020204030204" pitchFamily="49" charset="0"/>
                <a:ea typeface="楷体" panose="02010609060101010101" pitchFamily="49" charset="-122"/>
                <a:cs typeface="Consolas" panose="020B0609020204030204" pitchFamily="49" charset="0"/>
              </a:rPr>
              <a:t>插入结点一定是叶子结点层的结点</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t">
              <a:lnSpc>
                <a:spcPct val="150000"/>
              </a:lnSpc>
              <a:spcBef>
                <a:spcPct val="50000"/>
              </a:spcBef>
            </a:pP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）插入关键字。</a:t>
            </a:r>
            <a:endPar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1443" name="Text Box 3"/>
          <p:cNvSpPr txBox="1">
            <a:spLocks noChangeArrowheads="1"/>
          </p:cNvSpPr>
          <p:nvPr/>
        </p:nvSpPr>
        <p:spPr bwMode="auto">
          <a:xfrm>
            <a:off x="466725" y="500042"/>
            <a:ext cx="2376488" cy="461665"/>
          </a:xfrm>
          <a:prstGeom prst="rect">
            <a:avLst/>
          </a:prstGeom>
          <a:solidFill>
            <a:srgbClr val="9900FF"/>
          </a:solidFill>
          <a:ln w="28575" algn="ctr">
            <a:noFill/>
            <a:miter lim="800000"/>
          </a:ln>
        </p:spPr>
        <p:txBody>
          <a:bodyPr>
            <a:spAutoFit/>
          </a:bodyPr>
          <a:lstStyle/>
          <a:p>
            <a:pPr fontAlgn="t">
              <a:spcBef>
                <a:spcPct val="50000"/>
              </a:spcBef>
            </a:pPr>
            <a:r>
              <a:rPr lang="en-US" altLang="zh-CN"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3</a:t>
            </a:r>
            <a:r>
              <a:rPr lang="zh-CN" altLang="en-US"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B</a:t>
            </a:r>
            <a:r>
              <a:rPr lang="zh-CN" altLang="en-US" sz="2400" b="1"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树</a:t>
            </a:r>
            <a:r>
              <a:rPr lang="zh-CN" altLang="en-US" sz="24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的插入</a:t>
            </a:r>
            <a:endParaRPr kumimoji="0" lang="zh-CN" altLang="en-US" sz="24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
        <p:nvSpPr>
          <p:cNvPr id="7" name="TextBox 6"/>
          <p:cNvSpPr txBox="1"/>
          <p:nvPr/>
        </p:nvSpPr>
        <p:spPr>
          <a:xfrm>
            <a:off x="500034" y="1285860"/>
            <a:ext cx="7643866" cy="430887"/>
          </a:xfrm>
          <a:prstGeom prst="rect">
            <a:avLst/>
          </a:prstGeom>
          <a:noFill/>
        </p:spPr>
        <p:txBody>
          <a:bodyPr wrap="square" rtlCol="0">
            <a:spAutoFit/>
          </a:bodyPr>
          <a:lstStyle/>
          <a:p>
            <a:pPr algn="l"/>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将关键字</a:t>
            </a:r>
            <a:r>
              <a:rPr lang="en-US" altLang="zh-CN"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插入到</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树的过程分两步完成：</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285720" y="1125538"/>
            <a:ext cx="8393113" cy="1015663"/>
          </a:xfrm>
          <a:prstGeom prst="rect">
            <a:avLst/>
          </a:prstGeom>
          <a:noFill/>
          <a:ln w="9525">
            <a:noFill/>
            <a:miter lim="800000"/>
          </a:ln>
        </p:spPr>
        <p:txBody>
          <a:bodyPr>
            <a:spAutoFit/>
          </a:bodyPr>
          <a:lstStyle/>
          <a:p>
            <a:pPr algn="just" fontAlgn="t">
              <a:lnSpc>
                <a:spcPct val="15000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插入</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结点有空位置</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，即</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dirty="0" smtClean="0">
                <a:latin typeface="Consolas" panose="020B0609020204030204" pitchFamily="49" charset="0"/>
                <a:ea typeface="楷体" panose="02010609060101010101" pitchFamily="49" charset="-122"/>
                <a:cs typeface="Consolas" panose="020B0609020204030204" pitchFamily="49" charset="0"/>
              </a:rPr>
              <a:t>m</a:t>
            </a:r>
            <a:r>
              <a:rPr lang="en-US" altLang="zh-CN" sz="2000" b="1" dirty="0" smtClean="0">
                <a:latin typeface="Consolas" panose="020B0609020204030204" pitchFamily="49" charset="0"/>
                <a:ea typeface="+mn-ea"/>
                <a:cs typeface="Consolas" panose="020B0609020204030204" pitchFamily="49" charset="0"/>
              </a:rPr>
              <a:t>-</a:t>
            </a:r>
            <a:r>
              <a:rPr lang="en-US" altLang="zh-CN" sz="2000" b="1" dirty="0" smtClean="0">
                <a:latin typeface="Consolas" panose="020B0609020204030204" pitchFamily="49" charset="0"/>
                <a:ea typeface="楷体" panose="02010609060101010101" pitchFamily="49" charset="-122"/>
                <a:cs typeface="Consolas" panose="020B0609020204030204" pitchFamily="49" charset="0"/>
              </a:rPr>
              <a:t>1</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：直接</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把关键字</a:t>
            </a:r>
            <a:r>
              <a:rPr lang="en-US" altLang="zh-CN" sz="20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有序插入</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到</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该结点的</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合适位置</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上。</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TextBox 3"/>
          <p:cNvSpPr txBox="1"/>
          <p:nvPr/>
        </p:nvSpPr>
        <p:spPr>
          <a:xfrm>
            <a:off x="571472" y="642918"/>
            <a:ext cx="7000924" cy="430887"/>
          </a:xfrm>
          <a:prstGeom prst="rect">
            <a:avLst/>
          </a:prstGeom>
          <a:noFill/>
        </p:spPr>
        <p:txBody>
          <a:bodyPr wrap="square" rtlCol="0">
            <a:spAutoFit/>
          </a:bodyPr>
          <a:lstStyle/>
          <a:p>
            <a:pPr algn="l"/>
            <a:r>
              <a:rPr lang="zh-CN" altLang="en-US" sz="2200" b="1" smtClean="0">
                <a:latin typeface="Consolas" panose="020B0609020204030204" pitchFamily="49" charset="0"/>
                <a:ea typeface="楷体" panose="02010609060101010101" pitchFamily="49" charset="-122"/>
                <a:cs typeface="Consolas" panose="020B0609020204030204" pitchFamily="49" charset="0"/>
              </a:rPr>
              <a:t>在某个叶子结点中插入</a:t>
            </a:r>
            <a:r>
              <a:rPr lang="zh-CN" altLang="en-US" sz="2200" b="1" dirty="0" smtClean="0">
                <a:latin typeface="Consolas" panose="020B0609020204030204" pitchFamily="49" charset="0"/>
                <a:ea typeface="楷体" panose="02010609060101010101" pitchFamily="49" charset="-122"/>
                <a:cs typeface="Consolas" panose="020B0609020204030204" pitchFamily="49" charset="0"/>
              </a:rPr>
              <a:t>关键字分两种情况</a:t>
            </a:r>
            <a:endParaRPr lang="zh-CN" altLang="en-US" sz="2200" dirty="0">
              <a:latin typeface="Consolas" panose="020B0609020204030204" pitchFamily="49" charset="0"/>
              <a:cs typeface="Consolas" panose="020B0609020204030204"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642910" y="285728"/>
            <a:ext cx="8001056" cy="430887"/>
          </a:xfrm>
          <a:prstGeom prst="rect">
            <a:avLst/>
          </a:prstGeom>
          <a:noFill/>
        </p:spPr>
        <p:txBody>
          <a:bodyPr wrap="square" rtlCol="0">
            <a:spAutoFit/>
          </a:bodyPr>
          <a:lstStyle/>
          <a:p>
            <a:pPr algn="l"/>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a:t>
            </a:r>
            <a:r>
              <a:rPr lang="en-US" altLang="zh-CN" sz="2200" b="1" smtClean="0">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插入</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结点没有空位置</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，即原关键字个数</a:t>
            </a:r>
            <a:r>
              <a:rPr lang="en-US" altLang="zh-CN"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n=</a:t>
            </a:r>
            <a:r>
              <a:rPr lang="en-US" altLang="zh-CN" sz="2200" b="1" i="1" smtClean="0">
                <a:latin typeface="Consolas" panose="020B0609020204030204" pitchFamily="49" charset="0"/>
                <a:ea typeface="楷体" panose="02010609060101010101" pitchFamily="49" charset="-122"/>
                <a:cs typeface="Consolas" panose="020B0609020204030204" pitchFamily="49" charset="0"/>
              </a:rPr>
              <a:t>m</a:t>
            </a:r>
            <a:r>
              <a:rPr lang="en-US" altLang="zh-CN" sz="2200" b="1" smtClean="0">
                <a:latin typeface="Consolas" panose="020B0609020204030204" pitchFamily="49" charset="0"/>
                <a:cs typeface="Consolas" panose="020B0609020204030204" pitchFamily="49" charset="0"/>
              </a:rPr>
              <a:t>-</a:t>
            </a:r>
            <a:r>
              <a:rPr lang="en-US" altLang="zh-CN" sz="2200" b="1" smtClean="0">
                <a:latin typeface="Consolas" panose="020B0609020204030204" pitchFamily="49" charset="0"/>
                <a:ea typeface="楷体" panose="02010609060101010101" pitchFamily="49" charset="-122"/>
                <a:cs typeface="Consolas" panose="020B0609020204030204" pitchFamily="49" charset="0"/>
              </a:rPr>
              <a:t>1  </a:t>
            </a:r>
            <a:r>
              <a:rPr lang="en-US" altLang="zh-CN" sz="2200" b="1" smtClean="0">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200" b="1" smtClean="0">
                <a:latin typeface="Consolas" panose="020B0609020204030204" pitchFamily="49" charset="0"/>
                <a:ea typeface="楷体" panose="02010609060101010101" pitchFamily="49" charset="-122"/>
                <a:cs typeface="Consolas" panose="020B0609020204030204" pitchFamily="49" charset="0"/>
              </a:rPr>
              <a:t>分裂</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grpSp>
        <p:nvGrpSpPr>
          <p:cNvPr id="18" name="组合 17"/>
          <p:cNvGrpSpPr/>
          <p:nvPr/>
        </p:nvGrpSpPr>
        <p:grpSpPr>
          <a:xfrm>
            <a:off x="785786" y="1142984"/>
            <a:ext cx="7643866" cy="2446148"/>
            <a:chOff x="785786" y="1142984"/>
            <a:chExt cx="7643866" cy="2446148"/>
          </a:xfrm>
        </p:grpSpPr>
        <p:sp>
          <p:nvSpPr>
            <p:cNvPr id="62467" name="Rectangle 3"/>
            <p:cNvSpPr>
              <a:spLocks noChangeArrowheads="1"/>
            </p:cNvSpPr>
            <p:nvPr/>
          </p:nvSpPr>
          <p:spPr bwMode="auto">
            <a:xfrm>
              <a:off x="1835150" y="2022475"/>
              <a:ext cx="1439863" cy="523220"/>
            </a:xfrm>
            <a:prstGeom prst="rect">
              <a:avLst/>
            </a:prstGeom>
            <a:solidFill>
              <a:srgbClr val="FFFFFF"/>
            </a:solidFill>
            <a:ln w="28575" algn="ctr">
              <a:solidFill>
                <a:srgbClr val="9900FF"/>
              </a:solidFill>
              <a:miter lim="800000"/>
            </a:ln>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62468" name="Oval 4"/>
            <p:cNvSpPr>
              <a:spLocks noChangeAspect="1" noChangeArrowheads="1"/>
            </p:cNvSpPr>
            <p:nvPr/>
          </p:nvSpPr>
          <p:spPr bwMode="auto">
            <a:xfrm>
              <a:off x="2278825" y="2000500"/>
              <a:ext cx="503238" cy="503238"/>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kumimoji="0" lang="en-US" altLang="zh-CN" sz="2000" b="1" i="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i="1" baseline="-25000">
                  <a:solidFill>
                    <a:srgbClr val="3333FF"/>
                  </a:solidFill>
                  <a:latin typeface="Consolas" panose="020B0609020204030204" pitchFamily="49" charset="0"/>
                  <a:ea typeface="楷体_GB2312" pitchFamily="49" charset="-122"/>
                  <a:cs typeface="Consolas" panose="020B0609020204030204" pitchFamily="49" charset="0"/>
                </a:rPr>
                <a:t>i</a:t>
              </a:r>
              <a:endParaRPr kumimoji="0" lang="en-US" altLang="zh-CN" sz="2000" b="1" i="1" baseline="-2500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2469" name="Line 5"/>
            <p:cNvSpPr>
              <a:spLocks noChangeShapeType="1"/>
            </p:cNvSpPr>
            <p:nvPr/>
          </p:nvSpPr>
          <p:spPr bwMode="auto">
            <a:xfrm flipV="1">
              <a:off x="2555875" y="2612575"/>
              <a:ext cx="0" cy="288925"/>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2470" name="Text Box 6"/>
            <p:cNvSpPr txBox="1">
              <a:spLocks noChangeArrowheads="1"/>
            </p:cNvSpPr>
            <p:nvPr/>
          </p:nvSpPr>
          <p:spPr bwMode="auto">
            <a:xfrm>
              <a:off x="1518531" y="2881246"/>
              <a:ext cx="2089150" cy="707886"/>
            </a:xfrm>
            <a:prstGeom prst="rect">
              <a:avLst/>
            </a:prstGeom>
            <a:noFill/>
            <a:ln w="28575" algn="ctr">
              <a:noFill/>
              <a:miter lim="800000"/>
            </a:ln>
          </p:spPr>
          <p:txBody>
            <a:bodyPr>
              <a:spAutoFit/>
            </a:bodyPr>
            <a:lstStyle/>
            <a:p>
              <a:pPr>
                <a:spcBef>
                  <a:spcPct val="50000"/>
                </a:spcBef>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插入</a:t>
              </a:r>
              <a:r>
                <a:rPr kumimoji="0"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后的中间</a:t>
              </a: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位置关键字</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2471" name="Rectangle 7"/>
            <p:cNvSpPr>
              <a:spLocks noChangeArrowheads="1"/>
            </p:cNvSpPr>
            <p:nvPr/>
          </p:nvSpPr>
          <p:spPr bwMode="auto">
            <a:xfrm>
              <a:off x="5357818" y="1519238"/>
              <a:ext cx="1439862" cy="523220"/>
            </a:xfrm>
            <a:prstGeom prst="rect">
              <a:avLst/>
            </a:prstGeom>
            <a:solidFill>
              <a:srgbClr val="FFFFFF"/>
            </a:solidFill>
            <a:ln w="28575" algn="ctr">
              <a:solidFill>
                <a:srgbClr val="9900FF"/>
              </a:solidFill>
              <a:miter lim="800000"/>
            </a:ln>
          </p:spPr>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62472" name="Oval 8"/>
            <p:cNvSpPr>
              <a:spLocks noChangeAspect="1" noChangeArrowheads="1"/>
            </p:cNvSpPr>
            <p:nvPr/>
          </p:nvSpPr>
          <p:spPr bwMode="auto">
            <a:xfrm>
              <a:off x="5868988" y="1495675"/>
              <a:ext cx="503237" cy="503238"/>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kumimoji="0" lang="en-US" altLang="zh-CN" sz="2000" b="1" i="1" dirty="0" err="1">
                  <a:solidFill>
                    <a:srgbClr val="3333FF"/>
                  </a:solidFill>
                  <a:latin typeface="Consolas" panose="020B0609020204030204" pitchFamily="49" charset="0"/>
                  <a:ea typeface="楷体_GB2312" pitchFamily="49" charset="-122"/>
                  <a:cs typeface="Consolas" panose="020B0609020204030204" pitchFamily="49" charset="0"/>
                </a:rPr>
                <a:t>k</a:t>
              </a:r>
              <a:r>
                <a:rPr kumimoji="0" lang="en-US" altLang="zh-CN" sz="2000" b="1" i="1" baseline="-25000" dirty="0" err="1">
                  <a:solidFill>
                    <a:srgbClr val="3333FF"/>
                  </a:solidFill>
                  <a:latin typeface="Consolas" panose="020B0609020204030204" pitchFamily="49" charset="0"/>
                  <a:ea typeface="楷体_GB2312" pitchFamily="49" charset="-122"/>
                  <a:cs typeface="Consolas" panose="020B0609020204030204" pitchFamily="49" charset="0"/>
                </a:rPr>
                <a:t>i</a:t>
              </a:r>
              <a:endParaRPr kumimoji="0" lang="en-US" altLang="zh-CN" sz="2000" b="1" i="1" baseline="-25000"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2473" name="Rectangle 9"/>
            <p:cNvSpPr>
              <a:spLocks noChangeArrowheads="1"/>
            </p:cNvSpPr>
            <p:nvPr/>
          </p:nvSpPr>
          <p:spPr bwMode="auto">
            <a:xfrm>
              <a:off x="5214942" y="2741613"/>
              <a:ext cx="647700" cy="523220"/>
            </a:xfrm>
            <a:prstGeom prst="rect">
              <a:avLst/>
            </a:prstGeom>
          </p:spPr>
          <p:style>
            <a:lnRef idx="1">
              <a:schemeClr val="accent4"/>
            </a:lnRef>
            <a:fillRef idx="2">
              <a:schemeClr val="accent4"/>
            </a:fillRef>
            <a:effectRef idx="1">
              <a:schemeClr val="accent4"/>
            </a:effectRef>
            <a:fontRef idx="minor">
              <a:schemeClr val="dk1"/>
            </a:fontRef>
          </p:style>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62474" name="Rectangle 10"/>
            <p:cNvSpPr>
              <a:spLocks noChangeArrowheads="1"/>
            </p:cNvSpPr>
            <p:nvPr/>
          </p:nvSpPr>
          <p:spPr bwMode="auto">
            <a:xfrm>
              <a:off x="6372225" y="2741613"/>
              <a:ext cx="647700" cy="523220"/>
            </a:xfrm>
            <a:prstGeom prst="rect">
              <a:avLst/>
            </a:prstGeom>
          </p:spPr>
          <p:style>
            <a:lnRef idx="1">
              <a:schemeClr val="accent4"/>
            </a:lnRef>
            <a:fillRef idx="2">
              <a:schemeClr val="accent4"/>
            </a:fillRef>
            <a:effectRef idx="1">
              <a:schemeClr val="accent4"/>
            </a:effectRef>
            <a:fontRef idx="minor">
              <a:schemeClr val="dk1"/>
            </a:fontRef>
          </p:style>
          <p:txBody>
            <a:bodyPr anchor="ctr">
              <a:spAutoFit/>
            </a:bodyPr>
            <a:lstStyle/>
            <a:p>
              <a:endParaRPr lang="zh-CN" altLang="en-US">
                <a:latin typeface="Consolas" panose="020B0609020204030204" pitchFamily="49" charset="0"/>
                <a:cs typeface="Consolas" panose="020B0609020204030204" pitchFamily="49" charset="0"/>
              </a:endParaRPr>
            </a:p>
          </p:txBody>
        </p:sp>
        <p:sp>
          <p:nvSpPr>
            <p:cNvPr id="62475" name="Line 11"/>
            <p:cNvSpPr>
              <a:spLocks noChangeShapeType="1"/>
            </p:cNvSpPr>
            <p:nvPr/>
          </p:nvSpPr>
          <p:spPr bwMode="auto">
            <a:xfrm flipH="1">
              <a:off x="5653088" y="2095500"/>
              <a:ext cx="287337" cy="647700"/>
            </a:xfrm>
            <a:prstGeom prst="line">
              <a:avLst/>
            </a:prstGeom>
            <a:noFill/>
            <a:ln w="28575">
              <a:solidFill>
                <a:srgbClr val="3333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2476" name="Line 12"/>
            <p:cNvSpPr>
              <a:spLocks noChangeShapeType="1"/>
            </p:cNvSpPr>
            <p:nvPr/>
          </p:nvSpPr>
          <p:spPr bwMode="auto">
            <a:xfrm>
              <a:off x="6300788" y="2095500"/>
              <a:ext cx="287337" cy="647700"/>
            </a:xfrm>
            <a:prstGeom prst="line">
              <a:avLst/>
            </a:prstGeom>
            <a:noFill/>
            <a:ln w="28575">
              <a:solidFill>
                <a:srgbClr val="3333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2477" name="AutoShape 13"/>
            <p:cNvSpPr>
              <a:spLocks noChangeArrowheads="1"/>
            </p:cNvSpPr>
            <p:nvPr/>
          </p:nvSpPr>
          <p:spPr bwMode="auto">
            <a:xfrm>
              <a:off x="3708400" y="2382838"/>
              <a:ext cx="1008063" cy="360362"/>
            </a:xfrm>
            <a:prstGeom prst="rightArrow">
              <a:avLst>
                <a:gd name="adj1" fmla="val 50000"/>
                <a:gd name="adj2" fmla="val 69934"/>
              </a:avLst>
            </a:prstGeom>
          </p:spPr>
          <p:style>
            <a:lnRef idx="1">
              <a:schemeClr val="accent4"/>
            </a:lnRef>
            <a:fillRef idx="3">
              <a:schemeClr val="accent4"/>
            </a:fillRef>
            <a:effectRef idx="2">
              <a:schemeClr val="accent4"/>
            </a:effectRef>
            <a:fontRef idx="minor">
              <a:schemeClr val="lt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62478" name="Text Box 14"/>
            <p:cNvSpPr txBox="1">
              <a:spLocks noChangeArrowheads="1"/>
            </p:cNvSpPr>
            <p:nvPr/>
          </p:nvSpPr>
          <p:spPr bwMode="auto">
            <a:xfrm>
              <a:off x="3851275" y="2778125"/>
              <a:ext cx="863600" cy="396875"/>
            </a:xfrm>
            <a:prstGeom prst="rect">
              <a:avLst/>
            </a:prstGeom>
            <a:noFill/>
            <a:ln w="28575" algn="ctr">
              <a:noFill/>
              <a:miter lim="800000"/>
            </a:ln>
          </p:spPr>
          <p:txBody>
            <a:bodyPr>
              <a:spAutoFit/>
            </a:bodyPr>
            <a:lstStyle/>
            <a:p>
              <a:pPr algn="l">
                <a:spcBef>
                  <a:spcPct val="50000"/>
                </a:spcBef>
              </a:pP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TextBox 15"/>
            <p:cNvSpPr txBox="1"/>
            <p:nvPr/>
          </p:nvSpPr>
          <p:spPr>
            <a:xfrm>
              <a:off x="785786" y="1142984"/>
              <a:ext cx="2000264" cy="430887"/>
            </a:xfrm>
            <a:prstGeom prst="rect">
              <a:avLst/>
            </a:prstGeom>
            <a:noFill/>
          </p:spPr>
          <p:txBody>
            <a:bodyPr wrap="square" rtlCol="0">
              <a:spAutoFit/>
            </a:bodyPr>
            <a:lstStyle/>
            <a:p>
              <a:pPr algn="l"/>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分裂过程：</a:t>
              </a:r>
              <a:endParaRPr lang="zh-CN" altLang="en-US" sz="2200" dirty="0">
                <a:solidFill>
                  <a:srgbClr val="3333FF"/>
                </a:solidFill>
                <a:latin typeface="Consolas" panose="020B0609020204030204" pitchFamily="49" charset="0"/>
                <a:cs typeface="Consolas" panose="020B0609020204030204" pitchFamily="49" charset="0"/>
              </a:endParaRPr>
            </a:p>
          </p:txBody>
        </p:sp>
        <p:sp>
          <p:nvSpPr>
            <p:cNvPr id="17" name="TextBox 16"/>
            <p:cNvSpPr txBox="1"/>
            <p:nvPr/>
          </p:nvSpPr>
          <p:spPr>
            <a:xfrm>
              <a:off x="6858016" y="1600130"/>
              <a:ext cx="1571636" cy="400110"/>
            </a:xfrm>
            <a:prstGeom prst="rect">
              <a:avLst/>
            </a:prstGeom>
            <a:noFill/>
          </p:spPr>
          <p:txBody>
            <a:bodyPr wrap="square" rtlCol="0">
              <a:spAutoFit/>
            </a:bodyPr>
            <a:lstStyle/>
            <a:p>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双亲结点</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19" name="TextBox 18"/>
          <p:cNvSpPr txBox="1"/>
          <p:nvPr/>
        </p:nvSpPr>
        <p:spPr>
          <a:xfrm>
            <a:off x="642910" y="4071942"/>
            <a:ext cx="8215338" cy="1015663"/>
          </a:xfrm>
          <a:prstGeom prst="rect">
            <a:avLst/>
          </a:prstGeom>
          <a:noFill/>
        </p:spPr>
        <p:txBody>
          <a:bodyPr wrap="square" rtlCol="0">
            <a:spAutoFit/>
          </a:bodyPr>
          <a:lstStyle/>
          <a:p>
            <a:pPr marL="457200" indent="-457200" algn="l">
              <a:lnSpc>
                <a:spcPct val="150000"/>
              </a:lnSpc>
              <a:buBlip>
                <a:blip r:embed="rId1"/>
              </a:buBlip>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如果没有双亲结点，新建一个双亲结点，树的高度增加一层。</a:t>
            </a:r>
            <a:endPar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marL="457200" indent="-457200" algn="l">
              <a:lnSpc>
                <a:spcPct val="150000"/>
              </a:lnSpc>
              <a:buBlip>
                <a:blip r:embed="rId1"/>
              </a:buBlip>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如果有双亲结点，将</a:t>
            </a:r>
            <a:r>
              <a:rPr lang="en-US" altLang="zh-CN" sz="2000" b="1" i="1" smtClean="0">
                <a:solidFill>
                  <a:srgbClr val="FF00FF"/>
                </a:solidFill>
                <a:latin typeface="Consolas" panose="020B0609020204030204" pitchFamily="49" charset="0"/>
                <a:ea typeface="楷体" panose="02010609060101010101" pitchFamily="49" charset="-122"/>
                <a:cs typeface="Consolas" panose="020B0609020204030204" pitchFamily="49" charset="0"/>
              </a:rPr>
              <a:t>k</a:t>
            </a:r>
            <a:r>
              <a:rPr lang="en-US" altLang="zh-CN" sz="2000" b="1" i="1" baseline="-25000" smtClean="0">
                <a:solidFill>
                  <a:srgbClr val="FF00FF"/>
                </a:solidFill>
                <a:latin typeface="Consolas" panose="020B0609020204030204" pitchFamily="49" charset="0"/>
                <a:ea typeface="楷体" panose="02010609060101010101" pitchFamily="49" charset="-122"/>
                <a:cs typeface="Consolas" panose="020B0609020204030204" pitchFamily="49" charset="0"/>
              </a:rPr>
              <a:t>i</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插入到双亲结点中。</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0" name="灯片编号占位符 19"/>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857224" y="571480"/>
            <a:ext cx="7848600" cy="2191369"/>
          </a:xfrm>
          <a:prstGeom prst="rect">
            <a:avLst/>
          </a:prstGeom>
          <a:noFill/>
          <a:ln w="9525">
            <a:noFill/>
            <a:miter lim="800000"/>
          </a:ln>
        </p:spPr>
        <p:txBody>
          <a:bodyPr>
            <a:spAutoFit/>
          </a:bodyPr>
          <a:lstStyle/>
          <a:p>
            <a:pPr algn="just" fontAlgn="ctr">
              <a:lnSpc>
                <a:spcPct val="130000"/>
              </a:lnSpc>
              <a:spcBef>
                <a:spcPct val="50000"/>
              </a:spcBef>
            </a:pPr>
            <a:r>
              <a:rPr lang="en-US" altLang="zh-CN" sz="2200" b="1">
                <a:latin typeface="Consolas" panose="020B0609020204030204" pitchFamily="49" charset="0"/>
                <a:ea typeface="黑体" panose="02010609060101010101" pitchFamily="49" charset="-122"/>
                <a:cs typeface="Consolas" panose="020B0609020204030204" pitchFamily="49" charset="0"/>
              </a:rPr>
              <a:t>【</a:t>
            </a:r>
            <a:r>
              <a:rPr lang="zh-CN" altLang="en-US" sz="2200" b="1">
                <a:latin typeface="Consolas" panose="020B0609020204030204" pitchFamily="49" charset="0"/>
                <a:ea typeface="楷体" panose="02010609060101010101" pitchFamily="49" charset="-122"/>
                <a:cs typeface="Consolas" panose="020B0609020204030204" pitchFamily="49" charset="0"/>
              </a:rPr>
              <a:t>例</a:t>
            </a:r>
            <a:r>
              <a:rPr lang="en-US" altLang="zh-CN" sz="2200" b="1" smtClean="0">
                <a:latin typeface="Consolas" panose="020B0609020204030204" pitchFamily="49" charset="0"/>
                <a:ea typeface="楷体" panose="02010609060101010101" pitchFamily="49" charset="-122"/>
                <a:cs typeface="Consolas" panose="020B0609020204030204" pitchFamily="49" charset="0"/>
              </a:rPr>
              <a:t>9-7</a:t>
            </a:r>
            <a:r>
              <a:rPr lang="zh-CN" altLang="en-US" sz="2200" b="1" smtClean="0">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latin typeface="Consolas" panose="020B0609020204030204" pitchFamily="49" charset="0"/>
                <a:ea typeface="楷体" panose="02010609060101010101" pitchFamily="49" charset="-122"/>
                <a:cs typeface="Consolas" panose="020B0609020204030204" pitchFamily="49" charset="0"/>
              </a:rPr>
              <a:t>p341</a:t>
            </a:r>
            <a:r>
              <a:rPr lang="en-US" altLang="zh-CN" sz="2200" b="1" smtClean="0">
                <a:latin typeface="Consolas" panose="020B0609020204030204" pitchFamily="49" charset="0"/>
                <a:ea typeface="黑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黑体" panose="02010609060101010101" pitchFamily="49" charset="-122"/>
                <a:cs typeface="Consolas" panose="020B0609020204030204" pitchFamily="49" charset="0"/>
              </a:rPr>
              <a:t> </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关键字序列为：</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ct val="13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(1</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6</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7</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11</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8</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10</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5</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17</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9</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16</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20</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12</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14</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18</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19</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15)</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ct val="13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创建一棵</a:t>
            </a:r>
            <a:r>
              <a:rPr lang="en-US" altLang="zh-CN" sz="2200" b="1">
                <a:solidFill>
                  <a:srgbClr val="3333FF"/>
                </a:solidFill>
                <a:latin typeface="Consolas" panose="020B0609020204030204" pitchFamily="49" charset="0"/>
                <a:ea typeface="楷体" panose="02010609060101010101" pitchFamily="49" charset="-122"/>
                <a:cs typeface="Consolas" panose="020B0609020204030204" pitchFamily="49" charset="0"/>
              </a:rPr>
              <a:t>5</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 name="TextBox 2"/>
          <p:cNvSpPr txBox="1"/>
          <p:nvPr/>
        </p:nvSpPr>
        <p:spPr>
          <a:xfrm>
            <a:off x="1214414" y="3429000"/>
            <a:ext cx="5857916" cy="430887"/>
          </a:xfrm>
          <a:prstGeom prst="rect">
            <a:avLst/>
          </a:prstGeom>
          <a:noFill/>
        </p:spPr>
        <p:txBody>
          <a:bodyPr wrap="square" rtlCol="0">
            <a:spAutoFit/>
          </a:bodyPr>
          <a:lstStyle/>
          <a:p>
            <a:pPr algn="l"/>
            <a:r>
              <a:rPr lang="zh-CN" altLang="en-US" sz="2200" b="1" dirty="0" smtClean="0">
                <a:latin typeface="Consolas" panose="020B0609020204030204" pitchFamily="49" charset="0"/>
                <a:ea typeface="黑体" panose="02010609060101010101" pitchFamily="49" charset="-122"/>
                <a:cs typeface="Consolas" panose="020B0609020204030204" pitchFamily="49" charset="0"/>
              </a:rPr>
              <a:t>注意：</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最多的关键字</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个数</a:t>
            </a:r>
            <a:r>
              <a:rPr lang="en-US" altLang="zh-CN" sz="2200" b="1" smtClean="0">
                <a:latin typeface="Consolas" panose="020B0609020204030204" pitchFamily="49" charset="0"/>
                <a:ea typeface="楷体" panose="02010609060101010101" pitchFamily="49" charset="-122"/>
                <a:cs typeface="Consolas" panose="020B0609020204030204" pitchFamily="49" charset="0"/>
              </a:rPr>
              <a:t>Max </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en-US" altLang="zh-CN" sz="2200" b="1" smtClean="0">
                <a:solidFill>
                  <a:srgbClr val="3333FF"/>
                </a:solidFill>
                <a:latin typeface="Consolas" panose="020B0609020204030204" pitchFamily="49" charset="0"/>
                <a:ea typeface="+mj-ea"/>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 = 4</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Box 66"/>
          <p:cNvSpPr txBox="1"/>
          <p:nvPr/>
        </p:nvSpPr>
        <p:spPr>
          <a:xfrm>
            <a:off x="3357554"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2</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68" name="TextBox 67"/>
          <p:cNvSpPr txBox="1"/>
          <p:nvPr/>
        </p:nvSpPr>
        <p:spPr>
          <a:xfrm>
            <a:off x="3929058"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6</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69" name="TextBox 68"/>
          <p:cNvSpPr txBox="1"/>
          <p:nvPr/>
        </p:nvSpPr>
        <p:spPr>
          <a:xfrm>
            <a:off x="4500562"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7</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5" name="矩形 74"/>
          <p:cNvSpPr/>
          <p:nvPr/>
        </p:nvSpPr>
        <p:spPr>
          <a:xfrm>
            <a:off x="3571868" y="235743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FF0000"/>
                </a:solidFill>
                <a:latin typeface="Consolas" panose="020B0609020204030204" pitchFamily="49" charset="0"/>
                <a:cs typeface="Consolas" panose="020B0609020204030204" pitchFamily="49" charset="0"/>
              </a:rPr>
              <a:t>1</a:t>
            </a:r>
            <a:r>
              <a:rPr lang="en-US" altLang="zh-CN" sz="2000" b="1" dirty="0" smtClean="0">
                <a:solidFill>
                  <a:srgbClr val="3333FF"/>
                </a:solidFill>
                <a:latin typeface="Consolas" panose="020B0609020204030204" pitchFamily="49" charset="0"/>
                <a:cs typeface="Consolas" panose="020B0609020204030204" pitchFamily="49" charset="0"/>
              </a:rPr>
              <a:t>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500066" y="1071546"/>
            <a:ext cx="2214578" cy="430887"/>
          </a:xfrm>
          <a:prstGeom prst="rect">
            <a:avLst/>
          </a:prstGeom>
          <a:noFill/>
        </p:spPr>
        <p:txBody>
          <a:bodyPr wrap="square" rtlCol="0">
            <a:spAutoFit/>
          </a:bodyPr>
          <a:lstStyle/>
          <a:p>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sp>
        <p:nvSpPr>
          <p:cNvPr id="66" name="TextBox 65"/>
          <p:cNvSpPr txBox="1"/>
          <p:nvPr/>
        </p:nvSpPr>
        <p:spPr>
          <a:xfrm>
            <a:off x="2714612"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78" name="直接箭头连接符 77"/>
          <p:cNvCxnSpPr/>
          <p:nvPr/>
        </p:nvCxnSpPr>
        <p:spPr>
          <a:xfrm rot="5400000" flipH="1" flipV="1">
            <a:off x="2749537"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rot="5400000" flipH="1" flipV="1">
            <a:off x="3392479"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rot="5400000" flipH="1" flipV="1">
            <a:off x="3963983"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rot="5400000" flipH="1" flipV="1">
            <a:off x="4535487"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3571868" y="235743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a:t>
            </a:r>
            <a:r>
              <a:rPr lang="en-US" altLang="zh-CN" sz="2000" b="1" dirty="0" smtClean="0">
                <a:solidFill>
                  <a:srgbClr val="FF0000"/>
                </a:solidFill>
                <a:latin typeface="Consolas" panose="020B0609020204030204" pitchFamily="49" charset="0"/>
                <a:cs typeface="Consolas" panose="020B0609020204030204" pitchFamily="49" charset="0"/>
              </a:rPr>
              <a:t>2</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90" name="矩形 89"/>
          <p:cNvSpPr/>
          <p:nvPr/>
        </p:nvSpPr>
        <p:spPr>
          <a:xfrm>
            <a:off x="3571868" y="235743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r>
              <a:rPr lang="en-US" altLang="zh-CN" sz="2000" b="1" dirty="0" smtClean="0">
                <a:solidFill>
                  <a:srgbClr val="FF0000"/>
                </a:solidFill>
                <a:latin typeface="Consolas" panose="020B0609020204030204" pitchFamily="49" charset="0"/>
                <a:cs typeface="Consolas" panose="020B0609020204030204" pitchFamily="49" charset="0"/>
              </a:rPr>
              <a:t>6</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91" name="矩形 90"/>
          <p:cNvSpPr/>
          <p:nvPr/>
        </p:nvSpPr>
        <p:spPr>
          <a:xfrm>
            <a:off x="3571868" y="235743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1 2 6 </a:t>
            </a:r>
            <a:r>
              <a:rPr lang="en-US" altLang="zh-CN" sz="2000" b="1" dirty="0" smtClean="0">
                <a:solidFill>
                  <a:srgbClr val="FF0000"/>
                </a:solidFill>
                <a:latin typeface="Consolas" panose="020B0609020204030204" pitchFamily="49" charset="0"/>
                <a:cs typeface="Consolas" panose="020B0609020204030204" pitchFamily="49" charset="0"/>
              </a:rPr>
              <a:t>7</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15" name="TextBox 14"/>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nodeType="clickEffect">
                                  <p:stCondLst>
                                    <p:cond delay="0"/>
                                  </p:stCondLst>
                                  <p:childTnLst>
                                    <p:animEffect transition="out" filter="wipe(down)">
                                      <p:cBhvr>
                                        <p:cTn id="16" dur="500"/>
                                        <p:tgtEl>
                                          <p:spTgt spid="78"/>
                                        </p:tgtEl>
                                      </p:cBhvr>
                                    </p:animEffect>
                                    <p:set>
                                      <p:cBhvr>
                                        <p:cTn id="17" dur="1" fill="hold">
                                          <p:stCondLst>
                                            <p:cond delay="499"/>
                                          </p:stCondLst>
                                        </p:cTn>
                                        <p:tgtEl>
                                          <p:spTgt spid="7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nodeType="clickEffect">
                                  <p:stCondLst>
                                    <p:cond delay="0"/>
                                  </p:stCondLst>
                                  <p:childTnLst>
                                    <p:animEffect transition="out" filter="wipe(down)">
                                      <p:cBhvr>
                                        <p:cTn id="31" dur="500"/>
                                        <p:tgtEl>
                                          <p:spTgt spid="80"/>
                                        </p:tgtEl>
                                      </p:cBhvr>
                                    </p:animEffect>
                                    <p:set>
                                      <p:cBhvr>
                                        <p:cTn id="32" dur="1" fill="hold">
                                          <p:stCondLst>
                                            <p:cond delay="499"/>
                                          </p:stCondLst>
                                        </p:cTn>
                                        <p:tgtEl>
                                          <p:spTgt spid="8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81"/>
                                        </p:tgtEl>
                                      </p:cBhvr>
                                    </p:animEffect>
                                    <p:set>
                                      <p:cBhvr>
                                        <p:cTn id="47" dur="1" fill="hold">
                                          <p:stCondLst>
                                            <p:cond delay="499"/>
                                          </p:stCondLst>
                                        </p:cTn>
                                        <p:tgtEl>
                                          <p:spTgt spid="8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8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5" grpId="0" bldLvl="0" animBg="1"/>
      <p:bldP spid="66" grpId="0"/>
      <p:bldP spid="89" grpId="0" bldLvl="0" animBg="1"/>
      <p:bldP spid="90" grpId="0" bldLvl="0" animBg="1"/>
      <p:bldP spid="91"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p:cNvSpPr txBox="1"/>
          <p:nvPr/>
        </p:nvSpPr>
        <p:spPr>
          <a:xfrm>
            <a:off x="2857488"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11</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1" name="TextBox 70"/>
          <p:cNvSpPr txBox="1"/>
          <p:nvPr/>
        </p:nvSpPr>
        <p:spPr>
          <a:xfrm>
            <a:off x="3428992"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4</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2" name="TextBox 71"/>
          <p:cNvSpPr txBox="1"/>
          <p:nvPr/>
        </p:nvSpPr>
        <p:spPr>
          <a:xfrm>
            <a:off x="4000496"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8</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3" name="TextBox 72"/>
          <p:cNvSpPr txBox="1"/>
          <p:nvPr/>
        </p:nvSpPr>
        <p:spPr>
          <a:xfrm>
            <a:off x="4714876" y="114298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13</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500066" y="1071546"/>
            <a:ext cx="2214578" cy="430887"/>
          </a:xfrm>
          <a:prstGeom prst="rect">
            <a:avLst/>
          </a:prstGeom>
          <a:noFill/>
        </p:spPr>
        <p:txBody>
          <a:bodyPr wrap="square" rtlCol="0">
            <a:spAutoFit/>
          </a:bodyPr>
          <a:lstStyle/>
          <a:p>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3" name="直接箭头连接符 82"/>
          <p:cNvCxnSpPr/>
          <p:nvPr/>
        </p:nvCxnSpPr>
        <p:spPr>
          <a:xfrm rot="5400000" flipH="1" flipV="1">
            <a:off x="2892413"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rot="5400000" flipH="1" flipV="1">
            <a:off x="3463917"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rot="5400000" flipH="1" flipV="1">
            <a:off x="4035421"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rot="5400000" flipH="1" flipV="1">
            <a:off x="4749801" y="167876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1571604" y="2714620"/>
            <a:ext cx="185738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r>
              <a:rPr lang="en-US" altLang="zh-CN" sz="2000" b="1" dirty="0" smtClean="0">
                <a:solidFill>
                  <a:srgbClr val="9900FF"/>
                </a:solidFill>
                <a:latin typeface="Consolas" panose="020B0609020204030204" pitchFamily="49" charset="0"/>
                <a:cs typeface="Consolas" panose="020B0609020204030204" pitchFamily="49" charset="0"/>
              </a:rPr>
              <a:t>6</a:t>
            </a:r>
            <a:r>
              <a:rPr lang="en-US" altLang="zh-CN" sz="2000" b="1" dirty="0" smtClean="0">
                <a:solidFill>
                  <a:srgbClr val="3333FF"/>
                </a:solidFill>
                <a:latin typeface="Consolas" panose="020B0609020204030204" pitchFamily="49" charset="0"/>
                <a:cs typeface="Consolas" panose="020B0609020204030204" pitchFamily="49" charset="0"/>
              </a:rPr>
              <a:t> 7 </a:t>
            </a:r>
            <a:r>
              <a:rPr lang="en-US" altLang="zh-CN" sz="2000" b="1" dirty="0" smtClean="0">
                <a:solidFill>
                  <a:srgbClr val="FF0000"/>
                </a:solidFill>
                <a:latin typeface="Consolas" panose="020B0609020204030204" pitchFamily="49" charset="0"/>
                <a:cs typeface="Consolas" panose="020B0609020204030204" pitchFamily="49" charset="0"/>
              </a:rPr>
              <a:t>11</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25" name="右箭头 24"/>
          <p:cNvSpPr/>
          <p:nvPr/>
        </p:nvSpPr>
        <p:spPr>
          <a:xfrm>
            <a:off x="3857620" y="2786058"/>
            <a:ext cx="785818" cy="285752"/>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6" name="矩形 25"/>
          <p:cNvSpPr/>
          <p:nvPr/>
        </p:nvSpPr>
        <p:spPr>
          <a:xfrm>
            <a:off x="5214942" y="307181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7" name="矩形 26"/>
          <p:cNvSpPr/>
          <p:nvPr/>
        </p:nvSpPr>
        <p:spPr>
          <a:xfrm>
            <a:off x="7000892" y="307181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7  11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8" name="矩形 27"/>
          <p:cNvSpPr/>
          <p:nvPr/>
        </p:nvSpPr>
        <p:spPr>
          <a:xfrm>
            <a:off x="6072198" y="2143116"/>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p:nvPr/>
        </p:nvCxnSpPr>
        <p:spPr>
          <a:xfrm rot="5400000">
            <a:off x="6072198" y="2571744"/>
            <a:ext cx="642942" cy="35719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6929454" y="2500306"/>
            <a:ext cx="642942"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5214942" y="307181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r>
              <a:rPr lang="en-US" altLang="zh-CN" sz="2000" b="1" dirty="0" smtClean="0">
                <a:solidFill>
                  <a:srgbClr val="FF0000"/>
                </a:solidFill>
                <a:latin typeface="Consolas" panose="020B0609020204030204" pitchFamily="49" charset="0"/>
                <a:cs typeface="Consolas" panose="020B0609020204030204" pitchFamily="49" charset="0"/>
              </a:rPr>
              <a:t>4</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35" name="矩形 34"/>
          <p:cNvSpPr/>
          <p:nvPr/>
        </p:nvSpPr>
        <p:spPr>
          <a:xfrm>
            <a:off x="7000892" y="307181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a:t>
            </a:r>
            <a:r>
              <a:rPr lang="en-US" altLang="zh-CN" sz="2000" b="1" dirty="0" smtClean="0">
                <a:solidFill>
                  <a:srgbClr val="FF0000"/>
                </a:solidFill>
                <a:latin typeface="Consolas" panose="020B0609020204030204" pitchFamily="49" charset="0"/>
                <a:cs typeface="Consolas" panose="020B0609020204030204" pitchFamily="49" charset="0"/>
              </a:rPr>
              <a:t>8</a:t>
            </a:r>
            <a:r>
              <a:rPr lang="en-US" altLang="zh-CN" sz="2000" b="1" dirty="0" smtClean="0">
                <a:solidFill>
                  <a:srgbClr val="3333FF"/>
                </a:solidFill>
                <a:latin typeface="Consolas" panose="020B0609020204030204" pitchFamily="49" charset="0"/>
                <a:cs typeface="Consolas" panose="020B0609020204030204" pitchFamily="49" charset="0"/>
              </a:rPr>
              <a:t> 11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6" name="矩形 35"/>
          <p:cNvSpPr/>
          <p:nvPr/>
        </p:nvSpPr>
        <p:spPr>
          <a:xfrm>
            <a:off x="7000892" y="3071810"/>
            <a:ext cx="178595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7  8 11 </a:t>
            </a:r>
            <a:r>
              <a:rPr lang="en-US" altLang="zh-CN" sz="2000" b="1" dirty="0" smtClean="0">
                <a:solidFill>
                  <a:srgbClr val="FF0000"/>
                </a:solidFill>
                <a:latin typeface="Consolas" panose="020B0609020204030204" pitchFamily="49" charset="0"/>
                <a:cs typeface="Consolas" panose="020B0609020204030204" pitchFamily="49" charset="0"/>
              </a:rPr>
              <a:t>13</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37" name="TextBox 36"/>
          <p:cNvSpPr txBox="1"/>
          <p:nvPr/>
        </p:nvSpPr>
        <p:spPr>
          <a:xfrm>
            <a:off x="1643042" y="3357562"/>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2" name="TextBox 21"/>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3" name="TextBox 22"/>
          <p:cNvSpPr txBox="1"/>
          <p:nvPr/>
        </p:nvSpPr>
        <p:spPr>
          <a:xfrm>
            <a:off x="3857620" y="3000372"/>
            <a:ext cx="78581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nodeType="clickEffect">
                                  <p:stCondLst>
                                    <p:cond delay="0"/>
                                  </p:stCondLst>
                                  <p:childTnLst>
                                    <p:animEffect transition="out" filter="wipe(down)">
                                      <p:cBhvr>
                                        <p:cTn id="35" dur="500"/>
                                        <p:tgtEl>
                                          <p:spTgt spid="83"/>
                                        </p:tgtEl>
                                      </p:cBhvr>
                                    </p:animEffect>
                                    <p:set>
                                      <p:cBhvr>
                                        <p:cTn id="36" dur="1" fill="hold">
                                          <p:stCondLst>
                                            <p:cond delay="499"/>
                                          </p:stCondLst>
                                        </p:cTn>
                                        <p:tgtEl>
                                          <p:spTgt spid="8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4" fill="hold" nodeType="clickEffect">
                                  <p:stCondLst>
                                    <p:cond delay="0"/>
                                  </p:stCondLst>
                                  <p:childTnLst>
                                    <p:animEffect transition="out" filter="wipe(down)">
                                      <p:cBhvr>
                                        <p:cTn id="50" dur="500"/>
                                        <p:tgtEl>
                                          <p:spTgt spid="84"/>
                                        </p:tgtEl>
                                      </p:cBhvr>
                                    </p:animEffect>
                                    <p:set>
                                      <p:cBhvr>
                                        <p:cTn id="51" dur="1" fill="hold">
                                          <p:stCondLst>
                                            <p:cond delay="499"/>
                                          </p:stCondLst>
                                        </p:cTn>
                                        <p:tgtEl>
                                          <p:spTgt spid="84"/>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2"/>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8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4" fill="hold" nodeType="clickEffect">
                                  <p:stCondLst>
                                    <p:cond delay="0"/>
                                  </p:stCondLst>
                                  <p:childTnLst>
                                    <p:animEffect transition="out" filter="wipe(down)">
                                      <p:cBhvr>
                                        <p:cTn id="65" dur="500"/>
                                        <p:tgtEl>
                                          <p:spTgt spid="85"/>
                                        </p:tgtEl>
                                      </p:cBhvr>
                                    </p:animEffect>
                                    <p:set>
                                      <p:cBhvr>
                                        <p:cTn id="66" dur="1" fill="hold">
                                          <p:stCondLst>
                                            <p:cond delay="499"/>
                                          </p:stCondLst>
                                        </p:cTn>
                                        <p:tgtEl>
                                          <p:spTgt spid="8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91" grpId="0" bldLvl="0" animBg="1"/>
      <p:bldP spid="25" grpId="0" bldLvl="0" animBg="1"/>
      <p:bldP spid="26" grpId="0" bldLvl="0" animBg="1"/>
      <p:bldP spid="27" grpId="0" bldLvl="0" animBg="1"/>
      <p:bldP spid="28" grpId="0" bldLvl="0" animBg="1"/>
      <p:bldP spid="34" grpId="0" bldLvl="0" animBg="1"/>
      <p:bldP spid="35" grpId="0" bldLvl="0" animBg="1"/>
      <p:bldP spid="36" grpId="0" bldLvl="0" animBg="1"/>
      <p:bldP spid="37" grpId="0"/>
      <p:bldP spid="2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2786050" y="107075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10</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642942" y="999314"/>
            <a:ext cx="2214578" cy="461665"/>
          </a:xfrm>
          <a:prstGeom prst="rect">
            <a:avLst/>
          </a:prstGeom>
          <a:noFill/>
        </p:spPr>
        <p:txBody>
          <a:bodyPr wrap="square" rtlCol="0">
            <a:spAutoFit/>
          </a:bodyPr>
          <a:lstStyle/>
          <a:p>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4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7" name="直接箭头连接符 86"/>
          <p:cNvCxnSpPr/>
          <p:nvPr/>
        </p:nvCxnSpPr>
        <p:spPr>
          <a:xfrm rot="5400000" flipH="1" flipV="1">
            <a:off x="2820975" y="160653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5" name="右箭头 24"/>
          <p:cNvSpPr/>
          <p:nvPr/>
        </p:nvSpPr>
        <p:spPr>
          <a:xfrm>
            <a:off x="3643306" y="2571744"/>
            <a:ext cx="785818" cy="285752"/>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8" name="矩形 27"/>
          <p:cNvSpPr/>
          <p:nvPr/>
        </p:nvSpPr>
        <p:spPr>
          <a:xfrm>
            <a:off x="5715008" y="2143116"/>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6  10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p:nvPr/>
        </p:nvCxnSpPr>
        <p:spPr>
          <a:xfrm rot="5400000">
            <a:off x="5393537" y="2464587"/>
            <a:ext cx="642942"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6750859" y="2464587"/>
            <a:ext cx="642942"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4357686" y="3071810"/>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1  2  4</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6" name="矩形 35"/>
          <p:cNvSpPr/>
          <p:nvPr/>
        </p:nvSpPr>
        <p:spPr>
          <a:xfrm>
            <a:off x="5786446" y="3071810"/>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7" name="TextBox 36"/>
          <p:cNvSpPr txBox="1"/>
          <p:nvPr/>
        </p:nvSpPr>
        <p:spPr>
          <a:xfrm>
            <a:off x="1643042" y="3714752"/>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4" name="矩形 23"/>
          <p:cNvSpPr/>
          <p:nvPr/>
        </p:nvSpPr>
        <p:spPr>
          <a:xfrm>
            <a:off x="1000100" y="2143116"/>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29" name="直接箭头连接符 28"/>
          <p:cNvCxnSpPr/>
          <p:nvPr/>
        </p:nvCxnSpPr>
        <p:spPr>
          <a:xfrm rot="5400000">
            <a:off x="1000100" y="2571744"/>
            <a:ext cx="642942" cy="35719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1857356" y="2500306"/>
            <a:ext cx="642942"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142844" y="3071810"/>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1  2  4</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8" name="矩形 37"/>
          <p:cNvSpPr/>
          <p:nvPr/>
        </p:nvSpPr>
        <p:spPr>
          <a:xfrm>
            <a:off x="1714480" y="3071810"/>
            <a:ext cx="1785950"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a:t>
            </a:r>
            <a:r>
              <a:rPr lang="en-US" altLang="zh-CN" sz="2000" b="1" smtClean="0">
                <a:solidFill>
                  <a:srgbClr val="FF0000"/>
                </a:solidFill>
                <a:latin typeface="Consolas" panose="020B0609020204030204" pitchFamily="49" charset="0"/>
                <a:cs typeface="Consolas" panose="020B0609020204030204" pitchFamily="49" charset="0"/>
              </a:rPr>
              <a:t>10</a:t>
            </a:r>
            <a:r>
              <a:rPr lang="en-US" altLang="zh-CN" sz="2000" b="1" smtClean="0">
                <a:solidFill>
                  <a:srgbClr val="3333FF"/>
                </a:solidFill>
                <a:latin typeface="Consolas" panose="020B0609020204030204" pitchFamily="49" charset="0"/>
                <a:cs typeface="Consolas" panose="020B0609020204030204" pitchFamily="49" charset="0"/>
              </a:rPr>
              <a:t> 11 13</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9" name="矩形 38"/>
          <p:cNvSpPr/>
          <p:nvPr/>
        </p:nvSpPr>
        <p:spPr>
          <a:xfrm>
            <a:off x="7240606" y="3071810"/>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11  13</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42" name="直接箭头连接符 41"/>
          <p:cNvCxnSpPr>
            <a:endCxn id="36" idx="0"/>
          </p:cNvCxnSpPr>
          <p:nvPr/>
        </p:nvCxnSpPr>
        <p:spPr>
          <a:xfrm rot="16200000" flipH="1">
            <a:off x="6083727" y="2703091"/>
            <a:ext cx="642942" cy="944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357554" y="107075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5</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45" name="直接箭头连接符 44"/>
          <p:cNvCxnSpPr/>
          <p:nvPr/>
        </p:nvCxnSpPr>
        <p:spPr>
          <a:xfrm rot="5400000" flipH="1" flipV="1">
            <a:off x="3392479" y="160653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857620" y="107075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17</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47" name="直接箭头连接符 46"/>
          <p:cNvCxnSpPr/>
          <p:nvPr/>
        </p:nvCxnSpPr>
        <p:spPr>
          <a:xfrm rot="5400000" flipH="1" flipV="1">
            <a:off x="3892545" y="160653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357686" y="107075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9</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49" name="直接箭头连接符 48"/>
          <p:cNvCxnSpPr/>
          <p:nvPr/>
        </p:nvCxnSpPr>
        <p:spPr>
          <a:xfrm rot="5400000" flipH="1" flipV="1">
            <a:off x="4392611" y="160653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857752" y="107075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16</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51" name="直接箭头连接符 50"/>
          <p:cNvCxnSpPr/>
          <p:nvPr/>
        </p:nvCxnSpPr>
        <p:spPr>
          <a:xfrm rot="5400000" flipH="1" flipV="1">
            <a:off x="4892677" y="160653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4357686" y="3071810"/>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1 2 4 </a:t>
            </a:r>
            <a:r>
              <a:rPr lang="en-US" altLang="zh-CN" sz="2000" b="1" smtClean="0">
                <a:solidFill>
                  <a:srgbClr val="FF0000"/>
                </a:solidFill>
                <a:latin typeface="Consolas" panose="020B0609020204030204" pitchFamily="49" charset="0"/>
                <a:cs typeface="Consolas" panose="020B0609020204030204" pitchFamily="49" charset="0"/>
              </a:rPr>
              <a:t>5</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53" name="矩形 52"/>
          <p:cNvSpPr/>
          <p:nvPr/>
        </p:nvSpPr>
        <p:spPr>
          <a:xfrm>
            <a:off x="5786446" y="3071810"/>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a:t>
            </a:r>
            <a:r>
              <a:rPr lang="en-US" altLang="zh-CN" sz="2000" b="1" dirty="0" smtClean="0">
                <a:solidFill>
                  <a:srgbClr val="FF0000"/>
                </a:solidFill>
                <a:latin typeface="Consolas" panose="020B0609020204030204" pitchFamily="49" charset="0"/>
                <a:cs typeface="Consolas" panose="020B0609020204030204" pitchFamily="49" charset="0"/>
              </a:rPr>
              <a:t>9</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54" name="矩形 53"/>
          <p:cNvSpPr/>
          <p:nvPr/>
        </p:nvSpPr>
        <p:spPr>
          <a:xfrm>
            <a:off x="7240606" y="3071810"/>
            <a:ext cx="147479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11 13 </a:t>
            </a:r>
            <a:r>
              <a:rPr lang="en-US" altLang="zh-CN" sz="2000" b="1" smtClean="0">
                <a:solidFill>
                  <a:srgbClr val="FF0000"/>
                </a:solidFill>
                <a:latin typeface="Consolas" panose="020B0609020204030204" pitchFamily="49" charset="0"/>
                <a:cs typeface="Consolas" panose="020B0609020204030204" pitchFamily="49" charset="0"/>
              </a:rPr>
              <a:t>17</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55" name="矩形 54"/>
          <p:cNvSpPr/>
          <p:nvPr/>
        </p:nvSpPr>
        <p:spPr>
          <a:xfrm>
            <a:off x="7240606" y="3071810"/>
            <a:ext cx="176055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11 13 </a:t>
            </a:r>
            <a:r>
              <a:rPr lang="en-US" altLang="zh-CN" sz="2000" b="1" smtClean="0">
                <a:solidFill>
                  <a:srgbClr val="FF0000"/>
                </a:solidFill>
                <a:latin typeface="Consolas" panose="020B0609020204030204" pitchFamily="49" charset="0"/>
                <a:cs typeface="Consolas" panose="020B0609020204030204" pitchFamily="49" charset="0"/>
              </a:rPr>
              <a:t>16 </a:t>
            </a:r>
            <a:r>
              <a:rPr lang="en-US" altLang="zh-CN" sz="2000" b="1" smtClean="0">
                <a:solidFill>
                  <a:srgbClr val="3333FF"/>
                </a:solidFill>
                <a:latin typeface="Consolas" panose="020B0609020204030204" pitchFamily="49" charset="0"/>
                <a:cs typeface="Consolas" panose="020B0609020204030204" pitchFamily="49" charset="0"/>
              </a:rPr>
              <a:t>17</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5" name="TextBox 34"/>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3643306" y="2143116"/>
            <a:ext cx="78581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灯片编号占位符 4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nodeType="clickEffect">
                                  <p:stCondLst>
                                    <p:cond delay="0"/>
                                  </p:stCondLst>
                                  <p:childTnLst>
                                    <p:animEffect transition="out" filter="wipe(down)">
                                      <p:cBhvr>
                                        <p:cTn id="49" dur="500"/>
                                        <p:tgtEl>
                                          <p:spTgt spid="87"/>
                                        </p:tgtEl>
                                      </p:cBhvr>
                                    </p:animEffect>
                                    <p:set>
                                      <p:cBhvr>
                                        <p:cTn id="50" dur="1" fill="hold">
                                          <p:stCondLst>
                                            <p:cond delay="499"/>
                                          </p:stCondLst>
                                        </p:cTn>
                                        <p:tgtEl>
                                          <p:spTgt spid="8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xit" presetSubtype="4" fill="hold" nodeType="clickEffect">
                                  <p:stCondLst>
                                    <p:cond delay="0"/>
                                  </p:stCondLst>
                                  <p:childTnLst>
                                    <p:animEffect transition="out" filter="wipe(down)">
                                      <p:cBhvr>
                                        <p:cTn id="64" dur="500"/>
                                        <p:tgtEl>
                                          <p:spTgt spid="45"/>
                                        </p:tgtEl>
                                      </p:cBhvr>
                                    </p:animEffect>
                                    <p:set>
                                      <p:cBhvr>
                                        <p:cTn id="65" dur="1" fill="hold">
                                          <p:stCondLst>
                                            <p:cond delay="499"/>
                                          </p:stCondLst>
                                        </p:cTn>
                                        <p:tgtEl>
                                          <p:spTgt spid="45"/>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4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5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xit" presetSubtype="4" fill="hold" nodeType="clickEffect">
                                  <p:stCondLst>
                                    <p:cond delay="0"/>
                                  </p:stCondLst>
                                  <p:childTnLst>
                                    <p:animEffect transition="out" filter="wipe(down)">
                                      <p:cBhvr>
                                        <p:cTn id="79" dur="500"/>
                                        <p:tgtEl>
                                          <p:spTgt spid="47"/>
                                        </p:tgtEl>
                                      </p:cBhvr>
                                    </p:animEffect>
                                    <p:set>
                                      <p:cBhvr>
                                        <p:cTn id="80" dur="1" fill="hold">
                                          <p:stCondLst>
                                            <p:cond delay="499"/>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xit" presetSubtype="4" fill="hold" nodeType="clickEffect">
                                  <p:stCondLst>
                                    <p:cond delay="0"/>
                                  </p:stCondLst>
                                  <p:childTnLst>
                                    <p:animEffect transition="out" filter="wipe(down)">
                                      <p:cBhvr>
                                        <p:cTn id="94" dur="500"/>
                                        <p:tgtEl>
                                          <p:spTgt spid="49"/>
                                        </p:tgtEl>
                                      </p:cBhvr>
                                    </p:animEffect>
                                    <p:set>
                                      <p:cBhvr>
                                        <p:cTn id="95" dur="1" fill="hold">
                                          <p:stCondLst>
                                            <p:cond delay="499"/>
                                          </p:stCondLst>
                                        </p:cTn>
                                        <p:tgtEl>
                                          <p:spTgt spid="49"/>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0"/>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5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25" grpId="0" bldLvl="0" animBg="1"/>
      <p:bldP spid="28" grpId="0" bldLvl="0" animBg="1"/>
      <p:bldP spid="34" grpId="0" bldLvl="0" animBg="1"/>
      <p:bldP spid="36" grpId="0" bldLvl="0" animBg="1"/>
      <p:bldP spid="37" grpId="0"/>
      <p:bldP spid="24" grpId="0" bldLvl="0" animBg="1"/>
      <p:bldP spid="33" grpId="0" bldLvl="0" animBg="1"/>
      <p:bldP spid="38" grpId="0" bldLvl="0" animBg="1"/>
      <p:bldP spid="39" grpId="0" bldLvl="0" animBg="1"/>
      <p:bldP spid="44" grpId="0"/>
      <p:bldP spid="46" grpId="0"/>
      <p:bldP spid="48" grpId="0"/>
      <p:bldP spid="50" grpId="0"/>
      <p:bldP spid="52" grpId="0" bldLvl="0" animBg="1"/>
      <p:bldP spid="53" grpId="0" bldLvl="0" animBg="1"/>
      <p:bldP spid="54" grpId="0" bldLvl="0" animBg="1"/>
      <p:bldP spid="55" grpId="0" bldLvl="0" animBg="1"/>
      <p:bldP spid="4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3454392" y="1000108"/>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20</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1311284" y="928670"/>
            <a:ext cx="2214578" cy="461665"/>
          </a:xfrm>
          <a:prstGeom prst="rect">
            <a:avLst/>
          </a:prstGeom>
          <a:noFill/>
        </p:spPr>
        <p:txBody>
          <a:bodyPr wrap="square" rtlCol="0">
            <a:spAutoFit/>
          </a:bodyPr>
          <a:lstStyle/>
          <a:p>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4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7" name="直接箭头连接符 86"/>
          <p:cNvCxnSpPr/>
          <p:nvPr/>
        </p:nvCxnSpPr>
        <p:spPr>
          <a:xfrm rot="5400000" flipH="1" flipV="1">
            <a:off x="3489317" y="1535893"/>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311384" y="1928802"/>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6  10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p:nvPr/>
        </p:nvCxnSpPr>
        <p:spPr>
          <a:xfrm rot="5400000">
            <a:off x="1989913" y="2250273"/>
            <a:ext cx="642942"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3347235" y="2250273"/>
            <a:ext cx="642942"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714744" y="3429000"/>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2" name="直接箭头连接符 41"/>
          <p:cNvCxnSpPr/>
          <p:nvPr/>
        </p:nvCxnSpPr>
        <p:spPr>
          <a:xfrm rot="16200000" flipH="1">
            <a:off x="2680103" y="2488777"/>
            <a:ext cx="642942" cy="944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954062" y="2857496"/>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1 2 4 5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3" name="矩形 52"/>
          <p:cNvSpPr/>
          <p:nvPr/>
        </p:nvSpPr>
        <p:spPr>
          <a:xfrm>
            <a:off x="2382822" y="2857496"/>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3836982" y="2845433"/>
            <a:ext cx="216377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11 13 </a:t>
            </a:r>
            <a:r>
              <a:rPr lang="en-US" altLang="zh-CN" sz="2000" b="1" dirty="0" smtClean="0">
                <a:solidFill>
                  <a:srgbClr val="9900FF"/>
                </a:solidFill>
                <a:latin typeface="Consolas" panose="020B0609020204030204" pitchFamily="49" charset="0"/>
                <a:cs typeface="Consolas" panose="020B0609020204030204" pitchFamily="49" charset="0"/>
              </a:rPr>
              <a:t>16</a:t>
            </a:r>
            <a:r>
              <a:rPr lang="en-US" altLang="zh-CN" sz="2000" b="1" dirty="0" smtClean="0">
                <a:solidFill>
                  <a:srgbClr val="3333FF"/>
                </a:solidFill>
                <a:latin typeface="Consolas" panose="020B0609020204030204" pitchFamily="49" charset="0"/>
                <a:cs typeface="Consolas" panose="020B0609020204030204" pitchFamily="49" charset="0"/>
              </a:rPr>
              <a:t> 17 </a:t>
            </a:r>
            <a:r>
              <a:rPr lang="en-US" altLang="zh-CN" sz="2000" b="1" dirty="0" smtClean="0">
                <a:solidFill>
                  <a:srgbClr val="FF0000"/>
                </a:solidFill>
                <a:latin typeface="Consolas" panose="020B0609020204030204" pitchFamily="49" charset="0"/>
                <a:cs typeface="Consolas" panose="020B0609020204030204" pitchFamily="49" charset="0"/>
              </a:rPr>
              <a:t>20</a:t>
            </a:r>
            <a:endParaRPr lang="zh-CN" altLang="en-US" sz="2000" b="1" dirty="0">
              <a:solidFill>
                <a:srgbClr val="FF0000"/>
              </a:solidFill>
              <a:latin typeface="Consolas" panose="020B0609020204030204" pitchFamily="49" charset="0"/>
              <a:cs typeface="Consolas" panose="020B0609020204030204" pitchFamily="49" charset="0"/>
            </a:endParaRPr>
          </a:p>
        </p:txBody>
      </p:sp>
      <p:grpSp>
        <p:nvGrpSpPr>
          <p:cNvPr id="69" name="组合 68"/>
          <p:cNvGrpSpPr/>
          <p:nvPr/>
        </p:nvGrpSpPr>
        <p:grpSpPr>
          <a:xfrm>
            <a:off x="2597136" y="4214818"/>
            <a:ext cx="5403888" cy="1643074"/>
            <a:chOff x="1785918" y="3500438"/>
            <a:chExt cx="5403888" cy="1643074"/>
          </a:xfrm>
        </p:grpSpPr>
        <p:sp>
          <p:nvSpPr>
            <p:cNvPr id="35" name="矩形 34"/>
            <p:cNvSpPr/>
            <p:nvPr/>
          </p:nvSpPr>
          <p:spPr>
            <a:xfrm>
              <a:off x="3786182" y="3500438"/>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6 10 16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40" name="直接箭头连接符 39"/>
            <p:cNvCxnSpPr/>
            <p:nvPr/>
          </p:nvCxnSpPr>
          <p:spPr>
            <a:xfrm rot="10800000" flipV="1">
              <a:off x="2857488" y="3857628"/>
              <a:ext cx="1143008" cy="8143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rot="16200000" flipH="1">
              <a:off x="4483894" y="3983835"/>
              <a:ext cx="785817" cy="5334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rot="5400000">
              <a:off x="3640576" y="4097730"/>
              <a:ext cx="814336" cy="33413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1785918" y="4643446"/>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1 2 4 5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8" name="矩形 57"/>
            <p:cNvSpPr/>
            <p:nvPr/>
          </p:nvSpPr>
          <p:spPr>
            <a:xfrm>
              <a:off x="3214678" y="4643446"/>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9" name="矩形 58"/>
            <p:cNvSpPr/>
            <p:nvPr/>
          </p:nvSpPr>
          <p:spPr>
            <a:xfrm>
              <a:off x="4668838" y="4643446"/>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11  13</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0" name="矩形 59"/>
            <p:cNvSpPr/>
            <p:nvPr/>
          </p:nvSpPr>
          <p:spPr>
            <a:xfrm>
              <a:off x="6000760" y="4643446"/>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a:t>
              </a:r>
              <a:r>
                <a:rPr lang="en-US" altLang="zh-CN" sz="2000" b="1" dirty="0" smtClean="0">
                  <a:solidFill>
                    <a:srgbClr val="FF0000"/>
                  </a:solidFill>
                  <a:latin typeface="Consolas" panose="020B0609020204030204" pitchFamily="49" charset="0"/>
                  <a:cs typeface="Consolas" panose="020B0609020204030204" pitchFamily="49" charset="0"/>
                </a:rPr>
                <a:t>20</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65" name="直接箭头连接符 64"/>
            <p:cNvCxnSpPr/>
            <p:nvPr/>
          </p:nvCxnSpPr>
          <p:spPr>
            <a:xfrm>
              <a:off x="5000628" y="3786190"/>
              <a:ext cx="1357322"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sp>
        <p:nvSpPr>
          <p:cNvPr id="66" name="右弧形箭头 65"/>
          <p:cNvSpPr/>
          <p:nvPr/>
        </p:nvSpPr>
        <p:spPr>
          <a:xfrm>
            <a:off x="6097598" y="2928934"/>
            <a:ext cx="357190" cy="1143008"/>
          </a:xfrm>
          <a:prstGeom prst="curvedLef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Consolas" panose="020B0609020204030204" pitchFamily="49" charset="0"/>
            </a:endParaRPr>
          </a:p>
        </p:txBody>
      </p:sp>
      <p:sp>
        <p:nvSpPr>
          <p:cNvPr id="24" name="TextBox 23"/>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5" name="TextBox 24"/>
          <p:cNvSpPr txBox="1"/>
          <p:nvPr/>
        </p:nvSpPr>
        <p:spPr>
          <a:xfrm>
            <a:off x="6572264" y="3286124"/>
            <a:ext cx="78581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28" grpId="0" bldLvl="0" animBg="1"/>
      <p:bldP spid="37" grpId="0"/>
      <p:bldP spid="52" grpId="0" bldLvl="0" animBg="1"/>
      <p:bldP spid="53" grpId="0" bldLvl="0" animBg="1"/>
      <p:bldP spid="55" grpId="0" bldLvl="0" animBg="1"/>
      <p:bldP spid="66" grpId="0" bldLvl="0" animBg="1"/>
      <p:bldP spid="2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3811582" y="85723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3</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1668474" y="785794"/>
            <a:ext cx="2214578" cy="461665"/>
          </a:xfrm>
          <a:prstGeom prst="rect">
            <a:avLst/>
          </a:prstGeom>
          <a:noFill/>
        </p:spPr>
        <p:txBody>
          <a:bodyPr wrap="square" rtlCol="0">
            <a:spAutoFit/>
          </a:bodyPr>
          <a:lstStyle/>
          <a:p>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4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7" name="直接箭头连接符 86"/>
          <p:cNvCxnSpPr/>
          <p:nvPr/>
        </p:nvCxnSpPr>
        <p:spPr>
          <a:xfrm rot="5400000" flipH="1" flipV="1">
            <a:off x="3846507" y="139301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66" name="右弧形箭头 65"/>
          <p:cNvSpPr/>
          <p:nvPr/>
        </p:nvSpPr>
        <p:spPr>
          <a:xfrm>
            <a:off x="7169168" y="3143248"/>
            <a:ext cx="357190" cy="1143008"/>
          </a:xfrm>
          <a:prstGeom prst="curvedLef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solidFill>
                <a:schemeClr val="tx1"/>
              </a:solidFill>
              <a:latin typeface="Consolas" panose="020B0609020204030204" pitchFamily="49" charset="0"/>
              <a:cs typeface="Consolas" panose="020B0609020204030204" pitchFamily="49" charset="0"/>
            </a:endParaRPr>
          </a:p>
        </p:txBody>
      </p:sp>
      <p:grpSp>
        <p:nvGrpSpPr>
          <p:cNvPr id="73" name="组合 72"/>
          <p:cNvGrpSpPr/>
          <p:nvPr/>
        </p:nvGrpSpPr>
        <p:grpSpPr>
          <a:xfrm>
            <a:off x="1000100" y="1857364"/>
            <a:ext cx="5811878" cy="2114622"/>
            <a:chOff x="285720" y="1428736"/>
            <a:chExt cx="5811878" cy="2114622"/>
          </a:xfrm>
        </p:grpSpPr>
        <p:sp>
          <p:nvSpPr>
            <p:cNvPr id="37" name="TextBox 36"/>
            <p:cNvSpPr txBox="1"/>
            <p:nvPr/>
          </p:nvSpPr>
          <p:spPr>
            <a:xfrm>
              <a:off x="285720" y="3143248"/>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矩形 32"/>
            <p:cNvSpPr/>
            <p:nvPr/>
          </p:nvSpPr>
          <p:spPr>
            <a:xfrm>
              <a:off x="2693974" y="1428736"/>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6 10 16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4" name="直接箭头连接符 33"/>
            <p:cNvCxnSpPr/>
            <p:nvPr/>
          </p:nvCxnSpPr>
          <p:spPr>
            <a:xfrm rot="10800000" flipV="1">
              <a:off x="1765280" y="1785926"/>
              <a:ext cx="1143008" cy="81433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16200000" flipH="1">
              <a:off x="3391686" y="1912133"/>
              <a:ext cx="785817" cy="5334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rot="5400000">
              <a:off x="2548368" y="2026028"/>
              <a:ext cx="814336" cy="33413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428596" y="2571744"/>
              <a:ext cx="159711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1 2 </a:t>
              </a:r>
              <a:r>
                <a:rPr lang="en-US" altLang="zh-CN" sz="2000" b="1" dirty="0" smtClean="0">
                  <a:solidFill>
                    <a:srgbClr val="FF0000"/>
                  </a:solidFill>
                  <a:latin typeface="Consolas" panose="020B0609020204030204" pitchFamily="49" charset="0"/>
                  <a:cs typeface="Consolas" panose="020B0609020204030204" pitchFamily="49" charset="0"/>
                </a:rPr>
                <a:t>3</a:t>
              </a:r>
              <a:r>
                <a:rPr lang="en-US" altLang="zh-CN" sz="2000" b="1" dirty="0" smtClean="0">
                  <a:solidFill>
                    <a:srgbClr val="3333FF"/>
                  </a:solidFill>
                  <a:latin typeface="Consolas" panose="020B0609020204030204" pitchFamily="49" charset="0"/>
                  <a:cs typeface="Consolas" panose="020B0609020204030204" pitchFamily="49" charset="0"/>
                </a:rPr>
                <a:t> </a:t>
              </a:r>
              <a:r>
                <a:rPr lang="en-US" altLang="zh-CN" sz="2000" b="1"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3" name="矩形 42"/>
            <p:cNvSpPr/>
            <p:nvPr/>
          </p:nvSpPr>
          <p:spPr>
            <a:xfrm>
              <a:off x="2122470" y="2571744"/>
              <a:ext cx="133200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4" name="矩形 53"/>
            <p:cNvSpPr/>
            <p:nvPr/>
          </p:nvSpPr>
          <p:spPr>
            <a:xfrm>
              <a:off x="3576630" y="2571744"/>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11  13</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1" name="矩形 60"/>
            <p:cNvSpPr/>
            <p:nvPr/>
          </p:nvSpPr>
          <p:spPr>
            <a:xfrm>
              <a:off x="4908552" y="2571744"/>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17  20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62" name="直接箭头连接符 61"/>
            <p:cNvCxnSpPr/>
            <p:nvPr/>
          </p:nvCxnSpPr>
          <p:spPr>
            <a:xfrm>
              <a:off x="3908420" y="1714488"/>
              <a:ext cx="1357322"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2454260" y="4286256"/>
            <a:ext cx="5903954" cy="1643074"/>
            <a:chOff x="1739880" y="3857628"/>
            <a:chExt cx="5903954" cy="1643074"/>
          </a:xfrm>
        </p:grpSpPr>
        <p:sp>
          <p:nvSpPr>
            <p:cNvPr id="35" name="矩形 34"/>
            <p:cNvSpPr/>
            <p:nvPr/>
          </p:nvSpPr>
          <p:spPr>
            <a:xfrm>
              <a:off x="3786182" y="3857628"/>
              <a:ext cx="161767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FF0000"/>
                  </a:solidFill>
                  <a:latin typeface="Consolas" panose="020B0609020204030204" pitchFamily="49" charset="0"/>
                  <a:cs typeface="Consolas" panose="020B0609020204030204" pitchFamily="49" charset="0"/>
                </a:rPr>
                <a:t>3</a:t>
              </a:r>
              <a:r>
                <a:rPr lang="en-US" altLang="zh-CN" sz="2000" b="1" smtClean="0">
                  <a:solidFill>
                    <a:srgbClr val="3333FF"/>
                  </a:solidFill>
                  <a:latin typeface="Consolas" panose="020B0609020204030204" pitchFamily="49" charset="0"/>
                  <a:cs typeface="Consolas" panose="020B0609020204030204" pitchFamily="49" charset="0"/>
                </a:rPr>
                <a:t> 6 10 16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40" name="直接箭头连接符 39"/>
            <p:cNvCxnSpPr/>
            <p:nvPr/>
          </p:nvCxnSpPr>
          <p:spPr>
            <a:xfrm rot="10800000" flipV="1">
              <a:off x="2454261" y="4214818"/>
              <a:ext cx="1428761"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4778376" y="4214818"/>
              <a:ext cx="819158" cy="78582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rot="5400000">
              <a:off x="3952860" y="4621986"/>
              <a:ext cx="814336"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2811450" y="5000636"/>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8" name="矩形 57"/>
            <p:cNvSpPr/>
            <p:nvPr/>
          </p:nvSpPr>
          <p:spPr>
            <a:xfrm>
              <a:off x="3883020" y="5000636"/>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9" name="矩形 58"/>
            <p:cNvSpPr/>
            <p:nvPr/>
          </p:nvSpPr>
          <p:spPr>
            <a:xfrm>
              <a:off x="5122866" y="5000636"/>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11  13</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0" name="矩形 59"/>
            <p:cNvSpPr/>
            <p:nvPr/>
          </p:nvSpPr>
          <p:spPr>
            <a:xfrm>
              <a:off x="6454788" y="5000636"/>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17  20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65" name="直接箭头连接符 64"/>
            <p:cNvCxnSpPr/>
            <p:nvPr/>
          </p:nvCxnSpPr>
          <p:spPr>
            <a:xfrm>
              <a:off x="5168904" y="4214818"/>
              <a:ext cx="164307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1739880" y="500063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70" name="直接箭头连接符 69"/>
            <p:cNvCxnSpPr>
              <a:endCxn id="57" idx="0"/>
            </p:cNvCxnSpPr>
            <p:nvPr/>
          </p:nvCxnSpPr>
          <p:spPr>
            <a:xfrm rot="10800000" flipV="1">
              <a:off x="3240078" y="4143380"/>
              <a:ext cx="928694"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0" name="TextBox 29"/>
          <p:cNvSpPr txBox="1"/>
          <p:nvPr/>
        </p:nvSpPr>
        <p:spPr>
          <a:xfrm>
            <a:off x="7643834" y="3457518"/>
            <a:ext cx="78581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2" name="灯片编号占位符 31"/>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66" grpId="0" bldLvl="0" animBg="1"/>
      <p:bldP spid="3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3311516" y="85723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12</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1168408" y="785794"/>
            <a:ext cx="2214578" cy="461665"/>
          </a:xfrm>
          <a:prstGeom prst="rect">
            <a:avLst/>
          </a:prstGeom>
          <a:noFill/>
        </p:spPr>
        <p:txBody>
          <a:bodyPr wrap="square" rtlCol="0">
            <a:spAutoFit/>
          </a:bodyPr>
          <a:lstStyle/>
          <a:p>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4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7" name="直接箭头连接符 86"/>
          <p:cNvCxnSpPr/>
          <p:nvPr/>
        </p:nvCxnSpPr>
        <p:spPr>
          <a:xfrm rot="5400000" flipH="1" flipV="1">
            <a:off x="3346441" y="139301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857620" y="85723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14</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28" name="直接箭头连接符 27"/>
          <p:cNvCxnSpPr/>
          <p:nvPr/>
        </p:nvCxnSpPr>
        <p:spPr>
          <a:xfrm rot="5400000" flipH="1" flipV="1">
            <a:off x="3892545" y="139301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357686" y="85723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18</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p:nvPr/>
        </p:nvCxnSpPr>
        <p:spPr>
          <a:xfrm rot="5400000" flipH="1" flipV="1">
            <a:off x="4392611" y="139301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4857752" y="857232"/>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19</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32" name="直接箭头连接符 31"/>
          <p:cNvCxnSpPr/>
          <p:nvPr/>
        </p:nvCxnSpPr>
        <p:spPr>
          <a:xfrm rot="5400000" flipH="1" flipV="1">
            <a:off x="4892677" y="1393017"/>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2952864" y="2083741"/>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3 6 10 16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44" name="直接箭头连接符 43"/>
          <p:cNvCxnSpPr/>
          <p:nvPr/>
        </p:nvCxnSpPr>
        <p:spPr>
          <a:xfrm rot="10800000" flipV="1">
            <a:off x="1643043" y="2500306"/>
            <a:ext cx="1428761"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3967158" y="2500306"/>
            <a:ext cx="819158" cy="78582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rot="5400000">
            <a:off x="3141642" y="2907474"/>
            <a:ext cx="814336"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2000232" y="3286124"/>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3071802" y="328612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a:t>
            </a:r>
            <a:r>
              <a:rPr lang="en-US" altLang="zh-CN" sz="2000" b="1" dirty="0" smtClean="0">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0" name="矩形 49"/>
          <p:cNvSpPr/>
          <p:nvPr/>
        </p:nvSpPr>
        <p:spPr>
          <a:xfrm>
            <a:off x="5954722" y="3286124"/>
            <a:ext cx="11890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17  20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1" name="直接箭头连接符 50"/>
          <p:cNvCxnSpPr/>
          <p:nvPr/>
        </p:nvCxnSpPr>
        <p:spPr>
          <a:xfrm>
            <a:off x="4357686" y="2500306"/>
            <a:ext cx="164307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928662" y="3286124"/>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3" name="直接箭头连接符 52"/>
          <p:cNvCxnSpPr>
            <a:endCxn id="47" idx="0"/>
          </p:cNvCxnSpPr>
          <p:nvPr/>
        </p:nvCxnSpPr>
        <p:spPr>
          <a:xfrm rot="10800000" flipV="1">
            <a:off x="2428860" y="2428868"/>
            <a:ext cx="928694"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4214810" y="3286124"/>
            <a:ext cx="1357322"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a:t>
            </a:r>
            <a:r>
              <a:rPr lang="en-US" altLang="zh-CN" sz="2000" b="1" dirty="0" smtClean="0">
                <a:solidFill>
                  <a:srgbClr val="FF0000"/>
                </a:solidFill>
                <a:latin typeface="Consolas" panose="020B0609020204030204" pitchFamily="49" charset="0"/>
                <a:cs typeface="Consolas" panose="020B0609020204030204" pitchFamily="49" charset="0"/>
              </a:rPr>
              <a:t>12</a:t>
            </a:r>
            <a:r>
              <a:rPr lang="en-US" altLang="zh-CN" sz="2000" b="1" dirty="0" smtClean="0">
                <a:solidFill>
                  <a:srgbClr val="9900FF"/>
                </a:solidFill>
                <a:latin typeface="Consolas" panose="020B0609020204030204" pitchFamily="49" charset="0"/>
                <a:cs typeface="Consolas" panose="020B0609020204030204" pitchFamily="49" charset="0"/>
              </a:rPr>
              <a:t> </a:t>
            </a:r>
            <a:r>
              <a:rPr lang="en-US" altLang="zh-CN" sz="2000" b="1" dirty="0" smtClean="0">
                <a:solidFill>
                  <a:srgbClr val="3333FF"/>
                </a:solidFill>
                <a:latin typeface="Consolas" panose="020B0609020204030204" pitchFamily="49" charset="0"/>
                <a:cs typeface="Consolas" panose="020B0609020204030204" pitchFamily="49" charset="0"/>
              </a:rPr>
              <a:t>13</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4" name="矩形 63"/>
          <p:cNvSpPr/>
          <p:nvPr/>
        </p:nvSpPr>
        <p:spPr>
          <a:xfrm>
            <a:off x="4214810" y="3286124"/>
            <a:ext cx="1643074" cy="500066"/>
          </a:xfrm>
          <a:prstGeom prst="rect">
            <a:avLst/>
          </a:prstGeom>
        </p:spPr>
        <p:style>
          <a:lnRef idx="1">
            <a:schemeClr val="accent5"/>
          </a:lnRef>
          <a:fillRef idx="2">
            <a:schemeClr val="accent5"/>
          </a:fillRef>
          <a:effectRef idx="1">
            <a:schemeClr val="accent5"/>
          </a:effectRef>
          <a:fontRef idx="minor">
            <a:schemeClr val="dk1"/>
          </a:fontRef>
        </p:style>
        <p:txBody>
          <a:bodyPr lIns="0" tIns="4680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11 12 13 </a:t>
            </a:r>
            <a:r>
              <a:rPr lang="en-US" altLang="zh-CN" sz="2000" b="1" dirty="0" smtClean="0">
                <a:solidFill>
                  <a:srgbClr val="FF0000"/>
                </a:solidFill>
                <a:latin typeface="Consolas" panose="020B0609020204030204" pitchFamily="49" charset="0"/>
                <a:cs typeface="Consolas" panose="020B0609020204030204" pitchFamily="49" charset="0"/>
              </a:rPr>
              <a:t>14</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67" name="矩形 66"/>
          <p:cNvSpPr/>
          <p:nvPr/>
        </p:nvSpPr>
        <p:spPr>
          <a:xfrm>
            <a:off x="5929322" y="3286124"/>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a:t>
            </a:r>
            <a:r>
              <a:rPr lang="en-US" altLang="zh-CN" sz="2000" b="1" dirty="0" smtClean="0">
                <a:solidFill>
                  <a:srgbClr val="FF0000"/>
                </a:solidFill>
                <a:latin typeface="Consolas" panose="020B0609020204030204" pitchFamily="49" charset="0"/>
                <a:cs typeface="Consolas" panose="020B0609020204030204" pitchFamily="49" charset="0"/>
              </a:rPr>
              <a:t>18</a:t>
            </a:r>
            <a:r>
              <a:rPr lang="en-US" altLang="zh-CN" sz="2000" b="1" dirty="0" smtClean="0">
                <a:solidFill>
                  <a:srgbClr val="3333FF"/>
                </a:solidFill>
                <a:latin typeface="Consolas" panose="020B0609020204030204" pitchFamily="49" charset="0"/>
                <a:cs typeface="Consolas" panose="020B0609020204030204" pitchFamily="49" charset="0"/>
              </a:rPr>
              <a:t>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8" name="矩形 67"/>
          <p:cNvSpPr/>
          <p:nvPr/>
        </p:nvSpPr>
        <p:spPr>
          <a:xfrm>
            <a:off x="5929322" y="3286124"/>
            <a:ext cx="192882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a:t>
            </a:r>
            <a:r>
              <a:rPr lang="en-US" altLang="zh-CN" sz="2000" b="1" dirty="0" smtClean="0">
                <a:solidFill>
                  <a:srgbClr val="FF0000"/>
                </a:solidFill>
                <a:latin typeface="Consolas" panose="020B0609020204030204" pitchFamily="49" charset="0"/>
                <a:cs typeface="Consolas" panose="020B0609020204030204" pitchFamily="49" charset="0"/>
              </a:rPr>
              <a:t>19</a:t>
            </a:r>
            <a:r>
              <a:rPr lang="en-US" altLang="zh-CN" sz="2000" b="1" dirty="0" smtClean="0">
                <a:solidFill>
                  <a:srgbClr val="3333FF"/>
                </a:solidFill>
                <a:latin typeface="Consolas" panose="020B0609020204030204" pitchFamily="49" charset="0"/>
                <a:cs typeface="Consolas" panose="020B0609020204030204" pitchFamily="49" charset="0"/>
              </a:rPr>
              <a:t>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8" name="TextBox 37"/>
          <p:cNvSpPr txBox="1"/>
          <p:nvPr/>
        </p:nvSpPr>
        <p:spPr>
          <a:xfrm>
            <a:off x="714348" y="357166"/>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灯片编号占位符 42"/>
          <p:cNvSpPr>
            <a:spLocks noGrp="1"/>
          </p:cNvSpPr>
          <p:nvPr>
            <p:ph type="sldNum" sz="quarter" idx="12"/>
          </p:nvPr>
        </p:nvSpPr>
        <p:spPr/>
        <p:txBody>
          <a:bodyPr/>
          <a:lstStyle/>
          <a:p>
            <a:pPr>
              <a:defRPr/>
            </a:pPr>
            <a:fld id="{9CC1A509-F345-48E4-886B-3D89EE9034F6}" type="slidenum">
              <a:rPr lang="en-US" altLang="zh-CN" smtClean="0">
                <a:latin typeface="Consolas" panose="020B0609020204030204" pitchFamily="49" charset="0"/>
                <a:cs typeface="Consolas" panose="020B0609020204030204" pitchFamily="49" charset="0"/>
              </a:rPr>
            </a:fld>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nodeType="clickEffect">
                                  <p:stCondLst>
                                    <p:cond delay="0"/>
                                  </p:stCondLst>
                                  <p:childTnLst>
                                    <p:animEffect transition="out" filter="wipe(down)">
                                      <p:cBhvr>
                                        <p:cTn id="36" dur="500"/>
                                        <p:tgtEl>
                                          <p:spTgt spid="87"/>
                                        </p:tgtEl>
                                      </p:cBhvr>
                                    </p:animEffect>
                                    <p:set>
                                      <p:cBhvr>
                                        <p:cTn id="37" dur="1" fill="hold">
                                          <p:stCondLst>
                                            <p:cond delay="499"/>
                                          </p:stCondLst>
                                        </p:cTn>
                                        <p:tgtEl>
                                          <p:spTgt spid="8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nodeType="clickEffect">
                                  <p:stCondLst>
                                    <p:cond delay="0"/>
                                  </p:stCondLst>
                                  <p:childTnLst>
                                    <p:animEffect transition="out" filter="wipe(down)">
                                      <p:cBhvr>
                                        <p:cTn id="51" dur="500"/>
                                        <p:tgtEl>
                                          <p:spTgt spid="28"/>
                                        </p:tgtEl>
                                      </p:cBhvr>
                                    </p:animEffect>
                                    <p:set>
                                      <p:cBhvr>
                                        <p:cTn id="52" dur="1" fill="hold">
                                          <p:stCondLst>
                                            <p:cond delay="499"/>
                                          </p:stCondLst>
                                        </p:cTn>
                                        <p:tgtEl>
                                          <p:spTgt spid="2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xit" presetSubtype="4" fill="hold" nodeType="clickEffect">
                                  <p:stCondLst>
                                    <p:cond delay="0"/>
                                  </p:stCondLst>
                                  <p:childTnLst>
                                    <p:animEffect transition="out" filter="wipe(down)">
                                      <p:cBhvr>
                                        <p:cTn id="66" dur="500"/>
                                        <p:tgtEl>
                                          <p:spTgt spid="30"/>
                                        </p:tgtEl>
                                      </p:cBhvr>
                                    </p:animEffect>
                                    <p:set>
                                      <p:cBhvr>
                                        <p:cTn id="67" dur="1" fill="hold">
                                          <p:stCondLst>
                                            <p:cond delay="499"/>
                                          </p:stCondLst>
                                        </p:cTn>
                                        <p:tgtEl>
                                          <p:spTgt spid="3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3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27" grpId="0"/>
      <p:bldP spid="29" grpId="0"/>
      <p:bldP spid="31" grpId="0"/>
      <p:bldP spid="42" grpId="0" bldLvl="0" animBg="1"/>
      <p:bldP spid="47" grpId="0" bldLvl="0" animBg="1"/>
      <p:bldP spid="48" grpId="0" bldLvl="0" animBg="1"/>
      <p:bldP spid="50" grpId="0" bldLvl="0" animBg="1"/>
      <p:bldP spid="52" grpId="0" bldLvl="0" animBg="1"/>
      <p:bldP spid="55" grpId="0" bldLvl="0" animBg="1"/>
      <p:bldP spid="64" grpId="0" bldLvl="0" animBg="1"/>
      <p:bldP spid="67" grpId="0" bldLvl="0" animBg="1"/>
      <p:bldP spid="68"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3811582" y="642918"/>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15</a:t>
            </a:r>
            <a:endParaRPr lang="zh-CN" altLang="en-US" sz="2400" b="1" dirty="0">
              <a:solidFill>
                <a:srgbClr val="3333FF"/>
              </a:solidFill>
              <a:latin typeface="Consolas" panose="020B0609020204030204" pitchFamily="49" charset="0"/>
              <a:cs typeface="Consolas" panose="020B0609020204030204" pitchFamily="49" charset="0"/>
            </a:endParaRPr>
          </a:p>
        </p:txBody>
      </p:sp>
      <p:sp>
        <p:nvSpPr>
          <p:cNvPr id="76" name="TextBox 75"/>
          <p:cNvSpPr txBox="1"/>
          <p:nvPr/>
        </p:nvSpPr>
        <p:spPr>
          <a:xfrm>
            <a:off x="1668474" y="571480"/>
            <a:ext cx="2214578" cy="461665"/>
          </a:xfrm>
          <a:prstGeom prst="rect">
            <a:avLst/>
          </a:prstGeom>
          <a:noFill/>
        </p:spPr>
        <p:txBody>
          <a:bodyPr wrap="square" rtlCol="0">
            <a:spAutoFit/>
          </a:bodyPr>
          <a:lstStyle/>
          <a:p>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关键字序列</a:t>
            </a:r>
            <a:endParaRPr lang="zh-CN" altLang="en-US" sz="2400" dirty="0">
              <a:latin typeface="Consolas" panose="020B0609020204030204" pitchFamily="49" charset="0"/>
              <a:ea typeface="楷体" panose="02010609060101010101" pitchFamily="49" charset="-122"/>
              <a:cs typeface="Consolas" panose="020B0609020204030204" pitchFamily="49" charset="0"/>
            </a:endParaRPr>
          </a:p>
        </p:txBody>
      </p:sp>
      <p:cxnSp>
        <p:nvCxnSpPr>
          <p:cNvPr id="87" name="直接箭头连接符 86"/>
          <p:cNvCxnSpPr/>
          <p:nvPr/>
        </p:nvCxnSpPr>
        <p:spPr>
          <a:xfrm rot="5400000" flipH="1" flipV="1">
            <a:off x="3846507" y="1178703"/>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2869551" y="1476236"/>
            <a:ext cx="164307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3 6 10 </a:t>
            </a:r>
            <a:r>
              <a:rPr lang="en-US" altLang="zh-CN" sz="2000" b="1" dirty="0" smtClean="0">
                <a:solidFill>
                  <a:srgbClr val="3333FF"/>
                </a:solidFill>
                <a:latin typeface="Consolas" panose="020B0609020204030204" pitchFamily="49" charset="0"/>
                <a:cs typeface="Consolas" panose="020B0609020204030204" pitchFamily="49" charset="0"/>
              </a:rPr>
              <a:t>16</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45" name="直接箭头连接符 44"/>
          <p:cNvCxnSpPr/>
          <p:nvPr/>
        </p:nvCxnSpPr>
        <p:spPr>
          <a:xfrm>
            <a:off x="3895720" y="1857364"/>
            <a:ext cx="819158" cy="78582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rot="5400000">
            <a:off x="3070204" y="2264532"/>
            <a:ext cx="814336"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1928794" y="264318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8" name="矩形 47"/>
          <p:cNvSpPr/>
          <p:nvPr/>
        </p:nvSpPr>
        <p:spPr>
          <a:xfrm>
            <a:off x="2857488" y="264318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1" name="直接箭头连接符 50"/>
          <p:cNvCxnSpPr>
            <a:endCxn id="68" idx="0"/>
          </p:cNvCxnSpPr>
          <p:nvPr/>
        </p:nvCxnSpPr>
        <p:spPr>
          <a:xfrm>
            <a:off x="4286248" y="1857364"/>
            <a:ext cx="2678925"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857224" y="264318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3" name="直接箭头连接符 52"/>
          <p:cNvCxnSpPr>
            <a:endCxn id="47" idx="0"/>
          </p:cNvCxnSpPr>
          <p:nvPr/>
        </p:nvCxnSpPr>
        <p:spPr>
          <a:xfrm rot="10800000" flipV="1">
            <a:off x="2357422" y="1785926"/>
            <a:ext cx="928694"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4000496" y="2643182"/>
            <a:ext cx="2071702"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r>
              <a:rPr lang="en-US" altLang="zh-CN" sz="2000" b="1" dirty="0" smtClean="0">
                <a:solidFill>
                  <a:srgbClr val="9900FF"/>
                </a:solidFill>
                <a:latin typeface="Consolas" panose="020B0609020204030204" pitchFamily="49" charset="0"/>
                <a:cs typeface="Consolas" panose="020B0609020204030204" pitchFamily="49" charset="0"/>
              </a:rPr>
              <a:t>13</a:t>
            </a:r>
            <a:r>
              <a:rPr lang="en-US" altLang="zh-CN" sz="2000" b="1" dirty="0" smtClean="0">
                <a:solidFill>
                  <a:srgbClr val="3333FF"/>
                </a:solidFill>
                <a:latin typeface="Consolas" panose="020B0609020204030204" pitchFamily="49" charset="0"/>
                <a:cs typeface="Consolas" panose="020B0609020204030204" pitchFamily="49" charset="0"/>
              </a:rPr>
              <a:t> 14 </a:t>
            </a:r>
            <a:r>
              <a:rPr lang="en-US" altLang="zh-CN" sz="2000" b="1" dirty="0" smtClean="0">
                <a:solidFill>
                  <a:srgbClr val="FF0000"/>
                </a:solidFill>
                <a:latin typeface="Consolas" panose="020B0609020204030204" pitchFamily="49" charset="0"/>
                <a:cs typeface="Consolas" panose="020B0609020204030204" pitchFamily="49" charset="0"/>
              </a:rPr>
              <a:t>15</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68" name="矩形 67"/>
          <p:cNvSpPr/>
          <p:nvPr/>
        </p:nvSpPr>
        <p:spPr>
          <a:xfrm>
            <a:off x="6143636" y="2643182"/>
            <a:ext cx="1643074"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8" name="TextBox 37"/>
          <p:cNvSpPr txBox="1"/>
          <p:nvPr/>
        </p:nvSpPr>
        <p:spPr>
          <a:xfrm>
            <a:off x="3857620" y="3171766"/>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40" name="组合 39"/>
          <p:cNvGrpSpPr/>
          <p:nvPr/>
        </p:nvGrpSpPr>
        <p:grpSpPr>
          <a:xfrm>
            <a:off x="1142976" y="3786190"/>
            <a:ext cx="7500990" cy="2428892"/>
            <a:chOff x="428596" y="3357562"/>
            <a:chExt cx="7500990" cy="2428892"/>
          </a:xfrm>
        </p:grpSpPr>
        <p:sp>
          <p:nvSpPr>
            <p:cNvPr id="39" name="矩形 38"/>
            <p:cNvSpPr/>
            <p:nvPr/>
          </p:nvSpPr>
          <p:spPr>
            <a:xfrm>
              <a:off x="3023738" y="4119630"/>
              <a:ext cx="1857388"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3 6 10 </a:t>
              </a:r>
              <a:r>
                <a:rPr lang="en-US" altLang="zh-CN" sz="2000" b="1" smtClean="0">
                  <a:solidFill>
                    <a:srgbClr val="9900FF"/>
                  </a:solidFill>
                  <a:latin typeface="Consolas" panose="020B0609020204030204" pitchFamily="49" charset="0"/>
                  <a:cs typeface="Consolas" panose="020B0609020204030204" pitchFamily="49" charset="0"/>
                </a:rPr>
                <a:t>13 </a:t>
              </a:r>
              <a:r>
                <a:rPr lang="en-US" altLang="zh-CN" sz="2000" b="1" smtClean="0">
                  <a:solidFill>
                    <a:srgbClr val="3333FF"/>
                  </a:solidFill>
                  <a:latin typeface="Consolas" panose="020B0609020204030204" pitchFamily="49" charset="0"/>
                  <a:cs typeface="Consolas" panose="020B0609020204030204" pitchFamily="49" charset="0"/>
                </a:rPr>
                <a:t>16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43" name="直接箭头连接符 42"/>
            <p:cNvCxnSpPr>
              <a:endCxn id="71" idx="0"/>
            </p:cNvCxnSpPr>
            <p:nvPr/>
          </p:nvCxnSpPr>
          <p:spPr>
            <a:xfrm rot="10800000" flipV="1">
              <a:off x="892943" y="4479932"/>
              <a:ext cx="2199498" cy="8064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endCxn id="36" idx="0"/>
            </p:cNvCxnSpPr>
            <p:nvPr/>
          </p:nvCxnSpPr>
          <p:spPr>
            <a:xfrm>
              <a:off x="4429124" y="4500570"/>
              <a:ext cx="1178727"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endCxn id="62" idx="0"/>
            </p:cNvCxnSpPr>
            <p:nvPr/>
          </p:nvCxnSpPr>
          <p:spPr>
            <a:xfrm rot="5400000">
              <a:off x="2950756" y="4644636"/>
              <a:ext cx="798517" cy="48498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1500166" y="5286388"/>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2" name="矩形 61"/>
            <p:cNvSpPr/>
            <p:nvPr/>
          </p:nvSpPr>
          <p:spPr>
            <a:xfrm>
              <a:off x="2571736" y="5286388"/>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7  8  9</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69" name="直接箭头连接符 68"/>
            <p:cNvCxnSpPr/>
            <p:nvPr/>
          </p:nvCxnSpPr>
          <p:spPr>
            <a:xfrm>
              <a:off x="4786314" y="4429132"/>
              <a:ext cx="2107421"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428596" y="52863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72" name="直接箭头连接符 71"/>
            <p:cNvCxnSpPr>
              <a:endCxn id="61" idx="0"/>
            </p:cNvCxnSpPr>
            <p:nvPr/>
          </p:nvCxnSpPr>
          <p:spPr>
            <a:xfrm rot="10800000" flipV="1">
              <a:off x="1928795" y="4475170"/>
              <a:ext cx="1408125" cy="8112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rot="16200000" flipH="1">
              <a:off x="3824711" y="4676355"/>
              <a:ext cx="785818" cy="4342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2" name="下箭头 91"/>
            <p:cNvSpPr/>
            <p:nvPr/>
          </p:nvSpPr>
          <p:spPr>
            <a:xfrm>
              <a:off x="3714744" y="3357562"/>
              <a:ext cx="357190" cy="500066"/>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94" name="TextBox 93"/>
            <p:cNvSpPr txBox="1"/>
            <p:nvPr/>
          </p:nvSpPr>
          <p:spPr>
            <a:xfrm>
              <a:off x="4809688" y="4148148"/>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矩形 34"/>
            <p:cNvSpPr/>
            <p:nvPr/>
          </p:nvSpPr>
          <p:spPr>
            <a:xfrm>
              <a:off x="3929058" y="52863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6" name="矩形 35"/>
            <p:cNvSpPr/>
            <p:nvPr/>
          </p:nvSpPr>
          <p:spPr>
            <a:xfrm>
              <a:off x="5143504" y="52863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14 15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7" name="矩形 36"/>
            <p:cNvSpPr/>
            <p:nvPr/>
          </p:nvSpPr>
          <p:spPr>
            <a:xfrm>
              <a:off x="6286512" y="5286388"/>
              <a:ext cx="1643074"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17 18 19 20</a:t>
              </a:r>
              <a:endParaRPr lang="zh-CN" altLang="en-US" sz="2000" b="1" dirty="0">
                <a:solidFill>
                  <a:srgbClr val="3333FF"/>
                </a:solidFill>
                <a:latin typeface="Consolas" panose="020B0609020204030204" pitchFamily="49" charset="0"/>
                <a:cs typeface="Consolas" panose="020B0609020204030204" pitchFamily="49" charset="0"/>
              </a:endParaRPr>
            </a:p>
          </p:txBody>
        </p:sp>
      </p:grpSp>
      <p:sp>
        <p:nvSpPr>
          <p:cNvPr id="33" name="TextBox 32"/>
          <p:cNvSpPr txBox="1"/>
          <p:nvPr/>
        </p:nvSpPr>
        <p:spPr>
          <a:xfrm>
            <a:off x="642910" y="285728"/>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4929190" y="3786190"/>
            <a:ext cx="785818" cy="400110"/>
          </a:xfrm>
          <a:prstGeom prst="rect">
            <a:avLst/>
          </a:prstGeom>
          <a:noFill/>
        </p:spPr>
        <p:txBody>
          <a:bodyPr wrap="square" rtlCol="0">
            <a:spAutoFit/>
          </a:bodyPr>
          <a:lstStyle/>
          <a:p>
            <a:pPr algn="l"/>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灯片编号占位符 4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cxnSp>
        <p:nvCxnSpPr>
          <p:cNvPr id="44" name="直接箭头连接符 43"/>
          <p:cNvCxnSpPr/>
          <p:nvPr/>
        </p:nvCxnSpPr>
        <p:spPr>
          <a:xfrm rot="10800000" flipV="1">
            <a:off x="1571605" y="1857364"/>
            <a:ext cx="1428761"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组合 81"/>
          <p:cNvGrpSpPr/>
          <p:nvPr/>
        </p:nvGrpSpPr>
        <p:grpSpPr>
          <a:xfrm>
            <a:off x="642910" y="3000372"/>
            <a:ext cx="7786742" cy="2571768"/>
            <a:chOff x="642910" y="3000372"/>
            <a:chExt cx="7786742" cy="2571768"/>
          </a:xfrm>
        </p:grpSpPr>
        <p:sp>
          <p:nvSpPr>
            <p:cNvPr id="32" name="矩形 31"/>
            <p:cNvSpPr/>
            <p:nvPr/>
          </p:nvSpPr>
          <p:spPr>
            <a:xfrm>
              <a:off x="2428860" y="3929066"/>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33" name="直接箭头连接符 32"/>
            <p:cNvCxnSpPr/>
            <p:nvPr/>
          </p:nvCxnSpPr>
          <p:spPr>
            <a:xfrm rot="10800000" flipV="1">
              <a:off x="1119958" y="4273556"/>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7" idx="0"/>
            </p:cNvCxnSpPr>
            <p:nvPr/>
          </p:nvCxnSpPr>
          <p:spPr>
            <a:xfrm rot="16200000" flipH="1">
              <a:off x="2801528" y="4551767"/>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714480" y="5072074"/>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7" name="矩形 36"/>
            <p:cNvSpPr/>
            <p:nvPr/>
          </p:nvSpPr>
          <p:spPr>
            <a:xfrm>
              <a:off x="2786050" y="507207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a:t>
              </a:r>
              <a:r>
                <a:rPr lang="en-US" altLang="zh-CN" sz="2000" b="1" dirty="0" smtClean="0">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1" name="矩形 40"/>
            <p:cNvSpPr/>
            <p:nvPr/>
          </p:nvSpPr>
          <p:spPr>
            <a:xfrm>
              <a:off x="642910" y="5072074"/>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0" name="直接箭头连接符 49"/>
            <p:cNvCxnSpPr>
              <a:endCxn id="36" idx="0"/>
            </p:cNvCxnSpPr>
            <p:nvPr/>
          </p:nvCxnSpPr>
          <p:spPr>
            <a:xfrm rot="5400000">
              <a:off x="2091119" y="4341422"/>
              <a:ext cx="782641" cy="67866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4214810" y="5072074"/>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5429256" y="5072074"/>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14 15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8" name="矩形 57"/>
            <p:cNvSpPr/>
            <p:nvPr/>
          </p:nvSpPr>
          <p:spPr>
            <a:xfrm>
              <a:off x="6643702" y="5072074"/>
              <a:ext cx="178595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0" name="矩形 59"/>
            <p:cNvSpPr/>
            <p:nvPr/>
          </p:nvSpPr>
          <p:spPr>
            <a:xfrm>
              <a:off x="3857620" y="300037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63" name="矩形 62"/>
            <p:cNvSpPr/>
            <p:nvPr/>
          </p:nvSpPr>
          <p:spPr>
            <a:xfrm>
              <a:off x="5143504" y="3929066"/>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13  16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59" name="直接箭头连接符 58"/>
            <p:cNvCxnSpPr/>
            <p:nvPr/>
          </p:nvCxnSpPr>
          <p:spPr>
            <a:xfrm rot="5400000">
              <a:off x="4625610" y="4360504"/>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56" idx="0"/>
            </p:cNvCxnSpPr>
            <p:nvPr/>
          </p:nvCxnSpPr>
          <p:spPr>
            <a:xfrm rot="16200000" flipH="1">
              <a:off x="5385996" y="4564467"/>
              <a:ext cx="785818" cy="2293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58" idx="0"/>
            </p:cNvCxnSpPr>
            <p:nvPr/>
          </p:nvCxnSpPr>
          <p:spPr>
            <a:xfrm>
              <a:off x="6000760" y="4286256"/>
              <a:ext cx="1535917"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32" idx="0"/>
            </p:cNvCxnSpPr>
            <p:nvPr/>
          </p:nvCxnSpPr>
          <p:spPr>
            <a:xfrm rot="10800000" flipV="1">
              <a:off x="2821770" y="3357562"/>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63" idx="0"/>
            </p:cNvCxnSpPr>
            <p:nvPr/>
          </p:nvCxnSpPr>
          <p:spPr>
            <a:xfrm>
              <a:off x="4508500" y="3336924"/>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sp>
        <p:nvSpPr>
          <p:cNvPr id="94" name="Text Box 67"/>
          <p:cNvSpPr txBox="1">
            <a:spLocks noChangeArrowheads="1"/>
          </p:cNvSpPr>
          <p:nvPr/>
        </p:nvSpPr>
        <p:spPr bwMode="auto">
          <a:xfrm>
            <a:off x="2771775" y="5900758"/>
            <a:ext cx="3168650" cy="457200"/>
          </a:xfrm>
          <a:prstGeom prst="rect">
            <a:avLst/>
          </a:prstGeom>
          <a:noFill/>
          <a:ln w="28575" algn="ctr">
            <a:noFill/>
            <a:miter lim="800000"/>
          </a:ln>
        </p:spPr>
        <p:txBody>
          <a:bodyPr>
            <a:spAutoFit/>
          </a:bodyPr>
          <a:lstStyle/>
          <a:p>
            <a:pPr>
              <a:spcBef>
                <a:spcPct val="50000"/>
              </a:spcBef>
            </a:pPr>
            <a:r>
              <a:rPr kumimoji="0"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400" b="1" dirty="0">
                <a:solidFill>
                  <a:srgbClr val="FF00FF"/>
                </a:solidFill>
                <a:latin typeface="Consolas" panose="020B0609020204030204" pitchFamily="49" charset="0"/>
                <a:ea typeface="楷体" panose="02010609060101010101" pitchFamily="49" charset="-122"/>
                <a:cs typeface="Consolas" panose="020B0609020204030204" pitchFamily="49" charset="0"/>
              </a:rPr>
              <a:t>构建完毕</a:t>
            </a:r>
            <a:endParaRPr kumimoji="0" lang="zh-CN" altLang="en-US" sz="2400" b="1" dirty="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矩形 44"/>
          <p:cNvSpPr/>
          <p:nvPr/>
        </p:nvSpPr>
        <p:spPr>
          <a:xfrm>
            <a:off x="3023926" y="512105"/>
            <a:ext cx="2000264"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3 6 10 </a:t>
            </a:r>
            <a:r>
              <a:rPr lang="en-US" altLang="zh-CN" sz="2000" b="1" smtClean="0">
                <a:solidFill>
                  <a:srgbClr val="9900FF"/>
                </a:solidFill>
                <a:latin typeface="Consolas" panose="020B0609020204030204" pitchFamily="49" charset="0"/>
                <a:cs typeface="Consolas" panose="020B0609020204030204" pitchFamily="49" charset="0"/>
              </a:rPr>
              <a:t>13</a:t>
            </a:r>
            <a:r>
              <a:rPr lang="en-US" altLang="zh-CN" sz="2000" b="1" smtClean="0">
                <a:solidFill>
                  <a:srgbClr val="3333FF"/>
                </a:solidFill>
                <a:latin typeface="Consolas" panose="020B0609020204030204" pitchFamily="49" charset="0"/>
                <a:cs typeface="Consolas" panose="020B0609020204030204" pitchFamily="49" charset="0"/>
              </a:rPr>
              <a:t> </a:t>
            </a:r>
            <a:r>
              <a:rPr lang="en-US" altLang="zh-CN" sz="2000" b="1" dirty="0" smtClean="0">
                <a:solidFill>
                  <a:srgbClr val="3333FF"/>
                </a:solidFill>
                <a:latin typeface="Consolas" panose="020B0609020204030204" pitchFamily="49" charset="0"/>
                <a:cs typeface="Consolas" panose="020B0609020204030204" pitchFamily="49" charset="0"/>
              </a:rPr>
              <a:t>16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46" name="直接箭头连接符 45"/>
          <p:cNvCxnSpPr>
            <a:endCxn id="57" idx="0"/>
          </p:cNvCxnSpPr>
          <p:nvPr/>
        </p:nvCxnSpPr>
        <p:spPr>
          <a:xfrm rot="10800000" flipV="1">
            <a:off x="964381" y="908032"/>
            <a:ext cx="2199498" cy="8064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4500562" y="857232"/>
            <a:ext cx="1393041"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endCxn id="52" idx="0"/>
          </p:cNvCxnSpPr>
          <p:nvPr/>
        </p:nvCxnSpPr>
        <p:spPr>
          <a:xfrm rot="5400000">
            <a:off x="3022194" y="1072736"/>
            <a:ext cx="798517" cy="48498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571604" y="1714488"/>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2" name="矩形 51"/>
          <p:cNvSpPr/>
          <p:nvPr/>
        </p:nvSpPr>
        <p:spPr>
          <a:xfrm>
            <a:off x="2643174" y="1714488"/>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7 8 </a:t>
            </a:r>
            <a:r>
              <a:rPr lang="en-US" altLang="zh-CN" sz="2000" b="1" dirty="0" smtClean="0">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3" name="直接箭头连接符 52"/>
          <p:cNvCxnSpPr/>
          <p:nvPr/>
        </p:nvCxnSpPr>
        <p:spPr>
          <a:xfrm>
            <a:off x="4929190" y="857232"/>
            <a:ext cx="2035983"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500034" y="17144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64" name="直接箭头连接符 63"/>
          <p:cNvCxnSpPr>
            <a:endCxn id="51" idx="0"/>
          </p:cNvCxnSpPr>
          <p:nvPr/>
        </p:nvCxnSpPr>
        <p:spPr>
          <a:xfrm rot="10800000" flipV="1">
            <a:off x="2000233" y="903270"/>
            <a:ext cx="1408125" cy="8112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rot="16200000" flipH="1">
            <a:off x="3860430" y="1068736"/>
            <a:ext cx="857256" cy="43424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81314" y="540623"/>
            <a:ext cx="2000264"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&gt;4</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8" name="矩形 67"/>
          <p:cNvSpPr/>
          <p:nvPr/>
        </p:nvSpPr>
        <p:spPr>
          <a:xfrm>
            <a:off x="4000496" y="17144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0" name="矩形 69"/>
          <p:cNvSpPr/>
          <p:nvPr/>
        </p:nvSpPr>
        <p:spPr>
          <a:xfrm>
            <a:off x="5214942" y="171448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14 15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4" name="矩形 73"/>
          <p:cNvSpPr/>
          <p:nvPr/>
        </p:nvSpPr>
        <p:spPr>
          <a:xfrm>
            <a:off x="6429388" y="1714488"/>
            <a:ext cx="185738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17 18 19 20</a:t>
            </a:r>
            <a:endParaRPr lang="zh-CN" altLang="en-US" sz="2000" b="1" dirty="0">
              <a:solidFill>
                <a:srgbClr val="3333FF"/>
              </a:solidFill>
              <a:latin typeface="Consolas" panose="020B0609020204030204" pitchFamily="49" charset="0"/>
              <a:cs typeface="Consolas" panose="020B0609020204030204" pitchFamily="49" charset="0"/>
            </a:endParaRPr>
          </a:p>
        </p:txBody>
      </p:sp>
      <p:grpSp>
        <p:nvGrpSpPr>
          <p:cNvPr id="81" name="组合 80"/>
          <p:cNvGrpSpPr/>
          <p:nvPr/>
        </p:nvGrpSpPr>
        <p:grpSpPr>
          <a:xfrm>
            <a:off x="4071934" y="2428868"/>
            <a:ext cx="1785950" cy="500066"/>
            <a:chOff x="4071934" y="2428868"/>
            <a:chExt cx="1785950" cy="500066"/>
          </a:xfrm>
        </p:grpSpPr>
        <p:sp>
          <p:nvSpPr>
            <p:cNvPr id="92" name="下箭头 91"/>
            <p:cNvSpPr/>
            <p:nvPr/>
          </p:nvSpPr>
          <p:spPr>
            <a:xfrm>
              <a:off x="4071934" y="2428868"/>
              <a:ext cx="357190" cy="500066"/>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79" name="TextBox 78"/>
            <p:cNvSpPr txBox="1"/>
            <p:nvPr/>
          </p:nvSpPr>
          <p:spPr>
            <a:xfrm>
              <a:off x="4500562" y="2428868"/>
              <a:ext cx="1357322" cy="400110"/>
            </a:xfrm>
            <a:prstGeom prst="rect">
              <a:avLst/>
            </a:prstGeom>
            <a:noFill/>
          </p:spPr>
          <p:txBody>
            <a:bodyPr wrap="square" rtlCol="0">
              <a:spAutoFit/>
            </a:bodyPr>
            <a:lstStyle/>
            <a:p>
              <a:pPr algn="l"/>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继续分裂</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38" name="TextBox 37"/>
          <p:cNvSpPr txBox="1"/>
          <p:nvPr/>
        </p:nvSpPr>
        <p:spPr>
          <a:xfrm>
            <a:off x="857224" y="500042"/>
            <a:ext cx="1357322" cy="461665"/>
          </a:xfrm>
          <a:prstGeom prst="rect">
            <a:avLst/>
          </a:prstGeom>
          <a:noFill/>
        </p:spPr>
        <p:txBody>
          <a:bodyPr wrap="square" rtlCol="0">
            <a:spAutoFit/>
          </a:bodyPr>
          <a:lstStyle/>
          <a:p>
            <a:pPr algn="l"/>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Max</a:t>
            </a:r>
            <a:r>
              <a:rPr lang="en-US" altLang="zh-CN" sz="24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灯片编号占位符 41"/>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5"/>
                                        </p:tgtEl>
                                      </p:cBhvr>
                                    </p:animEffect>
                                    <p:animScale>
                                      <p:cBhvr>
                                        <p:cTn id="7" dur="250" autoRev="1" fill="hold"/>
                                        <p:tgtEl>
                                          <p:spTgt spid="45"/>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67"/>
                                        </p:tgtEl>
                                      </p:cBhvr>
                                    </p:animEffect>
                                    <p:animScale>
                                      <p:cBhvr>
                                        <p:cTn id="10" dur="250" autoRev="1" fill="hold"/>
                                        <p:tgtEl>
                                          <p:spTgt spid="67"/>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45" grpId="0" bldLvl="0" animBg="1"/>
      <p:bldP spid="6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4"/>
          <p:cNvSpPr txBox="1">
            <a:spLocks noChangeArrowheads="1"/>
          </p:cNvSpPr>
          <p:nvPr/>
        </p:nvSpPr>
        <p:spPr bwMode="auto">
          <a:xfrm>
            <a:off x="395288" y="2492375"/>
            <a:ext cx="8320116" cy="1862048"/>
          </a:xfrm>
          <a:prstGeom prst="rect">
            <a:avLst/>
          </a:prstGeom>
          <a:scene3d>
            <a:camera prst="perspectiveAbove"/>
            <a:lightRig rig="threePt" dir="t"/>
          </a:scene3d>
        </p:spPr>
        <p:style>
          <a:lnRef idx="1">
            <a:schemeClr val="accent5"/>
          </a:lnRef>
          <a:fillRef idx="2">
            <a:schemeClr val="accent5"/>
          </a:fillRef>
          <a:effectRef idx="1">
            <a:schemeClr val="accent5"/>
          </a:effectRef>
          <a:fontRef idx="minor">
            <a:schemeClr val="dk1"/>
          </a:fontRef>
        </p:style>
        <p:txBody>
          <a:bodyPr wrap="square">
            <a:spAutoFit/>
          </a:bodyPr>
          <a:lstStyle/>
          <a:p>
            <a:pPr algn="l">
              <a:spcBef>
                <a:spcPct val="50000"/>
              </a:spcBef>
            </a:pPr>
            <a:r>
              <a:rPr kumimoji="0"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思考题</a:t>
            </a:r>
            <a:endParaRPr kumimoji="0"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gn="l">
              <a:spcBef>
                <a:spcPct val="50000"/>
              </a:spcBef>
            </a:pPr>
            <a:r>
              <a:rPr kumimoji="0" lang="zh-CN" altLang="en-US" sz="2400" b="1">
                <a:solidFill>
                  <a:srgbClr val="3333FF"/>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0" lang="zh-CN" altLang="en-US" sz="2400" b="1" smtClean="0">
                <a:solidFill>
                  <a:srgbClr val="3333FF"/>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kumimoji="0"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中每插入一</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关键字，都</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要新建</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个结点吗</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l">
              <a:spcBef>
                <a:spcPct val="50000"/>
              </a:spcBef>
            </a:pP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kumimoji="0"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中插入一</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关键字，若</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引起</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分裂，树高</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一定会升高一层吗？</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pic>
        <p:nvPicPr>
          <p:cNvPr id="65539" name="Picture 6" descr="u=3842077521,295159141&amp;fm=23&amp;gp=0"/>
          <p:cNvPicPr>
            <a:picLocks noChangeAspect="1" noChangeArrowheads="1" noCrop="1"/>
          </p:cNvPicPr>
          <p:nvPr/>
        </p:nvPicPr>
        <p:blipFill>
          <a:blip r:embed="rId1"/>
          <a:srcRect/>
          <a:stretch>
            <a:fillRect/>
          </a:stretch>
        </p:blipFill>
        <p:spPr bwMode="auto">
          <a:xfrm>
            <a:off x="2700338" y="333375"/>
            <a:ext cx="2087562" cy="1912938"/>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785786" y="1500174"/>
            <a:ext cx="6675455" cy="464743"/>
          </a:xfrm>
          <a:prstGeom prst="rect">
            <a:avLst/>
          </a:prstGeom>
          <a:noFill/>
          <a:ln w="9525">
            <a:noFill/>
            <a:miter lim="800000"/>
          </a:ln>
        </p:spPr>
        <p:txBody>
          <a:bodyPr wrap="square">
            <a:spAutoFit/>
          </a:bodyPr>
          <a:lstStyle/>
          <a:p>
            <a:pPr algn="just" fontAlgn="ctr">
              <a:lnSpc>
                <a:spcPct val="110000"/>
              </a:lnSpc>
              <a:spcBef>
                <a:spcPct val="50000"/>
              </a:spcBef>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上删除关键字</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的过程分两步</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完成</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6563" name="Text Box 3"/>
          <p:cNvSpPr txBox="1">
            <a:spLocks noChangeArrowheads="1"/>
          </p:cNvSpPr>
          <p:nvPr/>
        </p:nvSpPr>
        <p:spPr bwMode="auto">
          <a:xfrm>
            <a:off x="250825" y="404813"/>
            <a:ext cx="2952750" cy="498598"/>
          </a:xfrm>
          <a:prstGeom prst="rect">
            <a:avLst/>
          </a:prstGeom>
          <a:solidFill>
            <a:srgbClr val="9900FF"/>
          </a:solidFill>
          <a:ln w="28575" algn="ctr">
            <a:noFill/>
            <a:miter lim="800000"/>
          </a:ln>
        </p:spPr>
        <p:txBody>
          <a:bodyPr>
            <a:spAutoFit/>
          </a:bodyPr>
          <a:lstStyle/>
          <a:p>
            <a:pPr fontAlgn="ctr">
              <a:lnSpc>
                <a:spcPct val="110000"/>
              </a:lnSpc>
              <a:spcBef>
                <a:spcPct val="50000"/>
              </a:spcBef>
            </a:pPr>
            <a:r>
              <a:rPr lang="en-US" altLang="zh-CN" sz="2400" b="1" smtClean="0">
                <a:solidFill>
                  <a:schemeClr val="bg1"/>
                </a:solidFill>
                <a:latin typeface="Consolas" panose="020B0609020204030204" pitchFamily="49" charset="0"/>
                <a:ea typeface="楷体" panose="02010609060101010101" pitchFamily="49" charset="-122"/>
                <a:cs typeface="Consolas" panose="020B0609020204030204" pitchFamily="49" charset="0"/>
              </a:rPr>
              <a:t>4</a:t>
            </a:r>
            <a:r>
              <a:rPr lang="zh-CN" altLang="en-US" sz="2400" b="1" smtClean="0">
                <a:solidFill>
                  <a:schemeClr val="bg1"/>
                </a:solidFill>
                <a:latin typeface="Consolas" panose="020B0609020204030204" pitchFamily="49" charset="0"/>
                <a:ea typeface="楷体" panose="02010609060101010101" pitchFamily="49" charset="-122"/>
                <a:cs typeface="Consolas" panose="020B0609020204030204" pitchFamily="49" charset="0"/>
              </a:rPr>
              <a:t>、</a:t>
            </a:r>
            <a:r>
              <a:rPr lang="en-US" altLang="zh-CN" sz="2400" b="1" smtClean="0">
                <a:solidFill>
                  <a:schemeClr val="bg1"/>
                </a:solidFill>
                <a:latin typeface="Consolas" panose="020B0609020204030204" pitchFamily="49" charset="0"/>
                <a:ea typeface="楷体" panose="02010609060101010101" pitchFamily="49" charset="-122"/>
                <a:cs typeface="Consolas" panose="020B0609020204030204" pitchFamily="49" charset="0"/>
              </a:rPr>
              <a:t>B</a:t>
            </a:r>
            <a:r>
              <a:rPr lang="zh-CN" altLang="en-US" sz="2400" b="1" smtClean="0">
                <a:solidFill>
                  <a:schemeClr val="bg1"/>
                </a:solidFill>
                <a:latin typeface="Consolas" panose="020B0609020204030204" pitchFamily="49" charset="0"/>
                <a:ea typeface="楷体" panose="02010609060101010101" pitchFamily="49" charset="-122"/>
                <a:cs typeface="Consolas" panose="020B0609020204030204" pitchFamily="49" charset="0"/>
              </a:rPr>
              <a:t>树</a:t>
            </a:r>
            <a:r>
              <a:rPr lang="zh-CN" altLang="en-US" sz="2400" b="1" dirty="0">
                <a:solidFill>
                  <a:schemeClr val="bg1"/>
                </a:solidFill>
                <a:latin typeface="Consolas" panose="020B0609020204030204" pitchFamily="49" charset="0"/>
                <a:ea typeface="楷体" panose="02010609060101010101" pitchFamily="49" charset="-122"/>
                <a:cs typeface="Consolas" panose="020B0609020204030204" pitchFamily="49" charset="0"/>
              </a:rPr>
              <a:t>的删除</a:t>
            </a:r>
            <a:endParaRPr kumimoji="0" lang="zh-CN" altLang="en-US" sz="2400" b="1" i="1" dirty="0">
              <a:solidFill>
                <a:schemeClr val="bg1"/>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
        <p:nvSpPr>
          <p:cNvPr id="6" name="TextBox 5"/>
          <p:cNvSpPr txBox="1"/>
          <p:nvPr/>
        </p:nvSpPr>
        <p:spPr>
          <a:xfrm>
            <a:off x="785786" y="2285992"/>
            <a:ext cx="4786346" cy="116955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fontAlgn="ctr">
              <a:lnSpc>
                <a:spcPct val="15000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）查找关键字</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所在的结点。</a:t>
            </a:r>
            <a:endPar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just" fontAlgn="ctr">
              <a:lnSpc>
                <a:spcPct val="150000"/>
              </a:lnSpc>
              <a:spcBef>
                <a:spcPct val="50000"/>
              </a:spcBef>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）删除关键字</a:t>
            </a:r>
            <a:r>
              <a:rPr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896941" y="1285860"/>
            <a:ext cx="6032513" cy="923330"/>
          </a:xfrm>
          <a:prstGeom prst="rect">
            <a:avLst/>
          </a:prstGeom>
          <a:noFill/>
          <a:ln w="9525">
            <a:noFill/>
            <a:miter lim="800000"/>
          </a:ln>
        </p:spPr>
        <p:txBody>
          <a:bodyPr wrap="square">
            <a:spAutoFit/>
          </a:bodyPr>
          <a:lstStyle/>
          <a:p>
            <a:pPr marL="457200" indent="-457200" algn="just" fontAlgn="ctr">
              <a:lnSpc>
                <a:spcPct val="110000"/>
              </a:lnSpc>
              <a:spcBef>
                <a:spcPct val="50000"/>
              </a:spcBef>
              <a:buBlip>
                <a:blip r:embed="rId1"/>
              </a:buBlip>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在叶子结点层</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上删除</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a:t>
            </a:r>
            <a:r>
              <a:rPr lang="en-US" altLang="zh-CN" sz="20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marL="457200" indent="-457200" algn="just" fontAlgn="ctr">
              <a:lnSpc>
                <a:spcPct val="110000"/>
              </a:lnSpc>
              <a:spcBef>
                <a:spcPct val="50000"/>
              </a:spcBef>
              <a:buBlip>
                <a:blip r:embed="rId1"/>
              </a:buBlip>
            </a:pP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非</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叶子结点层上</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a:t>
            </a:r>
            <a:r>
              <a:rPr lang="en-US" altLang="zh-CN" sz="20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TextBox 3"/>
          <p:cNvSpPr txBox="1"/>
          <p:nvPr/>
        </p:nvSpPr>
        <p:spPr>
          <a:xfrm>
            <a:off x="714348" y="571480"/>
            <a:ext cx="4000528" cy="430887"/>
          </a:xfrm>
          <a:prstGeom prst="rect">
            <a:avLst/>
          </a:prstGeom>
          <a:noFill/>
        </p:spPr>
        <p:txBody>
          <a:bodyPr wrap="square" rtlCol="0">
            <a:spAutoFit/>
          </a:bodyPr>
          <a:lstStyle/>
          <a:p>
            <a:pPr algn="l"/>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删除关键字</a:t>
            </a:r>
            <a:r>
              <a:rPr lang="en-US" altLang="zh-CN" sz="2200" b="1" i="1" dirty="0" smtClean="0">
                <a:latin typeface="Consolas" panose="020B0609020204030204" pitchFamily="49" charset="0"/>
                <a:ea typeface="楷体" panose="02010609060101010101" pitchFamily="49" charset="-122"/>
                <a:cs typeface="Consolas" panose="020B0609020204030204" pitchFamily="49" charset="0"/>
              </a:rPr>
              <a:t>k</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分两种情况：</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785786" y="2643182"/>
            <a:ext cx="5143536" cy="400110"/>
          </a:xfrm>
          <a:prstGeom prst="rect">
            <a:avLst/>
          </a:prstGeom>
          <a:noFill/>
        </p:spPr>
        <p:txBody>
          <a:bodyPr wrap="square" rtlCol="0">
            <a:spAutoFit/>
          </a:bodyPr>
          <a:lstStyle/>
          <a:p>
            <a:pPr algn="l"/>
            <a:r>
              <a:rPr kumimoji="0" lang="zh-CN" altLang="en-US" sz="2000" b="1" dirty="0" smtClean="0">
                <a:latin typeface="Consolas" panose="020B0609020204030204" pitchFamily="49" charset="0"/>
                <a:ea typeface="黑体" panose="02010609060101010101" pitchFamily="49" charset="-122"/>
                <a:cs typeface="Consolas" panose="020B0609020204030204" pitchFamily="49" charset="0"/>
              </a:rPr>
              <a:t>注</a:t>
            </a:r>
            <a:r>
              <a:rPr kumimoji="0" lang="zh-CN" altLang="en-US" sz="2000" b="1" smtClean="0">
                <a:latin typeface="Consolas" panose="020B0609020204030204" pitchFamily="49" charset="0"/>
                <a:ea typeface="黑体" panose="02010609060101010101" pitchFamily="49" charset="-122"/>
                <a:cs typeface="Consolas" panose="020B0609020204030204" pitchFamily="49" charset="0"/>
              </a:rPr>
              <a:t>意</a:t>
            </a:r>
            <a:r>
              <a:rPr kumimoji="0" lang="zh-CN" altLang="en-US" sz="2000" b="1" smtClean="0">
                <a:latin typeface="Consolas" panose="020B0609020204030204" pitchFamily="49" charset="0"/>
                <a:ea typeface="黑体" panose="02010609060101010101" pitchFamily="49" charset="-122"/>
                <a:cs typeface="Consolas" panose="020B0609020204030204" pitchFamily="49" charset="0"/>
              </a:rPr>
              <a:t>：</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最少关</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键</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字个</a:t>
            </a:r>
            <a:r>
              <a:rPr kumimoji="0"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数</a:t>
            </a:r>
            <a:r>
              <a:rPr lang="en-US" altLang="zh-CN" sz="2000" b="1" dirty="0" smtClean="0">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Min</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lang="en-US" altLang="zh-CN" sz="20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m</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/2</a:t>
            </a:r>
            <a:r>
              <a:rPr lang="en-US" altLang="zh-CN" sz="2000" b="1" dirty="0" smtClean="0">
                <a:solidFill>
                  <a:srgbClr val="3333FF"/>
                </a:solidFill>
                <a:latin typeface="Consolas" panose="020B0609020204030204" pitchFamily="49" charset="0"/>
                <a:cs typeface="Consolas" panose="020B0609020204030204" pitchFamily="49" charset="0"/>
              </a:rPr>
              <a:t>-</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357166"/>
            <a:ext cx="8072494" cy="600164"/>
          </a:xfrm>
          <a:prstGeom prst="rect">
            <a:avLst/>
          </a:prstGeom>
          <a:noFill/>
        </p:spPr>
        <p:txBody>
          <a:bodyPr wrap="square" rtlCol="0">
            <a:spAutoFit/>
          </a:bodyPr>
          <a:lstStyle/>
          <a:p>
            <a:pPr algn="l">
              <a:lnSpc>
                <a:spcPct val="150000"/>
              </a:lnSpc>
            </a:pP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在非叶子结点上</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删除关键字</a:t>
            </a:r>
            <a:r>
              <a:rPr lang="en-US" altLang="zh-CN"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在叶子结点上</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删除关键字</a:t>
            </a:r>
            <a:r>
              <a:rPr lang="en-US" altLang="zh-CN" sz="22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k</a:t>
            </a:r>
            <a:r>
              <a:rPr lang="zh-CN" altLang="en-US" sz="2200" b="1" i="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矩形 5"/>
          <p:cNvSpPr/>
          <p:nvPr/>
        </p:nvSpPr>
        <p:spPr>
          <a:xfrm>
            <a:off x="2571736" y="2643182"/>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7" name="直接箭头连接符 6"/>
          <p:cNvCxnSpPr/>
          <p:nvPr/>
        </p:nvCxnSpPr>
        <p:spPr>
          <a:xfrm rot="10800000" flipV="1">
            <a:off x="1262834" y="2987672"/>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endCxn id="10" idx="0"/>
          </p:cNvCxnSpPr>
          <p:nvPr/>
        </p:nvCxnSpPr>
        <p:spPr>
          <a:xfrm rot="16200000" flipH="1">
            <a:off x="2890825" y="3319461"/>
            <a:ext cx="790580" cy="14287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857356" y="378619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0" name="矩形 9"/>
          <p:cNvSpPr/>
          <p:nvPr/>
        </p:nvSpPr>
        <p:spPr>
          <a:xfrm>
            <a:off x="2928926" y="378619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a:t>
            </a:r>
            <a:r>
              <a:rPr lang="en-US" altLang="zh-CN" sz="2000" b="1" smtClean="0">
                <a:solidFill>
                  <a:srgbClr val="3333FF"/>
                </a:solidFill>
                <a:latin typeface="Consolas" panose="020B0609020204030204" pitchFamily="49" charset="0"/>
                <a:cs typeface="Consolas" panose="020B0609020204030204" pitchFamily="49" charset="0"/>
              </a:rPr>
              <a:t>8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1" name="矩形 10"/>
          <p:cNvSpPr/>
          <p:nvPr/>
        </p:nvSpPr>
        <p:spPr>
          <a:xfrm>
            <a:off x="785786" y="3786190"/>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12" name="直接箭头连接符 11"/>
          <p:cNvCxnSpPr>
            <a:endCxn id="9" idx="0"/>
          </p:cNvCxnSpPr>
          <p:nvPr/>
        </p:nvCxnSpPr>
        <p:spPr>
          <a:xfrm rot="5400000">
            <a:off x="2233995" y="3055538"/>
            <a:ext cx="782641" cy="67866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786446" y="3786190"/>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15 16</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5" name="矩形 14"/>
          <p:cNvSpPr/>
          <p:nvPr/>
        </p:nvSpPr>
        <p:spPr>
          <a:xfrm>
            <a:off x="6786578" y="3786190"/>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6" name="矩形 15"/>
          <p:cNvSpPr/>
          <p:nvPr/>
        </p:nvSpPr>
        <p:spPr>
          <a:xfrm>
            <a:off x="4000496" y="1714488"/>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17" name="矩形 16"/>
          <p:cNvSpPr/>
          <p:nvPr/>
        </p:nvSpPr>
        <p:spPr>
          <a:xfrm>
            <a:off x="5286380" y="264318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FF0000"/>
                </a:solidFill>
                <a:latin typeface="Consolas" panose="020B0609020204030204" pitchFamily="49" charset="0"/>
                <a:cs typeface="Consolas" panose="020B0609020204030204" pitchFamily="49" charset="0"/>
              </a:rPr>
              <a:t>13</a:t>
            </a:r>
            <a:r>
              <a:rPr lang="en-US" altLang="zh-CN" sz="2000" b="1" smtClean="0">
                <a:solidFill>
                  <a:srgbClr val="3333FF"/>
                </a:solidFill>
                <a:latin typeface="Consolas" panose="020B0609020204030204" pitchFamily="49" charset="0"/>
                <a:cs typeface="Consolas" panose="020B0609020204030204" pitchFamily="49" charset="0"/>
              </a:rPr>
              <a:t>  17</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1" name="直接箭头连接符 20"/>
          <p:cNvCxnSpPr>
            <a:endCxn id="6" idx="0"/>
          </p:cNvCxnSpPr>
          <p:nvPr/>
        </p:nvCxnSpPr>
        <p:spPr>
          <a:xfrm rot="10800000" flipV="1">
            <a:off x="2964646" y="2071678"/>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7" idx="0"/>
          </p:cNvCxnSpPr>
          <p:nvPr/>
        </p:nvCxnSpPr>
        <p:spPr>
          <a:xfrm>
            <a:off x="4651376" y="2051040"/>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500694" y="1714488"/>
            <a:ext cx="2143140"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删除关键字</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13</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5" name="直接箭头连接符 24"/>
          <p:cNvCxnSpPr>
            <a:stCxn id="23" idx="2"/>
          </p:cNvCxnSpPr>
          <p:nvPr/>
        </p:nvCxnSpPr>
        <p:spPr>
          <a:xfrm rot="5400000">
            <a:off x="5807906" y="2021700"/>
            <a:ext cx="671460" cy="857256"/>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5286380" y="264318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FF0000"/>
                </a:solidFill>
                <a:latin typeface="Consolas" panose="020B0609020204030204" pitchFamily="49" charset="0"/>
                <a:cs typeface="Consolas" panose="020B0609020204030204" pitchFamily="49" charset="0"/>
              </a:rPr>
              <a:t>12</a:t>
            </a:r>
            <a:r>
              <a:rPr lang="en-US" altLang="zh-CN" sz="2000" b="1" smtClean="0">
                <a:solidFill>
                  <a:srgbClr val="3333FF"/>
                </a:solidFill>
                <a:latin typeface="Consolas" panose="020B0609020204030204" pitchFamily="49" charset="0"/>
                <a:cs typeface="Consolas" panose="020B0609020204030204" pitchFamily="49" charset="0"/>
              </a:rPr>
              <a:t>  17</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18" name="直接箭头连接符 17"/>
          <p:cNvCxnSpPr/>
          <p:nvPr/>
        </p:nvCxnSpPr>
        <p:spPr>
          <a:xfrm rot="5400000">
            <a:off x="4768486" y="3074620"/>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rot="16200000" flipH="1">
            <a:off x="5574910" y="3232545"/>
            <a:ext cx="785818" cy="321471"/>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5" idx="0"/>
          </p:cNvCxnSpPr>
          <p:nvPr/>
        </p:nvCxnSpPr>
        <p:spPr>
          <a:xfrm>
            <a:off x="6143636" y="3000372"/>
            <a:ext cx="110728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9" name="灯片编号占位符 28"/>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cxnSp>
        <p:nvCxnSpPr>
          <p:cNvPr id="32" name="直接箭头连接符 31"/>
          <p:cNvCxnSpPr/>
          <p:nvPr/>
        </p:nvCxnSpPr>
        <p:spPr>
          <a:xfrm rot="5400000" flipH="1" flipV="1">
            <a:off x="5158300" y="3299124"/>
            <a:ext cx="615146" cy="216109"/>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714744" y="4500570"/>
            <a:ext cx="2928958" cy="430887"/>
          </a:xfrm>
          <a:prstGeom prst="rect">
            <a:avLst/>
          </a:prstGeom>
          <a:noFill/>
        </p:spPr>
        <p:txBody>
          <a:bodyPr wrap="square" rtlCol="0">
            <a:spAutoFit/>
          </a:bodyPr>
          <a:lstStyle/>
          <a:p>
            <a:pPr algn="l"/>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删除叶子结点中的</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12</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矩形 12"/>
          <p:cNvSpPr/>
          <p:nvPr/>
        </p:nvSpPr>
        <p:spPr>
          <a:xfrm>
            <a:off x="4143372" y="3809940"/>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10 11 12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6" name="椭圆 25"/>
          <p:cNvSpPr/>
          <p:nvPr/>
        </p:nvSpPr>
        <p:spPr>
          <a:xfrm>
            <a:off x="5143504" y="3643314"/>
            <a:ext cx="500066" cy="785818"/>
          </a:xfrm>
          <a:prstGeom prst="ellipse">
            <a:avLst/>
          </a:prstGeom>
          <a:solidFill>
            <a:schemeClr val="accent1">
              <a:alpha val="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7" name="矩形 26"/>
          <p:cNvSpPr/>
          <p:nvPr/>
        </p:nvSpPr>
        <p:spPr>
          <a:xfrm>
            <a:off x="4143372" y="3786190"/>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10  11</a:t>
            </a:r>
            <a:endParaRPr lang="zh-CN" altLang="en-US" sz="2000" b="1" dirty="0">
              <a:solidFill>
                <a:srgbClr val="3333FF"/>
              </a:solidFill>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0"/>
                                  </p:stCondLst>
                                  <p:childTnLst>
                                    <p:animEffect transition="out" filter="fade">
                                      <p:cBhvr>
                                        <p:cTn id="9" dur="500" tmFilter="0, 0; .2, .5; .8, .5; 1, 0"/>
                                        <p:tgtEl>
                                          <p:spTgt spid="26"/>
                                        </p:tgtEl>
                                      </p:cBhvr>
                                    </p:animEffect>
                                    <p:animScale>
                                      <p:cBhvr>
                                        <p:cTn id="10" dur="250" autoRev="1" fill="hold"/>
                                        <p:tgtEl>
                                          <p:spTgt spid="26"/>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32"/>
                                        </p:tgtEl>
                                      </p:cBhvr>
                                    </p:animEffect>
                                    <p:set>
                                      <p:cBhvr>
                                        <p:cTn id="22" dur="1" fill="hold">
                                          <p:stCondLst>
                                            <p:cond delay="499"/>
                                          </p:stCondLst>
                                        </p:cTn>
                                        <p:tgtEl>
                                          <p:spTgt spid="32"/>
                                        </p:tgtEl>
                                        <p:attrNameLst>
                                          <p:attrName>style.visibility</p:attrName>
                                        </p:attrNameLst>
                                      </p:cBhvr>
                                      <p:to>
                                        <p:strVal val="hidden"/>
                                      </p:to>
                                    </p:set>
                                  </p:childTnLst>
                                </p:cTn>
                              </p:par>
                            </p:childTnLst>
                          </p:cTn>
                        </p:par>
                        <p:par>
                          <p:cTn id="23" fill="hold">
                            <p:stCondLst>
                              <p:cond delay="500"/>
                            </p:stCondLst>
                            <p:childTnLst>
                              <p:par>
                                <p:cTn id="24" presetID="22" presetClass="exit" presetSubtype="4" fill="hold" grpId="2" nodeType="afterEffect">
                                  <p:stCondLst>
                                    <p:cond delay="0"/>
                                  </p:stCondLst>
                                  <p:childTnLst>
                                    <p:animEffect transition="out" filter="wipe(down)">
                                      <p:cBhvr>
                                        <p:cTn id="25" dur="500"/>
                                        <p:tgtEl>
                                          <p:spTgt spid="26"/>
                                        </p:tgtEl>
                                      </p:cBhvr>
                                    </p:animEffect>
                                    <p:set>
                                      <p:cBhvr>
                                        <p:cTn id="26" dur="1" fill="hold">
                                          <p:stCondLst>
                                            <p:cond delay="499"/>
                                          </p:stCondLst>
                                        </p:cTn>
                                        <p:tgtEl>
                                          <p:spTgt spid="2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33" grpId="0"/>
      <p:bldP spid="26" grpId="0" bldLvl="0" animBg="1"/>
      <p:bldP spid="26" grpId="1" bldLvl="0" animBg="1"/>
      <p:bldP spid="26" grpId="2" bldLvl="0" animBg="1"/>
      <p:bldP spid="27" grpId="0" bldLvl="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14282" y="1071546"/>
            <a:ext cx="8763000" cy="1015663"/>
          </a:xfrm>
          <a:prstGeom prst="rect">
            <a:avLst/>
          </a:prstGeom>
          <a:noFill/>
          <a:ln w="9525">
            <a:noFill/>
            <a:miter lim="800000"/>
          </a:ln>
        </p:spPr>
        <p:txBody>
          <a:bodyPr>
            <a:spAutoFit/>
          </a:bodyPr>
          <a:lstStyle/>
          <a:p>
            <a:pPr algn="just" fontAlgn="ctr">
              <a:lnSpc>
                <a:spcPct val="150000"/>
              </a:lnSpc>
              <a:spcBef>
                <a:spcPct val="50000"/>
              </a:spcBef>
            </a:pP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假如</a:t>
            </a:r>
            <a:r>
              <a:rPr lang="en-US" altLang="zh-CN" sz="2000" b="1" i="1" smtClean="0">
                <a:latin typeface="Consolas" panose="020B0609020204030204" pitchFamily="49" charset="0"/>
                <a:ea typeface="楷体" panose="02010609060101010101" pitchFamily="49" charset="-122"/>
                <a:cs typeface="Consolas" panose="020B0609020204030204" pitchFamily="49" charset="0"/>
              </a:rPr>
              <a:t>b</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结点的</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大于</a:t>
            </a:r>
            <a:r>
              <a:rPr lang="en-US" altLang="zh-CN"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Min</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，说明</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删去该关键字</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后</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该结点仍满足</a:t>
            </a:r>
            <a:r>
              <a:rPr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000" b="1">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定义，则</a:t>
            </a:r>
            <a:r>
              <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可直接删去该关键字。     </a:t>
            </a:r>
            <a:endParaRPr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8611" name="Rectangle 3"/>
          <p:cNvSpPr>
            <a:spLocks noChangeArrowheads="1"/>
          </p:cNvSpPr>
          <p:nvPr/>
        </p:nvSpPr>
        <p:spPr bwMode="auto">
          <a:xfrm>
            <a:off x="2195513" y="3140075"/>
            <a:ext cx="1655762" cy="576263"/>
          </a:xfrm>
          <a:prstGeom prst="rect">
            <a:avLst/>
          </a:prstGeom>
          <a:solidFill>
            <a:srgbClr val="FFFFFF"/>
          </a:solidFill>
          <a:ln w="28575" algn="ctr">
            <a:solidFill>
              <a:srgbClr val="9900FF"/>
            </a:solidFill>
            <a:miter lim="800000"/>
          </a:ln>
        </p:spPr>
        <p:txBody>
          <a:bodyPr wrap="none" anchor="ctr"/>
          <a:lstStyle/>
          <a:p>
            <a:r>
              <a:rPr lang="en-US" altLang="zh-CN" sz="2400" b="1" smtClean="0">
                <a:solidFill>
                  <a:srgbClr val="3333FF"/>
                </a:solidFill>
                <a:latin typeface="Consolas" panose="020B0609020204030204" pitchFamily="49" charset="0"/>
                <a:cs typeface="Consolas" panose="020B0609020204030204" pitchFamily="49" charset="0"/>
              </a:rPr>
              <a:t>1  </a:t>
            </a:r>
            <a:r>
              <a:rPr lang="en-US" altLang="zh-CN" sz="2400" b="1" smtClean="0">
                <a:solidFill>
                  <a:srgbClr val="FF00FF"/>
                </a:solidFill>
                <a:latin typeface="Consolas" panose="020B0609020204030204" pitchFamily="49" charset="0"/>
                <a:cs typeface="Consolas" panose="020B0609020204030204" pitchFamily="49" charset="0"/>
              </a:rPr>
              <a:t>2</a:t>
            </a:r>
            <a:r>
              <a:rPr lang="en-US" altLang="zh-CN" sz="2400" b="1" smtClean="0">
                <a:solidFill>
                  <a:srgbClr val="3333FF"/>
                </a:solidFill>
                <a:latin typeface="Consolas" panose="020B0609020204030204" pitchFamily="49" charset="0"/>
                <a:cs typeface="Consolas" panose="020B0609020204030204" pitchFamily="49" charset="0"/>
              </a:rPr>
              <a:t>  3</a:t>
            </a:r>
            <a:endParaRPr lang="zh-CN" altLang="en-US" sz="2400" b="1">
              <a:solidFill>
                <a:srgbClr val="3333FF"/>
              </a:solidFill>
              <a:latin typeface="Consolas" panose="020B0609020204030204" pitchFamily="49" charset="0"/>
              <a:cs typeface="Consolas" panose="020B0609020204030204" pitchFamily="49" charset="0"/>
            </a:endParaRPr>
          </a:p>
        </p:txBody>
      </p:sp>
      <p:sp>
        <p:nvSpPr>
          <p:cNvPr id="68613" name="Text Box 5"/>
          <p:cNvSpPr txBox="1">
            <a:spLocks noChangeArrowheads="1"/>
          </p:cNvSpPr>
          <p:nvPr/>
        </p:nvSpPr>
        <p:spPr bwMode="auto">
          <a:xfrm>
            <a:off x="1781160" y="2774950"/>
            <a:ext cx="647700" cy="369332"/>
          </a:xfrm>
          <a:prstGeom prst="rect">
            <a:avLst/>
          </a:prstGeom>
          <a:noFill/>
          <a:ln w="28575" algn="ctr">
            <a:noFill/>
            <a:miter lim="800000"/>
          </a:ln>
        </p:spPr>
        <p:txBody>
          <a:bodyPr lIns="0" tIns="0" rIns="0" bIns="0">
            <a:spAutoFit/>
          </a:bodyPr>
          <a:lstStyle/>
          <a:p>
            <a:pPr>
              <a:spcBef>
                <a:spcPct val="50000"/>
              </a:spcBef>
            </a:pPr>
            <a:r>
              <a:rPr kumimoji="0" lang="en-US" altLang="zh-CN" sz="2400" b="1" i="1" dirty="0">
                <a:latin typeface="Consolas" panose="020B0609020204030204" pitchFamily="49" charset="0"/>
                <a:ea typeface="楷体_GB2312" pitchFamily="49" charset="-122"/>
                <a:cs typeface="Consolas" panose="020B0609020204030204" pitchFamily="49" charset="0"/>
              </a:rPr>
              <a:t>b</a:t>
            </a:r>
            <a:endParaRPr kumimoji="0" lang="en-US" altLang="zh-CN" sz="2400" b="1" i="1" dirty="0">
              <a:latin typeface="Consolas" panose="020B0609020204030204" pitchFamily="49" charset="0"/>
              <a:ea typeface="楷体_GB2312" pitchFamily="49" charset="-122"/>
              <a:cs typeface="Consolas" panose="020B0609020204030204" pitchFamily="49" charset="0"/>
            </a:endParaRPr>
          </a:p>
        </p:txBody>
      </p:sp>
      <p:grpSp>
        <p:nvGrpSpPr>
          <p:cNvPr id="11" name="组合 10"/>
          <p:cNvGrpSpPr/>
          <p:nvPr/>
        </p:nvGrpSpPr>
        <p:grpSpPr>
          <a:xfrm>
            <a:off x="4140200" y="2979738"/>
            <a:ext cx="2663825" cy="738187"/>
            <a:chOff x="4140200" y="2979738"/>
            <a:chExt cx="2663825" cy="738187"/>
          </a:xfrm>
        </p:grpSpPr>
        <p:sp>
          <p:nvSpPr>
            <p:cNvPr id="68614" name="Freeform 6"/>
            <p:cNvSpPr/>
            <p:nvPr/>
          </p:nvSpPr>
          <p:spPr bwMode="auto">
            <a:xfrm>
              <a:off x="4140200" y="3479800"/>
              <a:ext cx="1295400" cy="1588"/>
            </a:xfrm>
            <a:custGeom>
              <a:avLst/>
              <a:gdLst>
                <a:gd name="T0" fmla="*/ 0 w 792"/>
                <a:gd name="T1" fmla="*/ 13 h 13"/>
                <a:gd name="T2" fmla="*/ 792 w 792"/>
                <a:gd name="T3" fmla="*/ 0 h 13"/>
                <a:gd name="T4" fmla="*/ 0 60000 65536"/>
                <a:gd name="T5" fmla="*/ 0 60000 65536"/>
                <a:gd name="T6" fmla="*/ 0 w 792"/>
                <a:gd name="T7" fmla="*/ 0 h 13"/>
                <a:gd name="T8" fmla="*/ 792 w 792"/>
                <a:gd name="T9" fmla="*/ 13 h 13"/>
              </a:gdLst>
              <a:ahLst/>
              <a:cxnLst>
                <a:cxn ang="T4">
                  <a:pos x="T0" y="T1"/>
                </a:cxn>
                <a:cxn ang="T5">
                  <a:pos x="T2" y="T3"/>
                </a:cxn>
              </a:cxnLst>
              <a:rect l="T6" t="T7" r="T8" b="T9"/>
              <a:pathLst>
                <a:path w="792" h="13">
                  <a:moveTo>
                    <a:pt x="0" y="13"/>
                  </a:moveTo>
                  <a:lnTo>
                    <a:pt x="792" y="0"/>
                  </a:lnTo>
                </a:path>
              </a:pathLst>
            </a:custGeom>
            <a:noFill/>
            <a:ln w="38100">
              <a:solidFill>
                <a:srgbClr val="3333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8615" name="Text Box 7"/>
            <p:cNvSpPr txBox="1">
              <a:spLocks noChangeArrowheads="1"/>
            </p:cNvSpPr>
            <p:nvPr/>
          </p:nvSpPr>
          <p:spPr bwMode="auto">
            <a:xfrm>
              <a:off x="4140200" y="2979738"/>
              <a:ext cx="12239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直接删除</a:t>
              </a:r>
              <a:endPar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8616" name="Rectangle 8"/>
            <p:cNvSpPr>
              <a:spLocks noChangeArrowheads="1"/>
            </p:cNvSpPr>
            <p:nvPr/>
          </p:nvSpPr>
          <p:spPr bwMode="auto">
            <a:xfrm>
              <a:off x="5651500" y="3141663"/>
              <a:ext cx="1152525" cy="576262"/>
            </a:xfrm>
            <a:prstGeom prst="rect">
              <a:avLst/>
            </a:prstGeom>
            <a:solidFill>
              <a:srgbClr val="FFFFFF"/>
            </a:solidFill>
            <a:ln w="28575" algn="ctr">
              <a:solidFill>
                <a:srgbClr val="9900FF"/>
              </a:solidFill>
              <a:miter lim="800000"/>
            </a:ln>
          </p:spPr>
          <p:txBody>
            <a:bodyPr wrap="none" anchor="ctr"/>
            <a:lstStyle/>
            <a:p>
              <a:r>
                <a:rPr lang="en-US" altLang="zh-CN" sz="2400" b="1" smtClean="0">
                  <a:solidFill>
                    <a:srgbClr val="3333FF"/>
                  </a:solidFill>
                  <a:latin typeface="Consolas" panose="020B0609020204030204" pitchFamily="49" charset="0"/>
                  <a:cs typeface="Consolas" panose="020B0609020204030204" pitchFamily="49" charset="0"/>
                </a:rPr>
                <a:t>1  3</a:t>
              </a:r>
              <a:endParaRPr lang="zh-CN" altLang="en-US" sz="2400" b="1">
                <a:solidFill>
                  <a:srgbClr val="3333FF"/>
                </a:solidFill>
                <a:latin typeface="Consolas" panose="020B0609020204030204" pitchFamily="49" charset="0"/>
                <a:cs typeface="Consolas" panose="020B0609020204030204" pitchFamily="49" charset="0"/>
              </a:endParaRPr>
            </a:p>
          </p:txBody>
        </p:sp>
      </p:grpSp>
      <p:sp>
        <p:nvSpPr>
          <p:cNvPr id="9" name="TextBox 8"/>
          <p:cNvSpPr txBox="1"/>
          <p:nvPr/>
        </p:nvSpPr>
        <p:spPr>
          <a:xfrm>
            <a:off x="500034" y="571480"/>
            <a:ext cx="8215370" cy="430887"/>
          </a:xfrm>
          <a:prstGeom prst="rect">
            <a:avLst/>
          </a:prstGeom>
          <a:noFill/>
        </p:spPr>
        <p:txBody>
          <a:bodyPr wrap="square" rtlCol="0">
            <a:spAutoFit/>
          </a:bodyPr>
          <a:lstStyle/>
          <a:p>
            <a:pPr algn="l"/>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树的叶子结点</a:t>
            </a:r>
            <a:r>
              <a:rPr lang="en-US" altLang="zh-CN" sz="2200" b="1" i="1" smtClean="0">
                <a:latin typeface="Consolas" panose="020B0609020204030204" pitchFamily="49" charset="0"/>
                <a:ea typeface="楷体" panose="02010609060101010101" pitchFamily="49" charset="-122"/>
                <a:cs typeface="Consolas" panose="020B0609020204030204" pitchFamily="49" charset="0"/>
              </a:rPr>
              <a:t>b</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上删除关键字共有以下</a:t>
            </a:r>
            <a:r>
              <a:rPr lang="en-US" altLang="zh-CN"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3</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种情况：</a:t>
            </a:r>
            <a:endPar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TextBox 9"/>
          <p:cNvSpPr txBox="1"/>
          <p:nvPr/>
        </p:nvSpPr>
        <p:spPr>
          <a:xfrm>
            <a:off x="3428992" y="4572008"/>
            <a:ext cx="2000264" cy="461665"/>
          </a:xfrm>
          <a:prstGeom prst="rect">
            <a:avLst/>
          </a:prstGeom>
          <a:noFill/>
        </p:spPr>
        <p:txBody>
          <a:bodyPr wrap="square" rtlCol="0">
            <a:spAutoFit/>
          </a:bodyPr>
          <a:lstStyle/>
          <a:p>
            <a:r>
              <a:rPr lang="zh-CN" altLang="en-US"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Text Box 7"/>
          <p:cNvSpPr txBox="1">
            <a:spLocks noChangeArrowheads="1"/>
          </p:cNvSpPr>
          <p:nvPr/>
        </p:nvSpPr>
        <p:spPr bwMode="auto">
          <a:xfrm>
            <a:off x="2357422" y="4000504"/>
            <a:ext cx="12239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2</a:t>
            </a:r>
            <a:endPar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p:nvPr/>
        </p:nvCxnSpPr>
        <p:spPr>
          <a:xfrm rot="16200000" flipV="1">
            <a:off x="2874950" y="3857628"/>
            <a:ext cx="285752"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57158" y="3181649"/>
            <a:ext cx="1285884" cy="461665"/>
          </a:xfrm>
          <a:prstGeom prst="rect">
            <a:avLst/>
          </a:prstGeom>
          <a:noFill/>
        </p:spPr>
        <p:txBody>
          <a:bodyPr wrap="square" rtlCol="0">
            <a:spAutoFit/>
          </a:bodyPr>
          <a:lstStyle/>
          <a:p>
            <a:r>
              <a:rPr lang="en-US" altLang="zh-CN"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Min=2</a:t>
            </a:r>
            <a:endPar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201613" y="333375"/>
            <a:ext cx="8763000" cy="1246495"/>
          </a:xfrm>
          <a:prstGeom prst="rect">
            <a:avLst/>
          </a:prstGeom>
          <a:noFill/>
          <a:ln w="9525">
            <a:noFill/>
            <a:miter lim="800000"/>
          </a:ln>
        </p:spPr>
        <p:txBody>
          <a:bodyPr>
            <a:spAutoFit/>
          </a:bodyPr>
          <a:lstStyle/>
          <a:p>
            <a:pPr algn="just" fontAlgn="ctr">
              <a:lnSpc>
                <a:spcPct val="15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假如</a:t>
            </a:r>
            <a:r>
              <a:rPr lang="en-US" altLang="zh-CN" sz="2200" b="1" i="1" smtClean="0">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结点的</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等于</a:t>
            </a:r>
            <a:r>
              <a:rPr lang="en-US" altLang="zh-CN"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Min</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，说明</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删去关键字</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后</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该结点将</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不</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的定义</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zh-CN" altLang="en-US" sz="2200" b="1" dirty="0" smtClean="0">
                <a:solidFill>
                  <a:srgbClr val="C00000"/>
                </a:solidFill>
                <a:latin typeface="Consolas" panose="020B0609020204030204" pitchFamily="49" charset="0"/>
                <a:ea typeface="楷体" panose="02010609060101010101" pitchFamily="49" charset="-122"/>
                <a:cs typeface="Consolas" panose="020B0609020204030204" pitchFamily="49" charset="0"/>
              </a:rPr>
              <a:t>可以</a:t>
            </a:r>
            <a:r>
              <a:rPr lang="zh-CN" altLang="en-US" sz="2200" b="1" smtClean="0">
                <a:solidFill>
                  <a:srgbClr val="C00000"/>
                </a:solidFill>
                <a:latin typeface="Consolas" panose="020B0609020204030204" pitchFamily="49" charset="0"/>
                <a:ea typeface="楷体" panose="02010609060101010101" pitchFamily="49" charset="-122"/>
                <a:cs typeface="Consolas" panose="020B0609020204030204" pitchFamily="49" charset="0"/>
              </a:rPr>
              <a:t>从兄弟结点借</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635" name="Rectangle 3"/>
          <p:cNvSpPr>
            <a:spLocks noChangeArrowheads="1"/>
          </p:cNvSpPr>
          <p:nvPr/>
        </p:nvSpPr>
        <p:spPr bwMode="auto">
          <a:xfrm>
            <a:off x="971550" y="3435353"/>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dirty="0" smtClean="0">
                <a:solidFill>
                  <a:srgbClr val="3333FF"/>
                </a:solidFill>
                <a:latin typeface="Consolas" panose="020B0609020204030204" pitchFamily="49" charset="0"/>
                <a:ea typeface="楷体_GB2312" pitchFamily="49" charset="-122"/>
                <a:cs typeface="Consolas" panose="020B0609020204030204" pitchFamily="49" charset="0"/>
              </a:rPr>
              <a:t>14  </a:t>
            </a:r>
            <a:r>
              <a:rPr kumimoji="0" lang="en-US" altLang="zh-CN" sz="2000" b="1" dirty="0">
                <a:solidFill>
                  <a:srgbClr val="FF0000"/>
                </a:solidFill>
                <a:latin typeface="Consolas" panose="020B0609020204030204" pitchFamily="49" charset="0"/>
                <a:ea typeface="楷体_GB2312" pitchFamily="49" charset="-122"/>
                <a:cs typeface="Consolas" panose="020B0609020204030204" pitchFamily="49" charset="0"/>
              </a:rPr>
              <a:t>15</a:t>
            </a:r>
            <a:endParaRPr kumimoji="0" lang="en-US" altLang="zh-CN" sz="2000" b="1" dirty="0">
              <a:solidFill>
                <a:srgbClr val="FF0000"/>
              </a:solidFill>
              <a:latin typeface="Consolas" panose="020B0609020204030204" pitchFamily="49" charset="0"/>
              <a:ea typeface="楷体_GB2312" pitchFamily="49" charset="-122"/>
              <a:cs typeface="Consolas" panose="020B0609020204030204" pitchFamily="49" charset="0"/>
            </a:endParaRPr>
          </a:p>
        </p:txBody>
      </p:sp>
      <p:sp>
        <p:nvSpPr>
          <p:cNvPr id="69636" name="Text Box 5"/>
          <p:cNvSpPr txBox="1">
            <a:spLocks noChangeArrowheads="1"/>
          </p:cNvSpPr>
          <p:nvPr/>
        </p:nvSpPr>
        <p:spPr bwMode="auto">
          <a:xfrm>
            <a:off x="395288" y="3492503"/>
            <a:ext cx="647700" cy="369332"/>
          </a:xfrm>
          <a:prstGeom prst="rect">
            <a:avLst/>
          </a:prstGeom>
          <a:noFill/>
          <a:ln w="28575" algn="ctr">
            <a:noFill/>
            <a:miter lim="800000"/>
          </a:ln>
        </p:spPr>
        <p:txBody>
          <a:bodyPr lIns="0" tIns="0" rIns="0" bIns="0">
            <a:spAutoFit/>
          </a:bodyPr>
          <a:lstStyle/>
          <a:p>
            <a:pPr>
              <a:spcBef>
                <a:spcPct val="50000"/>
              </a:spcBef>
            </a:pPr>
            <a:r>
              <a:rPr kumimoji="0" lang="en-US" altLang="zh-CN" sz="2400" b="1" i="1">
                <a:latin typeface="Consolas" panose="020B0609020204030204" pitchFamily="49" charset="0"/>
                <a:ea typeface="楷体_GB2312" pitchFamily="49" charset="-122"/>
                <a:cs typeface="Consolas" panose="020B0609020204030204" pitchFamily="49" charset="0"/>
              </a:rPr>
              <a:t>b</a:t>
            </a:r>
            <a:endParaRPr kumimoji="0" lang="en-US" altLang="zh-CN" sz="2400" b="1" i="1">
              <a:latin typeface="Consolas" panose="020B0609020204030204" pitchFamily="49" charset="0"/>
              <a:ea typeface="楷体_GB2312" pitchFamily="49" charset="-122"/>
              <a:cs typeface="Consolas" panose="020B0609020204030204" pitchFamily="49" charset="0"/>
            </a:endParaRPr>
          </a:p>
        </p:txBody>
      </p:sp>
      <p:sp>
        <p:nvSpPr>
          <p:cNvPr id="69638" name="Text Box 7"/>
          <p:cNvSpPr txBox="1">
            <a:spLocks noChangeArrowheads="1"/>
          </p:cNvSpPr>
          <p:nvPr/>
        </p:nvSpPr>
        <p:spPr bwMode="auto">
          <a:xfrm>
            <a:off x="1071538" y="4286256"/>
            <a:ext cx="12239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15</a:t>
            </a:r>
            <a:endPar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639" name="Rectangle 9"/>
          <p:cNvSpPr>
            <a:spLocks noChangeArrowheads="1"/>
          </p:cNvSpPr>
          <p:nvPr/>
        </p:nvSpPr>
        <p:spPr bwMode="auto">
          <a:xfrm>
            <a:off x="1562087" y="2489203"/>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smtClean="0">
                <a:solidFill>
                  <a:srgbClr val="3333FF"/>
                </a:solidFill>
                <a:latin typeface="Consolas" panose="020B0609020204030204" pitchFamily="49" charset="0"/>
                <a:ea typeface="楷体_GB2312" pitchFamily="49" charset="-122"/>
                <a:cs typeface="Consolas" panose="020B0609020204030204" pitchFamily="49" charset="0"/>
              </a:rPr>
              <a:t>  13       </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9640" name="Rectangle 10"/>
          <p:cNvSpPr>
            <a:spLocks noChangeArrowheads="1"/>
          </p:cNvSpPr>
          <p:nvPr/>
        </p:nvSpPr>
        <p:spPr bwMode="auto">
          <a:xfrm>
            <a:off x="2285984" y="3438528"/>
            <a:ext cx="1643074"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smtClean="0">
                <a:solidFill>
                  <a:srgbClr val="3333FF"/>
                </a:solidFill>
                <a:latin typeface="Consolas" panose="020B0609020204030204" pitchFamily="49" charset="0"/>
                <a:ea typeface="楷体_GB2312" pitchFamily="49" charset="-122"/>
                <a:cs typeface="Consolas" panose="020B0609020204030204" pitchFamily="49" charset="0"/>
              </a:rPr>
              <a:t>     19 </a:t>
            </a:r>
            <a:r>
              <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rPr>
              <a:t>20</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9641" name="Line 11"/>
          <p:cNvSpPr>
            <a:spLocks noChangeShapeType="1"/>
          </p:cNvSpPr>
          <p:nvPr/>
        </p:nvSpPr>
        <p:spPr bwMode="auto">
          <a:xfrm flipH="1">
            <a:off x="1789113" y="2849566"/>
            <a:ext cx="360362" cy="57626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9651" name="Text Box 23"/>
          <p:cNvSpPr txBox="1">
            <a:spLocks noChangeArrowheads="1"/>
          </p:cNvSpPr>
          <p:nvPr/>
        </p:nvSpPr>
        <p:spPr bwMode="auto">
          <a:xfrm>
            <a:off x="714348" y="1857364"/>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69652" name="Line 24"/>
          <p:cNvSpPr>
            <a:spLocks noChangeShapeType="1"/>
          </p:cNvSpPr>
          <p:nvPr/>
        </p:nvSpPr>
        <p:spPr bwMode="auto">
          <a:xfrm flipH="1">
            <a:off x="1211242" y="2824166"/>
            <a:ext cx="431800" cy="142875"/>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23" name="TextBox 22"/>
          <p:cNvSpPr txBox="1"/>
          <p:nvPr/>
        </p:nvSpPr>
        <p:spPr>
          <a:xfrm>
            <a:off x="2097070" y="2538406"/>
            <a:ext cx="468000" cy="400110"/>
          </a:xfrm>
          <a:prstGeom prst="rect">
            <a:avLst/>
          </a:prstGeom>
          <a:ln>
            <a:noFill/>
          </a:ln>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17</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4" name="TextBox 23"/>
          <p:cNvSpPr txBox="1"/>
          <p:nvPr/>
        </p:nvSpPr>
        <p:spPr>
          <a:xfrm>
            <a:off x="2390760" y="3495618"/>
            <a:ext cx="500066" cy="400110"/>
          </a:xfrm>
          <a:prstGeom prst="rect">
            <a:avLst/>
          </a:prstGeom>
          <a:ln>
            <a:noFill/>
          </a:ln>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18</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642" name="Line 12"/>
          <p:cNvSpPr>
            <a:spLocks noChangeShapeType="1"/>
          </p:cNvSpPr>
          <p:nvPr/>
        </p:nvSpPr>
        <p:spPr bwMode="auto">
          <a:xfrm>
            <a:off x="2428860" y="2857496"/>
            <a:ext cx="342915" cy="56833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cxnSp>
        <p:nvCxnSpPr>
          <p:cNvPr id="26" name="直接箭头连接符 25"/>
          <p:cNvCxnSpPr/>
          <p:nvPr/>
        </p:nvCxnSpPr>
        <p:spPr>
          <a:xfrm rot="16200000" flipV="1">
            <a:off x="1589066" y="4143380"/>
            <a:ext cx="285752"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4286248" y="2489203"/>
            <a:ext cx="4286280" cy="1439863"/>
            <a:chOff x="4286248" y="2489203"/>
            <a:chExt cx="4286280" cy="1439863"/>
          </a:xfrm>
        </p:grpSpPr>
        <p:sp>
          <p:nvSpPr>
            <p:cNvPr id="69645" name="Rectangle 15"/>
            <p:cNvSpPr>
              <a:spLocks noChangeArrowheads="1"/>
            </p:cNvSpPr>
            <p:nvPr/>
          </p:nvSpPr>
          <p:spPr bwMode="auto">
            <a:xfrm>
              <a:off x="6011863" y="3422653"/>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rPr>
                <a:t>14 17</a:t>
              </a:r>
              <a:endPar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9646" name="Text Box 16"/>
            <p:cNvSpPr txBox="1">
              <a:spLocks noChangeArrowheads="1"/>
            </p:cNvSpPr>
            <p:nvPr/>
          </p:nvSpPr>
          <p:spPr bwMode="auto">
            <a:xfrm>
              <a:off x="5435600" y="3497266"/>
              <a:ext cx="647700" cy="369332"/>
            </a:xfrm>
            <a:prstGeom prst="rect">
              <a:avLst/>
            </a:prstGeom>
            <a:noFill/>
            <a:ln w="28575" algn="ctr">
              <a:noFill/>
              <a:miter lim="800000"/>
            </a:ln>
          </p:spPr>
          <p:txBody>
            <a:bodyPr lIns="0" tIns="0" rIns="0" bIns="0">
              <a:spAutoFit/>
            </a:bodyPr>
            <a:lstStyle/>
            <a:p>
              <a:pPr>
                <a:spcBef>
                  <a:spcPct val="50000"/>
                </a:spcBef>
              </a:pPr>
              <a:r>
                <a:rPr kumimoji="0" lang="en-US" altLang="zh-CN" sz="2400" b="1" i="1">
                  <a:latin typeface="Consolas" panose="020B0609020204030204" pitchFamily="49" charset="0"/>
                  <a:ea typeface="楷体_GB2312" pitchFamily="49" charset="-122"/>
                  <a:cs typeface="Consolas" panose="020B0609020204030204" pitchFamily="49" charset="0"/>
                </a:rPr>
                <a:t>b</a:t>
              </a:r>
              <a:endParaRPr kumimoji="0" lang="en-US" altLang="zh-CN" sz="2400" b="1" i="1">
                <a:latin typeface="Consolas" panose="020B0609020204030204" pitchFamily="49" charset="0"/>
                <a:ea typeface="楷体_GB2312" pitchFamily="49" charset="-122"/>
                <a:cs typeface="Consolas" panose="020B0609020204030204" pitchFamily="49" charset="0"/>
              </a:endParaRPr>
            </a:p>
          </p:txBody>
        </p:sp>
        <p:sp>
          <p:nvSpPr>
            <p:cNvPr id="69647" name="Rectangle 17"/>
            <p:cNvSpPr>
              <a:spLocks noChangeArrowheads="1"/>
            </p:cNvSpPr>
            <p:nvPr/>
          </p:nvSpPr>
          <p:spPr bwMode="auto">
            <a:xfrm>
              <a:off x="6589713" y="2489203"/>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rPr>
                <a:t>13 18</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9648" name="Rectangle 18"/>
            <p:cNvSpPr>
              <a:spLocks noChangeArrowheads="1"/>
            </p:cNvSpPr>
            <p:nvPr/>
          </p:nvSpPr>
          <p:spPr bwMode="auto">
            <a:xfrm>
              <a:off x="7456488" y="3425828"/>
              <a:ext cx="1116040"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rPr>
                <a:t>19 20</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69649" name="Line 19"/>
            <p:cNvSpPr>
              <a:spLocks noChangeShapeType="1"/>
            </p:cNvSpPr>
            <p:nvPr/>
          </p:nvSpPr>
          <p:spPr bwMode="auto">
            <a:xfrm flipH="1">
              <a:off x="6804025" y="2849566"/>
              <a:ext cx="360363" cy="57626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9650" name="Line 20"/>
            <p:cNvSpPr>
              <a:spLocks noChangeShapeType="1"/>
            </p:cNvSpPr>
            <p:nvPr/>
          </p:nvSpPr>
          <p:spPr bwMode="auto">
            <a:xfrm>
              <a:off x="7491412" y="2849566"/>
              <a:ext cx="328635" cy="579434"/>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69653" name="Line 25"/>
            <p:cNvSpPr>
              <a:spLocks noChangeShapeType="1"/>
            </p:cNvSpPr>
            <p:nvPr/>
          </p:nvSpPr>
          <p:spPr bwMode="auto">
            <a:xfrm flipH="1">
              <a:off x="6376988" y="2836866"/>
              <a:ext cx="431800" cy="142875"/>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27" name="右箭头 26"/>
            <p:cNvSpPr/>
            <p:nvPr/>
          </p:nvSpPr>
          <p:spPr>
            <a:xfrm>
              <a:off x="4286248" y="3000372"/>
              <a:ext cx="928694" cy="357190"/>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sp>
        <p:nvSpPr>
          <p:cNvPr id="25" name="TextBox 24"/>
          <p:cNvSpPr txBox="1"/>
          <p:nvPr/>
        </p:nvSpPr>
        <p:spPr>
          <a:xfrm>
            <a:off x="3786182" y="4714884"/>
            <a:ext cx="2000264" cy="461665"/>
          </a:xfrm>
          <a:prstGeom prst="rect">
            <a:avLst/>
          </a:prstGeom>
          <a:noFill/>
        </p:spPr>
        <p:txBody>
          <a:bodyPr wrap="square" rtlCol="0">
            <a:spAutoFit/>
          </a:bodyPr>
          <a:lstStyle/>
          <a:p>
            <a:r>
              <a:rPr lang="zh-CN" altLang="en-US"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1.11111E-6 -0.00047 C -0.00173 -0.0044 -0.0033 -0.00834 -0.01215 -0.00047 C -0.02101 0.0074 -0.04583 0.02361 -0.05382 0.04699 C -0.0618 0.07037 -0.05903 0.12037 -0.06042 0.13958 " pathEditMode="relative" rAng="0" ptsTypes="aaaa">
                                      <p:cBhvr>
                                        <p:cTn id="6" dur="2000" fill="hold"/>
                                        <p:tgtEl>
                                          <p:spTgt spid="23"/>
                                        </p:tgtEl>
                                        <p:attrNameLst>
                                          <p:attrName>ppt_x</p:attrName>
                                          <p:attrName>ppt_y</p:attrName>
                                        </p:attrNameLst>
                                      </p:cBhvr>
                                      <p:rCtr x="-31" y="66"/>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2.77778E-7 -3.7037E-6 C -0.00139 -0.03935 -0.00278 -0.0787 -0.00834 -0.10185 C -0.01389 -0.125 -0.02362 -0.13194 -0.03334 -0.13889 " pathEditMode="relative" ptsTypes="aaA">
                                      <p:cBhvr>
                                        <p:cTn id="10" dur="2000" fill="hold"/>
                                        <p:tgtEl>
                                          <p:spTgt spid="24"/>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0"/>
          <p:cNvSpPr>
            <a:spLocks noChangeArrowheads="1"/>
          </p:cNvSpPr>
          <p:nvPr/>
        </p:nvSpPr>
        <p:spPr bwMode="auto">
          <a:xfrm>
            <a:off x="1297015" y="3186118"/>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smtClean="0">
                <a:solidFill>
                  <a:srgbClr val="3333FF"/>
                </a:solidFill>
                <a:latin typeface="Consolas" panose="020B0609020204030204" pitchFamily="49" charset="0"/>
                <a:ea typeface="楷体_GB2312" pitchFamily="49" charset="-122"/>
                <a:cs typeface="Consolas" panose="020B0609020204030204" pitchFamily="49" charset="0"/>
              </a:rPr>
              <a:t>14  </a:t>
            </a:r>
            <a:r>
              <a:rPr kumimoji="0" lang="en-US" altLang="zh-CN" sz="2000" b="1" smtClean="0">
                <a:solidFill>
                  <a:srgbClr val="FF0000"/>
                </a:solidFill>
                <a:latin typeface="Consolas" panose="020B0609020204030204" pitchFamily="49" charset="0"/>
                <a:ea typeface="楷体_GB2312" pitchFamily="49" charset="-122"/>
                <a:cs typeface="Consolas" panose="020B0609020204030204" pitchFamily="49" charset="0"/>
              </a:rPr>
              <a:t>15</a:t>
            </a:r>
            <a:endParaRPr kumimoji="0" lang="en-US" altLang="zh-CN" sz="2000" b="1" dirty="0">
              <a:solidFill>
                <a:srgbClr val="FF0000"/>
              </a:solidFill>
              <a:latin typeface="Consolas" panose="020B0609020204030204" pitchFamily="49" charset="0"/>
              <a:ea typeface="楷体_GB2312" pitchFamily="49" charset="-122"/>
              <a:cs typeface="Consolas" panose="020B0609020204030204" pitchFamily="49" charset="0"/>
            </a:endParaRPr>
          </a:p>
        </p:txBody>
      </p:sp>
      <p:sp>
        <p:nvSpPr>
          <p:cNvPr id="70660" name="Text Box 21"/>
          <p:cNvSpPr txBox="1">
            <a:spLocks noChangeArrowheads="1"/>
          </p:cNvSpPr>
          <p:nvPr/>
        </p:nvSpPr>
        <p:spPr bwMode="auto">
          <a:xfrm>
            <a:off x="720753" y="3255968"/>
            <a:ext cx="647700" cy="369332"/>
          </a:xfrm>
          <a:prstGeom prst="rect">
            <a:avLst/>
          </a:prstGeom>
          <a:noFill/>
          <a:ln w="28575" algn="ctr">
            <a:noFill/>
            <a:miter lim="800000"/>
          </a:ln>
        </p:spPr>
        <p:txBody>
          <a:bodyPr lIns="0" tIns="0" rIns="0" bIns="0">
            <a:spAutoFit/>
          </a:bodyPr>
          <a:lstStyle/>
          <a:p>
            <a:pPr>
              <a:spcBef>
                <a:spcPct val="50000"/>
              </a:spcBef>
            </a:pPr>
            <a:r>
              <a:rPr kumimoji="0" lang="en-US" altLang="zh-CN" sz="2400" b="1" i="1">
                <a:latin typeface="Consolas" panose="020B0609020204030204" pitchFamily="49" charset="0"/>
                <a:ea typeface="楷体_GB2312" pitchFamily="49" charset="-122"/>
                <a:cs typeface="Consolas" panose="020B0609020204030204" pitchFamily="49" charset="0"/>
              </a:rPr>
              <a:t>b</a:t>
            </a:r>
            <a:endParaRPr kumimoji="0" lang="en-US" altLang="zh-CN" sz="2400" b="1" i="1">
              <a:latin typeface="Consolas" panose="020B0609020204030204" pitchFamily="49" charset="0"/>
              <a:ea typeface="楷体_GB2312" pitchFamily="49" charset="-122"/>
              <a:cs typeface="Consolas" panose="020B0609020204030204" pitchFamily="49" charset="0"/>
            </a:endParaRPr>
          </a:p>
        </p:txBody>
      </p:sp>
      <p:sp>
        <p:nvSpPr>
          <p:cNvPr id="70663" name="Rectangle 24"/>
          <p:cNvSpPr>
            <a:spLocks noChangeArrowheads="1"/>
          </p:cNvSpPr>
          <p:nvPr/>
        </p:nvSpPr>
        <p:spPr bwMode="auto">
          <a:xfrm>
            <a:off x="2004989" y="2243129"/>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smtClean="0">
                <a:solidFill>
                  <a:srgbClr val="3333FF"/>
                </a:solidFill>
                <a:latin typeface="Consolas" panose="020B0609020204030204" pitchFamily="49" charset="0"/>
                <a:ea typeface="楷体_GB2312" pitchFamily="49" charset="-122"/>
                <a:cs typeface="Consolas" panose="020B0609020204030204" pitchFamily="49" charset="0"/>
              </a:rPr>
              <a:t>13 </a:t>
            </a:r>
            <a:r>
              <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rPr>
              <a:t>17</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70664" name="Rectangle 25"/>
          <p:cNvSpPr>
            <a:spLocks noChangeArrowheads="1"/>
          </p:cNvSpPr>
          <p:nvPr/>
        </p:nvSpPr>
        <p:spPr bwMode="auto">
          <a:xfrm>
            <a:off x="2736878" y="3189293"/>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rPr>
              <a:t>18 19</a:t>
            </a:r>
            <a:endParaRPr kumimoji="0" lang="en-US" altLang="zh-CN" sz="2000" b="1">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70665" name="Line 26"/>
          <p:cNvSpPr>
            <a:spLocks noChangeShapeType="1"/>
          </p:cNvSpPr>
          <p:nvPr/>
        </p:nvSpPr>
        <p:spPr bwMode="auto">
          <a:xfrm flipH="1">
            <a:off x="2178078" y="2613031"/>
            <a:ext cx="360362" cy="57626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0666" name="Line 27"/>
          <p:cNvSpPr>
            <a:spLocks noChangeShapeType="1"/>
          </p:cNvSpPr>
          <p:nvPr/>
        </p:nvSpPr>
        <p:spPr bwMode="auto">
          <a:xfrm>
            <a:off x="2881340" y="2613031"/>
            <a:ext cx="215900" cy="57626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0671" name="Text Box 36"/>
          <p:cNvSpPr txBox="1">
            <a:spLocks noChangeArrowheads="1"/>
          </p:cNvSpPr>
          <p:nvPr/>
        </p:nvSpPr>
        <p:spPr bwMode="auto">
          <a:xfrm>
            <a:off x="720753" y="1892306"/>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70672" name="Line 37"/>
          <p:cNvSpPr>
            <a:spLocks noChangeShapeType="1"/>
          </p:cNvSpPr>
          <p:nvPr/>
        </p:nvSpPr>
        <p:spPr bwMode="auto">
          <a:xfrm flipH="1">
            <a:off x="1657378" y="2571745"/>
            <a:ext cx="557168" cy="18416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grpSp>
        <p:nvGrpSpPr>
          <p:cNvPr id="28" name="组合 27"/>
          <p:cNvGrpSpPr/>
          <p:nvPr/>
        </p:nvGrpSpPr>
        <p:grpSpPr>
          <a:xfrm>
            <a:off x="1214414" y="2252132"/>
            <a:ext cx="3538589" cy="1649412"/>
            <a:chOff x="1214414" y="3136910"/>
            <a:chExt cx="3538589" cy="1649412"/>
          </a:xfrm>
        </p:grpSpPr>
        <p:sp>
          <p:nvSpPr>
            <p:cNvPr id="70674" name="Freeform 40"/>
            <p:cNvSpPr/>
            <p:nvPr/>
          </p:nvSpPr>
          <p:spPr bwMode="auto">
            <a:xfrm>
              <a:off x="1214414" y="3136910"/>
              <a:ext cx="3019425" cy="1649412"/>
            </a:xfrm>
            <a:custGeom>
              <a:avLst/>
              <a:gdLst>
                <a:gd name="T0" fmla="*/ 427 w 1902"/>
                <a:gd name="T1" fmla="*/ 1013 h 1039"/>
                <a:gd name="T2" fmla="*/ 1418 w 1902"/>
                <a:gd name="T3" fmla="*/ 1017 h 1039"/>
                <a:gd name="T4" fmla="*/ 1827 w 1902"/>
                <a:gd name="T5" fmla="*/ 880 h 1039"/>
                <a:gd name="T6" fmla="*/ 1871 w 1902"/>
                <a:gd name="T7" fmla="*/ 833 h 1039"/>
                <a:gd name="T8" fmla="*/ 1895 w 1902"/>
                <a:gd name="T9" fmla="*/ 761 h 1039"/>
                <a:gd name="T10" fmla="*/ 1879 w 1902"/>
                <a:gd name="T11" fmla="*/ 681 h 1039"/>
                <a:gd name="T12" fmla="*/ 1771 w 1902"/>
                <a:gd name="T13" fmla="*/ 541 h 1039"/>
                <a:gd name="T14" fmla="*/ 1835 w 1902"/>
                <a:gd name="T15" fmla="*/ 589 h 1039"/>
                <a:gd name="T16" fmla="*/ 1667 w 1902"/>
                <a:gd name="T17" fmla="*/ 453 h 1039"/>
                <a:gd name="T18" fmla="*/ 1831 w 1902"/>
                <a:gd name="T19" fmla="*/ 577 h 1039"/>
                <a:gd name="T20" fmla="*/ 1328 w 1902"/>
                <a:gd name="T21" fmla="*/ 200 h 1039"/>
                <a:gd name="T22" fmla="*/ 1056 w 1902"/>
                <a:gd name="T23" fmla="*/ 19 h 1039"/>
                <a:gd name="T24" fmla="*/ 891 w 1902"/>
                <a:gd name="T25" fmla="*/ 85 h 1039"/>
                <a:gd name="T26" fmla="*/ 691 w 1902"/>
                <a:gd name="T27" fmla="*/ 345 h 1039"/>
                <a:gd name="T28" fmla="*/ 239 w 1902"/>
                <a:gd name="T29" fmla="*/ 472 h 1039"/>
                <a:gd name="T30" fmla="*/ 55 w 1902"/>
                <a:gd name="T31" fmla="*/ 573 h 1039"/>
                <a:gd name="T32" fmla="*/ 3 w 1902"/>
                <a:gd name="T33" fmla="*/ 785 h 1039"/>
                <a:gd name="T34" fmla="*/ 71 w 1902"/>
                <a:gd name="T35" fmla="*/ 969 h 1039"/>
                <a:gd name="T36" fmla="*/ 247 w 1902"/>
                <a:gd name="T37" fmla="*/ 989 h 1039"/>
                <a:gd name="T38" fmla="*/ 427 w 1902"/>
                <a:gd name="T39" fmla="*/ 1013 h 10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02"/>
                <a:gd name="T61" fmla="*/ 0 h 1039"/>
                <a:gd name="T62" fmla="*/ 1902 w 1902"/>
                <a:gd name="T63" fmla="*/ 1039 h 10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02" h="1039">
                  <a:moveTo>
                    <a:pt x="427" y="1013"/>
                  </a:moveTo>
                  <a:cubicBezTo>
                    <a:pt x="622" y="1018"/>
                    <a:pt x="1185" y="1039"/>
                    <a:pt x="1418" y="1017"/>
                  </a:cubicBezTo>
                  <a:cubicBezTo>
                    <a:pt x="1651" y="995"/>
                    <a:pt x="1752" y="911"/>
                    <a:pt x="1827" y="880"/>
                  </a:cubicBezTo>
                  <a:cubicBezTo>
                    <a:pt x="1902" y="849"/>
                    <a:pt x="1860" y="853"/>
                    <a:pt x="1871" y="833"/>
                  </a:cubicBezTo>
                  <a:cubicBezTo>
                    <a:pt x="1882" y="813"/>
                    <a:pt x="1894" y="786"/>
                    <a:pt x="1895" y="761"/>
                  </a:cubicBezTo>
                  <a:cubicBezTo>
                    <a:pt x="1896" y="736"/>
                    <a:pt x="1900" y="718"/>
                    <a:pt x="1879" y="681"/>
                  </a:cubicBezTo>
                  <a:cubicBezTo>
                    <a:pt x="1858" y="644"/>
                    <a:pt x="1859" y="645"/>
                    <a:pt x="1771" y="541"/>
                  </a:cubicBezTo>
                  <a:cubicBezTo>
                    <a:pt x="1683" y="437"/>
                    <a:pt x="1852" y="604"/>
                    <a:pt x="1835" y="589"/>
                  </a:cubicBezTo>
                  <a:cubicBezTo>
                    <a:pt x="1818" y="574"/>
                    <a:pt x="1668" y="455"/>
                    <a:pt x="1667" y="453"/>
                  </a:cubicBezTo>
                  <a:cubicBezTo>
                    <a:pt x="1666" y="451"/>
                    <a:pt x="1888" y="619"/>
                    <a:pt x="1831" y="577"/>
                  </a:cubicBezTo>
                  <a:cubicBezTo>
                    <a:pt x="1774" y="535"/>
                    <a:pt x="1457" y="293"/>
                    <a:pt x="1328" y="200"/>
                  </a:cubicBezTo>
                  <a:cubicBezTo>
                    <a:pt x="1199" y="107"/>
                    <a:pt x="1129" y="38"/>
                    <a:pt x="1056" y="19"/>
                  </a:cubicBezTo>
                  <a:cubicBezTo>
                    <a:pt x="983" y="0"/>
                    <a:pt x="952" y="31"/>
                    <a:pt x="891" y="85"/>
                  </a:cubicBezTo>
                  <a:cubicBezTo>
                    <a:pt x="830" y="139"/>
                    <a:pt x="800" y="281"/>
                    <a:pt x="691" y="345"/>
                  </a:cubicBezTo>
                  <a:cubicBezTo>
                    <a:pt x="582" y="409"/>
                    <a:pt x="345" y="434"/>
                    <a:pt x="239" y="472"/>
                  </a:cubicBezTo>
                  <a:cubicBezTo>
                    <a:pt x="133" y="510"/>
                    <a:pt x="94" y="521"/>
                    <a:pt x="55" y="573"/>
                  </a:cubicBezTo>
                  <a:cubicBezTo>
                    <a:pt x="16" y="625"/>
                    <a:pt x="0" y="719"/>
                    <a:pt x="3" y="785"/>
                  </a:cubicBezTo>
                  <a:cubicBezTo>
                    <a:pt x="6" y="851"/>
                    <a:pt x="30" y="935"/>
                    <a:pt x="71" y="969"/>
                  </a:cubicBezTo>
                  <a:cubicBezTo>
                    <a:pt x="112" y="1003"/>
                    <a:pt x="188" y="982"/>
                    <a:pt x="247" y="989"/>
                  </a:cubicBezTo>
                  <a:cubicBezTo>
                    <a:pt x="306" y="996"/>
                    <a:pt x="232" y="1008"/>
                    <a:pt x="427" y="1013"/>
                  </a:cubicBezTo>
                  <a:close/>
                </a:path>
              </a:pathLst>
            </a:custGeom>
            <a:solidFill>
              <a:srgbClr val="FFFFFF">
                <a:alpha val="0"/>
              </a:srgbClr>
            </a:solidFill>
            <a:ln w="28575">
              <a:solidFill>
                <a:srgbClr val="9900FF"/>
              </a:solidFill>
              <a:prstDash val="sysDot"/>
              <a:roun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0675" name="Line 41"/>
            <p:cNvSpPr>
              <a:spLocks noChangeShapeType="1"/>
            </p:cNvSpPr>
            <p:nvPr/>
          </p:nvSpPr>
          <p:spPr bwMode="auto">
            <a:xfrm flipH="1">
              <a:off x="3889402" y="3599398"/>
              <a:ext cx="182531" cy="166158"/>
            </a:xfrm>
            <a:prstGeom prst="line">
              <a:avLst/>
            </a:prstGeom>
            <a:noFill/>
            <a:ln w="28575">
              <a:solidFill>
                <a:schemeClr val="tx2"/>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0676" name="Text Box 42"/>
            <p:cNvSpPr txBox="1">
              <a:spLocks noChangeArrowheads="1"/>
            </p:cNvSpPr>
            <p:nvPr/>
          </p:nvSpPr>
          <p:spPr bwMode="auto">
            <a:xfrm>
              <a:off x="3960840" y="3313646"/>
              <a:ext cx="7921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latin typeface="Consolas" panose="020B0609020204030204" pitchFamily="49" charset="0"/>
                  <a:ea typeface="楷体" panose="02010609060101010101" pitchFamily="49" charset="-122"/>
                  <a:cs typeface="Consolas" panose="020B0609020204030204" pitchFamily="49" charset="0"/>
                </a:rPr>
                <a:t>合并</a:t>
              </a:r>
              <a:endParaRPr kumimoji="0" lang="zh-CN" altLang="en-US" sz="2000" b="1" dirty="0">
                <a:latin typeface="Consolas" panose="020B0609020204030204" pitchFamily="49" charset="0"/>
                <a:ea typeface="楷体" panose="02010609060101010101" pitchFamily="49" charset="-122"/>
                <a:cs typeface="Consolas" panose="020B0609020204030204" pitchFamily="49" charset="0"/>
              </a:endParaRPr>
            </a:p>
          </p:txBody>
        </p:sp>
      </p:grpSp>
      <p:sp>
        <p:nvSpPr>
          <p:cNvPr id="22" name="Text Box 2"/>
          <p:cNvSpPr txBox="1">
            <a:spLocks noChangeArrowheads="1"/>
          </p:cNvSpPr>
          <p:nvPr/>
        </p:nvSpPr>
        <p:spPr bwMode="auto">
          <a:xfrm>
            <a:off x="201613" y="333375"/>
            <a:ext cx="8763000" cy="1246495"/>
          </a:xfrm>
          <a:prstGeom prst="rect">
            <a:avLst/>
          </a:prstGeom>
          <a:noFill/>
          <a:ln w="9525">
            <a:noFill/>
            <a:miter lim="800000"/>
          </a:ln>
        </p:spPr>
        <p:txBody>
          <a:bodyPr>
            <a:spAutoFit/>
          </a:bodyPr>
          <a:lstStyle/>
          <a:p>
            <a:pPr algn="just" fontAlgn="ctr">
              <a:lnSpc>
                <a:spcPct val="15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b="1" dirty="0"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假如</a:t>
            </a:r>
            <a:r>
              <a:rPr lang="en-US" altLang="zh-CN" sz="2200" b="1" i="1" smtClean="0">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结点的</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等于</a:t>
            </a:r>
            <a:r>
              <a:rPr lang="en-US" altLang="zh-CN"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Min</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，说明</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删去关键字</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后</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该结点将</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不</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的定义</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。若</a:t>
            </a:r>
            <a:r>
              <a:rPr lang="zh-CN" altLang="en-US" sz="2200" b="1" dirty="0" smtClean="0">
                <a:solidFill>
                  <a:srgbClr val="C00000"/>
                </a:solidFill>
                <a:latin typeface="Consolas" panose="020B0609020204030204" pitchFamily="49" charset="0"/>
                <a:ea typeface="楷体" panose="02010609060101010101" pitchFamily="49" charset="-122"/>
                <a:cs typeface="Consolas" panose="020B0609020204030204" pitchFamily="49" charset="0"/>
              </a:rPr>
              <a:t>不能</a:t>
            </a:r>
            <a:r>
              <a:rPr lang="zh-CN" altLang="en-US" sz="2200" b="1" smtClean="0">
                <a:solidFill>
                  <a:srgbClr val="C00000"/>
                </a:solidFill>
                <a:latin typeface="Consolas" panose="020B0609020204030204" pitchFamily="49" charset="0"/>
                <a:ea typeface="楷体" panose="02010609060101010101" pitchFamily="49" charset="-122"/>
                <a:cs typeface="Consolas" panose="020B0609020204030204" pitchFamily="49" charset="0"/>
              </a:rPr>
              <a:t>从兄弟结点借</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3" name="Text Box 7"/>
          <p:cNvSpPr txBox="1">
            <a:spLocks noChangeArrowheads="1"/>
          </p:cNvSpPr>
          <p:nvPr/>
        </p:nvSpPr>
        <p:spPr bwMode="auto">
          <a:xfrm>
            <a:off x="1482711" y="4000504"/>
            <a:ext cx="12239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删除</a:t>
            </a:r>
            <a:r>
              <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rPr>
              <a:t>15</a:t>
            </a:r>
            <a:endParaRPr kumimoji="0" lang="en-US" altLang="zh-CN" sz="20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4" name="直接箭头连接符 23"/>
          <p:cNvCxnSpPr/>
          <p:nvPr/>
        </p:nvCxnSpPr>
        <p:spPr>
          <a:xfrm rot="16200000" flipV="1">
            <a:off x="2000239" y="3857628"/>
            <a:ext cx="285752" cy="0"/>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5857884" y="2093898"/>
            <a:ext cx="2786082" cy="2049482"/>
            <a:chOff x="5857884" y="2093898"/>
            <a:chExt cx="2786082" cy="2049482"/>
          </a:xfrm>
        </p:grpSpPr>
        <p:sp>
          <p:nvSpPr>
            <p:cNvPr id="70667" name="Text Box 31"/>
            <p:cNvSpPr txBox="1">
              <a:spLocks noChangeArrowheads="1"/>
            </p:cNvSpPr>
            <p:nvPr/>
          </p:nvSpPr>
          <p:spPr bwMode="auto">
            <a:xfrm>
              <a:off x="6289684" y="3711580"/>
              <a:ext cx="647700" cy="369332"/>
            </a:xfrm>
            <a:prstGeom prst="rect">
              <a:avLst/>
            </a:prstGeom>
            <a:noFill/>
            <a:ln w="28575" algn="ctr">
              <a:noFill/>
              <a:miter lim="800000"/>
            </a:ln>
          </p:spPr>
          <p:txBody>
            <a:bodyPr lIns="0" tIns="0" rIns="0" bIns="0">
              <a:spAutoFit/>
            </a:bodyPr>
            <a:lstStyle/>
            <a:p>
              <a:pPr>
                <a:spcBef>
                  <a:spcPct val="50000"/>
                </a:spcBef>
              </a:pPr>
              <a:r>
                <a:rPr kumimoji="0" lang="en-US" altLang="zh-CN" sz="2400" b="1" i="1">
                  <a:latin typeface="Consolas" panose="020B0609020204030204" pitchFamily="49" charset="0"/>
                  <a:ea typeface="楷体_GB2312" pitchFamily="49" charset="-122"/>
                  <a:cs typeface="Consolas" panose="020B0609020204030204" pitchFamily="49" charset="0"/>
                </a:rPr>
                <a:t>b</a:t>
              </a:r>
              <a:endParaRPr kumimoji="0" lang="en-US" altLang="zh-CN" sz="2400" b="1" i="1">
                <a:latin typeface="Consolas" panose="020B0609020204030204" pitchFamily="49" charset="0"/>
                <a:ea typeface="楷体_GB2312" pitchFamily="49" charset="-122"/>
                <a:cs typeface="Consolas" panose="020B0609020204030204" pitchFamily="49" charset="0"/>
              </a:endParaRPr>
            </a:p>
          </p:txBody>
        </p:sp>
        <p:sp>
          <p:nvSpPr>
            <p:cNvPr id="70668" name="Rectangle 32"/>
            <p:cNvSpPr>
              <a:spLocks noChangeArrowheads="1"/>
            </p:cNvSpPr>
            <p:nvPr/>
          </p:nvSpPr>
          <p:spPr bwMode="auto">
            <a:xfrm>
              <a:off x="6146809" y="2703517"/>
              <a:ext cx="1152525"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smtClean="0">
                  <a:solidFill>
                    <a:srgbClr val="3333FF"/>
                  </a:solidFill>
                  <a:latin typeface="Consolas" panose="020B0609020204030204" pitchFamily="49" charset="0"/>
                  <a:ea typeface="楷体_GB2312" pitchFamily="49" charset="-122"/>
                  <a:cs typeface="Consolas" panose="020B0609020204030204" pitchFamily="49" charset="0"/>
                </a:rPr>
                <a:t>13  </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70669" name="Rectangle 33"/>
            <p:cNvSpPr>
              <a:spLocks noChangeArrowheads="1"/>
            </p:cNvSpPr>
            <p:nvPr/>
          </p:nvSpPr>
          <p:spPr bwMode="auto">
            <a:xfrm>
              <a:off x="6865946" y="3640142"/>
              <a:ext cx="1778020" cy="503238"/>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r>
                <a:rPr kumimoji="0" lang="en-US" altLang="zh-CN" sz="2000" b="1" dirty="0" smtClean="0">
                  <a:solidFill>
                    <a:srgbClr val="3333FF"/>
                  </a:solidFill>
                  <a:latin typeface="Consolas" panose="020B0609020204030204" pitchFamily="49" charset="0"/>
                  <a:ea typeface="楷体_GB2312" pitchFamily="49" charset="-122"/>
                  <a:cs typeface="Consolas" panose="020B0609020204030204" pitchFamily="49" charset="0"/>
                </a:rPr>
                <a:t>14 17 </a:t>
              </a:r>
              <a:r>
                <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rPr>
                <a:t>19 20</a:t>
              </a:r>
              <a:endParaRPr kumimoji="0" lang="en-US" altLang="zh-CN" sz="2000" b="1" dirty="0">
                <a:solidFill>
                  <a:srgbClr val="3333FF"/>
                </a:solidFill>
                <a:latin typeface="Consolas" panose="020B0609020204030204" pitchFamily="49" charset="0"/>
                <a:ea typeface="楷体_GB2312" pitchFamily="49" charset="-122"/>
                <a:cs typeface="Consolas" panose="020B0609020204030204" pitchFamily="49" charset="0"/>
              </a:endParaRPr>
            </a:p>
          </p:txBody>
        </p:sp>
        <p:sp>
          <p:nvSpPr>
            <p:cNvPr id="70670" name="Line 35"/>
            <p:cNvSpPr>
              <a:spLocks noChangeShapeType="1"/>
            </p:cNvSpPr>
            <p:nvPr/>
          </p:nvSpPr>
          <p:spPr bwMode="auto">
            <a:xfrm>
              <a:off x="6881810" y="3094030"/>
              <a:ext cx="420699" cy="546112"/>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0673" name="Line 38"/>
            <p:cNvSpPr>
              <a:spLocks noChangeShapeType="1"/>
            </p:cNvSpPr>
            <p:nvPr/>
          </p:nvSpPr>
          <p:spPr bwMode="auto">
            <a:xfrm flipH="1">
              <a:off x="5857884" y="3000372"/>
              <a:ext cx="571504" cy="231783"/>
            </a:xfrm>
            <a:prstGeom prst="line">
              <a:avLst/>
            </a:prstGeom>
            <a:noFill/>
            <a:ln w="28575">
              <a:solidFill>
                <a:srgbClr val="9900FF"/>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25" name="TextBox 24"/>
            <p:cNvSpPr txBox="1"/>
            <p:nvPr/>
          </p:nvSpPr>
          <p:spPr>
            <a:xfrm>
              <a:off x="6596058" y="2093898"/>
              <a:ext cx="2000264"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减少</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个关键字</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7" name="直接箭头连接符 26"/>
            <p:cNvCxnSpPr>
              <a:stCxn id="25" idx="2"/>
            </p:cNvCxnSpPr>
            <p:nvPr/>
          </p:nvCxnSpPr>
          <p:spPr>
            <a:xfrm rot="5400000">
              <a:off x="7367617" y="2436829"/>
              <a:ext cx="171394" cy="28575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grpSp>
      <p:sp>
        <p:nvSpPr>
          <p:cNvPr id="29" name="右箭头 28"/>
          <p:cNvSpPr/>
          <p:nvPr/>
        </p:nvSpPr>
        <p:spPr>
          <a:xfrm>
            <a:off x="4857752" y="3000372"/>
            <a:ext cx="714380" cy="28575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26" name="TextBox 25"/>
          <p:cNvSpPr txBox="1"/>
          <p:nvPr/>
        </p:nvSpPr>
        <p:spPr>
          <a:xfrm>
            <a:off x="3786182" y="4714884"/>
            <a:ext cx="2000264" cy="461665"/>
          </a:xfrm>
          <a:prstGeom prst="rect">
            <a:avLst/>
          </a:prstGeom>
          <a:noFill/>
        </p:spPr>
        <p:txBody>
          <a:bodyPr wrap="square" rtlCol="0">
            <a:spAutoFit/>
          </a:bodyPr>
          <a:lstStyle/>
          <a:p>
            <a:r>
              <a:rPr lang="zh-CN" altLang="en-US" sz="24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删除完成</a:t>
            </a:r>
            <a:endPar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1" name="灯片编号占位符 3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6" name="Text Box 47"/>
          <p:cNvSpPr txBox="1">
            <a:spLocks noChangeArrowheads="1"/>
          </p:cNvSpPr>
          <p:nvPr/>
        </p:nvSpPr>
        <p:spPr bwMode="auto">
          <a:xfrm>
            <a:off x="285720" y="142852"/>
            <a:ext cx="8675688" cy="972574"/>
          </a:xfrm>
          <a:prstGeom prst="rect">
            <a:avLst/>
          </a:prstGeom>
          <a:noFill/>
          <a:ln w="9525">
            <a:noFill/>
            <a:miter lim="800000"/>
          </a:ln>
        </p:spPr>
        <p:txBody>
          <a:bodyPr>
            <a:spAutoFit/>
          </a:bodyPr>
          <a:lstStyle/>
          <a:p>
            <a:pPr algn="just" fontAlgn="ctr">
              <a:lnSpc>
                <a:spcPct val="130000"/>
              </a:lnSpc>
              <a:spcBef>
                <a:spcPct val="50000"/>
              </a:spcBef>
            </a:pP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200" b="1" dirty="0">
                <a:latin typeface="Consolas" panose="020B0609020204030204" pitchFamily="49" charset="0"/>
                <a:ea typeface="楷体" panose="02010609060101010101" pitchFamily="49" charset="-122"/>
                <a:cs typeface="Consolas" panose="020B0609020204030204" pitchFamily="49" charset="0"/>
              </a:rPr>
              <a:t>【</a:t>
            </a:r>
            <a:r>
              <a:rPr lang="zh-CN" altLang="en-US" sz="2200" b="1">
                <a:latin typeface="Consolas" panose="020B0609020204030204" pitchFamily="49" charset="0"/>
                <a:ea typeface="楷体" panose="02010609060101010101" pitchFamily="49" charset="-122"/>
                <a:cs typeface="Consolas" panose="020B0609020204030204" pitchFamily="49" charset="0"/>
              </a:rPr>
              <a:t>例</a:t>
            </a:r>
            <a:r>
              <a:rPr lang="en-US" altLang="zh-CN" sz="2200" b="1" smtClean="0">
                <a:latin typeface="Consolas" panose="020B0609020204030204" pitchFamily="49" charset="0"/>
                <a:ea typeface="楷体" panose="02010609060101010101" pitchFamily="49" charset="-122"/>
                <a:cs typeface="Consolas" panose="020B0609020204030204" pitchFamily="49" charset="0"/>
              </a:rPr>
              <a:t>9-8</a:t>
            </a:r>
            <a:r>
              <a:rPr lang="zh-CN" altLang="en-US" sz="2200" b="1" smtClean="0">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latin typeface="Consolas" panose="020B0609020204030204" pitchFamily="49" charset="0"/>
                <a:ea typeface="楷体" panose="02010609060101010101" pitchFamily="49" charset="-122"/>
                <a:cs typeface="Consolas" panose="020B0609020204030204" pitchFamily="49" charset="0"/>
              </a:rPr>
              <a:t>p344】</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对于前例</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生成</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树，给</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出</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删除</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8</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16</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15</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等</a:t>
            </a:r>
            <a:r>
              <a:rPr lang="en-US" altLang="zh-CN"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关键字的过程。</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727" name="Text Box 48"/>
          <p:cNvSpPr txBox="1">
            <a:spLocks noChangeArrowheads="1"/>
          </p:cNvSpPr>
          <p:nvPr/>
        </p:nvSpPr>
        <p:spPr bwMode="auto">
          <a:xfrm>
            <a:off x="785786" y="1500174"/>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68" name="TextBox 67"/>
          <p:cNvSpPr txBox="1"/>
          <p:nvPr/>
        </p:nvSpPr>
        <p:spPr>
          <a:xfrm>
            <a:off x="2428860" y="1428736"/>
            <a:ext cx="1143008" cy="461665"/>
          </a:xfrm>
          <a:prstGeom prst="rect">
            <a:avLst/>
          </a:prstGeom>
          <a:noFill/>
        </p:spPr>
        <p:txBody>
          <a:bodyPr wrap="square" rtlCol="0">
            <a:spAutoFit/>
          </a:bodyPr>
          <a:lstStyle/>
          <a:p>
            <a:pPr algn="l"/>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 name="TextBox 68"/>
          <p:cNvSpPr txBox="1"/>
          <p:nvPr/>
        </p:nvSpPr>
        <p:spPr>
          <a:xfrm>
            <a:off x="3500430" y="1499380"/>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8</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rot="5400000" flipH="1" flipV="1">
            <a:off x="3548849" y="2047865"/>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428860" y="3500438"/>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7" name="直接箭头连接符 26"/>
          <p:cNvCxnSpPr/>
          <p:nvPr/>
        </p:nvCxnSpPr>
        <p:spPr>
          <a:xfrm rot="10800000" flipV="1">
            <a:off x="1119958" y="3844928"/>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endCxn id="30" idx="0"/>
          </p:cNvCxnSpPr>
          <p:nvPr/>
        </p:nvCxnSpPr>
        <p:spPr>
          <a:xfrm rot="16200000" flipH="1">
            <a:off x="2801528" y="4123139"/>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1714480" y="4643446"/>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0" name="矩形 29"/>
          <p:cNvSpPr/>
          <p:nvPr/>
        </p:nvSpPr>
        <p:spPr>
          <a:xfrm>
            <a:off x="2786050" y="4643446"/>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a:t>
            </a:r>
            <a:r>
              <a:rPr lang="en-US" altLang="zh-CN" sz="2000" b="1" smtClean="0">
                <a:solidFill>
                  <a:srgbClr val="FF0000"/>
                </a:solidFill>
                <a:latin typeface="Consolas" panose="020B0609020204030204" pitchFamily="49" charset="0"/>
                <a:cs typeface="Consolas" panose="020B0609020204030204" pitchFamily="49" charset="0"/>
              </a:rPr>
              <a:t>8</a:t>
            </a:r>
            <a:r>
              <a:rPr lang="en-US" altLang="zh-CN" sz="2000" b="1" smtClean="0">
                <a:solidFill>
                  <a:srgbClr val="3333FF"/>
                </a:solidFill>
                <a:latin typeface="Consolas" panose="020B0609020204030204" pitchFamily="49" charset="0"/>
                <a:cs typeface="Consolas" panose="020B0609020204030204" pitchFamily="49" charset="0"/>
              </a:rPr>
              <a:t> </a:t>
            </a:r>
            <a:r>
              <a:rPr lang="en-US" altLang="zh-CN" sz="2000" b="1" dirty="0" smtClean="0">
                <a:solidFill>
                  <a:srgbClr val="3333FF"/>
                </a:solidFill>
                <a:latin typeface="Consolas" panose="020B0609020204030204" pitchFamily="49" charset="0"/>
                <a:cs typeface="Consolas" panose="020B0609020204030204" pitchFamily="49" charset="0"/>
              </a:rPr>
              <a:t>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1" name="矩形 30"/>
          <p:cNvSpPr/>
          <p:nvPr/>
        </p:nvSpPr>
        <p:spPr>
          <a:xfrm>
            <a:off x="642910" y="464344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2" name="直接箭头连接符 31"/>
          <p:cNvCxnSpPr>
            <a:endCxn id="29" idx="0"/>
          </p:cNvCxnSpPr>
          <p:nvPr/>
        </p:nvCxnSpPr>
        <p:spPr>
          <a:xfrm rot="5400000">
            <a:off x="2091119" y="3912794"/>
            <a:ext cx="782641" cy="67866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214810" y="464344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5429256" y="464344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14 15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5" name="矩形 34"/>
          <p:cNvSpPr/>
          <p:nvPr/>
        </p:nvSpPr>
        <p:spPr>
          <a:xfrm>
            <a:off x="6643702" y="4643446"/>
            <a:ext cx="1643074"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17 18 19 20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6" name="矩形 35"/>
          <p:cNvSpPr/>
          <p:nvPr/>
        </p:nvSpPr>
        <p:spPr>
          <a:xfrm>
            <a:off x="3857620" y="2571744"/>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7" name="矩形 36"/>
          <p:cNvSpPr/>
          <p:nvPr/>
        </p:nvSpPr>
        <p:spPr>
          <a:xfrm>
            <a:off x="5143504" y="3500438"/>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13  16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38" name="直接箭头连接符 37"/>
          <p:cNvCxnSpPr/>
          <p:nvPr/>
        </p:nvCxnSpPr>
        <p:spPr>
          <a:xfrm rot="5400000">
            <a:off x="4625610" y="3931876"/>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34" idx="0"/>
          </p:cNvCxnSpPr>
          <p:nvPr/>
        </p:nvCxnSpPr>
        <p:spPr>
          <a:xfrm rot="16200000" flipH="1">
            <a:off x="5385996" y="4135839"/>
            <a:ext cx="785818" cy="2293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35" idx="0"/>
          </p:cNvCxnSpPr>
          <p:nvPr/>
        </p:nvCxnSpPr>
        <p:spPr>
          <a:xfrm>
            <a:off x="6000760" y="3857628"/>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6" idx="0"/>
          </p:cNvCxnSpPr>
          <p:nvPr/>
        </p:nvCxnSpPr>
        <p:spPr>
          <a:xfrm rot="10800000" flipV="1">
            <a:off x="2821770" y="2928934"/>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37" idx="0"/>
          </p:cNvCxnSpPr>
          <p:nvPr/>
        </p:nvCxnSpPr>
        <p:spPr>
          <a:xfrm>
            <a:off x="4508500" y="2908296"/>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786050" y="4643446"/>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4" name="灯片编号占位符 43"/>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30"/>
                                        </p:tgtEl>
                                      </p:cBhvr>
                                    </p:animEffect>
                                    <p:animScale>
                                      <p:cBhvr>
                                        <p:cTn id="13" dur="250" autoRev="1" fill="hold"/>
                                        <p:tgtEl>
                                          <p:spTgt spid="30"/>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30" grpId="0" bldLvl="0" animBg="1"/>
      <p:bldP spid="43"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7" name="Text Box 48"/>
          <p:cNvSpPr txBox="1">
            <a:spLocks noChangeArrowheads="1"/>
          </p:cNvSpPr>
          <p:nvPr/>
        </p:nvSpPr>
        <p:spPr bwMode="auto">
          <a:xfrm>
            <a:off x="642910" y="785794"/>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68" name="TextBox 67"/>
          <p:cNvSpPr txBox="1"/>
          <p:nvPr/>
        </p:nvSpPr>
        <p:spPr>
          <a:xfrm>
            <a:off x="2285984" y="714356"/>
            <a:ext cx="1143008" cy="461665"/>
          </a:xfrm>
          <a:prstGeom prst="rect">
            <a:avLst/>
          </a:prstGeom>
          <a:noFill/>
        </p:spPr>
        <p:txBody>
          <a:bodyPr wrap="square" rtlCol="0">
            <a:spAutoFit/>
          </a:bodyPr>
          <a:lstStyle/>
          <a:p>
            <a:pPr algn="l"/>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 name="TextBox 68"/>
          <p:cNvSpPr txBox="1"/>
          <p:nvPr/>
        </p:nvSpPr>
        <p:spPr>
          <a:xfrm>
            <a:off x="3357554" y="785000"/>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16</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rot="5400000" flipH="1" flipV="1">
            <a:off x="3405973" y="1333485"/>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428860" y="2571744"/>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5" name="直接箭头连接符 24"/>
          <p:cNvCxnSpPr/>
          <p:nvPr/>
        </p:nvCxnSpPr>
        <p:spPr>
          <a:xfrm rot="10800000" flipV="1">
            <a:off x="1119960" y="2928934"/>
            <a:ext cx="1380339" cy="7731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rot="16200000" flipH="1">
            <a:off x="2801528" y="3194445"/>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714480" y="371475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9" name="矩形 28"/>
          <p:cNvSpPr/>
          <p:nvPr/>
        </p:nvSpPr>
        <p:spPr>
          <a:xfrm>
            <a:off x="642910" y="37147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a:endCxn id="27" idx="0"/>
          </p:cNvCxnSpPr>
          <p:nvPr/>
        </p:nvCxnSpPr>
        <p:spPr>
          <a:xfrm rot="5400000">
            <a:off x="2091119" y="2984100"/>
            <a:ext cx="782642" cy="67866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214810" y="37147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2" name="矩形 31"/>
          <p:cNvSpPr/>
          <p:nvPr/>
        </p:nvSpPr>
        <p:spPr>
          <a:xfrm>
            <a:off x="5429256" y="371475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14 15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3" name="矩形 32"/>
          <p:cNvSpPr/>
          <p:nvPr/>
        </p:nvSpPr>
        <p:spPr>
          <a:xfrm>
            <a:off x="6643702" y="3714752"/>
            <a:ext cx="192882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   18 </a:t>
            </a:r>
            <a:r>
              <a:rPr lang="en-US" altLang="zh-CN" sz="2000" b="1" dirty="0" smtClean="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3857620" y="164305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5" name="矩形 34"/>
          <p:cNvSpPr/>
          <p:nvPr/>
        </p:nvSpPr>
        <p:spPr>
          <a:xfrm>
            <a:off x="5143504" y="257174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13  </a:t>
            </a:r>
            <a:r>
              <a:rPr lang="en-US" altLang="zh-CN" sz="2000" b="1" dirty="0" smtClean="0">
                <a:solidFill>
                  <a:srgbClr val="FF0000"/>
                </a:solidFill>
                <a:latin typeface="Consolas" panose="020B0609020204030204" pitchFamily="49" charset="0"/>
                <a:cs typeface="Consolas" panose="020B0609020204030204" pitchFamily="49" charset="0"/>
              </a:rPr>
              <a:t>16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39" name="直接箭头连接符 38"/>
          <p:cNvCxnSpPr>
            <a:endCxn id="24" idx="0"/>
          </p:cNvCxnSpPr>
          <p:nvPr/>
        </p:nvCxnSpPr>
        <p:spPr>
          <a:xfrm rot="10800000" flipV="1">
            <a:off x="2821770" y="2000240"/>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35" idx="0"/>
          </p:cNvCxnSpPr>
          <p:nvPr/>
        </p:nvCxnSpPr>
        <p:spPr>
          <a:xfrm>
            <a:off x="4508500" y="1979602"/>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2786050" y="371475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42" name="TextBox 41"/>
          <p:cNvSpPr txBox="1"/>
          <p:nvPr/>
        </p:nvSpPr>
        <p:spPr>
          <a:xfrm>
            <a:off x="6656402" y="3776608"/>
            <a:ext cx="468000" cy="400110"/>
          </a:xfrm>
          <a:prstGeom prst="rect">
            <a:avLst/>
          </a:prstGeom>
          <a:ln>
            <a:noFill/>
          </a:ln>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17</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28" name="矩形 27"/>
          <p:cNvSpPr/>
          <p:nvPr/>
        </p:nvSpPr>
        <p:spPr>
          <a:xfrm>
            <a:off x="5143504" y="257174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13  </a:t>
            </a:r>
            <a:r>
              <a:rPr lang="en-US" altLang="zh-CN" sz="2000" b="1" smtClean="0">
                <a:solidFill>
                  <a:srgbClr val="FF0000"/>
                </a:solidFill>
                <a:latin typeface="Consolas" panose="020B0609020204030204" pitchFamily="49" charset="0"/>
                <a:cs typeface="Consolas" panose="020B0609020204030204" pitchFamily="49" charset="0"/>
              </a:rPr>
              <a:t>17</a:t>
            </a:r>
            <a:endParaRPr lang="zh-CN" altLang="en-US" sz="2000" b="1" dirty="0">
              <a:solidFill>
                <a:srgbClr val="FF0000"/>
              </a:solidFill>
              <a:latin typeface="Consolas" panose="020B0609020204030204" pitchFamily="49" charset="0"/>
              <a:cs typeface="Consolas" panose="020B0609020204030204" pitchFamily="49" charset="0"/>
            </a:endParaRPr>
          </a:p>
        </p:txBody>
      </p:sp>
      <p:grpSp>
        <p:nvGrpSpPr>
          <p:cNvPr id="45" name="组合 44"/>
          <p:cNvGrpSpPr/>
          <p:nvPr/>
        </p:nvGrpSpPr>
        <p:grpSpPr>
          <a:xfrm>
            <a:off x="6500826" y="3214686"/>
            <a:ext cx="2214578" cy="2357454"/>
            <a:chOff x="6429388" y="1000108"/>
            <a:chExt cx="2214578" cy="2357454"/>
          </a:xfrm>
        </p:grpSpPr>
        <p:sp>
          <p:nvSpPr>
            <p:cNvPr id="43" name="椭圆 42"/>
            <p:cNvSpPr/>
            <p:nvPr/>
          </p:nvSpPr>
          <p:spPr>
            <a:xfrm>
              <a:off x="6429388" y="1000108"/>
              <a:ext cx="2214578" cy="1571636"/>
            </a:xfrm>
            <a:prstGeom prst="ellipse">
              <a:avLst/>
            </a:prstGeom>
            <a:solidFill>
              <a:schemeClr val="accent1">
                <a:alpha val="0"/>
              </a:schemeClr>
            </a:solidFill>
            <a:ln>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4" name="TextBox 43"/>
            <p:cNvSpPr txBox="1"/>
            <p:nvPr/>
          </p:nvSpPr>
          <p:spPr>
            <a:xfrm>
              <a:off x="6715140" y="2649676"/>
              <a:ext cx="1785950" cy="707886"/>
            </a:xfrm>
            <a:prstGeom prst="rect">
              <a:avLst/>
            </a:prstGeom>
            <a:noFill/>
          </p:spPr>
          <p:txBody>
            <a:bodyPr wrap="square" rtlCol="0">
              <a:spAutoFit/>
            </a:bodyPr>
            <a:lstStyle/>
            <a:p>
              <a:r>
                <a:rPr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右边子树找最小关键字</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46" name="灯片编号占位符 45"/>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cxnSp>
        <p:nvCxnSpPr>
          <p:cNvPr id="37" name="直接箭头连接符 36"/>
          <p:cNvCxnSpPr>
            <a:endCxn id="32" idx="0"/>
          </p:cNvCxnSpPr>
          <p:nvPr/>
        </p:nvCxnSpPr>
        <p:spPr>
          <a:xfrm rot="16200000" flipH="1">
            <a:off x="5385996" y="3207145"/>
            <a:ext cx="785818" cy="2293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rot="5400000">
            <a:off x="4564491" y="3064301"/>
            <a:ext cx="785818" cy="51508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33" idx="0"/>
          </p:cNvCxnSpPr>
          <p:nvPr/>
        </p:nvCxnSpPr>
        <p:spPr>
          <a:xfrm>
            <a:off x="6072198" y="2928934"/>
            <a:ext cx="1535917"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35"/>
                                        </p:tgtEl>
                                      </p:cBhvr>
                                    </p:animEffect>
                                    <p:animScale>
                                      <p:cBhvr>
                                        <p:cTn id="13" dur="250" autoRev="1" fill="hold"/>
                                        <p:tgtEl>
                                          <p:spTgt spid="35"/>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42"/>
                                        </p:tgtEl>
                                      </p:cBhvr>
                                    </p:animEffect>
                                    <p:animScale>
                                      <p:cBhvr>
                                        <p:cTn id="22" dur="250" autoRev="1" fill="hold"/>
                                        <p:tgtEl>
                                          <p:spTgt spid="42"/>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1" nodeType="clickEffect">
                                  <p:stCondLst>
                                    <p:cond delay="0"/>
                                  </p:stCondLst>
                                  <p:childTnLst>
                                    <p:animEffect transition="out" filter="wipe(down)">
                                      <p:cBhvr>
                                        <p:cTn id="26" dur="500"/>
                                        <p:tgtEl>
                                          <p:spTgt spid="42"/>
                                        </p:tgtEl>
                                      </p:cBhvr>
                                    </p:animEffect>
                                    <p:set>
                                      <p:cBhvr>
                                        <p:cTn id="27" dur="1" fill="hold">
                                          <p:stCondLst>
                                            <p:cond delay="499"/>
                                          </p:stCondLst>
                                        </p:cTn>
                                        <p:tgtEl>
                                          <p:spTgt spid="4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35" grpId="0" bldLvl="0" animBg="1"/>
      <p:bldP spid="42" grpId="0" bldLvl="0" animBg="1"/>
      <p:bldP spid="42" grpId="1" bldLvl="0" animBg="1"/>
      <p:bldP spid="28"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7" name="Text Box 48"/>
          <p:cNvSpPr txBox="1">
            <a:spLocks noChangeArrowheads="1"/>
          </p:cNvSpPr>
          <p:nvPr/>
        </p:nvSpPr>
        <p:spPr bwMode="auto">
          <a:xfrm>
            <a:off x="571472" y="285728"/>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68" name="TextBox 67"/>
          <p:cNvSpPr txBox="1"/>
          <p:nvPr/>
        </p:nvSpPr>
        <p:spPr>
          <a:xfrm>
            <a:off x="2214546" y="214290"/>
            <a:ext cx="1143008" cy="461665"/>
          </a:xfrm>
          <a:prstGeom prst="rect">
            <a:avLst/>
          </a:prstGeom>
          <a:noFill/>
        </p:spPr>
        <p:txBody>
          <a:bodyPr wrap="square" rtlCol="0">
            <a:spAutoFit/>
          </a:bodyPr>
          <a:lstStyle/>
          <a:p>
            <a:pPr algn="l"/>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 name="TextBox 68"/>
          <p:cNvSpPr txBox="1"/>
          <p:nvPr/>
        </p:nvSpPr>
        <p:spPr>
          <a:xfrm>
            <a:off x="3286116" y="284934"/>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15</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rot="5400000" flipH="1" flipV="1">
            <a:off x="3334535" y="833419"/>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643174" y="1643050"/>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5" name="直接箭头连接符 24"/>
          <p:cNvCxnSpPr/>
          <p:nvPr/>
        </p:nvCxnSpPr>
        <p:spPr>
          <a:xfrm rot="10800000" flipV="1">
            <a:off x="1334272" y="1987540"/>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rot="16200000" flipH="1">
            <a:off x="3015842" y="2265751"/>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928794" y="2786058"/>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9" name="矩形 28"/>
          <p:cNvSpPr/>
          <p:nvPr/>
        </p:nvSpPr>
        <p:spPr>
          <a:xfrm>
            <a:off x="857224" y="278605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a:endCxn id="27" idx="0"/>
          </p:cNvCxnSpPr>
          <p:nvPr/>
        </p:nvCxnSpPr>
        <p:spPr>
          <a:xfrm rot="5400000">
            <a:off x="2305433" y="2055406"/>
            <a:ext cx="782642" cy="67866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429124" y="2786058"/>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2" name="矩形 31"/>
          <p:cNvSpPr/>
          <p:nvPr/>
        </p:nvSpPr>
        <p:spPr>
          <a:xfrm>
            <a:off x="5547080" y="2786058"/>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14  </a:t>
            </a:r>
            <a:r>
              <a:rPr lang="en-US" altLang="zh-CN" sz="2000" b="1" dirty="0" smtClean="0">
                <a:solidFill>
                  <a:srgbClr val="FF0000"/>
                </a:solidFill>
                <a:latin typeface="Consolas" panose="020B0609020204030204" pitchFamily="49" charset="0"/>
                <a:cs typeface="Consolas" panose="020B0609020204030204" pitchFamily="49" charset="0"/>
              </a:rPr>
              <a:t>15</a:t>
            </a:r>
            <a:endParaRPr lang="zh-CN" altLang="en-US" sz="2000" b="1" dirty="0">
              <a:solidFill>
                <a:srgbClr val="FF0000"/>
              </a:solidFill>
              <a:latin typeface="Consolas" panose="020B0609020204030204" pitchFamily="49" charset="0"/>
              <a:cs typeface="Consolas" panose="020B0609020204030204" pitchFamily="49" charset="0"/>
            </a:endParaRPr>
          </a:p>
        </p:txBody>
      </p:sp>
      <p:sp>
        <p:nvSpPr>
          <p:cNvPr id="33" name="矩形 32"/>
          <p:cNvSpPr/>
          <p:nvPr/>
        </p:nvSpPr>
        <p:spPr>
          <a:xfrm>
            <a:off x="6858016" y="2786058"/>
            <a:ext cx="157163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   19 </a:t>
            </a:r>
            <a:r>
              <a:rPr lang="en-US" altLang="zh-CN" sz="2000" b="1" dirty="0" smtClean="0">
                <a:solidFill>
                  <a:srgbClr val="3333FF"/>
                </a:solidFill>
                <a:latin typeface="Consolas" panose="020B0609020204030204" pitchFamily="49" charset="0"/>
                <a:cs typeface="Consolas" panose="020B0609020204030204" pitchFamily="49" charset="0"/>
              </a:rPr>
              <a:t>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4071934" y="714356"/>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5" name="矩形 34"/>
          <p:cNvSpPr/>
          <p:nvPr/>
        </p:nvSpPr>
        <p:spPr>
          <a:xfrm>
            <a:off x="5357818" y="1643050"/>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l"/>
            <a:r>
              <a:rPr lang="en-US" altLang="zh-CN" sz="2000" b="1" smtClean="0">
                <a:solidFill>
                  <a:srgbClr val="3333FF"/>
                </a:solidFill>
                <a:latin typeface="Consolas" panose="020B0609020204030204" pitchFamily="49" charset="0"/>
                <a:cs typeface="Consolas" panose="020B0609020204030204" pitchFamily="49" charset="0"/>
              </a:rPr>
              <a:t> </a:t>
            </a:r>
            <a:r>
              <a:rPr lang="en-US" altLang="zh-CN" sz="2000" b="1" dirty="0" smtClean="0">
                <a:solidFill>
                  <a:srgbClr val="3333FF"/>
                </a:solidFill>
                <a:latin typeface="Consolas" panose="020B0609020204030204" pitchFamily="49" charset="0"/>
                <a:cs typeface="Consolas" panose="020B0609020204030204" pitchFamily="49" charset="0"/>
              </a:rPr>
              <a:t>13</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6" name="直接箭头连接符 35"/>
          <p:cNvCxnSpPr/>
          <p:nvPr/>
        </p:nvCxnSpPr>
        <p:spPr>
          <a:xfrm rot="5400000">
            <a:off x="4839924" y="2074488"/>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endCxn id="32" idx="0"/>
          </p:cNvCxnSpPr>
          <p:nvPr/>
        </p:nvCxnSpPr>
        <p:spPr>
          <a:xfrm rot="16200000" flipH="1">
            <a:off x="5575257" y="2278450"/>
            <a:ext cx="785818" cy="22939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33" idx="0"/>
          </p:cNvCxnSpPr>
          <p:nvPr/>
        </p:nvCxnSpPr>
        <p:spPr>
          <a:xfrm>
            <a:off x="6357950" y="2000240"/>
            <a:ext cx="1285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4" idx="0"/>
          </p:cNvCxnSpPr>
          <p:nvPr/>
        </p:nvCxnSpPr>
        <p:spPr>
          <a:xfrm rot="10800000" flipV="1">
            <a:off x="3036084" y="1071546"/>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35" idx="0"/>
          </p:cNvCxnSpPr>
          <p:nvPr/>
        </p:nvCxnSpPr>
        <p:spPr>
          <a:xfrm>
            <a:off x="4722814" y="1050908"/>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3000364" y="2786058"/>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8" name="TextBox 27"/>
          <p:cNvSpPr txBox="1"/>
          <p:nvPr/>
        </p:nvSpPr>
        <p:spPr>
          <a:xfrm>
            <a:off x="6902782" y="2839976"/>
            <a:ext cx="468000" cy="40011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18</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5935988" y="1696968"/>
            <a:ext cx="468000" cy="400110"/>
          </a:xfrm>
          <a:prstGeom prst="rect">
            <a:avLst/>
          </a:prstGeom>
          <a:ln>
            <a:noFill/>
          </a:ln>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17</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灯片编号占位符 41"/>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32"/>
                                        </p:tgtEl>
                                      </p:cBhvr>
                                    </p:animEffect>
                                    <p:animScale>
                                      <p:cBhvr>
                                        <p:cTn id="13" dur="250" autoRev="1" fill="hold"/>
                                        <p:tgtEl>
                                          <p:spTgt spid="32"/>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0" nodeType="clickEffect">
                                  <p:stCondLst>
                                    <p:cond delay="0"/>
                                  </p:stCondLst>
                                  <p:childTnLst>
                                    <p:animMotion origin="layout" path="M -0.00382 -0.00995 C -0.00347 -0.00625 -0.00538 -0.01481 -0.00139 0.01482 C 0.00261 0.04444 0.01545 0.13588 0.01979 0.16782 " pathEditMode="relative" rAng="0" ptsTypes="aaa">
                                      <p:cBhvr>
                                        <p:cTn id="17" dur="2000" fill="hold"/>
                                        <p:tgtEl>
                                          <p:spTgt spid="43"/>
                                        </p:tgtEl>
                                        <p:attrNameLst>
                                          <p:attrName>ppt_x</p:attrName>
                                          <p:attrName>ppt_y</p:attrName>
                                        </p:attrNameLst>
                                      </p:cBhvr>
                                      <p:rCtr x="11" y="86"/>
                                    </p:animMotion>
                                  </p:childTnLst>
                                </p:cTn>
                              </p:par>
                            </p:childTnLst>
                          </p:cTn>
                        </p:par>
                      </p:childTnLst>
                    </p:cTn>
                  </p:par>
                  <p:par>
                    <p:cTn id="18" fill="hold">
                      <p:stCondLst>
                        <p:cond delay="indefinite"/>
                      </p:stCondLst>
                      <p:childTnLst>
                        <p:par>
                          <p:cTn id="19" fill="hold">
                            <p:stCondLst>
                              <p:cond delay="0"/>
                            </p:stCondLst>
                            <p:childTnLst>
                              <p:par>
                                <p:cTn id="20" presetID="0" presetClass="path" presetSubtype="0" accel="50000" decel="50000" fill="hold" grpId="0" nodeType="clickEffect">
                                  <p:stCondLst>
                                    <p:cond delay="0"/>
                                  </p:stCondLst>
                                  <p:childTnLst>
                                    <p:animMotion origin="layout" path="M -0.01215 -0.0132 C -0.01493 -0.03542 -0.01823 -0.05764 -0.03437 -0.08357 C -0.05052 -0.10949 -0.09392 -0.15139 -0.10955 -0.16922 " pathEditMode="relative" rAng="0" ptsTypes="aaa">
                                      <p:cBhvr>
                                        <p:cTn id="21" dur="2000" fill="hold"/>
                                        <p:tgtEl>
                                          <p:spTgt spid="28"/>
                                        </p:tgtEl>
                                        <p:attrNameLst>
                                          <p:attrName>ppt_x</p:attrName>
                                          <p:attrName>ppt_y</p:attrName>
                                        </p:attrNameLst>
                                      </p:cBhvr>
                                      <p:rCtr x="-49" y="-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32" grpId="0" bldLvl="0" animBg="1"/>
      <p:bldP spid="28" grpId="0" bldLvl="0" animBg="1"/>
      <p:bldP spid="43"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7" name="Text Box 48"/>
          <p:cNvSpPr txBox="1">
            <a:spLocks noChangeArrowheads="1"/>
          </p:cNvSpPr>
          <p:nvPr/>
        </p:nvSpPr>
        <p:spPr bwMode="auto">
          <a:xfrm>
            <a:off x="428596" y="142852"/>
            <a:ext cx="1152525" cy="369332"/>
          </a:xfrm>
          <a:prstGeom prst="rect">
            <a:avLst/>
          </a:prstGeom>
          <a:noFill/>
          <a:ln w="28575" algn="ctr">
            <a:noFill/>
            <a:miter lim="800000"/>
          </a:ln>
        </p:spPr>
        <p:txBody>
          <a:bodyPr lIns="0" tIns="0" rIns="0" bIns="0">
            <a:spAutoFit/>
          </a:bodyPr>
          <a:lstStyle/>
          <a:p>
            <a:pPr>
              <a:spcBef>
                <a:spcPct val="50000"/>
              </a:spcBef>
            </a:pPr>
            <a:r>
              <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rPr>
              <a:t>Min=2</a:t>
            </a:r>
            <a:endParaRPr lang="en-US" altLang="zh-CN" sz="2400" b="1" dirty="0">
              <a:solidFill>
                <a:srgbClr val="FF00FF"/>
              </a:solidFill>
              <a:latin typeface="Consolas" panose="020B0609020204030204" pitchFamily="49" charset="0"/>
              <a:ea typeface="楷体_GB2312" pitchFamily="49" charset="-122"/>
              <a:cs typeface="Consolas" panose="020B0609020204030204" pitchFamily="49" charset="0"/>
            </a:endParaRPr>
          </a:p>
        </p:txBody>
      </p:sp>
      <p:sp>
        <p:nvSpPr>
          <p:cNvPr id="68" name="TextBox 67"/>
          <p:cNvSpPr txBox="1"/>
          <p:nvPr/>
        </p:nvSpPr>
        <p:spPr>
          <a:xfrm>
            <a:off x="2071670" y="71414"/>
            <a:ext cx="1143008" cy="461665"/>
          </a:xfrm>
          <a:prstGeom prst="rect">
            <a:avLst/>
          </a:prstGeom>
          <a:noFill/>
        </p:spPr>
        <p:txBody>
          <a:bodyPr wrap="square" rtlCol="0">
            <a:spAutoFit/>
          </a:bodyPr>
          <a:lstStyle/>
          <a:p>
            <a:pPr algn="l"/>
            <a:r>
              <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删除：</a:t>
            </a:r>
            <a:endParaRPr lang="zh-CN" altLang="en-US" sz="24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69" name="TextBox 68"/>
          <p:cNvSpPr txBox="1"/>
          <p:nvPr/>
        </p:nvSpPr>
        <p:spPr>
          <a:xfrm>
            <a:off x="3143240" y="142058"/>
            <a:ext cx="428628" cy="369332"/>
          </a:xfrm>
          <a:prstGeom prst="rect">
            <a:avLst/>
          </a:prstGeom>
          <a:noFill/>
        </p:spPr>
        <p:txBody>
          <a:bodyPr wrap="square" lIns="0" tIns="0" rIns="0" bIns="0" rtlCol="0">
            <a:spAutoFit/>
          </a:bodyPr>
          <a:lstStyle/>
          <a:p>
            <a:r>
              <a:rPr lang="en-US" altLang="zh-CN" sz="2400" b="1" dirty="0" smtClean="0">
                <a:solidFill>
                  <a:srgbClr val="3333FF"/>
                </a:solidFill>
                <a:latin typeface="Consolas" panose="020B0609020204030204" pitchFamily="49" charset="0"/>
                <a:cs typeface="Consolas" panose="020B0609020204030204" pitchFamily="49" charset="0"/>
              </a:rPr>
              <a:t>4</a:t>
            </a:r>
            <a:endParaRPr lang="zh-CN" altLang="en-US" sz="2400" b="1" dirty="0">
              <a:solidFill>
                <a:srgbClr val="3333FF"/>
              </a:solidFill>
              <a:latin typeface="Consolas" panose="020B0609020204030204" pitchFamily="49" charset="0"/>
              <a:cs typeface="Consolas" panose="020B0609020204030204" pitchFamily="49" charset="0"/>
            </a:endParaRPr>
          </a:p>
        </p:txBody>
      </p:sp>
      <p:cxnSp>
        <p:nvCxnSpPr>
          <p:cNvPr id="70" name="直接箭头连接符 69"/>
          <p:cNvCxnSpPr/>
          <p:nvPr/>
        </p:nvCxnSpPr>
        <p:spPr>
          <a:xfrm rot="5400000" flipH="1" flipV="1">
            <a:off x="3191659" y="690543"/>
            <a:ext cx="357984" cy="794"/>
          </a:xfrm>
          <a:prstGeom prst="straightConnector1">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500298" y="1500174"/>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3  6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25" name="直接箭头连接符 24"/>
          <p:cNvCxnSpPr/>
          <p:nvPr/>
        </p:nvCxnSpPr>
        <p:spPr>
          <a:xfrm rot="10800000" flipV="1">
            <a:off x="1191396" y="1844664"/>
            <a:ext cx="146447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rot="16200000" flipH="1">
            <a:off x="2872966" y="2122875"/>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785918" y="2643182"/>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FF0000"/>
                </a:solidFill>
                <a:latin typeface="Consolas" panose="020B0609020204030204" pitchFamily="49" charset="0"/>
                <a:cs typeface="Consolas" panose="020B0609020204030204" pitchFamily="49" charset="0"/>
              </a:rPr>
              <a:t>4</a:t>
            </a:r>
            <a:r>
              <a:rPr lang="en-US" altLang="zh-CN" sz="2000" b="1" dirty="0" smtClean="0">
                <a:solidFill>
                  <a:srgbClr val="3333FF"/>
                </a:solidFill>
                <a:latin typeface="Consolas" panose="020B0609020204030204" pitchFamily="49" charset="0"/>
                <a:cs typeface="Consolas" panose="020B0609020204030204" pitchFamily="49" charset="0"/>
              </a:rPr>
              <a:t>  5</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29" name="矩形 28"/>
          <p:cNvSpPr/>
          <p:nvPr/>
        </p:nvSpPr>
        <p:spPr>
          <a:xfrm>
            <a:off x="714348" y="264318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0" name="直接箭头连接符 29"/>
          <p:cNvCxnSpPr>
            <a:endCxn id="27" idx="0"/>
          </p:cNvCxnSpPr>
          <p:nvPr/>
        </p:nvCxnSpPr>
        <p:spPr>
          <a:xfrm rot="5400000">
            <a:off x="2162557" y="1912530"/>
            <a:ext cx="782642" cy="67866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4286248" y="264318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2" name="矩形 31"/>
          <p:cNvSpPr/>
          <p:nvPr/>
        </p:nvSpPr>
        <p:spPr>
          <a:xfrm>
            <a:off x="5500694" y="264318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14 17</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3" name="矩形 32"/>
          <p:cNvSpPr/>
          <p:nvPr/>
        </p:nvSpPr>
        <p:spPr>
          <a:xfrm>
            <a:off x="6786578" y="2643182"/>
            <a:ext cx="12144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4" name="矩形 33"/>
          <p:cNvSpPr/>
          <p:nvPr/>
        </p:nvSpPr>
        <p:spPr>
          <a:xfrm>
            <a:off x="3929058" y="57148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35" name="矩形 34"/>
          <p:cNvSpPr/>
          <p:nvPr/>
        </p:nvSpPr>
        <p:spPr>
          <a:xfrm>
            <a:off x="5214942" y="1500174"/>
            <a:ext cx="1143008" cy="500066"/>
          </a:xfrm>
          <a:prstGeom prst="rect">
            <a:avLst/>
          </a:prstGeom>
        </p:spPr>
        <p:style>
          <a:lnRef idx="1">
            <a:schemeClr val="accent5"/>
          </a:lnRef>
          <a:fillRef idx="2">
            <a:schemeClr val="accent5"/>
          </a:fillRef>
          <a:effectRef idx="1">
            <a:schemeClr val="accent5"/>
          </a:effectRef>
          <a:fontRef idx="minor">
            <a:schemeClr val="dk1"/>
          </a:fontRef>
        </p:style>
        <p:txBody>
          <a:bodyPr lIns="0" rIns="0" rtlCol="0" anchor="ctr"/>
          <a:lstStyle/>
          <a:p>
            <a:pPr algn="l"/>
            <a:r>
              <a:rPr lang="en-US" altLang="zh-CN" sz="2000" b="1" smtClean="0">
                <a:solidFill>
                  <a:srgbClr val="3333FF"/>
                </a:solidFill>
                <a:latin typeface="Consolas" panose="020B0609020204030204" pitchFamily="49" charset="0"/>
                <a:cs typeface="Consolas" panose="020B0609020204030204" pitchFamily="49" charset="0"/>
              </a:rPr>
              <a:t>  13 </a:t>
            </a:r>
            <a:r>
              <a:rPr lang="en-US" altLang="zh-CN" sz="2000" b="1" dirty="0" smtClean="0">
                <a:solidFill>
                  <a:srgbClr val="3333FF"/>
                </a:solidFill>
                <a:latin typeface="Consolas" panose="020B0609020204030204" pitchFamily="49" charset="0"/>
                <a:cs typeface="Consolas" panose="020B0609020204030204" pitchFamily="49" charset="0"/>
              </a:rPr>
              <a:t>18</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36" name="直接箭头连接符 35"/>
          <p:cNvCxnSpPr/>
          <p:nvPr/>
        </p:nvCxnSpPr>
        <p:spPr>
          <a:xfrm rot="5400000">
            <a:off x="4697048" y="1931612"/>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rot="16200000" flipH="1">
            <a:off x="5520064" y="2135575"/>
            <a:ext cx="785818" cy="2293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33" idx="0"/>
          </p:cNvCxnSpPr>
          <p:nvPr/>
        </p:nvCxnSpPr>
        <p:spPr>
          <a:xfrm>
            <a:off x="6286512" y="1857364"/>
            <a:ext cx="1107289"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4" idx="0"/>
          </p:cNvCxnSpPr>
          <p:nvPr/>
        </p:nvCxnSpPr>
        <p:spPr>
          <a:xfrm rot="10800000" flipV="1">
            <a:off x="2893208" y="928670"/>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35" idx="0"/>
          </p:cNvCxnSpPr>
          <p:nvPr/>
        </p:nvCxnSpPr>
        <p:spPr>
          <a:xfrm>
            <a:off x="4579938" y="908032"/>
            <a:ext cx="1206508"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2857488" y="264318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grpSp>
        <p:nvGrpSpPr>
          <p:cNvPr id="46" name="组合 45"/>
          <p:cNvGrpSpPr/>
          <p:nvPr/>
        </p:nvGrpSpPr>
        <p:grpSpPr>
          <a:xfrm>
            <a:off x="214282" y="1428736"/>
            <a:ext cx="3435368" cy="2357454"/>
            <a:chOff x="357158" y="1571612"/>
            <a:chExt cx="3435368" cy="2357454"/>
          </a:xfrm>
        </p:grpSpPr>
        <p:sp>
          <p:nvSpPr>
            <p:cNvPr id="42" name="任意多边形 41"/>
            <p:cNvSpPr/>
            <p:nvPr/>
          </p:nvSpPr>
          <p:spPr>
            <a:xfrm>
              <a:off x="357158" y="1571612"/>
              <a:ext cx="2719916" cy="2048934"/>
            </a:xfrm>
            <a:custGeom>
              <a:avLst/>
              <a:gdLst>
                <a:gd name="connsiteX0" fmla="*/ 1693333 w 2719916"/>
                <a:gd name="connsiteY0" fmla="*/ 294217 h 2048934"/>
                <a:gd name="connsiteX1" fmla="*/ 1883833 w 2719916"/>
                <a:gd name="connsiteY1" fmla="*/ 205317 h 2048934"/>
                <a:gd name="connsiteX2" fmla="*/ 2531533 w 2719916"/>
                <a:gd name="connsiteY2" fmla="*/ 40217 h 2048934"/>
                <a:gd name="connsiteX3" fmla="*/ 2633133 w 2719916"/>
                <a:gd name="connsiteY3" fmla="*/ 446617 h 2048934"/>
                <a:gd name="connsiteX4" fmla="*/ 2429933 w 2719916"/>
                <a:gd name="connsiteY4" fmla="*/ 1221317 h 2048934"/>
                <a:gd name="connsiteX5" fmla="*/ 2468033 w 2719916"/>
                <a:gd name="connsiteY5" fmla="*/ 1919817 h 2048934"/>
                <a:gd name="connsiteX6" fmla="*/ 918633 w 2719916"/>
                <a:gd name="connsiteY6" fmla="*/ 1996017 h 2048934"/>
                <a:gd name="connsiteX7" fmla="*/ 105833 w 2719916"/>
                <a:gd name="connsiteY7" fmla="*/ 1869017 h 2048934"/>
                <a:gd name="connsiteX8" fmla="*/ 283633 w 2719916"/>
                <a:gd name="connsiteY8" fmla="*/ 1107017 h 2048934"/>
                <a:gd name="connsiteX9" fmla="*/ 1693333 w 2719916"/>
                <a:gd name="connsiteY9" fmla="*/ 294217 h 204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19916" h="2048934">
                  <a:moveTo>
                    <a:pt x="1693333" y="294217"/>
                  </a:moveTo>
                  <a:cubicBezTo>
                    <a:pt x="1960033" y="143934"/>
                    <a:pt x="1744133" y="247650"/>
                    <a:pt x="1883833" y="205317"/>
                  </a:cubicBezTo>
                  <a:cubicBezTo>
                    <a:pt x="2023533" y="162984"/>
                    <a:pt x="2406650" y="0"/>
                    <a:pt x="2531533" y="40217"/>
                  </a:cubicBezTo>
                  <a:cubicBezTo>
                    <a:pt x="2656416" y="80434"/>
                    <a:pt x="2650066" y="249767"/>
                    <a:pt x="2633133" y="446617"/>
                  </a:cubicBezTo>
                  <a:cubicBezTo>
                    <a:pt x="2616200" y="643467"/>
                    <a:pt x="2457450" y="975784"/>
                    <a:pt x="2429933" y="1221317"/>
                  </a:cubicBezTo>
                  <a:cubicBezTo>
                    <a:pt x="2402416" y="1466850"/>
                    <a:pt x="2719916" y="1790700"/>
                    <a:pt x="2468033" y="1919817"/>
                  </a:cubicBezTo>
                  <a:cubicBezTo>
                    <a:pt x="2216150" y="2048934"/>
                    <a:pt x="1312333" y="2004484"/>
                    <a:pt x="918633" y="1996017"/>
                  </a:cubicBezTo>
                  <a:cubicBezTo>
                    <a:pt x="524933" y="1987550"/>
                    <a:pt x="211666" y="2017184"/>
                    <a:pt x="105833" y="1869017"/>
                  </a:cubicBezTo>
                  <a:cubicBezTo>
                    <a:pt x="0" y="1720850"/>
                    <a:pt x="19050" y="1371600"/>
                    <a:pt x="283633" y="1107017"/>
                  </a:cubicBezTo>
                  <a:cubicBezTo>
                    <a:pt x="548216" y="842434"/>
                    <a:pt x="1426633" y="444500"/>
                    <a:pt x="1693333" y="294217"/>
                  </a:cubicBezTo>
                  <a:close/>
                </a:path>
              </a:pathLst>
            </a:cu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4" name="Line 41"/>
            <p:cNvSpPr>
              <a:spLocks noChangeShapeType="1"/>
            </p:cNvSpPr>
            <p:nvPr/>
          </p:nvSpPr>
          <p:spPr bwMode="auto">
            <a:xfrm flipH="1" flipV="1">
              <a:off x="2928926" y="3408366"/>
              <a:ext cx="287337" cy="287337"/>
            </a:xfrm>
            <a:prstGeom prst="line">
              <a:avLst/>
            </a:prstGeom>
            <a:noFill/>
            <a:ln w="28575">
              <a:solidFill>
                <a:schemeClr val="tx2"/>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45" name="Text Box 42"/>
            <p:cNvSpPr txBox="1">
              <a:spLocks noChangeArrowheads="1"/>
            </p:cNvSpPr>
            <p:nvPr/>
          </p:nvSpPr>
          <p:spPr bwMode="auto">
            <a:xfrm>
              <a:off x="3000363" y="3624266"/>
              <a:ext cx="7921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latin typeface="Consolas" panose="020B0609020204030204" pitchFamily="49" charset="0"/>
                  <a:ea typeface="楷体" panose="02010609060101010101" pitchFamily="49" charset="-122"/>
                  <a:cs typeface="Consolas" panose="020B0609020204030204" pitchFamily="49" charset="0"/>
                </a:rPr>
                <a:t>合并</a:t>
              </a:r>
              <a:endParaRPr kumimoji="0" lang="zh-CN" altLang="en-US" sz="2000" b="1" dirty="0">
                <a:latin typeface="Consolas" panose="020B0609020204030204" pitchFamily="49" charset="0"/>
                <a:ea typeface="楷体" panose="02010609060101010101" pitchFamily="49" charset="-122"/>
                <a:cs typeface="Consolas" panose="020B0609020204030204" pitchFamily="49" charset="0"/>
              </a:endParaRPr>
            </a:p>
          </p:txBody>
        </p:sp>
      </p:grpSp>
      <p:sp>
        <p:nvSpPr>
          <p:cNvPr id="48" name="矩形 47"/>
          <p:cNvSpPr/>
          <p:nvPr/>
        </p:nvSpPr>
        <p:spPr>
          <a:xfrm>
            <a:off x="2857488" y="4714884"/>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50" name="直接箭头连接符 49"/>
          <p:cNvCxnSpPr/>
          <p:nvPr/>
        </p:nvCxnSpPr>
        <p:spPr>
          <a:xfrm rot="16200000" flipH="1">
            <a:off x="3230156" y="5337585"/>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571604" y="5857892"/>
            <a:ext cx="142876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1 2 3  5</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3" name="直接箭头连接符 52"/>
          <p:cNvCxnSpPr/>
          <p:nvPr/>
        </p:nvCxnSpPr>
        <p:spPr>
          <a:xfrm rot="5400000">
            <a:off x="2376871" y="5127240"/>
            <a:ext cx="782642" cy="67866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4643438" y="585789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5857884" y="5857892"/>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14 </a:t>
            </a:r>
            <a:r>
              <a:rPr lang="en-US" altLang="zh-CN" sz="2000" b="1" dirty="0" smtClean="0">
                <a:solidFill>
                  <a:srgbClr val="3333FF"/>
                </a:solidFill>
                <a:latin typeface="Consolas" panose="020B0609020204030204" pitchFamily="49" charset="0"/>
                <a:cs typeface="Consolas" panose="020B0609020204030204" pitchFamily="49" charset="0"/>
              </a:rPr>
              <a:t>17</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7072330" y="5857892"/>
            <a:ext cx="12144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7" name="矩形 56"/>
          <p:cNvSpPr/>
          <p:nvPr/>
        </p:nvSpPr>
        <p:spPr>
          <a:xfrm>
            <a:off x="4286248" y="3786190"/>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8" name="矩形 57"/>
          <p:cNvSpPr/>
          <p:nvPr/>
        </p:nvSpPr>
        <p:spPr>
          <a:xfrm>
            <a:off x="5572132" y="4714884"/>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l"/>
            <a:r>
              <a:rPr lang="en-US" altLang="zh-CN" sz="2000" b="1" smtClean="0">
                <a:solidFill>
                  <a:srgbClr val="3333FF"/>
                </a:solidFill>
                <a:latin typeface="Consolas" panose="020B0609020204030204" pitchFamily="49" charset="0"/>
                <a:cs typeface="Consolas" panose="020B0609020204030204" pitchFamily="49" charset="0"/>
              </a:rPr>
              <a:t> 13 18</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9" name="直接箭头连接符 58"/>
          <p:cNvCxnSpPr/>
          <p:nvPr/>
        </p:nvCxnSpPr>
        <p:spPr>
          <a:xfrm rot="5400000">
            <a:off x="5054238" y="5146322"/>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55" idx="0"/>
          </p:cNvCxnSpPr>
          <p:nvPr/>
        </p:nvCxnSpPr>
        <p:spPr>
          <a:xfrm rot="16200000" flipH="1">
            <a:off x="5814624" y="5350285"/>
            <a:ext cx="785818" cy="22939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56" idx="0"/>
          </p:cNvCxnSpPr>
          <p:nvPr/>
        </p:nvCxnSpPr>
        <p:spPr>
          <a:xfrm>
            <a:off x="6429388" y="5072074"/>
            <a:ext cx="1250165"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48" idx="0"/>
          </p:cNvCxnSpPr>
          <p:nvPr/>
        </p:nvCxnSpPr>
        <p:spPr>
          <a:xfrm rot="10800000" flipV="1">
            <a:off x="3250398" y="4143380"/>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58" idx="0"/>
          </p:cNvCxnSpPr>
          <p:nvPr/>
        </p:nvCxnSpPr>
        <p:spPr>
          <a:xfrm>
            <a:off x="4937128" y="4122742"/>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3214678" y="585789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2" name="TextBox 71"/>
          <p:cNvSpPr txBox="1"/>
          <p:nvPr/>
        </p:nvSpPr>
        <p:spPr>
          <a:xfrm>
            <a:off x="857224" y="4786322"/>
            <a:ext cx="1928826"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&lt;2</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3" name="下箭头 72"/>
          <p:cNvSpPr/>
          <p:nvPr/>
        </p:nvSpPr>
        <p:spPr>
          <a:xfrm>
            <a:off x="4429124" y="3286124"/>
            <a:ext cx="285752" cy="357190"/>
          </a:xfrm>
          <a:prstGeom prst="down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7" name="灯片编号占位符 46"/>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nodeType="clickEffect">
                                  <p:stCondLst>
                                    <p:cond delay="0"/>
                                  </p:stCondLst>
                                  <p:childTnLst>
                                    <p:animEffect transition="out" filter="fade">
                                      <p:cBhvr>
                                        <p:cTn id="12" dur="500" tmFilter="0, 0; .2, .5; .8, .5; 1, 0"/>
                                        <p:tgtEl>
                                          <p:spTgt spid="27">
                                            <p:txEl>
                                              <p:pRg st="0" end="0"/>
                                            </p:txEl>
                                          </p:spTgt>
                                        </p:tgtEl>
                                      </p:cBhvr>
                                    </p:animEffect>
                                    <p:animScale>
                                      <p:cBhvr>
                                        <p:cTn id="13" dur="250" autoRev="1" fill="hold"/>
                                        <p:tgtEl>
                                          <p:spTgt spid="27">
                                            <p:txEl>
                                              <p:pRg st="0" end="0"/>
                                            </p:txEl>
                                          </p:spTgt>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6"/>
                                        </p:tgtEl>
                                        <p:attrNameLst>
                                          <p:attrName>style.visibility</p:attrName>
                                        </p:attrNameLst>
                                      </p:cBhvr>
                                      <p:to>
                                        <p:strVal val="visible"/>
                                      </p:to>
                                    </p:set>
                                  </p:childTnLst>
                                </p:cTn>
                              </p:par>
                            </p:childTnLst>
                          </p:cTn>
                        </p:par>
                        <p:par>
                          <p:cTn id="18" fill="hold">
                            <p:stCondLst>
                              <p:cond delay="0"/>
                            </p:stCondLst>
                            <p:childTnLst>
                              <p:par>
                                <p:cTn id="19" presetID="26" presetClass="emph" presetSubtype="0" fill="hold" nodeType="afterEffect">
                                  <p:stCondLst>
                                    <p:cond delay="0"/>
                                  </p:stCondLst>
                                  <p:childTnLst>
                                    <p:animEffect transition="out" filter="fade">
                                      <p:cBhvr>
                                        <p:cTn id="20" dur="500" tmFilter="0, 0; .2, .5; .8, .5; 1, 0"/>
                                        <p:tgtEl>
                                          <p:spTgt spid="46"/>
                                        </p:tgtEl>
                                      </p:cBhvr>
                                    </p:animEffect>
                                    <p:animScale>
                                      <p:cBhvr>
                                        <p:cTn id="21" dur="250" autoRev="1" fill="hold"/>
                                        <p:tgtEl>
                                          <p:spTgt spid="46"/>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2"/>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7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7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grpId="1" nodeType="clickEffect">
                                  <p:stCondLst>
                                    <p:cond delay="0"/>
                                  </p:stCondLst>
                                  <p:childTnLst>
                                    <p:animEffect transition="out" filter="fade">
                                      <p:cBhvr>
                                        <p:cTn id="61" dur="500" tmFilter="0, 0; .2, .5; .8, .5; 1, 0"/>
                                        <p:tgtEl>
                                          <p:spTgt spid="72"/>
                                        </p:tgtEl>
                                      </p:cBhvr>
                                    </p:animEffect>
                                    <p:animScale>
                                      <p:cBhvr>
                                        <p:cTn id="62" dur="250" autoRev="1" fill="hold"/>
                                        <p:tgtEl>
                                          <p:spTgt spid="72"/>
                                        </p:tgtEl>
                                      </p:cBhvr>
                                      <p:by x="105000" y="105000"/>
                                    </p:animScale>
                                  </p:childTnLst>
                                </p:cTn>
                              </p:par>
                              <p:par>
                                <p:cTn id="63" presetID="26" presetClass="emph" presetSubtype="0" fill="hold" grpId="1" nodeType="withEffect">
                                  <p:stCondLst>
                                    <p:cond delay="0"/>
                                  </p:stCondLst>
                                  <p:childTnLst>
                                    <p:animEffect transition="out" filter="fade">
                                      <p:cBhvr>
                                        <p:cTn id="64" dur="500" tmFilter="0, 0; .2, .5; .8, .5; 1, 0"/>
                                        <p:tgtEl>
                                          <p:spTgt spid="48"/>
                                        </p:tgtEl>
                                      </p:cBhvr>
                                    </p:animEffect>
                                    <p:animScale>
                                      <p:cBhvr>
                                        <p:cTn id="65" dur="250" autoRev="1" fill="hold"/>
                                        <p:tgtEl>
                                          <p:spTgt spid="4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48" grpId="0" bldLvl="0" animBg="1"/>
      <p:bldP spid="48" grpId="1" bldLvl="0" animBg="1"/>
      <p:bldP spid="51" grpId="0" bldLvl="0" animBg="1"/>
      <p:bldP spid="54" grpId="0" bldLvl="0" animBg="1"/>
      <p:bldP spid="55" grpId="0" bldLvl="0" animBg="1"/>
      <p:bldP spid="56" grpId="0" bldLvl="0" animBg="1"/>
      <p:bldP spid="57" grpId="0" bldLvl="0" animBg="1"/>
      <p:bldP spid="58" grpId="0" bldLvl="0" animBg="1"/>
      <p:bldP spid="64" grpId="0" bldLvl="0" animBg="1"/>
      <p:bldP spid="72" grpId="0"/>
      <p:bldP spid="72" grpId="1"/>
      <p:bldP spid="73"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p:cNvSpPr/>
          <p:nvPr/>
        </p:nvSpPr>
        <p:spPr>
          <a:xfrm>
            <a:off x="2500298" y="1214422"/>
            <a:ext cx="78581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 6</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50" name="直接箭头连接符 49"/>
          <p:cNvCxnSpPr/>
          <p:nvPr/>
        </p:nvCxnSpPr>
        <p:spPr>
          <a:xfrm rot="16200000" flipH="1">
            <a:off x="2872966" y="1837123"/>
            <a:ext cx="790580" cy="2500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357290" y="2357430"/>
            <a:ext cx="1357322"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a:t>
            </a:r>
            <a:r>
              <a:rPr lang="en-US" altLang="zh-CN" sz="2000" b="1" smtClean="0">
                <a:solidFill>
                  <a:srgbClr val="3333FF"/>
                </a:solidFill>
                <a:latin typeface="Consolas" panose="020B0609020204030204" pitchFamily="49" charset="0"/>
                <a:cs typeface="Consolas" panose="020B0609020204030204" pitchFamily="49" charset="0"/>
              </a:rPr>
              <a:t>2 3 </a:t>
            </a:r>
            <a:r>
              <a:rPr lang="en-US" altLang="zh-CN" sz="2000" b="1" dirty="0" smtClean="0">
                <a:solidFill>
                  <a:srgbClr val="3333FF"/>
                </a:solidFill>
                <a:latin typeface="Consolas" panose="020B0609020204030204" pitchFamily="49" charset="0"/>
                <a:cs typeface="Consolas" panose="020B0609020204030204" pitchFamily="49" charset="0"/>
              </a:rPr>
              <a:t>5</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3" name="直接箭头连接符 52"/>
          <p:cNvCxnSpPr/>
          <p:nvPr/>
        </p:nvCxnSpPr>
        <p:spPr>
          <a:xfrm rot="5400000">
            <a:off x="2019681" y="1626778"/>
            <a:ext cx="782642" cy="678663"/>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4286248" y="2357430"/>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5" name="矩形 54"/>
          <p:cNvSpPr/>
          <p:nvPr/>
        </p:nvSpPr>
        <p:spPr>
          <a:xfrm>
            <a:off x="5500694" y="2357430"/>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14 17</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6" name="矩形 55"/>
          <p:cNvSpPr/>
          <p:nvPr/>
        </p:nvSpPr>
        <p:spPr>
          <a:xfrm>
            <a:off x="6715140" y="2357430"/>
            <a:ext cx="128588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19  </a:t>
            </a:r>
            <a:r>
              <a:rPr lang="en-US" altLang="zh-CN" sz="2000" b="1" dirty="0" smtClean="0">
                <a:solidFill>
                  <a:srgbClr val="3333FF"/>
                </a:solidFill>
                <a:latin typeface="Consolas" panose="020B0609020204030204" pitchFamily="49" charset="0"/>
                <a:cs typeface="Consolas" panose="020B0609020204030204" pitchFamily="49" charset="0"/>
              </a:rPr>
              <a:t>20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7" name="矩形 56"/>
          <p:cNvSpPr/>
          <p:nvPr/>
        </p:nvSpPr>
        <p:spPr>
          <a:xfrm>
            <a:off x="3929058" y="285728"/>
            <a:ext cx="85725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10</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58" name="矩形 57"/>
          <p:cNvSpPr/>
          <p:nvPr/>
        </p:nvSpPr>
        <p:spPr>
          <a:xfrm>
            <a:off x="5214942" y="1214422"/>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l"/>
            <a:r>
              <a:rPr lang="en-US" altLang="zh-CN" sz="2000" b="1" smtClean="0">
                <a:solidFill>
                  <a:srgbClr val="3333FF"/>
                </a:solidFill>
                <a:latin typeface="Consolas" panose="020B0609020204030204" pitchFamily="49" charset="0"/>
                <a:cs typeface="Consolas" panose="020B0609020204030204" pitchFamily="49" charset="0"/>
              </a:rPr>
              <a:t> 13 18</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59" name="直接箭头连接符 58"/>
          <p:cNvCxnSpPr/>
          <p:nvPr/>
        </p:nvCxnSpPr>
        <p:spPr>
          <a:xfrm rot="5400000">
            <a:off x="4697048" y="1645860"/>
            <a:ext cx="785818" cy="63732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55" idx="0"/>
          </p:cNvCxnSpPr>
          <p:nvPr/>
        </p:nvCxnSpPr>
        <p:spPr>
          <a:xfrm rot="16200000" flipH="1">
            <a:off x="5493153" y="1814104"/>
            <a:ext cx="785818" cy="30083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endCxn id="56" idx="0"/>
          </p:cNvCxnSpPr>
          <p:nvPr/>
        </p:nvCxnSpPr>
        <p:spPr>
          <a:xfrm>
            <a:off x="6072198" y="1571612"/>
            <a:ext cx="1285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endCxn id="48" idx="0"/>
          </p:cNvCxnSpPr>
          <p:nvPr/>
        </p:nvCxnSpPr>
        <p:spPr>
          <a:xfrm rot="10800000" flipV="1">
            <a:off x="2893208" y="642918"/>
            <a:ext cx="1178727" cy="571504"/>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58" idx="0"/>
          </p:cNvCxnSpPr>
          <p:nvPr/>
        </p:nvCxnSpPr>
        <p:spPr>
          <a:xfrm>
            <a:off x="4579938" y="622280"/>
            <a:ext cx="1170789" cy="592142"/>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2857488" y="2357430"/>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2" name="TextBox 71"/>
          <p:cNvSpPr txBox="1"/>
          <p:nvPr/>
        </p:nvSpPr>
        <p:spPr>
          <a:xfrm>
            <a:off x="500034" y="1285860"/>
            <a:ext cx="1928826" cy="400110"/>
          </a:xfrm>
          <a:prstGeom prst="rect">
            <a:avLst/>
          </a:prstGeom>
          <a:noFill/>
        </p:spPr>
        <p:txBody>
          <a:bodyPr wrap="square" rtlCol="0">
            <a:spAutoFit/>
          </a:bodyPr>
          <a:lstStyle/>
          <a:p>
            <a:r>
              <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关键字个数</a:t>
            </a:r>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&lt;2</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52" name="组合 51"/>
          <p:cNvGrpSpPr/>
          <p:nvPr/>
        </p:nvGrpSpPr>
        <p:grpSpPr>
          <a:xfrm>
            <a:off x="2285984" y="71414"/>
            <a:ext cx="5054600" cy="2023534"/>
            <a:chOff x="2305050" y="-1214470"/>
            <a:chExt cx="5054600" cy="2023534"/>
          </a:xfrm>
        </p:grpSpPr>
        <p:sp>
          <p:nvSpPr>
            <p:cNvPr id="46" name="任意多边形 45"/>
            <p:cNvSpPr/>
            <p:nvPr/>
          </p:nvSpPr>
          <p:spPr>
            <a:xfrm>
              <a:off x="2305050" y="-1214470"/>
              <a:ext cx="5054600" cy="2023534"/>
            </a:xfrm>
            <a:custGeom>
              <a:avLst/>
              <a:gdLst>
                <a:gd name="connsiteX0" fmla="*/ 1238250 w 5054600"/>
                <a:gd name="connsiteY0" fmla="*/ 249767 h 2023534"/>
                <a:gd name="connsiteX1" fmla="*/ 755650 w 5054600"/>
                <a:gd name="connsiteY1" fmla="*/ 440267 h 2023534"/>
                <a:gd name="connsiteX2" fmla="*/ 184150 w 5054600"/>
                <a:gd name="connsiteY2" fmla="*/ 922867 h 2023534"/>
                <a:gd name="connsiteX3" fmla="*/ 6350 w 5054600"/>
                <a:gd name="connsiteY3" fmla="*/ 1316567 h 2023534"/>
                <a:gd name="connsiteX4" fmla="*/ 222250 w 5054600"/>
                <a:gd name="connsiteY4" fmla="*/ 1799167 h 2023534"/>
                <a:gd name="connsiteX5" fmla="*/ 1098550 w 5054600"/>
                <a:gd name="connsiteY5" fmla="*/ 1875367 h 2023534"/>
                <a:gd name="connsiteX6" fmla="*/ 4578350 w 5054600"/>
                <a:gd name="connsiteY6" fmla="*/ 1837267 h 2023534"/>
                <a:gd name="connsiteX7" fmla="*/ 3956050 w 5054600"/>
                <a:gd name="connsiteY7" fmla="*/ 757767 h 2023534"/>
                <a:gd name="connsiteX8" fmla="*/ 2609850 w 5054600"/>
                <a:gd name="connsiteY8" fmla="*/ 84667 h 2023534"/>
                <a:gd name="connsiteX9" fmla="*/ 1238250 w 5054600"/>
                <a:gd name="connsiteY9" fmla="*/ 249767 h 202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54600" h="2023534">
                  <a:moveTo>
                    <a:pt x="1238250" y="249767"/>
                  </a:moveTo>
                  <a:cubicBezTo>
                    <a:pt x="929217" y="309034"/>
                    <a:pt x="931333" y="328084"/>
                    <a:pt x="755650" y="440267"/>
                  </a:cubicBezTo>
                  <a:cubicBezTo>
                    <a:pt x="579967" y="552450"/>
                    <a:pt x="309033" y="776817"/>
                    <a:pt x="184150" y="922867"/>
                  </a:cubicBezTo>
                  <a:cubicBezTo>
                    <a:pt x="59267" y="1068917"/>
                    <a:pt x="0" y="1170517"/>
                    <a:pt x="6350" y="1316567"/>
                  </a:cubicBezTo>
                  <a:cubicBezTo>
                    <a:pt x="12700" y="1462617"/>
                    <a:pt x="40217" y="1706034"/>
                    <a:pt x="222250" y="1799167"/>
                  </a:cubicBezTo>
                  <a:cubicBezTo>
                    <a:pt x="404283" y="1892300"/>
                    <a:pt x="1098550" y="1875367"/>
                    <a:pt x="1098550" y="1875367"/>
                  </a:cubicBezTo>
                  <a:cubicBezTo>
                    <a:pt x="1824567" y="1881717"/>
                    <a:pt x="4102100" y="2023534"/>
                    <a:pt x="4578350" y="1837267"/>
                  </a:cubicBezTo>
                  <a:cubicBezTo>
                    <a:pt x="5054600" y="1651000"/>
                    <a:pt x="4284133" y="1049867"/>
                    <a:pt x="3956050" y="757767"/>
                  </a:cubicBezTo>
                  <a:cubicBezTo>
                    <a:pt x="3627967" y="465667"/>
                    <a:pt x="3062817" y="169334"/>
                    <a:pt x="2609850" y="84667"/>
                  </a:cubicBezTo>
                  <a:cubicBezTo>
                    <a:pt x="2156883" y="0"/>
                    <a:pt x="1547283" y="190500"/>
                    <a:pt x="1238250" y="249767"/>
                  </a:cubicBezTo>
                  <a:close/>
                </a:path>
              </a:pathLst>
            </a:cu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7" name="Line 41"/>
            <p:cNvSpPr>
              <a:spLocks noChangeShapeType="1"/>
            </p:cNvSpPr>
            <p:nvPr/>
          </p:nvSpPr>
          <p:spPr bwMode="auto">
            <a:xfrm flipH="1">
              <a:off x="6591330" y="-428652"/>
              <a:ext cx="285752" cy="212729"/>
            </a:xfrm>
            <a:prstGeom prst="line">
              <a:avLst/>
            </a:prstGeom>
            <a:noFill/>
            <a:ln w="28575">
              <a:solidFill>
                <a:schemeClr val="tx2"/>
              </a:solidFill>
              <a:round/>
              <a:tailEnd type="triangle" w="med" len="med"/>
            </a:ln>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49" name="Text Box 42"/>
            <p:cNvSpPr txBox="1">
              <a:spLocks noChangeArrowheads="1"/>
            </p:cNvSpPr>
            <p:nvPr/>
          </p:nvSpPr>
          <p:spPr bwMode="auto">
            <a:xfrm>
              <a:off x="6519892" y="-785842"/>
              <a:ext cx="792163" cy="304800"/>
            </a:xfrm>
            <a:prstGeom prst="rect">
              <a:avLst/>
            </a:prstGeom>
            <a:noFill/>
            <a:ln w="28575" algn="ctr">
              <a:noFill/>
              <a:miter lim="800000"/>
            </a:ln>
          </p:spPr>
          <p:txBody>
            <a:bodyPr lIns="0" tIns="0" rIns="0" bIns="0">
              <a:spAutoFit/>
            </a:bodyPr>
            <a:lstStyle/>
            <a:p>
              <a:pPr>
                <a:spcBef>
                  <a:spcPct val="50000"/>
                </a:spcBef>
              </a:pPr>
              <a:r>
                <a:rPr kumimoji="0" lang="zh-CN" altLang="en-US" sz="2000" b="1" dirty="0">
                  <a:latin typeface="Consolas" panose="020B0609020204030204" pitchFamily="49" charset="0"/>
                  <a:ea typeface="楷体" panose="02010609060101010101" pitchFamily="49" charset="-122"/>
                  <a:cs typeface="Consolas" panose="020B0609020204030204" pitchFamily="49" charset="0"/>
                </a:rPr>
                <a:t>合并</a:t>
              </a:r>
              <a:endParaRPr kumimoji="0" lang="zh-CN" altLang="en-US" sz="2000" b="1" dirty="0">
                <a:latin typeface="Consolas" panose="020B0609020204030204" pitchFamily="49" charset="0"/>
                <a:ea typeface="楷体" panose="02010609060101010101" pitchFamily="49" charset="-122"/>
                <a:cs typeface="Consolas" panose="020B0609020204030204" pitchFamily="49" charset="0"/>
              </a:endParaRPr>
            </a:p>
          </p:txBody>
        </p:sp>
      </p:grpSp>
      <p:grpSp>
        <p:nvGrpSpPr>
          <p:cNvPr id="92" name="组合 91"/>
          <p:cNvGrpSpPr/>
          <p:nvPr/>
        </p:nvGrpSpPr>
        <p:grpSpPr>
          <a:xfrm>
            <a:off x="1285852" y="3857628"/>
            <a:ext cx="6500858" cy="2000264"/>
            <a:chOff x="1285852" y="3857628"/>
            <a:chExt cx="6500858" cy="2000264"/>
          </a:xfrm>
        </p:grpSpPr>
        <p:sp>
          <p:nvSpPr>
            <p:cNvPr id="65" name="矩形 64"/>
            <p:cNvSpPr/>
            <p:nvPr/>
          </p:nvSpPr>
          <p:spPr>
            <a:xfrm>
              <a:off x="3571868" y="3857628"/>
              <a:ext cx="2071702"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 6 10 13 18</a:t>
              </a:r>
              <a:endParaRPr lang="zh-CN" altLang="en-US" sz="2000" b="1" dirty="0">
                <a:solidFill>
                  <a:srgbClr val="FF0000"/>
                </a:solidFill>
                <a:latin typeface="Consolas" panose="020B0609020204030204" pitchFamily="49" charset="0"/>
                <a:cs typeface="Consolas" panose="020B0609020204030204" pitchFamily="49" charset="0"/>
              </a:endParaRPr>
            </a:p>
          </p:txBody>
        </p:sp>
        <p:cxnSp>
          <p:nvCxnSpPr>
            <p:cNvPr id="66" name="直接箭头连接符 65"/>
            <p:cNvCxnSpPr/>
            <p:nvPr/>
          </p:nvCxnSpPr>
          <p:spPr>
            <a:xfrm rot="5400000">
              <a:off x="3125381" y="4339835"/>
              <a:ext cx="1143008" cy="892975"/>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1285852" y="5357826"/>
              <a:ext cx="1214446"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 </a:t>
              </a:r>
              <a:r>
                <a:rPr lang="en-US" altLang="zh-CN" sz="2000" b="1" smtClean="0">
                  <a:solidFill>
                    <a:srgbClr val="3333FF"/>
                  </a:solidFill>
                  <a:latin typeface="Consolas" panose="020B0609020204030204" pitchFamily="49" charset="0"/>
                  <a:cs typeface="Consolas" panose="020B0609020204030204" pitchFamily="49" charset="0"/>
                </a:rPr>
                <a:t>2 3 </a:t>
              </a:r>
              <a:r>
                <a:rPr lang="en-US" altLang="zh-CN" sz="2000" b="1" dirty="0" smtClean="0">
                  <a:solidFill>
                    <a:srgbClr val="3333FF"/>
                  </a:solidFill>
                  <a:latin typeface="Consolas" panose="020B0609020204030204" pitchFamily="49" charset="0"/>
                  <a:cs typeface="Consolas" panose="020B0609020204030204" pitchFamily="49" charset="0"/>
                </a:rPr>
                <a:t>5</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71" name="直接箭头连接符 70"/>
            <p:cNvCxnSpPr/>
            <p:nvPr/>
          </p:nvCxnSpPr>
          <p:spPr>
            <a:xfrm rot="10800000" flipV="1">
              <a:off x="1928796" y="4214819"/>
              <a:ext cx="1928825" cy="114300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4143372" y="535782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11 12 </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5" name="矩形 74"/>
            <p:cNvSpPr/>
            <p:nvPr/>
          </p:nvSpPr>
          <p:spPr>
            <a:xfrm>
              <a:off x="5357818" y="5357826"/>
              <a:ext cx="928694"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14 </a:t>
              </a:r>
              <a:r>
                <a:rPr lang="en-US" altLang="zh-CN" sz="2000" b="1" dirty="0" smtClean="0">
                  <a:solidFill>
                    <a:srgbClr val="3333FF"/>
                  </a:solidFill>
                  <a:latin typeface="Consolas" panose="020B0609020204030204" pitchFamily="49" charset="0"/>
                  <a:cs typeface="Consolas" panose="020B0609020204030204" pitchFamily="49" charset="0"/>
                </a:rPr>
                <a:t>17</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6643702" y="5357826"/>
              <a:ext cx="1143008"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19 20</a:t>
              </a:r>
              <a:endParaRPr lang="zh-CN" altLang="en-US" sz="2000" b="1" dirty="0">
                <a:solidFill>
                  <a:srgbClr val="3333FF"/>
                </a:solidFill>
                <a:latin typeface="Consolas" panose="020B0609020204030204" pitchFamily="49" charset="0"/>
                <a:cs typeface="Consolas" panose="020B0609020204030204" pitchFamily="49" charset="0"/>
              </a:endParaRPr>
            </a:p>
          </p:txBody>
        </p:sp>
        <p:cxnSp>
          <p:nvCxnSpPr>
            <p:cNvPr id="79" name="直接箭头连接符 78"/>
            <p:cNvCxnSpPr/>
            <p:nvPr/>
          </p:nvCxnSpPr>
          <p:spPr>
            <a:xfrm rot="16200000" flipH="1">
              <a:off x="4028707" y="4758114"/>
              <a:ext cx="1143006" cy="5641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rot="16200000" flipH="1">
              <a:off x="4812983" y="4386222"/>
              <a:ext cx="1143006" cy="75009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endCxn id="76" idx="0"/>
            </p:cNvCxnSpPr>
            <p:nvPr/>
          </p:nvCxnSpPr>
          <p:spPr>
            <a:xfrm>
              <a:off x="5357818" y="4214818"/>
              <a:ext cx="1857388" cy="114300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2714612" y="5357826"/>
              <a:ext cx="1071570" cy="50006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7  9</a:t>
              </a:r>
              <a:endParaRPr lang="zh-CN" altLang="en-US" sz="2000" b="1" dirty="0">
                <a:solidFill>
                  <a:srgbClr val="3333FF"/>
                </a:solidFill>
                <a:latin typeface="Consolas" panose="020B0609020204030204" pitchFamily="49" charset="0"/>
                <a:cs typeface="Consolas" panose="020B0609020204030204" pitchFamily="49" charset="0"/>
              </a:endParaRPr>
            </a:p>
          </p:txBody>
        </p:sp>
      </p:grpSp>
      <p:sp>
        <p:nvSpPr>
          <p:cNvPr id="91" name="下箭头 90"/>
          <p:cNvSpPr/>
          <p:nvPr/>
        </p:nvSpPr>
        <p:spPr>
          <a:xfrm>
            <a:off x="4357686" y="3286124"/>
            <a:ext cx="285752" cy="428628"/>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93" name="TextBox 92"/>
          <p:cNvSpPr txBox="1"/>
          <p:nvPr/>
        </p:nvSpPr>
        <p:spPr>
          <a:xfrm>
            <a:off x="3643306" y="6143644"/>
            <a:ext cx="2428892" cy="461665"/>
          </a:xfrm>
          <a:prstGeom prst="rect">
            <a:avLst/>
          </a:prstGeom>
          <a:noFill/>
        </p:spPr>
        <p:txBody>
          <a:bodyPr wrap="square" rtlCol="0">
            <a:spAutoFit/>
          </a:bodyPr>
          <a:lstStyle/>
          <a:p>
            <a:r>
              <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rPr>
              <a:t>删除完毕</a:t>
            </a:r>
            <a:endParaRPr lang="zh-CN" altLang="en-US" sz="2400" b="1" dirty="0" smtClean="0">
              <a:solidFill>
                <a:srgbClr val="FF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灯片编号占位符 36"/>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52"/>
                                        </p:tgtEl>
                                      </p:cBhvr>
                                    </p:animEffect>
                                    <p:animScale>
                                      <p:cBhvr>
                                        <p:cTn id="10" dur="250" autoRev="1" fill="hold"/>
                                        <p:tgtEl>
                                          <p:spTgt spid="52"/>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bldLvl="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395288" y="2492375"/>
            <a:ext cx="7921625" cy="1862048"/>
          </a:xfrm>
          <a:prstGeom prst="rect">
            <a:avLst/>
          </a:prstGeom>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a:spAutoFit/>
          </a:bodyPr>
          <a:lstStyle/>
          <a:p>
            <a:pPr algn="l">
              <a:spcBef>
                <a:spcPct val="50000"/>
              </a:spcBef>
            </a:pPr>
            <a:r>
              <a:rPr kumimoji="0"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思考题</a:t>
            </a:r>
            <a:endParaRPr kumimoji="0"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algn="l">
              <a:spcBef>
                <a:spcPct val="50000"/>
              </a:spcBef>
            </a:pP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kumimoji="0"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中每删除一</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关键字，都</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要删除</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一</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个结点吗</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a:p>
            <a:pPr algn="l">
              <a:spcBef>
                <a:spcPct val="50000"/>
              </a:spcBef>
            </a:pP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在</a:t>
            </a:r>
            <a:r>
              <a:rPr kumimoji="0"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中删除一</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个</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关键字，若</a:t>
            </a:r>
            <a:r>
              <a:rPr kumimoji="0"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引起</a:t>
            </a:r>
            <a:r>
              <a:rPr kumimoji="0"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合并，树高</a:t>
            </a:r>
            <a:r>
              <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一定会降低一层吗？</a:t>
            </a:r>
            <a:endParaRPr kumimoji="0"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pic>
        <p:nvPicPr>
          <p:cNvPr id="72707" name="Picture 7" descr="200991485835655"/>
          <p:cNvPicPr>
            <a:picLocks noChangeAspect="1" noChangeArrowheads="1" noCrop="1"/>
          </p:cNvPicPr>
          <p:nvPr/>
        </p:nvPicPr>
        <p:blipFill>
          <a:blip r:embed="rId1"/>
          <a:srcRect/>
          <a:stretch>
            <a:fillRect/>
          </a:stretch>
        </p:blipFill>
        <p:spPr bwMode="auto">
          <a:xfrm>
            <a:off x="2843213" y="981075"/>
            <a:ext cx="1512887" cy="1512888"/>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285720" y="785794"/>
            <a:ext cx="6858048"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lang="en-US" altLang="zh-CN"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树是</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的一些</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变形</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。一棵</a:t>
            </a:r>
            <a:r>
              <a:rPr lang="en-US" altLang="zh-CN"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4</a:t>
            </a:r>
            <a:r>
              <a:rPr lang="zh-CN" altLang="en-US" sz="22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阶</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树示例：</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3731" name="Text Box 3" descr="粉色面巾纸"/>
          <p:cNvSpPr txBox="1">
            <a:spLocks noChangeArrowheads="1"/>
          </p:cNvSpPr>
          <p:nvPr/>
        </p:nvSpPr>
        <p:spPr bwMode="auto">
          <a:xfrm>
            <a:off x="214282" y="142852"/>
            <a:ext cx="2500330" cy="584775"/>
          </a:xfrm>
          <a:prstGeom prst="rect">
            <a:avLst/>
          </a:prstGeom>
          <a:blipFill dpi="0" rotWithShape="1">
            <a:blip r:embed="rId1" cstate="print"/>
            <a:srcRect/>
            <a:tile tx="0" ty="0" sx="100000" sy="100000" flip="none" algn="tl"/>
          </a:blipFill>
          <a:ln w="28575" algn="ctr">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fontAlgn="ctr">
              <a:spcBef>
                <a:spcPct val="50000"/>
              </a:spcBef>
            </a:pPr>
            <a:r>
              <a:rPr lang="en-US" altLang="zh-CN" sz="3200" b="1" dirty="0">
                <a:ea typeface="隶书" panose="02010509060101010101" pitchFamily="49" charset="-122"/>
              </a:rPr>
              <a:t>9.3.4  B+</a:t>
            </a:r>
            <a:r>
              <a:rPr lang="zh-CN" altLang="en-US" sz="3200" b="1" dirty="0">
                <a:ea typeface="隶书" panose="02010509060101010101" pitchFamily="49" charset="-122"/>
              </a:rPr>
              <a:t>树</a:t>
            </a:r>
            <a:endParaRPr kumimoji="0" lang="zh-CN" altLang="en-US" sz="3200" b="1" i="1" dirty="0">
              <a:solidFill>
                <a:srgbClr val="3333FF"/>
              </a:solidFill>
              <a:ea typeface="隶书" panose="02010509060101010101" pitchFamily="49" charset="-122"/>
            </a:endParaRPr>
          </a:p>
        </p:txBody>
      </p:sp>
      <p:grpSp>
        <p:nvGrpSpPr>
          <p:cNvPr id="67" name="组合 66"/>
          <p:cNvGrpSpPr/>
          <p:nvPr/>
        </p:nvGrpSpPr>
        <p:grpSpPr>
          <a:xfrm>
            <a:off x="71406" y="1286705"/>
            <a:ext cx="8918735" cy="4884119"/>
            <a:chOff x="71406" y="1286705"/>
            <a:chExt cx="8918735" cy="4884119"/>
          </a:xfrm>
        </p:grpSpPr>
        <p:sp>
          <p:nvSpPr>
            <p:cNvPr id="6" name="矩形 5"/>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 name="矩形 6"/>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8" name="矩形 7"/>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9" name="矩形 8"/>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0" name="矩形 9"/>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1" name="矩形 10"/>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2" name="矩形 11"/>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13" name="矩形 12"/>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14" name="直接箭头连接符 13"/>
            <p:cNvCxnSpPr>
              <a:stCxn id="9" idx="3"/>
              <a:endCxn id="10"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9"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11"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12"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3"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7"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8"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27" name="直接箭头连接符 26"/>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29" name="直接箭头连接符 28"/>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31" name="直接箭头连接符 30"/>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33" name="直接箭头连接符 32"/>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35" name="直接箭头连接符 34"/>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37" name="直接箭头连接符 36"/>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39" name="直接箭头连接符 38"/>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41" name="直接箭头连接符 40"/>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43" name="直接箭头连接符 42"/>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45" name="直接箭头连接符 44"/>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47" name="直接箭头连接符 46"/>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49" name="直接箭头连接符 48"/>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51" name="直接箭头连接符 50"/>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53" name="直接箭头连接符 52"/>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55" name="直接箭头连接符 54"/>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58"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59"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60" name="组合 59"/>
            <p:cNvGrpSpPr/>
            <p:nvPr/>
          </p:nvGrpSpPr>
          <p:grpSpPr>
            <a:xfrm>
              <a:off x="1643042" y="1286705"/>
              <a:ext cx="6154803" cy="2214578"/>
              <a:chOff x="1857356" y="-1236495"/>
              <a:chExt cx="6154803" cy="2214578"/>
            </a:xfrm>
          </p:grpSpPr>
          <p:sp>
            <p:nvSpPr>
              <p:cNvPr id="61" name="矩形 60"/>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62"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64" name="直接箭头连接符 63"/>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68" name="直接箭头连接符 67"/>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2" name="TextBox 71"/>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73" name="右大括号 72"/>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70" name="灯片编号占位符 69"/>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500034" y="5143512"/>
            <a:ext cx="6429420" cy="971614"/>
            <a:chOff x="500034" y="5143512"/>
            <a:chExt cx="6429420" cy="971614"/>
          </a:xfrm>
        </p:grpSpPr>
        <p:sp>
          <p:nvSpPr>
            <p:cNvPr id="67" name="Text Box 2"/>
            <p:cNvSpPr txBox="1">
              <a:spLocks noChangeArrowheads="1"/>
            </p:cNvSpPr>
            <p:nvPr/>
          </p:nvSpPr>
          <p:spPr bwMode="auto">
            <a:xfrm>
              <a:off x="500034" y="5143512"/>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500034" y="5715016"/>
              <a:ext cx="6143668" cy="400110"/>
            </a:xfrm>
            <a:prstGeom prst="rect">
              <a:avLst/>
            </a:prstGeom>
            <a:noFill/>
          </p:spPr>
          <p:txBody>
            <a:bodyPr wrap="square" rtlCol="0">
              <a:spAutoFit/>
            </a:bodyPr>
            <a:lstStyle/>
            <a:p>
              <a:pPr algn="l"/>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每个分支结点至多有</a:t>
              </a:r>
              <a:r>
                <a:rPr kumimoji="0"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棵子树（这里</a:t>
              </a:r>
              <a:r>
                <a:rPr kumimoji="0"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=4</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75" name="灯片编号占位符 7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grpSp>
        <p:nvGrpSpPr>
          <p:cNvPr id="74" name="组合 73"/>
          <p:cNvGrpSpPr/>
          <p:nvPr/>
        </p:nvGrpSpPr>
        <p:grpSpPr>
          <a:xfrm>
            <a:off x="71406" y="187955"/>
            <a:ext cx="8918735" cy="4884119"/>
            <a:chOff x="71406" y="1286705"/>
            <a:chExt cx="8918735" cy="4884119"/>
          </a:xfrm>
        </p:grpSpPr>
        <p:sp>
          <p:nvSpPr>
            <p:cNvPr id="76" name="矩形 75"/>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3" name="矩形 82"/>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4" name="直接箭头连接符 83"/>
            <p:cNvCxnSpPr>
              <a:stCxn id="79" idx="3"/>
              <a:endCxn id="80"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endCxn id="79"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83"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endCxn id="78"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7" name="直接箭头连接符 96"/>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9" name="直接箭头连接符 98"/>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1" name="直接箭头连接符 100"/>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3" name="直接箭头连接符 102"/>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5" name="直接箭头连接符 104"/>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7" name="直接箭头连接符 106"/>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9" name="直接箭头连接符 108"/>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1" name="直接箭头连接符 110"/>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3" name="直接箭头连接符 112"/>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5" name="直接箭头连接符 114"/>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7" name="直接箭头连接符 116"/>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9" name="直接箭头连接符 118"/>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1" name="直接箭头连接符 120"/>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3" name="直接箭头连接符 122"/>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5" name="直接箭头连接符 124"/>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7"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8"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9" name="组合 59"/>
            <p:cNvGrpSpPr/>
            <p:nvPr/>
          </p:nvGrpSpPr>
          <p:grpSpPr>
            <a:xfrm>
              <a:off x="1643042" y="1286705"/>
              <a:ext cx="6154803" cy="2214578"/>
              <a:chOff x="1857356" y="-1236495"/>
              <a:chExt cx="6154803" cy="2214578"/>
            </a:xfrm>
          </p:grpSpPr>
          <p:sp>
            <p:nvSpPr>
              <p:cNvPr id="136" name="矩形 135"/>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7"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30" name="直接箭头连接符 129"/>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2" name="直接箭头连接符 131"/>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4" name="TextBox 133"/>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5" name="右大括号 134"/>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Box 2"/>
          <p:cNvSpPr txBox="1">
            <a:spLocks noChangeArrowheads="1"/>
          </p:cNvSpPr>
          <p:nvPr/>
        </p:nvSpPr>
        <p:spPr bwMode="auto">
          <a:xfrm>
            <a:off x="500034" y="5143512"/>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571472" y="5572140"/>
            <a:ext cx="6715172" cy="495585"/>
          </a:xfrm>
          <a:prstGeom prst="rect">
            <a:avLst/>
          </a:prstGeom>
          <a:noFill/>
        </p:spPr>
        <p:txBody>
          <a:bodyPr wrap="square" rtlCol="0">
            <a:spAutoFit/>
          </a:bodyPr>
          <a:lstStyle/>
          <a:p>
            <a:pPr algn="l" defTabSz="212725">
              <a:lnSpc>
                <a:spcPct val="150000"/>
              </a:lnSpc>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根结点或者没有子树，或者至少有两棵子树。</a:t>
            </a:r>
            <a:endParaRPr kumimoji="0"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 name="灯片编号占位符 7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grpSp>
        <p:nvGrpSpPr>
          <p:cNvPr id="74" name="组合 73"/>
          <p:cNvGrpSpPr/>
          <p:nvPr/>
        </p:nvGrpSpPr>
        <p:grpSpPr>
          <a:xfrm>
            <a:off x="71406" y="187955"/>
            <a:ext cx="8918735" cy="4884119"/>
            <a:chOff x="71406" y="1286705"/>
            <a:chExt cx="8918735" cy="4884119"/>
          </a:xfrm>
        </p:grpSpPr>
        <p:sp>
          <p:nvSpPr>
            <p:cNvPr id="75" name="矩形 74"/>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3" name="直接箭头连接符 82"/>
            <p:cNvCxnSpPr>
              <a:stCxn id="78" idx="3"/>
              <a:endCxn id="79"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endCxn id="78"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80"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76"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6" name="直接箭头连接符 95"/>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8" name="直接箭头连接符 97"/>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0" name="直接箭头连接符 99"/>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2" name="直接箭头连接符 101"/>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4" name="直接箭头连接符 103"/>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6" name="直接箭头连接符 105"/>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8" name="直接箭头连接符 107"/>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0" name="直接箭头连接符 109"/>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2" name="直接箭头连接符 111"/>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4" name="直接箭头连接符 113"/>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6" name="直接箭头连接符 115"/>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8" name="直接箭头连接符 117"/>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0" name="直接箭头连接符 119"/>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2" name="直接箭头连接符 121"/>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4" name="直接箭头连接符 123"/>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6"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7"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8" name="组合 59"/>
            <p:cNvGrpSpPr/>
            <p:nvPr/>
          </p:nvGrpSpPr>
          <p:grpSpPr>
            <a:xfrm>
              <a:off x="1643042" y="1286705"/>
              <a:ext cx="6154803" cy="2214578"/>
              <a:chOff x="1857356" y="-1236495"/>
              <a:chExt cx="6154803" cy="2214578"/>
            </a:xfrm>
          </p:grpSpPr>
          <p:sp>
            <p:nvSpPr>
              <p:cNvPr id="135" name="矩形 134"/>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6"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29" name="直接箭头连接符 128"/>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1" name="直接箭头连接符 130"/>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3" name="TextBox 132"/>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4" name="右大括号 133"/>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Box 2"/>
          <p:cNvSpPr txBox="1">
            <a:spLocks noChangeArrowheads="1"/>
          </p:cNvSpPr>
          <p:nvPr/>
        </p:nvSpPr>
        <p:spPr bwMode="auto">
          <a:xfrm>
            <a:off x="500034" y="5290869"/>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571472" y="5719497"/>
            <a:ext cx="8072494" cy="495585"/>
          </a:xfrm>
          <a:prstGeom prst="rect">
            <a:avLst/>
          </a:prstGeom>
          <a:noFill/>
        </p:spPr>
        <p:txBody>
          <a:bodyPr wrap="square" rtlCol="0">
            <a:spAutoFit/>
          </a:bodyPr>
          <a:lstStyle/>
          <a:p>
            <a:pPr algn="l" defTabSz="212725">
              <a:lnSpc>
                <a:spcPct val="150000"/>
              </a:lnSpc>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除根结点外，其他每个分支结点至少有</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kumimoji="0" lang="en-US" altLang="zh-CN" sz="20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/2</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Symbol" panose="05050102010706020507" pitchFamily="18" charset="2"/>
              </a:rPr>
              <a:t></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棵子树。</a:t>
            </a:r>
            <a:endParaRPr kumimoji="0"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 name="灯片编号占位符 7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grpSp>
        <p:nvGrpSpPr>
          <p:cNvPr id="74" name="组合 73"/>
          <p:cNvGrpSpPr/>
          <p:nvPr/>
        </p:nvGrpSpPr>
        <p:grpSpPr>
          <a:xfrm>
            <a:off x="71406" y="259393"/>
            <a:ext cx="8918735" cy="4884119"/>
            <a:chOff x="71406" y="1286705"/>
            <a:chExt cx="8918735" cy="4884119"/>
          </a:xfrm>
        </p:grpSpPr>
        <p:sp>
          <p:nvSpPr>
            <p:cNvPr id="75" name="矩形 74"/>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3" name="直接箭头连接符 82"/>
            <p:cNvCxnSpPr>
              <a:stCxn id="78" idx="3"/>
              <a:endCxn id="79"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endCxn id="78"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80"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76"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6" name="直接箭头连接符 95"/>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8" name="直接箭头连接符 97"/>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0" name="直接箭头连接符 99"/>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2" name="直接箭头连接符 101"/>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4" name="直接箭头连接符 103"/>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6" name="直接箭头连接符 105"/>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8" name="直接箭头连接符 107"/>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0" name="直接箭头连接符 109"/>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2" name="直接箭头连接符 111"/>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4" name="直接箭头连接符 113"/>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6" name="直接箭头连接符 115"/>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8" name="直接箭头连接符 117"/>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0" name="直接箭头连接符 119"/>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2" name="直接箭头连接符 121"/>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4" name="直接箭头连接符 123"/>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6"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7"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8" name="组合 59"/>
            <p:cNvGrpSpPr/>
            <p:nvPr/>
          </p:nvGrpSpPr>
          <p:grpSpPr>
            <a:xfrm>
              <a:off x="1643042" y="1286705"/>
              <a:ext cx="6154803" cy="2214578"/>
              <a:chOff x="1857356" y="-1236495"/>
              <a:chExt cx="6154803" cy="2214578"/>
            </a:xfrm>
          </p:grpSpPr>
          <p:sp>
            <p:nvSpPr>
              <p:cNvPr id="135" name="矩形 134"/>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6"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29" name="直接箭头连接符 128"/>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1" name="直接箭头连接符 130"/>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3" name="TextBox 132"/>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4" name="右大括号 133"/>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Box 2"/>
          <p:cNvSpPr txBox="1">
            <a:spLocks noChangeArrowheads="1"/>
          </p:cNvSpPr>
          <p:nvPr/>
        </p:nvSpPr>
        <p:spPr bwMode="auto">
          <a:xfrm>
            <a:off x="500034" y="5290869"/>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571472" y="5719497"/>
            <a:ext cx="5286412" cy="495585"/>
          </a:xfrm>
          <a:prstGeom prst="rect">
            <a:avLst/>
          </a:prstGeom>
          <a:noFill/>
        </p:spPr>
        <p:txBody>
          <a:bodyPr wrap="square" rtlCol="0">
            <a:spAutoFit/>
          </a:bodyPr>
          <a:lstStyle/>
          <a:p>
            <a:pPr algn="l" defTabSz="212725">
              <a:lnSpc>
                <a:spcPct val="150000"/>
              </a:lnSpc>
            </a:pP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有</a:t>
            </a:r>
            <a:r>
              <a:rPr kumimoji="0" lang="en-US" altLang="zh-CN" sz="2000" b="1" i="1" smtClean="0">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棵子树的结点恰好有</a:t>
            </a:r>
            <a:r>
              <a:rPr kumimoji="0" lang="en-US" altLang="zh-CN" sz="2000" b="1" i="1" smtClean="0">
                <a:solidFill>
                  <a:srgbClr val="FF00FF"/>
                </a:solidFill>
                <a:latin typeface="Consolas" panose="020B0609020204030204" pitchFamily="49" charset="0"/>
                <a:ea typeface="楷体" panose="02010609060101010101" pitchFamily="49" charset="-122"/>
                <a:cs typeface="Consolas" panose="020B0609020204030204" pitchFamily="49" charset="0"/>
              </a:rPr>
              <a:t>n</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个关键字</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 name="灯片编号占位符 7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grpSp>
        <p:nvGrpSpPr>
          <p:cNvPr id="74" name="组合 73"/>
          <p:cNvGrpSpPr/>
          <p:nvPr/>
        </p:nvGrpSpPr>
        <p:grpSpPr>
          <a:xfrm>
            <a:off x="82421" y="285728"/>
            <a:ext cx="8918735" cy="4884119"/>
            <a:chOff x="71406" y="1286705"/>
            <a:chExt cx="8918735" cy="4884119"/>
          </a:xfrm>
        </p:grpSpPr>
        <p:sp>
          <p:nvSpPr>
            <p:cNvPr id="75" name="矩形 74"/>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3" name="直接箭头连接符 82"/>
            <p:cNvCxnSpPr>
              <a:stCxn id="78" idx="3"/>
              <a:endCxn id="79"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endCxn id="78"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80"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76"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6" name="直接箭头连接符 95"/>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8" name="直接箭头连接符 97"/>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0" name="直接箭头连接符 99"/>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2" name="直接箭头连接符 101"/>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4" name="直接箭头连接符 103"/>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6" name="直接箭头连接符 105"/>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8" name="直接箭头连接符 107"/>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0" name="直接箭头连接符 109"/>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2" name="直接箭头连接符 111"/>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4" name="直接箭头连接符 113"/>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6" name="直接箭头连接符 115"/>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8" name="直接箭头连接符 117"/>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0" name="直接箭头连接符 119"/>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2" name="直接箭头连接符 121"/>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4" name="直接箭头连接符 123"/>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6"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7"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8" name="组合 59"/>
            <p:cNvGrpSpPr/>
            <p:nvPr/>
          </p:nvGrpSpPr>
          <p:grpSpPr>
            <a:xfrm>
              <a:off x="1643042" y="1286705"/>
              <a:ext cx="6154803" cy="2214578"/>
              <a:chOff x="1857356" y="-1236495"/>
              <a:chExt cx="6154803" cy="2214578"/>
            </a:xfrm>
          </p:grpSpPr>
          <p:sp>
            <p:nvSpPr>
              <p:cNvPr id="135" name="矩形 134"/>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6"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29" name="直接箭头连接符 128"/>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1" name="直接箭头连接符 130"/>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3" name="TextBox 132"/>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4" name="右大括号 133"/>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Box 2"/>
          <p:cNvSpPr txBox="1">
            <a:spLocks noChangeArrowheads="1"/>
          </p:cNvSpPr>
          <p:nvPr/>
        </p:nvSpPr>
        <p:spPr bwMode="auto">
          <a:xfrm>
            <a:off x="500034" y="5235845"/>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428596" y="5721510"/>
            <a:ext cx="8429684" cy="707886"/>
          </a:xfrm>
          <a:prstGeom prst="rect">
            <a:avLst/>
          </a:prstGeom>
          <a:noFill/>
        </p:spPr>
        <p:txBody>
          <a:bodyPr wrap="square" rtlCol="0">
            <a:spAutoFit/>
          </a:bodyPr>
          <a:lstStyle/>
          <a:p>
            <a:pPr marL="457200" indent="-457200" algn="l" defTabSz="212725"/>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kumimoji="0" lang="en-US" altLang="zh-CN"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所有叶子结点包含全部关键字及指向相应记录的指针</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，而且叶子结点按关键字大小顺序链接。并将所有叶子结点链接起来。</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 name="灯片编号占位符 7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grpSp>
        <p:nvGrpSpPr>
          <p:cNvPr id="74" name="组合 73"/>
          <p:cNvGrpSpPr/>
          <p:nvPr/>
        </p:nvGrpSpPr>
        <p:grpSpPr>
          <a:xfrm>
            <a:off x="71406" y="259393"/>
            <a:ext cx="8918735" cy="4884119"/>
            <a:chOff x="71406" y="1286705"/>
            <a:chExt cx="8918735" cy="4884119"/>
          </a:xfrm>
        </p:grpSpPr>
        <p:sp>
          <p:nvSpPr>
            <p:cNvPr id="75" name="矩形 74"/>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3" name="直接箭头连接符 82"/>
            <p:cNvCxnSpPr>
              <a:stCxn id="78" idx="3"/>
              <a:endCxn id="79"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endCxn id="78"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80"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76"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6" name="直接箭头连接符 95"/>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8" name="直接箭头连接符 97"/>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0" name="直接箭头连接符 99"/>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2" name="直接箭头连接符 101"/>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4" name="直接箭头连接符 103"/>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6" name="直接箭头连接符 105"/>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8" name="直接箭头连接符 107"/>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0" name="直接箭头连接符 109"/>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2" name="直接箭头连接符 111"/>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4" name="直接箭头连接符 113"/>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6" name="直接箭头连接符 115"/>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8" name="直接箭头连接符 117"/>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0" name="直接箭头连接符 119"/>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2" name="直接箭头连接符 121"/>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4" name="直接箭头连接符 123"/>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6"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7"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8" name="组合 59"/>
            <p:cNvGrpSpPr/>
            <p:nvPr/>
          </p:nvGrpSpPr>
          <p:grpSpPr>
            <a:xfrm>
              <a:off x="1643042" y="1286705"/>
              <a:ext cx="6154803" cy="2214578"/>
              <a:chOff x="1857356" y="-1236495"/>
              <a:chExt cx="6154803" cy="2214578"/>
            </a:xfrm>
          </p:grpSpPr>
          <p:sp>
            <p:nvSpPr>
              <p:cNvPr id="135" name="矩形 134"/>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6"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29" name="直接箭头连接符 128"/>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1" name="直接箭头连接符 130"/>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3" name="TextBox 132"/>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4" name="右大括号 133"/>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Box 2"/>
          <p:cNvSpPr txBox="1">
            <a:spLocks noChangeArrowheads="1"/>
          </p:cNvSpPr>
          <p:nvPr/>
        </p:nvSpPr>
        <p:spPr bwMode="auto">
          <a:xfrm>
            <a:off x="428596" y="5123747"/>
            <a:ext cx="6429420" cy="464743"/>
          </a:xfrm>
          <a:prstGeom prst="rect">
            <a:avLst/>
          </a:prstGeom>
          <a:noFill/>
          <a:ln w="9525">
            <a:noFill/>
            <a:miter lim="800000"/>
          </a:ln>
        </p:spPr>
        <p:txBody>
          <a:bodyPr wrap="square">
            <a:spAutoFit/>
          </a:bodyPr>
          <a:lstStyle/>
          <a:p>
            <a:pPr algn="just" defTabSz="212725" fontAlgn="ctr">
              <a:lnSpc>
                <a:spcPct val="110000"/>
              </a:lnSpc>
              <a:spcBef>
                <a:spcPct val="50000"/>
              </a:spcBef>
            </a:pP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树的定义：一</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棵</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满足</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下列要求：</a:t>
            </a:r>
            <a:r>
              <a:rPr kumimoji="0" lang="zh-CN" altLang="en-US" sz="2200" b="1" dirty="0">
                <a:latin typeface="Consolas" panose="020B0609020204030204" pitchFamily="49" charset="0"/>
                <a:ea typeface="楷体" panose="02010609060101010101" pitchFamily="49" charset="-122"/>
                <a:cs typeface="Consolas" panose="020B0609020204030204" pitchFamily="49" charset="0"/>
              </a:rPr>
              <a:t>　　</a:t>
            </a:r>
            <a:endParaRPr lang="zh-CN" altLang="en-US" sz="2200" b="1" dirty="0">
              <a:latin typeface="Consolas" panose="020B0609020204030204" pitchFamily="49" charset="0"/>
              <a:ea typeface="楷体" panose="02010609060101010101" pitchFamily="49" charset="-122"/>
              <a:cs typeface="Consolas" panose="020B0609020204030204" pitchFamily="49" charset="0"/>
            </a:endParaRPr>
          </a:p>
        </p:txBody>
      </p:sp>
      <p:sp>
        <p:nvSpPr>
          <p:cNvPr id="70" name="TextBox 69"/>
          <p:cNvSpPr txBox="1"/>
          <p:nvPr/>
        </p:nvSpPr>
        <p:spPr>
          <a:xfrm>
            <a:off x="357158" y="5578634"/>
            <a:ext cx="8358246" cy="707886"/>
          </a:xfrm>
          <a:prstGeom prst="rect">
            <a:avLst/>
          </a:prstGeom>
          <a:noFill/>
        </p:spPr>
        <p:txBody>
          <a:bodyPr wrap="square" rtlCol="0">
            <a:spAutoFit/>
          </a:bodyPr>
          <a:lstStyle/>
          <a:p>
            <a:pPr marL="457200" indent="-457200" algn="l" defTabSz="212725"/>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sym typeface="Wingdings" panose="05000000000000000000"/>
              </a:rPr>
              <a:t> </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所有</a:t>
            </a:r>
            <a:r>
              <a:rPr kumimoji="0" lang="zh-CN" altLang="en-US" sz="2000" b="1" smtClean="0">
                <a:solidFill>
                  <a:srgbClr val="FF00FF"/>
                </a:solidFill>
                <a:latin typeface="Consolas" panose="020B0609020204030204" pitchFamily="49" charset="0"/>
                <a:ea typeface="楷体" panose="02010609060101010101" pitchFamily="49" charset="-122"/>
                <a:cs typeface="Consolas" panose="020B0609020204030204" pitchFamily="49" charset="0"/>
              </a:rPr>
              <a:t>分支结点（可看成是索引的索引）中仅包含它的各个子结点（即下级索引的索引块）中最大关键字</a:t>
            </a:r>
            <a:r>
              <a:rPr kumimoji="0" lang="zh-CN" altLang="en-US" sz="20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及指向子结点的指针。</a:t>
            </a:r>
            <a:r>
              <a:rPr kumimoji="0" lang="zh-CN" altLang="en-US" sz="2000" smtClean="0">
                <a:solidFill>
                  <a:srgbClr val="3333FF"/>
                </a:solidFill>
                <a:latin typeface="Consolas" panose="020B0609020204030204" pitchFamily="49" charset="0"/>
                <a:ea typeface="楷体" panose="02010609060101010101" pitchFamily="49" charset="-122"/>
                <a:cs typeface="Consolas" panose="020B0609020204030204" pitchFamily="49" charset="0"/>
              </a:rPr>
              <a:t> </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71" name="灯片编号占位符 70"/>
          <p:cNvSpPr>
            <a:spLocks noGrp="1"/>
          </p:cNvSpPr>
          <p:nvPr>
            <p:ph type="sldNum" sz="quarter" idx="12"/>
          </p:nvPr>
        </p:nvSpPr>
        <p:spPr/>
        <p:txBody>
          <a:bodyPr/>
          <a:lstStyle/>
          <a:p>
            <a:pPr>
              <a:defRPr/>
            </a:pPr>
            <a:fld id="{94984E60-CADE-4266-8DC7-A91C528B8A31}" type="slidenum">
              <a:rPr lang="en-US" altLang="zh-CN" smtClean="0">
                <a:latin typeface="Consolas" panose="020B0609020204030204" pitchFamily="49" charset="0"/>
                <a:cs typeface="Consolas" panose="020B0609020204030204" pitchFamily="49" charset="0"/>
              </a:rPr>
            </a:fld>
            <a:r>
              <a:rPr lang="en-US" altLang="zh-CN" smtClean="0">
                <a:latin typeface="Consolas" panose="020B0609020204030204" pitchFamily="49" charset="0"/>
                <a:cs typeface="Consolas" panose="020B0609020204030204" pitchFamily="49" charset="0"/>
              </a:rPr>
              <a:t>/44</a:t>
            </a:r>
            <a:endParaRPr lang="en-US" altLang="zh-CN">
              <a:latin typeface="Consolas" panose="020B0609020204030204" pitchFamily="49" charset="0"/>
              <a:cs typeface="Consolas" panose="020B0609020204030204" pitchFamily="49" charset="0"/>
            </a:endParaRPr>
          </a:p>
        </p:txBody>
      </p:sp>
      <p:grpSp>
        <p:nvGrpSpPr>
          <p:cNvPr id="74" name="组合 73"/>
          <p:cNvGrpSpPr/>
          <p:nvPr/>
        </p:nvGrpSpPr>
        <p:grpSpPr>
          <a:xfrm>
            <a:off x="71406" y="214290"/>
            <a:ext cx="8918735" cy="4884119"/>
            <a:chOff x="71406" y="1286705"/>
            <a:chExt cx="8918735" cy="4884119"/>
          </a:xfrm>
        </p:grpSpPr>
        <p:sp>
          <p:nvSpPr>
            <p:cNvPr id="75" name="矩形 74"/>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6" name="矩形 75"/>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7" name="矩形 76"/>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78" name="矩形 77"/>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79" name="矩形 78"/>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0" name="矩形 79"/>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1" name="矩形 80"/>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82" name="矩形 81"/>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83" name="直接箭头连接符 82"/>
            <p:cNvCxnSpPr>
              <a:stCxn id="78" idx="3"/>
              <a:endCxn id="79"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endCxn id="78"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endCxn id="80"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endCxn id="81"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endCxn id="82"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endCxn id="76"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endCxn id="77"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6" name="直接箭头连接符 95"/>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98" name="直接箭头连接符 97"/>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0" name="直接箭头连接符 99"/>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2" name="直接箭头连接符 101"/>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4" name="直接箭头连接符 103"/>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6" name="直接箭头连接符 105"/>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08" name="直接箭头连接符 107"/>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0" name="直接箭头连接符 109"/>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2" name="直接箭头连接符 111"/>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4" name="直接箭头连接符 113"/>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6" name="直接箭头连接符 115"/>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8" name="直接箭头连接符 117"/>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0" name="直接箭头连接符 119"/>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2" name="直接箭头连接符 121"/>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4" name="直接箭头连接符 123"/>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26"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27"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28" name="组合 59"/>
            <p:cNvGrpSpPr/>
            <p:nvPr/>
          </p:nvGrpSpPr>
          <p:grpSpPr>
            <a:xfrm>
              <a:off x="1643042" y="1286705"/>
              <a:ext cx="6154803" cy="2214578"/>
              <a:chOff x="1857356" y="-1236495"/>
              <a:chExt cx="6154803" cy="2214578"/>
            </a:xfrm>
          </p:grpSpPr>
          <p:sp>
            <p:nvSpPr>
              <p:cNvPr id="135" name="矩形 134"/>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36"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29" name="直接箭头连接符 128"/>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1" name="直接箭头连接符 130"/>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3" name="TextBox 132"/>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34" name="右大括号 133"/>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组合 94"/>
          <p:cNvGrpSpPr/>
          <p:nvPr/>
        </p:nvGrpSpPr>
        <p:grpSpPr>
          <a:xfrm>
            <a:off x="3571868" y="500042"/>
            <a:ext cx="4416630" cy="947347"/>
            <a:chOff x="3714744" y="192265"/>
            <a:chExt cx="4416630" cy="947347"/>
          </a:xfrm>
        </p:grpSpPr>
        <p:cxnSp>
          <p:nvCxnSpPr>
            <p:cNvPr id="46" name="直接箭头连接符 45"/>
            <p:cNvCxnSpPr/>
            <p:nvPr/>
          </p:nvCxnSpPr>
          <p:spPr>
            <a:xfrm rot="16200000" flipH="1">
              <a:off x="4252215" y="748389"/>
              <a:ext cx="496694" cy="285752"/>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714744" y="192265"/>
              <a:ext cx="785818" cy="400110"/>
            </a:xfrm>
            <a:prstGeom prst="rect">
              <a:avLst/>
            </a:prstGeom>
            <a:noFill/>
          </p:spPr>
          <p:txBody>
            <a:bodyPr wrap="square" rtlCol="0">
              <a:spAutoFit/>
            </a:bodyPr>
            <a:lstStyle/>
            <a:p>
              <a:r>
                <a:rPr lang="en-US" altLang="zh-CN"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root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87" name="Text Box 13"/>
            <p:cNvSpPr txBox="1">
              <a:spLocks noChangeArrowheads="1"/>
            </p:cNvSpPr>
            <p:nvPr/>
          </p:nvSpPr>
          <p:spPr bwMode="auto">
            <a:xfrm>
              <a:off x="4559474" y="241678"/>
              <a:ext cx="3571900" cy="307777"/>
            </a:xfrm>
            <a:prstGeom prst="rect">
              <a:avLst/>
            </a:prstGeom>
            <a:noFill/>
            <a:ln w="28575" algn="ctr">
              <a:noFill/>
              <a:miter lim="800000"/>
            </a:ln>
          </p:spPr>
          <p:txBody>
            <a:bodyPr wrap="square" lIns="0" tIns="0" rIns="0" bIns="0">
              <a:spAutoFit/>
            </a:bodyPr>
            <a:lstStyle/>
            <a:p>
              <a:pPr algn="l">
                <a:spcBef>
                  <a:spcPct val="50000"/>
                </a:spcBef>
              </a:pPr>
              <a:r>
                <a:rPr kumimoji="0" lang="zh-CN" altLang="en-US" sz="2000" b="1" dirty="0">
                  <a:solidFill>
                    <a:srgbClr val="3333FF"/>
                  </a:solidFill>
                  <a:latin typeface="微软雅黑" panose="020B0503020204020204" pitchFamily="34" charset="-122"/>
                  <a:ea typeface="微软雅黑" panose="020B0503020204020204" pitchFamily="34" charset="-122"/>
                </a:rPr>
                <a:t>通过该指针可以实现随机查找</a:t>
              </a:r>
              <a:endParaRPr kumimoji="0" lang="zh-CN" altLang="en-US" sz="2000" b="1" dirty="0">
                <a:solidFill>
                  <a:srgbClr val="3333FF"/>
                </a:solidFill>
                <a:latin typeface="微软雅黑" panose="020B0503020204020204" pitchFamily="34" charset="-122"/>
                <a:ea typeface="微软雅黑" panose="020B0503020204020204" pitchFamily="34" charset="-122"/>
              </a:endParaRPr>
            </a:p>
          </p:txBody>
        </p:sp>
      </p:grpSp>
      <p:sp>
        <p:nvSpPr>
          <p:cNvPr id="88" name="Text Box 11"/>
          <p:cNvSpPr txBox="1">
            <a:spLocks noChangeArrowheads="1"/>
          </p:cNvSpPr>
          <p:nvPr/>
        </p:nvSpPr>
        <p:spPr bwMode="auto">
          <a:xfrm>
            <a:off x="71406" y="2577108"/>
            <a:ext cx="1516060" cy="923330"/>
          </a:xfrm>
          <a:prstGeom prst="rect">
            <a:avLst/>
          </a:prstGeom>
          <a:noFill/>
          <a:ln w="28575" algn="ctr">
            <a:noFill/>
            <a:miter lim="800000"/>
          </a:ln>
        </p:spPr>
        <p:txBody>
          <a:bodyPr wrap="square" lIns="0" tIns="0" rIns="0" bIns="0">
            <a:spAutoFit/>
          </a:bodyPr>
          <a:lstStyle/>
          <a:p>
            <a:pPr>
              <a:spcBef>
                <a:spcPct val="50000"/>
              </a:spcBef>
            </a:pPr>
            <a:r>
              <a:rPr kumimoji="0" lang="zh-CN" altLang="en-US" sz="2000" b="1" dirty="0">
                <a:solidFill>
                  <a:srgbClr val="3333FF"/>
                </a:solidFill>
                <a:latin typeface="微软雅黑" panose="020B0503020204020204" pitchFamily="34" charset="-122"/>
                <a:ea typeface="微软雅黑" panose="020B0503020204020204" pitchFamily="34" charset="-122"/>
              </a:rPr>
              <a:t>通过该指针可以实现顺序查找</a:t>
            </a:r>
            <a:endParaRPr kumimoji="0" lang="zh-CN" altLang="en-US" sz="2000" b="1" dirty="0">
              <a:solidFill>
                <a:srgbClr val="3333FF"/>
              </a:solidFill>
              <a:latin typeface="微软雅黑" panose="020B0503020204020204" pitchFamily="34" charset="-122"/>
              <a:ea typeface="微软雅黑" panose="020B0503020204020204" pitchFamily="34" charset="-122"/>
            </a:endParaRPr>
          </a:p>
        </p:txBody>
      </p:sp>
      <p:sp>
        <p:nvSpPr>
          <p:cNvPr id="86" name="灯片编号占位符 85"/>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
        <p:nvSpPr>
          <p:cNvPr id="82" name="TextBox 81"/>
          <p:cNvSpPr txBox="1"/>
          <p:nvPr/>
        </p:nvSpPr>
        <p:spPr>
          <a:xfrm>
            <a:off x="285720" y="357166"/>
            <a:ext cx="1643074" cy="461665"/>
          </a:xfrm>
          <a:prstGeom prst="rect">
            <a:avLst/>
          </a:prstGeom>
          <a:noFill/>
        </p:spPr>
        <p:txBody>
          <a:bodyPr wrap="square" rtlCol="0">
            <a:spAutoFit/>
          </a:bodyPr>
          <a:lstStyle/>
          <a:p>
            <a:pPr algn="l"/>
            <a:r>
              <a:rPr lang="en-US" altLang="zh-CN" sz="2400" b="1" smtClean="0">
                <a:ea typeface="楷体" panose="02010609060101010101" pitchFamily="49" charset="-122"/>
                <a:cs typeface="Times New Roman" panose="02020603050405020304" pitchFamily="18" charset="0"/>
              </a:rPr>
              <a:t>B+</a:t>
            </a:r>
            <a:r>
              <a:rPr lang="zh-CN" altLang="en-US" sz="2400" b="1" smtClean="0">
                <a:ea typeface="楷体" panose="02010609060101010101" pitchFamily="49" charset="-122"/>
                <a:cs typeface="Times New Roman" panose="02020603050405020304" pitchFamily="18" charset="0"/>
              </a:rPr>
              <a:t>树</a:t>
            </a:r>
            <a:r>
              <a:rPr lang="zh-CN" altLang="en-US" sz="2400" b="1" smtClean="0">
                <a:latin typeface="楷体" panose="02010609060101010101" pitchFamily="49" charset="-122"/>
                <a:ea typeface="楷体" panose="02010609060101010101" pitchFamily="49" charset="-122"/>
              </a:rPr>
              <a:t>查找</a:t>
            </a:r>
            <a:endParaRPr lang="zh-CN" altLang="en-US" sz="2400" b="1" dirty="0" smtClean="0">
              <a:latin typeface="楷体" panose="02010609060101010101" pitchFamily="49" charset="-122"/>
              <a:ea typeface="楷体" panose="02010609060101010101" pitchFamily="49" charset="-122"/>
            </a:endParaRPr>
          </a:p>
        </p:txBody>
      </p:sp>
      <p:grpSp>
        <p:nvGrpSpPr>
          <p:cNvPr id="83" name="组合 82"/>
          <p:cNvGrpSpPr/>
          <p:nvPr/>
        </p:nvGrpSpPr>
        <p:grpSpPr>
          <a:xfrm>
            <a:off x="71406" y="1142984"/>
            <a:ext cx="8918735" cy="4884119"/>
            <a:chOff x="71406" y="1286705"/>
            <a:chExt cx="8918735" cy="4884119"/>
          </a:xfrm>
        </p:grpSpPr>
        <p:sp>
          <p:nvSpPr>
            <p:cNvPr id="89" name="矩形 88"/>
            <p:cNvSpPr/>
            <p:nvPr/>
          </p:nvSpPr>
          <p:spPr>
            <a:xfrm>
              <a:off x="3992628" y="165833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31 </a:t>
              </a:r>
              <a:r>
                <a:rPr lang="en-US" altLang="zh-CN" sz="2000" b="1" dirty="0" smtClean="0">
                  <a:solidFill>
                    <a:srgbClr val="3333FF"/>
                  </a:solidFill>
                  <a:latin typeface="Consolas" panose="020B0609020204030204" pitchFamily="49" charset="0"/>
                  <a:cs typeface="Consolas" panose="020B0609020204030204" pitchFamily="49" charset="0"/>
                </a:rPr>
                <a:t>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90" name="矩形 89"/>
            <p:cNvSpPr/>
            <p:nvPr/>
          </p:nvSpPr>
          <p:spPr>
            <a:xfrm>
              <a:off x="2143108" y="2804711"/>
              <a:ext cx="1285884"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smtClean="0">
                  <a:solidFill>
                    <a:srgbClr val="3333FF"/>
                  </a:solidFill>
                  <a:latin typeface="Consolas" panose="020B0609020204030204" pitchFamily="49" charset="0"/>
                  <a:cs typeface="Consolas" panose="020B0609020204030204" pitchFamily="49" charset="0"/>
                </a:rPr>
                <a:t>15 22 31</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92" name="矩形 91"/>
            <p:cNvSpPr/>
            <p:nvPr/>
          </p:nvSpPr>
          <p:spPr>
            <a:xfrm>
              <a:off x="6000760" y="2804711"/>
              <a:ext cx="1008000"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2000" b="1" dirty="0" smtClean="0">
                  <a:solidFill>
                    <a:srgbClr val="3333FF"/>
                  </a:solidFill>
                  <a:latin typeface="Consolas" panose="020B0609020204030204" pitchFamily="49" charset="0"/>
                  <a:cs typeface="Consolas" panose="020B0609020204030204" pitchFamily="49" charset="0"/>
                </a:rPr>
                <a:t>47  52</a:t>
              </a:r>
              <a:endParaRPr lang="zh-CN" altLang="en-US" sz="2000" b="1" dirty="0">
                <a:solidFill>
                  <a:srgbClr val="3333FF"/>
                </a:solidFill>
                <a:latin typeface="Consolas" panose="020B0609020204030204" pitchFamily="49" charset="0"/>
                <a:cs typeface="Consolas" panose="020B0609020204030204" pitchFamily="49" charset="0"/>
              </a:endParaRPr>
            </a:p>
          </p:txBody>
        </p:sp>
        <p:sp>
          <p:nvSpPr>
            <p:cNvPr id="93" name="矩形 92"/>
            <p:cNvSpPr/>
            <p:nvPr/>
          </p:nvSpPr>
          <p:spPr>
            <a:xfrm>
              <a:off x="714348"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10 12 </a:t>
              </a:r>
              <a:r>
                <a:rPr lang="en-US" altLang="zh-CN" sz="1800" b="1" dirty="0" smtClean="0">
                  <a:solidFill>
                    <a:srgbClr val="3333FF"/>
                  </a:solidFill>
                  <a:latin typeface="Consolas" panose="020B0609020204030204" pitchFamily="49" charset="0"/>
                  <a:cs typeface="Consolas" panose="020B0609020204030204" pitchFamily="49" charset="0"/>
                </a:rPr>
                <a:t>15</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94" name="矩形 93"/>
            <p:cNvSpPr/>
            <p:nvPr/>
          </p:nvSpPr>
          <p:spPr>
            <a:xfrm>
              <a:off x="2071670" y="4019157"/>
              <a:ext cx="150019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18 19 20 22</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97" name="矩形 96"/>
            <p:cNvSpPr/>
            <p:nvPr/>
          </p:nvSpPr>
          <p:spPr>
            <a:xfrm>
              <a:off x="378618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23 30 </a:t>
              </a:r>
              <a:r>
                <a:rPr lang="en-US" altLang="zh-CN" sz="1800" b="1" dirty="0" smtClean="0">
                  <a:solidFill>
                    <a:srgbClr val="3333FF"/>
                  </a:solidFill>
                  <a:latin typeface="Consolas" panose="020B0609020204030204" pitchFamily="49" charset="0"/>
                  <a:cs typeface="Consolas" panose="020B0609020204030204" pitchFamily="49" charset="0"/>
                </a:rPr>
                <a:t>31</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98" name="矩形 97"/>
            <p:cNvSpPr/>
            <p:nvPr/>
          </p:nvSpPr>
          <p:spPr>
            <a:xfrm>
              <a:off x="5214942" y="4019157"/>
              <a:ext cx="1214446"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33 45 47</a:t>
              </a:r>
              <a:endParaRPr lang="zh-CN" altLang="en-US" sz="1800" b="1" dirty="0">
                <a:solidFill>
                  <a:srgbClr val="3333FF"/>
                </a:solidFill>
                <a:latin typeface="Consolas" panose="020B0609020204030204" pitchFamily="49" charset="0"/>
                <a:cs typeface="Consolas" panose="020B0609020204030204" pitchFamily="49" charset="0"/>
              </a:endParaRPr>
            </a:p>
          </p:txBody>
        </p:sp>
        <p:sp>
          <p:nvSpPr>
            <p:cNvPr id="99" name="矩形 98"/>
            <p:cNvSpPr/>
            <p:nvPr/>
          </p:nvSpPr>
          <p:spPr>
            <a:xfrm>
              <a:off x="6643702" y="4019157"/>
              <a:ext cx="1143008" cy="432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b="1" smtClean="0">
                  <a:solidFill>
                    <a:srgbClr val="3333FF"/>
                  </a:solidFill>
                  <a:latin typeface="Consolas" panose="020B0609020204030204" pitchFamily="49" charset="0"/>
                  <a:cs typeface="Consolas" panose="020B0609020204030204" pitchFamily="49" charset="0"/>
                </a:rPr>
                <a:t>48 50 52</a:t>
              </a:r>
              <a:endParaRPr lang="zh-CN" altLang="en-US" sz="1800" b="1" dirty="0">
                <a:solidFill>
                  <a:srgbClr val="3333FF"/>
                </a:solidFill>
                <a:latin typeface="Consolas" panose="020B0609020204030204" pitchFamily="49" charset="0"/>
                <a:cs typeface="Consolas" panose="020B0609020204030204" pitchFamily="49" charset="0"/>
              </a:endParaRPr>
            </a:p>
          </p:txBody>
        </p:sp>
        <p:cxnSp>
          <p:nvCxnSpPr>
            <p:cNvPr id="100" name="直接箭头连接符 99"/>
            <p:cNvCxnSpPr>
              <a:stCxn id="93" idx="3"/>
              <a:endCxn id="94" idx="1"/>
            </p:cNvCxnSpPr>
            <p:nvPr/>
          </p:nvCxnSpPr>
          <p:spPr>
            <a:xfrm>
              <a:off x="1857356" y="4235157"/>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p:nvPr/>
          </p:nvCxnSpPr>
          <p:spPr>
            <a:xfrm>
              <a:off x="3567106"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a:off x="502602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6429388" y="4233471"/>
              <a:ext cx="214314"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endCxn id="93" idx="0"/>
            </p:cNvCxnSpPr>
            <p:nvPr/>
          </p:nvCxnSpPr>
          <p:spPr>
            <a:xfrm rot="10800000" flipV="1">
              <a:off x="1285852" y="3161901"/>
              <a:ext cx="1071570"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rot="16200000" flipH="1">
              <a:off x="2366609" y="3565388"/>
              <a:ext cx="900000" cy="35719"/>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endCxn id="97" idx="0"/>
            </p:cNvCxnSpPr>
            <p:nvPr/>
          </p:nvCxnSpPr>
          <p:spPr>
            <a:xfrm>
              <a:off x="3143240" y="3161901"/>
              <a:ext cx="1250165" cy="85725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endCxn id="98" idx="0"/>
            </p:cNvCxnSpPr>
            <p:nvPr/>
          </p:nvCxnSpPr>
          <p:spPr>
            <a:xfrm rot="5400000">
              <a:off x="5625712" y="3358357"/>
              <a:ext cx="857254" cy="464347"/>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endCxn id="99" idx="0"/>
            </p:cNvCxnSpPr>
            <p:nvPr/>
          </p:nvCxnSpPr>
          <p:spPr>
            <a:xfrm rot="16200000" flipH="1">
              <a:off x="6536545" y="3340496"/>
              <a:ext cx="857256" cy="500066"/>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endCxn id="90" idx="0"/>
            </p:cNvCxnSpPr>
            <p:nvPr/>
          </p:nvCxnSpPr>
          <p:spPr>
            <a:xfrm rot="10800000" flipV="1">
              <a:off x="2786050" y="2018893"/>
              <a:ext cx="1500198"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endCxn id="92" idx="0"/>
            </p:cNvCxnSpPr>
            <p:nvPr/>
          </p:nvCxnSpPr>
          <p:spPr>
            <a:xfrm>
              <a:off x="4714876" y="2018893"/>
              <a:ext cx="1789884" cy="78581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rot="5400000">
              <a:off x="663548"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721843"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r>
                <a:rPr lang="zh-CN" altLang="en-US" sz="1800" b="1" dirty="0" smtClean="0">
                  <a:solidFill>
                    <a:srgbClr val="3333FF"/>
                  </a:solidFill>
                  <a:latin typeface="楷体" panose="02010609060101010101" pitchFamily="49" charset="-122"/>
                  <a:ea typeface="楷体" panose="02010609060101010101" pitchFamily="49" charset="-122"/>
                </a:rPr>
                <a:t>张三</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3" name="直接箭头连接符 112"/>
            <p:cNvCxnSpPr/>
            <p:nvPr/>
          </p:nvCxnSpPr>
          <p:spPr>
            <a:xfrm rot="5400000">
              <a:off x="106404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112233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5" name="直接箭头连接符 114"/>
            <p:cNvCxnSpPr/>
            <p:nvPr/>
          </p:nvCxnSpPr>
          <p:spPr>
            <a:xfrm rot="5400000">
              <a:off x="1462059"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1520354"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7" name="直接箭头连接符 116"/>
            <p:cNvCxnSpPr/>
            <p:nvPr/>
          </p:nvCxnSpPr>
          <p:spPr>
            <a:xfrm rot="5400000">
              <a:off x="3748525"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3806820"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19" name="直接箭头连接符 118"/>
            <p:cNvCxnSpPr/>
            <p:nvPr/>
          </p:nvCxnSpPr>
          <p:spPr>
            <a:xfrm rot="5400000">
              <a:off x="4149020"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207315"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1" name="直接箭头连接符 120"/>
            <p:cNvCxnSpPr/>
            <p:nvPr/>
          </p:nvCxnSpPr>
          <p:spPr>
            <a:xfrm rot="5400000">
              <a:off x="4547036"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4605331"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3" name="直接箭头连接符 122"/>
            <p:cNvCxnSpPr/>
            <p:nvPr/>
          </p:nvCxnSpPr>
          <p:spPr>
            <a:xfrm rot="5400000">
              <a:off x="5222880"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5281175"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5" name="直接箭头连接符 124"/>
            <p:cNvCxnSpPr/>
            <p:nvPr/>
          </p:nvCxnSpPr>
          <p:spPr>
            <a:xfrm rot="5400000">
              <a:off x="5623375"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5681670"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7" name="直接箭头连接符 126"/>
            <p:cNvCxnSpPr/>
            <p:nvPr/>
          </p:nvCxnSpPr>
          <p:spPr>
            <a:xfrm rot="5400000">
              <a:off x="602139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07968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29" name="直接箭头连接符 128"/>
            <p:cNvCxnSpPr/>
            <p:nvPr/>
          </p:nvCxnSpPr>
          <p:spPr>
            <a:xfrm rot="5400000">
              <a:off x="6580202"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6638497"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31" name="直接箭头连接符 130"/>
            <p:cNvCxnSpPr/>
            <p:nvPr/>
          </p:nvCxnSpPr>
          <p:spPr>
            <a:xfrm rot="5400000">
              <a:off x="6980697"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038992"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33" name="直接箭头连接符 132"/>
            <p:cNvCxnSpPr/>
            <p:nvPr/>
          </p:nvCxnSpPr>
          <p:spPr>
            <a:xfrm rot="5400000">
              <a:off x="7378713"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34" name="TextBox 133"/>
            <p:cNvSpPr txBox="1"/>
            <p:nvPr/>
          </p:nvSpPr>
          <p:spPr>
            <a:xfrm>
              <a:off x="7437008"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35" name="直接箭头连接符 134"/>
            <p:cNvCxnSpPr/>
            <p:nvPr/>
          </p:nvCxnSpPr>
          <p:spPr>
            <a:xfrm rot="5400000">
              <a:off x="2008613" y="4594033"/>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2066908" y="4841685"/>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37" name="直接箭头连接符 136"/>
            <p:cNvCxnSpPr/>
            <p:nvPr/>
          </p:nvCxnSpPr>
          <p:spPr>
            <a:xfrm rot="5400000">
              <a:off x="2409108"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2467403"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39" name="直接箭头连接符 138"/>
            <p:cNvCxnSpPr/>
            <p:nvPr/>
          </p:nvCxnSpPr>
          <p:spPr>
            <a:xfrm rot="5400000">
              <a:off x="2807124"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40" name="TextBox 139"/>
            <p:cNvSpPr txBox="1"/>
            <p:nvPr/>
          </p:nvSpPr>
          <p:spPr>
            <a:xfrm>
              <a:off x="2865419"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cxnSp>
          <p:nvCxnSpPr>
            <p:cNvPr id="141" name="直接箭头连接符 140"/>
            <p:cNvCxnSpPr/>
            <p:nvPr/>
          </p:nvCxnSpPr>
          <p:spPr>
            <a:xfrm rot="5400000">
              <a:off x="3189271" y="4593239"/>
              <a:ext cx="428628" cy="1588"/>
            </a:xfrm>
            <a:prstGeom prst="straightConnector1">
              <a:avLst/>
            </a:prstGeom>
            <a:ln w="28575">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142" name="TextBox 141"/>
            <p:cNvSpPr txBox="1"/>
            <p:nvPr/>
          </p:nvSpPr>
          <p:spPr>
            <a:xfrm>
              <a:off x="3247566" y="4840891"/>
              <a:ext cx="349702" cy="720000"/>
            </a:xfrm>
            <a:prstGeom prst="rect">
              <a:avLst/>
            </a:prstGeom>
          </p:spPr>
          <p:style>
            <a:lnRef idx="1">
              <a:schemeClr val="accent6"/>
            </a:lnRef>
            <a:fillRef idx="2">
              <a:schemeClr val="accent6"/>
            </a:fillRef>
            <a:effectRef idx="1">
              <a:schemeClr val="accent6"/>
            </a:effectRef>
            <a:fontRef idx="minor">
              <a:schemeClr val="dk1"/>
            </a:fontRef>
          </p:style>
          <p:txBody>
            <a:bodyPr vert="eaVert" wrap="square" lIns="36000" tIns="0" rIns="36000" bIns="0" rtlCol="0">
              <a:spAutoFit/>
            </a:bodyPr>
            <a:lstStyle/>
            <a:p>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43" name="Line 6"/>
            <p:cNvSpPr>
              <a:spLocks noChangeShapeType="1"/>
            </p:cNvSpPr>
            <p:nvPr/>
          </p:nvSpPr>
          <p:spPr bwMode="auto">
            <a:xfrm flipH="1" flipV="1">
              <a:off x="947728" y="5572140"/>
              <a:ext cx="73025" cy="288925"/>
            </a:xfrm>
            <a:prstGeom prst="line">
              <a:avLst/>
            </a:prstGeom>
            <a:noFill/>
            <a:ln w="38100">
              <a:solidFill>
                <a:srgbClr val="CC00CC"/>
              </a:solidFill>
              <a:round/>
              <a:tailEnd type="triangle" w="med" len="med"/>
            </a:ln>
          </p:spPr>
          <p:txBody>
            <a:bodyPr anchor="ctr">
              <a:spAutoFit/>
            </a:bodyPr>
            <a:lstStyle/>
            <a:p>
              <a:endParaRPr lang="zh-CN" altLang="en-US"/>
            </a:p>
          </p:txBody>
        </p:sp>
        <p:sp>
          <p:nvSpPr>
            <p:cNvPr id="144" name="Text Box 7"/>
            <p:cNvSpPr txBox="1">
              <a:spLocks noChangeArrowheads="1"/>
            </p:cNvSpPr>
            <p:nvPr/>
          </p:nvSpPr>
          <p:spPr bwMode="auto">
            <a:xfrm>
              <a:off x="477828" y="5773949"/>
              <a:ext cx="2665412" cy="396875"/>
            </a:xfrm>
            <a:prstGeom prst="rect">
              <a:avLst/>
            </a:prstGeom>
            <a:noFill/>
            <a:ln w="9525">
              <a:noFill/>
              <a:miter lim="800000"/>
            </a:ln>
          </p:spPr>
          <p:txBody>
            <a:bodyPr>
              <a:spAutoFit/>
            </a:bodyPr>
            <a:lstStyle/>
            <a:p>
              <a:pPr algn="l">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关键字</a:t>
              </a:r>
              <a:r>
                <a:rPr kumimoji="0" lang="zh-CN" altLang="en-US" sz="2000" b="1" dirty="0">
                  <a:solidFill>
                    <a:srgbClr val="3333FF"/>
                  </a:solidFill>
                  <a:latin typeface="楷体" panose="02010609060101010101" pitchFamily="49" charset="-122"/>
                  <a:ea typeface="楷体" panose="02010609060101010101" pitchFamily="49" charset="-122"/>
                </a:rPr>
                <a:t>指向的记录。</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nvGrpSpPr>
            <p:cNvPr id="145" name="组合 59"/>
            <p:cNvGrpSpPr/>
            <p:nvPr/>
          </p:nvGrpSpPr>
          <p:grpSpPr>
            <a:xfrm>
              <a:off x="1643042" y="1286705"/>
              <a:ext cx="6154803" cy="2214578"/>
              <a:chOff x="1857356" y="-1236495"/>
              <a:chExt cx="6154803" cy="2214578"/>
            </a:xfrm>
          </p:grpSpPr>
          <p:sp>
            <p:nvSpPr>
              <p:cNvPr id="152" name="矩形 151"/>
              <p:cNvSpPr/>
              <p:nvPr/>
            </p:nvSpPr>
            <p:spPr>
              <a:xfrm>
                <a:off x="1857356" y="-1236495"/>
                <a:ext cx="5715040" cy="2214578"/>
              </a:xfrm>
              <a:prstGeom prst="rect">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53" name="Text Box 9"/>
              <p:cNvSpPr txBox="1">
                <a:spLocks noChangeArrowheads="1"/>
              </p:cNvSpPr>
              <p:nvPr/>
            </p:nvSpPr>
            <p:spPr bwMode="auto">
              <a:xfrm>
                <a:off x="7643834" y="-808712"/>
                <a:ext cx="368325" cy="1477328"/>
              </a:xfrm>
              <a:prstGeom prst="rect">
                <a:avLst/>
              </a:prstGeom>
              <a:noFill/>
              <a:ln w="9525">
                <a:noFill/>
                <a:miter lim="800000"/>
              </a:ln>
            </p:spPr>
            <p:txBody>
              <a:bodyPr wrap="square">
                <a:spAutoFit/>
              </a:bodyPr>
              <a:lstStyle/>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索</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引</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部</a:t>
                </a:r>
                <a:endParaRPr kumimoji="0" lang="en-US" altLang="zh-CN" sz="2000" b="1" dirty="0" smtClean="0">
                  <a:solidFill>
                    <a:srgbClr val="3333FF"/>
                  </a:solidFill>
                  <a:latin typeface="楷体" panose="02010609060101010101" pitchFamily="49" charset="-122"/>
                  <a:ea typeface="楷体" panose="02010609060101010101" pitchFamily="49" charset="-122"/>
                </a:endParaRPr>
              </a:p>
              <a:p>
                <a:pPr algn="l">
                  <a:lnSpc>
                    <a:spcPts val="1800"/>
                  </a:lnSpc>
                  <a:spcBef>
                    <a:spcPct val="50000"/>
                  </a:spcBef>
                </a:pPr>
                <a:r>
                  <a:rPr kumimoji="0" lang="zh-CN" altLang="en-US" sz="2000" b="1" dirty="0" smtClean="0">
                    <a:solidFill>
                      <a:srgbClr val="3333FF"/>
                    </a:solidFill>
                    <a:latin typeface="楷体" panose="02010609060101010101" pitchFamily="49" charset="-122"/>
                    <a:ea typeface="楷体" panose="02010609060101010101" pitchFamily="49" charset="-122"/>
                  </a:rPr>
                  <a:t>分</a:t>
                </a:r>
                <a:endParaRPr kumimoji="0" lang="zh-CN" altLang="en-US" sz="2000" b="1" dirty="0">
                  <a:solidFill>
                    <a:srgbClr val="3333FF"/>
                  </a:solidFill>
                  <a:latin typeface="楷体" panose="02010609060101010101" pitchFamily="49" charset="-122"/>
                  <a:ea typeface="楷体" panose="02010609060101010101" pitchFamily="49" charset="-122"/>
                </a:endParaRPr>
              </a:p>
            </p:txBody>
          </p:sp>
        </p:grpSp>
        <p:cxnSp>
          <p:nvCxnSpPr>
            <p:cNvPr id="146" name="直接箭头连接符 145"/>
            <p:cNvCxnSpPr/>
            <p:nvPr/>
          </p:nvCxnSpPr>
          <p:spPr>
            <a:xfrm rot="5400000">
              <a:off x="5108628" y="1749364"/>
              <a:ext cx="0" cy="216000"/>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5214942" y="1643050"/>
              <a:ext cx="1071570" cy="400110"/>
            </a:xfrm>
            <a:prstGeom prst="rect">
              <a:avLst/>
            </a:prstGeom>
            <a:noFill/>
          </p:spPr>
          <p:txBody>
            <a:bodyPr wrap="square" rtlCol="0">
              <a:spAutoFit/>
            </a:bodyPr>
            <a:lstStyle/>
            <a:p>
              <a:pPr algn="l"/>
              <a:r>
                <a:rPr lang="zh-CN" altLang="en-US" sz="2000" b="1" smtClean="0">
                  <a:solidFill>
                    <a:srgbClr val="3333FF"/>
                  </a:solidFill>
                  <a:ea typeface="楷体" panose="02010609060101010101" pitchFamily="49" charset="-122"/>
                  <a:cs typeface="Times New Roman" panose="02020603050405020304" pitchFamily="18" charset="0"/>
                </a:rPr>
                <a:t>根结点</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48" name="直接箭头连接符 147"/>
            <p:cNvCxnSpPr/>
            <p:nvPr/>
          </p:nvCxnSpPr>
          <p:spPr>
            <a:xfrm>
              <a:off x="285720" y="4157271"/>
              <a:ext cx="396000" cy="1588"/>
            </a:xfrm>
            <a:prstGeom prst="straightConnector1">
              <a:avLst/>
            </a:prstGeom>
            <a:ln w="28575">
              <a:solidFill>
                <a:srgbClr val="9900FF"/>
              </a:solidFill>
              <a:tailEnd type="arrow"/>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71406" y="3690485"/>
              <a:ext cx="714380" cy="400110"/>
            </a:xfrm>
            <a:prstGeom prst="rect">
              <a:avLst/>
            </a:prstGeom>
            <a:noFill/>
          </p:spPr>
          <p:txBody>
            <a:bodyPr wrap="square" rtlCol="0">
              <a:spAutoFit/>
            </a:bodyPr>
            <a:lstStyle/>
            <a:p>
              <a:r>
                <a:rPr lang="en-US" altLang="zh-CN" sz="2000" b="1" dirty="0" err="1" smtClean="0">
                  <a:solidFill>
                    <a:srgbClr val="3333FF"/>
                  </a:solidFill>
                  <a:latin typeface="Consolas" panose="020B0609020204030204" pitchFamily="49" charset="0"/>
                  <a:ea typeface="楷体" panose="02010609060101010101" pitchFamily="49" charset="-122"/>
                  <a:cs typeface="Consolas" panose="020B0609020204030204" pitchFamily="49" charset="0"/>
                </a:rPr>
                <a:t>sqt</a:t>
              </a:r>
              <a:endParaRPr lang="zh-CN" altLang="en-US" sz="20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0" name="TextBox 149"/>
            <p:cNvSpPr txBox="1"/>
            <p:nvPr/>
          </p:nvSpPr>
          <p:spPr>
            <a:xfrm>
              <a:off x="8001024" y="3665339"/>
              <a:ext cx="989117" cy="1192421"/>
            </a:xfrm>
            <a:prstGeom prst="rect">
              <a:avLst/>
            </a:prstGeom>
            <a:noFill/>
          </p:spPr>
          <p:txBody>
            <a:bodyPr wrap="square" rtlCol="0">
              <a:spAutoFit/>
            </a:bodyPr>
            <a:lstStyle/>
            <a:p>
              <a:r>
                <a:rPr kumimoji="0" lang="zh-CN" altLang="en-US" sz="1800" b="1" smtClean="0">
                  <a:solidFill>
                    <a:srgbClr val="FF00FF"/>
                  </a:solidFill>
                  <a:ea typeface="楷体" panose="02010609060101010101" pitchFamily="49" charset="-122"/>
                  <a:cs typeface="Times New Roman" panose="02020603050405020304" pitchFamily="18" charset="0"/>
                </a:rPr>
                <a:t>叶子结点层：</a:t>
              </a:r>
              <a:r>
                <a:rPr lang="zh-CN" altLang="en-US" sz="1800" b="1" dirty="0" smtClean="0">
                  <a:solidFill>
                    <a:srgbClr val="3333FF"/>
                  </a:solidFill>
                  <a:latin typeface="楷体" panose="02010609060101010101" pitchFamily="49" charset="-122"/>
                  <a:ea typeface="楷体" panose="02010609060101010101" pitchFamily="49" charset="-122"/>
                </a:rPr>
                <a:t>全部的关键字</a:t>
              </a:r>
              <a:endParaRPr lang="zh-CN" altLang="en-US" sz="1800" b="1" dirty="0" smtClean="0">
                <a:solidFill>
                  <a:srgbClr val="3333FF"/>
                </a:solidFill>
                <a:latin typeface="楷体" panose="02010609060101010101" pitchFamily="49" charset="-122"/>
                <a:ea typeface="楷体" panose="02010609060101010101" pitchFamily="49" charset="-122"/>
              </a:endParaRPr>
            </a:p>
          </p:txBody>
        </p:sp>
        <p:sp>
          <p:nvSpPr>
            <p:cNvPr id="151" name="右大括号 150"/>
            <p:cNvSpPr/>
            <p:nvPr/>
          </p:nvSpPr>
          <p:spPr>
            <a:xfrm>
              <a:off x="7786710" y="3879653"/>
              <a:ext cx="296735" cy="714380"/>
            </a:xfrm>
            <a:prstGeom prst="rightBrace">
              <a:avLst/>
            </a:prstGeom>
            <a:ln w="28575">
              <a:solidFill>
                <a:srgbClr val="FF00FF"/>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714348" y="1428736"/>
            <a:ext cx="7500990" cy="969496"/>
          </a:xfrm>
          <a:prstGeom prst="rect">
            <a:avLst/>
          </a:prstGeom>
          <a:scene3d>
            <a:camera prst="perspectiveAbove"/>
            <a:lightRig rig="threePt" dir="t"/>
          </a:scene3d>
        </p:spPr>
        <p:style>
          <a:lnRef idx="1">
            <a:schemeClr val="accent1"/>
          </a:lnRef>
          <a:fillRef idx="2">
            <a:schemeClr val="accent1"/>
          </a:fillRef>
          <a:effectRef idx="1">
            <a:schemeClr val="accent1"/>
          </a:effectRef>
          <a:fontRef idx="minor">
            <a:schemeClr val="dk1"/>
          </a:fontRef>
        </p:style>
        <p:txBody>
          <a:bodyPr wrap="square">
            <a:spAutoFit/>
          </a:bodyPr>
          <a:lstStyle/>
          <a:p>
            <a:pPr algn="l" fontAlgn="ctr">
              <a:spcBef>
                <a:spcPct val="50000"/>
              </a:spcBef>
            </a:pPr>
            <a:r>
              <a:rPr kumimoji="0" lang="zh-CN" altLang="en-US" sz="2400" b="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思考题</a:t>
            </a:r>
            <a:endParaRPr lang="en-US" altLang="zh-CN" sz="2400" b="1" i="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algn="l" fontAlgn="ctr">
              <a:spcBef>
                <a:spcPct val="50000"/>
              </a:spcBef>
            </a:pPr>
            <a:r>
              <a:rPr lang="en-US" altLang="zh-CN" sz="2200" b="1" i="1" smtClean="0">
                <a:solidFill>
                  <a:srgbClr val="3333FF"/>
                </a:solidFill>
                <a:latin typeface="Consolas" panose="020B0609020204030204" pitchFamily="49" charset="0"/>
                <a:ea typeface="楷体" panose="02010609060101010101" pitchFamily="49" charset="-122"/>
                <a:cs typeface="Consolas" panose="020B0609020204030204" pitchFamily="49" charset="0"/>
              </a:rPr>
              <a:t>    m</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阶的</a:t>
            </a:r>
            <a:r>
              <a:rPr lang="en-US" altLang="zh-CN"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rPr>
              <a:t>树和</a:t>
            </a:r>
            <a:r>
              <a:rPr lang="en-US" altLang="zh-CN" sz="2200" b="1" i="1" dirty="0">
                <a:solidFill>
                  <a:srgbClr val="3333FF"/>
                </a:solidFill>
                <a:latin typeface="Consolas" panose="020B0609020204030204" pitchFamily="49" charset="0"/>
                <a:ea typeface="楷体" panose="02010609060101010101" pitchFamily="49" charset="-122"/>
                <a:cs typeface="Consolas" panose="020B0609020204030204" pitchFamily="49" charset="0"/>
              </a:rPr>
              <a:t>m</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阶</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en-US" altLang="zh-CN"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B</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树</a:t>
            </a:r>
            <a:r>
              <a:rPr lang="zh-CN" altLang="en-US" sz="2200" b="1" dirty="0" smtClean="0">
                <a:solidFill>
                  <a:srgbClr val="3333FF"/>
                </a:solidFill>
                <a:latin typeface="Consolas" panose="020B0609020204030204" pitchFamily="49" charset="0"/>
                <a:ea typeface="楷体" panose="02010609060101010101" pitchFamily="49" charset="-122"/>
                <a:cs typeface="Consolas" panose="020B0609020204030204" pitchFamily="49" charset="0"/>
              </a:rPr>
              <a:t>的主要</a:t>
            </a:r>
            <a:r>
              <a:rPr lang="zh-CN" altLang="en-US" sz="2200" b="1">
                <a:solidFill>
                  <a:srgbClr val="3333FF"/>
                </a:solidFill>
                <a:latin typeface="Consolas" panose="020B0609020204030204" pitchFamily="49" charset="0"/>
                <a:ea typeface="楷体" panose="02010609060101010101" pitchFamily="49" charset="-122"/>
                <a:cs typeface="Consolas" panose="020B0609020204030204" pitchFamily="49" charset="0"/>
              </a:rPr>
              <a:t>的</a:t>
            </a:r>
            <a:r>
              <a:rPr lang="zh-CN" altLang="en-US" sz="2200" b="1" smtClean="0">
                <a:solidFill>
                  <a:srgbClr val="3333FF"/>
                </a:solidFill>
                <a:latin typeface="Consolas" panose="020B0609020204030204" pitchFamily="49" charset="0"/>
                <a:ea typeface="楷体" panose="02010609060101010101" pitchFamily="49" charset="-122"/>
                <a:cs typeface="Consolas" panose="020B0609020204030204" pitchFamily="49" charset="0"/>
              </a:rPr>
              <a:t>差异？      </a:t>
            </a:r>
            <a:endParaRPr lang="zh-CN" altLang="en-US" sz="2200" b="1" dirty="0">
              <a:solidFill>
                <a:srgbClr val="3333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pPr>
              <a:defRPr/>
            </a:pPr>
            <a:fld id="{94984E60-CADE-4266-8DC7-A91C528B8A31}" type="slidenum">
              <a:rPr lang="en-US" altLang="zh-CN" smtClean="0"/>
            </a:fld>
            <a:r>
              <a:rPr lang="en-US" altLang="zh-CN" smtClean="0"/>
              <a:t>/44</a:t>
            </a:r>
            <a:endParaRPr lang="en-US" altLang="zh-CN"/>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42844" y="1734836"/>
            <a:ext cx="8382000" cy="707886"/>
          </a:xfrm>
          <a:prstGeom prst="rect">
            <a:avLst/>
          </a:prstGeom>
          <a:noFill/>
          <a:ln w="9525">
            <a:noFill/>
            <a:miter lim="800000"/>
          </a:ln>
        </p:spPr>
        <p:txBody>
          <a:bodyPr>
            <a:spAutoFit/>
          </a:bodyPr>
          <a:lstStyle/>
          <a:p>
            <a:pPr algn="l"/>
            <a:r>
              <a:rPr lang="en-US" altLang="zh-CN" sz="2000" b="1" smtClean="0">
                <a:solidFill>
                  <a:srgbClr val="0000FF"/>
                </a:solidFill>
                <a:ea typeface="楷体" panose="02010609060101010101" pitchFamily="49" charset="-122"/>
                <a:cs typeface="Times New Roman" panose="02020603050405020304" pitchFamily="18" charset="0"/>
              </a:rPr>
              <a:t>    </a:t>
            </a:r>
            <a:r>
              <a:rPr lang="zh-CN" altLang="zh-CN" sz="2000" b="1" smtClean="0">
                <a:solidFill>
                  <a:srgbClr val="0000FF"/>
                </a:solidFill>
                <a:ea typeface="楷体" panose="02010609060101010101" pitchFamily="49" charset="-122"/>
                <a:cs typeface="Times New Roman" panose="02020603050405020304" pitchFamily="18" charset="0"/>
              </a:rPr>
              <a:t>红黑树是一棵二叉排序树，每个结点有一个表示颜色的标志，增加外部结点（通常用</a:t>
            </a:r>
            <a:r>
              <a:rPr lang="en-US" altLang="zh-CN" sz="2000" b="1" smtClean="0">
                <a:solidFill>
                  <a:srgbClr val="0000FF"/>
                </a:solidFill>
                <a:ea typeface="楷体" panose="02010609060101010101" pitchFamily="49" charset="-122"/>
                <a:cs typeface="Times New Roman" panose="02020603050405020304" pitchFamily="18" charset="0"/>
              </a:rPr>
              <a:t>nil</a:t>
            </a:r>
            <a:r>
              <a:rPr lang="zh-CN" altLang="zh-CN" sz="2000" b="1" smtClean="0">
                <a:solidFill>
                  <a:srgbClr val="0000FF"/>
                </a:solidFill>
                <a:ea typeface="楷体" panose="02010609060101010101" pitchFamily="49" charset="-122"/>
                <a:cs typeface="Times New Roman" panose="02020603050405020304" pitchFamily="18" charset="0"/>
              </a:rPr>
              <a:t>表示），同时满足以下性质：</a:t>
            </a:r>
            <a:endParaRPr lang="zh-CN" altLang="zh-CN" sz="2000" b="1">
              <a:solidFill>
                <a:srgbClr val="0000FF"/>
              </a:solidFill>
              <a:ea typeface="楷体" panose="02010609060101010101" pitchFamily="49" charset="-122"/>
              <a:cs typeface="Times New Roman" panose="02020603050405020304" pitchFamily="18" charset="0"/>
            </a:endParaRPr>
          </a:p>
        </p:txBody>
      </p:sp>
      <p:sp>
        <p:nvSpPr>
          <p:cNvPr id="35843" name="Text Box 2" descr="蓝色面巾纸"/>
          <p:cNvSpPr txBox="1">
            <a:spLocks noChangeArrowheads="1"/>
          </p:cNvSpPr>
          <p:nvPr/>
        </p:nvSpPr>
        <p:spPr bwMode="auto">
          <a:xfrm>
            <a:off x="357158" y="285728"/>
            <a:ext cx="2714644" cy="514738"/>
          </a:xfrm>
          <a:prstGeom prst="rect">
            <a:avLst/>
          </a:prstGeom>
          <a:blipFill dpi="0" rotWithShape="1">
            <a:blip r:embed="rId1" cstate="print"/>
            <a:srcRect/>
            <a:tile tx="0" ty="0" sx="100000" sy="100000" flip="none" algn="tl"/>
          </a:blipFill>
          <a:ln w="9525">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tIns="72000" bIns="72000">
            <a:spAutoFit/>
          </a:bodyPr>
          <a:lstStyle/>
          <a:p>
            <a:pPr>
              <a:spcBef>
                <a:spcPct val="50000"/>
              </a:spcBef>
            </a:pPr>
            <a:r>
              <a:rPr lang="en-US" altLang="zh-CN" sz="2400" b="1" smtClean="0">
                <a:latin typeface="Consolas" panose="020B0609020204030204" pitchFamily="49" charset="0"/>
                <a:ea typeface="微软雅黑" panose="020B0503020204020204" pitchFamily="34" charset="-122"/>
                <a:cs typeface="Consolas" panose="020B0609020204030204" pitchFamily="49" charset="0"/>
              </a:rPr>
              <a:t>9.3.3 </a:t>
            </a:r>
            <a:r>
              <a:rPr lang="zh-CN" altLang="en-US" sz="2400" b="1" smtClean="0">
                <a:latin typeface="Consolas" panose="020B0609020204030204" pitchFamily="49" charset="0"/>
                <a:ea typeface="微软雅黑" panose="020B0503020204020204" pitchFamily="34" charset="-122"/>
                <a:cs typeface="Consolas" panose="020B0609020204030204" pitchFamily="49" charset="0"/>
              </a:rPr>
              <a:t>红黑树</a:t>
            </a:r>
            <a:endParaRPr kumimoji="0" lang="zh-CN" altLang="en-US" sz="2400" b="1" dirty="0">
              <a:solidFill>
                <a:srgbClr val="3333FF"/>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5844" name="Text Box 3"/>
          <p:cNvSpPr txBox="1">
            <a:spLocks noChangeArrowheads="1"/>
          </p:cNvSpPr>
          <p:nvPr/>
        </p:nvSpPr>
        <p:spPr bwMode="auto">
          <a:xfrm>
            <a:off x="574646" y="1071546"/>
            <a:ext cx="2568594" cy="430887"/>
          </a:xfrm>
          <a:prstGeom prst="rect">
            <a:avLst/>
          </a:prstGeom>
          <a:solidFill>
            <a:srgbClr val="9900FF"/>
          </a:solidFill>
          <a:ln w="28575" algn="ctr">
            <a:noFill/>
            <a:miter lim="800000"/>
          </a:ln>
        </p:spPr>
        <p:txBody>
          <a:bodyPr wrap="square">
            <a:spAutoFit/>
          </a:bodyPr>
          <a:lstStyle/>
          <a:p>
            <a:pPr>
              <a:spcBef>
                <a:spcPct val="50000"/>
              </a:spcBef>
            </a:pPr>
            <a:r>
              <a:rPr kumimoji="0" lang="en-US" altLang="zh-CN" sz="2200" b="1" smtClean="0">
                <a:solidFill>
                  <a:schemeClr val="bg1"/>
                </a:solidFill>
                <a:latin typeface="华文中宋" panose="02010600040101010101" pitchFamily="2" charset="-122"/>
                <a:ea typeface="华文中宋" panose="02010600040101010101" pitchFamily="2" charset="-122"/>
                <a:cs typeface="Consolas" panose="020B0609020204030204" pitchFamily="49" charset="0"/>
              </a:rPr>
              <a:t>1</a:t>
            </a:r>
            <a:r>
              <a:rPr kumimoji="0" lang="zh-CN" altLang="en-US" sz="2200" b="1" smtClean="0">
                <a:solidFill>
                  <a:schemeClr val="bg1"/>
                </a:solidFill>
                <a:latin typeface="华文中宋" panose="02010600040101010101" pitchFamily="2" charset="-122"/>
                <a:ea typeface="华文中宋" panose="02010600040101010101" pitchFamily="2" charset="-122"/>
                <a:cs typeface="Consolas" panose="020B0609020204030204" pitchFamily="49" charset="0"/>
              </a:rPr>
              <a:t>、什</a:t>
            </a:r>
            <a:r>
              <a:rPr kumimoji="0" lang="zh-CN" altLang="en-US" sz="2200" b="1">
                <a:solidFill>
                  <a:schemeClr val="bg1"/>
                </a:solidFill>
                <a:latin typeface="华文中宋" panose="02010600040101010101" pitchFamily="2" charset="-122"/>
                <a:ea typeface="华文中宋" panose="02010600040101010101" pitchFamily="2" charset="-122"/>
                <a:cs typeface="Consolas" panose="020B0609020204030204" pitchFamily="49" charset="0"/>
              </a:rPr>
              <a:t>么</a:t>
            </a:r>
            <a:r>
              <a:rPr kumimoji="0" lang="zh-CN" altLang="en-US" sz="2200" b="1" smtClean="0">
                <a:solidFill>
                  <a:schemeClr val="bg1"/>
                </a:solidFill>
                <a:latin typeface="华文中宋" panose="02010600040101010101" pitchFamily="2" charset="-122"/>
                <a:ea typeface="华文中宋" panose="02010600040101010101" pitchFamily="2" charset="-122"/>
                <a:cs typeface="Consolas" panose="020B0609020204030204" pitchFamily="49" charset="0"/>
              </a:rPr>
              <a:t>是红黑树</a:t>
            </a:r>
            <a:endParaRPr kumimoji="0" lang="zh-CN" altLang="en-US" sz="2200" b="1" dirty="0">
              <a:solidFill>
                <a:schemeClr val="bg1"/>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9" name="TextBox 8"/>
          <p:cNvSpPr txBox="1"/>
          <p:nvPr/>
        </p:nvSpPr>
        <p:spPr>
          <a:xfrm>
            <a:off x="785786" y="2714620"/>
            <a:ext cx="7715304" cy="2680322"/>
          </a:xfrm>
          <a:prstGeom prst="rect">
            <a:avLst/>
          </a:prstGeom>
          <a:ln>
            <a:solidFill>
              <a:schemeClr val="accent6">
                <a:lumMod val="20000"/>
                <a:lumOff val="80000"/>
              </a:schemeClr>
            </a:solidFill>
          </a:ln>
          <a:effectLst>
            <a:outerShdw blurRad="50800" dist="38100" algn="l"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600"/>
              </a:spcBef>
              <a:buFont typeface="+mj-ea"/>
              <a:buAutoNum type="circleNumDbPlain"/>
            </a:pPr>
            <a:r>
              <a:rPr lang="zh-CN" altLang="zh-CN" sz="2000" b="1" smtClean="0">
                <a:solidFill>
                  <a:srgbClr val="0000FF"/>
                </a:solidFill>
                <a:ea typeface="仿宋" panose="02010609060101010101" pitchFamily="49" charset="-122"/>
                <a:cs typeface="Times New Roman" panose="02020603050405020304" pitchFamily="18" charset="0"/>
              </a:rPr>
              <a:t>每个结点的颜色为</a:t>
            </a:r>
            <a:r>
              <a:rPr lang="zh-CN" altLang="zh-CN" sz="2000" b="1" smtClean="0">
                <a:solidFill>
                  <a:srgbClr val="FF0000"/>
                </a:solidFill>
                <a:ea typeface="仿宋" panose="02010609060101010101" pitchFamily="49" charset="-122"/>
                <a:cs typeface="Times New Roman" panose="02020603050405020304" pitchFamily="18" charset="0"/>
              </a:rPr>
              <a:t>红色</a:t>
            </a:r>
            <a:r>
              <a:rPr lang="zh-CN" altLang="zh-CN" sz="2000" b="1" smtClean="0">
                <a:solidFill>
                  <a:srgbClr val="0000FF"/>
                </a:solidFill>
                <a:ea typeface="仿宋" panose="02010609060101010101" pitchFamily="49" charset="-122"/>
                <a:cs typeface="Times New Roman" panose="02020603050405020304" pitchFamily="18" charset="0"/>
              </a:rPr>
              <a:t>或者</a:t>
            </a:r>
            <a:r>
              <a:rPr lang="zh-CN" altLang="zh-CN" sz="2000" b="1" smtClean="0">
                <a:solidFill>
                  <a:schemeClr val="tx1"/>
                </a:solidFill>
                <a:ea typeface="仿宋" panose="02010609060101010101" pitchFamily="49" charset="-122"/>
                <a:cs typeface="Times New Roman" panose="02020603050405020304" pitchFamily="18" charset="0"/>
              </a:rPr>
              <a:t>黑色</a:t>
            </a:r>
            <a:r>
              <a:rPr lang="zh-CN" altLang="zh-CN" sz="2000" b="1" smtClean="0">
                <a:solidFill>
                  <a:srgbClr val="0000FF"/>
                </a:solidFill>
                <a:ea typeface="仿宋" panose="02010609060101010101" pitchFamily="49" charset="-122"/>
                <a:cs typeface="Times New Roman" panose="02020603050405020304" pitchFamily="18" charset="0"/>
              </a:rPr>
              <a:t>。</a:t>
            </a:r>
            <a:endParaRPr lang="zh-CN" altLang="zh-CN" sz="2000" b="1" smtClean="0">
              <a:solidFill>
                <a:srgbClr val="0000FF"/>
              </a:solidFill>
              <a:ea typeface="仿宋" panose="02010609060101010101" pitchFamily="49" charset="-122"/>
              <a:cs typeface="Times New Roman" panose="02020603050405020304" pitchFamily="18" charset="0"/>
            </a:endParaRPr>
          </a:p>
          <a:p>
            <a:pPr marL="457200" indent="-457200" algn="l">
              <a:lnSpc>
                <a:spcPts val="2800"/>
              </a:lnSpc>
              <a:spcBef>
                <a:spcPts val="600"/>
              </a:spcBef>
              <a:buFont typeface="+mj-ea"/>
              <a:buAutoNum type="circleNumDbPlain"/>
            </a:pPr>
            <a:r>
              <a:rPr lang="zh-CN" altLang="zh-CN" sz="2000" b="1" smtClean="0">
                <a:solidFill>
                  <a:srgbClr val="0000FF"/>
                </a:solidFill>
                <a:ea typeface="仿宋" panose="02010609060101010101" pitchFamily="49" charset="-122"/>
                <a:cs typeface="Times New Roman" panose="02020603050405020304" pitchFamily="18" charset="0"/>
              </a:rPr>
              <a:t>根结点的颜色为</a:t>
            </a:r>
            <a:r>
              <a:rPr lang="zh-CN" altLang="zh-CN" sz="2000" b="1" smtClean="0">
                <a:solidFill>
                  <a:schemeClr val="tx1"/>
                </a:solidFill>
                <a:ea typeface="仿宋" panose="02010609060101010101" pitchFamily="49" charset="-122"/>
                <a:cs typeface="Times New Roman" panose="02020603050405020304" pitchFamily="18" charset="0"/>
              </a:rPr>
              <a:t>黑色</a:t>
            </a:r>
            <a:r>
              <a:rPr lang="zh-CN" altLang="zh-CN" sz="2000" b="1" smtClean="0">
                <a:solidFill>
                  <a:srgbClr val="0000FF"/>
                </a:solidFill>
                <a:ea typeface="仿宋" panose="02010609060101010101" pitchFamily="49" charset="-122"/>
                <a:cs typeface="Times New Roman" panose="02020603050405020304" pitchFamily="18" charset="0"/>
              </a:rPr>
              <a:t>。</a:t>
            </a:r>
            <a:endParaRPr lang="zh-CN" altLang="zh-CN" sz="2000" b="1" smtClean="0">
              <a:solidFill>
                <a:srgbClr val="0000FF"/>
              </a:solidFill>
              <a:ea typeface="仿宋" panose="02010609060101010101" pitchFamily="49" charset="-122"/>
              <a:cs typeface="Times New Roman" panose="02020603050405020304" pitchFamily="18" charset="0"/>
            </a:endParaRPr>
          </a:p>
          <a:p>
            <a:pPr marL="457200" indent="-457200" algn="l">
              <a:lnSpc>
                <a:spcPts val="2800"/>
              </a:lnSpc>
              <a:spcBef>
                <a:spcPts val="600"/>
              </a:spcBef>
              <a:buFont typeface="+mj-ea"/>
              <a:buAutoNum type="circleNumDbPlain"/>
            </a:pPr>
            <a:r>
              <a:rPr lang="zh-CN" altLang="zh-CN" sz="2000" b="1" smtClean="0">
                <a:solidFill>
                  <a:srgbClr val="0000FF"/>
                </a:solidFill>
                <a:ea typeface="仿宋" panose="02010609060101010101" pitchFamily="49" charset="-122"/>
                <a:cs typeface="Times New Roman" panose="02020603050405020304" pitchFamily="18" charset="0"/>
              </a:rPr>
              <a:t>所有外部结点的颜色为</a:t>
            </a:r>
            <a:r>
              <a:rPr lang="zh-CN" altLang="zh-CN" sz="2000" b="1" smtClean="0">
                <a:solidFill>
                  <a:schemeClr val="tx1"/>
                </a:solidFill>
                <a:ea typeface="仿宋" panose="02010609060101010101" pitchFamily="49" charset="-122"/>
                <a:cs typeface="Times New Roman" panose="02020603050405020304" pitchFamily="18" charset="0"/>
              </a:rPr>
              <a:t>黑色</a:t>
            </a:r>
            <a:r>
              <a:rPr lang="zh-CN" altLang="zh-CN" sz="2000" b="1" smtClean="0">
                <a:solidFill>
                  <a:srgbClr val="0000FF"/>
                </a:solidFill>
                <a:ea typeface="仿宋" panose="02010609060101010101" pitchFamily="49" charset="-122"/>
                <a:cs typeface="Times New Roman" panose="02020603050405020304" pitchFamily="18" charset="0"/>
              </a:rPr>
              <a:t>。</a:t>
            </a:r>
            <a:endParaRPr lang="zh-CN" altLang="zh-CN" sz="2000" b="1" smtClean="0">
              <a:solidFill>
                <a:srgbClr val="0000FF"/>
              </a:solidFill>
              <a:ea typeface="仿宋" panose="02010609060101010101" pitchFamily="49" charset="-122"/>
              <a:cs typeface="Times New Roman" panose="02020603050405020304" pitchFamily="18" charset="0"/>
            </a:endParaRPr>
          </a:p>
          <a:p>
            <a:pPr marL="457200" indent="-457200" algn="l">
              <a:lnSpc>
                <a:spcPts val="2800"/>
              </a:lnSpc>
              <a:spcBef>
                <a:spcPts val="600"/>
              </a:spcBef>
              <a:buFont typeface="+mj-ea"/>
              <a:buAutoNum type="circleNumDbPlain"/>
            </a:pPr>
            <a:r>
              <a:rPr lang="zh-CN" altLang="zh-CN" sz="2000" b="1" smtClean="0">
                <a:solidFill>
                  <a:srgbClr val="0000FF"/>
                </a:solidFill>
                <a:ea typeface="仿宋" panose="02010609060101010101" pitchFamily="49" charset="-122"/>
                <a:cs typeface="Times New Roman" panose="02020603050405020304" pitchFamily="18" charset="0"/>
              </a:rPr>
              <a:t>如果一个结点是</a:t>
            </a:r>
            <a:r>
              <a:rPr lang="zh-CN" altLang="zh-CN" sz="2000" b="1" smtClean="0">
                <a:solidFill>
                  <a:srgbClr val="FF0000"/>
                </a:solidFill>
                <a:ea typeface="仿宋" panose="02010609060101010101" pitchFamily="49" charset="-122"/>
                <a:cs typeface="Times New Roman" panose="02020603050405020304" pitchFamily="18" charset="0"/>
              </a:rPr>
              <a:t>红色</a:t>
            </a:r>
            <a:r>
              <a:rPr lang="zh-CN" altLang="zh-CN" sz="2000" b="1" smtClean="0">
                <a:solidFill>
                  <a:srgbClr val="0000FF"/>
                </a:solidFill>
                <a:ea typeface="仿宋" panose="02010609060101010101" pitchFamily="49" charset="-122"/>
                <a:cs typeface="Times New Roman" panose="02020603050405020304" pitchFamily="18" charset="0"/>
              </a:rPr>
              <a:t>，则它的所有孩子结点为</a:t>
            </a:r>
            <a:r>
              <a:rPr lang="zh-CN" altLang="zh-CN" sz="2000" b="1" smtClean="0">
                <a:solidFill>
                  <a:schemeClr val="tx1"/>
                </a:solidFill>
                <a:ea typeface="仿宋" panose="02010609060101010101" pitchFamily="49" charset="-122"/>
                <a:cs typeface="Times New Roman" panose="02020603050405020304" pitchFamily="18" charset="0"/>
              </a:rPr>
              <a:t>黑色</a:t>
            </a:r>
            <a:r>
              <a:rPr lang="zh-CN" altLang="zh-CN" sz="2000" b="1" smtClean="0">
                <a:solidFill>
                  <a:srgbClr val="0000FF"/>
                </a:solidFill>
                <a:ea typeface="仿宋" panose="02010609060101010101" pitchFamily="49" charset="-122"/>
                <a:cs typeface="Times New Roman" panose="02020603050405020304" pitchFamily="18" charset="0"/>
              </a:rPr>
              <a:t>。</a:t>
            </a:r>
            <a:endParaRPr lang="zh-CN" altLang="zh-CN" sz="2000" b="1" smtClean="0">
              <a:solidFill>
                <a:srgbClr val="0000FF"/>
              </a:solidFill>
              <a:ea typeface="仿宋" panose="02010609060101010101" pitchFamily="49" charset="-122"/>
              <a:cs typeface="Times New Roman" panose="02020603050405020304" pitchFamily="18" charset="0"/>
            </a:endParaRPr>
          </a:p>
          <a:p>
            <a:pPr marL="457200" indent="-457200" algn="l">
              <a:lnSpc>
                <a:spcPts val="2800"/>
              </a:lnSpc>
              <a:spcBef>
                <a:spcPts val="600"/>
              </a:spcBef>
              <a:buFont typeface="+mj-ea"/>
              <a:buAutoNum type="circleNumDbPlain"/>
            </a:pPr>
            <a:r>
              <a:rPr lang="zh-CN" altLang="zh-CN" sz="2000" b="1" smtClean="0">
                <a:solidFill>
                  <a:srgbClr val="0000FF"/>
                </a:solidFill>
                <a:ea typeface="仿宋" panose="02010609060101010101" pitchFamily="49" charset="-122"/>
                <a:cs typeface="Times New Roman" panose="02020603050405020304" pitchFamily="18" charset="0"/>
              </a:rPr>
              <a:t>对于每个结点，从该结点出发的所有</a:t>
            </a:r>
            <a:r>
              <a:rPr lang="zh-CN" altLang="zh-CN" sz="2000" b="1" smtClean="0">
                <a:solidFill>
                  <a:srgbClr val="FF00FF"/>
                </a:solidFill>
                <a:ea typeface="仿宋" panose="02010609060101010101" pitchFamily="49" charset="-122"/>
                <a:cs typeface="Times New Roman" panose="02020603050405020304" pitchFamily="18" charset="0"/>
              </a:rPr>
              <a:t>路径</a:t>
            </a:r>
            <a:r>
              <a:rPr lang="zh-CN" altLang="zh-CN" sz="2000" b="1" smtClean="0">
                <a:solidFill>
                  <a:srgbClr val="0000FF"/>
                </a:solidFill>
                <a:ea typeface="仿宋" panose="02010609060101010101" pitchFamily="49" charset="-122"/>
                <a:cs typeface="Times New Roman" panose="02020603050405020304" pitchFamily="18" charset="0"/>
              </a:rPr>
              <a:t>上包含相同个数的</a:t>
            </a:r>
            <a:r>
              <a:rPr lang="zh-CN" altLang="zh-CN" sz="2000" b="1" smtClean="0">
                <a:solidFill>
                  <a:schemeClr val="tx1"/>
                </a:solidFill>
                <a:ea typeface="仿宋" panose="02010609060101010101" pitchFamily="49" charset="-122"/>
                <a:cs typeface="Times New Roman" panose="02020603050405020304" pitchFamily="18" charset="0"/>
              </a:rPr>
              <a:t>黑色</a:t>
            </a:r>
            <a:r>
              <a:rPr lang="zh-CN" altLang="zh-CN" sz="2000" b="1" smtClean="0">
                <a:solidFill>
                  <a:srgbClr val="0000FF"/>
                </a:solidFill>
                <a:ea typeface="仿宋" panose="02010609060101010101" pitchFamily="49" charset="-122"/>
                <a:cs typeface="Times New Roman" panose="02020603050405020304" pitchFamily="18" charset="0"/>
              </a:rPr>
              <a:t>结点。</a:t>
            </a:r>
            <a:endParaRPr lang="zh-CN" altLang="zh-CN" sz="2000" b="1" smtClean="0">
              <a:solidFill>
                <a:srgbClr val="0000FF"/>
              </a:solidFill>
              <a:ea typeface="仿宋" panose="02010609060101010101" pitchFamily="49" charset="-122"/>
              <a:cs typeface="Times New Roman" panose="02020603050405020304" pitchFamily="18" charset="0"/>
            </a:endParaRPr>
          </a:p>
        </p:txBody>
      </p:sp>
      <p:sp>
        <p:nvSpPr>
          <p:cNvPr id="10" name="TextBox 9"/>
          <p:cNvSpPr txBox="1"/>
          <p:nvPr/>
        </p:nvSpPr>
        <p:spPr>
          <a:xfrm>
            <a:off x="1357290" y="5572140"/>
            <a:ext cx="7000924" cy="400110"/>
          </a:xfrm>
          <a:prstGeom prst="rect">
            <a:avLst/>
          </a:prstGeom>
          <a:noFill/>
        </p:spPr>
        <p:txBody>
          <a:bodyPr wrap="square" rtlCol="0">
            <a:spAutoFit/>
          </a:bodyPr>
          <a:lstStyle/>
          <a:p>
            <a:pPr algn="l"/>
            <a:r>
              <a:rPr lang="zh-CN" altLang="zh-CN" sz="2000" b="1" smtClean="0">
                <a:solidFill>
                  <a:srgbClr val="FF00FF"/>
                </a:solidFill>
                <a:ea typeface="仿宋" panose="02010609060101010101" pitchFamily="49" charset="-122"/>
                <a:cs typeface="Times New Roman" panose="02020603050405020304" pitchFamily="18" charset="0"/>
              </a:rPr>
              <a:t>路径</a:t>
            </a:r>
            <a:r>
              <a:rPr lang="zh-CN" altLang="zh-CN" sz="2000" b="1" smtClean="0">
                <a:solidFill>
                  <a:srgbClr val="0000FF"/>
                </a:solidFill>
                <a:ea typeface="仿宋" panose="02010609060101010101" pitchFamily="49" charset="-122"/>
                <a:cs typeface="Times New Roman" panose="02020603050405020304" pitchFamily="18" charset="0"/>
              </a:rPr>
              <a:t>特指从一个结点到其子孙结点中某个外部结点的路径。</a:t>
            </a:r>
            <a:endParaRPr lang="zh-CN" altLang="en-US" sz="2000" b="1" dirty="0" smtClean="0">
              <a:solidFill>
                <a:srgbClr val="3333FF"/>
              </a:solidFill>
              <a:ea typeface="楷体" panose="02010609060101010101" pitchFamily="49" charset="-122"/>
              <a:cs typeface="Times New Roman" panose="02020603050405020304" pitchFamily="18" charset="0"/>
            </a:endParaRPr>
          </a:p>
        </p:txBody>
      </p:sp>
      <p:cxnSp>
        <p:nvCxnSpPr>
          <p:cNvPr id="13" name="直接箭头连接符 12"/>
          <p:cNvCxnSpPr/>
          <p:nvPr/>
        </p:nvCxnSpPr>
        <p:spPr>
          <a:xfrm rot="5400000" flipH="1" flipV="1">
            <a:off x="5429256" y="5214950"/>
            <a:ext cx="571504" cy="1588"/>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11" name="灯片编号占位符 10"/>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910" y="571480"/>
            <a:ext cx="2928958" cy="400110"/>
          </a:xfrm>
          <a:prstGeom prst="rect">
            <a:avLst/>
          </a:prstGeom>
          <a:noFill/>
        </p:spPr>
        <p:txBody>
          <a:bodyPr wrap="square" rtlCol="0">
            <a:spAutoFit/>
          </a:bodyPr>
          <a:lstStyle/>
          <a:p>
            <a:pPr algn="l"/>
            <a:r>
              <a:rPr lang="zh-CN" altLang="zh-CN" sz="2000" b="1" smtClean="0">
                <a:solidFill>
                  <a:srgbClr val="0000FF"/>
                </a:solidFill>
                <a:latin typeface="楷体" panose="02010609060101010101" pitchFamily="49" charset="-122"/>
                <a:ea typeface="楷体" panose="02010609060101010101" pitchFamily="49" charset="-122"/>
              </a:rPr>
              <a:t>一棵红黑树</a:t>
            </a:r>
            <a:endParaRPr lang="zh-CN" altLang="en-US" sz="2000" b="1" dirty="0" smtClean="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3128" name="Rectangle 5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66" name="组合 65"/>
          <p:cNvGrpSpPr/>
          <p:nvPr/>
        </p:nvGrpSpPr>
        <p:grpSpPr>
          <a:xfrm>
            <a:off x="1302104" y="1357298"/>
            <a:ext cx="5627350" cy="3712280"/>
            <a:chOff x="1079664" y="1722616"/>
            <a:chExt cx="5627350" cy="3712280"/>
          </a:xfrm>
        </p:grpSpPr>
        <p:sp>
          <p:nvSpPr>
            <p:cNvPr id="3126" name="Oval 54"/>
            <p:cNvSpPr>
              <a:spLocks noChangeArrowheads="1"/>
            </p:cNvSpPr>
            <p:nvPr/>
          </p:nvSpPr>
          <p:spPr bwMode="auto">
            <a:xfrm>
              <a:off x="3918733" y="1722616"/>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12</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5" name="Oval 53"/>
            <p:cNvSpPr>
              <a:spLocks noChangeArrowheads="1"/>
            </p:cNvSpPr>
            <p:nvPr/>
          </p:nvSpPr>
          <p:spPr bwMode="auto">
            <a:xfrm>
              <a:off x="2273190" y="2657289"/>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5</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4" name="Oval 52"/>
            <p:cNvSpPr>
              <a:spLocks noChangeArrowheads="1"/>
            </p:cNvSpPr>
            <p:nvPr/>
          </p:nvSpPr>
          <p:spPr bwMode="auto">
            <a:xfrm>
              <a:off x="1338685" y="3270923"/>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3</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3" name="Oval 51"/>
            <p:cNvSpPr>
              <a:spLocks noChangeArrowheads="1"/>
            </p:cNvSpPr>
            <p:nvPr/>
          </p:nvSpPr>
          <p:spPr bwMode="auto">
            <a:xfrm>
              <a:off x="1744992" y="3850015"/>
              <a:ext cx="345361" cy="34542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4</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2" name="Oval 50"/>
            <p:cNvSpPr>
              <a:spLocks noChangeArrowheads="1"/>
            </p:cNvSpPr>
            <p:nvPr/>
          </p:nvSpPr>
          <p:spPr bwMode="auto">
            <a:xfrm>
              <a:off x="3370219" y="3271939"/>
              <a:ext cx="345361" cy="34542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10</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1" name="Oval 49"/>
            <p:cNvSpPr>
              <a:spLocks noChangeArrowheads="1"/>
            </p:cNvSpPr>
            <p:nvPr/>
          </p:nvSpPr>
          <p:spPr bwMode="auto">
            <a:xfrm>
              <a:off x="2728254" y="3850015"/>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7</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20" name="Oval 48"/>
            <p:cNvSpPr>
              <a:spLocks noChangeArrowheads="1"/>
            </p:cNvSpPr>
            <p:nvPr/>
          </p:nvSpPr>
          <p:spPr bwMode="auto">
            <a:xfrm>
              <a:off x="2425556" y="4530701"/>
              <a:ext cx="345361" cy="34542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6</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9" name="Oval 47"/>
            <p:cNvSpPr>
              <a:spLocks noChangeArrowheads="1"/>
            </p:cNvSpPr>
            <p:nvPr/>
          </p:nvSpPr>
          <p:spPr bwMode="auto">
            <a:xfrm>
              <a:off x="3085804" y="4530701"/>
              <a:ext cx="345361" cy="34542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8</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8" name="Oval 46"/>
            <p:cNvSpPr>
              <a:spLocks noChangeArrowheads="1"/>
            </p:cNvSpPr>
            <p:nvPr/>
          </p:nvSpPr>
          <p:spPr bwMode="auto">
            <a:xfrm>
              <a:off x="4081256" y="3850015"/>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11</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7" name="Oval 45"/>
            <p:cNvSpPr>
              <a:spLocks noChangeArrowheads="1"/>
            </p:cNvSpPr>
            <p:nvPr/>
          </p:nvSpPr>
          <p:spPr bwMode="auto">
            <a:xfrm>
              <a:off x="5584591" y="2576013"/>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15</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6" name="Oval 44"/>
            <p:cNvSpPr>
              <a:spLocks noChangeArrowheads="1"/>
            </p:cNvSpPr>
            <p:nvPr/>
          </p:nvSpPr>
          <p:spPr bwMode="auto">
            <a:xfrm>
              <a:off x="4995446" y="3271939"/>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13</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5" name="Oval 43"/>
            <p:cNvSpPr>
              <a:spLocks noChangeArrowheads="1"/>
            </p:cNvSpPr>
            <p:nvPr/>
          </p:nvSpPr>
          <p:spPr bwMode="auto">
            <a:xfrm>
              <a:off x="5432226" y="3850015"/>
              <a:ext cx="345361" cy="34542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14</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4" name="Oval 42"/>
            <p:cNvSpPr>
              <a:spLocks noChangeArrowheads="1"/>
            </p:cNvSpPr>
            <p:nvPr/>
          </p:nvSpPr>
          <p:spPr bwMode="auto">
            <a:xfrm>
              <a:off x="6254998" y="3271939"/>
              <a:ext cx="345361" cy="34542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cs typeface="Times New Roman" panose="02020603050405020304" pitchFamily="18" charset="0"/>
                </a:rPr>
                <a:t>17</a:t>
              </a:r>
              <a:endParaRPr kumimoji="0" lang="en-US" altLang="zh-CN" sz="1800" b="1" i="0" u="none" strike="noStrike" cap="none" normalizeH="0" baseline="0" smtClean="0">
                <a:ln>
                  <a:noFill/>
                </a:ln>
                <a:solidFill>
                  <a:schemeClr val="bg1"/>
                </a:solidFill>
                <a:effectLst/>
                <a:cs typeface="Times New Roman" panose="02020603050405020304" pitchFamily="18" charset="0"/>
              </a:endParaRPr>
            </a:p>
          </p:txBody>
        </p:sp>
        <p:sp>
          <p:nvSpPr>
            <p:cNvPr id="3113" name="AutoShape 41"/>
            <p:cNvSpPr>
              <a:spLocks noChangeShapeType="1"/>
            </p:cNvSpPr>
            <p:nvPr/>
          </p:nvSpPr>
          <p:spPr bwMode="auto">
            <a:xfrm flipH="1">
              <a:off x="2567763" y="2017241"/>
              <a:ext cx="1401759" cy="69084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12" name="AutoShape 40"/>
            <p:cNvSpPr>
              <a:spLocks noChangeShapeType="1"/>
            </p:cNvSpPr>
            <p:nvPr/>
          </p:nvSpPr>
          <p:spPr bwMode="auto">
            <a:xfrm>
              <a:off x="4213306" y="2017241"/>
              <a:ext cx="1422074" cy="6095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11" name="AutoShape 39"/>
            <p:cNvSpPr>
              <a:spLocks noChangeShapeType="1"/>
            </p:cNvSpPr>
            <p:nvPr/>
          </p:nvSpPr>
          <p:spPr bwMode="auto">
            <a:xfrm flipH="1">
              <a:off x="1633257" y="2951915"/>
              <a:ext cx="690722" cy="36980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10" name="AutoShape 38"/>
            <p:cNvSpPr>
              <a:spLocks noChangeShapeType="1"/>
            </p:cNvSpPr>
            <p:nvPr/>
          </p:nvSpPr>
          <p:spPr bwMode="auto">
            <a:xfrm>
              <a:off x="1633257" y="3565549"/>
              <a:ext cx="162523" cy="33526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9" name="AutoShape 37"/>
            <p:cNvSpPr>
              <a:spLocks noChangeShapeType="1"/>
            </p:cNvSpPr>
            <p:nvPr/>
          </p:nvSpPr>
          <p:spPr bwMode="auto">
            <a:xfrm flipH="1">
              <a:off x="3022827" y="3566565"/>
              <a:ext cx="398181" cy="33424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8" name="AutoShape 36"/>
            <p:cNvSpPr>
              <a:spLocks noChangeShapeType="1"/>
            </p:cNvSpPr>
            <p:nvPr/>
          </p:nvSpPr>
          <p:spPr bwMode="auto">
            <a:xfrm>
              <a:off x="3664791" y="3566565"/>
              <a:ext cx="467253" cy="33424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7" name="AutoShape 35"/>
            <p:cNvSpPr>
              <a:spLocks noChangeShapeType="1"/>
            </p:cNvSpPr>
            <p:nvPr/>
          </p:nvSpPr>
          <p:spPr bwMode="auto">
            <a:xfrm flipH="1">
              <a:off x="2598236" y="4144640"/>
              <a:ext cx="180807"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6" name="AutoShape 34"/>
            <p:cNvSpPr>
              <a:spLocks noChangeShapeType="1"/>
            </p:cNvSpPr>
            <p:nvPr/>
          </p:nvSpPr>
          <p:spPr bwMode="auto">
            <a:xfrm>
              <a:off x="3022827" y="4144640"/>
              <a:ext cx="235658"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5" name="AutoShape 33"/>
            <p:cNvSpPr>
              <a:spLocks noChangeShapeType="1"/>
            </p:cNvSpPr>
            <p:nvPr/>
          </p:nvSpPr>
          <p:spPr bwMode="auto">
            <a:xfrm flipH="1">
              <a:off x="5290019" y="2870639"/>
              <a:ext cx="345361" cy="4520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4" name="AutoShape 32"/>
            <p:cNvSpPr>
              <a:spLocks noChangeShapeType="1"/>
            </p:cNvSpPr>
            <p:nvPr/>
          </p:nvSpPr>
          <p:spPr bwMode="auto">
            <a:xfrm>
              <a:off x="5879164" y="2870639"/>
              <a:ext cx="426622" cy="4520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3" name="AutoShape 31"/>
            <p:cNvSpPr>
              <a:spLocks noChangeShapeType="1"/>
            </p:cNvSpPr>
            <p:nvPr/>
          </p:nvSpPr>
          <p:spPr bwMode="auto">
            <a:xfrm>
              <a:off x="5290019" y="3566565"/>
              <a:ext cx="192996" cy="33424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2" name="AutoShape 30"/>
            <p:cNvSpPr>
              <a:spLocks noChangeShapeType="1"/>
            </p:cNvSpPr>
            <p:nvPr/>
          </p:nvSpPr>
          <p:spPr bwMode="auto">
            <a:xfrm>
              <a:off x="2567763" y="2951915"/>
              <a:ext cx="853244" cy="37082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101" name="Rectangle 29"/>
            <p:cNvSpPr>
              <a:spLocks noChangeArrowheads="1"/>
            </p:cNvSpPr>
            <p:nvPr/>
          </p:nvSpPr>
          <p:spPr bwMode="auto">
            <a:xfrm>
              <a:off x="1079664" y="3850015"/>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100" name="Rectangle 28"/>
            <p:cNvSpPr>
              <a:spLocks noChangeArrowheads="1"/>
            </p:cNvSpPr>
            <p:nvPr/>
          </p:nvSpPr>
          <p:spPr bwMode="auto">
            <a:xfrm>
              <a:off x="1648494"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9" name="Rectangle 27"/>
            <p:cNvSpPr>
              <a:spLocks noChangeArrowheads="1"/>
            </p:cNvSpPr>
            <p:nvPr/>
          </p:nvSpPr>
          <p:spPr bwMode="auto">
            <a:xfrm>
              <a:off x="2044643"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8" name="Rectangle 26"/>
            <p:cNvSpPr>
              <a:spLocks noChangeArrowheads="1"/>
            </p:cNvSpPr>
            <p:nvPr/>
          </p:nvSpPr>
          <p:spPr bwMode="auto">
            <a:xfrm>
              <a:off x="2339215" y="5180909"/>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7" name="Rectangle 25"/>
            <p:cNvSpPr>
              <a:spLocks noChangeArrowheads="1"/>
            </p:cNvSpPr>
            <p:nvPr/>
          </p:nvSpPr>
          <p:spPr bwMode="auto">
            <a:xfrm>
              <a:off x="2715049" y="5180909"/>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6" name="Rectangle 24"/>
            <p:cNvSpPr>
              <a:spLocks noChangeArrowheads="1"/>
            </p:cNvSpPr>
            <p:nvPr/>
          </p:nvSpPr>
          <p:spPr bwMode="auto">
            <a:xfrm>
              <a:off x="3009622" y="5180909"/>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5" name="Rectangle 23"/>
            <p:cNvSpPr>
              <a:spLocks noChangeArrowheads="1"/>
            </p:cNvSpPr>
            <p:nvPr/>
          </p:nvSpPr>
          <p:spPr bwMode="auto">
            <a:xfrm>
              <a:off x="3375298" y="5180909"/>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4" name="Rectangle 22"/>
            <p:cNvSpPr>
              <a:spLocks noChangeArrowheads="1"/>
            </p:cNvSpPr>
            <p:nvPr/>
          </p:nvSpPr>
          <p:spPr bwMode="auto">
            <a:xfrm>
              <a:off x="4005073"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3" name="Rectangle 21"/>
            <p:cNvSpPr>
              <a:spLocks noChangeArrowheads="1"/>
            </p:cNvSpPr>
            <p:nvPr/>
          </p:nvSpPr>
          <p:spPr bwMode="auto">
            <a:xfrm>
              <a:off x="4370750"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2" name="Rectangle 20"/>
            <p:cNvSpPr>
              <a:spLocks noChangeArrowheads="1"/>
            </p:cNvSpPr>
            <p:nvPr/>
          </p:nvSpPr>
          <p:spPr bwMode="auto">
            <a:xfrm>
              <a:off x="5335728"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1" name="Rectangle 19"/>
            <p:cNvSpPr>
              <a:spLocks noChangeArrowheads="1"/>
            </p:cNvSpPr>
            <p:nvPr/>
          </p:nvSpPr>
          <p:spPr bwMode="auto">
            <a:xfrm>
              <a:off x="5721720" y="4530701"/>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90" name="Rectangle 18"/>
            <p:cNvSpPr>
              <a:spLocks noChangeArrowheads="1"/>
            </p:cNvSpPr>
            <p:nvPr/>
          </p:nvSpPr>
          <p:spPr bwMode="auto">
            <a:xfrm>
              <a:off x="6188973" y="3850015"/>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89" name="Rectangle 17"/>
            <p:cNvSpPr>
              <a:spLocks noChangeArrowheads="1"/>
            </p:cNvSpPr>
            <p:nvPr/>
          </p:nvSpPr>
          <p:spPr bwMode="auto">
            <a:xfrm>
              <a:off x="6554649" y="3850015"/>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88" name="Rectangle 16"/>
            <p:cNvSpPr>
              <a:spLocks noChangeArrowheads="1"/>
            </p:cNvSpPr>
            <p:nvPr/>
          </p:nvSpPr>
          <p:spPr bwMode="auto">
            <a:xfrm>
              <a:off x="4756741" y="3850015"/>
              <a:ext cx="152365" cy="253987"/>
            </a:xfrm>
            <a:prstGeom prst="rect">
              <a:avLst/>
            </a:prstGeom>
            <a:solidFill>
              <a:schemeClr val="tx1"/>
            </a:solidFill>
            <a:ln w="9525">
              <a:solidFill>
                <a:srgbClr val="000000"/>
              </a:solidFill>
              <a:miter lim="800000"/>
              <a:tailEnd type="none" w="sm" len="sm"/>
            </a:ln>
          </p:spPr>
          <p:txBody>
            <a:bodyPr vert="horz" wrap="square" lIns="91440" tIns="45720" rIns="91440" bIns="45720" numCol="1" anchor="t" anchorCtr="0" compatLnSpc="1"/>
            <a:lstStyle/>
            <a:p>
              <a:endParaRPr lang="zh-CN" altLang="en-US" sz="1800" b="1">
                <a:solidFill>
                  <a:schemeClr val="bg1"/>
                </a:solidFill>
                <a:cs typeface="Times New Roman" panose="02020603050405020304" pitchFamily="18" charset="0"/>
              </a:endParaRPr>
            </a:p>
          </p:txBody>
        </p:sp>
        <p:sp>
          <p:nvSpPr>
            <p:cNvPr id="3087" name="AutoShape 15"/>
            <p:cNvSpPr>
              <a:spLocks noChangeShapeType="1"/>
            </p:cNvSpPr>
            <p:nvPr/>
          </p:nvSpPr>
          <p:spPr bwMode="auto">
            <a:xfrm flipH="1">
              <a:off x="1155847" y="3565549"/>
              <a:ext cx="233626" cy="28446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6" name="AutoShape 14"/>
            <p:cNvSpPr>
              <a:spLocks noChangeShapeType="1"/>
            </p:cNvSpPr>
            <p:nvPr/>
          </p:nvSpPr>
          <p:spPr bwMode="auto">
            <a:xfrm flipH="1">
              <a:off x="1724676" y="4144640"/>
              <a:ext cx="71104"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5" name="AutoShape 13"/>
            <p:cNvSpPr>
              <a:spLocks noChangeShapeType="1"/>
            </p:cNvSpPr>
            <p:nvPr/>
          </p:nvSpPr>
          <p:spPr bwMode="auto">
            <a:xfrm>
              <a:off x="2039564" y="4144640"/>
              <a:ext cx="81261"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4" name="AutoShape 12"/>
            <p:cNvSpPr>
              <a:spLocks noChangeShapeType="1"/>
            </p:cNvSpPr>
            <p:nvPr/>
          </p:nvSpPr>
          <p:spPr bwMode="auto">
            <a:xfrm flipH="1">
              <a:off x="2415398" y="4825326"/>
              <a:ext cx="60946" cy="35558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3" name="AutoShape 11"/>
            <p:cNvSpPr>
              <a:spLocks noChangeShapeType="1"/>
            </p:cNvSpPr>
            <p:nvPr/>
          </p:nvSpPr>
          <p:spPr bwMode="auto">
            <a:xfrm>
              <a:off x="2720128" y="4825326"/>
              <a:ext cx="71104" cy="35558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2" name="AutoShape 10"/>
            <p:cNvSpPr>
              <a:spLocks noChangeShapeType="1"/>
            </p:cNvSpPr>
            <p:nvPr/>
          </p:nvSpPr>
          <p:spPr bwMode="auto">
            <a:xfrm flipH="1">
              <a:off x="3085804" y="4825326"/>
              <a:ext cx="50788" cy="35558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1" name="AutoShape 9"/>
            <p:cNvSpPr>
              <a:spLocks noChangeShapeType="1"/>
            </p:cNvSpPr>
            <p:nvPr/>
          </p:nvSpPr>
          <p:spPr bwMode="auto">
            <a:xfrm>
              <a:off x="3380377" y="4825326"/>
              <a:ext cx="71104" cy="35558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80" name="AutoShape 8"/>
            <p:cNvSpPr>
              <a:spLocks noChangeShapeType="1"/>
            </p:cNvSpPr>
            <p:nvPr/>
          </p:nvSpPr>
          <p:spPr bwMode="auto">
            <a:xfrm flipH="1">
              <a:off x="4081256" y="4144640"/>
              <a:ext cx="50788"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9" name="AutoShape 7"/>
            <p:cNvSpPr>
              <a:spLocks noChangeShapeType="1"/>
            </p:cNvSpPr>
            <p:nvPr/>
          </p:nvSpPr>
          <p:spPr bwMode="auto">
            <a:xfrm>
              <a:off x="4375828" y="4144640"/>
              <a:ext cx="71104"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8" name="AutoShape 6"/>
            <p:cNvSpPr>
              <a:spLocks noChangeShapeType="1"/>
            </p:cNvSpPr>
            <p:nvPr/>
          </p:nvSpPr>
          <p:spPr bwMode="auto">
            <a:xfrm flipH="1">
              <a:off x="4832924" y="3566565"/>
              <a:ext cx="213311" cy="28345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7" name="AutoShape 5"/>
            <p:cNvSpPr>
              <a:spLocks noChangeShapeType="1"/>
            </p:cNvSpPr>
            <p:nvPr/>
          </p:nvSpPr>
          <p:spPr bwMode="auto">
            <a:xfrm flipH="1">
              <a:off x="5411911" y="4144640"/>
              <a:ext cx="71104"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6" name="AutoShape 4"/>
            <p:cNvSpPr>
              <a:spLocks noChangeShapeType="1"/>
            </p:cNvSpPr>
            <p:nvPr/>
          </p:nvSpPr>
          <p:spPr bwMode="auto">
            <a:xfrm>
              <a:off x="5726799" y="4144640"/>
              <a:ext cx="71104" cy="3860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5" name="AutoShape 3"/>
            <p:cNvSpPr>
              <a:spLocks noChangeShapeType="1"/>
            </p:cNvSpPr>
            <p:nvPr/>
          </p:nvSpPr>
          <p:spPr bwMode="auto">
            <a:xfrm flipH="1">
              <a:off x="6265155" y="3566565"/>
              <a:ext cx="40631" cy="28345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sp>
          <p:nvSpPr>
            <p:cNvPr id="3074" name="AutoShape 2"/>
            <p:cNvSpPr>
              <a:spLocks noChangeShapeType="1"/>
            </p:cNvSpPr>
            <p:nvPr/>
          </p:nvSpPr>
          <p:spPr bwMode="auto">
            <a:xfrm>
              <a:off x="6549570" y="3566565"/>
              <a:ext cx="81261" cy="28345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cs typeface="Times New Roman" panose="02020603050405020304" pitchFamily="18" charset="0"/>
              </a:endParaRPr>
            </a:p>
          </p:txBody>
        </p:sp>
      </p:grpSp>
      <p:sp>
        <p:nvSpPr>
          <p:cNvPr id="59" name="灯片编号占位符 58"/>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428736"/>
            <a:ext cx="8143932" cy="10156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条性质</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如果一个结点是红色，则它的所有孩子结点为黑色</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latin typeface="Consolas" panose="020B0609020204030204" pitchFamily="49" charset="0"/>
                <a:cs typeface="Consolas" panose="020B0609020204030204" pitchFamily="49" charset="0"/>
                <a:sym typeface="Wingdings" panose="05000000000000000000"/>
              </a:rPr>
              <a:t>  </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任何一条路径上不能有两个相邻的红色结点，这样最短的可能路径均由黑色结点构成，最长的可能路径由交替的红色和黑色结点构成</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928662" y="357166"/>
            <a:ext cx="6357982" cy="40011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zh-CN"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红黑树</a:t>
            </a:r>
            <a:r>
              <a:rPr lang="zh-CN" altLang="en-US"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是一种弱平衡二叉树，查找性能为</a:t>
            </a:r>
            <a:r>
              <a:rPr lang="en-US"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O(log</a:t>
            </a:r>
            <a:r>
              <a:rPr lang="en-US" altLang="zh-CN" sz="2000" b="1" baseline="-25000" smtClean="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i="1" smtClean="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下箭头 4"/>
          <p:cNvSpPr/>
          <p:nvPr/>
        </p:nvSpPr>
        <p:spPr>
          <a:xfrm>
            <a:off x="3857620" y="400050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TextBox 5"/>
          <p:cNvSpPr txBox="1"/>
          <p:nvPr/>
        </p:nvSpPr>
        <p:spPr>
          <a:xfrm>
            <a:off x="571472" y="3078304"/>
            <a:ext cx="8143932" cy="7078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条性质</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结点出发的所有路径上包含相同个数的黑色结点</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2000" b="1" smtClean="0">
                <a:solidFill>
                  <a:schemeClr val="tx1"/>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所有最长的路径都有相同个数的黑色结点</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786182" y="2500306"/>
            <a:ext cx="500066" cy="523220"/>
          </a:xfrm>
          <a:prstGeom prst="rect">
            <a:avLst/>
          </a:prstGeom>
          <a:noFill/>
        </p:spPr>
        <p:txBody>
          <a:bodyPr wrap="square" rtlCol="0">
            <a:spAutoFit/>
          </a:bodyPr>
          <a:lstStyle/>
          <a:p>
            <a:pPr algn="l"/>
            <a:r>
              <a:rPr lang="en-US" altLang="zh-CN"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571472" y="4572008"/>
            <a:ext cx="8358246" cy="1218383"/>
          </a:xfrm>
          <a:prstGeom prst="rect">
            <a:avLst/>
          </a:prstGeom>
          <a:solidFill>
            <a:schemeClr val="accent6">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lIns="144000" tIns="108000" bIns="108000" rtlCol="0">
            <a:spAutoFit/>
          </a:bodyPr>
          <a:lstStyle/>
          <a:p>
            <a:pPr marL="457200" indent="-457200" algn="l">
              <a:spcBef>
                <a:spcPts val="600"/>
              </a:spcBef>
              <a:buBlip>
                <a:blip r:embed="rId1"/>
              </a:buBlip>
            </a:pP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从根结点到叶子结点的最长路径的长度不大于最短路径长度的两倍。</a:t>
            </a:r>
            <a:endPar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marL="457200" indent="-457200" algn="l">
              <a:spcBef>
                <a:spcPts val="600"/>
              </a:spcBef>
              <a:buBlip>
                <a:blip r:embed="rId1"/>
              </a:buBlip>
            </a:pP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含</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个结点的红黑树的高度至多为</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2log</a:t>
            </a:r>
            <a:r>
              <a:rPr lang="en-US" altLang="zh-CN" sz="2000" b="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，因此红黑树查找算法的平均时间复杂度为</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O(log</a:t>
            </a:r>
            <a:r>
              <a:rPr lang="en-US" altLang="zh-CN" sz="2000" b="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灯片编号占位符 8"/>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285720" y="285728"/>
            <a:ext cx="2214578" cy="430887"/>
          </a:xfrm>
          <a:prstGeom prst="rect">
            <a:avLst/>
          </a:prstGeom>
          <a:solidFill>
            <a:srgbClr val="9900FF"/>
          </a:solidFill>
          <a:ln w="28575" algn="ctr">
            <a:noFill/>
            <a:miter lim="800000"/>
          </a:ln>
        </p:spPr>
        <p:txBody>
          <a:bodyPr wrap="square">
            <a:spAutoFit/>
          </a:bodyPr>
          <a:lstStyle/>
          <a:p>
            <a:pPr>
              <a:spcBef>
                <a:spcPct val="50000"/>
              </a:spcBef>
            </a:pPr>
            <a:r>
              <a:rPr kumimoji="0" lang="en-US" altLang="zh-CN"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2</a:t>
            </a:r>
            <a:r>
              <a:rPr kumimoji="0" lang="zh-CN" altLang="en-US"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a:t>
            </a:r>
            <a:r>
              <a:rPr lang="zh-CN" altLang="zh-CN"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旋转操作</a:t>
            </a:r>
            <a:endParaRPr kumimoji="0" lang="zh-CN" altLang="en-US" sz="2200" b="1" dirty="0">
              <a:solidFill>
                <a:schemeClr val="bg1"/>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6391" name="Oval 23"/>
          <p:cNvSpPr>
            <a:spLocks noChangeArrowheads="1"/>
          </p:cNvSpPr>
          <p:nvPr/>
        </p:nvSpPr>
        <p:spPr bwMode="auto">
          <a:xfrm>
            <a:off x="1575780" y="1438126"/>
            <a:ext cx="399310" cy="399072"/>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x</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90" name="Oval 22"/>
          <p:cNvSpPr>
            <a:spLocks noChangeArrowheads="1"/>
          </p:cNvSpPr>
          <p:nvPr/>
        </p:nvSpPr>
        <p:spPr bwMode="auto">
          <a:xfrm>
            <a:off x="2105453" y="2279699"/>
            <a:ext cx="399310" cy="399072"/>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y</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89" name="Text Box 21"/>
          <p:cNvSpPr txBox="1">
            <a:spLocks noChangeArrowheads="1"/>
          </p:cNvSpPr>
          <p:nvPr/>
        </p:nvSpPr>
        <p:spPr bwMode="auto">
          <a:xfrm>
            <a:off x="938058" y="2343081"/>
            <a:ext cx="447463" cy="63969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88" name="Text Box 20"/>
          <p:cNvSpPr txBox="1">
            <a:spLocks noChangeArrowheads="1"/>
          </p:cNvSpPr>
          <p:nvPr/>
        </p:nvSpPr>
        <p:spPr bwMode="auto">
          <a:xfrm>
            <a:off x="1611013" y="3151790"/>
            <a:ext cx="447463" cy="63969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87" name="Text Box 19"/>
          <p:cNvSpPr txBox="1">
            <a:spLocks noChangeArrowheads="1"/>
          </p:cNvSpPr>
          <p:nvPr/>
        </p:nvSpPr>
        <p:spPr bwMode="auto">
          <a:xfrm>
            <a:off x="2491845" y="3149442"/>
            <a:ext cx="447463" cy="6420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pP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86" name="AutoShape 18"/>
          <p:cNvSpPr>
            <a:spLocks noChangeShapeType="1"/>
          </p:cNvSpPr>
          <p:nvPr/>
        </p:nvSpPr>
        <p:spPr bwMode="auto">
          <a:xfrm>
            <a:off x="1916368" y="1778511"/>
            <a:ext cx="388740" cy="50118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85" name="AutoShape 17"/>
          <p:cNvSpPr>
            <a:spLocks noChangeShapeType="1"/>
          </p:cNvSpPr>
          <p:nvPr/>
        </p:nvSpPr>
        <p:spPr bwMode="auto">
          <a:xfrm flipH="1">
            <a:off x="1162376" y="1778511"/>
            <a:ext cx="472126" cy="5645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84" name="AutoShape 16"/>
          <p:cNvSpPr>
            <a:spLocks noChangeShapeType="1"/>
          </p:cNvSpPr>
          <p:nvPr/>
        </p:nvSpPr>
        <p:spPr bwMode="auto">
          <a:xfrm flipH="1">
            <a:off x="1835332" y="2620084"/>
            <a:ext cx="328844" cy="5317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83" name="AutoShape 15"/>
          <p:cNvSpPr>
            <a:spLocks noChangeShapeType="1"/>
          </p:cNvSpPr>
          <p:nvPr/>
        </p:nvSpPr>
        <p:spPr bwMode="auto">
          <a:xfrm>
            <a:off x="2446042" y="2620084"/>
            <a:ext cx="270122" cy="52935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82" name="AutoShape 14"/>
          <p:cNvSpPr>
            <a:spLocks noChangeShapeType="1"/>
          </p:cNvSpPr>
          <p:nvPr/>
        </p:nvSpPr>
        <p:spPr bwMode="auto">
          <a:xfrm>
            <a:off x="3256407" y="2002696"/>
            <a:ext cx="1280142" cy="1174"/>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81" name="Oval 13"/>
          <p:cNvSpPr>
            <a:spLocks noChangeArrowheads="1"/>
          </p:cNvSpPr>
          <p:nvPr/>
        </p:nvSpPr>
        <p:spPr bwMode="auto">
          <a:xfrm>
            <a:off x="5780284" y="1438126"/>
            <a:ext cx="399310" cy="399072"/>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y</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80" name="Oval 12"/>
          <p:cNvSpPr>
            <a:spLocks noChangeArrowheads="1"/>
          </p:cNvSpPr>
          <p:nvPr/>
        </p:nvSpPr>
        <p:spPr bwMode="auto">
          <a:xfrm>
            <a:off x="5182493" y="2279699"/>
            <a:ext cx="399310" cy="399072"/>
          </a:xfrm>
          <a:prstGeom prst="ellipse">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x</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79" name="Text Box 11"/>
          <p:cNvSpPr txBox="1">
            <a:spLocks noChangeArrowheads="1"/>
          </p:cNvSpPr>
          <p:nvPr/>
        </p:nvSpPr>
        <p:spPr bwMode="auto">
          <a:xfrm>
            <a:off x="6258282" y="2343081"/>
            <a:ext cx="447463" cy="63969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78" name="Text Box 10"/>
          <p:cNvSpPr txBox="1">
            <a:spLocks noChangeArrowheads="1"/>
          </p:cNvSpPr>
          <p:nvPr/>
        </p:nvSpPr>
        <p:spPr bwMode="auto">
          <a:xfrm>
            <a:off x="4688052" y="3151790"/>
            <a:ext cx="447463" cy="63969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77" name="Text Box 9"/>
          <p:cNvSpPr txBox="1">
            <a:spLocks noChangeArrowheads="1"/>
          </p:cNvSpPr>
          <p:nvPr/>
        </p:nvSpPr>
        <p:spPr bwMode="auto">
          <a:xfrm>
            <a:off x="5568884" y="3149442"/>
            <a:ext cx="447463" cy="6420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pP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76" name="AutoShape 8"/>
          <p:cNvSpPr>
            <a:spLocks noChangeShapeType="1"/>
          </p:cNvSpPr>
          <p:nvPr/>
        </p:nvSpPr>
        <p:spPr bwMode="auto">
          <a:xfrm>
            <a:off x="6120872" y="1778511"/>
            <a:ext cx="361728" cy="5645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75" name="AutoShape 7"/>
          <p:cNvSpPr>
            <a:spLocks noChangeShapeType="1"/>
          </p:cNvSpPr>
          <p:nvPr/>
        </p:nvSpPr>
        <p:spPr bwMode="auto">
          <a:xfrm flipH="1">
            <a:off x="5382148" y="1778511"/>
            <a:ext cx="456858" cy="50118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74" name="AutoShape 6"/>
          <p:cNvSpPr>
            <a:spLocks noChangeShapeType="1"/>
          </p:cNvSpPr>
          <p:nvPr/>
        </p:nvSpPr>
        <p:spPr bwMode="auto">
          <a:xfrm flipH="1">
            <a:off x="4912371" y="2620084"/>
            <a:ext cx="328844" cy="5317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73" name="AutoShape 5"/>
          <p:cNvSpPr>
            <a:spLocks noChangeShapeType="1"/>
          </p:cNvSpPr>
          <p:nvPr/>
        </p:nvSpPr>
        <p:spPr bwMode="auto">
          <a:xfrm>
            <a:off x="5523081" y="2620084"/>
            <a:ext cx="270122" cy="52935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72" name="Text Box 4"/>
          <p:cNvSpPr txBox="1">
            <a:spLocks noChangeArrowheads="1"/>
          </p:cNvSpPr>
          <p:nvPr/>
        </p:nvSpPr>
        <p:spPr bwMode="auto">
          <a:xfrm>
            <a:off x="3635752" y="1679917"/>
            <a:ext cx="586047" cy="286393"/>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左旋</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6371" name="AutoShape 3"/>
          <p:cNvSpPr>
            <a:spLocks noChangeShapeType="1"/>
          </p:cNvSpPr>
          <p:nvPr/>
        </p:nvSpPr>
        <p:spPr bwMode="auto">
          <a:xfrm flipH="1">
            <a:off x="3256407" y="2279699"/>
            <a:ext cx="1280142" cy="0"/>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6370" name="Text Box 2"/>
          <p:cNvSpPr txBox="1">
            <a:spLocks noChangeArrowheads="1"/>
          </p:cNvSpPr>
          <p:nvPr/>
        </p:nvSpPr>
        <p:spPr bwMode="auto">
          <a:xfrm>
            <a:off x="3635752" y="2372425"/>
            <a:ext cx="586047" cy="286393"/>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右旋</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28" name="TextBox 27"/>
          <p:cNvSpPr txBox="1"/>
          <p:nvPr/>
        </p:nvSpPr>
        <p:spPr>
          <a:xfrm>
            <a:off x="428596" y="4857760"/>
            <a:ext cx="8143932" cy="1323439"/>
          </a:xfrm>
          <a:prstGeom prst="rect">
            <a:avLst/>
          </a:prstGeom>
          <a:solidFill>
            <a:schemeClr val="accent6">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实际上</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AVL</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树中的各种调整可以通过上述旋转操作实现</a:t>
            </a:r>
            <a:r>
              <a:rPr lang="zh-CN" altLang="en-US"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LL</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型调整就是对结点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做右旋操作，</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RR</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型调整就是对结点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做左旋操作，</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LR</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型调整就是先对结点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B</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做左旋操作再对结点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做右旋操作，而</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RL</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型调整就是先对结点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B</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做右旋操作再对结点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做左旋操作。</a:t>
            </a:r>
            <a:endParaRPr lang="zh-CN" altLang="en-US"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9" name="灯片编号占位符 28"/>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285720" y="142852"/>
            <a:ext cx="3857652" cy="430887"/>
          </a:xfrm>
          <a:prstGeom prst="rect">
            <a:avLst/>
          </a:prstGeom>
          <a:solidFill>
            <a:srgbClr val="9900FF"/>
          </a:solidFill>
          <a:ln w="28575" algn="ctr">
            <a:noFill/>
            <a:miter lim="800000"/>
          </a:ln>
        </p:spPr>
        <p:txBody>
          <a:bodyPr wrap="square">
            <a:spAutoFit/>
          </a:bodyPr>
          <a:lstStyle/>
          <a:p>
            <a:pPr>
              <a:spcBef>
                <a:spcPct val="50000"/>
              </a:spcBef>
            </a:pPr>
            <a:r>
              <a:rPr kumimoji="0" lang="en-US" altLang="zh-CN"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3</a:t>
            </a:r>
            <a:r>
              <a:rPr kumimoji="0" lang="zh-CN" altLang="en-US"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a:t>
            </a:r>
            <a:r>
              <a:rPr lang="zh-CN" altLang="zh-CN" sz="2200" b="1" smtClean="0">
                <a:solidFill>
                  <a:schemeClr val="bg1"/>
                </a:solidFill>
                <a:latin typeface="Consolas" panose="020B0609020204030204" pitchFamily="49" charset="0"/>
                <a:ea typeface="华文中宋" panose="02010600040101010101" pitchFamily="2" charset="-122"/>
                <a:cs typeface="Consolas" panose="020B0609020204030204" pitchFamily="49" charset="0"/>
              </a:rPr>
              <a:t>红黑树中插入新结点</a:t>
            </a:r>
            <a:endParaRPr kumimoji="0" lang="zh-CN" altLang="en-US" sz="2200" b="1" dirty="0">
              <a:solidFill>
                <a:schemeClr val="bg1"/>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357158" y="1447558"/>
            <a:ext cx="8572560" cy="427296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600"/>
              </a:spcBef>
            </a:pP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）红黑树是一棵二叉排序树，按照二叉排序树插入结点的方法找到新结点插入的位置。</a:t>
            </a:r>
            <a:endPar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algn="l">
              <a:lnSpc>
                <a:spcPts val="2800"/>
              </a:lnSpc>
              <a:spcBef>
                <a:spcPts val="600"/>
              </a:spcBef>
            </a:pP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）将新结点的颜色设置为</a:t>
            </a:r>
            <a:r>
              <a:rPr lang="zh-CN" altLang="zh-CN" sz="2000" b="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红色</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后插入到指定位置（插入红色结点不会破坏红黑树的第</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条性质）。以新插入结点作为当前结点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执行步骤（</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algn="l">
              <a:lnSpc>
                <a:spcPts val="2800"/>
              </a:lnSpc>
              <a:spcBef>
                <a:spcPts val="600"/>
              </a:spcBef>
            </a:pP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）对当前结点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进行判断和调整。</a:t>
            </a:r>
            <a:endPar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marL="539750" lvl="1" indent="-360045" algn="l">
              <a:lnSpc>
                <a:spcPts val="2800"/>
              </a:lnSpc>
              <a:spcBef>
                <a:spcPts val="600"/>
              </a:spcBef>
              <a:buBlip>
                <a:blip r:embed="rId1"/>
              </a:buBlip>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若结点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为整棵树的</a:t>
            </a:r>
            <a:r>
              <a:rPr lang="zh-CN" altLang="zh-CN" sz="2000" b="1"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根结点</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，只需要将结点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的颜色改为黑色即可。</a:t>
            </a:r>
            <a:endPar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marL="539750" lvl="1" indent="-360045" algn="l">
              <a:lnSpc>
                <a:spcPts val="2800"/>
              </a:lnSpc>
              <a:spcBef>
                <a:spcPts val="0"/>
              </a:spcBef>
              <a:buBlip>
                <a:blip r:embed="rId1"/>
              </a:buBlip>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若结点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的双亲结点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的颜色为</a:t>
            </a:r>
            <a:r>
              <a:rPr lang="zh-CN" altLang="zh-CN" sz="2000" b="1"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rPr>
              <a:t>黑色</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，此时仍然满足红黑树性质，不需要做任何调整。</a:t>
            </a:r>
            <a:endPar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marL="539750" lvl="1" indent="-360045" algn="l">
              <a:lnSpc>
                <a:spcPts val="2800"/>
              </a:lnSpc>
              <a:spcBef>
                <a:spcPts val="0"/>
              </a:spcBef>
              <a:buBlip>
                <a:blip r:embed="rId1"/>
              </a:buBlip>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若结点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的双亲结点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的颜色为</a:t>
            </a:r>
            <a:r>
              <a:rPr lang="zh-CN" altLang="zh-CN" sz="2000" b="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红色</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，由于结点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都是红色，破坏了红黑树的第</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条性质，此时需要调整，假设其祖父为结点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，祖父结点的另一个孩子即叔叔为结点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U</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，将调整分为</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种情况。</a:t>
            </a:r>
            <a:endParaRPr lang="zh-CN" altLang="en-US"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Box 5"/>
          <p:cNvSpPr txBox="1"/>
          <p:nvPr/>
        </p:nvSpPr>
        <p:spPr>
          <a:xfrm>
            <a:off x="500034" y="885750"/>
            <a:ext cx="2500330" cy="400110"/>
          </a:xfrm>
          <a:prstGeom prst="rect">
            <a:avLst/>
          </a:prstGeom>
          <a:noFill/>
        </p:spPr>
        <p:txBody>
          <a:bodyPr wrap="square" rtlCol="0">
            <a:spAutoFit/>
          </a:bodyPr>
          <a:lstStyle/>
          <a:p>
            <a:pPr algn="l"/>
            <a:r>
              <a:rPr lang="zh-CN" altLang="en-US" sz="2000" b="1" smtClean="0">
                <a:solidFill>
                  <a:srgbClr val="0000FF"/>
                </a:solidFill>
                <a:latin typeface="楷体" panose="02010609060101010101" pitchFamily="49" charset="-122"/>
                <a:ea typeface="楷体" panose="02010609060101010101" pitchFamily="49" charset="-122"/>
              </a:rPr>
              <a:t>插入过程：</a:t>
            </a:r>
            <a:endParaRPr lang="zh-CN" altLang="en-US" sz="2000" b="1" smtClean="0">
              <a:solidFill>
                <a:srgbClr val="0000FF"/>
              </a:solidFill>
              <a:latin typeface="楷体" panose="02010609060101010101" pitchFamily="49" charset="-122"/>
              <a:ea typeface="楷体" panose="02010609060101010101" pitchFamily="49" charset="-122"/>
            </a:endParaRPr>
          </a:p>
        </p:txBody>
      </p:sp>
      <p:sp>
        <p:nvSpPr>
          <p:cNvPr id="7" name="灯片编号占位符 6"/>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357158" y="428604"/>
            <a:ext cx="8286808" cy="1862048"/>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spcBef>
                <a:spcPts val="600"/>
              </a:spcBef>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① 当前结点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的叔叔结点</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U</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是</a:t>
            </a:r>
            <a:r>
              <a:rPr lang="zh-CN" altLang="zh-CN" sz="2000" b="1" smtClean="0">
                <a:latin typeface="Times New Roman" panose="02020603050405020304" pitchFamily="18" charset="0"/>
                <a:ea typeface="楷体" panose="02010609060101010101" pitchFamily="49" charset="-122"/>
                <a:cs typeface="Times New Roman" panose="02020603050405020304" pitchFamily="18" charset="0"/>
              </a:rPr>
              <a:t>红色</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algn="l">
              <a:spcBef>
                <a:spcPts val="600"/>
              </a:spcBef>
            </a:pP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调整方式</a:t>
            </a:r>
            <a:r>
              <a:rPr lang="zh-CN" altLang="en-US"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是</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采用改变结点颜色的操作</a:t>
            </a:r>
            <a:r>
              <a:rPr lang="zh-CN" altLang="en-US"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pPr marL="539750" lvl="1" indent="-360045" algn="l">
              <a:spcBef>
                <a:spcPts val="600"/>
              </a:spcBef>
              <a:buBlip>
                <a:blip r:embed="rId1"/>
              </a:buBlip>
            </a:pP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将双亲结点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P</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和叔叔结点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U</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的颜色改为</a:t>
            </a:r>
            <a:r>
              <a:rPr lang="zh-CN" altLang="zh-CN" sz="2000" b="1" smtClean="0">
                <a:solidFill>
                  <a:schemeClr val="tx1"/>
                </a:solidFill>
                <a:latin typeface="Times New Roman" panose="02020603050405020304" pitchFamily="18" charset="0"/>
                <a:ea typeface="仿宋" panose="02010609060101010101" pitchFamily="49" charset="-122"/>
                <a:cs typeface="Times New Roman" panose="02020603050405020304" pitchFamily="18" charset="0"/>
              </a:rPr>
              <a:t>黑色</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，祖父结点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G</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的颜色改为</a:t>
            </a:r>
            <a:r>
              <a:rPr lang="zh-CN" altLang="zh-CN" sz="2000" b="1" smtClean="0">
                <a:latin typeface="Times New Roman" panose="02020603050405020304" pitchFamily="18" charset="0"/>
                <a:ea typeface="仿宋" panose="02010609060101010101" pitchFamily="49" charset="-122"/>
                <a:cs typeface="Times New Roman" panose="02020603050405020304" pitchFamily="18" charset="0"/>
              </a:rPr>
              <a:t>红色</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（用来维护第</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5</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条性质）。</a:t>
            </a:r>
            <a:endPar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a:p>
            <a:pPr marL="539750" lvl="1" indent="-360045" algn="l">
              <a:spcBef>
                <a:spcPts val="600"/>
              </a:spcBef>
              <a:buBlip>
                <a:blip r:embed="rId1"/>
              </a:buBlip>
            </a:pP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以祖父结点</a:t>
            </a:r>
            <a:r>
              <a:rPr lang="en-US"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G</a:t>
            </a:r>
            <a:r>
              <a:rPr lang="zh-CN" altLang="zh-CN" sz="2000" b="1" smtClean="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为当前结点继续进行调整。</a:t>
            </a:r>
            <a:endParaRPr lang="zh-CN" altLang="zh-CN" sz="2000" b="1">
              <a:solidFill>
                <a:srgbClr val="0000FF"/>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0" name="组合 39"/>
          <p:cNvGrpSpPr/>
          <p:nvPr/>
        </p:nvGrpSpPr>
        <p:grpSpPr>
          <a:xfrm>
            <a:off x="928662" y="2865769"/>
            <a:ext cx="5655075" cy="1769404"/>
            <a:chOff x="928662" y="2865769"/>
            <a:chExt cx="5655075" cy="1769404"/>
          </a:xfrm>
        </p:grpSpPr>
        <p:sp>
          <p:nvSpPr>
            <p:cNvPr id="63520" name="Oval 32"/>
            <p:cNvSpPr>
              <a:spLocks noChangeArrowheads="1"/>
            </p:cNvSpPr>
            <p:nvPr/>
          </p:nvSpPr>
          <p:spPr bwMode="auto">
            <a:xfrm>
              <a:off x="1818956" y="2865769"/>
              <a:ext cx="351568" cy="351606"/>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19" name="Oval 31"/>
            <p:cNvSpPr>
              <a:spLocks noChangeArrowheads="1"/>
            </p:cNvSpPr>
            <p:nvPr/>
          </p:nvSpPr>
          <p:spPr bwMode="auto">
            <a:xfrm>
              <a:off x="1270924" y="3538991"/>
              <a:ext cx="351568" cy="351606"/>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18" name="Oval 30"/>
            <p:cNvSpPr>
              <a:spLocks noChangeArrowheads="1"/>
            </p:cNvSpPr>
            <p:nvPr/>
          </p:nvSpPr>
          <p:spPr bwMode="auto">
            <a:xfrm>
              <a:off x="1581131" y="4211178"/>
              <a:ext cx="351568" cy="351606"/>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17" name="Oval 29"/>
            <p:cNvSpPr>
              <a:spLocks noChangeArrowheads="1"/>
            </p:cNvSpPr>
            <p:nvPr/>
          </p:nvSpPr>
          <p:spPr bwMode="auto">
            <a:xfrm>
              <a:off x="2398010" y="3537956"/>
              <a:ext cx="351568" cy="351606"/>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16" name="Text Box 28"/>
            <p:cNvSpPr txBox="1">
              <a:spLocks noChangeArrowheads="1"/>
            </p:cNvSpPr>
            <p:nvPr/>
          </p:nvSpPr>
          <p:spPr bwMode="auto">
            <a:xfrm>
              <a:off x="984499" y="4341479"/>
              <a:ext cx="181988"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15" name="Text Box 27"/>
            <p:cNvSpPr txBox="1">
              <a:spLocks noChangeArrowheads="1"/>
            </p:cNvSpPr>
            <p:nvPr/>
          </p:nvSpPr>
          <p:spPr bwMode="auto">
            <a:xfrm>
              <a:off x="2781632" y="4341479"/>
              <a:ext cx="183022"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14" name="Text Box 26"/>
            <p:cNvSpPr txBox="1">
              <a:spLocks noChangeArrowheads="1"/>
            </p:cNvSpPr>
            <p:nvPr/>
          </p:nvSpPr>
          <p:spPr bwMode="auto">
            <a:xfrm>
              <a:off x="2191205" y="4341479"/>
              <a:ext cx="181988"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13" name="AutoShape 25"/>
            <p:cNvSpPr>
              <a:spLocks noChangeShapeType="1"/>
            </p:cNvSpPr>
            <p:nvPr/>
          </p:nvSpPr>
          <p:spPr bwMode="auto">
            <a:xfrm flipH="1">
              <a:off x="1570791" y="3165668"/>
              <a:ext cx="299867" cy="42502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12" name="AutoShape 24"/>
            <p:cNvSpPr>
              <a:spLocks noChangeShapeType="1"/>
            </p:cNvSpPr>
            <p:nvPr/>
          </p:nvSpPr>
          <p:spPr bwMode="auto">
            <a:xfrm>
              <a:off x="2118823" y="3165668"/>
              <a:ext cx="330888" cy="42399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11" name="AutoShape 23"/>
            <p:cNvSpPr>
              <a:spLocks noChangeShapeType="1"/>
            </p:cNvSpPr>
            <p:nvPr/>
          </p:nvSpPr>
          <p:spPr bwMode="auto">
            <a:xfrm>
              <a:off x="1570791" y="3838889"/>
              <a:ext cx="186124" cy="37228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10" name="AutoShape 22"/>
            <p:cNvSpPr>
              <a:spLocks noChangeShapeType="1"/>
            </p:cNvSpPr>
            <p:nvPr/>
          </p:nvSpPr>
          <p:spPr bwMode="auto">
            <a:xfrm flipH="1">
              <a:off x="1075493" y="3838889"/>
              <a:ext cx="247132" cy="50258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09" name="AutoShape 21"/>
            <p:cNvSpPr>
              <a:spLocks noChangeShapeType="1"/>
            </p:cNvSpPr>
            <p:nvPr/>
          </p:nvSpPr>
          <p:spPr bwMode="auto">
            <a:xfrm flipH="1">
              <a:off x="2282199" y="3837855"/>
              <a:ext cx="167512" cy="5036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08" name="AutoShape 20"/>
            <p:cNvSpPr>
              <a:spLocks noChangeShapeType="1"/>
            </p:cNvSpPr>
            <p:nvPr/>
          </p:nvSpPr>
          <p:spPr bwMode="auto">
            <a:xfrm>
              <a:off x="2697876" y="3837855"/>
              <a:ext cx="175784" cy="50362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507" name="Text Box 19"/>
            <p:cNvSpPr txBox="1">
              <a:spLocks noChangeArrowheads="1"/>
            </p:cNvSpPr>
            <p:nvPr/>
          </p:nvSpPr>
          <p:spPr bwMode="auto">
            <a:xfrm>
              <a:off x="928662" y="3328027"/>
              <a:ext cx="515978" cy="252329"/>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双亲</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06" name="Text Box 18"/>
            <p:cNvSpPr txBox="1">
              <a:spLocks noChangeArrowheads="1"/>
            </p:cNvSpPr>
            <p:nvPr/>
          </p:nvSpPr>
          <p:spPr bwMode="auto">
            <a:xfrm>
              <a:off x="2676162" y="3338368"/>
              <a:ext cx="515978" cy="252329"/>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叔叔</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05" name="Oval 17"/>
            <p:cNvSpPr>
              <a:spLocks noChangeArrowheads="1"/>
            </p:cNvSpPr>
            <p:nvPr/>
          </p:nvSpPr>
          <p:spPr bwMode="auto">
            <a:xfrm>
              <a:off x="5210554" y="2907134"/>
              <a:ext cx="351568" cy="351606"/>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04" name="Oval 16"/>
            <p:cNvSpPr>
              <a:spLocks noChangeArrowheads="1"/>
            </p:cNvSpPr>
            <p:nvPr/>
          </p:nvSpPr>
          <p:spPr bwMode="auto">
            <a:xfrm>
              <a:off x="4662521" y="3580356"/>
              <a:ext cx="351568" cy="351606"/>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03" name="Oval 15"/>
            <p:cNvSpPr>
              <a:spLocks noChangeArrowheads="1"/>
            </p:cNvSpPr>
            <p:nvPr/>
          </p:nvSpPr>
          <p:spPr bwMode="auto">
            <a:xfrm>
              <a:off x="4972728" y="4252543"/>
              <a:ext cx="351568" cy="351606"/>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02" name="Oval 14"/>
            <p:cNvSpPr>
              <a:spLocks noChangeArrowheads="1"/>
            </p:cNvSpPr>
            <p:nvPr/>
          </p:nvSpPr>
          <p:spPr bwMode="auto">
            <a:xfrm>
              <a:off x="5789607" y="3579322"/>
              <a:ext cx="351568" cy="351606"/>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63501" name="Text Box 13"/>
            <p:cNvSpPr txBox="1">
              <a:spLocks noChangeArrowheads="1"/>
            </p:cNvSpPr>
            <p:nvPr/>
          </p:nvSpPr>
          <p:spPr bwMode="auto">
            <a:xfrm>
              <a:off x="4376097" y="4382844"/>
              <a:ext cx="181988"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500" name="Text Box 12"/>
            <p:cNvSpPr txBox="1">
              <a:spLocks noChangeArrowheads="1"/>
            </p:cNvSpPr>
            <p:nvPr/>
          </p:nvSpPr>
          <p:spPr bwMode="auto">
            <a:xfrm>
              <a:off x="6173230" y="4382844"/>
              <a:ext cx="183022"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499" name="Text Box 11"/>
            <p:cNvSpPr txBox="1">
              <a:spLocks noChangeArrowheads="1"/>
            </p:cNvSpPr>
            <p:nvPr/>
          </p:nvSpPr>
          <p:spPr bwMode="auto">
            <a:xfrm>
              <a:off x="5582802" y="4382844"/>
              <a:ext cx="181988" cy="252329"/>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498" name="AutoShape 10"/>
            <p:cNvSpPr>
              <a:spLocks noChangeShapeType="1"/>
            </p:cNvSpPr>
            <p:nvPr/>
          </p:nvSpPr>
          <p:spPr bwMode="auto">
            <a:xfrm flipH="1">
              <a:off x="4964456" y="3232887"/>
              <a:ext cx="297799" cy="40331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7" name="AutoShape 9"/>
            <p:cNvSpPr>
              <a:spLocks noChangeShapeType="1"/>
            </p:cNvSpPr>
            <p:nvPr/>
          </p:nvSpPr>
          <p:spPr bwMode="auto">
            <a:xfrm>
              <a:off x="5511455" y="3232887"/>
              <a:ext cx="329854" cy="40227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6" name="AutoShape 8"/>
            <p:cNvSpPr>
              <a:spLocks noChangeShapeType="1"/>
            </p:cNvSpPr>
            <p:nvPr/>
          </p:nvSpPr>
          <p:spPr bwMode="auto">
            <a:xfrm>
              <a:off x="4964456" y="3905074"/>
              <a:ext cx="185090" cy="347469"/>
            </a:xfrm>
            <a:prstGeom prst="straightConnector1">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5" name="AutoShape 7"/>
            <p:cNvSpPr>
              <a:spLocks noChangeShapeType="1"/>
            </p:cNvSpPr>
            <p:nvPr/>
          </p:nvSpPr>
          <p:spPr bwMode="auto">
            <a:xfrm flipH="1">
              <a:off x="4467091" y="3905074"/>
              <a:ext cx="247132" cy="4777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4" name="AutoShape 6"/>
            <p:cNvSpPr>
              <a:spLocks noChangeShapeType="1"/>
            </p:cNvSpPr>
            <p:nvPr/>
          </p:nvSpPr>
          <p:spPr bwMode="auto">
            <a:xfrm flipH="1">
              <a:off x="5673796" y="3905074"/>
              <a:ext cx="167512" cy="4777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3" name="AutoShape 5"/>
            <p:cNvSpPr>
              <a:spLocks noChangeShapeType="1"/>
            </p:cNvSpPr>
            <p:nvPr/>
          </p:nvSpPr>
          <p:spPr bwMode="auto">
            <a:xfrm>
              <a:off x="6090508" y="3905074"/>
              <a:ext cx="174750" cy="4777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63492" name="Text Box 4"/>
            <p:cNvSpPr txBox="1">
              <a:spLocks noChangeArrowheads="1"/>
            </p:cNvSpPr>
            <p:nvPr/>
          </p:nvSpPr>
          <p:spPr bwMode="auto">
            <a:xfrm>
              <a:off x="4320259" y="3369392"/>
              <a:ext cx="515978" cy="252329"/>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双亲</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63491" name="Text Box 3"/>
            <p:cNvSpPr txBox="1">
              <a:spLocks noChangeArrowheads="1"/>
            </p:cNvSpPr>
            <p:nvPr/>
          </p:nvSpPr>
          <p:spPr bwMode="auto">
            <a:xfrm>
              <a:off x="6067759" y="3379734"/>
              <a:ext cx="515978" cy="252329"/>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叔叔</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39" name="右箭头 38"/>
            <p:cNvSpPr/>
            <p:nvPr/>
          </p:nvSpPr>
          <p:spPr>
            <a:xfrm>
              <a:off x="3500430" y="3571876"/>
              <a:ext cx="42862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41" name="灯片编号占位符 40"/>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642910" y="642918"/>
            <a:ext cx="7858180" cy="155427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spcBef>
                <a:spcPts val="600"/>
              </a:spcBef>
            </a:pPr>
            <a:r>
              <a:rPr lang="zh-CN" altLang="zh-CN" sz="2000" b="1" smtClean="0">
                <a:solidFill>
                  <a:srgbClr val="0000FF"/>
                </a:solidFill>
                <a:ea typeface="楷体" panose="02010609060101010101" pitchFamily="49" charset="-122"/>
                <a:cs typeface="Times New Roman" panose="02020603050405020304" pitchFamily="18" charset="0"/>
              </a:rPr>
              <a:t>② 当前结点</a:t>
            </a:r>
            <a:r>
              <a:rPr lang="en-US" altLang="zh-CN" sz="2000" b="1" smtClean="0">
                <a:solidFill>
                  <a:srgbClr val="0000FF"/>
                </a:solidFill>
                <a:ea typeface="楷体" panose="02010609060101010101" pitchFamily="49" charset="-122"/>
                <a:cs typeface="Times New Roman" panose="02020603050405020304" pitchFamily="18" charset="0"/>
              </a:rPr>
              <a:t>N</a:t>
            </a:r>
            <a:r>
              <a:rPr lang="zh-CN" altLang="zh-CN" sz="2000" b="1" smtClean="0">
                <a:solidFill>
                  <a:srgbClr val="0000FF"/>
                </a:solidFill>
                <a:ea typeface="楷体" panose="02010609060101010101" pitchFamily="49" charset="-122"/>
                <a:cs typeface="Times New Roman" panose="02020603050405020304" pitchFamily="18" charset="0"/>
              </a:rPr>
              <a:t>的叔叔结点</a:t>
            </a:r>
            <a:r>
              <a:rPr lang="en-US" altLang="zh-CN" sz="2000" b="1" smtClean="0">
                <a:solidFill>
                  <a:srgbClr val="0000FF"/>
                </a:solidFill>
                <a:ea typeface="楷体" panose="02010609060101010101" pitchFamily="49" charset="-122"/>
                <a:cs typeface="Times New Roman" panose="02020603050405020304" pitchFamily="18" charset="0"/>
              </a:rPr>
              <a:t>U</a:t>
            </a:r>
            <a:r>
              <a:rPr lang="zh-CN" altLang="zh-CN" sz="2000" b="1" smtClean="0">
                <a:solidFill>
                  <a:srgbClr val="0000FF"/>
                </a:solidFill>
                <a:ea typeface="楷体" panose="02010609060101010101" pitchFamily="49" charset="-122"/>
                <a:cs typeface="Times New Roman" panose="02020603050405020304" pitchFamily="18" charset="0"/>
              </a:rPr>
              <a:t>是</a:t>
            </a:r>
            <a:r>
              <a:rPr lang="zh-CN" altLang="zh-CN" sz="2000" b="1" smtClean="0">
                <a:solidFill>
                  <a:schemeClr val="tx1"/>
                </a:solidFill>
                <a:ea typeface="楷体" panose="02010609060101010101" pitchFamily="49" charset="-122"/>
                <a:cs typeface="Times New Roman" panose="02020603050405020304" pitchFamily="18" charset="0"/>
              </a:rPr>
              <a:t>黑色</a:t>
            </a:r>
            <a:r>
              <a:rPr lang="zh-CN" altLang="zh-CN" sz="2000" b="1" smtClean="0">
                <a:solidFill>
                  <a:srgbClr val="0000FF"/>
                </a:solidFill>
                <a:ea typeface="楷体" panose="02010609060101010101" pitchFamily="49" charset="-122"/>
                <a:cs typeface="Times New Roman" panose="02020603050405020304" pitchFamily="18" charset="0"/>
              </a:rPr>
              <a:t>，并且结点</a:t>
            </a:r>
            <a:r>
              <a:rPr lang="en-US" altLang="zh-CN" sz="2000" b="1" smtClean="0">
                <a:solidFill>
                  <a:srgbClr val="0000FF"/>
                </a:solidFill>
                <a:ea typeface="楷体" panose="02010609060101010101" pitchFamily="49" charset="-122"/>
                <a:cs typeface="Times New Roman" panose="02020603050405020304" pitchFamily="18" charset="0"/>
              </a:rPr>
              <a:t>N</a:t>
            </a:r>
            <a:r>
              <a:rPr lang="zh-CN" altLang="zh-CN" sz="2000" b="1" smtClean="0">
                <a:solidFill>
                  <a:srgbClr val="0000FF"/>
                </a:solidFill>
                <a:ea typeface="楷体" panose="02010609060101010101" pitchFamily="49" charset="-122"/>
                <a:cs typeface="Times New Roman" panose="02020603050405020304" pitchFamily="18" charset="0"/>
              </a:rPr>
              <a:t>是右孩子。</a:t>
            </a:r>
            <a:endParaRPr lang="en-US" altLang="zh-CN" sz="2000" b="1" smtClean="0">
              <a:solidFill>
                <a:srgbClr val="0000FF"/>
              </a:solidFill>
              <a:ea typeface="楷体" panose="02010609060101010101" pitchFamily="49" charset="-122"/>
              <a:cs typeface="Times New Roman" panose="02020603050405020304" pitchFamily="18" charset="0"/>
            </a:endParaRPr>
          </a:p>
          <a:p>
            <a:pPr algn="l">
              <a:spcBef>
                <a:spcPts val="600"/>
              </a:spcBef>
            </a:pPr>
            <a:r>
              <a:rPr lang="zh-CN" altLang="zh-CN" sz="2000" b="1" smtClean="0">
                <a:solidFill>
                  <a:srgbClr val="0000FF"/>
                </a:solidFill>
                <a:ea typeface="仿宋" panose="02010609060101010101" pitchFamily="49" charset="-122"/>
                <a:cs typeface="Times New Roman" panose="02020603050405020304" pitchFamily="18" charset="0"/>
              </a:rPr>
              <a:t>调整方式</a:t>
            </a:r>
            <a:r>
              <a:rPr lang="zh-CN" altLang="en-US" sz="2000" b="1" smtClean="0">
                <a:solidFill>
                  <a:srgbClr val="0000FF"/>
                </a:solidFill>
                <a:ea typeface="仿宋" panose="02010609060101010101" pitchFamily="49" charset="-122"/>
                <a:cs typeface="Times New Roman" panose="02020603050405020304" pitchFamily="18" charset="0"/>
              </a:rPr>
              <a:t>：</a:t>
            </a:r>
            <a:endParaRPr lang="en-US" altLang="zh-CN" sz="2000" b="1" smtClean="0">
              <a:solidFill>
                <a:srgbClr val="0000FF"/>
              </a:solidFill>
              <a:ea typeface="仿宋" panose="02010609060101010101" pitchFamily="49" charset="-122"/>
              <a:cs typeface="Times New Roman" panose="02020603050405020304" pitchFamily="18" charset="0"/>
            </a:endParaRPr>
          </a:p>
          <a:p>
            <a:pPr marL="539750" indent="-360045" algn="l">
              <a:spcBef>
                <a:spcPts val="600"/>
              </a:spcBef>
              <a:buBlip>
                <a:blip r:embed="rId1"/>
              </a:buBlip>
            </a:pPr>
            <a:r>
              <a:rPr lang="zh-CN" altLang="zh-CN" sz="2000" b="1" smtClean="0">
                <a:solidFill>
                  <a:srgbClr val="0000FF"/>
                </a:solidFill>
                <a:ea typeface="仿宋" panose="02010609060101010101" pitchFamily="49" charset="-122"/>
                <a:cs typeface="Times New Roman" panose="02020603050405020304" pitchFamily="18" charset="0"/>
              </a:rPr>
              <a:t>左旋以双亲结点</a:t>
            </a:r>
            <a:r>
              <a:rPr lang="en-US" altLang="zh-CN" sz="2000" b="1" smtClean="0">
                <a:solidFill>
                  <a:srgbClr val="0000FF"/>
                </a:solidFill>
                <a:ea typeface="仿宋" panose="02010609060101010101" pitchFamily="49" charset="-122"/>
                <a:cs typeface="Times New Roman" panose="02020603050405020304" pitchFamily="18" charset="0"/>
              </a:rPr>
              <a:t>P</a:t>
            </a:r>
            <a:r>
              <a:rPr lang="zh-CN" altLang="zh-CN" sz="2000" b="1" smtClean="0">
                <a:solidFill>
                  <a:srgbClr val="0000FF"/>
                </a:solidFill>
                <a:ea typeface="仿宋" panose="02010609060101010101" pitchFamily="49" charset="-122"/>
                <a:cs typeface="Times New Roman" panose="02020603050405020304" pitchFamily="18" charset="0"/>
              </a:rPr>
              <a:t>为根的子树。</a:t>
            </a:r>
            <a:endParaRPr lang="en-US" altLang="zh-CN" sz="2000" b="1" smtClean="0">
              <a:solidFill>
                <a:srgbClr val="0000FF"/>
              </a:solidFill>
              <a:ea typeface="仿宋" panose="02010609060101010101" pitchFamily="49" charset="-122"/>
              <a:cs typeface="Times New Roman" panose="02020603050405020304" pitchFamily="18" charset="0"/>
            </a:endParaRPr>
          </a:p>
          <a:p>
            <a:pPr marL="539750" indent="-360045" algn="l">
              <a:spcBef>
                <a:spcPts val="600"/>
              </a:spcBef>
              <a:buBlip>
                <a:blip r:embed="rId1"/>
              </a:buBlip>
            </a:pPr>
            <a:r>
              <a:rPr lang="zh-CN" altLang="zh-CN" sz="2000" b="1" smtClean="0">
                <a:solidFill>
                  <a:srgbClr val="0000FF"/>
                </a:solidFill>
                <a:ea typeface="仿宋" panose="02010609060101010101" pitchFamily="49" charset="-122"/>
                <a:cs typeface="Times New Roman" panose="02020603050405020304" pitchFamily="18" charset="0"/>
              </a:rPr>
              <a:t>再以结点</a:t>
            </a:r>
            <a:r>
              <a:rPr lang="en-US" altLang="zh-CN" sz="2000" b="1" smtClean="0">
                <a:solidFill>
                  <a:srgbClr val="0000FF"/>
                </a:solidFill>
                <a:ea typeface="仿宋" panose="02010609060101010101" pitchFamily="49" charset="-122"/>
                <a:cs typeface="Times New Roman" panose="02020603050405020304" pitchFamily="18" charset="0"/>
              </a:rPr>
              <a:t>P</a:t>
            </a:r>
            <a:r>
              <a:rPr lang="zh-CN" altLang="zh-CN" sz="2000" b="1" smtClean="0">
                <a:solidFill>
                  <a:srgbClr val="0000FF"/>
                </a:solidFill>
                <a:ea typeface="仿宋" panose="02010609060101010101" pitchFamily="49" charset="-122"/>
                <a:cs typeface="Times New Roman" panose="02020603050405020304" pitchFamily="18" charset="0"/>
              </a:rPr>
              <a:t>为当前结点按情况③继续进行调整。</a:t>
            </a:r>
            <a:endParaRPr lang="zh-CN" altLang="zh-CN" sz="2000" b="1">
              <a:solidFill>
                <a:srgbClr val="0000FF"/>
              </a:solidFill>
              <a:ea typeface="仿宋" panose="02010609060101010101" pitchFamily="49" charset="-122"/>
              <a:cs typeface="Times New Roman" panose="02020603050405020304" pitchFamily="18" charset="0"/>
            </a:endParaRPr>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79" name="组合 78"/>
          <p:cNvGrpSpPr/>
          <p:nvPr/>
        </p:nvGrpSpPr>
        <p:grpSpPr>
          <a:xfrm>
            <a:off x="1159511" y="2650964"/>
            <a:ext cx="5769943" cy="2278234"/>
            <a:chOff x="1159511" y="2650964"/>
            <a:chExt cx="5769943" cy="2278234"/>
          </a:xfrm>
        </p:grpSpPr>
        <p:sp>
          <p:nvSpPr>
            <p:cNvPr id="189478" name="Oval 38"/>
            <p:cNvSpPr>
              <a:spLocks noChangeArrowheads="1"/>
            </p:cNvSpPr>
            <p:nvPr/>
          </p:nvSpPr>
          <p:spPr bwMode="auto">
            <a:xfrm>
              <a:off x="2105937" y="2650964"/>
              <a:ext cx="330714" cy="3307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77" name="Oval 37"/>
            <p:cNvSpPr>
              <a:spLocks noChangeArrowheads="1"/>
            </p:cNvSpPr>
            <p:nvPr/>
          </p:nvSpPr>
          <p:spPr bwMode="auto">
            <a:xfrm>
              <a:off x="1590412" y="3284239"/>
              <a:ext cx="330714" cy="3307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76" name="Oval 36"/>
            <p:cNvSpPr>
              <a:spLocks noChangeArrowheads="1"/>
            </p:cNvSpPr>
            <p:nvPr/>
          </p:nvSpPr>
          <p:spPr bwMode="auto">
            <a:xfrm>
              <a:off x="1882218" y="3916542"/>
              <a:ext cx="330714" cy="3307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75" name="Oval 35"/>
            <p:cNvSpPr>
              <a:spLocks noChangeArrowheads="1"/>
            </p:cNvSpPr>
            <p:nvPr/>
          </p:nvSpPr>
          <p:spPr bwMode="auto">
            <a:xfrm>
              <a:off x="2650642" y="3283266"/>
              <a:ext cx="330714" cy="3307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74" name="Text Box 34"/>
            <p:cNvSpPr txBox="1">
              <a:spLocks noChangeArrowheads="1"/>
            </p:cNvSpPr>
            <p:nvPr/>
          </p:nvSpPr>
          <p:spPr bwMode="auto">
            <a:xfrm>
              <a:off x="1320977" y="4000200"/>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73" name="Text Box 33"/>
            <p:cNvSpPr txBox="1">
              <a:spLocks noChangeArrowheads="1"/>
            </p:cNvSpPr>
            <p:nvPr/>
          </p:nvSpPr>
          <p:spPr bwMode="auto">
            <a:xfrm>
              <a:off x="3011510" y="3980745"/>
              <a:ext cx="172166"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72" name="Text Box 32"/>
            <p:cNvSpPr txBox="1">
              <a:spLocks noChangeArrowheads="1"/>
            </p:cNvSpPr>
            <p:nvPr/>
          </p:nvSpPr>
          <p:spPr bwMode="auto">
            <a:xfrm>
              <a:off x="2456104" y="3980745"/>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71" name="AutoShape 31"/>
            <p:cNvSpPr>
              <a:spLocks noChangeShapeType="1"/>
            </p:cNvSpPr>
            <p:nvPr/>
          </p:nvSpPr>
          <p:spPr bwMode="auto">
            <a:xfrm flipH="1">
              <a:off x="1872491" y="2933068"/>
              <a:ext cx="282080" cy="39981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70" name="AutoShape 30"/>
            <p:cNvSpPr>
              <a:spLocks noChangeShapeType="1"/>
            </p:cNvSpPr>
            <p:nvPr/>
          </p:nvSpPr>
          <p:spPr bwMode="auto">
            <a:xfrm>
              <a:off x="2388016" y="2933068"/>
              <a:ext cx="311260" cy="39883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9" name="AutoShape 29"/>
            <p:cNvSpPr>
              <a:spLocks noChangeShapeType="1"/>
            </p:cNvSpPr>
            <p:nvPr/>
          </p:nvSpPr>
          <p:spPr bwMode="auto">
            <a:xfrm>
              <a:off x="1872491" y="3566343"/>
              <a:ext cx="175084" cy="3501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8" name="AutoShape 28"/>
            <p:cNvSpPr>
              <a:spLocks noChangeShapeType="1"/>
            </p:cNvSpPr>
            <p:nvPr/>
          </p:nvSpPr>
          <p:spPr bwMode="auto">
            <a:xfrm flipH="1">
              <a:off x="1406574" y="3566343"/>
              <a:ext cx="232473" cy="43385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7" name="AutoShape 27"/>
            <p:cNvSpPr>
              <a:spLocks noChangeShapeType="1"/>
            </p:cNvSpPr>
            <p:nvPr/>
          </p:nvSpPr>
          <p:spPr bwMode="auto">
            <a:xfrm flipH="1">
              <a:off x="2541701" y="3565371"/>
              <a:ext cx="157576" cy="41537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6" name="AutoShape 26"/>
            <p:cNvSpPr>
              <a:spLocks noChangeShapeType="1"/>
            </p:cNvSpPr>
            <p:nvPr/>
          </p:nvSpPr>
          <p:spPr bwMode="auto">
            <a:xfrm>
              <a:off x="2932722" y="3565371"/>
              <a:ext cx="165357" cy="41537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5" name="Text Box 25"/>
            <p:cNvSpPr txBox="1">
              <a:spLocks noChangeArrowheads="1"/>
            </p:cNvSpPr>
            <p:nvPr/>
          </p:nvSpPr>
          <p:spPr bwMode="auto">
            <a:xfrm>
              <a:off x="1661418" y="465293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64" name="Text Box 24"/>
            <p:cNvSpPr txBox="1">
              <a:spLocks noChangeArrowheads="1"/>
            </p:cNvSpPr>
            <p:nvPr/>
          </p:nvSpPr>
          <p:spPr bwMode="auto">
            <a:xfrm>
              <a:off x="2272266" y="465293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63" name="AutoShape 23"/>
            <p:cNvSpPr>
              <a:spLocks noChangeShapeType="1"/>
            </p:cNvSpPr>
            <p:nvPr/>
          </p:nvSpPr>
          <p:spPr bwMode="auto">
            <a:xfrm flipH="1">
              <a:off x="1747015" y="4198646"/>
              <a:ext cx="183838" cy="4542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2" name="AutoShape 22"/>
            <p:cNvSpPr>
              <a:spLocks noChangeShapeType="1"/>
            </p:cNvSpPr>
            <p:nvPr/>
          </p:nvSpPr>
          <p:spPr bwMode="auto">
            <a:xfrm>
              <a:off x="2164298" y="4198646"/>
              <a:ext cx="193565" cy="4542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60" name="Text Box 20"/>
            <p:cNvSpPr txBox="1">
              <a:spLocks noChangeArrowheads="1"/>
            </p:cNvSpPr>
            <p:nvPr/>
          </p:nvSpPr>
          <p:spPr bwMode="auto">
            <a:xfrm>
              <a:off x="3541625" y="3277430"/>
              <a:ext cx="1173251" cy="237357"/>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左旋子树</a:t>
              </a: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59" name="Oval 19"/>
            <p:cNvSpPr>
              <a:spLocks noChangeArrowheads="1"/>
            </p:cNvSpPr>
            <p:nvPr/>
          </p:nvSpPr>
          <p:spPr bwMode="auto">
            <a:xfrm>
              <a:off x="5851715" y="2689875"/>
              <a:ext cx="330714" cy="3307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58" name="Oval 18"/>
            <p:cNvSpPr>
              <a:spLocks noChangeArrowheads="1"/>
            </p:cNvSpPr>
            <p:nvPr/>
          </p:nvSpPr>
          <p:spPr bwMode="auto">
            <a:xfrm>
              <a:off x="5336190" y="3323150"/>
              <a:ext cx="330714" cy="3307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57" name="Oval 17"/>
            <p:cNvSpPr>
              <a:spLocks noChangeArrowheads="1"/>
            </p:cNvSpPr>
            <p:nvPr/>
          </p:nvSpPr>
          <p:spPr bwMode="auto">
            <a:xfrm>
              <a:off x="5054111" y="3955452"/>
              <a:ext cx="330714" cy="3307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56" name="Oval 16"/>
            <p:cNvSpPr>
              <a:spLocks noChangeArrowheads="1"/>
            </p:cNvSpPr>
            <p:nvPr/>
          </p:nvSpPr>
          <p:spPr bwMode="auto">
            <a:xfrm>
              <a:off x="6396421" y="3322177"/>
              <a:ext cx="330714" cy="3307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89455" name="Text Box 15"/>
            <p:cNvSpPr txBox="1">
              <a:spLocks noChangeArrowheads="1"/>
            </p:cNvSpPr>
            <p:nvPr/>
          </p:nvSpPr>
          <p:spPr bwMode="auto">
            <a:xfrm>
              <a:off x="5738883" y="403911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54" name="Text Box 14"/>
            <p:cNvSpPr txBox="1">
              <a:spLocks noChangeArrowheads="1"/>
            </p:cNvSpPr>
            <p:nvPr/>
          </p:nvSpPr>
          <p:spPr bwMode="auto">
            <a:xfrm>
              <a:off x="6757288" y="4039111"/>
              <a:ext cx="172166"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53" name="Text Box 13"/>
            <p:cNvSpPr txBox="1">
              <a:spLocks noChangeArrowheads="1"/>
            </p:cNvSpPr>
            <p:nvPr/>
          </p:nvSpPr>
          <p:spPr bwMode="auto">
            <a:xfrm>
              <a:off x="6201883" y="403911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52" name="AutoShape 12"/>
            <p:cNvSpPr>
              <a:spLocks noChangeShapeType="1"/>
            </p:cNvSpPr>
            <p:nvPr/>
          </p:nvSpPr>
          <p:spPr bwMode="auto">
            <a:xfrm flipH="1">
              <a:off x="5620215" y="2996299"/>
              <a:ext cx="280134" cy="37938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51" name="AutoShape 11"/>
            <p:cNvSpPr>
              <a:spLocks noChangeShapeType="1"/>
            </p:cNvSpPr>
            <p:nvPr/>
          </p:nvSpPr>
          <p:spPr bwMode="auto">
            <a:xfrm>
              <a:off x="6134768" y="2996299"/>
              <a:ext cx="310288" cy="37840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50" name="AutoShape 10"/>
            <p:cNvSpPr>
              <a:spLocks noChangeShapeType="1"/>
            </p:cNvSpPr>
            <p:nvPr/>
          </p:nvSpPr>
          <p:spPr bwMode="auto">
            <a:xfrm>
              <a:off x="5618270" y="3605254"/>
              <a:ext cx="206210" cy="43385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9" name="AutoShape 9"/>
            <p:cNvSpPr>
              <a:spLocks noChangeShapeType="1"/>
            </p:cNvSpPr>
            <p:nvPr/>
          </p:nvSpPr>
          <p:spPr bwMode="auto">
            <a:xfrm flipH="1">
              <a:off x="6287480" y="3604281"/>
              <a:ext cx="157576" cy="43482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8" name="AutoShape 8"/>
            <p:cNvSpPr>
              <a:spLocks noChangeShapeType="1"/>
            </p:cNvSpPr>
            <p:nvPr/>
          </p:nvSpPr>
          <p:spPr bwMode="auto">
            <a:xfrm>
              <a:off x="6678500" y="3604281"/>
              <a:ext cx="165357" cy="43482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7" name="Text Box 7"/>
            <p:cNvSpPr txBox="1">
              <a:spLocks noChangeArrowheads="1"/>
            </p:cNvSpPr>
            <p:nvPr/>
          </p:nvSpPr>
          <p:spPr bwMode="auto">
            <a:xfrm>
              <a:off x="4833310" y="469184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46" name="Text Box 6"/>
            <p:cNvSpPr txBox="1">
              <a:spLocks noChangeArrowheads="1"/>
            </p:cNvSpPr>
            <p:nvPr/>
          </p:nvSpPr>
          <p:spPr bwMode="auto">
            <a:xfrm>
              <a:off x="5444159" y="4691841"/>
              <a:ext cx="171193" cy="23735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89445" name="AutoShape 5"/>
            <p:cNvSpPr>
              <a:spLocks noChangeShapeType="1"/>
            </p:cNvSpPr>
            <p:nvPr/>
          </p:nvSpPr>
          <p:spPr bwMode="auto">
            <a:xfrm flipH="1">
              <a:off x="4918907" y="4262849"/>
              <a:ext cx="183838" cy="42899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4" name="AutoShape 4"/>
            <p:cNvSpPr>
              <a:spLocks noChangeShapeType="1"/>
            </p:cNvSpPr>
            <p:nvPr/>
          </p:nvSpPr>
          <p:spPr bwMode="auto">
            <a:xfrm>
              <a:off x="5337163" y="4262849"/>
              <a:ext cx="192592" cy="42899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3" name="AutoShape 3"/>
            <p:cNvSpPr>
              <a:spLocks noChangeShapeType="1"/>
            </p:cNvSpPr>
            <p:nvPr/>
          </p:nvSpPr>
          <p:spPr bwMode="auto">
            <a:xfrm flipH="1">
              <a:off x="5219468" y="3605254"/>
              <a:ext cx="165357" cy="3501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89442" name="AutoShape 2"/>
            <p:cNvSpPr>
              <a:spLocks noChangeShapeType="1"/>
            </p:cNvSpPr>
            <p:nvPr/>
          </p:nvSpPr>
          <p:spPr bwMode="auto">
            <a:xfrm flipH="1">
              <a:off x="1159511" y="3453502"/>
              <a:ext cx="430901" cy="973"/>
            </a:xfrm>
            <a:prstGeom prst="straightConnector1">
              <a:avLst/>
            </a:prstGeom>
            <a:noFill/>
            <a:ln w="38100">
              <a:solidFill>
                <a:srgbClr val="FF00FF"/>
              </a:solidFill>
              <a:prstDash val="sysDot"/>
              <a:round/>
              <a:tailEnd type="triangl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78" name="右箭头 77"/>
            <p:cNvSpPr/>
            <p:nvPr/>
          </p:nvSpPr>
          <p:spPr>
            <a:xfrm>
              <a:off x="3590530" y="3643314"/>
              <a:ext cx="1000132"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80" name="灯片编号占位符 79"/>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571472" y="428604"/>
            <a:ext cx="7858180" cy="155427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spcBef>
                <a:spcPts val="600"/>
              </a:spcBef>
            </a:pPr>
            <a:r>
              <a:rPr lang="zh-CN" altLang="zh-CN" sz="2000" b="1" smtClean="0">
                <a:solidFill>
                  <a:srgbClr val="0000FF"/>
                </a:solidFill>
                <a:ea typeface="楷体" panose="02010609060101010101" pitchFamily="49" charset="-122"/>
                <a:cs typeface="Times New Roman" panose="02020603050405020304" pitchFamily="18" charset="0"/>
              </a:rPr>
              <a:t>③ 当前结点</a:t>
            </a:r>
            <a:r>
              <a:rPr lang="en-US" altLang="zh-CN" sz="2000" b="1" smtClean="0">
                <a:solidFill>
                  <a:srgbClr val="0000FF"/>
                </a:solidFill>
                <a:ea typeface="楷体" panose="02010609060101010101" pitchFamily="49" charset="-122"/>
                <a:cs typeface="Times New Roman" panose="02020603050405020304" pitchFamily="18" charset="0"/>
              </a:rPr>
              <a:t>N</a:t>
            </a:r>
            <a:r>
              <a:rPr lang="zh-CN" altLang="zh-CN" sz="2000" b="1" smtClean="0">
                <a:solidFill>
                  <a:srgbClr val="0000FF"/>
                </a:solidFill>
                <a:ea typeface="楷体" panose="02010609060101010101" pitchFamily="49" charset="-122"/>
                <a:cs typeface="Times New Roman" panose="02020603050405020304" pitchFamily="18" charset="0"/>
              </a:rPr>
              <a:t>的叔叔结点</a:t>
            </a:r>
            <a:r>
              <a:rPr lang="en-US" altLang="zh-CN" sz="2000" b="1" smtClean="0">
                <a:solidFill>
                  <a:srgbClr val="0000FF"/>
                </a:solidFill>
                <a:ea typeface="楷体" panose="02010609060101010101" pitchFamily="49" charset="-122"/>
                <a:cs typeface="Times New Roman" panose="02020603050405020304" pitchFamily="18" charset="0"/>
              </a:rPr>
              <a:t>U</a:t>
            </a:r>
            <a:r>
              <a:rPr lang="zh-CN" altLang="zh-CN" sz="2000" b="1" smtClean="0">
                <a:solidFill>
                  <a:srgbClr val="0000FF"/>
                </a:solidFill>
                <a:ea typeface="楷体" panose="02010609060101010101" pitchFamily="49" charset="-122"/>
                <a:cs typeface="Times New Roman" panose="02020603050405020304" pitchFamily="18" charset="0"/>
              </a:rPr>
              <a:t>是黑色，并且结点</a:t>
            </a:r>
            <a:r>
              <a:rPr lang="en-US" altLang="zh-CN" sz="2000" b="1" smtClean="0">
                <a:solidFill>
                  <a:srgbClr val="0000FF"/>
                </a:solidFill>
                <a:ea typeface="楷体" panose="02010609060101010101" pitchFamily="49" charset="-122"/>
                <a:cs typeface="Times New Roman" panose="02020603050405020304" pitchFamily="18" charset="0"/>
              </a:rPr>
              <a:t>N</a:t>
            </a:r>
            <a:r>
              <a:rPr lang="zh-CN" altLang="zh-CN" sz="2000" b="1" smtClean="0">
                <a:solidFill>
                  <a:srgbClr val="0000FF"/>
                </a:solidFill>
                <a:ea typeface="楷体" panose="02010609060101010101" pitchFamily="49" charset="-122"/>
                <a:cs typeface="Times New Roman" panose="02020603050405020304" pitchFamily="18" charset="0"/>
              </a:rPr>
              <a:t>是左孩子。</a:t>
            </a:r>
            <a:endParaRPr lang="en-US" altLang="zh-CN" sz="2000" b="1" smtClean="0">
              <a:solidFill>
                <a:srgbClr val="0000FF"/>
              </a:solidFill>
              <a:ea typeface="楷体" panose="02010609060101010101" pitchFamily="49" charset="-122"/>
              <a:cs typeface="Times New Roman" panose="02020603050405020304" pitchFamily="18" charset="0"/>
            </a:endParaRPr>
          </a:p>
          <a:p>
            <a:pPr algn="l">
              <a:spcBef>
                <a:spcPts val="600"/>
              </a:spcBef>
            </a:pPr>
            <a:r>
              <a:rPr lang="zh-CN" altLang="zh-CN" sz="2000" b="1" smtClean="0">
                <a:solidFill>
                  <a:srgbClr val="0000FF"/>
                </a:solidFill>
                <a:ea typeface="仿宋" panose="02010609060101010101" pitchFamily="49" charset="-122"/>
                <a:cs typeface="Times New Roman" panose="02020603050405020304" pitchFamily="18" charset="0"/>
              </a:rPr>
              <a:t>调整方式</a:t>
            </a:r>
            <a:r>
              <a:rPr lang="zh-CN" altLang="en-US" sz="2000" b="1" smtClean="0">
                <a:solidFill>
                  <a:srgbClr val="0000FF"/>
                </a:solidFill>
                <a:ea typeface="仿宋" panose="02010609060101010101" pitchFamily="49" charset="-122"/>
                <a:cs typeface="Times New Roman" panose="02020603050405020304" pitchFamily="18" charset="0"/>
              </a:rPr>
              <a:t>：</a:t>
            </a:r>
            <a:endParaRPr lang="en-US" altLang="zh-CN" sz="2000" b="1" smtClean="0">
              <a:solidFill>
                <a:srgbClr val="0000FF"/>
              </a:solidFill>
              <a:ea typeface="仿宋" panose="02010609060101010101" pitchFamily="49" charset="-122"/>
              <a:cs typeface="Times New Roman" panose="02020603050405020304" pitchFamily="18" charset="0"/>
            </a:endParaRPr>
          </a:p>
          <a:p>
            <a:pPr marL="539750" indent="-360045" algn="l">
              <a:spcBef>
                <a:spcPts val="600"/>
              </a:spcBef>
              <a:buBlip>
                <a:blip r:embed="rId1"/>
              </a:buBlip>
            </a:pPr>
            <a:r>
              <a:rPr lang="zh-CN" altLang="zh-CN" sz="2000" b="1" smtClean="0">
                <a:solidFill>
                  <a:srgbClr val="0000FF"/>
                </a:solidFill>
                <a:ea typeface="仿宋" panose="02010609060101010101" pitchFamily="49" charset="-122"/>
                <a:cs typeface="Times New Roman" panose="02020603050405020304" pitchFamily="18" charset="0"/>
              </a:rPr>
              <a:t>先右旋以祖父结点</a:t>
            </a:r>
            <a:r>
              <a:rPr lang="en-US" altLang="zh-CN" sz="2000" b="1" smtClean="0">
                <a:solidFill>
                  <a:srgbClr val="0000FF"/>
                </a:solidFill>
                <a:ea typeface="仿宋" panose="02010609060101010101" pitchFamily="49" charset="-122"/>
                <a:cs typeface="Times New Roman" panose="02020603050405020304" pitchFamily="18" charset="0"/>
              </a:rPr>
              <a:t>G</a:t>
            </a:r>
            <a:r>
              <a:rPr lang="zh-CN" altLang="zh-CN" sz="2000" b="1" smtClean="0">
                <a:solidFill>
                  <a:srgbClr val="0000FF"/>
                </a:solidFill>
                <a:ea typeface="仿宋" panose="02010609060101010101" pitchFamily="49" charset="-122"/>
                <a:cs typeface="Times New Roman" panose="02020603050405020304" pitchFamily="18" charset="0"/>
              </a:rPr>
              <a:t>为根的子树</a:t>
            </a:r>
            <a:r>
              <a:rPr lang="zh-CN" altLang="en-US" sz="2000" b="1" smtClean="0">
                <a:solidFill>
                  <a:srgbClr val="0000FF"/>
                </a:solidFill>
                <a:ea typeface="仿宋" panose="02010609060101010101" pitchFamily="49" charset="-122"/>
                <a:cs typeface="Times New Roman" panose="02020603050405020304" pitchFamily="18" charset="0"/>
              </a:rPr>
              <a:t>。</a:t>
            </a:r>
            <a:endParaRPr lang="en-US" altLang="zh-CN" sz="2000" b="1" smtClean="0">
              <a:solidFill>
                <a:srgbClr val="0000FF"/>
              </a:solidFill>
              <a:ea typeface="仿宋" panose="02010609060101010101" pitchFamily="49" charset="-122"/>
              <a:cs typeface="Times New Roman" panose="02020603050405020304" pitchFamily="18" charset="0"/>
            </a:endParaRPr>
          </a:p>
          <a:p>
            <a:pPr marL="539750" indent="-360045" algn="l">
              <a:spcBef>
                <a:spcPts val="600"/>
              </a:spcBef>
              <a:buBlip>
                <a:blip r:embed="rId1"/>
              </a:buBlip>
            </a:pPr>
            <a:r>
              <a:rPr lang="zh-CN" altLang="zh-CN" sz="2000" b="1" smtClean="0">
                <a:solidFill>
                  <a:srgbClr val="0000FF"/>
                </a:solidFill>
                <a:ea typeface="仿宋" panose="02010609060101010101" pitchFamily="49" charset="-122"/>
                <a:cs typeface="Times New Roman" panose="02020603050405020304" pitchFamily="18" charset="0"/>
              </a:rPr>
              <a:t>然后交换以前的双亲结点</a:t>
            </a:r>
            <a:r>
              <a:rPr lang="en-US" altLang="zh-CN" sz="2000" b="1" smtClean="0">
                <a:solidFill>
                  <a:srgbClr val="0000FF"/>
                </a:solidFill>
                <a:ea typeface="仿宋" panose="02010609060101010101" pitchFamily="49" charset="-122"/>
                <a:cs typeface="Times New Roman" panose="02020603050405020304" pitchFamily="18" charset="0"/>
              </a:rPr>
              <a:t>P</a:t>
            </a:r>
            <a:r>
              <a:rPr lang="zh-CN" altLang="zh-CN" sz="2000" b="1" smtClean="0">
                <a:solidFill>
                  <a:srgbClr val="0000FF"/>
                </a:solidFill>
                <a:ea typeface="仿宋" panose="02010609060101010101" pitchFamily="49" charset="-122"/>
                <a:cs typeface="Times New Roman" panose="02020603050405020304" pitchFamily="18" charset="0"/>
              </a:rPr>
              <a:t>和祖父结点</a:t>
            </a:r>
            <a:r>
              <a:rPr lang="en-US" altLang="zh-CN" sz="2000" b="1" smtClean="0">
                <a:solidFill>
                  <a:srgbClr val="0000FF"/>
                </a:solidFill>
                <a:ea typeface="仿宋" panose="02010609060101010101" pitchFamily="49" charset="-122"/>
                <a:cs typeface="Times New Roman" panose="02020603050405020304" pitchFamily="18" charset="0"/>
              </a:rPr>
              <a:t>G</a:t>
            </a:r>
            <a:r>
              <a:rPr lang="zh-CN" altLang="zh-CN" sz="2000" b="1" smtClean="0">
                <a:solidFill>
                  <a:srgbClr val="0000FF"/>
                </a:solidFill>
                <a:ea typeface="仿宋" panose="02010609060101010101" pitchFamily="49" charset="-122"/>
                <a:cs typeface="Times New Roman" panose="02020603050405020304" pitchFamily="18" charset="0"/>
              </a:rPr>
              <a:t>的颜色。</a:t>
            </a:r>
            <a:endParaRPr lang="en-US" altLang="zh-CN" sz="2000" b="1" smtClean="0">
              <a:solidFill>
                <a:srgbClr val="0000FF"/>
              </a:solidFill>
              <a:ea typeface="仿宋" panose="02010609060101010101" pitchFamily="49" charset="-122"/>
              <a:cs typeface="Times New Roman" panose="02020603050405020304" pitchFamily="18" charset="0"/>
            </a:endParaRPr>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06" name="组合 105"/>
          <p:cNvGrpSpPr/>
          <p:nvPr/>
        </p:nvGrpSpPr>
        <p:grpSpPr>
          <a:xfrm>
            <a:off x="357158" y="2651143"/>
            <a:ext cx="8501122" cy="2349493"/>
            <a:chOff x="357158" y="2651143"/>
            <a:chExt cx="8501122" cy="2349493"/>
          </a:xfrm>
        </p:grpSpPr>
        <p:sp>
          <p:nvSpPr>
            <p:cNvPr id="190520" name="Text Box 56"/>
            <p:cNvSpPr txBox="1">
              <a:spLocks noChangeArrowheads="1"/>
            </p:cNvSpPr>
            <p:nvPr/>
          </p:nvSpPr>
          <p:spPr bwMode="auto">
            <a:xfrm>
              <a:off x="2647967" y="3252199"/>
              <a:ext cx="1209653" cy="242811"/>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右旋子树</a:t>
              </a: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19" name="Oval 55"/>
            <p:cNvSpPr>
              <a:spLocks noChangeArrowheads="1"/>
            </p:cNvSpPr>
            <p:nvPr/>
          </p:nvSpPr>
          <p:spPr bwMode="auto">
            <a:xfrm>
              <a:off x="1398616" y="2651143"/>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18" name="Oval 54"/>
            <p:cNvSpPr>
              <a:spLocks noChangeArrowheads="1"/>
            </p:cNvSpPr>
            <p:nvPr/>
          </p:nvSpPr>
          <p:spPr bwMode="auto">
            <a:xfrm>
              <a:off x="871421" y="3298970"/>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17" name="Oval 53"/>
            <p:cNvSpPr>
              <a:spLocks noChangeArrowheads="1"/>
            </p:cNvSpPr>
            <p:nvPr/>
          </p:nvSpPr>
          <p:spPr bwMode="auto">
            <a:xfrm>
              <a:off x="582956" y="3945802"/>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16" name="Oval 52"/>
            <p:cNvSpPr>
              <a:spLocks noChangeArrowheads="1"/>
            </p:cNvSpPr>
            <p:nvPr/>
          </p:nvSpPr>
          <p:spPr bwMode="auto">
            <a:xfrm>
              <a:off x="1955651" y="3297975"/>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15" name="Text Box 51"/>
            <p:cNvSpPr txBox="1">
              <a:spLocks noChangeArrowheads="1"/>
            </p:cNvSpPr>
            <p:nvPr/>
          </p:nvSpPr>
          <p:spPr bwMode="auto">
            <a:xfrm>
              <a:off x="1283230" y="4031383"/>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14" name="Text Box 50"/>
            <p:cNvSpPr txBox="1">
              <a:spLocks noChangeArrowheads="1"/>
            </p:cNvSpPr>
            <p:nvPr/>
          </p:nvSpPr>
          <p:spPr bwMode="auto">
            <a:xfrm>
              <a:off x="2324687" y="4031383"/>
              <a:ext cx="176063"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13" name="Text Box 49"/>
            <p:cNvSpPr txBox="1">
              <a:spLocks noChangeArrowheads="1"/>
            </p:cNvSpPr>
            <p:nvPr/>
          </p:nvSpPr>
          <p:spPr bwMode="auto">
            <a:xfrm>
              <a:off x="1756710" y="4031383"/>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12" name="AutoShape 48"/>
            <p:cNvSpPr>
              <a:spLocks noChangeShapeType="1"/>
            </p:cNvSpPr>
            <p:nvPr/>
          </p:nvSpPr>
          <p:spPr bwMode="auto">
            <a:xfrm flipH="1">
              <a:off x="1161875" y="2964608"/>
              <a:ext cx="286475" cy="38809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11" name="AutoShape 47"/>
            <p:cNvSpPr>
              <a:spLocks noChangeShapeType="1"/>
            </p:cNvSpPr>
            <p:nvPr/>
          </p:nvSpPr>
          <p:spPr bwMode="auto">
            <a:xfrm>
              <a:off x="1688075" y="2964608"/>
              <a:ext cx="317311" cy="38710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10" name="AutoShape 46"/>
            <p:cNvSpPr>
              <a:spLocks noChangeShapeType="1"/>
            </p:cNvSpPr>
            <p:nvPr/>
          </p:nvSpPr>
          <p:spPr bwMode="auto">
            <a:xfrm>
              <a:off x="1159886" y="3587557"/>
              <a:ext cx="210878" cy="44382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9" name="AutoShape 45"/>
            <p:cNvSpPr>
              <a:spLocks noChangeShapeType="1"/>
            </p:cNvSpPr>
            <p:nvPr/>
          </p:nvSpPr>
          <p:spPr bwMode="auto">
            <a:xfrm flipH="1">
              <a:off x="1844244" y="3586562"/>
              <a:ext cx="161142" cy="44482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8" name="AutoShape 44"/>
            <p:cNvSpPr>
              <a:spLocks noChangeShapeType="1"/>
            </p:cNvSpPr>
            <p:nvPr/>
          </p:nvSpPr>
          <p:spPr bwMode="auto">
            <a:xfrm>
              <a:off x="2244116" y="3586562"/>
              <a:ext cx="169100" cy="44482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7" name="Text Box 43"/>
            <p:cNvSpPr txBox="1">
              <a:spLocks noChangeArrowheads="1"/>
            </p:cNvSpPr>
            <p:nvPr/>
          </p:nvSpPr>
          <p:spPr bwMode="auto">
            <a:xfrm>
              <a:off x="357158" y="4699113"/>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06" name="Text Box 42"/>
            <p:cNvSpPr txBox="1">
              <a:spLocks noChangeArrowheads="1"/>
            </p:cNvSpPr>
            <p:nvPr/>
          </p:nvSpPr>
          <p:spPr bwMode="auto">
            <a:xfrm>
              <a:off x="981834" y="4699113"/>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505" name="AutoShape 41"/>
            <p:cNvSpPr>
              <a:spLocks noChangeShapeType="1"/>
            </p:cNvSpPr>
            <p:nvPr/>
          </p:nvSpPr>
          <p:spPr bwMode="auto">
            <a:xfrm flipH="1">
              <a:off x="444692" y="4260262"/>
              <a:ext cx="187999"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4" name="AutoShape 40"/>
            <p:cNvSpPr>
              <a:spLocks noChangeShapeType="1"/>
            </p:cNvSpPr>
            <p:nvPr/>
          </p:nvSpPr>
          <p:spPr bwMode="auto">
            <a:xfrm>
              <a:off x="872416" y="4260262"/>
              <a:ext cx="196952"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3" name="AutoShape 39"/>
            <p:cNvSpPr>
              <a:spLocks noChangeShapeType="1"/>
            </p:cNvSpPr>
            <p:nvPr/>
          </p:nvSpPr>
          <p:spPr bwMode="auto">
            <a:xfrm flipH="1">
              <a:off x="752056" y="3587557"/>
              <a:ext cx="169100" cy="35824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502" name="Oval 38"/>
            <p:cNvSpPr>
              <a:spLocks noChangeArrowheads="1"/>
            </p:cNvSpPr>
            <p:nvPr/>
          </p:nvSpPr>
          <p:spPr bwMode="auto">
            <a:xfrm>
              <a:off x="4548670" y="2671046"/>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01" name="Oval 37"/>
            <p:cNvSpPr>
              <a:spLocks noChangeArrowheads="1"/>
            </p:cNvSpPr>
            <p:nvPr/>
          </p:nvSpPr>
          <p:spPr bwMode="auto">
            <a:xfrm>
              <a:off x="4051316" y="3358678"/>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500" name="Oval 36"/>
            <p:cNvSpPr>
              <a:spLocks noChangeArrowheads="1"/>
            </p:cNvSpPr>
            <p:nvPr/>
          </p:nvSpPr>
          <p:spPr bwMode="auto">
            <a:xfrm>
              <a:off x="5384223" y="4024417"/>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99" name="Text Box 35"/>
            <p:cNvSpPr txBox="1">
              <a:spLocks noChangeArrowheads="1"/>
            </p:cNvSpPr>
            <p:nvPr/>
          </p:nvSpPr>
          <p:spPr bwMode="auto">
            <a:xfrm>
              <a:off x="4781431"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98" name="Text Box 34"/>
            <p:cNvSpPr txBox="1">
              <a:spLocks noChangeArrowheads="1"/>
            </p:cNvSpPr>
            <p:nvPr/>
          </p:nvSpPr>
          <p:spPr bwMode="auto">
            <a:xfrm>
              <a:off x="5753259" y="4757825"/>
              <a:ext cx="176063"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97" name="Text Box 33"/>
            <p:cNvSpPr txBox="1">
              <a:spLocks noChangeArrowheads="1"/>
            </p:cNvSpPr>
            <p:nvPr/>
          </p:nvSpPr>
          <p:spPr bwMode="auto">
            <a:xfrm>
              <a:off x="5185282" y="4757825"/>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96" name="AutoShape 32"/>
            <p:cNvSpPr>
              <a:spLocks noChangeShapeType="1"/>
            </p:cNvSpPr>
            <p:nvPr/>
          </p:nvSpPr>
          <p:spPr bwMode="auto">
            <a:xfrm flipH="1">
              <a:off x="4311930" y="2984510"/>
              <a:ext cx="286475" cy="38809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95" name="AutoShape 31"/>
            <p:cNvSpPr>
              <a:spLocks noChangeShapeType="1"/>
            </p:cNvSpPr>
            <p:nvPr/>
          </p:nvSpPr>
          <p:spPr bwMode="auto">
            <a:xfrm>
              <a:off x="4838129" y="2984510"/>
              <a:ext cx="317311" cy="38710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94" name="AutoShape 30"/>
            <p:cNvSpPr>
              <a:spLocks noChangeShapeType="1"/>
            </p:cNvSpPr>
            <p:nvPr/>
          </p:nvSpPr>
          <p:spPr bwMode="auto">
            <a:xfrm flipH="1">
              <a:off x="4868965" y="3647264"/>
              <a:ext cx="196952" cy="46472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93" name="AutoShape 29"/>
            <p:cNvSpPr>
              <a:spLocks noChangeShapeType="1"/>
            </p:cNvSpPr>
            <p:nvPr/>
          </p:nvSpPr>
          <p:spPr bwMode="auto">
            <a:xfrm flipH="1">
              <a:off x="5272816" y="4337882"/>
              <a:ext cx="161142" cy="41994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92" name="AutoShape 28"/>
            <p:cNvSpPr>
              <a:spLocks noChangeShapeType="1"/>
            </p:cNvSpPr>
            <p:nvPr/>
          </p:nvSpPr>
          <p:spPr bwMode="auto">
            <a:xfrm>
              <a:off x="5673683" y="4337882"/>
              <a:ext cx="168105" cy="41994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91" name="Text Box 27"/>
            <p:cNvSpPr txBox="1">
              <a:spLocks noChangeArrowheads="1"/>
            </p:cNvSpPr>
            <p:nvPr/>
          </p:nvSpPr>
          <p:spPr bwMode="auto">
            <a:xfrm>
              <a:off x="3825518"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90" name="Text Box 26"/>
            <p:cNvSpPr txBox="1">
              <a:spLocks noChangeArrowheads="1"/>
            </p:cNvSpPr>
            <p:nvPr/>
          </p:nvSpPr>
          <p:spPr bwMode="auto">
            <a:xfrm>
              <a:off x="4450194"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89" name="AutoShape 25"/>
            <p:cNvSpPr>
              <a:spLocks noChangeShapeType="1"/>
            </p:cNvSpPr>
            <p:nvPr/>
          </p:nvSpPr>
          <p:spPr bwMode="auto">
            <a:xfrm flipH="1">
              <a:off x="3913052" y="3673138"/>
              <a:ext cx="187999"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88" name="AutoShape 24"/>
            <p:cNvSpPr>
              <a:spLocks noChangeShapeType="1"/>
            </p:cNvSpPr>
            <p:nvPr/>
          </p:nvSpPr>
          <p:spPr bwMode="auto">
            <a:xfrm>
              <a:off x="4340776" y="3673138"/>
              <a:ext cx="196952"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87" name="Oval 23"/>
            <p:cNvSpPr>
              <a:spLocks noChangeArrowheads="1"/>
            </p:cNvSpPr>
            <p:nvPr/>
          </p:nvSpPr>
          <p:spPr bwMode="auto">
            <a:xfrm>
              <a:off x="5016182" y="3358678"/>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86" name="AutoShape 22"/>
            <p:cNvSpPr>
              <a:spLocks noChangeShapeType="1"/>
            </p:cNvSpPr>
            <p:nvPr/>
          </p:nvSpPr>
          <p:spPr bwMode="auto">
            <a:xfrm>
              <a:off x="5304646" y="3647264"/>
              <a:ext cx="248677" cy="37715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85" name="AutoShape 21"/>
            <p:cNvSpPr>
              <a:spLocks noChangeShapeType="1"/>
            </p:cNvSpPr>
            <p:nvPr/>
          </p:nvSpPr>
          <p:spPr bwMode="auto">
            <a:xfrm flipV="1">
              <a:off x="1756710" y="2804392"/>
              <a:ext cx="507300" cy="995"/>
            </a:xfrm>
            <a:prstGeom prst="straightConnector1">
              <a:avLst/>
            </a:prstGeom>
            <a:noFill/>
            <a:ln w="38100">
              <a:solidFill>
                <a:srgbClr val="000000"/>
              </a:solidFill>
              <a:prstDash val="sysDot"/>
              <a:round/>
              <a:tailEnd type="triangl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83" name="Text Box 19"/>
            <p:cNvSpPr txBox="1">
              <a:spLocks noChangeArrowheads="1"/>
            </p:cNvSpPr>
            <p:nvPr/>
          </p:nvSpPr>
          <p:spPr bwMode="auto">
            <a:xfrm>
              <a:off x="5778579" y="3286124"/>
              <a:ext cx="1079437" cy="242811"/>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82" name="Oval 18"/>
            <p:cNvSpPr>
              <a:spLocks noChangeArrowheads="1"/>
            </p:cNvSpPr>
            <p:nvPr/>
          </p:nvSpPr>
          <p:spPr bwMode="auto">
            <a:xfrm>
              <a:off x="7477628" y="2671046"/>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P</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81" name="Oval 17"/>
            <p:cNvSpPr>
              <a:spLocks noChangeArrowheads="1"/>
            </p:cNvSpPr>
            <p:nvPr/>
          </p:nvSpPr>
          <p:spPr bwMode="auto">
            <a:xfrm>
              <a:off x="6980274" y="3358678"/>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N</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80" name="Oval 16"/>
            <p:cNvSpPr>
              <a:spLocks noChangeArrowheads="1"/>
            </p:cNvSpPr>
            <p:nvPr/>
          </p:nvSpPr>
          <p:spPr bwMode="auto">
            <a:xfrm>
              <a:off x="8313181" y="4024417"/>
              <a:ext cx="338200" cy="33834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U</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79" name="Text Box 15"/>
            <p:cNvSpPr txBox="1">
              <a:spLocks noChangeArrowheads="1"/>
            </p:cNvSpPr>
            <p:nvPr/>
          </p:nvSpPr>
          <p:spPr bwMode="auto">
            <a:xfrm>
              <a:off x="7710389"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78" name="Text Box 14"/>
            <p:cNvSpPr txBox="1">
              <a:spLocks noChangeArrowheads="1"/>
            </p:cNvSpPr>
            <p:nvPr/>
          </p:nvSpPr>
          <p:spPr bwMode="auto">
            <a:xfrm>
              <a:off x="8682217" y="4757825"/>
              <a:ext cx="176063"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77" name="Text Box 13"/>
            <p:cNvSpPr txBox="1">
              <a:spLocks noChangeArrowheads="1"/>
            </p:cNvSpPr>
            <p:nvPr/>
          </p:nvSpPr>
          <p:spPr bwMode="auto">
            <a:xfrm>
              <a:off x="8114240" y="4757825"/>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76" name="AutoShape 12"/>
            <p:cNvSpPr>
              <a:spLocks noChangeShapeType="1"/>
            </p:cNvSpPr>
            <p:nvPr/>
          </p:nvSpPr>
          <p:spPr bwMode="auto">
            <a:xfrm flipH="1">
              <a:off x="7240887" y="2984510"/>
              <a:ext cx="286475" cy="38809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75" name="AutoShape 11"/>
            <p:cNvSpPr>
              <a:spLocks noChangeShapeType="1"/>
            </p:cNvSpPr>
            <p:nvPr/>
          </p:nvSpPr>
          <p:spPr bwMode="auto">
            <a:xfrm>
              <a:off x="7767087" y="2984510"/>
              <a:ext cx="317311" cy="38710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74" name="AutoShape 10"/>
            <p:cNvSpPr>
              <a:spLocks noChangeShapeType="1"/>
            </p:cNvSpPr>
            <p:nvPr/>
          </p:nvSpPr>
          <p:spPr bwMode="auto">
            <a:xfrm flipH="1">
              <a:off x="7797923" y="3671147"/>
              <a:ext cx="196952" cy="38013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73" name="AutoShape 9"/>
            <p:cNvSpPr>
              <a:spLocks noChangeShapeType="1"/>
            </p:cNvSpPr>
            <p:nvPr/>
          </p:nvSpPr>
          <p:spPr bwMode="auto">
            <a:xfrm flipH="1">
              <a:off x="8201774" y="4337882"/>
              <a:ext cx="161142" cy="41994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72" name="AutoShape 8"/>
            <p:cNvSpPr>
              <a:spLocks noChangeShapeType="1"/>
            </p:cNvSpPr>
            <p:nvPr/>
          </p:nvSpPr>
          <p:spPr bwMode="auto">
            <a:xfrm>
              <a:off x="8602640" y="4337882"/>
              <a:ext cx="168105" cy="41994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71" name="Text Box 7"/>
            <p:cNvSpPr txBox="1">
              <a:spLocks noChangeArrowheads="1"/>
            </p:cNvSpPr>
            <p:nvPr/>
          </p:nvSpPr>
          <p:spPr bwMode="auto">
            <a:xfrm>
              <a:off x="6754476"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70" name="Text Box 6"/>
            <p:cNvSpPr txBox="1">
              <a:spLocks noChangeArrowheads="1"/>
            </p:cNvSpPr>
            <p:nvPr/>
          </p:nvSpPr>
          <p:spPr bwMode="auto">
            <a:xfrm>
              <a:off x="7379152" y="4111988"/>
              <a:ext cx="175068" cy="24281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endParaRPr kumimoji="0" lang="en-US" altLang="zh-CN" sz="1800" b="1"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0469" name="AutoShape 5"/>
            <p:cNvSpPr>
              <a:spLocks noChangeShapeType="1"/>
            </p:cNvSpPr>
            <p:nvPr/>
          </p:nvSpPr>
          <p:spPr bwMode="auto">
            <a:xfrm flipH="1">
              <a:off x="6842010" y="3673138"/>
              <a:ext cx="187999"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68" name="AutoShape 4"/>
            <p:cNvSpPr>
              <a:spLocks noChangeShapeType="1"/>
            </p:cNvSpPr>
            <p:nvPr/>
          </p:nvSpPr>
          <p:spPr bwMode="auto">
            <a:xfrm>
              <a:off x="7269734" y="3673138"/>
              <a:ext cx="196952" cy="4388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90467" name="Oval 3"/>
            <p:cNvSpPr>
              <a:spLocks noChangeArrowheads="1"/>
            </p:cNvSpPr>
            <p:nvPr/>
          </p:nvSpPr>
          <p:spPr bwMode="auto">
            <a:xfrm>
              <a:off x="7945140" y="3358678"/>
              <a:ext cx="338200" cy="33834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G</a:t>
              </a:r>
              <a:endParaRPr kumimoji="0" lang="en-US" altLang="zh-CN" sz="1800" b="1"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0466" name="AutoShape 2"/>
            <p:cNvSpPr>
              <a:spLocks noChangeShapeType="1"/>
            </p:cNvSpPr>
            <p:nvPr/>
          </p:nvSpPr>
          <p:spPr bwMode="auto">
            <a:xfrm>
              <a:off x="8235594" y="3671147"/>
              <a:ext cx="247682" cy="35327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endParaRPr lang="zh-CN" altLang="en-US" sz="1800" b="1">
                <a:solidFill>
                  <a:srgbClr val="0000FF"/>
                </a:solidFill>
                <a:ea typeface="仿宋" panose="02010609060101010101" pitchFamily="49" charset="-122"/>
                <a:cs typeface="Times New Roman" panose="02020603050405020304" pitchFamily="18" charset="0"/>
              </a:endParaRPr>
            </a:p>
          </p:txBody>
        </p:sp>
        <p:sp>
          <p:nvSpPr>
            <p:cNvPr id="104" name="右箭头 103"/>
            <p:cNvSpPr/>
            <p:nvPr/>
          </p:nvSpPr>
          <p:spPr>
            <a:xfrm>
              <a:off x="5850017" y="3643314"/>
              <a:ext cx="78581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5" name="右箭头 104"/>
            <p:cNvSpPr/>
            <p:nvPr/>
          </p:nvSpPr>
          <p:spPr>
            <a:xfrm>
              <a:off x="2786050" y="3571876"/>
              <a:ext cx="78581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07" name="灯片编号占位符 106"/>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8" name="TextBox 27"/>
          <p:cNvSpPr txBox="1"/>
          <p:nvPr/>
        </p:nvSpPr>
        <p:spPr>
          <a:xfrm>
            <a:off x="500034" y="1071546"/>
            <a:ext cx="7858180" cy="193187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spcBef>
                <a:spcPts val="600"/>
              </a:spcBef>
              <a:buBlip>
                <a:blip r:embed="rId1"/>
              </a:buBlip>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上述插入过程的时间复杂度为</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O(log</a:t>
            </a:r>
            <a:r>
              <a:rPr lang="en-US" altLang="zh-CN" sz="2000" b="1" baseline="-2500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，而且插入中的旋转操作不超过两次。</a:t>
            </a:r>
            <a:endPar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gn="l">
              <a:lnSpc>
                <a:spcPts val="2800"/>
              </a:lnSpc>
              <a:spcBef>
                <a:spcPts val="600"/>
              </a:spcBef>
              <a:buBlip>
                <a:blip r:embed="rId1"/>
              </a:buBlip>
            </a:pP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红黑树中删除结点的操作也是先按二叉排序树删除方法删除对应的结点，然后进行判断和调整使其满足红黑树的性质，这里不再详述。同样删除过程的时间复杂度为</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O(log</a:t>
            </a:r>
            <a:r>
              <a:rPr lang="en-US" altLang="zh-CN" sz="2000" b="1" baseline="-25000"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1" i="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b="1">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5" name="灯片编号占位符 64"/>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 name="TextBox 7"/>
          <p:cNvSpPr txBox="1"/>
          <p:nvPr/>
        </p:nvSpPr>
        <p:spPr>
          <a:xfrm>
            <a:off x="500034" y="1285860"/>
            <a:ext cx="7929618" cy="126256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800"/>
              </a:lnSpc>
              <a:spcBef>
                <a:spcPts val="0"/>
              </a:spcBef>
            </a:pPr>
            <a:r>
              <a:rPr lang="zh-CN" altLang="en-US" sz="2000" b="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练习题</a:t>
            </a:r>
            <a:r>
              <a:rPr lang="en-US" altLang="zh-CN" sz="2000" b="1"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9</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有一个关键字序列为（</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11</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14</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7</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15</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8</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zh-CN"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），从一棵空红黑树开始依次插入各个关键字创建一棵红黑树，给出创建红黑树的这个过程。</a:t>
            </a:r>
            <a:endParaRPr lang="zh-CN" altLang="en-US" sz="2000" b="1" smtClean="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9" name="组合 3"/>
          <p:cNvGrpSpPr/>
          <p:nvPr/>
        </p:nvGrpSpPr>
        <p:grpSpPr>
          <a:xfrm>
            <a:off x="571504" y="428604"/>
            <a:ext cx="1000100" cy="785817"/>
            <a:chOff x="5703182" y="3835411"/>
            <a:chExt cx="1238250" cy="1236663"/>
          </a:xfrm>
        </p:grpSpPr>
        <p:grpSp>
          <p:nvGrpSpPr>
            <p:cNvPr id="10" name="Group 19"/>
            <p:cNvGrpSpPr/>
            <p:nvPr/>
          </p:nvGrpSpPr>
          <p:grpSpPr bwMode="auto">
            <a:xfrm>
              <a:off x="5703182" y="3835411"/>
              <a:ext cx="1238250" cy="1236663"/>
              <a:chOff x="810" y="845"/>
              <a:chExt cx="827" cy="826"/>
            </a:xfrm>
          </p:grpSpPr>
          <p:sp>
            <p:nvSpPr>
              <p:cNvPr id="13" name="Oval 20"/>
              <p:cNvSpPr>
                <a:spLocks noChangeArrowheads="1"/>
              </p:cNvSpPr>
              <p:nvPr/>
            </p:nvSpPr>
            <p:spPr bwMode="gray">
              <a:xfrm>
                <a:off x="810" y="845"/>
                <a:ext cx="827" cy="826"/>
              </a:xfrm>
              <a:prstGeom prst="ellipse">
                <a:avLst/>
              </a:prstGeom>
              <a:solidFill>
                <a:srgbClr val="F8F8F8"/>
              </a:solidFill>
              <a:ln w="38100">
                <a:solidFill>
                  <a:schemeClr val="hlink"/>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4" name="Oval 21"/>
              <p:cNvSpPr>
                <a:spLocks noChangeArrowheads="1"/>
              </p:cNvSpPr>
              <p:nvPr/>
            </p:nvSpPr>
            <p:spPr bwMode="gray">
              <a:xfrm>
                <a:off x="836" y="879"/>
                <a:ext cx="758" cy="758"/>
              </a:xfrm>
              <a:prstGeom prst="ellipse">
                <a:avLst/>
              </a:prstGeom>
              <a:noFill/>
              <a:ln w="38100">
                <a:solidFill>
                  <a:schemeClr val="hlink">
                    <a:alpha val="70195"/>
                  </a:scheme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15" name="Oval 22"/>
              <p:cNvSpPr>
                <a:spLocks noChangeArrowheads="1"/>
              </p:cNvSpPr>
              <p:nvPr/>
            </p:nvSpPr>
            <p:spPr bwMode="gray">
              <a:xfrm>
                <a:off x="878" y="915"/>
                <a:ext cx="690" cy="690"/>
              </a:xfrm>
              <a:prstGeom prst="ellipse">
                <a:avLst/>
              </a:prstGeom>
              <a:noFill/>
              <a:ln w="38100">
                <a:solidFill>
                  <a:schemeClr val="hlink">
                    <a:alpha val="30196"/>
                  </a:schemeClr>
                </a:solidFill>
                <a:round/>
              </a:ln>
            </p:spPr>
            <p:txBody>
              <a:bodyPr wrap="none" anchor="ctr"/>
              <a:lstStyle/>
              <a:p>
                <a:endParaRPr lang="zh-CN" altLang="zh-CN">
                  <a:latin typeface="Calibri" panose="020F0502020204030204" charset="0"/>
                  <a:cs typeface="Arial" panose="020B0604020202020204" pitchFamily="34" charset="0"/>
                </a:endParaRPr>
              </a:p>
            </p:txBody>
          </p:sp>
        </p:grpSp>
        <p:sp>
          <p:nvSpPr>
            <p:cNvPr id="11" name="Text Box 23"/>
            <p:cNvSpPr txBox="1">
              <a:spLocks noChangeArrowheads="1"/>
            </p:cNvSpPr>
            <p:nvPr/>
          </p:nvSpPr>
          <p:spPr bwMode="gray">
            <a:xfrm>
              <a:off x="5767676" y="4154859"/>
              <a:ext cx="1082674" cy="557010"/>
            </a:xfrm>
            <a:prstGeom prst="rect">
              <a:avLst/>
            </a:prstGeom>
            <a:noFill/>
            <a:ln w="9525" algn="ctr">
              <a:noFill/>
              <a:miter lim="800000"/>
            </a:ln>
          </p:spPr>
          <p:txBody>
            <a:bodyPr>
              <a:spAutoFit/>
            </a:bodyPr>
            <a:lstStyle/>
            <a:p>
              <a:pPr algn="ctr">
                <a:spcBef>
                  <a:spcPct val="50000"/>
                </a:spcBef>
              </a:pPr>
              <a:r>
                <a:rPr lang="zh-CN" altLang="en-US" sz="2000" b="1" smtClean="0">
                  <a:solidFill>
                    <a:srgbClr val="FF0000"/>
                  </a:solidFill>
                  <a:latin typeface="方正启体简体" pitchFamily="65" charset="-122"/>
                  <a:ea typeface="方正启体简体" pitchFamily="65" charset="-122"/>
                  <a:cs typeface="Consolas" panose="020B0609020204030204" pitchFamily="49" charset="0"/>
                </a:rPr>
                <a:t>示例</a:t>
              </a:r>
              <a:endParaRPr lang="zh-CN" altLang="en-US" sz="2000" b="1">
                <a:solidFill>
                  <a:srgbClr val="FF0000"/>
                </a:solidFill>
                <a:latin typeface="方正启体简体" pitchFamily="65" charset="-122"/>
                <a:ea typeface="方正启体简体" pitchFamily="65" charset="-122"/>
                <a:cs typeface="Consolas" panose="020B0609020204030204" pitchFamily="49" charset="0"/>
              </a:endParaRPr>
            </a:p>
          </p:txBody>
        </p:sp>
      </p:grpSp>
      <p:sp>
        <p:nvSpPr>
          <p:cNvPr id="16" name="灯片编号占位符 15"/>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1537" name="Rectangle 4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1535" name="Oval 47"/>
          <p:cNvSpPr>
            <a:spLocks noChangeArrowheads="1"/>
          </p:cNvSpPr>
          <p:nvPr/>
        </p:nvSpPr>
        <p:spPr bwMode="auto">
          <a:xfrm>
            <a:off x="688619" y="1598511"/>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34" name="Oval 46"/>
          <p:cNvSpPr>
            <a:spLocks noChangeArrowheads="1"/>
          </p:cNvSpPr>
          <p:nvPr/>
        </p:nvSpPr>
        <p:spPr bwMode="auto">
          <a:xfrm>
            <a:off x="4531749" y="1755492"/>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33" name="Text Box 45"/>
          <p:cNvSpPr txBox="1">
            <a:spLocks noChangeArrowheads="1"/>
          </p:cNvSpPr>
          <p:nvPr/>
        </p:nvSpPr>
        <p:spPr bwMode="auto">
          <a:xfrm>
            <a:off x="1066897" y="2474811"/>
            <a:ext cx="1047199"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(a)</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32" name="Oval 44"/>
          <p:cNvSpPr>
            <a:spLocks noChangeArrowheads="1"/>
          </p:cNvSpPr>
          <p:nvPr/>
        </p:nvSpPr>
        <p:spPr bwMode="auto">
          <a:xfrm>
            <a:off x="2109659" y="1598511"/>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31" name="AutoShape 43"/>
          <p:cNvSpPr>
            <a:spLocks noChangeShapeType="1"/>
          </p:cNvSpPr>
          <p:nvPr/>
        </p:nvSpPr>
        <p:spPr bwMode="auto">
          <a:xfrm>
            <a:off x="1176523" y="1845501"/>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1530" name="Text Box 42"/>
          <p:cNvSpPr txBox="1">
            <a:spLocks noChangeArrowheads="1"/>
          </p:cNvSpPr>
          <p:nvPr/>
        </p:nvSpPr>
        <p:spPr bwMode="auto">
          <a:xfrm>
            <a:off x="1127910" y="1512493"/>
            <a:ext cx="94376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29" name="Text Box 41"/>
          <p:cNvSpPr txBox="1">
            <a:spLocks noChangeArrowheads="1"/>
          </p:cNvSpPr>
          <p:nvPr/>
        </p:nvSpPr>
        <p:spPr bwMode="auto">
          <a:xfrm>
            <a:off x="4145705" y="2474811"/>
            <a:ext cx="1047199"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(b)</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28" name="Oval 40"/>
          <p:cNvSpPr>
            <a:spLocks noChangeArrowheads="1"/>
          </p:cNvSpPr>
          <p:nvPr/>
        </p:nvSpPr>
        <p:spPr bwMode="auto">
          <a:xfrm>
            <a:off x="4190078" y="1143695"/>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27" name="AutoShape 39"/>
          <p:cNvSpPr>
            <a:spLocks noChangeShapeType="1"/>
          </p:cNvSpPr>
          <p:nvPr/>
        </p:nvSpPr>
        <p:spPr bwMode="auto">
          <a:xfrm>
            <a:off x="4511781" y="1455507"/>
            <a:ext cx="208552"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26" name="Oval 38"/>
          <p:cNvSpPr>
            <a:spLocks noChangeArrowheads="1"/>
          </p:cNvSpPr>
          <p:nvPr/>
        </p:nvSpPr>
        <p:spPr bwMode="auto">
          <a:xfrm>
            <a:off x="7368939" y="1776996"/>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25" name="Text Box 37"/>
          <p:cNvSpPr txBox="1">
            <a:spLocks noChangeArrowheads="1"/>
          </p:cNvSpPr>
          <p:nvPr/>
        </p:nvSpPr>
        <p:spPr bwMode="auto">
          <a:xfrm>
            <a:off x="6783218" y="2474811"/>
            <a:ext cx="91408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(c)</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24" name="Oval 36"/>
          <p:cNvSpPr>
            <a:spLocks noChangeArrowheads="1"/>
          </p:cNvSpPr>
          <p:nvPr/>
        </p:nvSpPr>
        <p:spPr bwMode="auto">
          <a:xfrm>
            <a:off x="7027268" y="1165199"/>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23" name="AutoShape 35"/>
          <p:cNvSpPr>
            <a:spLocks noChangeShapeType="1"/>
          </p:cNvSpPr>
          <p:nvPr/>
        </p:nvSpPr>
        <p:spPr bwMode="auto">
          <a:xfrm>
            <a:off x="7350081" y="1503892"/>
            <a:ext cx="208552" cy="2731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22" name="Oval 34"/>
          <p:cNvSpPr>
            <a:spLocks noChangeArrowheads="1"/>
          </p:cNvSpPr>
          <p:nvPr/>
        </p:nvSpPr>
        <p:spPr bwMode="auto">
          <a:xfrm>
            <a:off x="6658974" y="1776996"/>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21" name="AutoShape 33"/>
          <p:cNvSpPr>
            <a:spLocks noChangeShapeType="1"/>
          </p:cNvSpPr>
          <p:nvPr/>
        </p:nvSpPr>
        <p:spPr bwMode="auto">
          <a:xfrm flipH="1">
            <a:off x="6847558" y="1477011"/>
            <a:ext cx="235176"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20" name="Oval 32"/>
          <p:cNvSpPr>
            <a:spLocks noChangeArrowheads="1"/>
          </p:cNvSpPr>
          <p:nvPr/>
        </p:nvSpPr>
        <p:spPr bwMode="auto">
          <a:xfrm>
            <a:off x="1398584" y="4024906"/>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19" name="Text Box 31"/>
          <p:cNvSpPr txBox="1">
            <a:spLocks noChangeArrowheads="1"/>
          </p:cNvSpPr>
          <p:nvPr/>
        </p:nvSpPr>
        <p:spPr bwMode="auto">
          <a:xfrm>
            <a:off x="4042538" y="5309788"/>
            <a:ext cx="91408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(d)</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18" name="Oval 30"/>
          <p:cNvSpPr>
            <a:spLocks noChangeArrowheads="1"/>
          </p:cNvSpPr>
          <p:nvPr/>
        </p:nvSpPr>
        <p:spPr bwMode="auto">
          <a:xfrm>
            <a:off x="1056913" y="3413109"/>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17" name="AutoShape 29"/>
          <p:cNvSpPr>
            <a:spLocks noChangeShapeType="1"/>
          </p:cNvSpPr>
          <p:nvPr/>
        </p:nvSpPr>
        <p:spPr bwMode="auto">
          <a:xfrm>
            <a:off x="1378616" y="3724921"/>
            <a:ext cx="208552"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16" name="Oval 28"/>
          <p:cNvSpPr>
            <a:spLocks noChangeArrowheads="1"/>
          </p:cNvSpPr>
          <p:nvPr/>
        </p:nvSpPr>
        <p:spPr bwMode="auto">
          <a:xfrm>
            <a:off x="688619" y="4024906"/>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15" name="AutoShape 27"/>
          <p:cNvSpPr>
            <a:spLocks noChangeShapeType="1"/>
          </p:cNvSpPr>
          <p:nvPr/>
        </p:nvSpPr>
        <p:spPr bwMode="auto">
          <a:xfrm flipH="1">
            <a:off x="877203" y="3724921"/>
            <a:ext cx="235176"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14" name="Oval 26"/>
          <p:cNvSpPr>
            <a:spLocks noChangeArrowheads="1"/>
          </p:cNvSpPr>
          <p:nvPr/>
        </p:nvSpPr>
        <p:spPr bwMode="auto">
          <a:xfrm>
            <a:off x="1019196" y="4679712"/>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13" name="AutoShape 25"/>
          <p:cNvSpPr>
            <a:spLocks noChangeShapeType="1"/>
          </p:cNvSpPr>
          <p:nvPr/>
        </p:nvSpPr>
        <p:spPr bwMode="auto">
          <a:xfrm>
            <a:off x="1010322" y="4336718"/>
            <a:ext cx="197459" cy="34299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12" name="Text Box 24"/>
          <p:cNvSpPr txBox="1">
            <a:spLocks noChangeArrowheads="1"/>
          </p:cNvSpPr>
          <p:nvPr/>
        </p:nvSpPr>
        <p:spPr bwMode="auto">
          <a:xfrm>
            <a:off x="1799049" y="3949641"/>
            <a:ext cx="24405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U</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11" name="Text Box 23"/>
          <p:cNvSpPr txBox="1">
            <a:spLocks noChangeArrowheads="1"/>
          </p:cNvSpPr>
          <p:nvPr/>
        </p:nvSpPr>
        <p:spPr bwMode="auto">
          <a:xfrm>
            <a:off x="500034" y="3938889"/>
            <a:ext cx="24405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10" name="Text Box 22"/>
          <p:cNvSpPr txBox="1">
            <a:spLocks noChangeArrowheads="1"/>
          </p:cNvSpPr>
          <p:nvPr/>
        </p:nvSpPr>
        <p:spPr bwMode="auto">
          <a:xfrm>
            <a:off x="1435192" y="4679712"/>
            <a:ext cx="24405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09" name="Oval 21"/>
          <p:cNvSpPr>
            <a:spLocks noChangeArrowheads="1"/>
          </p:cNvSpPr>
          <p:nvPr/>
        </p:nvSpPr>
        <p:spPr bwMode="auto">
          <a:xfrm>
            <a:off x="4499578" y="4057162"/>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08" name="Oval 20"/>
          <p:cNvSpPr>
            <a:spLocks noChangeArrowheads="1"/>
          </p:cNvSpPr>
          <p:nvPr/>
        </p:nvSpPr>
        <p:spPr bwMode="auto">
          <a:xfrm>
            <a:off x="4157908" y="3445365"/>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07" name="AutoShape 19"/>
          <p:cNvSpPr>
            <a:spLocks noChangeShapeType="1"/>
          </p:cNvSpPr>
          <p:nvPr/>
        </p:nvSpPr>
        <p:spPr bwMode="auto">
          <a:xfrm>
            <a:off x="4479611" y="3757177"/>
            <a:ext cx="208552"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06" name="Oval 18"/>
          <p:cNvSpPr>
            <a:spLocks noChangeArrowheads="1"/>
          </p:cNvSpPr>
          <p:nvPr/>
        </p:nvSpPr>
        <p:spPr bwMode="auto">
          <a:xfrm>
            <a:off x="3789613" y="4057162"/>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05" name="AutoShape 17"/>
          <p:cNvSpPr>
            <a:spLocks noChangeShapeType="1"/>
          </p:cNvSpPr>
          <p:nvPr/>
        </p:nvSpPr>
        <p:spPr bwMode="auto">
          <a:xfrm flipH="1">
            <a:off x="3978198" y="3757177"/>
            <a:ext cx="235176" cy="29998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04" name="Oval 16"/>
          <p:cNvSpPr>
            <a:spLocks noChangeArrowheads="1"/>
          </p:cNvSpPr>
          <p:nvPr/>
        </p:nvSpPr>
        <p:spPr bwMode="auto">
          <a:xfrm>
            <a:off x="4120191" y="4711968"/>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503" name="AutoShape 15"/>
          <p:cNvSpPr>
            <a:spLocks noChangeShapeType="1"/>
          </p:cNvSpPr>
          <p:nvPr/>
        </p:nvSpPr>
        <p:spPr bwMode="auto">
          <a:xfrm>
            <a:off x="4111316" y="4368975"/>
            <a:ext cx="197459" cy="34299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502" name="AutoShape 14"/>
          <p:cNvSpPr>
            <a:spLocks noChangeShapeType="1"/>
          </p:cNvSpPr>
          <p:nvPr/>
        </p:nvSpPr>
        <p:spPr bwMode="auto">
          <a:xfrm>
            <a:off x="2214547" y="4391592"/>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1501" name="Text Box 13"/>
          <p:cNvSpPr txBox="1">
            <a:spLocks noChangeArrowheads="1"/>
          </p:cNvSpPr>
          <p:nvPr/>
        </p:nvSpPr>
        <p:spPr bwMode="auto">
          <a:xfrm>
            <a:off x="2093019" y="4067915"/>
            <a:ext cx="1050222"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500" name="Text Box 12"/>
          <p:cNvSpPr txBox="1">
            <a:spLocks noChangeArrowheads="1"/>
          </p:cNvSpPr>
          <p:nvPr/>
        </p:nvSpPr>
        <p:spPr bwMode="auto">
          <a:xfrm>
            <a:off x="4568356" y="3353972"/>
            <a:ext cx="24405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499" name="Oval 11"/>
          <p:cNvSpPr>
            <a:spLocks noChangeArrowheads="1"/>
          </p:cNvSpPr>
          <p:nvPr/>
        </p:nvSpPr>
        <p:spPr bwMode="auto">
          <a:xfrm>
            <a:off x="7480980" y="4078667"/>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498" name="Oval 10"/>
          <p:cNvSpPr>
            <a:spLocks noChangeArrowheads="1"/>
          </p:cNvSpPr>
          <p:nvPr/>
        </p:nvSpPr>
        <p:spPr bwMode="auto">
          <a:xfrm>
            <a:off x="7139310" y="3466869"/>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497" name="AutoShape 9"/>
          <p:cNvSpPr>
            <a:spLocks noChangeShapeType="1"/>
          </p:cNvSpPr>
          <p:nvPr/>
        </p:nvSpPr>
        <p:spPr bwMode="auto">
          <a:xfrm>
            <a:off x="7462122" y="3805562"/>
            <a:ext cx="208552" cy="2731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496" name="Oval 8"/>
          <p:cNvSpPr>
            <a:spLocks noChangeArrowheads="1"/>
          </p:cNvSpPr>
          <p:nvPr/>
        </p:nvSpPr>
        <p:spPr bwMode="auto">
          <a:xfrm>
            <a:off x="6771015" y="4078667"/>
            <a:ext cx="377169" cy="365573"/>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495" name="AutoShape 7"/>
          <p:cNvSpPr>
            <a:spLocks noChangeShapeType="1"/>
          </p:cNvSpPr>
          <p:nvPr/>
        </p:nvSpPr>
        <p:spPr bwMode="auto">
          <a:xfrm flipH="1">
            <a:off x="6960709" y="3805562"/>
            <a:ext cx="234067" cy="273105"/>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494" name="Oval 6"/>
          <p:cNvSpPr>
            <a:spLocks noChangeArrowheads="1"/>
          </p:cNvSpPr>
          <p:nvPr/>
        </p:nvSpPr>
        <p:spPr bwMode="auto">
          <a:xfrm>
            <a:off x="7101593" y="4733472"/>
            <a:ext cx="377169" cy="365573"/>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1493" name="AutoShape 5"/>
          <p:cNvSpPr>
            <a:spLocks noChangeShapeType="1"/>
          </p:cNvSpPr>
          <p:nvPr/>
        </p:nvSpPr>
        <p:spPr bwMode="auto">
          <a:xfrm>
            <a:off x="7094937" y="4417359"/>
            <a:ext cx="196350" cy="31611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ln w="19050">
                <a:solidFill>
                  <a:schemeClr val="tx1"/>
                </a:solidFill>
              </a:ln>
              <a:solidFill>
                <a:srgbClr val="0000FF"/>
              </a:solidFill>
              <a:ea typeface="仿宋" panose="02010609060101010101" pitchFamily="49" charset="-122"/>
              <a:cs typeface="Times New Roman" panose="02020603050405020304" pitchFamily="18" charset="0"/>
            </a:endParaRPr>
          </a:p>
        </p:txBody>
      </p:sp>
      <p:sp>
        <p:nvSpPr>
          <p:cNvPr id="191492" name="AutoShape 4"/>
          <p:cNvSpPr>
            <a:spLocks noChangeShapeType="1"/>
          </p:cNvSpPr>
          <p:nvPr/>
        </p:nvSpPr>
        <p:spPr bwMode="auto">
          <a:xfrm>
            <a:off x="5659735" y="4431758"/>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1491" name="Text Box 3"/>
          <p:cNvSpPr txBox="1">
            <a:spLocks noChangeArrowheads="1"/>
          </p:cNvSpPr>
          <p:nvPr/>
        </p:nvSpPr>
        <p:spPr bwMode="auto">
          <a:xfrm>
            <a:off x="5601791" y="4089419"/>
            <a:ext cx="1023507"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1490" name="Text Box 2"/>
          <p:cNvSpPr txBox="1">
            <a:spLocks noChangeArrowheads="1"/>
          </p:cNvSpPr>
          <p:nvPr/>
        </p:nvSpPr>
        <p:spPr bwMode="auto">
          <a:xfrm>
            <a:off x="1435192" y="3349671"/>
            <a:ext cx="244051" cy="26235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pic>
        <p:nvPicPr>
          <p:cNvPr id="58" name="Picture 2"/>
          <p:cNvPicPr>
            <a:picLocks noChangeAspect="1" noChangeArrowheads="1"/>
          </p:cNvPicPr>
          <p:nvPr/>
        </p:nvPicPr>
        <p:blipFill>
          <a:blip r:embed="rId1" cstate="print"/>
          <a:srcRect/>
          <a:stretch>
            <a:fillRect/>
          </a:stretch>
        </p:blipFill>
        <p:spPr bwMode="auto">
          <a:xfrm>
            <a:off x="500034" y="214290"/>
            <a:ext cx="1643074" cy="796023"/>
          </a:xfrm>
          <a:prstGeom prst="rect">
            <a:avLst/>
          </a:prstGeom>
          <a:noFill/>
          <a:ln w="9525">
            <a:noFill/>
            <a:miter lim="800000"/>
            <a:headEnd/>
            <a:tailEnd/>
          </a:ln>
        </p:spPr>
      </p:pic>
      <p:sp>
        <p:nvSpPr>
          <p:cNvPr id="59" name="灯片编号占位符 58"/>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2593" name="Rectangle 8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2591" name="Text Box 79"/>
          <p:cNvSpPr txBox="1">
            <a:spLocks noChangeArrowheads="1"/>
          </p:cNvSpPr>
          <p:nvPr/>
        </p:nvSpPr>
        <p:spPr bwMode="auto">
          <a:xfrm>
            <a:off x="2347065" y="2451711"/>
            <a:ext cx="89183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(e)</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90" name="Oval 78"/>
          <p:cNvSpPr>
            <a:spLocks noChangeArrowheads="1"/>
          </p:cNvSpPr>
          <p:nvPr/>
        </p:nvSpPr>
        <p:spPr bwMode="auto">
          <a:xfrm>
            <a:off x="2872132" y="1220708"/>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89" name="Oval 77"/>
          <p:cNvSpPr>
            <a:spLocks noChangeArrowheads="1"/>
          </p:cNvSpPr>
          <p:nvPr/>
        </p:nvSpPr>
        <p:spPr bwMode="auto">
          <a:xfrm>
            <a:off x="2528776" y="621015"/>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88" name="AutoShape 76"/>
          <p:cNvSpPr>
            <a:spLocks noChangeShapeType="1"/>
          </p:cNvSpPr>
          <p:nvPr/>
        </p:nvSpPr>
        <p:spPr bwMode="auto">
          <a:xfrm>
            <a:off x="2853181" y="953007"/>
            <a:ext cx="20958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87" name="Oval 75"/>
          <p:cNvSpPr>
            <a:spLocks noChangeArrowheads="1"/>
          </p:cNvSpPr>
          <p:nvPr/>
        </p:nvSpPr>
        <p:spPr bwMode="auto">
          <a:xfrm>
            <a:off x="2158664" y="1220708"/>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86" name="AutoShape 74"/>
          <p:cNvSpPr>
            <a:spLocks noChangeShapeType="1"/>
          </p:cNvSpPr>
          <p:nvPr/>
        </p:nvSpPr>
        <p:spPr bwMode="auto">
          <a:xfrm flipH="1">
            <a:off x="2349294" y="953007"/>
            <a:ext cx="23522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85" name="Oval 73"/>
          <p:cNvSpPr>
            <a:spLocks noChangeArrowheads="1"/>
          </p:cNvSpPr>
          <p:nvPr/>
        </p:nvSpPr>
        <p:spPr bwMode="auto">
          <a:xfrm>
            <a:off x="2490873" y="1862558"/>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84" name="AutoShape 72"/>
          <p:cNvSpPr>
            <a:spLocks noChangeShapeType="1"/>
          </p:cNvSpPr>
          <p:nvPr/>
        </p:nvSpPr>
        <p:spPr bwMode="auto">
          <a:xfrm>
            <a:off x="2484184" y="1552699"/>
            <a:ext cx="197318"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83" name="Oval 71"/>
          <p:cNvSpPr>
            <a:spLocks noChangeArrowheads="1"/>
          </p:cNvSpPr>
          <p:nvPr/>
        </p:nvSpPr>
        <p:spPr bwMode="auto">
          <a:xfrm>
            <a:off x="1845407" y="1862558"/>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82" name="AutoShape 70"/>
          <p:cNvSpPr>
            <a:spLocks noChangeShapeType="1"/>
          </p:cNvSpPr>
          <p:nvPr/>
        </p:nvSpPr>
        <p:spPr bwMode="auto">
          <a:xfrm flipH="1">
            <a:off x="2034922" y="1526351"/>
            <a:ext cx="179482" cy="33620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81" name="Text Box 69"/>
          <p:cNvSpPr txBox="1">
            <a:spLocks noChangeArrowheads="1"/>
          </p:cNvSpPr>
          <p:nvPr/>
        </p:nvSpPr>
        <p:spPr bwMode="auto">
          <a:xfrm>
            <a:off x="5361466" y="2451711"/>
            <a:ext cx="1139360"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(f)</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80" name="Oval 68"/>
          <p:cNvSpPr>
            <a:spLocks noChangeArrowheads="1"/>
          </p:cNvSpPr>
          <p:nvPr/>
        </p:nvSpPr>
        <p:spPr bwMode="auto">
          <a:xfrm>
            <a:off x="5886534" y="117960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9" name="Oval 67"/>
          <p:cNvSpPr>
            <a:spLocks noChangeArrowheads="1"/>
          </p:cNvSpPr>
          <p:nvPr/>
        </p:nvSpPr>
        <p:spPr bwMode="auto">
          <a:xfrm>
            <a:off x="5543178" y="579912"/>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8" name="AutoShape 66"/>
          <p:cNvSpPr>
            <a:spLocks noChangeShapeType="1"/>
          </p:cNvSpPr>
          <p:nvPr/>
        </p:nvSpPr>
        <p:spPr bwMode="auto">
          <a:xfrm>
            <a:off x="5867583" y="911903"/>
            <a:ext cx="20958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77" name="Oval 65"/>
          <p:cNvSpPr>
            <a:spLocks noChangeArrowheads="1"/>
          </p:cNvSpPr>
          <p:nvPr/>
        </p:nvSpPr>
        <p:spPr bwMode="auto">
          <a:xfrm>
            <a:off x="5173066" y="117960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6" name="AutoShape 64"/>
          <p:cNvSpPr>
            <a:spLocks noChangeShapeType="1"/>
          </p:cNvSpPr>
          <p:nvPr/>
        </p:nvSpPr>
        <p:spPr bwMode="auto">
          <a:xfrm flipH="1">
            <a:off x="5363696" y="911903"/>
            <a:ext cx="23522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75" name="Oval 63"/>
          <p:cNvSpPr>
            <a:spLocks noChangeArrowheads="1"/>
          </p:cNvSpPr>
          <p:nvPr/>
        </p:nvSpPr>
        <p:spPr bwMode="auto">
          <a:xfrm>
            <a:off x="5505275" y="182145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4" name="AutoShape 62"/>
          <p:cNvSpPr>
            <a:spLocks noChangeShapeType="1"/>
          </p:cNvSpPr>
          <p:nvPr/>
        </p:nvSpPr>
        <p:spPr bwMode="auto">
          <a:xfrm>
            <a:off x="5498586" y="1511595"/>
            <a:ext cx="197318"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73" name="Oval 61"/>
          <p:cNvSpPr>
            <a:spLocks noChangeArrowheads="1"/>
          </p:cNvSpPr>
          <p:nvPr/>
        </p:nvSpPr>
        <p:spPr bwMode="auto">
          <a:xfrm>
            <a:off x="4859809" y="182145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2" name="AutoShape 60"/>
          <p:cNvSpPr>
            <a:spLocks noChangeShapeType="1"/>
          </p:cNvSpPr>
          <p:nvPr/>
        </p:nvSpPr>
        <p:spPr bwMode="auto">
          <a:xfrm flipH="1">
            <a:off x="5050439" y="1511595"/>
            <a:ext cx="178367"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71" name="Oval 59"/>
          <p:cNvSpPr>
            <a:spLocks noChangeArrowheads="1"/>
          </p:cNvSpPr>
          <p:nvPr/>
        </p:nvSpPr>
        <p:spPr bwMode="auto">
          <a:xfrm>
            <a:off x="6196447" y="182145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70" name="AutoShape 58"/>
          <p:cNvSpPr>
            <a:spLocks noChangeShapeType="1"/>
          </p:cNvSpPr>
          <p:nvPr/>
        </p:nvSpPr>
        <p:spPr bwMode="auto">
          <a:xfrm>
            <a:off x="6209824" y="1485247"/>
            <a:ext cx="176137" cy="33620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69" name="Text Box 57"/>
          <p:cNvSpPr txBox="1">
            <a:spLocks noChangeArrowheads="1"/>
          </p:cNvSpPr>
          <p:nvPr/>
        </p:nvSpPr>
        <p:spPr bwMode="auto">
          <a:xfrm>
            <a:off x="2446281" y="5670446"/>
            <a:ext cx="89183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68" name="Oval 56"/>
          <p:cNvSpPr>
            <a:spLocks noChangeArrowheads="1"/>
          </p:cNvSpPr>
          <p:nvPr/>
        </p:nvSpPr>
        <p:spPr bwMode="auto">
          <a:xfrm>
            <a:off x="1528806" y="367217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67" name="Oval 55"/>
          <p:cNvSpPr>
            <a:spLocks noChangeArrowheads="1"/>
          </p:cNvSpPr>
          <p:nvPr/>
        </p:nvSpPr>
        <p:spPr bwMode="auto">
          <a:xfrm>
            <a:off x="1185450" y="3072482"/>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66" name="AutoShape 54"/>
          <p:cNvSpPr>
            <a:spLocks noChangeShapeType="1"/>
          </p:cNvSpPr>
          <p:nvPr/>
        </p:nvSpPr>
        <p:spPr bwMode="auto">
          <a:xfrm>
            <a:off x="1509855" y="3404473"/>
            <a:ext cx="20958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65" name="Oval 53"/>
          <p:cNvSpPr>
            <a:spLocks noChangeArrowheads="1"/>
          </p:cNvSpPr>
          <p:nvPr/>
        </p:nvSpPr>
        <p:spPr bwMode="auto">
          <a:xfrm>
            <a:off x="815338" y="367217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64" name="AutoShape 52"/>
          <p:cNvSpPr>
            <a:spLocks noChangeShapeType="1"/>
          </p:cNvSpPr>
          <p:nvPr/>
        </p:nvSpPr>
        <p:spPr bwMode="auto">
          <a:xfrm flipH="1">
            <a:off x="1005968" y="3404473"/>
            <a:ext cx="23522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63" name="Oval 51"/>
          <p:cNvSpPr>
            <a:spLocks noChangeArrowheads="1"/>
          </p:cNvSpPr>
          <p:nvPr/>
        </p:nvSpPr>
        <p:spPr bwMode="auto">
          <a:xfrm>
            <a:off x="1147547" y="43140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62" name="AutoShape 50"/>
          <p:cNvSpPr>
            <a:spLocks noChangeShapeType="1"/>
          </p:cNvSpPr>
          <p:nvPr/>
        </p:nvSpPr>
        <p:spPr bwMode="auto">
          <a:xfrm>
            <a:off x="1140858" y="4004166"/>
            <a:ext cx="197318"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61" name="Oval 49"/>
          <p:cNvSpPr>
            <a:spLocks noChangeArrowheads="1"/>
          </p:cNvSpPr>
          <p:nvPr/>
        </p:nvSpPr>
        <p:spPr bwMode="auto">
          <a:xfrm>
            <a:off x="502081" y="43140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60" name="AutoShape 48"/>
          <p:cNvSpPr>
            <a:spLocks noChangeShapeType="1"/>
          </p:cNvSpPr>
          <p:nvPr/>
        </p:nvSpPr>
        <p:spPr bwMode="auto">
          <a:xfrm flipH="1">
            <a:off x="692711" y="4004166"/>
            <a:ext cx="178367"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59" name="Oval 47"/>
          <p:cNvSpPr>
            <a:spLocks noChangeArrowheads="1"/>
          </p:cNvSpPr>
          <p:nvPr/>
        </p:nvSpPr>
        <p:spPr bwMode="auto">
          <a:xfrm>
            <a:off x="1838719" y="43140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58" name="AutoShape 46"/>
          <p:cNvSpPr>
            <a:spLocks noChangeShapeType="1"/>
          </p:cNvSpPr>
          <p:nvPr/>
        </p:nvSpPr>
        <p:spPr bwMode="auto">
          <a:xfrm>
            <a:off x="1854326" y="4004166"/>
            <a:ext cx="175023"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57" name="Oval 45"/>
          <p:cNvSpPr>
            <a:spLocks noChangeArrowheads="1"/>
          </p:cNvSpPr>
          <p:nvPr/>
        </p:nvSpPr>
        <p:spPr bwMode="auto">
          <a:xfrm>
            <a:off x="872193" y="49959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56" name="AutoShape 44"/>
          <p:cNvSpPr>
            <a:spLocks noChangeShapeType="1"/>
          </p:cNvSpPr>
          <p:nvPr/>
        </p:nvSpPr>
        <p:spPr bwMode="auto">
          <a:xfrm flipH="1">
            <a:off x="1061708" y="4619667"/>
            <a:ext cx="141579" cy="37625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55" name="Text Box 43"/>
          <p:cNvSpPr txBox="1">
            <a:spLocks noChangeArrowheads="1"/>
          </p:cNvSpPr>
          <p:nvPr/>
        </p:nvSpPr>
        <p:spPr bwMode="auto">
          <a:xfrm>
            <a:off x="357158" y="4200199"/>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U</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54" name="Text Box 42"/>
          <p:cNvSpPr txBox="1">
            <a:spLocks noChangeArrowheads="1"/>
          </p:cNvSpPr>
          <p:nvPr/>
        </p:nvSpPr>
        <p:spPr bwMode="auto">
          <a:xfrm>
            <a:off x="1983642" y="1081587"/>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53" name="Text Box 41"/>
          <p:cNvSpPr txBox="1">
            <a:spLocks noChangeArrowheads="1"/>
          </p:cNvSpPr>
          <p:nvPr/>
        </p:nvSpPr>
        <p:spPr bwMode="auto">
          <a:xfrm>
            <a:off x="651464" y="3494058"/>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52" name="Text Box 40"/>
          <p:cNvSpPr txBox="1">
            <a:spLocks noChangeArrowheads="1"/>
          </p:cNvSpPr>
          <p:nvPr/>
        </p:nvSpPr>
        <p:spPr bwMode="auto">
          <a:xfrm>
            <a:off x="1264600" y="4995924"/>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51" name="Oval 39"/>
          <p:cNvSpPr>
            <a:spLocks noChangeArrowheads="1"/>
          </p:cNvSpPr>
          <p:nvPr/>
        </p:nvSpPr>
        <p:spPr bwMode="auto">
          <a:xfrm>
            <a:off x="4795151" y="367217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50" name="Oval 38"/>
          <p:cNvSpPr>
            <a:spLocks noChangeArrowheads="1"/>
          </p:cNvSpPr>
          <p:nvPr/>
        </p:nvSpPr>
        <p:spPr bwMode="auto">
          <a:xfrm>
            <a:off x="4451795" y="3072482"/>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49" name="AutoShape 37"/>
          <p:cNvSpPr>
            <a:spLocks noChangeShapeType="1"/>
          </p:cNvSpPr>
          <p:nvPr/>
        </p:nvSpPr>
        <p:spPr bwMode="auto">
          <a:xfrm>
            <a:off x="4776200" y="3404473"/>
            <a:ext cx="20958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48" name="Oval 36"/>
          <p:cNvSpPr>
            <a:spLocks noChangeArrowheads="1"/>
          </p:cNvSpPr>
          <p:nvPr/>
        </p:nvSpPr>
        <p:spPr bwMode="auto">
          <a:xfrm>
            <a:off x="4081683" y="367217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47" name="AutoShape 35"/>
          <p:cNvSpPr>
            <a:spLocks noChangeShapeType="1"/>
          </p:cNvSpPr>
          <p:nvPr/>
        </p:nvSpPr>
        <p:spPr bwMode="auto">
          <a:xfrm flipH="1">
            <a:off x="4272313" y="3404473"/>
            <a:ext cx="23522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46" name="Oval 34"/>
          <p:cNvSpPr>
            <a:spLocks noChangeArrowheads="1"/>
          </p:cNvSpPr>
          <p:nvPr/>
        </p:nvSpPr>
        <p:spPr bwMode="auto">
          <a:xfrm>
            <a:off x="4413892" y="431402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45" name="AutoShape 33"/>
          <p:cNvSpPr>
            <a:spLocks noChangeShapeType="1"/>
          </p:cNvSpPr>
          <p:nvPr/>
        </p:nvSpPr>
        <p:spPr bwMode="auto">
          <a:xfrm>
            <a:off x="4407203" y="4004166"/>
            <a:ext cx="197318"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44" name="Oval 32"/>
          <p:cNvSpPr>
            <a:spLocks noChangeArrowheads="1"/>
          </p:cNvSpPr>
          <p:nvPr/>
        </p:nvSpPr>
        <p:spPr bwMode="auto">
          <a:xfrm>
            <a:off x="3768426" y="431402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43" name="AutoShape 31"/>
          <p:cNvSpPr>
            <a:spLocks noChangeShapeType="1"/>
          </p:cNvSpPr>
          <p:nvPr/>
        </p:nvSpPr>
        <p:spPr bwMode="auto">
          <a:xfrm flipH="1">
            <a:off x="3959056" y="4004166"/>
            <a:ext cx="178367"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42" name="Oval 30"/>
          <p:cNvSpPr>
            <a:spLocks noChangeArrowheads="1"/>
          </p:cNvSpPr>
          <p:nvPr/>
        </p:nvSpPr>
        <p:spPr bwMode="auto">
          <a:xfrm>
            <a:off x="5105064" y="43140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41" name="AutoShape 29"/>
          <p:cNvSpPr>
            <a:spLocks noChangeShapeType="1"/>
          </p:cNvSpPr>
          <p:nvPr/>
        </p:nvSpPr>
        <p:spPr bwMode="auto">
          <a:xfrm>
            <a:off x="5120671" y="4004166"/>
            <a:ext cx="175023"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40" name="Oval 28"/>
          <p:cNvSpPr>
            <a:spLocks noChangeArrowheads="1"/>
          </p:cNvSpPr>
          <p:nvPr/>
        </p:nvSpPr>
        <p:spPr bwMode="auto">
          <a:xfrm>
            <a:off x="4138538" y="49959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39" name="AutoShape 27"/>
          <p:cNvSpPr>
            <a:spLocks noChangeShapeType="1"/>
          </p:cNvSpPr>
          <p:nvPr/>
        </p:nvSpPr>
        <p:spPr bwMode="auto">
          <a:xfrm flipH="1">
            <a:off x="4329168" y="4646016"/>
            <a:ext cx="140464" cy="34990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38" name="Text Box 26"/>
          <p:cNvSpPr txBox="1">
            <a:spLocks noChangeArrowheads="1"/>
          </p:cNvSpPr>
          <p:nvPr/>
        </p:nvSpPr>
        <p:spPr bwMode="auto">
          <a:xfrm>
            <a:off x="3917809" y="3494058"/>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36" name="Text Box 24"/>
          <p:cNvSpPr txBox="1">
            <a:spLocks noChangeArrowheads="1"/>
          </p:cNvSpPr>
          <p:nvPr/>
        </p:nvSpPr>
        <p:spPr bwMode="auto">
          <a:xfrm>
            <a:off x="2468576" y="4024191"/>
            <a:ext cx="96041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35" name="Oval 23"/>
          <p:cNvSpPr>
            <a:spLocks noChangeArrowheads="1"/>
          </p:cNvSpPr>
          <p:nvPr/>
        </p:nvSpPr>
        <p:spPr bwMode="auto">
          <a:xfrm>
            <a:off x="7515248" y="368271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34" name="Oval 22"/>
          <p:cNvSpPr>
            <a:spLocks noChangeArrowheads="1"/>
          </p:cNvSpPr>
          <p:nvPr/>
        </p:nvSpPr>
        <p:spPr bwMode="auto">
          <a:xfrm>
            <a:off x="7171891" y="3083021"/>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33" name="AutoShape 21"/>
          <p:cNvSpPr>
            <a:spLocks noChangeShapeType="1"/>
          </p:cNvSpPr>
          <p:nvPr/>
        </p:nvSpPr>
        <p:spPr bwMode="auto">
          <a:xfrm>
            <a:off x="7496296" y="3415013"/>
            <a:ext cx="20958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32" name="Oval 20"/>
          <p:cNvSpPr>
            <a:spLocks noChangeArrowheads="1"/>
          </p:cNvSpPr>
          <p:nvPr/>
        </p:nvSpPr>
        <p:spPr bwMode="auto">
          <a:xfrm>
            <a:off x="6801780" y="368271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31" name="AutoShape 19"/>
          <p:cNvSpPr>
            <a:spLocks noChangeShapeType="1"/>
          </p:cNvSpPr>
          <p:nvPr/>
        </p:nvSpPr>
        <p:spPr bwMode="auto">
          <a:xfrm flipH="1">
            <a:off x="6992409" y="3415013"/>
            <a:ext cx="235221" cy="26770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30" name="Oval 18"/>
          <p:cNvSpPr>
            <a:spLocks noChangeArrowheads="1"/>
          </p:cNvSpPr>
          <p:nvPr/>
        </p:nvSpPr>
        <p:spPr bwMode="auto">
          <a:xfrm>
            <a:off x="7133988" y="432456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29" name="AutoShape 17"/>
          <p:cNvSpPr>
            <a:spLocks noChangeShapeType="1"/>
          </p:cNvSpPr>
          <p:nvPr/>
        </p:nvSpPr>
        <p:spPr bwMode="auto">
          <a:xfrm>
            <a:off x="7127299" y="4014705"/>
            <a:ext cx="197318"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28" name="Oval 16"/>
          <p:cNvSpPr>
            <a:spLocks noChangeArrowheads="1"/>
          </p:cNvSpPr>
          <p:nvPr/>
        </p:nvSpPr>
        <p:spPr bwMode="auto">
          <a:xfrm>
            <a:off x="6488523" y="4324564"/>
            <a:ext cx="379030" cy="358340"/>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27" name="AutoShape 15"/>
          <p:cNvSpPr>
            <a:spLocks noChangeShapeType="1"/>
          </p:cNvSpPr>
          <p:nvPr/>
        </p:nvSpPr>
        <p:spPr bwMode="auto">
          <a:xfrm flipH="1">
            <a:off x="6679152" y="4014705"/>
            <a:ext cx="178367"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26" name="Oval 14"/>
          <p:cNvSpPr>
            <a:spLocks noChangeArrowheads="1"/>
          </p:cNvSpPr>
          <p:nvPr/>
        </p:nvSpPr>
        <p:spPr bwMode="auto">
          <a:xfrm>
            <a:off x="7825160" y="432456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25" name="AutoShape 13"/>
          <p:cNvSpPr>
            <a:spLocks noChangeShapeType="1"/>
          </p:cNvSpPr>
          <p:nvPr/>
        </p:nvSpPr>
        <p:spPr bwMode="auto">
          <a:xfrm>
            <a:off x="7840767" y="4014705"/>
            <a:ext cx="175023" cy="309859"/>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24" name="Oval 12"/>
          <p:cNvSpPr>
            <a:spLocks noChangeArrowheads="1"/>
          </p:cNvSpPr>
          <p:nvPr/>
        </p:nvSpPr>
        <p:spPr bwMode="auto">
          <a:xfrm>
            <a:off x="6858634" y="500646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23" name="AutoShape 11"/>
          <p:cNvSpPr>
            <a:spLocks noChangeShapeType="1"/>
          </p:cNvSpPr>
          <p:nvPr/>
        </p:nvSpPr>
        <p:spPr bwMode="auto">
          <a:xfrm flipH="1">
            <a:off x="7049264" y="4656555"/>
            <a:ext cx="140464" cy="34990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22" name="Text Box 10"/>
          <p:cNvSpPr txBox="1">
            <a:spLocks noChangeArrowheads="1"/>
          </p:cNvSpPr>
          <p:nvPr/>
        </p:nvSpPr>
        <p:spPr bwMode="auto">
          <a:xfrm>
            <a:off x="7503933" y="4158041"/>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21" name="Text Box 9"/>
          <p:cNvSpPr txBox="1">
            <a:spLocks noChangeArrowheads="1"/>
          </p:cNvSpPr>
          <p:nvPr/>
        </p:nvSpPr>
        <p:spPr bwMode="auto">
          <a:xfrm>
            <a:off x="7864178" y="5006464"/>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20" name="Text Box 8"/>
          <p:cNvSpPr txBox="1">
            <a:spLocks noChangeArrowheads="1"/>
          </p:cNvSpPr>
          <p:nvPr/>
        </p:nvSpPr>
        <p:spPr bwMode="auto">
          <a:xfrm>
            <a:off x="6911030" y="5670446"/>
            <a:ext cx="89183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(h)</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插入</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19" name="Oval 7"/>
          <p:cNvSpPr>
            <a:spLocks noChangeArrowheads="1"/>
          </p:cNvSpPr>
          <p:nvPr/>
        </p:nvSpPr>
        <p:spPr bwMode="auto">
          <a:xfrm>
            <a:off x="7449475" y="4995924"/>
            <a:ext cx="379030" cy="358340"/>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2518" name="AutoShape 6"/>
          <p:cNvSpPr>
            <a:spLocks noChangeShapeType="1"/>
          </p:cNvSpPr>
          <p:nvPr/>
        </p:nvSpPr>
        <p:spPr bwMode="auto">
          <a:xfrm>
            <a:off x="7457278" y="4630207"/>
            <a:ext cx="181711" cy="36571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2517" name="Text Box 5"/>
          <p:cNvSpPr txBox="1">
            <a:spLocks noChangeArrowheads="1"/>
          </p:cNvSpPr>
          <p:nvPr/>
        </p:nvSpPr>
        <p:spPr bwMode="auto">
          <a:xfrm>
            <a:off x="1609071" y="1821454"/>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16" name="Text Box 4"/>
          <p:cNvSpPr txBox="1">
            <a:spLocks noChangeArrowheads="1"/>
          </p:cNvSpPr>
          <p:nvPr/>
        </p:nvSpPr>
        <p:spPr bwMode="auto">
          <a:xfrm>
            <a:off x="6312385" y="1179604"/>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15" name="Text Box 3"/>
          <p:cNvSpPr txBox="1">
            <a:spLocks noChangeArrowheads="1"/>
          </p:cNvSpPr>
          <p:nvPr/>
        </p:nvSpPr>
        <p:spPr bwMode="auto">
          <a:xfrm>
            <a:off x="6612265" y="1862558"/>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2514" name="Text Box 2"/>
          <p:cNvSpPr txBox="1">
            <a:spLocks noChangeArrowheads="1"/>
          </p:cNvSpPr>
          <p:nvPr/>
        </p:nvSpPr>
        <p:spPr bwMode="auto">
          <a:xfrm>
            <a:off x="1554693" y="4210738"/>
            <a:ext cx="245255" cy="257162"/>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91" name="AutoShape 43"/>
          <p:cNvSpPr>
            <a:spLocks noChangeShapeType="1"/>
          </p:cNvSpPr>
          <p:nvPr/>
        </p:nvSpPr>
        <p:spPr bwMode="auto">
          <a:xfrm>
            <a:off x="2500298" y="4429132"/>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92" name="灯片编号占位符 91"/>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93"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3522" name="Rectangle 3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89480" name="Rectangle 4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0523" name="Rectangle 5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5694" name="Rectangle 11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95692" name="Oval 108"/>
          <p:cNvSpPr>
            <a:spLocks noChangeArrowheads="1"/>
          </p:cNvSpPr>
          <p:nvPr/>
        </p:nvSpPr>
        <p:spPr bwMode="auto">
          <a:xfrm>
            <a:off x="1382401" y="1353690"/>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91" name="Oval 107"/>
          <p:cNvSpPr>
            <a:spLocks noChangeArrowheads="1"/>
          </p:cNvSpPr>
          <p:nvPr/>
        </p:nvSpPr>
        <p:spPr bwMode="auto">
          <a:xfrm>
            <a:off x="1063431" y="793668"/>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90" name="AutoShape 106"/>
          <p:cNvSpPr>
            <a:spLocks noChangeShapeType="1"/>
          </p:cNvSpPr>
          <p:nvPr/>
        </p:nvSpPr>
        <p:spPr bwMode="auto">
          <a:xfrm>
            <a:off x="1364796" y="1103698"/>
            <a:ext cx="19469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89" name="Oval 105"/>
          <p:cNvSpPr>
            <a:spLocks noChangeArrowheads="1"/>
          </p:cNvSpPr>
          <p:nvPr/>
        </p:nvSpPr>
        <p:spPr bwMode="auto">
          <a:xfrm>
            <a:off x="719605" y="1353690"/>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88" name="AutoShape 104"/>
          <p:cNvSpPr>
            <a:spLocks noChangeShapeType="1"/>
          </p:cNvSpPr>
          <p:nvPr/>
        </p:nvSpPr>
        <p:spPr bwMode="auto">
          <a:xfrm flipH="1">
            <a:off x="896696" y="1103698"/>
            <a:ext cx="21851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87" name="Oval 103"/>
          <p:cNvSpPr>
            <a:spLocks noChangeArrowheads="1"/>
          </p:cNvSpPr>
          <p:nvPr/>
        </p:nvSpPr>
        <p:spPr bwMode="auto">
          <a:xfrm>
            <a:off x="1028220" y="1953081"/>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86" name="AutoShape 102"/>
          <p:cNvSpPr>
            <a:spLocks noChangeShapeType="1"/>
          </p:cNvSpPr>
          <p:nvPr/>
        </p:nvSpPr>
        <p:spPr bwMode="auto">
          <a:xfrm>
            <a:off x="1022006" y="1663720"/>
            <a:ext cx="183305"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85" name="Oval 101"/>
          <p:cNvSpPr>
            <a:spLocks noChangeArrowheads="1"/>
          </p:cNvSpPr>
          <p:nvPr/>
        </p:nvSpPr>
        <p:spPr bwMode="auto">
          <a:xfrm>
            <a:off x="428596" y="1953081"/>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84" name="AutoShape 100"/>
          <p:cNvSpPr>
            <a:spLocks noChangeShapeType="1"/>
          </p:cNvSpPr>
          <p:nvPr/>
        </p:nvSpPr>
        <p:spPr bwMode="auto">
          <a:xfrm flipH="1">
            <a:off x="605687" y="1663720"/>
            <a:ext cx="165699"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83" name="Oval 99"/>
          <p:cNvSpPr>
            <a:spLocks noChangeArrowheads="1"/>
          </p:cNvSpPr>
          <p:nvPr/>
        </p:nvSpPr>
        <p:spPr bwMode="auto">
          <a:xfrm>
            <a:off x="1670303" y="1953081"/>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82" name="AutoShape 98"/>
          <p:cNvSpPr>
            <a:spLocks noChangeShapeType="1"/>
          </p:cNvSpPr>
          <p:nvPr/>
        </p:nvSpPr>
        <p:spPr bwMode="auto">
          <a:xfrm>
            <a:off x="1684802" y="1663720"/>
            <a:ext cx="162592"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81" name="Oval 97"/>
          <p:cNvSpPr>
            <a:spLocks noChangeArrowheads="1"/>
          </p:cNvSpPr>
          <p:nvPr/>
        </p:nvSpPr>
        <p:spPr bwMode="auto">
          <a:xfrm>
            <a:off x="772422" y="258987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80" name="AutoShape 96"/>
          <p:cNvSpPr>
            <a:spLocks noChangeShapeType="1"/>
          </p:cNvSpPr>
          <p:nvPr/>
        </p:nvSpPr>
        <p:spPr bwMode="auto">
          <a:xfrm flipH="1">
            <a:off x="949513" y="2263111"/>
            <a:ext cx="130488" cy="32676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79" name="Text Box 95"/>
          <p:cNvSpPr txBox="1">
            <a:spLocks noChangeArrowheads="1"/>
          </p:cNvSpPr>
          <p:nvPr/>
        </p:nvSpPr>
        <p:spPr bwMode="auto">
          <a:xfrm>
            <a:off x="1684802" y="2589872"/>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U</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78" name="Text Box 94"/>
          <p:cNvSpPr txBox="1">
            <a:spLocks noChangeArrowheads="1"/>
          </p:cNvSpPr>
          <p:nvPr/>
        </p:nvSpPr>
        <p:spPr bwMode="auto">
          <a:xfrm>
            <a:off x="1354440" y="1876312"/>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77" name="Text Box 93"/>
          <p:cNvSpPr txBox="1">
            <a:spLocks noChangeArrowheads="1"/>
          </p:cNvSpPr>
          <p:nvPr/>
        </p:nvSpPr>
        <p:spPr bwMode="auto">
          <a:xfrm>
            <a:off x="836630" y="3239458"/>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76" name="Text Box 92"/>
          <p:cNvSpPr txBox="1">
            <a:spLocks noChangeArrowheads="1"/>
          </p:cNvSpPr>
          <p:nvPr/>
        </p:nvSpPr>
        <p:spPr bwMode="auto">
          <a:xfrm>
            <a:off x="618114" y="2506213"/>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75" name="Oval 91"/>
          <p:cNvSpPr>
            <a:spLocks noChangeArrowheads="1"/>
          </p:cNvSpPr>
          <p:nvPr/>
        </p:nvSpPr>
        <p:spPr bwMode="auto">
          <a:xfrm>
            <a:off x="1326478" y="258987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74" name="AutoShape 90"/>
          <p:cNvSpPr>
            <a:spLocks noChangeShapeType="1"/>
          </p:cNvSpPr>
          <p:nvPr/>
        </p:nvSpPr>
        <p:spPr bwMode="auto">
          <a:xfrm>
            <a:off x="1328549" y="2238505"/>
            <a:ext cx="173984" cy="35136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73" name="Oval 89"/>
          <p:cNvSpPr>
            <a:spLocks noChangeArrowheads="1"/>
          </p:cNvSpPr>
          <p:nvPr/>
        </p:nvSpPr>
        <p:spPr bwMode="auto">
          <a:xfrm>
            <a:off x="482448" y="3239458"/>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72" name="AutoShape 88"/>
          <p:cNvSpPr>
            <a:spLocks noChangeShapeType="1"/>
          </p:cNvSpPr>
          <p:nvPr/>
        </p:nvSpPr>
        <p:spPr bwMode="auto">
          <a:xfrm flipH="1">
            <a:off x="658504" y="2875296"/>
            <a:ext cx="165699" cy="36416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70" name="Text Box 86"/>
          <p:cNvSpPr txBox="1">
            <a:spLocks noChangeArrowheads="1"/>
          </p:cNvSpPr>
          <p:nvPr/>
        </p:nvSpPr>
        <p:spPr bwMode="auto">
          <a:xfrm>
            <a:off x="2285984" y="1876312"/>
            <a:ext cx="920971"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69" name="Oval 85"/>
          <p:cNvSpPr>
            <a:spLocks noChangeArrowheads="1"/>
          </p:cNvSpPr>
          <p:nvPr/>
        </p:nvSpPr>
        <p:spPr bwMode="auto">
          <a:xfrm>
            <a:off x="4375262" y="1384201"/>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68" name="Oval 84"/>
          <p:cNvSpPr>
            <a:spLocks noChangeArrowheads="1"/>
          </p:cNvSpPr>
          <p:nvPr/>
        </p:nvSpPr>
        <p:spPr bwMode="auto">
          <a:xfrm>
            <a:off x="4056291" y="82417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67" name="AutoShape 83"/>
          <p:cNvSpPr>
            <a:spLocks noChangeShapeType="1"/>
          </p:cNvSpPr>
          <p:nvPr/>
        </p:nvSpPr>
        <p:spPr bwMode="auto">
          <a:xfrm>
            <a:off x="4357656" y="1134208"/>
            <a:ext cx="19469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66" name="Oval 82"/>
          <p:cNvSpPr>
            <a:spLocks noChangeArrowheads="1"/>
          </p:cNvSpPr>
          <p:nvPr/>
        </p:nvSpPr>
        <p:spPr bwMode="auto">
          <a:xfrm>
            <a:off x="3712466" y="1384201"/>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65" name="AutoShape 81"/>
          <p:cNvSpPr>
            <a:spLocks noChangeShapeType="1"/>
          </p:cNvSpPr>
          <p:nvPr/>
        </p:nvSpPr>
        <p:spPr bwMode="auto">
          <a:xfrm flipH="1">
            <a:off x="3889557" y="1134208"/>
            <a:ext cx="21851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64" name="Oval 80"/>
          <p:cNvSpPr>
            <a:spLocks noChangeArrowheads="1"/>
          </p:cNvSpPr>
          <p:nvPr/>
        </p:nvSpPr>
        <p:spPr bwMode="auto">
          <a:xfrm>
            <a:off x="4021080" y="198359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63" name="AutoShape 79"/>
          <p:cNvSpPr>
            <a:spLocks noChangeShapeType="1"/>
          </p:cNvSpPr>
          <p:nvPr/>
        </p:nvSpPr>
        <p:spPr bwMode="auto">
          <a:xfrm>
            <a:off x="4014866" y="1694231"/>
            <a:ext cx="183305"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62" name="Oval 78"/>
          <p:cNvSpPr>
            <a:spLocks noChangeArrowheads="1"/>
          </p:cNvSpPr>
          <p:nvPr/>
        </p:nvSpPr>
        <p:spPr bwMode="auto">
          <a:xfrm>
            <a:off x="3421457" y="1983592"/>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61" name="AutoShape 77"/>
          <p:cNvSpPr>
            <a:spLocks noChangeShapeType="1"/>
          </p:cNvSpPr>
          <p:nvPr/>
        </p:nvSpPr>
        <p:spPr bwMode="auto">
          <a:xfrm flipH="1">
            <a:off x="3598548" y="1694231"/>
            <a:ext cx="165699"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60" name="Oval 76"/>
          <p:cNvSpPr>
            <a:spLocks noChangeArrowheads="1"/>
          </p:cNvSpPr>
          <p:nvPr/>
        </p:nvSpPr>
        <p:spPr bwMode="auto">
          <a:xfrm>
            <a:off x="4663164" y="198359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59" name="AutoShape 75"/>
          <p:cNvSpPr>
            <a:spLocks noChangeShapeType="1"/>
          </p:cNvSpPr>
          <p:nvPr/>
        </p:nvSpPr>
        <p:spPr bwMode="auto">
          <a:xfrm>
            <a:off x="4677663" y="1694231"/>
            <a:ext cx="162592"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58" name="Oval 74"/>
          <p:cNvSpPr>
            <a:spLocks noChangeArrowheads="1"/>
          </p:cNvSpPr>
          <p:nvPr/>
        </p:nvSpPr>
        <p:spPr bwMode="auto">
          <a:xfrm>
            <a:off x="3765282" y="2620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57" name="AutoShape 73"/>
          <p:cNvSpPr>
            <a:spLocks noChangeShapeType="1"/>
          </p:cNvSpPr>
          <p:nvPr/>
        </p:nvSpPr>
        <p:spPr bwMode="auto">
          <a:xfrm flipH="1">
            <a:off x="3942373" y="2293621"/>
            <a:ext cx="130488" cy="32676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56" name="Text Box 72"/>
          <p:cNvSpPr txBox="1">
            <a:spLocks noChangeArrowheads="1"/>
          </p:cNvSpPr>
          <p:nvPr/>
        </p:nvSpPr>
        <p:spPr bwMode="auto">
          <a:xfrm>
            <a:off x="4357686" y="1906822"/>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55" name="Text Box 71"/>
          <p:cNvSpPr txBox="1">
            <a:spLocks noChangeArrowheads="1"/>
          </p:cNvSpPr>
          <p:nvPr/>
        </p:nvSpPr>
        <p:spPr bwMode="auto">
          <a:xfrm>
            <a:off x="4444648" y="824179"/>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54" name="Text Box 70"/>
          <p:cNvSpPr txBox="1">
            <a:spLocks noChangeArrowheads="1"/>
          </p:cNvSpPr>
          <p:nvPr/>
        </p:nvSpPr>
        <p:spPr bwMode="auto">
          <a:xfrm>
            <a:off x="3589227" y="1226725"/>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53" name="Oval 69"/>
          <p:cNvSpPr>
            <a:spLocks noChangeArrowheads="1"/>
          </p:cNvSpPr>
          <p:nvPr/>
        </p:nvSpPr>
        <p:spPr bwMode="auto">
          <a:xfrm>
            <a:off x="4319338" y="2620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52" name="AutoShape 68"/>
          <p:cNvSpPr>
            <a:spLocks noChangeShapeType="1"/>
          </p:cNvSpPr>
          <p:nvPr/>
        </p:nvSpPr>
        <p:spPr bwMode="auto">
          <a:xfrm>
            <a:off x="4323481" y="2293621"/>
            <a:ext cx="172948" cy="32676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51" name="Oval 67"/>
          <p:cNvSpPr>
            <a:spLocks noChangeArrowheads="1"/>
          </p:cNvSpPr>
          <p:nvPr/>
        </p:nvSpPr>
        <p:spPr bwMode="auto">
          <a:xfrm>
            <a:off x="3475309" y="3269969"/>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50" name="AutoShape 66"/>
          <p:cNvSpPr>
            <a:spLocks noChangeShapeType="1"/>
          </p:cNvSpPr>
          <p:nvPr/>
        </p:nvSpPr>
        <p:spPr bwMode="auto">
          <a:xfrm flipH="1">
            <a:off x="3652400" y="2930413"/>
            <a:ext cx="164663" cy="33955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48" name="Text Box 64"/>
          <p:cNvSpPr txBox="1">
            <a:spLocks noChangeArrowheads="1"/>
          </p:cNvSpPr>
          <p:nvPr/>
        </p:nvSpPr>
        <p:spPr bwMode="auto">
          <a:xfrm>
            <a:off x="5467762" y="1886154"/>
            <a:ext cx="117697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子树</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左旋</a:t>
            </a:r>
            <a:endPar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47" name="Text Box 63"/>
          <p:cNvSpPr txBox="1">
            <a:spLocks noChangeArrowheads="1"/>
          </p:cNvSpPr>
          <p:nvPr/>
        </p:nvSpPr>
        <p:spPr bwMode="auto">
          <a:xfrm>
            <a:off x="4796759" y="1355658"/>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U</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46" name="Oval 62"/>
          <p:cNvSpPr>
            <a:spLocks noChangeArrowheads="1"/>
          </p:cNvSpPr>
          <p:nvPr/>
        </p:nvSpPr>
        <p:spPr bwMode="auto">
          <a:xfrm>
            <a:off x="7851757" y="1384201"/>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45" name="Oval 61"/>
          <p:cNvSpPr>
            <a:spLocks noChangeArrowheads="1"/>
          </p:cNvSpPr>
          <p:nvPr/>
        </p:nvSpPr>
        <p:spPr bwMode="auto">
          <a:xfrm>
            <a:off x="7532786" y="82417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44" name="AutoShape 60"/>
          <p:cNvSpPr>
            <a:spLocks noChangeShapeType="1"/>
          </p:cNvSpPr>
          <p:nvPr/>
        </p:nvSpPr>
        <p:spPr bwMode="auto">
          <a:xfrm>
            <a:off x="7834152" y="1134208"/>
            <a:ext cx="19469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43" name="Oval 59"/>
          <p:cNvSpPr>
            <a:spLocks noChangeArrowheads="1"/>
          </p:cNvSpPr>
          <p:nvPr/>
        </p:nvSpPr>
        <p:spPr bwMode="auto">
          <a:xfrm>
            <a:off x="7188961" y="1384201"/>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42" name="AutoShape 58"/>
          <p:cNvSpPr>
            <a:spLocks noChangeShapeType="1"/>
          </p:cNvSpPr>
          <p:nvPr/>
        </p:nvSpPr>
        <p:spPr bwMode="auto">
          <a:xfrm flipH="1">
            <a:off x="7366052" y="1134208"/>
            <a:ext cx="218516" cy="24999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41" name="Oval 57"/>
          <p:cNvSpPr>
            <a:spLocks noChangeArrowheads="1"/>
          </p:cNvSpPr>
          <p:nvPr/>
        </p:nvSpPr>
        <p:spPr bwMode="auto">
          <a:xfrm>
            <a:off x="7497575" y="1983592"/>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40" name="AutoShape 56"/>
          <p:cNvSpPr>
            <a:spLocks noChangeShapeType="1"/>
          </p:cNvSpPr>
          <p:nvPr/>
        </p:nvSpPr>
        <p:spPr bwMode="auto">
          <a:xfrm>
            <a:off x="7491362" y="1694231"/>
            <a:ext cx="183305"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39" name="Oval 55"/>
          <p:cNvSpPr>
            <a:spLocks noChangeArrowheads="1"/>
          </p:cNvSpPr>
          <p:nvPr/>
        </p:nvSpPr>
        <p:spPr bwMode="auto">
          <a:xfrm>
            <a:off x="6897952" y="198359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38" name="AutoShape 54"/>
          <p:cNvSpPr>
            <a:spLocks noChangeShapeType="1"/>
          </p:cNvSpPr>
          <p:nvPr/>
        </p:nvSpPr>
        <p:spPr bwMode="auto">
          <a:xfrm flipH="1">
            <a:off x="7075043" y="1694231"/>
            <a:ext cx="165699"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37" name="Oval 53"/>
          <p:cNvSpPr>
            <a:spLocks noChangeArrowheads="1"/>
          </p:cNvSpPr>
          <p:nvPr/>
        </p:nvSpPr>
        <p:spPr bwMode="auto">
          <a:xfrm>
            <a:off x="8139659" y="1983592"/>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36" name="AutoShape 52"/>
          <p:cNvSpPr>
            <a:spLocks noChangeShapeType="1"/>
          </p:cNvSpPr>
          <p:nvPr/>
        </p:nvSpPr>
        <p:spPr bwMode="auto">
          <a:xfrm>
            <a:off x="8154158" y="1694231"/>
            <a:ext cx="162592" cy="28936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35" name="Oval 51"/>
          <p:cNvSpPr>
            <a:spLocks noChangeArrowheads="1"/>
          </p:cNvSpPr>
          <p:nvPr/>
        </p:nvSpPr>
        <p:spPr bwMode="auto">
          <a:xfrm>
            <a:off x="7241777" y="2620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34" name="Text Box 50"/>
          <p:cNvSpPr txBox="1">
            <a:spLocks noChangeArrowheads="1"/>
          </p:cNvSpPr>
          <p:nvPr/>
        </p:nvSpPr>
        <p:spPr bwMode="auto">
          <a:xfrm>
            <a:off x="6701618" y="1906822"/>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N</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33" name="Text Box 49"/>
          <p:cNvSpPr txBox="1">
            <a:spLocks noChangeArrowheads="1"/>
          </p:cNvSpPr>
          <p:nvPr/>
        </p:nvSpPr>
        <p:spPr bwMode="auto">
          <a:xfrm>
            <a:off x="7921144" y="824179"/>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32" name="Text Box 48"/>
          <p:cNvSpPr txBox="1">
            <a:spLocks noChangeArrowheads="1"/>
          </p:cNvSpPr>
          <p:nvPr/>
        </p:nvSpPr>
        <p:spPr bwMode="auto">
          <a:xfrm>
            <a:off x="7065722" y="1226725"/>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31" name="Oval 47"/>
          <p:cNvSpPr>
            <a:spLocks noChangeArrowheads="1"/>
          </p:cNvSpPr>
          <p:nvPr/>
        </p:nvSpPr>
        <p:spPr bwMode="auto">
          <a:xfrm>
            <a:off x="6951804" y="3269969"/>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30" name="AutoShape 46"/>
          <p:cNvSpPr>
            <a:spLocks noChangeShapeType="1"/>
          </p:cNvSpPr>
          <p:nvPr/>
        </p:nvSpPr>
        <p:spPr bwMode="auto">
          <a:xfrm flipH="1">
            <a:off x="7128895" y="2930413"/>
            <a:ext cx="164663" cy="339556"/>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29" name="Text Box 45"/>
          <p:cNvSpPr txBox="1">
            <a:spLocks noChangeArrowheads="1"/>
          </p:cNvSpPr>
          <p:nvPr/>
        </p:nvSpPr>
        <p:spPr bwMode="auto">
          <a:xfrm>
            <a:off x="8273254" y="1355658"/>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U</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28" name="AutoShape 44"/>
          <p:cNvSpPr>
            <a:spLocks noChangeShapeType="1"/>
          </p:cNvSpPr>
          <p:nvPr/>
        </p:nvSpPr>
        <p:spPr bwMode="auto">
          <a:xfrm>
            <a:off x="7198281" y="2269016"/>
            <a:ext cx="219551" cy="35136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26" name="Text Box 42"/>
          <p:cNvSpPr txBox="1">
            <a:spLocks noChangeArrowheads="1"/>
          </p:cNvSpPr>
          <p:nvPr/>
        </p:nvSpPr>
        <p:spPr bwMode="auto">
          <a:xfrm>
            <a:off x="725740" y="4951020"/>
            <a:ext cx="1203054"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子树</a:t>
            </a: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r>
              <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右旋</a:t>
            </a:r>
            <a:endParaRPr kumimoji="0" lang="zh-CN" altLang="en-US"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25" name="Oval 41"/>
          <p:cNvSpPr>
            <a:spLocks noChangeArrowheads="1"/>
          </p:cNvSpPr>
          <p:nvPr/>
        </p:nvSpPr>
        <p:spPr bwMode="auto">
          <a:xfrm>
            <a:off x="3676219" y="5427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24" name="Oval 40"/>
          <p:cNvSpPr>
            <a:spLocks noChangeArrowheads="1"/>
          </p:cNvSpPr>
          <p:nvPr/>
        </p:nvSpPr>
        <p:spPr bwMode="auto">
          <a:xfrm>
            <a:off x="3333429" y="4735475"/>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23" name="Oval 39"/>
          <p:cNvSpPr>
            <a:spLocks noChangeArrowheads="1"/>
          </p:cNvSpPr>
          <p:nvPr/>
        </p:nvSpPr>
        <p:spPr bwMode="auto">
          <a:xfrm>
            <a:off x="2779373" y="4184311"/>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22" name="Oval 38"/>
          <p:cNvSpPr>
            <a:spLocks noChangeArrowheads="1"/>
          </p:cNvSpPr>
          <p:nvPr/>
        </p:nvSpPr>
        <p:spPr bwMode="auto">
          <a:xfrm>
            <a:off x="3084880" y="5427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21" name="Oval 37"/>
          <p:cNvSpPr>
            <a:spLocks noChangeArrowheads="1"/>
          </p:cNvSpPr>
          <p:nvPr/>
        </p:nvSpPr>
        <p:spPr bwMode="auto">
          <a:xfrm>
            <a:off x="2307130" y="4787639"/>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20" name="Oval 36"/>
          <p:cNvSpPr>
            <a:spLocks noChangeArrowheads="1"/>
          </p:cNvSpPr>
          <p:nvPr/>
        </p:nvSpPr>
        <p:spPr bwMode="auto">
          <a:xfrm>
            <a:off x="3954801" y="6069095"/>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19" name="Oval 35"/>
          <p:cNvSpPr>
            <a:spLocks noChangeArrowheads="1"/>
          </p:cNvSpPr>
          <p:nvPr/>
        </p:nvSpPr>
        <p:spPr bwMode="auto">
          <a:xfrm>
            <a:off x="2590890" y="5427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18" name="Text Box 34"/>
          <p:cNvSpPr txBox="1">
            <a:spLocks noChangeArrowheads="1"/>
          </p:cNvSpPr>
          <p:nvPr/>
        </p:nvSpPr>
        <p:spPr bwMode="auto">
          <a:xfrm>
            <a:off x="3676219" y="4655753"/>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G</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17" name="Text Box 33"/>
          <p:cNvSpPr txBox="1">
            <a:spLocks noChangeArrowheads="1"/>
          </p:cNvSpPr>
          <p:nvPr/>
        </p:nvSpPr>
        <p:spPr bwMode="auto">
          <a:xfrm>
            <a:off x="3198799" y="4178406"/>
            <a:ext cx="227836"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P</a:t>
            </a:r>
            <a:endParaRPr kumimoji="0" lang="en-US" alt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16" name="Oval 32"/>
          <p:cNvSpPr>
            <a:spLocks noChangeArrowheads="1"/>
          </p:cNvSpPr>
          <p:nvPr/>
        </p:nvSpPr>
        <p:spPr bwMode="auto">
          <a:xfrm>
            <a:off x="2348555" y="6069095"/>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15" name="Oval 31"/>
          <p:cNvSpPr>
            <a:spLocks noChangeArrowheads="1"/>
          </p:cNvSpPr>
          <p:nvPr/>
        </p:nvSpPr>
        <p:spPr bwMode="auto">
          <a:xfrm>
            <a:off x="6595551" y="2620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14" name="AutoShape 30"/>
          <p:cNvSpPr>
            <a:spLocks noChangeShapeType="1"/>
          </p:cNvSpPr>
          <p:nvPr/>
        </p:nvSpPr>
        <p:spPr bwMode="auto">
          <a:xfrm flipH="1">
            <a:off x="6771606" y="2269016"/>
            <a:ext cx="178127" cy="351367"/>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13" name="Oval 29"/>
          <p:cNvSpPr>
            <a:spLocks noChangeArrowheads="1"/>
          </p:cNvSpPr>
          <p:nvPr/>
        </p:nvSpPr>
        <p:spPr bwMode="auto">
          <a:xfrm>
            <a:off x="2015086" y="5427383"/>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12" name="AutoShape 28"/>
          <p:cNvSpPr>
            <a:spLocks noChangeShapeType="1"/>
          </p:cNvSpPr>
          <p:nvPr/>
        </p:nvSpPr>
        <p:spPr bwMode="auto">
          <a:xfrm flipH="1">
            <a:off x="2483186" y="4469735"/>
            <a:ext cx="347968" cy="31790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11" name="AutoShape 27"/>
          <p:cNvSpPr>
            <a:spLocks noChangeShapeType="1"/>
          </p:cNvSpPr>
          <p:nvPr/>
        </p:nvSpPr>
        <p:spPr bwMode="auto">
          <a:xfrm>
            <a:off x="3079702" y="4469735"/>
            <a:ext cx="305508" cy="314951"/>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10" name="AutoShape 26"/>
          <p:cNvSpPr>
            <a:spLocks noChangeShapeType="1"/>
          </p:cNvSpPr>
          <p:nvPr/>
        </p:nvSpPr>
        <p:spPr bwMode="auto">
          <a:xfrm flipH="1">
            <a:off x="2191141" y="5073063"/>
            <a:ext cx="167770" cy="35432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9" name="AutoShape 25"/>
          <p:cNvSpPr>
            <a:spLocks noChangeShapeType="1"/>
          </p:cNvSpPr>
          <p:nvPr/>
        </p:nvSpPr>
        <p:spPr bwMode="auto">
          <a:xfrm>
            <a:off x="2607460" y="5073063"/>
            <a:ext cx="159485" cy="354320"/>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8" name="AutoShape 24"/>
          <p:cNvSpPr>
            <a:spLocks noChangeShapeType="1"/>
          </p:cNvSpPr>
          <p:nvPr/>
        </p:nvSpPr>
        <p:spPr bwMode="auto">
          <a:xfrm flipH="1">
            <a:off x="2524610" y="5712807"/>
            <a:ext cx="118061" cy="35628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7" name="AutoShape 23"/>
          <p:cNvSpPr>
            <a:spLocks noChangeShapeType="1"/>
          </p:cNvSpPr>
          <p:nvPr/>
        </p:nvSpPr>
        <p:spPr bwMode="auto">
          <a:xfrm flipH="1">
            <a:off x="3260936" y="5020899"/>
            <a:ext cx="124274" cy="40648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6" name="AutoShape 22"/>
          <p:cNvSpPr>
            <a:spLocks noChangeShapeType="1"/>
          </p:cNvSpPr>
          <p:nvPr/>
        </p:nvSpPr>
        <p:spPr bwMode="auto">
          <a:xfrm>
            <a:off x="3633759" y="5020899"/>
            <a:ext cx="218516" cy="40648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5" name="AutoShape 21"/>
          <p:cNvSpPr>
            <a:spLocks noChangeShapeType="1"/>
          </p:cNvSpPr>
          <p:nvPr/>
        </p:nvSpPr>
        <p:spPr bwMode="auto">
          <a:xfrm>
            <a:off x="3976549" y="5712807"/>
            <a:ext cx="154307" cy="35628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603" name="Text Box 19"/>
          <p:cNvSpPr txBox="1">
            <a:spLocks noChangeArrowheads="1"/>
          </p:cNvSpPr>
          <p:nvPr/>
        </p:nvSpPr>
        <p:spPr bwMode="auto">
          <a:xfrm>
            <a:off x="4602062" y="5067158"/>
            <a:ext cx="970069" cy="240150"/>
          </a:xfrm>
          <a:prstGeom prst="rect">
            <a:avLst/>
          </a:prstGeom>
          <a:noFill/>
          <a:ln w="9525">
            <a:noFill/>
            <a:miter lim="800000"/>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rPr>
              <a:t>改变颜色</a:t>
            </a:r>
            <a:endParaRPr kumimoji="0" lang="zh-CN" sz="1800" b="0" i="0" u="none" strike="noStrike" cap="none" normalizeH="0" baseline="0" smtClean="0">
              <a:ln>
                <a:noFill/>
              </a:ln>
              <a:solidFill>
                <a:srgbClr val="0000FF"/>
              </a:solidFill>
              <a:effectLst/>
              <a:ea typeface="仿宋" panose="02010609060101010101" pitchFamily="49" charset="-122"/>
              <a:cs typeface="Times New Roman" panose="02020603050405020304" pitchFamily="18" charset="0"/>
            </a:endParaRPr>
          </a:p>
        </p:txBody>
      </p:sp>
      <p:sp>
        <p:nvSpPr>
          <p:cNvPr id="195602" name="Oval 18"/>
          <p:cNvSpPr>
            <a:spLocks noChangeArrowheads="1"/>
          </p:cNvSpPr>
          <p:nvPr/>
        </p:nvSpPr>
        <p:spPr bwMode="auto">
          <a:xfrm>
            <a:off x="7327812" y="542639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01" name="Oval 17"/>
          <p:cNvSpPr>
            <a:spLocks noChangeArrowheads="1"/>
          </p:cNvSpPr>
          <p:nvPr/>
        </p:nvSpPr>
        <p:spPr bwMode="auto">
          <a:xfrm>
            <a:off x="6985022" y="4734491"/>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600" name="Oval 16"/>
          <p:cNvSpPr>
            <a:spLocks noChangeArrowheads="1"/>
          </p:cNvSpPr>
          <p:nvPr/>
        </p:nvSpPr>
        <p:spPr bwMode="auto">
          <a:xfrm>
            <a:off x="6430966" y="4183327"/>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7</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9" name="Oval 15"/>
          <p:cNvSpPr>
            <a:spLocks noChangeArrowheads="1"/>
          </p:cNvSpPr>
          <p:nvPr/>
        </p:nvSpPr>
        <p:spPr bwMode="auto">
          <a:xfrm>
            <a:off x="6736474" y="542639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8</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8" name="Oval 14"/>
          <p:cNvSpPr>
            <a:spLocks noChangeArrowheads="1"/>
          </p:cNvSpPr>
          <p:nvPr/>
        </p:nvSpPr>
        <p:spPr bwMode="auto">
          <a:xfrm>
            <a:off x="5958724" y="4786655"/>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2</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7" name="Oval 13"/>
          <p:cNvSpPr>
            <a:spLocks noChangeArrowheads="1"/>
          </p:cNvSpPr>
          <p:nvPr/>
        </p:nvSpPr>
        <p:spPr bwMode="auto">
          <a:xfrm>
            <a:off x="7606394" y="6069095"/>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6" name="Oval 12"/>
          <p:cNvSpPr>
            <a:spLocks noChangeArrowheads="1"/>
          </p:cNvSpPr>
          <p:nvPr/>
        </p:nvSpPr>
        <p:spPr bwMode="auto">
          <a:xfrm>
            <a:off x="6242483" y="542639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5</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5" name="Oval 11"/>
          <p:cNvSpPr>
            <a:spLocks noChangeArrowheads="1"/>
          </p:cNvSpPr>
          <p:nvPr/>
        </p:nvSpPr>
        <p:spPr bwMode="auto">
          <a:xfrm>
            <a:off x="6000148" y="6069095"/>
            <a:ext cx="352111" cy="334635"/>
          </a:xfrm>
          <a:prstGeom prst="ellipse">
            <a:avLst/>
          </a:prstGeom>
          <a:solidFill>
            <a:srgbClr val="FF0000"/>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4</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4" name="Oval 10"/>
          <p:cNvSpPr>
            <a:spLocks noChangeArrowheads="1"/>
          </p:cNvSpPr>
          <p:nvPr/>
        </p:nvSpPr>
        <p:spPr bwMode="auto">
          <a:xfrm>
            <a:off x="5666679" y="5426399"/>
            <a:ext cx="352111" cy="334635"/>
          </a:xfrm>
          <a:prstGeom prst="ellipse">
            <a:avLst/>
          </a:prstGeom>
          <a:solidFill>
            <a:schemeClr val="tx1"/>
          </a:solidFill>
          <a:ln w="9525">
            <a:solidFill>
              <a:srgbClr val="000000"/>
            </a:solidFill>
            <a:round/>
            <a:tailEnd type="none" w="sm" len="sm"/>
          </a:ln>
        </p:spPr>
        <p:txBody>
          <a:bodyPr vert="horz" wrap="square" lIns="0" tIns="0" rIns="0" bIns="0" numCol="1" anchor="t" anchorCtr="0" compatLnSpc="1"/>
          <a:lstStyle/>
          <a:p>
            <a:pPr marL="0" marR="0" lvl="0" indent="0" defTabSz="914400" rtl="0" eaLnBrk="1" fontAlgn="base" latinLnBrk="0" hangingPunct="1">
              <a:lnSpc>
                <a:spcPts val="2000"/>
              </a:lnSpc>
              <a:spcBef>
                <a:spcPct val="0"/>
              </a:spcBef>
              <a:spcAft>
                <a:spcPct val="0"/>
              </a:spcAft>
              <a:buClrTx/>
              <a:buSzTx/>
              <a:buFontTx/>
              <a:buNone/>
            </a:pPr>
            <a:r>
              <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rPr>
              <a:t>1</a:t>
            </a:r>
            <a:endParaRPr kumimoji="0" lang="en-US" altLang="zh-CN" sz="1800" b="0" i="0" u="none" strike="noStrike" cap="none" normalizeH="0" baseline="0" smtClean="0">
              <a:ln>
                <a:noFill/>
              </a:ln>
              <a:solidFill>
                <a:schemeClr val="bg1"/>
              </a:solidFill>
              <a:effectLst/>
              <a:ea typeface="仿宋" panose="02010609060101010101" pitchFamily="49" charset="-122"/>
              <a:cs typeface="Times New Roman" panose="02020603050405020304" pitchFamily="18" charset="0"/>
            </a:endParaRPr>
          </a:p>
        </p:txBody>
      </p:sp>
      <p:sp>
        <p:nvSpPr>
          <p:cNvPr id="195593" name="AutoShape 9"/>
          <p:cNvSpPr>
            <a:spLocks noChangeShapeType="1"/>
          </p:cNvSpPr>
          <p:nvPr/>
        </p:nvSpPr>
        <p:spPr bwMode="auto">
          <a:xfrm flipH="1">
            <a:off x="6135815" y="4493357"/>
            <a:ext cx="346932" cy="29329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92" name="AutoShape 8"/>
          <p:cNvSpPr>
            <a:spLocks noChangeShapeType="1"/>
          </p:cNvSpPr>
          <p:nvPr/>
        </p:nvSpPr>
        <p:spPr bwMode="auto">
          <a:xfrm>
            <a:off x="6733367" y="4493357"/>
            <a:ext cx="303436" cy="294282"/>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91" name="AutoShape 7"/>
          <p:cNvSpPr>
            <a:spLocks noChangeShapeType="1"/>
          </p:cNvSpPr>
          <p:nvPr/>
        </p:nvSpPr>
        <p:spPr bwMode="auto">
          <a:xfrm flipH="1">
            <a:off x="5843770" y="5096685"/>
            <a:ext cx="166735" cy="32971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90" name="AutoShape 6"/>
          <p:cNvSpPr>
            <a:spLocks noChangeShapeType="1"/>
          </p:cNvSpPr>
          <p:nvPr/>
        </p:nvSpPr>
        <p:spPr bwMode="auto">
          <a:xfrm>
            <a:off x="6261125" y="5096685"/>
            <a:ext cx="158450" cy="329714"/>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89" name="AutoShape 5"/>
          <p:cNvSpPr>
            <a:spLocks noChangeShapeType="1"/>
          </p:cNvSpPr>
          <p:nvPr/>
        </p:nvSpPr>
        <p:spPr bwMode="auto">
          <a:xfrm flipH="1">
            <a:off x="6177239" y="5736429"/>
            <a:ext cx="117025" cy="33168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88" name="AutoShape 4"/>
          <p:cNvSpPr>
            <a:spLocks noChangeShapeType="1"/>
          </p:cNvSpPr>
          <p:nvPr/>
        </p:nvSpPr>
        <p:spPr bwMode="auto">
          <a:xfrm flipH="1">
            <a:off x="6913565" y="5044521"/>
            <a:ext cx="123239" cy="38187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87" name="AutoShape 3"/>
          <p:cNvSpPr>
            <a:spLocks noChangeShapeType="1"/>
          </p:cNvSpPr>
          <p:nvPr/>
        </p:nvSpPr>
        <p:spPr bwMode="auto">
          <a:xfrm>
            <a:off x="7286388" y="5044521"/>
            <a:ext cx="218516" cy="381878"/>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95586" name="AutoShape 2"/>
          <p:cNvSpPr>
            <a:spLocks noChangeShapeType="1"/>
          </p:cNvSpPr>
          <p:nvPr/>
        </p:nvSpPr>
        <p:spPr bwMode="auto">
          <a:xfrm>
            <a:off x="7630213" y="5736429"/>
            <a:ext cx="153272" cy="331683"/>
          </a:xfrm>
          <a:prstGeom prst="straightConnector1">
            <a:avLst/>
          </a:prstGeom>
          <a:noFill/>
          <a:ln w="19050">
            <a:solidFill>
              <a:srgbClr val="000000"/>
            </a:solidFill>
            <a:round/>
            <a:tailEnd type="none"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17" name="TextBox 116"/>
          <p:cNvSpPr txBox="1"/>
          <p:nvPr/>
        </p:nvSpPr>
        <p:spPr>
          <a:xfrm>
            <a:off x="357158" y="142852"/>
            <a:ext cx="1928826" cy="400110"/>
          </a:xfrm>
          <a:prstGeom prst="rect">
            <a:avLst/>
          </a:prstGeom>
          <a:noFill/>
        </p:spPr>
        <p:txBody>
          <a:bodyPr wrap="square" rtlCol="0">
            <a:spAutoFit/>
          </a:bodyPr>
          <a:lstStyle/>
          <a:p>
            <a:pPr algn="l"/>
            <a:r>
              <a:rPr lang="zh-CN" altLang="zh-CN" sz="2000" b="1" smtClean="0">
                <a:solidFill>
                  <a:srgbClr val="0000FF"/>
                </a:solidFill>
                <a:ea typeface="仿宋" panose="02010609060101010101" pitchFamily="49" charset="-122"/>
                <a:cs typeface="Times New Roman" panose="02020603050405020304" pitchFamily="18" charset="0"/>
              </a:rPr>
              <a:t>插入关键字</a:t>
            </a:r>
            <a:r>
              <a:rPr lang="en-US" altLang="zh-CN" sz="2000" b="1" smtClean="0">
                <a:solidFill>
                  <a:srgbClr val="0000FF"/>
                </a:solidFill>
                <a:ea typeface="仿宋" panose="02010609060101010101" pitchFamily="49" charset="-122"/>
                <a:cs typeface="Times New Roman" panose="02020603050405020304" pitchFamily="18" charset="0"/>
              </a:rPr>
              <a:t>4</a:t>
            </a:r>
            <a:endParaRPr lang="zh-CN" altLang="en-US" sz="2000" b="1" smtClean="0">
              <a:solidFill>
                <a:srgbClr val="0000FF"/>
              </a:solidFill>
              <a:ea typeface="仿宋" panose="02010609060101010101" pitchFamily="49" charset="-122"/>
              <a:cs typeface="Times New Roman" panose="02020603050405020304" pitchFamily="18" charset="0"/>
            </a:endParaRPr>
          </a:p>
        </p:txBody>
      </p:sp>
      <p:sp>
        <p:nvSpPr>
          <p:cNvPr id="118" name="AutoShape 43"/>
          <p:cNvSpPr>
            <a:spLocks noChangeShapeType="1"/>
          </p:cNvSpPr>
          <p:nvPr/>
        </p:nvSpPr>
        <p:spPr bwMode="auto">
          <a:xfrm>
            <a:off x="2357422" y="2214554"/>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19" name="AutoShape 43"/>
          <p:cNvSpPr>
            <a:spLocks noChangeShapeType="1"/>
          </p:cNvSpPr>
          <p:nvPr/>
        </p:nvSpPr>
        <p:spPr bwMode="auto">
          <a:xfrm>
            <a:off x="4714876" y="5429264"/>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20" name="AutoShape 43"/>
          <p:cNvSpPr>
            <a:spLocks noChangeShapeType="1"/>
          </p:cNvSpPr>
          <p:nvPr/>
        </p:nvSpPr>
        <p:spPr bwMode="auto">
          <a:xfrm>
            <a:off x="928662" y="5357826"/>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21" name="AutoShape 43"/>
          <p:cNvSpPr>
            <a:spLocks noChangeShapeType="1"/>
          </p:cNvSpPr>
          <p:nvPr/>
        </p:nvSpPr>
        <p:spPr bwMode="auto">
          <a:xfrm>
            <a:off x="5716044" y="2285992"/>
            <a:ext cx="817570" cy="1075"/>
          </a:xfrm>
          <a:prstGeom prst="straightConnector1">
            <a:avLst/>
          </a:prstGeom>
          <a:noFill/>
          <a:ln w="38100">
            <a:solidFill>
              <a:srgbClr val="000000"/>
            </a:solidFill>
            <a:round/>
            <a:headEnd type="none" w="med" len="med"/>
            <a:tailEnd type="arrow" w="sm" len="sm"/>
          </a:ln>
        </p:spPr>
        <p:txBody>
          <a:bodyPr vert="horz" wrap="square" lIns="91440" tIns="45720" rIns="91440" bIns="45720" numCol="1" anchor="t" anchorCtr="0" compatLnSpc="1"/>
          <a:lstStyle/>
          <a:p>
            <a:pPr>
              <a:lnSpc>
                <a:spcPts val="2000"/>
              </a:lnSpc>
            </a:pPr>
            <a:endParaRPr lang="zh-CN" altLang="en-US" sz="1800">
              <a:solidFill>
                <a:srgbClr val="0000FF"/>
              </a:solidFill>
              <a:ea typeface="仿宋" panose="02010609060101010101" pitchFamily="49" charset="-122"/>
              <a:cs typeface="Times New Roman" panose="02020603050405020304" pitchFamily="18" charset="0"/>
            </a:endParaRPr>
          </a:p>
        </p:txBody>
      </p:sp>
      <p:sp>
        <p:nvSpPr>
          <p:cNvPr id="122" name="灯片编号占位符 121"/>
          <p:cNvSpPr>
            <a:spLocks noGrp="1"/>
          </p:cNvSpPr>
          <p:nvPr>
            <p:ph type="sldNum" sz="quarter" idx="12"/>
          </p:nvPr>
        </p:nvSpPr>
        <p:spPr/>
        <p:txBody>
          <a:bodyPr/>
          <a:lstStyle/>
          <a:p>
            <a:pPr>
              <a:defRPr/>
            </a:pPr>
            <a:fld id="{94984E60-CADE-4266-8DC7-A91C528B8A31}" type="slidenum">
              <a:rPr lang="en-US" altLang="zh-CN" smtClean="0"/>
            </a:fld>
            <a:r>
              <a:rPr lang="en-US" altLang="zh-CN" smtClean="0"/>
              <a:t>/13</a:t>
            </a:r>
            <a:endParaRPr lang="en-US" altLang="zh-CN"/>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428736"/>
            <a:ext cx="8143932" cy="10156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条性质</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如果一个结点是红色，则它的所有孩子结点为黑色</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latin typeface="Consolas" panose="020B0609020204030204" pitchFamily="49" charset="0"/>
                <a:cs typeface="Consolas" panose="020B0609020204030204" pitchFamily="49" charset="0"/>
                <a:sym typeface="Wingdings" panose="05000000000000000000"/>
              </a:rPr>
              <a:t>  </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任何一条路径上不能有两个相邻的红色结点，这样最短的可能路径均由黑色结点构成，最长的可能路径由交替的红色和黑色结点构成</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928662" y="357166"/>
            <a:ext cx="6000792" cy="40011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zh-CN"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红黑树</a:t>
            </a:r>
            <a:r>
              <a:rPr lang="zh-CN" altLang="en-US"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是一种弱平衡二叉树，查找性能为</a:t>
            </a:r>
            <a:r>
              <a:rPr lang="en-US"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O(log</a:t>
            </a:r>
            <a:r>
              <a:rPr lang="en-US" altLang="zh-CN" sz="2000" b="1" baseline="-25000" smtClean="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i="1" smtClean="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smtClean="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下箭头 4"/>
          <p:cNvSpPr/>
          <p:nvPr/>
        </p:nvSpPr>
        <p:spPr>
          <a:xfrm>
            <a:off x="3857620" y="400050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TextBox 5"/>
          <p:cNvSpPr txBox="1"/>
          <p:nvPr/>
        </p:nvSpPr>
        <p:spPr>
          <a:xfrm>
            <a:off x="571472" y="3078304"/>
            <a:ext cx="8143932" cy="7078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pP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条性质</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结点出发的所有路径上包含相同个数的黑色结点</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2000" b="1" smtClean="0">
                <a:solidFill>
                  <a:schemeClr val="tx1"/>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所有最长的路径都有相同个数的黑色结点</a:t>
            </a:r>
            <a:r>
              <a:rPr lang="zh-CN" altLang="en-US" sz="2000" b="1"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b="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786182" y="2500306"/>
            <a:ext cx="500066" cy="523220"/>
          </a:xfrm>
          <a:prstGeom prst="rect">
            <a:avLst/>
          </a:prstGeom>
          <a:noFill/>
        </p:spPr>
        <p:txBody>
          <a:bodyPr wrap="square" rtlCol="0">
            <a:spAutoFit/>
          </a:bodyPr>
          <a:lstStyle/>
          <a:p>
            <a:pPr algn="l"/>
            <a:r>
              <a:rPr lang="en-US" altLang="zh-CN"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571472" y="4572008"/>
            <a:ext cx="8358246" cy="1218383"/>
          </a:xfrm>
          <a:prstGeom prst="rect">
            <a:avLst/>
          </a:prstGeom>
          <a:solidFill>
            <a:schemeClr val="accent6">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lIns="144000" tIns="108000" bIns="108000" rtlCol="0">
            <a:spAutoFit/>
          </a:bodyPr>
          <a:lstStyle/>
          <a:p>
            <a:pPr marL="457200" indent="-457200" algn="l">
              <a:lnSpc>
                <a:spcPct val="100000"/>
              </a:lnSpc>
              <a:spcBef>
                <a:spcPts val="600"/>
              </a:spcBef>
              <a:buBlip>
                <a:blip r:embed="rId1"/>
              </a:buBlip>
            </a:pP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从根结点到叶子结点的最长路径的长度不大于最短路径长度的两倍。</a:t>
            </a:r>
            <a:endPar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marL="457200" indent="-457200" algn="l">
              <a:lnSpc>
                <a:spcPct val="100000"/>
              </a:lnSpc>
              <a:spcBef>
                <a:spcPts val="600"/>
              </a:spcBef>
              <a:buBlip>
                <a:blip r:embed="rId1"/>
              </a:buBlip>
            </a:pP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含</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个结点的红黑树的高度至多为</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2log</a:t>
            </a:r>
            <a:r>
              <a:rPr lang="en-US" altLang="zh-CN" sz="2000" b="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，因此红黑树查找算法的平均时间复杂度为</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O(log</a:t>
            </a:r>
            <a:r>
              <a:rPr lang="en-US" altLang="zh-CN" sz="2000" b="1"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b="1"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b="1"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b="1"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378621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9.3.3* STL</a:t>
            </a:r>
            <a:r>
              <a:rPr lang="zh-CN" altLang="en-US" smtClean="0">
                <a:latin typeface="Consolas" panose="020B0609020204030204" pitchFamily="49" charset="0"/>
                <a:ea typeface="微软雅黑" panose="020B0503020204020204" pitchFamily="34" charset="-122"/>
                <a:cs typeface="Consolas" panose="020B0609020204030204" pitchFamily="49" charset="0"/>
              </a:rPr>
              <a:t>中的关联容器</a:t>
            </a:r>
            <a:endParaRPr lang="zh-CN" altLang="zh-CN" smtClean="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500034" y="1357298"/>
            <a:ext cx="8143932" cy="41802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所谓关联容器就是容器中每个元素有一个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（关键字），通过</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来存储和读取元素。</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STL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中的关联容器有集合（</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）和映射（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）两类，均采用红黑树组织数据</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红黑树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一种弱平衡二叉树，在维护平衡的成本上比</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AVL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树低，插入和删除等操作都比较稳定。</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由于树结构中没有位置的概念，所以关联容器没有提供顺序容器中的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front()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push_front()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back()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push_back()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以及</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pop_back()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操作。</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428604"/>
            <a:ext cx="62865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smtClean="0">
                <a:latin typeface="Consolas" panose="020B0609020204030204" pitchFamily="49" charset="0"/>
                <a:ea typeface="微软雅黑" panose="020B0503020204020204" pitchFamily="34" charset="-122"/>
                <a:cs typeface="Consolas" panose="020B0609020204030204" pitchFamily="49" charset="0"/>
              </a:rPr>
              <a:t>1. set</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（集合容器）</a:t>
            </a:r>
            <a:r>
              <a:rPr lang="pt-BR" altLang="zh-CN" sz="2200" smtClean="0">
                <a:latin typeface="Consolas" panose="020B0609020204030204" pitchFamily="49" charset="0"/>
                <a:ea typeface="微软雅黑" panose="020B0503020204020204" pitchFamily="34" charset="-122"/>
                <a:cs typeface="Consolas" panose="020B0609020204030204" pitchFamily="49" charset="0"/>
              </a:rPr>
              <a:t>/multiset</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（多重集容器）</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500034" y="1428736"/>
            <a:ext cx="8215370" cy="2333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3000"/>
              </a:lnSpc>
              <a:spcBef>
                <a:spcPts val="12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multiset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都是集合类模板，其元素值称为关键字。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中元素的关键字是唯一的，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multiset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中元素的关键字可以不唯一，而且默认情况下会对元素按关键字自动进行升序排列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查找速度比较快</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，同时支持集合的交、差和并等一些集合上的运算。</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2857488" y="3929066"/>
            <a:ext cx="1838325" cy="1781175"/>
          </a:xfrm>
          <a:prstGeom prst="rect">
            <a:avLst/>
          </a:prstGeom>
          <a:noFill/>
          <a:ln w="9525">
            <a:noFill/>
            <a:miter lim="800000"/>
            <a:headEnd/>
            <a:tailEnd/>
          </a:ln>
        </p:spPr>
      </p:pic>
      <p:sp>
        <p:nvSpPr>
          <p:cNvPr id="9" name="TextBox 8"/>
          <p:cNvSpPr txBox="1"/>
          <p:nvPr/>
        </p:nvSpPr>
        <p:spPr>
          <a:xfrm>
            <a:off x="3500430" y="5786454"/>
            <a:ext cx="8572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rPr>
              <a:t>自学</a:t>
            </a:r>
            <a:endPar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650085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smtClean="0">
                <a:latin typeface="Consolas" panose="020B0609020204030204" pitchFamily="49" charset="0"/>
                <a:ea typeface="微软雅黑" panose="020B0503020204020204" pitchFamily="34" charset="-122"/>
                <a:cs typeface="Consolas" panose="020B0609020204030204" pitchFamily="49" charset="0"/>
              </a:rPr>
              <a:t>2. </a:t>
            </a:r>
            <a:r>
              <a:rPr lang="en-US" altLang="zh-CN" sz="2200" smtClean="0">
                <a:latin typeface="Consolas" panose="020B0609020204030204" pitchFamily="49" charset="0"/>
                <a:ea typeface="微软雅黑" panose="020B0503020204020204" pitchFamily="34" charset="-122"/>
                <a:cs typeface="Consolas" panose="020B0609020204030204" pitchFamily="49" charset="0"/>
              </a:rPr>
              <a:t>map</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（映射容器）</a:t>
            </a:r>
            <a:r>
              <a:rPr lang="en-US" altLang="zh-CN" sz="2200" smtClean="0">
                <a:latin typeface="Consolas" panose="020B0609020204030204" pitchFamily="49" charset="0"/>
                <a:ea typeface="微软雅黑" panose="020B0503020204020204" pitchFamily="34" charset="-122"/>
                <a:cs typeface="Consolas" panose="020B0609020204030204" pitchFamily="49" charset="0"/>
              </a:rPr>
              <a:t>/multimap</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（多重映射容器）</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00034" y="928670"/>
            <a:ext cx="8001056" cy="193383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multimap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都是映射类模板。</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映射是指元素类型为（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value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为关键字，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value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是对应的值，可以使用关键字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来访问相应的值</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value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map/multimap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value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是一个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pair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结构类型。</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500166" y="3143248"/>
            <a:ext cx="4572032" cy="15239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pair</a:t>
            </a:r>
            <a:endParaRPr lang="zh-CN"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T1 first;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关键字</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   T2 second;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值</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2"/>
          <p:cNvPicPr>
            <a:picLocks noChangeAspect="1" noChangeArrowheads="1"/>
          </p:cNvPicPr>
          <p:nvPr/>
        </p:nvPicPr>
        <p:blipFill>
          <a:blip r:embed="rId2" cstate="print"/>
          <a:srcRect/>
          <a:stretch>
            <a:fillRect/>
          </a:stretch>
        </p:blipFill>
        <p:spPr bwMode="auto">
          <a:xfrm>
            <a:off x="2714612" y="4862535"/>
            <a:ext cx="1838325" cy="1781175"/>
          </a:xfrm>
          <a:prstGeom prst="rect">
            <a:avLst/>
          </a:prstGeom>
          <a:noFill/>
          <a:ln w="9525">
            <a:noFill/>
            <a:miter lim="800000"/>
            <a:headEnd/>
            <a:tailEnd/>
          </a:ln>
        </p:spPr>
      </p:pic>
      <p:sp>
        <p:nvSpPr>
          <p:cNvPr id="9" name="TextBox 8"/>
          <p:cNvSpPr txBox="1"/>
          <p:nvPr/>
        </p:nvSpPr>
        <p:spPr>
          <a:xfrm>
            <a:off x="4500562" y="5576915"/>
            <a:ext cx="8572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rPr>
              <a:t>自学</a:t>
            </a:r>
            <a:endPar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285720" y="1714488"/>
            <a:ext cx="385765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9.4.1 </a:t>
            </a:r>
            <a:r>
              <a:rPr lang="zh-CN" altLang="zh-CN" smtClean="0">
                <a:latin typeface="Consolas" panose="020B0609020204030204" pitchFamily="49" charset="0"/>
                <a:ea typeface="微软雅黑" panose="020B0503020204020204" pitchFamily="34" charset="-122"/>
                <a:cs typeface="Consolas" panose="020B0609020204030204" pitchFamily="49" charset="0"/>
              </a:rPr>
              <a:t>哈希表的基本概念</a:t>
            </a:r>
            <a:endParaRPr lang="zh-CN" altLang="zh-CN">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2143108" y="642918"/>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9.4  </a:t>
            </a:r>
            <a:r>
              <a:rPr lang="zh-CN" altLang="zh-CN" sz="28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哈希表查找</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1000100" y="3071810"/>
            <a:ext cx="7215238" cy="2323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设要存储的元素个数为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，设置一个长度为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）的连续内存单元</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以每个元素的关键字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）为自变量，通过一个</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哈希函数</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把</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映射为内存单元的地址（或相对地址）</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并把该元素存储在这个内存单元中。</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1000100" y="2500306"/>
            <a:ext cx="107157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楷体" panose="02010609060101010101" pitchFamily="49" charset="-122"/>
                <a:ea typeface="楷体" panose="02010609060101010101" pitchFamily="49" charset="-122"/>
              </a:rPr>
              <a:t>哈希表</a:t>
            </a:r>
            <a:endParaRPr lang="zh-CN" altLang="en-US" sz="2000" spc="50" smtClean="0">
              <a:ln w="11430"/>
              <a:solidFill>
                <a:srgbClr val="FF0000"/>
              </a:solidFill>
              <a:effectLst>
                <a:outerShdw blurRad="76200" dist="50800" dir="5400000" algn="tl" rotWithShape="0">
                  <a:srgbClr val="000000">
                    <a:alpha val="65000"/>
                  </a:srgbClr>
                </a:outerShdw>
              </a:effectLst>
              <a:latin typeface="楷体" panose="02010609060101010101" pitchFamily="49" charset="-122"/>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2"/>
          <p:cNvSpPr>
            <a:spLocks noChangeArrowheads="1"/>
          </p:cNvSpPr>
          <p:nvPr/>
        </p:nvSpPr>
        <p:spPr bwMode="auto">
          <a:xfrm>
            <a:off x="960454" y="1990276"/>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18" name="Oval 3"/>
          <p:cNvSpPr>
            <a:spLocks noChangeArrowheads="1"/>
          </p:cNvSpPr>
          <p:nvPr/>
        </p:nvSpPr>
        <p:spPr bwMode="auto">
          <a:xfrm>
            <a:off x="1247604" y="2206176"/>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19" name="Oval 4"/>
          <p:cNvSpPr>
            <a:spLocks noChangeArrowheads="1"/>
          </p:cNvSpPr>
          <p:nvPr/>
        </p:nvSpPr>
        <p:spPr bwMode="auto">
          <a:xfrm>
            <a:off x="1392254" y="2533496"/>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0" name="Oval 5"/>
          <p:cNvSpPr>
            <a:spLocks noChangeArrowheads="1"/>
          </p:cNvSpPr>
          <p:nvPr/>
        </p:nvSpPr>
        <p:spPr bwMode="auto">
          <a:xfrm>
            <a:off x="1679591" y="1917251"/>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1" name="Oval 6"/>
          <p:cNvSpPr>
            <a:spLocks noChangeArrowheads="1"/>
          </p:cNvSpPr>
          <p:nvPr/>
        </p:nvSpPr>
        <p:spPr bwMode="auto">
          <a:xfrm>
            <a:off x="960454" y="2782439"/>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2" name="Oval 7"/>
          <p:cNvSpPr>
            <a:spLocks noChangeArrowheads="1"/>
          </p:cNvSpPr>
          <p:nvPr/>
        </p:nvSpPr>
        <p:spPr bwMode="auto">
          <a:xfrm>
            <a:off x="1752616" y="2709414"/>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3" name="Oval 8"/>
          <p:cNvSpPr>
            <a:spLocks noChangeArrowheads="1"/>
          </p:cNvSpPr>
          <p:nvPr/>
        </p:nvSpPr>
        <p:spPr bwMode="auto">
          <a:xfrm>
            <a:off x="2112979" y="2350639"/>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4" name="Oval 9"/>
          <p:cNvSpPr>
            <a:spLocks noChangeArrowheads="1"/>
          </p:cNvSpPr>
          <p:nvPr/>
        </p:nvSpPr>
        <p:spPr bwMode="auto">
          <a:xfrm>
            <a:off x="1608154" y="3142801"/>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5" name="Oval 10"/>
          <p:cNvSpPr>
            <a:spLocks noChangeArrowheads="1"/>
          </p:cNvSpPr>
          <p:nvPr/>
        </p:nvSpPr>
        <p:spPr bwMode="auto">
          <a:xfrm>
            <a:off x="2184416" y="1990276"/>
            <a:ext cx="324000" cy="324000"/>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spAutoFit/>
          </a:bodyPr>
          <a:lstStyle/>
          <a:p>
            <a:pPr algn="l"/>
            <a:endParaRPr lang="zh-CN" altLang="en-US" sz="1800"/>
          </a:p>
        </p:txBody>
      </p:sp>
      <p:sp>
        <p:nvSpPr>
          <p:cNvPr id="26" name="AutoShape 11"/>
          <p:cNvSpPr>
            <a:spLocks noChangeArrowheads="1"/>
          </p:cNvSpPr>
          <p:nvPr/>
        </p:nvSpPr>
        <p:spPr bwMode="auto">
          <a:xfrm>
            <a:off x="2832116" y="2786469"/>
            <a:ext cx="1597008" cy="185723"/>
          </a:xfrm>
          <a:prstGeom prst="rightArrow">
            <a:avLst>
              <a:gd name="adj1" fmla="val 50000"/>
              <a:gd name="adj2" fmla="val 149890"/>
            </a:avLst>
          </a:prstGeom>
        </p:spPr>
        <p:style>
          <a:lnRef idx="1">
            <a:schemeClr val="accent2"/>
          </a:lnRef>
          <a:fillRef idx="3">
            <a:schemeClr val="accent2"/>
          </a:fillRef>
          <a:effectRef idx="2">
            <a:schemeClr val="accent2"/>
          </a:effectRef>
          <a:fontRef idx="minor">
            <a:schemeClr val="lt1"/>
          </a:fontRef>
        </p:style>
        <p:txBody>
          <a:bodyPr wrap="none" anchor="ctr">
            <a:noAutofit/>
          </a:bodyPr>
          <a:lstStyle/>
          <a:p>
            <a:pPr algn="l"/>
            <a:endParaRPr lang="zh-CN" altLang="en-US" sz="1800"/>
          </a:p>
        </p:txBody>
      </p:sp>
      <p:sp>
        <p:nvSpPr>
          <p:cNvPr id="27" name="Text Box 12"/>
          <p:cNvSpPr txBox="1">
            <a:spLocks noChangeArrowheads="1"/>
          </p:cNvSpPr>
          <p:nvPr/>
        </p:nvSpPr>
        <p:spPr bwMode="auto">
          <a:xfrm>
            <a:off x="2857488" y="2329250"/>
            <a:ext cx="2016125" cy="338554"/>
          </a:xfrm>
          <a:prstGeom prst="rect">
            <a:avLst/>
          </a:prstGeom>
          <a:noFill/>
          <a:ln w="9525">
            <a:noFill/>
            <a:miter lim="800000"/>
          </a:ln>
        </p:spPr>
        <p:txBody>
          <a:bodyPr>
            <a:spAutoFit/>
          </a:bodyPr>
          <a:lstStyle/>
          <a:p>
            <a:pPr algn="l">
              <a:spcBef>
                <a:spcPct val="5000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哈希函数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20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AutoShape 13"/>
          <p:cNvSpPr>
            <a:spLocks noChangeAspect="1" noChangeArrowheads="1"/>
          </p:cNvSpPr>
          <p:nvPr/>
        </p:nvSpPr>
        <p:spPr bwMode="auto">
          <a:xfrm>
            <a:off x="5280041" y="2377162"/>
            <a:ext cx="1649413" cy="1159409"/>
          </a:xfrm>
          <a:prstGeom prst="cube">
            <a:avLst>
              <a:gd name="adj" fmla="val 25000"/>
            </a:avLst>
          </a:prstGeom>
        </p:spPr>
        <p:style>
          <a:lnRef idx="1">
            <a:schemeClr val="accent2"/>
          </a:lnRef>
          <a:fillRef idx="2">
            <a:schemeClr val="accent2"/>
          </a:fillRef>
          <a:effectRef idx="1">
            <a:schemeClr val="accent2"/>
          </a:effectRef>
          <a:fontRef idx="minor">
            <a:schemeClr val="dk1"/>
          </a:fontRef>
        </p:style>
        <p:txBody>
          <a:bodyPr wrap="square" tIns="144000" bIns="144000" anchor="ctr">
            <a:spAutoFit/>
          </a:bodyPr>
          <a:lstStyle/>
          <a:p>
            <a:r>
              <a:rPr lang="zh-CN" altLang="en-US" sz="180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存储</a:t>
            </a:r>
            <a:endParaRPr lang="en-US" altLang="zh-CN" sz="1800" smtClean="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a:p>
            <a:r>
              <a:rPr lang="zh-CN" altLang="en-US" sz="180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空间</a:t>
            </a:r>
            <a:endParaRPr lang="zh-CN" altLang="en-US" sz="180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9" name="Text Box 14"/>
          <p:cNvSpPr txBox="1">
            <a:spLocks noChangeArrowheads="1"/>
          </p:cNvSpPr>
          <p:nvPr/>
        </p:nvSpPr>
        <p:spPr bwMode="auto">
          <a:xfrm>
            <a:off x="2622554" y="3257944"/>
            <a:ext cx="2592388" cy="338554"/>
          </a:xfrm>
          <a:prstGeom prst="rect">
            <a:avLst/>
          </a:prstGeom>
          <a:noFill/>
          <a:ln w="9525">
            <a:noFill/>
            <a:miter lim="800000"/>
          </a:ln>
        </p:spPr>
        <p:txBody>
          <a:bodyPr>
            <a:spAutoFit/>
          </a:bodyPr>
          <a:lstStyle/>
          <a:p>
            <a:pPr algn="l">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存储地址</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(key)</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857224" y="900490"/>
            <a:ext cx="2214578" cy="338554"/>
          </a:xfrm>
          <a:prstGeom prst="rect">
            <a:avLst/>
          </a:prstGeom>
          <a:noFill/>
        </p:spPr>
        <p:txBody>
          <a:bodyPr wrap="square" rtlCol="0">
            <a:spAutoFit/>
          </a:bodyPr>
          <a:lstStyle/>
          <a:p>
            <a:pPr algn="l"/>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个元素（对象）</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4500562" y="1043366"/>
            <a:ext cx="3429024" cy="338554"/>
          </a:xfrm>
          <a:prstGeom prst="rect">
            <a:avLst/>
          </a:prstGeom>
          <a:noFill/>
        </p:spPr>
        <p:txBody>
          <a:bodyPr wrap="square" rtlCol="0">
            <a:spAutoFit/>
          </a:bodyPr>
          <a:lstStyle/>
          <a:p>
            <a:pPr algn="l"/>
            <a:r>
              <a:rPr kumimoji="1"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err="1" smtClean="0">
                <a:solidFill>
                  <a:srgbClr val="0000FF"/>
                </a:solidFill>
                <a:latin typeface="+mj-ea"/>
                <a:ea typeface="+mj-ea"/>
                <a:cs typeface="Consolas" panose="020B0609020204030204" pitchFamily="49" charset="0"/>
              </a:rPr>
              <a:t>≥</a:t>
            </a:r>
            <a:r>
              <a:rPr kumimoji="1" lang="en-US" altLang="zh-CN" sz="2000" i="1" dirty="0" err="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）的连续内存单元</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2" name="直接箭头连接符 31"/>
          <p:cNvCxnSpPr/>
          <p:nvPr/>
        </p:nvCxnSpPr>
        <p:spPr>
          <a:xfrm rot="5400000">
            <a:off x="1442421" y="1486480"/>
            <a:ext cx="544117" cy="0"/>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rot="5400000">
            <a:off x="5915857" y="1814131"/>
            <a:ext cx="600022" cy="1588"/>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40" name="灯片编号占位符 3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285720" y="1357298"/>
          <a:ext cx="2883214" cy="2926080"/>
        </p:xfrm>
        <a:graphic>
          <a:graphicData uri="http://schemas.openxmlformats.org/drawingml/2006/table">
            <a:tbl>
              <a:tblPr/>
              <a:tblGrid>
                <a:gridCol w="935096"/>
                <a:gridCol w="1071465"/>
                <a:gridCol w="876653"/>
              </a:tblGrid>
              <a:tr h="0">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81" name="Rectangle 5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79" name="Rectangle 55"/>
          <p:cNvSpPr>
            <a:spLocks noChangeArrowheads="1"/>
          </p:cNvSpPr>
          <p:nvPr/>
        </p:nvSpPr>
        <p:spPr bwMode="auto">
          <a:xfrm>
            <a:off x="6218920"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8" name="Rectangle 54"/>
          <p:cNvSpPr>
            <a:spLocks noChangeArrowheads="1"/>
          </p:cNvSpPr>
          <p:nvPr/>
        </p:nvSpPr>
        <p:spPr bwMode="auto">
          <a:xfrm>
            <a:off x="7003456"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姓名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7" name="Rectangle 53"/>
          <p:cNvSpPr>
            <a:spLocks noChangeArrowheads="1"/>
          </p:cNvSpPr>
          <p:nvPr/>
        </p:nvSpPr>
        <p:spPr bwMode="auto">
          <a:xfrm>
            <a:off x="7787992"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分数</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6" name="Rectangle 52"/>
          <p:cNvSpPr>
            <a:spLocks noChangeArrowheads="1"/>
          </p:cNvSpPr>
          <p:nvPr/>
        </p:nvSpPr>
        <p:spPr bwMode="auto">
          <a:xfrm>
            <a:off x="5077194" y="714356"/>
            <a:ext cx="998850"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哈希地址</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5" name="Rectangle 51"/>
          <p:cNvSpPr>
            <a:spLocks noChangeArrowheads="1"/>
          </p:cNvSpPr>
          <p:nvPr/>
        </p:nvSpPr>
        <p:spPr bwMode="auto">
          <a:xfrm>
            <a:off x="6077326" y="1046560"/>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4" name="Rectangle 50"/>
          <p:cNvSpPr>
            <a:spLocks noChangeArrowheads="1"/>
          </p:cNvSpPr>
          <p:nvPr/>
        </p:nvSpPr>
        <p:spPr bwMode="auto">
          <a:xfrm>
            <a:off x="7000380" y="1046560"/>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3" name="Rectangle 49"/>
          <p:cNvSpPr>
            <a:spLocks noChangeArrowheads="1"/>
          </p:cNvSpPr>
          <p:nvPr/>
        </p:nvSpPr>
        <p:spPr bwMode="auto">
          <a:xfrm>
            <a:off x="7784916" y="1046560"/>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2" name="Rectangle 48"/>
          <p:cNvSpPr>
            <a:spLocks noChangeArrowheads="1"/>
          </p:cNvSpPr>
          <p:nvPr/>
        </p:nvSpPr>
        <p:spPr bwMode="auto">
          <a:xfrm>
            <a:off x="5448415" y="1046560"/>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1" name="Rectangle 47"/>
          <p:cNvSpPr>
            <a:spLocks noChangeArrowheads="1"/>
          </p:cNvSpPr>
          <p:nvPr/>
        </p:nvSpPr>
        <p:spPr bwMode="auto">
          <a:xfrm>
            <a:off x="6077326" y="394780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70" name="Rectangle 46"/>
          <p:cNvSpPr>
            <a:spLocks noChangeArrowheads="1"/>
          </p:cNvSpPr>
          <p:nvPr/>
        </p:nvSpPr>
        <p:spPr bwMode="auto">
          <a:xfrm>
            <a:off x="7000380" y="394780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9" name="Rectangle 45"/>
          <p:cNvSpPr>
            <a:spLocks noChangeArrowheads="1"/>
          </p:cNvSpPr>
          <p:nvPr/>
        </p:nvSpPr>
        <p:spPr bwMode="auto">
          <a:xfrm>
            <a:off x="7784916" y="394780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8" name="Rectangle 44"/>
          <p:cNvSpPr>
            <a:spLocks noChangeArrowheads="1"/>
          </p:cNvSpPr>
          <p:nvPr/>
        </p:nvSpPr>
        <p:spPr bwMode="auto">
          <a:xfrm>
            <a:off x="5446364" y="394780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7" name="Rectangle 43"/>
          <p:cNvSpPr>
            <a:spLocks noChangeArrowheads="1"/>
          </p:cNvSpPr>
          <p:nvPr/>
        </p:nvSpPr>
        <p:spPr bwMode="auto">
          <a:xfrm>
            <a:off x="6077326" y="266240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6" name="Rectangle 42"/>
          <p:cNvSpPr>
            <a:spLocks noChangeArrowheads="1"/>
          </p:cNvSpPr>
          <p:nvPr/>
        </p:nvSpPr>
        <p:spPr bwMode="auto">
          <a:xfrm>
            <a:off x="7000380" y="266240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陈明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5" name="Rectangle 41"/>
          <p:cNvSpPr>
            <a:spLocks noChangeArrowheads="1"/>
          </p:cNvSpPr>
          <p:nvPr/>
        </p:nvSpPr>
        <p:spPr bwMode="auto">
          <a:xfrm>
            <a:off x="7784916" y="266240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4" name="Rectangle 40"/>
          <p:cNvSpPr>
            <a:spLocks noChangeArrowheads="1"/>
          </p:cNvSpPr>
          <p:nvPr/>
        </p:nvSpPr>
        <p:spPr bwMode="auto">
          <a:xfrm>
            <a:off x="5448415" y="266240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3" name="Rectangle 39"/>
          <p:cNvSpPr>
            <a:spLocks noChangeArrowheads="1"/>
          </p:cNvSpPr>
          <p:nvPr/>
        </p:nvSpPr>
        <p:spPr bwMode="auto">
          <a:xfrm>
            <a:off x="6077326" y="3628893"/>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2018009</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2" name="Rectangle 38"/>
          <p:cNvSpPr>
            <a:spLocks noChangeArrowheads="1"/>
          </p:cNvSpPr>
          <p:nvPr/>
        </p:nvSpPr>
        <p:spPr bwMode="auto">
          <a:xfrm>
            <a:off x="7000380" y="3628893"/>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张强</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1" name="Rectangle 37"/>
          <p:cNvSpPr>
            <a:spLocks noChangeArrowheads="1"/>
          </p:cNvSpPr>
          <p:nvPr/>
        </p:nvSpPr>
        <p:spPr bwMode="auto">
          <a:xfrm>
            <a:off x="7784916" y="3628893"/>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60" name="Rectangle 36"/>
          <p:cNvSpPr>
            <a:spLocks noChangeArrowheads="1"/>
          </p:cNvSpPr>
          <p:nvPr/>
        </p:nvSpPr>
        <p:spPr bwMode="auto">
          <a:xfrm>
            <a:off x="5446364" y="3628893"/>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9" name="Rectangle 35"/>
          <p:cNvSpPr>
            <a:spLocks noChangeArrowheads="1"/>
          </p:cNvSpPr>
          <p:nvPr/>
        </p:nvSpPr>
        <p:spPr bwMode="auto">
          <a:xfrm>
            <a:off x="6077326" y="298928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8" name="Rectangle 34"/>
          <p:cNvSpPr>
            <a:spLocks noChangeArrowheads="1"/>
          </p:cNvSpPr>
          <p:nvPr/>
        </p:nvSpPr>
        <p:spPr bwMode="auto">
          <a:xfrm>
            <a:off x="7000380" y="298928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许兵</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7" name="Rectangle 33"/>
          <p:cNvSpPr>
            <a:spLocks noChangeArrowheads="1"/>
          </p:cNvSpPr>
          <p:nvPr/>
        </p:nvSpPr>
        <p:spPr bwMode="auto">
          <a:xfrm>
            <a:off x="7784916" y="298928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6" name="Rectangle 32"/>
          <p:cNvSpPr>
            <a:spLocks noChangeArrowheads="1"/>
          </p:cNvSpPr>
          <p:nvPr/>
        </p:nvSpPr>
        <p:spPr bwMode="auto">
          <a:xfrm>
            <a:off x="5448415" y="298928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5" name="Rectangle 31"/>
          <p:cNvSpPr>
            <a:spLocks noChangeArrowheads="1"/>
          </p:cNvSpPr>
          <p:nvPr/>
        </p:nvSpPr>
        <p:spPr bwMode="auto">
          <a:xfrm>
            <a:off x="6077326" y="459892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 name="Rectangle 30"/>
          <p:cNvSpPr>
            <a:spLocks noChangeArrowheads="1"/>
          </p:cNvSpPr>
          <p:nvPr/>
        </p:nvSpPr>
        <p:spPr bwMode="auto">
          <a:xfrm>
            <a:off x="7000380" y="459892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李萍</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3" name="Rectangle 29"/>
          <p:cNvSpPr>
            <a:spLocks noChangeArrowheads="1"/>
          </p:cNvSpPr>
          <p:nvPr/>
        </p:nvSpPr>
        <p:spPr bwMode="auto">
          <a:xfrm>
            <a:off x="7784916" y="459892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2" name="Rectangle 28"/>
          <p:cNvSpPr>
            <a:spLocks noChangeArrowheads="1"/>
          </p:cNvSpPr>
          <p:nvPr/>
        </p:nvSpPr>
        <p:spPr bwMode="auto">
          <a:xfrm>
            <a:off x="5446364" y="459892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11</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1" name="Rectangle 27"/>
          <p:cNvSpPr>
            <a:spLocks noChangeArrowheads="1"/>
          </p:cNvSpPr>
          <p:nvPr/>
        </p:nvSpPr>
        <p:spPr bwMode="auto">
          <a:xfrm>
            <a:off x="6077326" y="2340827"/>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0" name="Rectangle 26"/>
          <p:cNvSpPr>
            <a:spLocks noChangeArrowheads="1"/>
          </p:cNvSpPr>
          <p:nvPr/>
        </p:nvSpPr>
        <p:spPr bwMode="auto">
          <a:xfrm>
            <a:off x="7000380" y="2340827"/>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9" name="Rectangle 25"/>
          <p:cNvSpPr>
            <a:spLocks noChangeArrowheads="1"/>
          </p:cNvSpPr>
          <p:nvPr/>
        </p:nvSpPr>
        <p:spPr bwMode="auto">
          <a:xfrm>
            <a:off x="7784916" y="2340827"/>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8" name="Rectangle 24"/>
          <p:cNvSpPr>
            <a:spLocks noChangeArrowheads="1"/>
          </p:cNvSpPr>
          <p:nvPr/>
        </p:nvSpPr>
        <p:spPr bwMode="auto">
          <a:xfrm>
            <a:off x="5448415" y="2340827"/>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7" name="Rectangle 23"/>
          <p:cNvSpPr>
            <a:spLocks noChangeArrowheads="1"/>
          </p:cNvSpPr>
          <p:nvPr/>
        </p:nvSpPr>
        <p:spPr bwMode="auto">
          <a:xfrm>
            <a:off x="6077326" y="137079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6" name="Rectangle 22"/>
          <p:cNvSpPr>
            <a:spLocks noChangeArrowheads="1"/>
          </p:cNvSpPr>
          <p:nvPr/>
        </p:nvSpPr>
        <p:spPr bwMode="auto">
          <a:xfrm>
            <a:off x="7000380" y="137079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5" name="Rectangle 21"/>
          <p:cNvSpPr>
            <a:spLocks noChangeArrowheads="1"/>
          </p:cNvSpPr>
          <p:nvPr/>
        </p:nvSpPr>
        <p:spPr bwMode="auto">
          <a:xfrm>
            <a:off x="7784916" y="137079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4" name="Rectangle 20"/>
          <p:cNvSpPr>
            <a:spLocks noChangeArrowheads="1"/>
          </p:cNvSpPr>
          <p:nvPr/>
        </p:nvSpPr>
        <p:spPr bwMode="auto">
          <a:xfrm>
            <a:off x="5445339" y="137079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3" name="Rectangle 19"/>
          <p:cNvSpPr>
            <a:spLocks noChangeArrowheads="1"/>
          </p:cNvSpPr>
          <p:nvPr/>
        </p:nvSpPr>
        <p:spPr bwMode="auto">
          <a:xfrm>
            <a:off x="6077326" y="1695022"/>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2" name="Rectangle 18"/>
          <p:cNvSpPr>
            <a:spLocks noChangeArrowheads="1"/>
          </p:cNvSpPr>
          <p:nvPr/>
        </p:nvSpPr>
        <p:spPr bwMode="auto">
          <a:xfrm>
            <a:off x="7000380" y="1695022"/>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1" name="Rectangle 17"/>
          <p:cNvSpPr>
            <a:spLocks noChangeArrowheads="1"/>
          </p:cNvSpPr>
          <p:nvPr/>
        </p:nvSpPr>
        <p:spPr bwMode="auto">
          <a:xfrm>
            <a:off x="7784916" y="1695022"/>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40" name="Rectangle 16"/>
          <p:cNvSpPr>
            <a:spLocks noChangeArrowheads="1"/>
          </p:cNvSpPr>
          <p:nvPr/>
        </p:nvSpPr>
        <p:spPr bwMode="auto">
          <a:xfrm>
            <a:off x="5451492" y="1695022"/>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9" name="Rectangle 15"/>
          <p:cNvSpPr>
            <a:spLocks noChangeArrowheads="1"/>
          </p:cNvSpPr>
          <p:nvPr/>
        </p:nvSpPr>
        <p:spPr bwMode="auto">
          <a:xfrm>
            <a:off x="6077326" y="202191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8" name="Rectangle 14"/>
          <p:cNvSpPr>
            <a:spLocks noChangeArrowheads="1"/>
          </p:cNvSpPr>
          <p:nvPr/>
        </p:nvSpPr>
        <p:spPr bwMode="auto">
          <a:xfrm>
            <a:off x="7000380" y="202191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7" name="Rectangle 13"/>
          <p:cNvSpPr>
            <a:spLocks noChangeArrowheads="1"/>
          </p:cNvSpPr>
          <p:nvPr/>
        </p:nvSpPr>
        <p:spPr bwMode="auto">
          <a:xfrm>
            <a:off x="7784916" y="202191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6" name="Rectangle 12"/>
          <p:cNvSpPr>
            <a:spLocks noChangeArrowheads="1"/>
          </p:cNvSpPr>
          <p:nvPr/>
        </p:nvSpPr>
        <p:spPr bwMode="auto">
          <a:xfrm>
            <a:off x="5451492" y="202191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5" name="Rectangle 11"/>
          <p:cNvSpPr>
            <a:spLocks noChangeArrowheads="1"/>
          </p:cNvSpPr>
          <p:nvPr/>
        </p:nvSpPr>
        <p:spPr bwMode="auto">
          <a:xfrm>
            <a:off x="6077326" y="3308205"/>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4" name="Rectangle 10"/>
          <p:cNvSpPr>
            <a:spLocks noChangeArrowheads="1"/>
          </p:cNvSpPr>
          <p:nvPr/>
        </p:nvSpPr>
        <p:spPr bwMode="auto">
          <a:xfrm>
            <a:off x="7000380" y="3308205"/>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3" name="Rectangle 9"/>
          <p:cNvSpPr>
            <a:spLocks noChangeArrowheads="1"/>
          </p:cNvSpPr>
          <p:nvPr/>
        </p:nvSpPr>
        <p:spPr bwMode="auto">
          <a:xfrm>
            <a:off x="7784916" y="3308205"/>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2" name="Rectangle 8"/>
          <p:cNvSpPr>
            <a:spLocks noChangeArrowheads="1"/>
          </p:cNvSpPr>
          <p:nvPr/>
        </p:nvSpPr>
        <p:spPr bwMode="auto">
          <a:xfrm>
            <a:off x="5463798" y="3308205"/>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1" name="Rectangle 7"/>
          <p:cNvSpPr>
            <a:spLocks noChangeArrowheads="1"/>
          </p:cNvSpPr>
          <p:nvPr/>
        </p:nvSpPr>
        <p:spPr bwMode="auto">
          <a:xfrm>
            <a:off x="6077326" y="427824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30" name="Rectangle 6"/>
          <p:cNvSpPr>
            <a:spLocks noChangeArrowheads="1"/>
          </p:cNvSpPr>
          <p:nvPr/>
        </p:nvSpPr>
        <p:spPr bwMode="auto">
          <a:xfrm>
            <a:off x="7000380" y="427824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9" name="Rectangle 5"/>
          <p:cNvSpPr>
            <a:spLocks noChangeArrowheads="1"/>
          </p:cNvSpPr>
          <p:nvPr/>
        </p:nvSpPr>
        <p:spPr bwMode="auto">
          <a:xfrm>
            <a:off x="7784916" y="427824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28" name="Rectangle 4"/>
          <p:cNvSpPr>
            <a:spLocks noChangeArrowheads="1"/>
          </p:cNvSpPr>
          <p:nvPr/>
        </p:nvSpPr>
        <p:spPr bwMode="auto">
          <a:xfrm>
            <a:off x="5460722" y="427824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 name="TextBox 60"/>
          <p:cNvSpPr txBox="1"/>
          <p:nvPr/>
        </p:nvSpPr>
        <p:spPr>
          <a:xfrm>
            <a:off x="3214678" y="2071678"/>
            <a:ext cx="2428892" cy="830997"/>
          </a:xfrm>
          <a:prstGeom prst="rect">
            <a:avLst/>
          </a:prstGeom>
          <a:noFill/>
        </p:spPr>
        <p:txBody>
          <a:bodyPr wrap="square" rtlCol="0">
            <a:spAutoFit/>
          </a:bodyPr>
          <a:lstStyle/>
          <a:p>
            <a:pPr algn="l">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endPar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学号</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学号</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altLang="en-US"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63" name="直接箭头连接符 62"/>
          <p:cNvCxnSpPr/>
          <p:nvPr/>
        </p:nvCxnSpPr>
        <p:spPr>
          <a:xfrm>
            <a:off x="3286116" y="3071810"/>
            <a:ext cx="2286016"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64" name="TextBox 63"/>
          <p:cNvSpPr txBox="1"/>
          <p:nvPr/>
        </p:nvSpPr>
        <p:spPr>
          <a:xfrm>
            <a:off x="857224" y="5286388"/>
            <a:ext cx="5357850" cy="12953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先计算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(2018010)=2018010-2018001=9</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再取</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ha[9]</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元素的分数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即可。</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对应的查找时间为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TextBox 64"/>
          <p:cNvSpPr txBox="1"/>
          <p:nvPr/>
        </p:nvSpPr>
        <p:spPr>
          <a:xfrm>
            <a:off x="6429388" y="273586"/>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ha</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TextBox 65"/>
          <p:cNvSpPr txBox="1"/>
          <p:nvPr/>
        </p:nvSpPr>
        <p:spPr>
          <a:xfrm>
            <a:off x="714348" y="4857760"/>
            <a:ext cx="421484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查找学号为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的学生分数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灯片编号占位符 7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571472" y="1000108"/>
            <a:ext cx="7500990" cy="187612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对于两个不同的关键字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j-ea"/>
                <a:ea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）出现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，这种现象称为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哈希冲突</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将具有不同关键字而具有相同哈希地址的元素称为“同义词</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，这种冲突也称为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同义词冲突</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000364" y="3671832"/>
            <a:ext cx="2928958" cy="400110"/>
          </a:xfrm>
          <a:prstGeom prst="rect">
            <a:avLst/>
          </a:prstGeom>
          <a:noFill/>
        </p:spPr>
        <p:txBody>
          <a:bodyPr wrap="square" rtlCol="0">
            <a:spAutoFit/>
          </a:bodyPr>
          <a:lstStyle/>
          <a:p>
            <a:pPr algn="l">
              <a:lnSpc>
                <a:spcPct val="100000"/>
              </a:lnSpc>
            </a:pPr>
            <a:r>
              <a:rPr lang="zh-CN" altLang="en-US" sz="2000" spc="300" smtClean="0">
                <a:solidFill>
                  <a:srgbClr val="0000FF"/>
                </a:solidFill>
                <a:latin typeface="华文中宋" panose="02010600040101010101" pitchFamily="2" charset="-122"/>
                <a:ea typeface="华文中宋" panose="02010600040101010101" pitchFamily="2" charset="-122"/>
              </a:rPr>
              <a:t>需要解决哈希</a:t>
            </a:r>
            <a:r>
              <a:rPr kumimoji="1" lang="zh-CN" altLang="en-US" sz="2000" spc="3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冲突</a:t>
            </a:r>
            <a:endParaRPr lang="zh-CN" altLang="en-US" sz="2000" spc="300">
              <a:solidFill>
                <a:srgbClr val="0000FF"/>
              </a:solidFill>
              <a:latin typeface="华文中宋" panose="02010600040101010101" pitchFamily="2" charset="-122"/>
              <a:ea typeface="华文中宋" panose="02010600040101010101" pitchFamily="2" charset="-122"/>
            </a:endParaRPr>
          </a:p>
        </p:txBody>
      </p:sp>
      <p:sp>
        <p:nvSpPr>
          <p:cNvPr id="7" name="上箭头 6"/>
          <p:cNvSpPr/>
          <p:nvPr/>
        </p:nvSpPr>
        <p:spPr>
          <a:xfrm>
            <a:off x="4000496" y="3028890"/>
            <a:ext cx="214314" cy="4286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4479634" y="-158954"/>
            <a:ext cx="184730" cy="317908"/>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sz="1800">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785794"/>
            <a:ext cx="385765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9.4.2 </a:t>
            </a:r>
            <a:r>
              <a:rPr lang="zh-CN" altLang="zh-CN" smtClean="0">
                <a:latin typeface="Consolas" panose="020B0609020204030204" pitchFamily="49" charset="0"/>
                <a:ea typeface="微软雅黑" panose="020B0503020204020204" pitchFamily="34" charset="-122"/>
                <a:cs typeface="Consolas" panose="020B0609020204030204" pitchFamily="49" charset="0"/>
              </a:rPr>
              <a:t>哈希函数构造方法</a:t>
            </a:r>
            <a:endParaRPr lang="zh-CN" altLang="zh-CN">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2"/>
          <p:cNvSpPr txBox="1">
            <a:spLocks noChangeArrowheads="1"/>
          </p:cNvSpPr>
          <p:nvPr/>
        </p:nvSpPr>
        <p:spPr bwMode="auto">
          <a:xfrm>
            <a:off x="785786" y="1785926"/>
            <a:ext cx="7715304" cy="221865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tIns="108000" bIns="108000">
            <a:spAutoFit/>
          </a:bodyPr>
          <a:lstStyle/>
          <a:p>
            <a:pPr marL="457200" indent="-457200" algn="l">
              <a:lnSpc>
                <a:spcPct val="15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构造</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哈希函数</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目标：使得</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到的哈希地址尽可能均匀地</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分布</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kumimoji="1"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连续内存单元地址</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上</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同时</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使计算过程尽可能简单以达到尽可能高的时间效率</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50000"/>
              </a:lnSpc>
              <a:spcBef>
                <a:spcPct val="500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根据关键字的结构和分布的不同，有多种构造哈希函数的方法。</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785786" y="1285860"/>
            <a:ext cx="7500990" cy="2852924"/>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44000" tIns="144000" bIns="144000">
            <a:spAutoFit/>
          </a:bodyPr>
          <a:lstStyle/>
          <a:p>
            <a:pPr marL="457200" indent="-457200" algn="l">
              <a:lnSpc>
                <a:spcPct val="15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以</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关键字</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本身或关键字加上某个数值常量</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作为哈希地址的</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方法</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+c</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5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这种</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哈希函数计算</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简单，并且</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不可能有冲突</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发生</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5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关键字的分布基本连续</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时，可用</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直接定址法的哈希函数；</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否则，若</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关键字分布不连续将造成内存单元的大量浪费。</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571480"/>
            <a:ext cx="228601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1.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直接定址法</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nvGraphicFramePr>
        <p:xfrm>
          <a:off x="285720" y="1357298"/>
          <a:ext cx="2883214" cy="2926080"/>
        </p:xfrm>
        <a:graphic>
          <a:graphicData uri="http://schemas.openxmlformats.org/drawingml/2006/table">
            <a:tbl>
              <a:tblPr/>
              <a:tblGrid>
                <a:gridCol w="935096"/>
                <a:gridCol w="1071465"/>
                <a:gridCol w="876653"/>
              </a:tblGrid>
              <a:tr h="0">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学号</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姓名</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lnSpc>
                          <a:spcPct val="150000"/>
                        </a:lnSpc>
                        <a:spcAft>
                          <a:spcPts val="0"/>
                        </a:spcAft>
                      </a:pPr>
                      <a:r>
                        <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rPr>
                        <a:t>分数</a:t>
                      </a:r>
                      <a:endParaRPr lang="zh-CN" sz="1600" b="1"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2018001</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王华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2018010</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刘丽</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62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陈明</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54</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2018009</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张强</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95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2018007</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许兵</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76</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2018012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李萍</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88</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2018005</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李英</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0" kern="100">
                          <a:solidFill>
                            <a:srgbClr val="0000FF"/>
                          </a:solidFill>
                          <a:latin typeface="Consolas" panose="020B0609020204030204" pitchFamily="49" charset="0"/>
                          <a:ea typeface="仿宋" panose="02010609060101010101" pitchFamily="49" charset="-122"/>
                          <a:cs typeface="Consolas" panose="020B0609020204030204" pitchFamily="49" charset="0"/>
                        </a:rPr>
                        <a:t>82</a:t>
                      </a:r>
                      <a:endParaRPr lang="zh-CN" sz="1600" b="0" kern="100">
                        <a:solidFill>
                          <a:srgbClr val="0000FF"/>
                        </a:solidFill>
                        <a:latin typeface="Consolas" panose="020B0609020204030204" pitchFamily="49" charset="0"/>
                        <a:ea typeface="仿宋"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Rectangle 55"/>
          <p:cNvSpPr>
            <a:spLocks noChangeArrowheads="1"/>
          </p:cNvSpPr>
          <p:nvPr/>
        </p:nvSpPr>
        <p:spPr bwMode="auto">
          <a:xfrm>
            <a:off x="6218920"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学号</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Rectangle 54"/>
          <p:cNvSpPr>
            <a:spLocks noChangeArrowheads="1"/>
          </p:cNvSpPr>
          <p:nvPr/>
        </p:nvSpPr>
        <p:spPr bwMode="auto">
          <a:xfrm>
            <a:off x="7003456"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姓名</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53"/>
          <p:cNvSpPr>
            <a:spLocks noChangeArrowheads="1"/>
          </p:cNvSpPr>
          <p:nvPr/>
        </p:nvSpPr>
        <p:spPr bwMode="auto">
          <a:xfrm>
            <a:off x="7787992" y="714356"/>
            <a:ext cx="784536"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分数</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52"/>
          <p:cNvSpPr>
            <a:spLocks noChangeArrowheads="1"/>
          </p:cNvSpPr>
          <p:nvPr/>
        </p:nvSpPr>
        <p:spPr bwMode="auto">
          <a:xfrm>
            <a:off x="5077194" y="714356"/>
            <a:ext cx="998850"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哈希地址</a:t>
            </a:r>
            <a:endParaRPr kumimoji="0" 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51"/>
          <p:cNvSpPr>
            <a:spLocks noChangeArrowheads="1"/>
          </p:cNvSpPr>
          <p:nvPr/>
        </p:nvSpPr>
        <p:spPr bwMode="auto">
          <a:xfrm>
            <a:off x="6077326" y="1046560"/>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50"/>
          <p:cNvSpPr>
            <a:spLocks noChangeArrowheads="1"/>
          </p:cNvSpPr>
          <p:nvPr/>
        </p:nvSpPr>
        <p:spPr bwMode="auto">
          <a:xfrm>
            <a:off x="7000380" y="1046560"/>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王华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Rectangle 49"/>
          <p:cNvSpPr>
            <a:spLocks noChangeArrowheads="1"/>
          </p:cNvSpPr>
          <p:nvPr/>
        </p:nvSpPr>
        <p:spPr bwMode="auto">
          <a:xfrm>
            <a:off x="7784916" y="1046560"/>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Rectangle 48"/>
          <p:cNvSpPr>
            <a:spLocks noChangeArrowheads="1"/>
          </p:cNvSpPr>
          <p:nvPr/>
        </p:nvSpPr>
        <p:spPr bwMode="auto">
          <a:xfrm>
            <a:off x="5448415" y="1046560"/>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Rectangle 47"/>
          <p:cNvSpPr>
            <a:spLocks noChangeArrowheads="1"/>
          </p:cNvSpPr>
          <p:nvPr/>
        </p:nvSpPr>
        <p:spPr bwMode="auto">
          <a:xfrm>
            <a:off x="6077326" y="394780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Rectangle 46"/>
          <p:cNvSpPr>
            <a:spLocks noChangeArrowheads="1"/>
          </p:cNvSpPr>
          <p:nvPr/>
        </p:nvSpPr>
        <p:spPr bwMode="auto">
          <a:xfrm>
            <a:off x="7000380" y="394780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刘丽</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Rectangle 45"/>
          <p:cNvSpPr>
            <a:spLocks noChangeArrowheads="1"/>
          </p:cNvSpPr>
          <p:nvPr/>
        </p:nvSpPr>
        <p:spPr bwMode="auto">
          <a:xfrm>
            <a:off x="7784916" y="394780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Rectangle 44"/>
          <p:cNvSpPr>
            <a:spLocks noChangeArrowheads="1"/>
          </p:cNvSpPr>
          <p:nvPr/>
        </p:nvSpPr>
        <p:spPr bwMode="auto">
          <a:xfrm>
            <a:off x="5446364" y="394780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Rectangle 43"/>
          <p:cNvSpPr>
            <a:spLocks noChangeArrowheads="1"/>
          </p:cNvSpPr>
          <p:nvPr/>
        </p:nvSpPr>
        <p:spPr bwMode="auto">
          <a:xfrm>
            <a:off x="6077326" y="266240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Rectangle 42"/>
          <p:cNvSpPr>
            <a:spLocks noChangeArrowheads="1"/>
          </p:cNvSpPr>
          <p:nvPr/>
        </p:nvSpPr>
        <p:spPr bwMode="auto">
          <a:xfrm>
            <a:off x="7000380" y="266240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陈明</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Rectangle 41"/>
          <p:cNvSpPr>
            <a:spLocks noChangeArrowheads="1"/>
          </p:cNvSpPr>
          <p:nvPr/>
        </p:nvSpPr>
        <p:spPr bwMode="auto">
          <a:xfrm>
            <a:off x="7784916" y="266240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54</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Rectangle 40"/>
          <p:cNvSpPr>
            <a:spLocks noChangeArrowheads="1"/>
          </p:cNvSpPr>
          <p:nvPr/>
        </p:nvSpPr>
        <p:spPr bwMode="auto">
          <a:xfrm>
            <a:off x="5448415" y="266240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Rectangle 39"/>
          <p:cNvSpPr>
            <a:spLocks noChangeArrowheads="1"/>
          </p:cNvSpPr>
          <p:nvPr/>
        </p:nvSpPr>
        <p:spPr bwMode="auto">
          <a:xfrm>
            <a:off x="6077326" y="3628893"/>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2018009</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Rectangle 38"/>
          <p:cNvSpPr>
            <a:spLocks noChangeArrowheads="1"/>
          </p:cNvSpPr>
          <p:nvPr/>
        </p:nvSpPr>
        <p:spPr bwMode="auto">
          <a:xfrm>
            <a:off x="7000380" y="3628893"/>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张强</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Rectangle 37"/>
          <p:cNvSpPr>
            <a:spLocks noChangeArrowheads="1"/>
          </p:cNvSpPr>
          <p:nvPr/>
        </p:nvSpPr>
        <p:spPr bwMode="auto">
          <a:xfrm>
            <a:off x="7784916" y="3628893"/>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36"/>
          <p:cNvSpPr>
            <a:spLocks noChangeArrowheads="1"/>
          </p:cNvSpPr>
          <p:nvPr/>
        </p:nvSpPr>
        <p:spPr bwMode="auto">
          <a:xfrm>
            <a:off x="5446364" y="3628893"/>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Rectangle 35"/>
          <p:cNvSpPr>
            <a:spLocks noChangeArrowheads="1"/>
          </p:cNvSpPr>
          <p:nvPr/>
        </p:nvSpPr>
        <p:spPr bwMode="auto">
          <a:xfrm>
            <a:off x="6077326" y="298928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2018007</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3" name="Rectangle 34"/>
          <p:cNvSpPr>
            <a:spLocks noChangeArrowheads="1"/>
          </p:cNvSpPr>
          <p:nvPr/>
        </p:nvSpPr>
        <p:spPr bwMode="auto">
          <a:xfrm>
            <a:off x="7000380" y="298928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许兵</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Rectangle 33"/>
          <p:cNvSpPr>
            <a:spLocks noChangeArrowheads="1"/>
          </p:cNvSpPr>
          <p:nvPr/>
        </p:nvSpPr>
        <p:spPr bwMode="auto">
          <a:xfrm>
            <a:off x="7784916" y="298928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76</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Rectangle 32"/>
          <p:cNvSpPr>
            <a:spLocks noChangeArrowheads="1"/>
          </p:cNvSpPr>
          <p:nvPr/>
        </p:nvSpPr>
        <p:spPr bwMode="auto">
          <a:xfrm>
            <a:off x="5448415" y="298928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Rectangle 31"/>
          <p:cNvSpPr>
            <a:spLocks noChangeArrowheads="1"/>
          </p:cNvSpPr>
          <p:nvPr/>
        </p:nvSpPr>
        <p:spPr bwMode="auto">
          <a:xfrm>
            <a:off x="6077326" y="4598929"/>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2018012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Rectangle 30"/>
          <p:cNvSpPr>
            <a:spLocks noChangeArrowheads="1"/>
          </p:cNvSpPr>
          <p:nvPr/>
        </p:nvSpPr>
        <p:spPr bwMode="auto">
          <a:xfrm>
            <a:off x="7000380" y="459892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李萍</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Rectangle 29"/>
          <p:cNvSpPr>
            <a:spLocks noChangeArrowheads="1"/>
          </p:cNvSpPr>
          <p:nvPr/>
        </p:nvSpPr>
        <p:spPr bwMode="auto">
          <a:xfrm>
            <a:off x="7784916" y="4598929"/>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88</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Rectangle 28"/>
          <p:cNvSpPr>
            <a:spLocks noChangeArrowheads="1"/>
          </p:cNvSpPr>
          <p:nvPr/>
        </p:nvSpPr>
        <p:spPr bwMode="auto">
          <a:xfrm>
            <a:off x="5446364" y="4598929"/>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11</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Rectangle 27"/>
          <p:cNvSpPr>
            <a:spLocks noChangeArrowheads="1"/>
          </p:cNvSpPr>
          <p:nvPr/>
        </p:nvSpPr>
        <p:spPr bwMode="auto">
          <a:xfrm>
            <a:off x="6077326" y="2340827"/>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2018005</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Rectangle 26"/>
          <p:cNvSpPr>
            <a:spLocks noChangeArrowheads="1"/>
          </p:cNvSpPr>
          <p:nvPr/>
        </p:nvSpPr>
        <p:spPr bwMode="auto">
          <a:xfrm>
            <a:off x="7000380" y="2340827"/>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李英</a:t>
            </a:r>
            <a:endParaRPr kumimoji="0" 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Rectangle 25"/>
          <p:cNvSpPr>
            <a:spLocks noChangeArrowheads="1"/>
          </p:cNvSpPr>
          <p:nvPr/>
        </p:nvSpPr>
        <p:spPr bwMode="auto">
          <a:xfrm>
            <a:off x="7784916" y="2340827"/>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82</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Rectangle 24"/>
          <p:cNvSpPr>
            <a:spLocks noChangeArrowheads="1"/>
          </p:cNvSpPr>
          <p:nvPr/>
        </p:nvSpPr>
        <p:spPr bwMode="auto">
          <a:xfrm>
            <a:off x="5448415" y="2340827"/>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Rectangle 23"/>
          <p:cNvSpPr>
            <a:spLocks noChangeArrowheads="1"/>
          </p:cNvSpPr>
          <p:nvPr/>
        </p:nvSpPr>
        <p:spPr bwMode="auto">
          <a:xfrm>
            <a:off x="6077326" y="137079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Rectangle 22"/>
          <p:cNvSpPr>
            <a:spLocks noChangeArrowheads="1"/>
          </p:cNvSpPr>
          <p:nvPr/>
        </p:nvSpPr>
        <p:spPr bwMode="auto">
          <a:xfrm>
            <a:off x="7000380" y="137079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Rectangle 21"/>
          <p:cNvSpPr>
            <a:spLocks noChangeArrowheads="1"/>
          </p:cNvSpPr>
          <p:nvPr/>
        </p:nvSpPr>
        <p:spPr bwMode="auto">
          <a:xfrm>
            <a:off x="7784916" y="137079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Rectangle 20"/>
          <p:cNvSpPr>
            <a:spLocks noChangeArrowheads="1"/>
          </p:cNvSpPr>
          <p:nvPr/>
        </p:nvSpPr>
        <p:spPr bwMode="auto">
          <a:xfrm>
            <a:off x="5445339" y="137079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Rectangle 19"/>
          <p:cNvSpPr>
            <a:spLocks noChangeArrowheads="1"/>
          </p:cNvSpPr>
          <p:nvPr/>
        </p:nvSpPr>
        <p:spPr bwMode="auto">
          <a:xfrm>
            <a:off x="6077326" y="1695022"/>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9" name="Rectangle 18"/>
          <p:cNvSpPr>
            <a:spLocks noChangeArrowheads="1"/>
          </p:cNvSpPr>
          <p:nvPr/>
        </p:nvSpPr>
        <p:spPr bwMode="auto">
          <a:xfrm>
            <a:off x="7000380" y="1695022"/>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Rectangle 17"/>
          <p:cNvSpPr>
            <a:spLocks noChangeArrowheads="1"/>
          </p:cNvSpPr>
          <p:nvPr/>
        </p:nvSpPr>
        <p:spPr bwMode="auto">
          <a:xfrm>
            <a:off x="7784916" y="1695022"/>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1" name="Rectangle 16"/>
          <p:cNvSpPr>
            <a:spLocks noChangeArrowheads="1"/>
          </p:cNvSpPr>
          <p:nvPr/>
        </p:nvSpPr>
        <p:spPr bwMode="auto">
          <a:xfrm>
            <a:off x="5451492" y="1695022"/>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Rectangle 15"/>
          <p:cNvSpPr>
            <a:spLocks noChangeArrowheads="1"/>
          </p:cNvSpPr>
          <p:nvPr/>
        </p:nvSpPr>
        <p:spPr bwMode="auto">
          <a:xfrm>
            <a:off x="6077326" y="202191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Rectangle 14"/>
          <p:cNvSpPr>
            <a:spLocks noChangeArrowheads="1"/>
          </p:cNvSpPr>
          <p:nvPr/>
        </p:nvSpPr>
        <p:spPr bwMode="auto">
          <a:xfrm>
            <a:off x="7000380" y="202191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4" name="Rectangle 13"/>
          <p:cNvSpPr>
            <a:spLocks noChangeArrowheads="1"/>
          </p:cNvSpPr>
          <p:nvPr/>
        </p:nvSpPr>
        <p:spPr bwMode="auto">
          <a:xfrm>
            <a:off x="7784916" y="202191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 name="Rectangle 12"/>
          <p:cNvSpPr>
            <a:spLocks noChangeArrowheads="1"/>
          </p:cNvSpPr>
          <p:nvPr/>
        </p:nvSpPr>
        <p:spPr bwMode="auto">
          <a:xfrm>
            <a:off x="5451492" y="202191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 name="Rectangle 11"/>
          <p:cNvSpPr>
            <a:spLocks noChangeArrowheads="1"/>
          </p:cNvSpPr>
          <p:nvPr/>
        </p:nvSpPr>
        <p:spPr bwMode="auto">
          <a:xfrm>
            <a:off x="6077326" y="3308205"/>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7" name="Rectangle 10"/>
          <p:cNvSpPr>
            <a:spLocks noChangeArrowheads="1"/>
          </p:cNvSpPr>
          <p:nvPr/>
        </p:nvSpPr>
        <p:spPr bwMode="auto">
          <a:xfrm>
            <a:off x="7000380" y="3308205"/>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8" name="Rectangle 9"/>
          <p:cNvSpPr>
            <a:spLocks noChangeArrowheads="1"/>
          </p:cNvSpPr>
          <p:nvPr/>
        </p:nvSpPr>
        <p:spPr bwMode="auto">
          <a:xfrm>
            <a:off x="7784916" y="3308205"/>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 name="Rectangle 8"/>
          <p:cNvSpPr>
            <a:spLocks noChangeArrowheads="1"/>
          </p:cNvSpPr>
          <p:nvPr/>
        </p:nvSpPr>
        <p:spPr bwMode="auto">
          <a:xfrm>
            <a:off x="5463798" y="3308205"/>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 name="Rectangle 7"/>
          <p:cNvSpPr>
            <a:spLocks noChangeArrowheads="1"/>
          </p:cNvSpPr>
          <p:nvPr/>
        </p:nvSpPr>
        <p:spPr bwMode="auto">
          <a:xfrm>
            <a:off x="6077326" y="4278241"/>
            <a:ext cx="928694"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 name="Rectangle 6"/>
          <p:cNvSpPr>
            <a:spLocks noChangeArrowheads="1"/>
          </p:cNvSpPr>
          <p:nvPr/>
        </p:nvSpPr>
        <p:spPr bwMode="auto">
          <a:xfrm>
            <a:off x="7000380" y="427824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2" name="Rectangle 5"/>
          <p:cNvSpPr>
            <a:spLocks noChangeArrowheads="1"/>
          </p:cNvSpPr>
          <p:nvPr/>
        </p:nvSpPr>
        <p:spPr bwMode="auto">
          <a:xfrm>
            <a:off x="7784916" y="4278241"/>
            <a:ext cx="784536" cy="324231"/>
          </a:xfrm>
          <a:prstGeom prst="rect">
            <a:avLst/>
          </a:prstGeom>
          <a:solidFill>
            <a:srgbClr val="FFFFFF"/>
          </a:solidFill>
          <a:ln w="9525">
            <a:solidFill>
              <a:srgbClr val="000000"/>
            </a:solidFill>
            <a:miter lim="800000"/>
            <a:tailEnd type="none" w="sm" len="sm"/>
          </a:ln>
        </p:spPr>
        <p:txBody>
          <a:bodyPr vert="horz" wrap="square" lIns="0" tIns="3600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3" name="Rectangle 4"/>
          <p:cNvSpPr>
            <a:spLocks noChangeArrowheads="1"/>
          </p:cNvSpPr>
          <p:nvPr/>
        </p:nvSpPr>
        <p:spPr bwMode="auto">
          <a:xfrm>
            <a:off x="5460722" y="4278241"/>
            <a:ext cx="551739" cy="324231"/>
          </a:xfrm>
          <a:prstGeom prst="rect">
            <a:avLst/>
          </a:prstGeom>
          <a:solidFill>
            <a:srgbClr val="FFFFFF"/>
          </a:solidFill>
          <a:ln w="9525">
            <a:noFill/>
            <a:miter lim="800000"/>
            <a:tailEnd type="none" w="sm" len="sm"/>
          </a:ln>
        </p:spPr>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rPr>
              <a:t>10</a:t>
            </a:r>
            <a:endParaRPr kumimoji="0" lang="en-US" altLang="zh-CN" sz="1600" b="0" i="0" u="none" strike="noStrike" cap="none" normalizeH="0" baseline="0" smtClean="0">
              <a:ln>
                <a:noFill/>
              </a:ln>
              <a:solidFill>
                <a:srgbClr val="00B0F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4" name="TextBox 63"/>
          <p:cNvSpPr txBox="1"/>
          <p:nvPr/>
        </p:nvSpPr>
        <p:spPr>
          <a:xfrm>
            <a:off x="3214678" y="2071678"/>
            <a:ext cx="2428892" cy="830997"/>
          </a:xfrm>
          <a:prstGeom prst="rect">
            <a:avLst/>
          </a:prstGeom>
          <a:noFill/>
        </p:spPr>
        <p:txBody>
          <a:bodyPr wrap="square" rtlCol="0">
            <a:spAutoFit/>
          </a:bodyPr>
          <a:lstStyle/>
          <a:p>
            <a:pPr>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spcBef>
                <a:spcPts val="0"/>
              </a:spcBef>
            </a:pPr>
            <a:r>
              <a:rPr lang="en-US" altLang="zh-CN" sz="16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endParaRPr lang="en-US" altLang="zh-CN" sz="16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spcBef>
                <a:spcPts val="0"/>
              </a:spcBef>
            </a:pPr>
            <a:r>
              <a:rPr lang="en-US" altLang="zh-CN" sz="16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h</a:t>
            </a:r>
            <a:r>
              <a:rPr lang="en-US"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学号</a:t>
            </a:r>
            <a:r>
              <a:rPr lang="en-US"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学号</a:t>
            </a:r>
            <a:r>
              <a:rPr lang="en-US" altLang="zh-CN" sz="1600" smtClean="0">
                <a:solidFill>
                  <a:srgbClr val="FF0000"/>
                </a:solidFill>
                <a:latin typeface="Consolas" panose="020B0609020204030204" pitchFamily="49" charset="0"/>
                <a:ea typeface="仿宋" panose="02010609060101010101" pitchFamily="49" charset="-122"/>
                <a:cs typeface="Consolas" panose="020B0609020204030204" pitchFamily="49" charset="0"/>
              </a:rPr>
              <a:t>-2018001</a:t>
            </a:r>
            <a:endParaRPr lang="zh-CN" altLang="en-US" sz="16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65" name="直接箭头连接符 64"/>
          <p:cNvCxnSpPr/>
          <p:nvPr/>
        </p:nvCxnSpPr>
        <p:spPr>
          <a:xfrm>
            <a:off x="3286116" y="3071810"/>
            <a:ext cx="2286016"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66" name="TextBox 65"/>
          <p:cNvSpPr txBox="1"/>
          <p:nvPr/>
        </p:nvSpPr>
        <p:spPr>
          <a:xfrm>
            <a:off x="6429388" y="273586"/>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ha</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灯片编号占位符 7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857224" y="1714488"/>
            <a:ext cx="7429552" cy="2167361"/>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28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关键字</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除以某个不大于哈希表长度</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的数</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所得的余数作为哈希地址的</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方法</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留余数法的哈希函数</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mod </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p</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(mod</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为求余运算，</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kumimoji="1" lang="en-US" altLang="zh-CN" sz="2000" dirty="0" err="1">
                <a:solidFill>
                  <a:srgbClr val="0000FF"/>
                </a:solidFill>
                <a:latin typeface="+mj-ea"/>
                <a:ea typeface="+mj-ea"/>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最好是质数（素数）。</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642910" y="857232"/>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2.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除留余数法</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429256" y="1142984"/>
            <a:ext cx="100013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p>
        </p:txBody>
      </p:sp>
      <p:sp>
        <p:nvSpPr>
          <p:cNvPr id="6" name="TextBox 5"/>
          <p:cNvSpPr txBox="1"/>
          <p:nvPr/>
        </p:nvSpPr>
        <p:spPr>
          <a:xfrm>
            <a:off x="4929190" y="1223010"/>
            <a:ext cx="428628" cy="338554"/>
          </a:xfrm>
          <a:prstGeom prst="rect">
            <a:avLst/>
          </a:prstGeom>
          <a:noFill/>
        </p:spPr>
        <p:txBody>
          <a:bodyPr wrap="square" rtlCol="0">
            <a:spAutoFit/>
          </a:bodyPr>
          <a:lstStyle/>
          <a:p>
            <a:pPr algn="l">
              <a:lnSpc>
                <a:spcPct val="100000"/>
              </a:lnSpc>
              <a:spcBef>
                <a:spcPts val="0"/>
              </a:spcBef>
            </a:pPr>
            <a:r>
              <a:rPr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矩形 6"/>
          <p:cNvSpPr/>
          <p:nvPr/>
        </p:nvSpPr>
        <p:spPr>
          <a:xfrm>
            <a:off x="5429256" y="1571612"/>
            <a:ext cx="100013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p>
        </p:txBody>
      </p:sp>
      <p:sp>
        <p:nvSpPr>
          <p:cNvPr id="8" name="TextBox 7"/>
          <p:cNvSpPr txBox="1"/>
          <p:nvPr/>
        </p:nvSpPr>
        <p:spPr>
          <a:xfrm>
            <a:off x="4929190" y="1651638"/>
            <a:ext cx="428628" cy="338554"/>
          </a:xfrm>
          <a:prstGeom prst="rect">
            <a:avLst/>
          </a:prstGeom>
          <a:noFill/>
        </p:spPr>
        <p:txBody>
          <a:bodyPr wrap="square" rtlCol="0">
            <a:spAutoFit/>
          </a:bodyPr>
          <a:lstStyle/>
          <a:p>
            <a:pPr algn="l">
              <a:lnSpc>
                <a:spcPct val="100000"/>
              </a:lnSpc>
              <a:spcBef>
                <a:spcPts val="0"/>
              </a:spcBef>
            </a:pPr>
            <a:r>
              <a:rPr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矩形 8"/>
          <p:cNvSpPr/>
          <p:nvPr/>
        </p:nvSpPr>
        <p:spPr>
          <a:xfrm>
            <a:off x="5429256" y="2000240"/>
            <a:ext cx="100013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p>
        </p:txBody>
      </p:sp>
      <p:sp>
        <p:nvSpPr>
          <p:cNvPr id="10" name="TextBox 9"/>
          <p:cNvSpPr txBox="1"/>
          <p:nvPr/>
        </p:nvSpPr>
        <p:spPr>
          <a:xfrm>
            <a:off x="4929190" y="2080266"/>
            <a:ext cx="428628" cy="338554"/>
          </a:xfrm>
          <a:prstGeom prst="rect">
            <a:avLst/>
          </a:prstGeom>
          <a:noFill/>
        </p:spPr>
        <p:txBody>
          <a:bodyPr wrap="square" rtlCol="0">
            <a:spAutoFit/>
          </a:bodyPr>
          <a:lstStyle/>
          <a:p>
            <a:pPr algn="l">
              <a:lnSpc>
                <a:spcPct val="100000"/>
              </a:lnSpc>
              <a:spcBef>
                <a:spcPts val="0"/>
              </a:spcBef>
            </a:pPr>
            <a:r>
              <a:rPr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矩形 10"/>
          <p:cNvSpPr/>
          <p:nvPr/>
        </p:nvSpPr>
        <p:spPr>
          <a:xfrm>
            <a:off x="5429256" y="2428868"/>
            <a:ext cx="1000132" cy="100013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p>
        </p:txBody>
      </p:sp>
      <p:sp>
        <p:nvSpPr>
          <p:cNvPr id="12" name="TextBox 11"/>
          <p:cNvSpPr txBox="1"/>
          <p:nvPr/>
        </p:nvSpPr>
        <p:spPr>
          <a:xfrm>
            <a:off x="4929190" y="2804694"/>
            <a:ext cx="428628" cy="338554"/>
          </a:xfrm>
          <a:prstGeom prst="rect">
            <a:avLst/>
          </a:prstGeom>
          <a:noFill/>
        </p:spPr>
        <p:txBody>
          <a:bodyPr wrap="square" rtlCol="0">
            <a:spAutoFit/>
          </a:bodyPr>
          <a:lstStyle/>
          <a:p>
            <a:pPr algn="l">
              <a:lnSpc>
                <a:spcPct val="100000"/>
              </a:lnSpc>
              <a:spcBef>
                <a:spcPts val="0"/>
              </a:spcBef>
            </a:pPr>
            <a:r>
              <a:rPr lang="en-US" altLang="zh-CN" sz="1600" smtClean="0">
                <a:solidFill>
                  <a:srgbClr val="00B0F0"/>
                </a:solidFill>
                <a:latin typeface="宋体" panose="02010600030101010101" pitchFamily="2" charset="-122"/>
                <a:ea typeface="宋体" panose="02010600030101010101" pitchFamily="2" charset="-122"/>
                <a:cs typeface="Consolas" panose="020B0609020204030204" pitchFamily="49" charset="0"/>
              </a:rPr>
              <a:t>⁞</a:t>
            </a:r>
            <a:endParaRPr lang="zh-CN" altLang="en-US" sz="1600" smtClean="0">
              <a:solidFill>
                <a:srgbClr val="00B0F0"/>
              </a:solidFill>
              <a:latin typeface="宋体" panose="02010600030101010101" pitchFamily="2" charset="-122"/>
              <a:ea typeface="宋体" panose="02010600030101010101" pitchFamily="2" charset="-122"/>
              <a:cs typeface="Consolas" panose="020B0609020204030204" pitchFamily="49" charset="0"/>
            </a:endParaRPr>
          </a:p>
        </p:txBody>
      </p:sp>
      <p:sp>
        <p:nvSpPr>
          <p:cNvPr id="13" name="矩形 12"/>
          <p:cNvSpPr/>
          <p:nvPr/>
        </p:nvSpPr>
        <p:spPr>
          <a:xfrm>
            <a:off x="5429256" y="3429000"/>
            <a:ext cx="100013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p>
        </p:txBody>
      </p:sp>
      <p:sp>
        <p:nvSpPr>
          <p:cNvPr id="14" name="TextBox 13"/>
          <p:cNvSpPr txBox="1"/>
          <p:nvPr/>
        </p:nvSpPr>
        <p:spPr>
          <a:xfrm>
            <a:off x="4786314" y="3509026"/>
            <a:ext cx="642942" cy="338554"/>
          </a:xfrm>
          <a:prstGeom prst="rect">
            <a:avLst/>
          </a:prstGeom>
          <a:noFill/>
        </p:spPr>
        <p:txBody>
          <a:bodyPr wrap="square" rtlCol="0">
            <a:spAutoFit/>
          </a:bodyPr>
          <a:lstStyle/>
          <a:p>
            <a:pPr algn="l">
              <a:lnSpc>
                <a:spcPct val="100000"/>
              </a:lnSpc>
              <a:spcBef>
                <a:spcPts val="0"/>
              </a:spcBef>
            </a:pPr>
            <a:r>
              <a:rPr lang="en-US" altLang="zh-CN" sz="16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m</a:t>
            </a:r>
            <a:r>
              <a:rPr lang="en-US" altLang="zh-CN" sz="16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5143504" y="500042"/>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哈希表</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ha</a:t>
            </a:r>
            <a:endPar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8"/>
          <p:cNvSpPr>
            <a:spLocks noChangeArrowheads="1"/>
          </p:cNvSpPr>
          <p:nvPr/>
        </p:nvSpPr>
        <p:spPr bwMode="auto">
          <a:xfrm>
            <a:off x="1785918" y="2084392"/>
            <a:ext cx="437752" cy="441448"/>
          </a:xfrm>
          <a:prstGeom prst="ellipse">
            <a:avLst/>
          </a:prstGeom>
        </p:spPr>
        <p:style>
          <a:lnRef idx="1">
            <a:schemeClr val="accent1"/>
          </a:lnRef>
          <a:fillRef idx="2">
            <a:schemeClr val="accent1"/>
          </a:fillRef>
          <a:effectRef idx="1">
            <a:schemeClr val="accent1"/>
          </a:effectRef>
          <a:fontRef idx="minor">
            <a:schemeClr val="dk1"/>
          </a:fontRef>
        </p:style>
        <p:txBody>
          <a:bodyPr wrap="none" anchor="ctr">
            <a:noAutofit/>
          </a:bodyPr>
          <a:lstStyle/>
          <a:p>
            <a:pPr algn="l"/>
            <a:r>
              <a:rPr lang="en-US" altLang="zh-CN" sz="1800" i="1" smtClean="0">
                <a:solidFill>
                  <a:srgbClr val="0000FF"/>
                </a:solidFill>
                <a:latin typeface="Consolas" panose="020B0609020204030204" pitchFamily="49" charset="0"/>
                <a:cs typeface="Consolas" panose="020B0609020204030204" pitchFamily="49" charset="0"/>
              </a:rPr>
              <a:t>k</a:t>
            </a:r>
            <a:endParaRPr lang="zh-CN" altLang="en-US" sz="1800" i="1">
              <a:solidFill>
                <a:srgbClr val="0000FF"/>
              </a:solidFill>
              <a:latin typeface="Consolas" panose="020B0609020204030204" pitchFamily="49" charset="0"/>
              <a:cs typeface="Consolas" panose="020B0609020204030204" pitchFamily="49" charset="0"/>
            </a:endParaRPr>
          </a:p>
        </p:txBody>
      </p:sp>
      <p:cxnSp>
        <p:nvCxnSpPr>
          <p:cNvPr id="19" name="直接箭头连接符 18"/>
          <p:cNvCxnSpPr/>
          <p:nvPr/>
        </p:nvCxnSpPr>
        <p:spPr>
          <a:xfrm>
            <a:off x="2500298" y="2285992"/>
            <a:ext cx="214314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2643174" y="1857364"/>
            <a:ext cx="1714512" cy="369332"/>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mod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1785918" y="4357694"/>
            <a:ext cx="4429156"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en-US" altLang="zh-CN" sz="2000" smtClean="0">
                <a:solidFill>
                  <a:srgbClr val="0000FF"/>
                </a:solidFill>
                <a:latin typeface="+mj-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保证地址有效</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为质数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保证冲突尽可能小</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428596" y="642918"/>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9.4.3 </a:t>
            </a:r>
            <a:r>
              <a:rPr lang="zh-CN" altLang="zh-CN" smtClean="0">
                <a:latin typeface="Consolas" panose="020B0609020204030204" pitchFamily="49" charset="0"/>
                <a:ea typeface="微软雅黑" panose="020B0503020204020204" pitchFamily="34" charset="-122"/>
                <a:cs typeface="Consolas" panose="020B0609020204030204" pitchFamily="49" charset="0"/>
              </a:rPr>
              <a:t>哈希冲突解决方法</a:t>
            </a:r>
            <a:endParaRPr lang="zh-CN" altLang="zh-CN">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3"/>
          <p:cNvSpPr txBox="1">
            <a:spLocks noChangeArrowheads="1"/>
          </p:cNvSpPr>
          <p:nvPr/>
        </p:nvSpPr>
        <p:spPr bwMode="auto">
          <a:xfrm>
            <a:off x="428596" y="1500174"/>
            <a:ext cx="7497755" cy="849463"/>
          </a:xfrm>
          <a:prstGeom prst="rect">
            <a:avLst/>
          </a:prstGeom>
          <a:noFill/>
          <a:ln w="9525">
            <a:noFill/>
            <a:miter lim="800000"/>
          </a:ln>
        </p:spPr>
        <p:txBody>
          <a:bodyPr wrap="square">
            <a:spAutoFit/>
          </a:bodyPr>
          <a:lstStyle/>
          <a:p>
            <a:pPr algn="l">
              <a:lnSpc>
                <a:spcPts val="3100"/>
              </a:lnSpc>
              <a:spcBef>
                <a:spcPts val="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在哈希表中，虽然冲突很难避免，但发生冲突的可能性却有大有小。这主要与三个因素有关：</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4"/>
          <p:cNvSpPr txBox="1">
            <a:spLocks noChangeArrowheads="1"/>
          </p:cNvSpPr>
          <p:nvPr/>
        </p:nvSpPr>
        <p:spPr bwMode="auto">
          <a:xfrm>
            <a:off x="642910" y="2643182"/>
            <a:ext cx="7532743" cy="244948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3000"/>
              </a:lnSpc>
              <a:spcBef>
                <a:spcPts val="1200"/>
              </a:spcBef>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与</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装填因子</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有关。所谓装填因子</a:t>
            </a:r>
            <a:r>
              <a:rPr lang="el-GR"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是指哈希表中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已</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存入的</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元素数</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与哈希地址空间大小</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的比值，即</a:t>
            </a:r>
            <a:r>
              <a:rPr lang="el-GR"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α</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m</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l-G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α</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越小，冲突的可能性就越小； 但</a:t>
            </a:r>
            <a:r>
              <a:rPr lang="el-GR"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α</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越小，存储空间的利用率就越低。</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与所采用的</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哈希函数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有关。</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与</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解决冲突的方法</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有关。</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642910" y="500042"/>
            <a:ext cx="728667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解决哈希冲突方法有许多，可分为开放定址法和拉链法两大类。</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714348" y="1214422"/>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开放定址法</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 Box 2"/>
          <p:cNvSpPr txBox="1">
            <a:spLocks noChangeArrowheads="1"/>
          </p:cNvSpPr>
          <p:nvPr/>
        </p:nvSpPr>
        <p:spPr bwMode="auto">
          <a:xfrm>
            <a:off x="1285852" y="2143116"/>
            <a:ext cx="6500858" cy="98755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just">
              <a:lnSpc>
                <a:spcPct val="10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发生冲突时查找周围一个</a:t>
            </a:r>
            <a:r>
              <a:rPr kumimoji="1"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空位置</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元素（记录）</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0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设置一个查找周围一个空位置的函数。</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714348" y="1285860"/>
            <a:ext cx="7858180" cy="199808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32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发生冲突的地址（设为</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开始</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，依次</a:t>
            </a:r>
            <a:r>
              <a:rPr kumimoji="1" lang="zh-CN" altLang="en-US" sz="2000" smtClean="0">
                <a:solidFill>
                  <a:srgbClr val="006600"/>
                </a:solidFill>
                <a:latin typeface="Consolas" panose="020B0609020204030204" pitchFamily="49" charset="0"/>
                <a:ea typeface="仿宋" panose="02010609060101010101" pitchFamily="49" charset="-122"/>
                <a:cs typeface="Consolas" panose="020B0609020204030204" pitchFamily="49" charset="0"/>
              </a:rPr>
              <a:t>循环探测</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的下一个地址（当到达下标为</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的哈希表表尾时，下一个探测的地址是表首地址</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），直到找到一个空闲</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单元</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为止。</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描述</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公式</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err="1">
                <a:solidFill>
                  <a:srgbClr val="FF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baseline="-30000" err="1">
                <a:solidFill>
                  <a:srgbClr val="FF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i="1" baseline="-30000" smtClean="0">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FF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i="1" baseline="-30000" dirty="0" err="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dirty="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+1) mod </a:t>
            </a:r>
            <a:r>
              <a:rPr kumimoji="1" lang="en-US" altLang="zh-CN" sz="2000" i="1" dirty="0">
                <a:solidFill>
                  <a:srgbClr val="FF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dirty="0" err="1">
                <a:solidFill>
                  <a:srgbClr val="0000FF"/>
                </a:solidFill>
                <a:latin typeface="+mn-ea"/>
                <a:ea typeface="+mn-ea"/>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err="1">
                <a:solidFill>
                  <a:srgbClr val="0000FF"/>
                </a:solidFill>
                <a:latin typeface="+mn-ea"/>
                <a:ea typeface="+mn-ea"/>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571480"/>
            <a:ext cx="2214578" cy="453183"/>
          </a:xfrm>
          <a:prstGeom prst="rect">
            <a:avLst/>
          </a:prstGeom>
          <a:blipFill>
            <a:blip r:embed="rId2" cstate="print"/>
            <a:tile tx="0" ty="0" sx="100000" sy="100000" flip="none" algn="tl"/>
          </a:blipFill>
          <a:ln>
            <a:solidFill>
              <a:schemeClr val="accent6">
                <a:lumMod val="20000"/>
                <a:lumOff val="8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tIns="72000" bIns="72000" rtlCol="0">
            <a:spAutoFit/>
          </a:bodyPr>
          <a:lstStyle/>
          <a:p>
            <a:pPr algn="l">
              <a:lnSpc>
                <a:spcPct val="100000"/>
              </a:lnSpc>
            </a:pP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kumimoji="1"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）线性探测法</a:t>
            </a:r>
            <a:endPar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graphicFrame>
        <p:nvGraphicFramePr>
          <p:cNvPr id="9" name="表格 8"/>
          <p:cNvGraphicFramePr>
            <a:graphicFrameLocks noGrp="1"/>
          </p:cNvGraphicFramePr>
          <p:nvPr/>
        </p:nvGraphicFramePr>
        <p:xfrm>
          <a:off x="1643042" y="3786190"/>
          <a:ext cx="6096000" cy="741680"/>
        </p:xfrm>
        <a:graphic>
          <a:graphicData uri="http://schemas.openxmlformats.org/drawingml/2006/table">
            <a:tbl>
              <a:tblPr firstRow="1" bandRow="1">
                <a:tableStyleId>{5C22544A-7EE6-4342-B048-85BDC9FD1C3A}</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CN" sz="1600" smtClean="0">
                          <a:latin typeface="Consolas" panose="020B0609020204030204" pitchFamily="49" charset="0"/>
                          <a:cs typeface="Consolas" panose="020B0609020204030204" pitchFamily="49" charset="0"/>
                        </a:rPr>
                        <a:t>0</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1</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2</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3</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4</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5</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6</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7</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8</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latin typeface="Consolas" panose="020B0609020204030204" pitchFamily="49" charset="0"/>
                          <a:cs typeface="Consolas" panose="020B0609020204030204" pitchFamily="49" charset="0"/>
                        </a:rPr>
                        <a:t>9</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r>
              <a:tr h="370840">
                <a:tc>
                  <a:txBody>
                    <a:bodyPr/>
                    <a:lstStyle/>
                    <a:p>
                      <a:pPr algn="ct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FF0000"/>
                          </a:solidFill>
                          <a:latin typeface="Consolas" panose="020B0609020204030204" pitchFamily="49" charset="0"/>
                          <a:cs typeface="Consolas" panose="020B0609020204030204" pitchFamily="49" charset="0"/>
                        </a:rPr>
                        <a:t>*</a:t>
                      </a:r>
                      <a:endParaRPr lang="zh-CN" altLang="en-US" b="1">
                        <a:solidFill>
                          <a:srgbClr val="FF0000"/>
                        </a:solidFill>
                        <a:latin typeface="Consolas" panose="020B0609020204030204" pitchFamily="49" charset="0"/>
                        <a:cs typeface="Consolas" panose="020B0609020204030204" pitchFamily="49" charset="0"/>
                      </a:endParaRPr>
                    </a:p>
                  </a:txBody>
                  <a:tcPr>
                    <a:solidFill>
                      <a:srgbClr val="92D050"/>
                    </a:solidFill>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b="1" smtClean="0">
                          <a:solidFill>
                            <a:srgbClr val="0000FF"/>
                          </a:solidFill>
                          <a:latin typeface="Consolas" panose="020B0609020204030204" pitchFamily="49" charset="0"/>
                          <a:cs typeface="Consolas" panose="020B0609020204030204" pitchFamily="49" charset="0"/>
                        </a:rPr>
                        <a:t>*</a:t>
                      </a:r>
                      <a:endParaRPr lang="zh-CN" altLang="en-US" b="1">
                        <a:solidFill>
                          <a:srgbClr val="0000FF"/>
                        </a:solidFill>
                        <a:latin typeface="Consolas" panose="020B0609020204030204" pitchFamily="49" charset="0"/>
                        <a:cs typeface="Consolas" panose="020B0609020204030204" pitchFamily="49" charset="0"/>
                      </a:endParaRPr>
                    </a:p>
                  </a:txBody>
                  <a:tcPr/>
                </a:tc>
              </a:tr>
            </a:tbl>
          </a:graphicData>
        </a:graphic>
      </p:graphicFrame>
      <p:sp>
        <p:nvSpPr>
          <p:cNvPr id="12" name="椭圆 11"/>
          <p:cNvSpPr/>
          <p:nvPr/>
        </p:nvSpPr>
        <p:spPr>
          <a:xfrm>
            <a:off x="5000628" y="46482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sp>
        <p:nvSpPr>
          <p:cNvPr id="13" name="椭圆 12"/>
          <p:cNvSpPr/>
          <p:nvPr/>
        </p:nvSpPr>
        <p:spPr>
          <a:xfrm>
            <a:off x="6164274" y="46482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sp>
        <p:nvSpPr>
          <p:cNvPr id="14" name="椭圆 13"/>
          <p:cNvSpPr/>
          <p:nvPr/>
        </p:nvSpPr>
        <p:spPr>
          <a:xfrm>
            <a:off x="5559432" y="46482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sp>
        <p:nvSpPr>
          <p:cNvPr id="15" name="椭圆 14"/>
          <p:cNvSpPr/>
          <p:nvPr/>
        </p:nvSpPr>
        <p:spPr>
          <a:xfrm>
            <a:off x="6821454" y="46482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sp>
        <p:nvSpPr>
          <p:cNvPr id="16" name="椭圆 15"/>
          <p:cNvSpPr/>
          <p:nvPr/>
        </p:nvSpPr>
        <p:spPr>
          <a:xfrm>
            <a:off x="7366020" y="46482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sp>
        <p:nvSpPr>
          <p:cNvPr id="17" name="椭圆 16"/>
          <p:cNvSpPr/>
          <p:nvPr/>
        </p:nvSpPr>
        <p:spPr>
          <a:xfrm>
            <a:off x="1892232" y="45720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a:p>
        </p:txBody>
      </p:sp>
      <p:cxnSp>
        <p:nvCxnSpPr>
          <p:cNvPr id="19" name="直接箭头连接符 18"/>
          <p:cNvCxnSpPr>
            <a:stCxn id="12" idx="6"/>
            <a:endCxn id="14" idx="2"/>
          </p:cNvCxnSpPr>
          <p:nvPr/>
        </p:nvCxnSpPr>
        <p:spPr>
          <a:xfrm>
            <a:off x="5108628" y="4719646"/>
            <a:ext cx="450804" cy="1588"/>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21" name="直接箭头连接符 20"/>
          <p:cNvCxnSpPr/>
          <p:nvPr/>
        </p:nvCxnSpPr>
        <p:spPr>
          <a:xfrm>
            <a:off x="5700770" y="4727584"/>
            <a:ext cx="450804" cy="1588"/>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22" name="直接箭头连接符 21"/>
          <p:cNvCxnSpPr/>
          <p:nvPr/>
        </p:nvCxnSpPr>
        <p:spPr>
          <a:xfrm>
            <a:off x="6335774" y="4727584"/>
            <a:ext cx="450804" cy="1588"/>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23" name="直接箭头连接符 22"/>
          <p:cNvCxnSpPr/>
          <p:nvPr/>
        </p:nvCxnSpPr>
        <p:spPr>
          <a:xfrm>
            <a:off x="6940616" y="4714884"/>
            <a:ext cx="450804" cy="1588"/>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sp>
        <p:nvSpPr>
          <p:cNvPr id="25" name="任意多边形 24"/>
          <p:cNvSpPr/>
          <p:nvPr/>
        </p:nvSpPr>
        <p:spPr>
          <a:xfrm>
            <a:off x="1962148" y="4737100"/>
            <a:ext cx="5486400" cy="263536"/>
          </a:xfrm>
          <a:custGeom>
            <a:avLst/>
            <a:gdLst>
              <a:gd name="connsiteX0" fmla="*/ 5486400 w 5486400"/>
              <a:gd name="connsiteY0" fmla="*/ 12700 h 292100"/>
              <a:gd name="connsiteX1" fmla="*/ 5422900 w 5486400"/>
              <a:gd name="connsiteY1" fmla="*/ 292100 h 292100"/>
              <a:gd name="connsiteX2" fmla="*/ 203200 w 5486400"/>
              <a:gd name="connsiteY2" fmla="*/ 228600 h 292100"/>
              <a:gd name="connsiteX3" fmla="*/ 0 w 5486400"/>
              <a:gd name="connsiteY3" fmla="*/ 0 h 292100"/>
              <a:gd name="connsiteX0-1" fmla="*/ 5486400 w 5486400"/>
              <a:gd name="connsiteY0-2" fmla="*/ 12700 h 263536"/>
              <a:gd name="connsiteX1-3" fmla="*/ 5395934 w 5486400"/>
              <a:gd name="connsiteY1-4" fmla="*/ 263536 h 263536"/>
              <a:gd name="connsiteX2-5" fmla="*/ 203200 w 5486400"/>
              <a:gd name="connsiteY2-6" fmla="*/ 228600 h 263536"/>
              <a:gd name="connsiteX3-7" fmla="*/ 0 w 5486400"/>
              <a:gd name="connsiteY3-8" fmla="*/ 0 h 263536"/>
            </a:gdLst>
            <a:ahLst/>
            <a:cxnLst>
              <a:cxn ang="0">
                <a:pos x="connsiteX0-1" y="connsiteY0-2"/>
              </a:cxn>
              <a:cxn ang="0">
                <a:pos x="connsiteX1-3" y="connsiteY1-4"/>
              </a:cxn>
              <a:cxn ang="0">
                <a:pos x="connsiteX2-5" y="connsiteY2-6"/>
              </a:cxn>
              <a:cxn ang="0">
                <a:pos x="connsiteX3-7" y="connsiteY3-8"/>
              </a:cxn>
            </a:cxnLst>
            <a:rect l="l" t="t" r="r" b="b"/>
            <a:pathLst>
              <a:path w="5486400" h="263536">
                <a:moveTo>
                  <a:pt x="5486400" y="12700"/>
                </a:moveTo>
                <a:lnTo>
                  <a:pt x="5395934" y="263536"/>
                </a:lnTo>
                <a:lnTo>
                  <a:pt x="203200" y="228600"/>
                </a:lnTo>
                <a:lnTo>
                  <a:pt x="0" y="0"/>
                </a:lnTo>
              </a:path>
            </a:pathLst>
          </a:cu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l"/>
            <a:endParaRPr lang="zh-CN" altLang="en-US"/>
          </a:p>
        </p:txBody>
      </p:sp>
      <p:sp>
        <p:nvSpPr>
          <p:cNvPr id="18" name="TextBox 17"/>
          <p:cNvSpPr txBox="1"/>
          <p:nvPr/>
        </p:nvSpPr>
        <p:spPr>
          <a:xfrm>
            <a:off x="2071670" y="5643578"/>
            <a:ext cx="3786214" cy="338554"/>
          </a:xfrm>
          <a:prstGeom prst="rect">
            <a:avLst/>
          </a:prstGeom>
          <a:noFill/>
        </p:spPr>
        <p:txBody>
          <a:bodyPr wrap="square" rtlCol="0">
            <a:spAutoFit/>
          </a:bodyPr>
          <a:lstStyle/>
          <a:p>
            <a:pPr algn="l"/>
            <a:r>
              <a:rPr kumimoji="1"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问题：</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可能出现堆积现</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象！</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灯片编号占位符 2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3"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trips(upRight)">
                                      <p:cBhvr>
                                        <p:cTn id="15" dur="500"/>
                                        <p:tgtEl>
                                          <p:spTgt spid="19"/>
                                        </p:tgtEl>
                                      </p:cBhvr>
                                    </p:animEffect>
                                  </p:childTnLst>
                                </p:cTn>
                              </p:par>
                              <p:par>
                                <p:cTn id="16" presetID="18" presetClass="entr" presetSubtype="3"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strips(upRight)">
                                      <p:cBhvr>
                                        <p:cTn id="18" dur="500"/>
                                        <p:tgtEl>
                                          <p:spTgt spid="14"/>
                                        </p:tgtEl>
                                      </p:cBhvr>
                                    </p:animEffect>
                                  </p:childTnLst>
                                </p:cTn>
                              </p:par>
                              <p:par>
                                <p:cTn id="19" presetID="18" presetClass="entr" presetSubtype="3"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strips(upRight)">
                                      <p:cBhvr>
                                        <p:cTn id="21" dur="500"/>
                                        <p:tgtEl>
                                          <p:spTgt spid="21"/>
                                        </p:tgtEl>
                                      </p:cBhvr>
                                    </p:animEffect>
                                  </p:childTnLst>
                                </p:cTn>
                              </p:par>
                              <p:par>
                                <p:cTn id="22" presetID="18" presetClass="entr" presetSubtype="3"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strips(upRight)">
                                      <p:cBhvr>
                                        <p:cTn id="24" dur="500"/>
                                        <p:tgtEl>
                                          <p:spTgt spid="13"/>
                                        </p:tgtEl>
                                      </p:cBhvr>
                                    </p:animEffect>
                                  </p:childTnLst>
                                </p:cTn>
                              </p:par>
                              <p:par>
                                <p:cTn id="25" presetID="18" presetClass="entr" presetSubtype="3"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upRight)">
                                      <p:cBhvr>
                                        <p:cTn id="27" dur="500"/>
                                        <p:tgtEl>
                                          <p:spTgt spid="22"/>
                                        </p:tgtEl>
                                      </p:cBhvr>
                                    </p:animEffect>
                                  </p:childTnLst>
                                </p:cTn>
                              </p:par>
                              <p:par>
                                <p:cTn id="28" presetID="18" presetClass="entr" presetSubtype="3"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strips(upRight)">
                                      <p:cBhvr>
                                        <p:cTn id="30" dur="500"/>
                                        <p:tgtEl>
                                          <p:spTgt spid="15"/>
                                        </p:tgtEl>
                                      </p:cBhvr>
                                    </p:animEffect>
                                  </p:childTnLst>
                                </p:cTn>
                              </p:par>
                              <p:par>
                                <p:cTn id="31" presetID="18" presetClass="entr" presetSubtype="3"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strips(upRight)">
                                      <p:cBhvr>
                                        <p:cTn id="33" dur="500"/>
                                        <p:tgtEl>
                                          <p:spTgt spid="23"/>
                                        </p:tgtEl>
                                      </p:cBhvr>
                                    </p:animEffect>
                                  </p:childTnLst>
                                </p:cTn>
                              </p:par>
                              <p:par>
                                <p:cTn id="34" presetID="18" presetClass="entr" presetSubtype="3"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strips(upRight)">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strips(downLeft)">
                                      <p:cBhvr>
                                        <p:cTn id="41" dur="500"/>
                                        <p:tgtEl>
                                          <p:spTgt spid="25"/>
                                        </p:tgtEl>
                                      </p:cBhvr>
                                    </p:animEffect>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25"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1000100" y="1285860"/>
            <a:ext cx="7643866" cy="1110661"/>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ct val="12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发生冲突时前后查找空位置。</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2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描述公式为：</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i="1" baseline="-30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mod </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dirty="0" err="1">
                <a:solidFill>
                  <a:srgbClr val="0000FF"/>
                </a:solidFill>
                <a:latin typeface="+mj-ea"/>
                <a:ea typeface="+mj-ea"/>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err="1">
                <a:solidFill>
                  <a:srgbClr val="0000FF"/>
                </a:solidFill>
                <a:latin typeface="+mj-ea"/>
                <a:ea typeface="+mj-ea"/>
                <a:cs typeface="Consolas" panose="020B0609020204030204" pitchFamily="49" charset="0"/>
              </a:rPr>
              <a:t>≤</a:t>
            </a:r>
            <a:r>
              <a:rPr kumimoji="1" lang="en-US" altLang="zh-CN" sz="2000" i="1" err="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表格 4"/>
          <p:cNvGraphicFramePr>
            <a:graphicFrameLocks noGrp="1"/>
          </p:cNvGraphicFramePr>
          <p:nvPr/>
        </p:nvGraphicFramePr>
        <p:xfrm>
          <a:off x="1142976" y="2857496"/>
          <a:ext cx="6096000" cy="741680"/>
        </p:xfrm>
        <a:graphic>
          <a:graphicData uri="http://schemas.openxmlformats.org/drawingml/2006/table">
            <a:tbl>
              <a:tblPr firstRow="1" bandRow="1">
                <a:tableStyleId>{00A15C55-8517-42AA-B614-E9B94910E393}</a:tableStyleId>
              </a:tblPr>
              <a:tblGrid>
                <a:gridCol w="609600"/>
                <a:gridCol w="609600"/>
                <a:gridCol w="609600"/>
                <a:gridCol w="609600"/>
                <a:gridCol w="609600"/>
                <a:gridCol w="609600"/>
                <a:gridCol w="609600"/>
                <a:gridCol w="609600"/>
                <a:gridCol w="609600"/>
                <a:gridCol w="609600"/>
              </a:tblGrid>
              <a:tr h="370840">
                <a:tc>
                  <a:txBody>
                    <a:bodyPr/>
                    <a:lstStyle/>
                    <a:p>
                      <a:pPr algn="ctr"/>
                      <a:r>
                        <a:rPr lang="en-US" altLang="zh-CN" sz="1600" smtClean="0"/>
                        <a:t>0</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1</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2</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3</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4</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5</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6</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7</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8</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c>
                  <a:txBody>
                    <a:bodyPr/>
                    <a:lstStyle/>
                    <a:p>
                      <a:pPr algn="ctr"/>
                      <a:r>
                        <a:rPr lang="en-US" altLang="zh-CN" sz="1600" smtClean="0"/>
                        <a:t>9</a:t>
                      </a:r>
                      <a:endParaRPr lang="zh-CN" altLang="en-US" sz="1600">
                        <a:latin typeface="Consolas" panose="020B0609020204030204" pitchFamily="49" charset="0"/>
                        <a:cs typeface="Consolas" panose="020B0609020204030204" pitchFamily="49" charset="0"/>
                      </a:endParaRPr>
                    </a:p>
                  </a:txBody>
                  <a:tcPr>
                    <a:solidFill>
                      <a:schemeClr val="accent6">
                        <a:lumMod val="60000"/>
                        <a:lumOff val="40000"/>
                      </a:schemeClr>
                    </a:solidFill>
                  </a:tcPr>
                </a:tc>
              </a:tr>
              <a:tr h="370840">
                <a:tc>
                  <a:txBody>
                    <a:bodyPr/>
                    <a:lstStyle/>
                    <a:p>
                      <a:pPr algn="ct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FF0000"/>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c>
                  <a:txBody>
                    <a:bodyPr/>
                    <a:lstStyle/>
                    <a:p>
                      <a:pPr algn="ctr"/>
                      <a:r>
                        <a:rPr lang="zh-CN" altLang="en-US" sz="1600" smtClean="0"/>
                        <a:t>*</a:t>
                      </a:r>
                      <a:endParaRPr lang="zh-CN" altLang="en-US" sz="1600" b="1">
                        <a:solidFill>
                          <a:srgbClr val="0000FF"/>
                        </a:solidFill>
                        <a:latin typeface="Consolas" panose="020B0609020204030204" pitchFamily="49" charset="0"/>
                        <a:cs typeface="Consolas" panose="020B0609020204030204" pitchFamily="49" charset="0"/>
                      </a:endParaRPr>
                    </a:p>
                  </a:txBody>
                  <a:tcPr/>
                </a:tc>
              </a:tr>
            </a:tbl>
          </a:graphicData>
        </a:graphic>
      </p:graphicFrame>
      <p:sp>
        <p:nvSpPr>
          <p:cNvPr id="7" name="椭圆 6"/>
          <p:cNvSpPr/>
          <p:nvPr/>
        </p:nvSpPr>
        <p:spPr>
          <a:xfrm>
            <a:off x="5072066" y="3786190"/>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sz="1800"/>
          </a:p>
        </p:txBody>
      </p:sp>
      <p:sp>
        <p:nvSpPr>
          <p:cNvPr id="8" name="椭圆 7"/>
          <p:cNvSpPr/>
          <p:nvPr/>
        </p:nvSpPr>
        <p:spPr>
          <a:xfrm>
            <a:off x="3846458" y="4000504"/>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sz="1800"/>
          </a:p>
        </p:txBody>
      </p:sp>
      <p:sp>
        <p:nvSpPr>
          <p:cNvPr id="9" name="椭圆 8"/>
          <p:cNvSpPr/>
          <p:nvPr/>
        </p:nvSpPr>
        <p:spPr>
          <a:xfrm>
            <a:off x="6892892" y="4286256"/>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sz="1800"/>
          </a:p>
        </p:txBody>
      </p:sp>
      <p:sp>
        <p:nvSpPr>
          <p:cNvPr id="10" name="椭圆 9"/>
          <p:cNvSpPr/>
          <p:nvPr/>
        </p:nvSpPr>
        <p:spPr>
          <a:xfrm>
            <a:off x="2035108" y="4572008"/>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sz="1800"/>
          </a:p>
        </p:txBody>
      </p:sp>
      <p:cxnSp>
        <p:nvCxnSpPr>
          <p:cNvPr id="12" name="直接箭头连接符 11"/>
          <p:cNvCxnSpPr>
            <a:endCxn id="7" idx="1"/>
          </p:cNvCxnSpPr>
          <p:nvPr/>
        </p:nvCxnSpPr>
        <p:spPr>
          <a:xfrm>
            <a:off x="4572000" y="3643314"/>
            <a:ext cx="515882" cy="163800"/>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14" name="直接箭头连接符 13"/>
          <p:cNvCxnSpPr>
            <a:stCxn id="7" idx="3"/>
            <a:endCxn id="8" idx="7"/>
          </p:cNvCxnSpPr>
          <p:nvPr/>
        </p:nvCxnSpPr>
        <p:spPr>
          <a:xfrm rot="5400000">
            <a:off x="4456619" y="3390165"/>
            <a:ext cx="113286" cy="1149240"/>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16" name="直接箭头连接符 15"/>
          <p:cNvCxnSpPr>
            <a:stCxn id="8" idx="5"/>
            <a:endCxn id="9" idx="2"/>
          </p:cNvCxnSpPr>
          <p:nvPr/>
        </p:nvCxnSpPr>
        <p:spPr>
          <a:xfrm rot="16200000" flipH="1">
            <a:off x="5298148" y="2762950"/>
            <a:ext cx="235238" cy="2954250"/>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cxnSp>
        <p:nvCxnSpPr>
          <p:cNvPr id="18" name="直接箭头连接符 17"/>
          <p:cNvCxnSpPr>
            <a:stCxn id="9" idx="2"/>
            <a:endCxn id="10" idx="6"/>
          </p:cNvCxnSpPr>
          <p:nvPr/>
        </p:nvCxnSpPr>
        <p:spPr>
          <a:xfrm rot="10800000" flipV="1">
            <a:off x="2143108" y="4357694"/>
            <a:ext cx="4749784" cy="285752"/>
          </a:xfrm>
          <a:prstGeom prst="straightConnector1">
            <a:avLst/>
          </a:prstGeom>
          <a:ln w="19050">
            <a:solidFill>
              <a:srgbClr val="CC3300"/>
            </a:solidFill>
            <a:tailEnd type="arrow"/>
          </a:ln>
        </p:spPr>
        <p:style>
          <a:lnRef idx="2">
            <a:schemeClr val="accent1"/>
          </a:lnRef>
          <a:fillRef idx="0">
            <a:schemeClr val="accent1"/>
          </a:fillRef>
          <a:effectRef idx="1">
            <a:schemeClr val="accent1"/>
          </a:effectRef>
          <a:fontRef idx="minor">
            <a:schemeClr val="tx1"/>
          </a:fontRef>
        </p:style>
      </p:cxnSp>
      <p:sp>
        <p:nvSpPr>
          <p:cNvPr id="20" name="椭圆 19"/>
          <p:cNvSpPr/>
          <p:nvPr/>
        </p:nvSpPr>
        <p:spPr>
          <a:xfrm>
            <a:off x="4500562" y="3584576"/>
            <a:ext cx="108000"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zh-CN" altLang="en-US" sz="1800"/>
          </a:p>
        </p:txBody>
      </p:sp>
      <p:sp>
        <p:nvSpPr>
          <p:cNvPr id="19" name="TextBox 18"/>
          <p:cNvSpPr txBox="1"/>
          <p:nvPr/>
        </p:nvSpPr>
        <p:spPr>
          <a:xfrm>
            <a:off x="571472" y="571480"/>
            <a:ext cx="2214578" cy="453183"/>
          </a:xfrm>
          <a:prstGeom prst="rect">
            <a:avLst/>
          </a:prstGeom>
          <a:blipFill>
            <a:blip r:embed="rId2" cstate="print"/>
            <a:tile tx="0" ty="0" sx="100000" sy="100000" flip="none" algn="tl"/>
          </a:blipFill>
          <a:ln>
            <a:solidFill>
              <a:schemeClr val="accent6">
                <a:lumMod val="20000"/>
                <a:lumOff val="80000"/>
              </a:schemeClr>
            </a:solidFill>
          </a:ln>
        </p:spPr>
        <p:style>
          <a:lnRef idx="2">
            <a:schemeClr val="accent2">
              <a:shade val="50000"/>
            </a:schemeClr>
          </a:lnRef>
          <a:fillRef idx="1">
            <a:schemeClr val="accent2"/>
          </a:fillRef>
          <a:effectRef idx="0">
            <a:schemeClr val="accent2"/>
          </a:effectRef>
          <a:fontRef idx="minor">
            <a:schemeClr val="lt1"/>
          </a:fontRef>
        </p:style>
        <p:txBody>
          <a:bodyPr wrap="square" tIns="72000" bIns="72000" rtlCol="0">
            <a:spAutoFit/>
          </a:bodyPr>
          <a:lstStyle/>
          <a:p>
            <a:pPr algn="l">
              <a:lnSpc>
                <a:spcPct val="100000"/>
              </a:lnSpc>
            </a:pP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kumimoji="1" lang="en-US" altLang="zh-CN"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kumimoji="1" lang="zh-CN" altLang="en-US" sz="20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）平方探测法</a:t>
            </a:r>
            <a:endPar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25" name="灯片编号占位符 2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Right)">
                                      <p:cBhvr>
                                        <p:cTn id="15" dur="500"/>
                                        <p:tgtEl>
                                          <p:spTgt spid="12"/>
                                        </p:tgtEl>
                                      </p:cBhvr>
                                    </p:animEffect>
                                  </p:childTnLst>
                                </p:cTn>
                              </p:par>
                              <p:par>
                                <p:cTn id="16" presetID="18" presetClass="entr" presetSubtype="12"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strips(down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strips(downLeft)">
                                      <p:cBhvr>
                                        <p:cTn id="23" dur="500"/>
                                        <p:tgtEl>
                                          <p:spTgt spid="14"/>
                                        </p:tgtEl>
                                      </p:cBhvr>
                                    </p:animEffect>
                                  </p:childTnLst>
                                </p:cTn>
                              </p:par>
                              <p:par>
                                <p:cTn id="24" presetID="18" presetClass="entr" presetSubtype="12"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strips(downLef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Right)">
                                      <p:cBhvr>
                                        <p:cTn id="31" dur="500"/>
                                        <p:tgtEl>
                                          <p:spTgt spid="16"/>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strips(down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strips(downLeft)">
                                      <p:cBhvr>
                                        <p:cTn id="39" dur="500"/>
                                        <p:tgtEl>
                                          <p:spTgt spid="18"/>
                                        </p:tgtEl>
                                      </p:cBhvr>
                                    </p:animEffect>
                                  </p:childTnLst>
                                </p:cTn>
                              </p:par>
                              <p:par>
                                <p:cTn id="40" presetID="18" presetClass="entr" presetSubtype="12"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strips(downLeft)">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0"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571472" y="571480"/>
            <a:ext cx="8001056" cy="13375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9.14</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假设哈希表</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ha</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长度</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，采用除留余数法和线性探测法解决冲突建立关键字集合</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60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43</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54</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90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46</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29</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88</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77}</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的哈希表。</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1000100" y="3214686"/>
            <a:ext cx="6215106" cy="1477199"/>
          </a:xfrm>
          <a:prstGeom prst="rect">
            <a:avLst/>
          </a:prstGeom>
          <a:noFill/>
        </p:spPr>
        <p:txBody>
          <a:bodyPr wrap="square" rtlCol="0">
            <a:spAutoFit/>
          </a:bodyPr>
          <a:lstStyle/>
          <a:p>
            <a:pPr algn="l">
              <a:lnSpc>
                <a:spcPct val="120000"/>
              </a:lnSpc>
              <a:spcBef>
                <a:spcPct val="50000"/>
              </a:spcBef>
            </a:pP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，除留余数法的哈希函数为：</a:t>
            </a:r>
            <a:endPar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20000"/>
              </a:lnSpc>
              <a:spcBef>
                <a:spcPct val="500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mod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endPar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20000"/>
              </a:lnSpc>
              <a:spcBef>
                <a:spcPct val="500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应为小于等于</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的素数，假设</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取值</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1" cstate="print"/>
          <a:srcRect/>
          <a:stretch>
            <a:fillRect/>
          </a:stretch>
        </p:blipFill>
        <p:spPr bwMode="auto">
          <a:xfrm>
            <a:off x="785786" y="2285992"/>
            <a:ext cx="1643074" cy="796023"/>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428604"/>
            <a:ext cx="4786346" cy="800091"/>
          </a:xfrm>
          <a:prstGeom prst="rect">
            <a:avLst/>
          </a:prstGeom>
          <a:noFill/>
        </p:spPr>
        <p:txBody>
          <a:bodyPr wrap="square" rtlCol="0">
            <a:spAutoFit/>
          </a:bodyPr>
          <a:lstStyle/>
          <a:p>
            <a:pPr algn="just">
              <a:lnSpc>
                <a:spcPct val="120000"/>
              </a:lnSpc>
              <a:spcBef>
                <a:spcPts val="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哈希函数：</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mod 13</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12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解决冲突方法：线性探测法</a:t>
            </a:r>
            <a:endPar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 name="TextBox 2"/>
          <p:cNvSpPr txBox="1"/>
          <p:nvPr/>
        </p:nvSpPr>
        <p:spPr>
          <a:xfrm>
            <a:off x="1071538" y="1428736"/>
            <a:ext cx="6572296" cy="381896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16</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ha[3]=16,</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74</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)=9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ha[9]=74,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60</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ha[8]=60,</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43</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ha[4]=43,</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54</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ha[2]=54,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90</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)=12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ha[12]=90,</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46</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)=7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ha[7]=46,</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20000"/>
              </a:lnSpc>
              <a:spcBef>
                <a:spcPct val="50000"/>
              </a:spcBef>
              <a:buBlip>
                <a:blip r:embed="rId1"/>
              </a:buBlip>
            </a:pPr>
            <a:r>
              <a:rPr kumimoji="1"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31</a:t>
            </a:r>
            <a:r>
              <a:rPr kumimoji="1"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			</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ha[5]=31,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kumimoji="1"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7572428" cy="28342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2400"/>
              </a:lnSpc>
              <a:spcBef>
                <a:spcPts val="600"/>
              </a:spcBef>
              <a:buBlip>
                <a:blip r:embed="rId1"/>
              </a:buBlip>
            </a:pP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(29)=3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有冲突</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600"/>
              </a:spcBef>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=(3+1) % 13=4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仍有冲突</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600"/>
              </a:spcBef>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=(4+1) % 13=5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仍有冲突</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600"/>
              </a:spcBef>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=(5+1) % 13=6			ha[6]=29,</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400"/>
              </a:lnSpc>
              <a:spcBef>
                <a:spcPts val="600"/>
              </a:spcBef>
              <a:buBlip>
                <a:blip r:embed="rId1"/>
              </a:buBlip>
            </a:pP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(88)=10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ha[10]=88,</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400"/>
              </a:lnSpc>
              <a:spcBef>
                <a:spcPts val="600"/>
              </a:spcBef>
              <a:buBlip>
                <a:blip r:embed="rId1"/>
              </a:buBlip>
            </a:pP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(77)=12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有冲突</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600"/>
              </a:spcBef>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=(12+1) % 13=0		ha[0]=77</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次探测</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Group 2"/>
          <p:cNvGraphicFramePr>
            <a:graphicFrameLocks noGrp="1"/>
          </p:cNvGraphicFramePr>
          <p:nvPr/>
        </p:nvGraphicFramePr>
        <p:xfrm>
          <a:off x="785786" y="4675217"/>
          <a:ext cx="7572428" cy="1325551"/>
        </p:xfrm>
        <a:graphic>
          <a:graphicData uri="http://schemas.openxmlformats.org/drawingml/2006/table">
            <a:tbl>
              <a:tblPr>
                <a:tableStyleId>{8799B23B-EC83-4686-B30A-512413B5E67A}</a:tableStyleId>
              </a:tblPr>
              <a:tblGrid>
                <a:gridCol w="1143008"/>
                <a:gridCol w="500066"/>
                <a:gridCol w="416095"/>
                <a:gridCol w="531399"/>
                <a:gridCol w="531399"/>
                <a:gridCol w="464973"/>
                <a:gridCol w="531399"/>
                <a:gridCol w="531399"/>
                <a:gridCol w="464973"/>
                <a:gridCol w="464973"/>
                <a:gridCol w="464973"/>
                <a:gridCol w="531399"/>
                <a:gridCol w="464973"/>
                <a:gridCol w="531399"/>
              </a:tblGrid>
              <a:tr h="4428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下标</a:t>
                      </a:r>
                      <a:endParaRPr kumimoji="0" lang="zh-CN" altLang="en-US"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chemeClr val="bg1">
                              <a:lumMod val="50000"/>
                            </a:schemeClr>
                          </a:solidFill>
                          <a:effectLst/>
                          <a:latin typeface="Consolas" panose="020B0609020204030204" pitchFamily="49" charset="0"/>
                          <a:cs typeface="Consolas" panose="020B0609020204030204" pitchFamily="49" charset="0"/>
                        </a:rPr>
                        <a:t>0</a:t>
                      </a:r>
                      <a:endParaRPr kumimoji="0" lang="en-US" altLang="zh-CN" sz="1800" b="1" i="0" u="none" strike="noStrike" cap="none" normalizeH="0" baseline="0" dirty="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chemeClr val="bg1">
                              <a:lumMod val="50000"/>
                            </a:schemeClr>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chemeClr val="bg1">
                              <a:lumMod val="50000"/>
                            </a:schemeClr>
                          </a:solidFill>
                          <a:effectLst/>
                          <a:latin typeface="Consolas" panose="020B0609020204030204" pitchFamily="49" charset="0"/>
                          <a:cs typeface="Consolas" panose="020B0609020204030204" pitchFamily="49" charset="0"/>
                        </a:rPr>
                        <a:t>2</a:t>
                      </a:r>
                      <a:endParaRPr kumimoji="0" lang="en-US" altLang="zh-CN" sz="1800" b="1" i="0" u="none" strike="noStrike" cap="none" normalizeH="0" baseline="0" dirty="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chemeClr val="bg1">
                              <a:lumMod val="50000"/>
                            </a:schemeClr>
                          </a:solidFill>
                          <a:effectLst/>
                          <a:latin typeface="Consolas" panose="020B0609020204030204" pitchFamily="49" charset="0"/>
                          <a:cs typeface="Consolas" panose="020B0609020204030204" pitchFamily="49" charset="0"/>
                        </a:rPr>
                        <a:t>3</a:t>
                      </a:r>
                      <a:endParaRPr kumimoji="0" lang="en-US" altLang="zh-CN" sz="1800" b="1" i="0" u="none" strike="noStrike" cap="none" normalizeH="0" baseline="0" dirty="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4</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5</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6</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7</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8</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9</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11</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chemeClr val="bg1">
                              <a:lumMod val="50000"/>
                            </a:schemeClr>
                          </a:solidFill>
                          <a:effectLst/>
                          <a:latin typeface="Consolas" panose="020B0609020204030204" pitchFamily="49" charset="0"/>
                          <a:cs typeface="Consolas" panose="020B0609020204030204" pitchFamily="49" charset="0"/>
                        </a:rPr>
                        <a:t>12</a:t>
                      </a:r>
                      <a:endParaRPr kumimoji="0" lang="en-US" altLang="zh-CN" sz="1800" b="1" i="0" u="none" strike="noStrike" cap="none" normalizeH="0" baseline="0" smtClean="0">
                        <a:ln>
                          <a:noFill/>
                        </a:ln>
                        <a:solidFill>
                          <a:schemeClr val="bg1">
                            <a:lumMod val="50000"/>
                          </a:schemeClr>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r>
              <a:tr h="42862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en-US" altLang="zh-CN" sz="1800" b="1"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77</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54</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16</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43</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31</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29</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46</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60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74</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88</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90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r>
              <a:tr h="4540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探测次数</a:t>
                      </a:r>
                      <a:endParaRPr kumimoji="0" lang="zh-CN" altLang="en-US"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2</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cs typeface="Consolas" panose="020B0609020204030204" pitchFamily="49" charset="0"/>
                        </a:rPr>
                        <a:t>4</a:t>
                      </a:r>
                      <a:endParaRPr kumimoji="0" lang="en-US" altLang="zh-CN" sz="1800" b="1" i="0" u="none" strike="noStrike" cap="none" normalizeH="0" baseline="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tc>
              </a:tr>
            </a:tbl>
          </a:graphicData>
        </a:graphic>
      </p:graphicFrame>
      <p:sp>
        <p:nvSpPr>
          <p:cNvPr id="6" name="Text Box 64"/>
          <p:cNvSpPr txBox="1">
            <a:spLocks noChangeArrowheads="1"/>
          </p:cNvSpPr>
          <p:nvPr/>
        </p:nvSpPr>
        <p:spPr bwMode="auto">
          <a:xfrm>
            <a:off x="3071802" y="4186638"/>
            <a:ext cx="2571768" cy="338554"/>
          </a:xfrm>
          <a:prstGeom prst="rect">
            <a:avLst/>
          </a:prstGeom>
          <a:noFill/>
          <a:ln w="9525">
            <a:noFill/>
            <a:miter lim="800000"/>
          </a:ln>
        </p:spPr>
        <p:txBody>
          <a:bodyPr wrap="square">
            <a:spAutoFit/>
          </a:bodyPr>
          <a:lstStyle/>
          <a:p>
            <a:pPr algn="l" fontAlgn="t">
              <a:spcBef>
                <a:spcPct val="5000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哈希表</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ha[0..12]</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4071934" y="3571876"/>
            <a:ext cx="142876"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p>
        </p:txBody>
      </p:sp>
      <p:sp>
        <p:nvSpPr>
          <p:cNvPr id="14" name="灯片编号占位符 13"/>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714348" y="689801"/>
            <a:ext cx="185738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拉链法</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2"/>
          <p:cNvSpPr txBox="1">
            <a:spLocks noChangeArrowheads="1"/>
          </p:cNvSpPr>
          <p:nvPr/>
        </p:nvSpPr>
        <p:spPr bwMode="auto">
          <a:xfrm>
            <a:off x="785786" y="1571612"/>
            <a:ext cx="7358114" cy="28879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just">
              <a:lnSpc>
                <a:spcPct val="130000"/>
              </a:lnSpc>
              <a:spcBef>
                <a:spcPct val="50000"/>
              </a:spcBef>
              <a:buBlip>
                <a:blip r:embed="rId1"/>
              </a:buBlip>
            </a:pPr>
            <a:r>
              <a:rPr kumimoji="1"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拉链</a:t>
            </a:r>
            <a:r>
              <a:rPr kumimoji="1"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法</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是把所有的同义词用单链表链接起来的方法。</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3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这种方法中，哈希表每个单元中存放的不</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再</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是元素本</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身，而是相应同义词单链</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表</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的首结点指</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针</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just">
              <a:lnSpc>
                <a:spcPct val="130000"/>
              </a:lnSpc>
              <a:spcBef>
                <a:spcPct val="500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由于</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单链表中可插入任意多</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所以此时装填因子</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α</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根据同义词的多少既可以设定为大于</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，也可以设定为小于或等于</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，通常</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取</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α</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=0.75</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0455" name="Rectangle 3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0453" name="Rectangle 37"/>
          <p:cNvSpPr>
            <a:spLocks noChangeArrowheads="1"/>
          </p:cNvSpPr>
          <p:nvPr/>
        </p:nvSpPr>
        <p:spPr bwMode="auto">
          <a:xfrm>
            <a:off x="2016640" y="2033084"/>
            <a:ext cx="670464" cy="331363"/>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52" name="Rectangle 36"/>
          <p:cNvSpPr>
            <a:spLocks noChangeArrowheads="1"/>
          </p:cNvSpPr>
          <p:nvPr/>
        </p:nvSpPr>
        <p:spPr bwMode="auto">
          <a:xfrm>
            <a:off x="1665816" y="2101306"/>
            <a:ext cx="146177"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600" b="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51" name="Rectangle 35"/>
          <p:cNvSpPr>
            <a:spLocks noChangeArrowheads="1"/>
          </p:cNvSpPr>
          <p:nvPr/>
        </p:nvSpPr>
        <p:spPr bwMode="auto">
          <a:xfrm>
            <a:off x="928662" y="1714488"/>
            <a:ext cx="310966" cy="2051236"/>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哈</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希</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表</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地</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址</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空</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间</a:t>
            </a:r>
            <a:endParaRPr kumimoji="0" lang="zh-CN" sz="20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50" name="Rectangle 34"/>
          <p:cNvSpPr>
            <a:spLocks noChangeArrowheads="1"/>
          </p:cNvSpPr>
          <p:nvPr/>
        </p:nvSpPr>
        <p:spPr bwMode="auto">
          <a:xfrm>
            <a:off x="3173386" y="2033084"/>
            <a:ext cx="900449"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60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x</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的元素</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49" name="Rectangle 33"/>
          <p:cNvSpPr>
            <a:spLocks noChangeArrowheads="1"/>
          </p:cNvSpPr>
          <p:nvPr/>
        </p:nvSpPr>
        <p:spPr bwMode="auto">
          <a:xfrm>
            <a:off x="4069937" y="2033084"/>
            <a:ext cx="484332"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48" name="Rectangle 32"/>
          <p:cNvSpPr>
            <a:spLocks noChangeArrowheads="1"/>
          </p:cNvSpPr>
          <p:nvPr/>
        </p:nvSpPr>
        <p:spPr bwMode="auto">
          <a:xfrm>
            <a:off x="4820311" y="2033084"/>
            <a:ext cx="900449"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60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y</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的元素</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47" name="Rectangle 31"/>
          <p:cNvSpPr>
            <a:spLocks noChangeArrowheads="1"/>
          </p:cNvSpPr>
          <p:nvPr/>
        </p:nvSpPr>
        <p:spPr bwMode="auto">
          <a:xfrm>
            <a:off x="5716862" y="2033084"/>
            <a:ext cx="484332"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46" name="AutoShape 30"/>
          <p:cNvSpPr>
            <a:spLocks noChangeShapeType="1"/>
          </p:cNvSpPr>
          <p:nvPr/>
        </p:nvSpPr>
        <p:spPr bwMode="auto">
          <a:xfrm flipV="1">
            <a:off x="2359669" y="2198766"/>
            <a:ext cx="813718"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45" name="AutoShape 29"/>
          <p:cNvSpPr>
            <a:spLocks noChangeShapeType="1"/>
          </p:cNvSpPr>
          <p:nvPr/>
        </p:nvSpPr>
        <p:spPr bwMode="auto">
          <a:xfrm flipV="1">
            <a:off x="4425634" y="2198766"/>
            <a:ext cx="386881"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44" name="AutoShape 28"/>
          <p:cNvSpPr>
            <a:spLocks noChangeShapeType="1"/>
          </p:cNvSpPr>
          <p:nvPr/>
        </p:nvSpPr>
        <p:spPr bwMode="auto">
          <a:xfrm flipV="1">
            <a:off x="6062814" y="2198766"/>
            <a:ext cx="386881"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43" name="Rectangle 27"/>
          <p:cNvSpPr>
            <a:spLocks noChangeArrowheads="1"/>
          </p:cNvSpPr>
          <p:nvPr/>
        </p:nvSpPr>
        <p:spPr bwMode="auto">
          <a:xfrm>
            <a:off x="6527656" y="2101306"/>
            <a:ext cx="320614"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60442" name="AutoShape 26"/>
          <p:cNvSpPr/>
          <p:nvPr/>
        </p:nvSpPr>
        <p:spPr bwMode="auto">
          <a:xfrm rot="5400000">
            <a:off x="5004488" y="321830"/>
            <a:ext cx="139367" cy="3170088"/>
          </a:xfrm>
          <a:prstGeom prst="leftBrace">
            <a:avLst>
              <a:gd name="adj1" fmla="val 189569"/>
              <a:gd name="adj2" fmla="val 50000"/>
            </a:avLst>
          </a:prstGeom>
          <a:ln w="12700">
            <a:tailEnd type="none" w="sm" len="sm"/>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41" name="Rectangle 25"/>
          <p:cNvSpPr>
            <a:spLocks noChangeArrowheads="1"/>
          </p:cNvSpPr>
          <p:nvPr/>
        </p:nvSpPr>
        <p:spPr bwMode="auto">
          <a:xfrm>
            <a:off x="4019121" y="1428736"/>
            <a:ext cx="2195953" cy="285752"/>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b="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x</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b="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y</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mj-ea"/>
                <a:ea typeface="+mj-ea"/>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i</a:t>
            </a:r>
            <a:endPar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40" name="Rectangle 24"/>
          <p:cNvSpPr>
            <a:spLocks noChangeArrowheads="1"/>
          </p:cNvSpPr>
          <p:nvPr/>
        </p:nvSpPr>
        <p:spPr bwMode="auto">
          <a:xfrm>
            <a:off x="2016640" y="3013529"/>
            <a:ext cx="670464" cy="331363"/>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9" name="Rectangle 23"/>
          <p:cNvSpPr>
            <a:spLocks noChangeArrowheads="1"/>
          </p:cNvSpPr>
          <p:nvPr/>
        </p:nvSpPr>
        <p:spPr bwMode="auto">
          <a:xfrm>
            <a:off x="1665816" y="3089548"/>
            <a:ext cx="146177" cy="233903"/>
          </a:xfrm>
          <a:prstGeom prst="rect">
            <a:avLst/>
          </a:prstGeom>
          <a:solidFill>
            <a:srgbClr val="FFFFFF"/>
          </a:solidFill>
          <a:ln w="9525">
            <a:noFill/>
            <a:miter lim="800000"/>
            <a:tailEnd type="none" w="sm" len="sm"/>
          </a:ln>
        </p:spPr>
        <p:txBody>
          <a:bodyPr vert="horz" wrap="square" lIns="3600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600" b="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8" name="Rectangle 22"/>
          <p:cNvSpPr>
            <a:spLocks noChangeArrowheads="1"/>
          </p:cNvSpPr>
          <p:nvPr/>
        </p:nvSpPr>
        <p:spPr bwMode="auto">
          <a:xfrm>
            <a:off x="3183131" y="3013529"/>
            <a:ext cx="900449"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60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的元素</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7" name="Rectangle 21"/>
          <p:cNvSpPr>
            <a:spLocks noChangeArrowheads="1"/>
          </p:cNvSpPr>
          <p:nvPr/>
        </p:nvSpPr>
        <p:spPr bwMode="auto">
          <a:xfrm>
            <a:off x="4079682" y="3013529"/>
            <a:ext cx="484332"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6" name="Rectangle 20"/>
          <p:cNvSpPr>
            <a:spLocks noChangeArrowheads="1"/>
          </p:cNvSpPr>
          <p:nvPr/>
        </p:nvSpPr>
        <p:spPr bwMode="auto">
          <a:xfrm>
            <a:off x="4830057" y="3013529"/>
            <a:ext cx="900449"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60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t</a:t>
            </a:r>
            <a:r>
              <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的元素</a:t>
            </a:r>
            <a:endParaRPr kumimoji="0" lang="zh-CN" altLang="en-US"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5" name="Rectangle 19"/>
          <p:cNvSpPr>
            <a:spLocks noChangeArrowheads="1"/>
          </p:cNvSpPr>
          <p:nvPr/>
        </p:nvSpPr>
        <p:spPr bwMode="auto">
          <a:xfrm>
            <a:off x="5726608" y="3013529"/>
            <a:ext cx="484332" cy="331363"/>
          </a:xfrm>
          <a:prstGeom prst="rect">
            <a:avLst/>
          </a:prstGeom>
          <a:ln>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34" name="AutoShape 18"/>
          <p:cNvSpPr>
            <a:spLocks noChangeShapeType="1"/>
          </p:cNvSpPr>
          <p:nvPr/>
        </p:nvSpPr>
        <p:spPr bwMode="auto">
          <a:xfrm flipV="1">
            <a:off x="2369414" y="3179211"/>
            <a:ext cx="813718"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33" name="AutoShape 17"/>
          <p:cNvSpPr>
            <a:spLocks noChangeShapeType="1"/>
          </p:cNvSpPr>
          <p:nvPr/>
        </p:nvSpPr>
        <p:spPr bwMode="auto">
          <a:xfrm flipV="1">
            <a:off x="4435379" y="3179211"/>
            <a:ext cx="386881"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32" name="AutoShape 16"/>
          <p:cNvSpPr>
            <a:spLocks noChangeShapeType="1"/>
          </p:cNvSpPr>
          <p:nvPr/>
        </p:nvSpPr>
        <p:spPr bwMode="auto">
          <a:xfrm flipV="1">
            <a:off x="6072559" y="3179211"/>
            <a:ext cx="386881" cy="97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31" name="Rectangle 15"/>
          <p:cNvSpPr>
            <a:spLocks noChangeArrowheads="1"/>
          </p:cNvSpPr>
          <p:nvPr/>
        </p:nvSpPr>
        <p:spPr bwMode="auto">
          <a:xfrm>
            <a:off x="6537402" y="3081751"/>
            <a:ext cx="320614"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60430" name="AutoShape 14"/>
          <p:cNvSpPr/>
          <p:nvPr/>
        </p:nvSpPr>
        <p:spPr bwMode="auto">
          <a:xfrm rot="16200000">
            <a:off x="5004488" y="1913640"/>
            <a:ext cx="139367" cy="3170088"/>
          </a:xfrm>
          <a:prstGeom prst="leftBrace">
            <a:avLst>
              <a:gd name="adj1" fmla="val 189569"/>
              <a:gd name="adj2" fmla="val 50000"/>
            </a:avLst>
          </a:prstGeom>
          <a:ln w="12700">
            <a:tailEnd type="none" w="sm" len="sm"/>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429" name="Rectangle 13"/>
          <p:cNvSpPr>
            <a:spLocks noChangeArrowheads="1"/>
          </p:cNvSpPr>
          <p:nvPr/>
        </p:nvSpPr>
        <p:spPr bwMode="auto">
          <a:xfrm>
            <a:off x="4019121" y="3714753"/>
            <a:ext cx="2186209" cy="285751"/>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b="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s</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b="0" i="1" u="none" strike="noStrike" cap="none" normalizeH="0" baseline="-3000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mj-ea"/>
                <a:ea typeface="+mj-ea"/>
                <a:cs typeface="Consolas" panose="020B0609020204030204" pitchFamily="49" charset="0"/>
              </a:rPr>
              <a:t>…</a:t>
            </a:r>
            <a:r>
              <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j</a:t>
            </a:r>
            <a:endParaRPr kumimoji="0" lang="en-US" altLang="zh-CN" sz="1800" i="0" u="none" strike="noStrike" cap="none" normalizeH="0" baseline="0" smtClean="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8" name="Rectangle 12"/>
          <p:cNvSpPr>
            <a:spLocks noChangeArrowheads="1"/>
          </p:cNvSpPr>
          <p:nvPr/>
        </p:nvSpPr>
        <p:spPr bwMode="auto">
          <a:xfrm>
            <a:off x="2016640" y="2366396"/>
            <a:ext cx="670464" cy="647133"/>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90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7" name="Rectangle 11"/>
          <p:cNvSpPr>
            <a:spLocks noChangeArrowheads="1"/>
          </p:cNvSpPr>
          <p:nvPr/>
        </p:nvSpPr>
        <p:spPr bwMode="auto">
          <a:xfrm>
            <a:off x="2016640" y="1553582"/>
            <a:ext cx="670464" cy="479502"/>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54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6" name="Rectangle 10"/>
          <p:cNvSpPr>
            <a:spLocks noChangeArrowheads="1"/>
          </p:cNvSpPr>
          <p:nvPr/>
        </p:nvSpPr>
        <p:spPr bwMode="auto">
          <a:xfrm>
            <a:off x="2016640" y="1222219"/>
            <a:ext cx="670464" cy="331363"/>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60425" name="Rectangle 9"/>
          <p:cNvSpPr>
            <a:spLocks noChangeArrowheads="1"/>
          </p:cNvSpPr>
          <p:nvPr/>
        </p:nvSpPr>
        <p:spPr bwMode="auto">
          <a:xfrm>
            <a:off x="1709669" y="1270949"/>
            <a:ext cx="146177"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4" name="Rectangle 8"/>
          <p:cNvSpPr>
            <a:spLocks noChangeArrowheads="1"/>
          </p:cNvSpPr>
          <p:nvPr/>
        </p:nvSpPr>
        <p:spPr bwMode="auto">
          <a:xfrm>
            <a:off x="2016640" y="3352689"/>
            <a:ext cx="670464" cy="383991"/>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3" name="Rectangle 7"/>
          <p:cNvSpPr>
            <a:spLocks noChangeArrowheads="1"/>
          </p:cNvSpPr>
          <p:nvPr/>
        </p:nvSpPr>
        <p:spPr bwMode="auto">
          <a:xfrm>
            <a:off x="2016640" y="3732782"/>
            <a:ext cx="670464" cy="331363"/>
          </a:xfrm>
          <a:prstGeom prst="rect">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mj-ea"/>
              <a:ea typeface="+mj-ea"/>
              <a:cs typeface="Consolas" panose="020B0609020204030204" pitchFamily="49" charset="0"/>
            </a:endParaRPr>
          </a:p>
        </p:txBody>
      </p:sp>
      <p:sp>
        <p:nvSpPr>
          <p:cNvPr id="60422" name="Rectangle 6"/>
          <p:cNvSpPr>
            <a:spLocks noChangeArrowheads="1"/>
          </p:cNvSpPr>
          <p:nvPr/>
        </p:nvSpPr>
        <p:spPr bwMode="auto">
          <a:xfrm>
            <a:off x="1603447" y="3781512"/>
            <a:ext cx="388830"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1" name="Rectangle 5"/>
          <p:cNvSpPr>
            <a:spLocks noChangeArrowheads="1"/>
          </p:cNvSpPr>
          <p:nvPr/>
        </p:nvSpPr>
        <p:spPr bwMode="auto">
          <a:xfrm>
            <a:off x="1690179" y="1715365"/>
            <a:ext cx="155922"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20" name="Rectangle 4"/>
          <p:cNvSpPr>
            <a:spLocks noChangeArrowheads="1"/>
          </p:cNvSpPr>
          <p:nvPr/>
        </p:nvSpPr>
        <p:spPr bwMode="auto">
          <a:xfrm>
            <a:off x="1690179" y="2596401"/>
            <a:ext cx="155922"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19" name="Rectangle 3"/>
          <p:cNvSpPr>
            <a:spLocks noChangeArrowheads="1"/>
          </p:cNvSpPr>
          <p:nvPr/>
        </p:nvSpPr>
        <p:spPr bwMode="auto">
          <a:xfrm>
            <a:off x="1690179" y="3477437"/>
            <a:ext cx="155922" cy="233903"/>
          </a:xfrm>
          <a:prstGeom prst="rect">
            <a:avLst/>
          </a:prstGeom>
          <a:solidFill>
            <a:srgbClr val="FFFFFF"/>
          </a:solidFill>
          <a:ln w="9525">
            <a:noFill/>
            <a:miter lim="800000"/>
            <a:tailEnd type="none" w="sm" len="sm"/>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418" name="AutoShape 2"/>
          <p:cNvSpPr/>
          <p:nvPr/>
        </p:nvSpPr>
        <p:spPr bwMode="auto">
          <a:xfrm>
            <a:off x="1370539" y="1426884"/>
            <a:ext cx="165667" cy="2455986"/>
          </a:xfrm>
          <a:prstGeom prst="leftBrace">
            <a:avLst>
              <a:gd name="adj1" fmla="val 123529"/>
              <a:gd name="adj2" fmla="val 50000"/>
            </a:avLst>
          </a:prstGeom>
          <a:noFill/>
          <a:ln w="9525">
            <a:solidFill>
              <a:srgbClr val="000000"/>
            </a:solidFill>
            <a:round/>
            <a:tailEnd type="none" w="sm" len="sm"/>
          </a:ln>
        </p:spPr>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灯片编号占位符 4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 name="TextBox 4"/>
          <p:cNvSpPr txBox="1"/>
          <p:nvPr/>
        </p:nvSpPr>
        <p:spPr>
          <a:xfrm>
            <a:off x="142844" y="357166"/>
            <a:ext cx="8858312"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9.15</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假设哈希表长度</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，采用除留余数法和拉链法解决冲突建立关键字集合</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{16</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54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90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46</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29</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88</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77}</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的哈希表。</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071670" y="2579967"/>
            <a:ext cx="1571636" cy="38494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(16)=3</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(74)=9</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(60)=8</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(43)=4</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(54)=2</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(90)=12</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(46)=7</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(31)=5</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(29)=3</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(88)=10</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(77)=12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1500166" y="1285860"/>
            <a:ext cx="7072362" cy="1092607"/>
          </a:xfrm>
          <a:prstGeom prst="rect">
            <a:avLst/>
          </a:prstGeom>
          <a:noFill/>
        </p:spPr>
        <p:txBody>
          <a:bodyPr wrap="square" rtlCol="0">
            <a:spAutoFit/>
          </a:bodyPr>
          <a:lstStyle/>
          <a:p>
            <a:pPr algn="l">
              <a:lnSpc>
                <a:spcPts val="2600"/>
              </a:lnSpc>
              <a:spcBef>
                <a:spcPts val="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，除留余数法的哈希函数为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mod </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应为小于等于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的素数，假设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取值</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，当出现哈希冲突时采用拉链法解决冲突。</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628" y="2508529"/>
            <a:ext cx="1571636" cy="388578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(54)=2</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(16)=3</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(29)=3</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(43)=4</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(31)=5</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(46)=7</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(74)=9</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(60)=8</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(88)=10</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(90)=12</a:t>
            </a:r>
            <a:endParaRPr lang="en-US" altLang="zh-CN" sz="1800" smtClean="0">
              <a:solidFill>
                <a:srgbClr val="0000FF"/>
              </a:solidFill>
              <a:latin typeface="Consolas" panose="020B0609020204030204" pitchFamily="49" charset="0"/>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cs typeface="Consolas" panose="020B0609020204030204" pitchFamily="49" charset="0"/>
              </a:rPr>
              <a:t>h</a:t>
            </a:r>
            <a:r>
              <a:rPr lang="en-US" altLang="zh-CN" sz="1800" smtClean="0">
                <a:solidFill>
                  <a:srgbClr val="0000FF"/>
                </a:solidFill>
                <a:latin typeface="Consolas" panose="020B0609020204030204" pitchFamily="49" charset="0"/>
                <a:cs typeface="Consolas" panose="020B0609020204030204" pitchFamily="49" charset="0"/>
              </a:rPr>
              <a:t>(77)=12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右箭头 8"/>
          <p:cNvSpPr/>
          <p:nvPr/>
        </p:nvSpPr>
        <p:spPr>
          <a:xfrm>
            <a:off x="4000496" y="4080165"/>
            <a:ext cx="500066"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p>
        </p:txBody>
      </p:sp>
      <p:pic>
        <p:nvPicPr>
          <p:cNvPr id="11" name="Picture 2"/>
          <p:cNvPicPr>
            <a:picLocks noChangeAspect="1" noChangeArrowheads="1"/>
          </p:cNvPicPr>
          <p:nvPr/>
        </p:nvPicPr>
        <p:blipFill>
          <a:blip r:embed="rId1" cstate="print"/>
          <a:srcRect/>
          <a:stretch>
            <a:fillRect/>
          </a:stretch>
        </p:blipFill>
        <p:spPr bwMode="auto">
          <a:xfrm>
            <a:off x="285720" y="1142984"/>
            <a:ext cx="1071538" cy="1273899"/>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2"/>
          <p:cNvSpPr txBox="1">
            <a:spLocks noChangeArrowheads="1"/>
          </p:cNvSpPr>
          <p:nvPr/>
        </p:nvSpPr>
        <p:spPr bwMode="auto">
          <a:xfrm>
            <a:off x="1000100" y="285728"/>
            <a:ext cx="5357850" cy="400110"/>
          </a:xfrm>
          <a:prstGeom prst="rect">
            <a:avLst/>
          </a:prstGeom>
          <a:noFill/>
          <a:ln w="9525">
            <a:noFill/>
            <a:miter lim="800000"/>
          </a:ln>
        </p:spPr>
        <p:txBody>
          <a:bodyPr wrap="square">
            <a:spAutoFit/>
          </a:bodyPr>
          <a:lstStyle/>
          <a:p>
            <a:pPr algn="l">
              <a:lnSpc>
                <a:spcPct val="100000"/>
              </a:lnSpc>
              <a:spcBef>
                <a:spcPct val="5000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用拉链法解决冲突建立的链表如下图所示。</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436" name="Rectangle 3"/>
          <p:cNvSpPr>
            <a:spLocks noChangeArrowheads="1"/>
          </p:cNvSpPr>
          <p:nvPr/>
        </p:nvSpPr>
        <p:spPr bwMode="auto">
          <a:xfrm>
            <a:off x="3638550" y="1862138"/>
            <a:ext cx="9144000" cy="0"/>
          </a:xfrm>
          <a:prstGeom prst="rect">
            <a:avLst/>
          </a:prstGeom>
          <a:noFill/>
          <a:ln w="9525">
            <a:noFill/>
            <a:miter lim="800000"/>
          </a:ln>
        </p:spPr>
        <p:txBody>
          <a:bodyPr>
            <a:spAutoFit/>
          </a:bodyPr>
          <a:lstStyle/>
          <a:p>
            <a:endParaRPr lang="zh-CN" altLang="en-US"/>
          </a:p>
        </p:txBody>
      </p:sp>
      <p:sp>
        <p:nvSpPr>
          <p:cNvPr id="18438" name="Rectangle 5"/>
          <p:cNvSpPr>
            <a:spLocks noChangeArrowheads="1"/>
          </p:cNvSpPr>
          <p:nvPr/>
        </p:nvSpPr>
        <p:spPr bwMode="auto">
          <a:xfrm>
            <a:off x="0" y="2314575"/>
            <a:ext cx="9144000" cy="0"/>
          </a:xfrm>
          <a:prstGeom prst="rect">
            <a:avLst/>
          </a:prstGeom>
          <a:noFill/>
          <a:ln w="9525">
            <a:noFill/>
            <a:miter lim="800000"/>
          </a:ln>
        </p:spPr>
        <p:txBody>
          <a:bodyPr wrap="none" anchor="ctr">
            <a:spAutoFit/>
          </a:bodyPr>
          <a:lstStyle/>
          <a:p>
            <a:endParaRPr lang="zh-CN" altLang="en-US"/>
          </a:p>
        </p:txBody>
      </p:sp>
      <p:grpSp>
        <p:nvGrpSpPr>
          <p:cNvPr id="2" name="组合 69"/>
          <p:cNvGrpSpPr/>
          <p:nvPr/>
        </p:nvGrpSpPr>
        <p:grpSpPr>
          <a:xfrm>
            <a:off x="3071802" y="857232"/>
            <a:ext cx="3260748" cy="5605502"/>
            <a:chOff x="4643438" y="857232"/>
            <a:chExt cx="3260748" cy="5605502"/>
          </a:xfrm>
        </p:grpSpPr>
        <p:sp>
          <p:nvSpPr>
            <p:cNvPr id="10" name="矩形 9"/>
            <p:cNvSpPr/>
            <p:nvPr/>
          </p:nvSpPr>
          <p:spPr>
            <a:xfrm>
              <a:off x="5072066" y="171448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1" name="TextBox 10"/>
            <p:cNvSpPr txBox="1"/>
            <p:nvPr/>
          </p:nvSpPr>
          <p:spPr>
            <a:xfrm>
              <a:off x="4643438" y="175258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2" name="矩形 11"/>
            <p:cNvSpPr/>
            <p:nvPr/>
          </p:nvSpPr>
          <p:spPr>
            <a:xfrm>
              <a:off x="5072066" y="214311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3" name="TextBox 12"/>
            <p:cNvSpPr txBox="1"/>
            <p:nvPr/>
          </p:nvSpPr>
          <p:spPr>
            <a:xfrm>
              <a:off x="4643438" y="218121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3</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4" name="矩形 13"/>
            <p:cNvSpPr/>
            <p:nvPr/>
          </p:nvSpPr>
          <p:spPr>
            <a:xfrm>
              <a:off x="5072066" y="85723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5" name="TextBox 14"/>
            <p:cNvSpPr txBox="1"/>
            <p:nvPr/>
          </p:nvSpPr>
          <p:spPr>
            <a:xfrm>
              <a:off x="4643438" y="88263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6" name="矩形 15"/>
            <p:cNvSpPr/>
            <p:nvPr/>
          </p:nvSpPr>
          <p:spPr>
            <a:xfrm>
              <a:off x="5072066" y="128586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7" name="TextBox 16"/>
            <p:cNvSpPr txBox="1"/>
            <p:nvPr/>
          </p:nvSpPr>
          <p:spPr>
            <a:xfrm>
              <a:off x="4643438" y="131126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8" name="矩形 17"/>
            <p:cNvSpPr/>
            <p:nvPr/>
          </p:nvSpPr>
          <p:spPr>
            <a:xfrm>
              <a:off x="5072066" y="344170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9" name="TextBox 18"/>
            <p:cNvSpPr txBox="1"/>
            <p:nvPr/>
          </p:nvSpPr>
          <p:spPr>
            <a:xfrm>
              <a:off x="4643438" y="347980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6</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0" name="矩形 19"/>
            <p:cNvSpPr/>
            <p:nvPr/>
          </p:nvSpPr>
          <p:spPr>
            <a:xfrm>
              <a:off x="5072066" y="387032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1" name="TextBox 20"/>
            <p:cNvSpPr txBox="1"/>
            <p:nvPr/>
          </p:nvSpPr>
          <p:spPr>
            <a:xfrm>
              <a:off x="4643438" y="390842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7</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2" name="矩形 21"/>
            <p:cNvSpPr/>
            <p:nvPr/>
          </p:nvSpPr>
          <p:spPr>
            <a:xfrm>
              <a:off x="5072066" y="258444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3" name="TextBox 22"/>
            <p:cNvSpPr txBox="1"/>
            <p:nvPr/>
          </p:nvSpPr>
          <p:spPr>
            <a:xfrm>
              <a:off x="4643438" y="260984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4</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4" name="矩形 23"/>
            <p:cNvSpPr/>
            <p:nvPr/>
          </p:nvSpPr>
          <p:spPr>
            <a:xfrm>
              <a:off x="5072066" y="301307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5" name="TextBox 24"/>
            <p:cNvSpPr txBox="1"/>
            <p:nvPr/>
          </p:nvSpPr>
          <p:spPr>
            <a:xfrm>
              <a:off x="4643438" y="303847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5</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6" name="矩形 25"/>
            <p:cNvSpPr/>
            <p:nvPr/>
          </p:nvSpPr>
          <p:spPr>
            <a:xfrm>
              <a:off x="5072066" y="430689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7" name="TextBox 26"/>
            <p:cNvSpPr txBox="1"/>
            <p:nvPr/>
          </p:nvSpPr>
          <p:spPr>
            <a:xfrm>
              <a:off x="4643438" y="434499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8</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8" name="矩形 27"/>
            <p:cNvSpPr/>
            <p:nvPr/>
          </p:nvSpPr>
          <p:spPr>
            <a:xfrm>
              <a:off x="5072066" y="560547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29" name="TextBox 28"/>
            <p:cNvSpPr txBox="1"/>
            <p:nvPr/>
          </p:nvSpPr>
          <p:spPr>
            <a:xfrm>
              <a:off x="4643438" y="564357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30" name="矩形 29"/>
            <p:cNvSpPr/>
            <p:nvPr/>
          </p:nvSpPr>
          <p:spPr>
            <a:xfrm>
              <a:off x="5072066" y="603410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31" name="TextBox 30"/>
            <p:cNvSpPr txBox="1"/>
            <p:nvPr/>
          </p:nvSpPr>
          <p:spPr>
            <a:xfrm>
              <a:off x="4643438" y="607220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32" name="矩形 31"/>
            <p:cNvSpPr/>
            <p:nvPr/>
          </p:nvSpPr>
          <p:spPr>
            <a:xfrm>
              <a:off x="5072066" y="474822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33" name="TextBox 32"/>
            <p:cNvSpPr txBox="1"/>
            <p:nvPr/>
          </p:nvSpPr>
          <p:spPr>
            <a:xfrm>
              <a:off x="4643438" y="477362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9</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34" name="矩形 33"/>
            <p:cNvSpPr/>
            <p:nvPr/>
          </p:nvSpPr>
          <p:spPr>
            <a:xfrm>
              <a:off x="5072066" y="517685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35" name="TextBox 34"/>
            <p:cNvSpPr txBox="1"/>
            <p:nvPr/>
          </p:nvSpPr>
          <p:spPr>
            <a:xfrm>
              <a:off x="4643438" y="520225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36" name="矩形 35"/>
            <p:cNvSpPr/>
            <p:nvPr/>
          </p:nvSpPr>
          <p:spPr>
            <a:xfrm>
              <a:off x="5854512"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54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7" name="矩形 36"/>
            <p:cNvSpPr/>
            <p:nvPr/>
          </p:nvSpPr>
          <p:spPr>
            <a:xfrm>
              <a:off x="6283140"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9" name="直接箭头连接符 38"/>
            <p:cNvCxnSpPr>
              <a:endCxn id="36" idx="1"/>
            </p:cNvCxnSpPr>
            <p:nvPr/>
          </p:nvCxnSpPr>
          <p:spPr>
            <a:xfrm flipV="1">
              <a:off x="5286380" y="192252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0" name="矩形 39"/>
            <p:cNvSpPr/>
            <p:nvPr/>
          </p:nvSpPr>
          <p:spPr>
            <a:xfrm>
              <a:off x="5854512"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29</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1" name="矩形 40"/>
            <p:cNvSpPr/>
            <p:nvPr/>
          </p:nvSpPr>
          <p:spPr>
            <a:xfrm>
              <a:off x="6283140"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2" name="直接箭头连接符 41"/>
            <p:cNvCxnSpPr>
              <a:endCxn id="40" idx="1"/>
            </p:cNvCxnSpPr>
            <p:nvPr/>
          </p:nvCxnSpPr>
          <p:spPr>
            <a:xfrm flipV="1">
              <a:off x="5286380" y="237164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3" name="矩形 42"/>
            <p:cNvSpPr/>
            <p:nvPr/>
          </p:nvSpPr>
          <p:spPr>
            <a:xfrm>
              <a:off x="7043558"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16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4" name="矩形 43"/>
            <p:cNvSpPr/>
            <p:nvPr/>
          </p:nvSpPr>
          <p:spPr>
            <a:xfrm>
              <a:off x="7472186"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5" name="直接箭头连接符 44"/>
            <p:cNvCxnSpPr>
              <a:endCxn id="43" idx="1"/>
            </p:cNvCxnSpPr>
            <p:nvPr/>
          </p:nvCxnSpPr>
          <p:spPr>
            <a:xfrm flipV="1">
              <a:off x="6475426" y="237655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6" name="矩形 45"/>
            <p:cNvSpPr/>
            <p:nvPr/>
          </p:nvSpPr>
          <p:spPr>
            <a:xfrm>
              <a:off x="5854512"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43</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7" name="矩形 46"/>
            <p:cNvSpPr/>
            <p:nvPr/>
          </p:nvSpPr>
          <p:spPr>
            <a:xfrm>
              <a:off x="6283140"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8" name="直接箭头连接符 47"/>
            <p:cNvCxnSpPr>
              <a:endCxn id="46" idx="1"/>
            </p:cNvCxnSpPr>
            <p:nvPr/>
          </p:nvCxnSpPr>
          <p:spPr>
            <a:xfrm flipV="1">
              <a:off x="5286380" y="281297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9" name="矩形 48"/>
            <p:cNvSpPr/>
            <p:nvPr/>
          </p:nvSpPr>
          <p:spPr>
            <a:xfrm>
              <a:off x="5854512"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31</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0" name="矩形 49"/>
            <p:cNvSpPr/>
            <p:nvPr/>
          </p:nvSpPr>
          <p:spPr>
            <a:xfrm>
              <a:off x="6283140"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1" name="直接箭头连接符 50"/>
            <p:cNvCxnSpPr>
              <a:endCxn id="49" idx="1"/>
            </p:cNvCxnSpPr>
            <p:nvPr/>
          </p:nvCxnSpPr>
          <p:spPr>
            <a:xfrm flipV="1">
              <a:off x="5286380" y="325430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2" name="矩形 51"/>
            <p:cNvSpPr/>
            <p:nvPr/>
          </p:nvSpPr>
          <p:spPr>
            <a:xfrm>
              <a:off x="5854512"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3" name="矩形 52"/>
            <p:cNvSpPr/>
            <p:nvPr/>
          </p:nvSpPr>
          <p:spPr>
            <a:xfrm>
              <a:off x="6283140"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4" name="直接箭头连接符 53"/>
            <p:cNvCxnSpPr>
              <a:endCxn id="52" idx="1"/>
            </p:cNvCxnSpPr>
            <p:nvPr/>
          </p:nvCxnSpPr>
          <p:spPr>
            <a:xfrm flipV="1">
              <a:off x="5286380" y="409885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5" name="矩形 54"/>
            <p:cNvSpPr/>
            <p:nvPr/>
          </p:nvSpPr>
          <p:spPr>
            <a:xfrm>
              <a:off x="5854512"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6" name="矩形 55"/>
            <p:cNvSpPr/>
            <p:nvPr/>
          </p:nvSpPr>
          <p:spPr>
            <a:xfrm>
              <a:off x="6283140"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7" name="直接箭头连接符 56"/>
            <p:cNvCxnSpPr>
              <a:endCxn id="55" idx="1"/>
            </p:cNvCxnSpPr>
            <p:nvPr/>
          </p:nvCxnSpPr>
          <p:spPr>
            <a:xfrm flipV="1">
              <a:off x="5286380" y="455288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8" name="矩形 57"/>
            <p:cNvSpPr/>
            <p:nvPr/>
          </p:nvSpPr>
          <p:spPr>
            <a:xfrm>
              <a:off x="5854512"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9" name="矩形 58"/>
            <p:cNvSpPr/>
            <p:nvPr/>
          </p:nvSpPr>
          <p:spPr>
            <a:xfrm>
              <a:off x="6283140"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0" name="直接箭头连接符 59"/>
            <p:cNvCxnSpPr>
              <a:endCxn id="58" idx="1"/>
            </p:cNvCxnSpPr>
            <p:nvPr/>
          </p:nvCxnSpPr>
          <p:spPr>
            <a:xfrm flipV="1">
              <a:off x="5286380" y="498151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1" name="矩形 60"/>
            <p:cNvSpPr/>
            <p:nvPr/>
          </p:nvSpPr>
          <p:spPr>
            <a:xfrm>
              <a:off x="5854512"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88</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2" name="矩形 61"/>
            <p:cNvSpPr/>
            <p:nvPr/>
          </p:nvSpPr>
          <p:spPr>
            <a:xfrm>
              <a:off x="6283140"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3" name="直接箭头连接符 62"/>
            <p:cNvCxnSpPr>
              <a:endCxn id="61" idx="1"/>
            </p:cNvCxnSpPr>
            <p:nvPr/>
          </p:nvCxnSpPr>
          <p:spPr>
            <a:xfrm flipV="1">
              <a:off x="5286380" y="541014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4" name="矩形 63"/>
            <p:cNvSpPr/>
            <p:nvPr/>
          </p:nvSpPr>
          <p:spPr>
            <a:xfrm>
              <a:off x="5854512"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77</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5" name="矩形 64"/>
            <p:cNvSpPr/>
            <p:nvPr/>
          </p:nvSpPr>
          <p:spPr>
            <a:xfrm>
              <a:off x="6283140"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6" name="直接箭头连接符 65"/>
            <p:cNvCxnSpPr>
              <a:endCxn id="64" idx="1"/>
            </p:cNvCxnSpPr>
            <p:nvPr/>
          </p:nvCxnSpPr>
          <p:spPr>
            <a:xfrm flipV="1">
              <a:off x="5286380" y="626248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67" name="矩形 66"/>
            <p:cNvSpPr/>
            <p:nvPr/>
          </p:nvSpPr>
          <p:spPr>
            <a:xfrm>
              <a:off x="7043558"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90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8" name="矩形 67"/>
            <p:cNvSpPr/>
            <p:nvPr/>
          </p:nvSpPr>
          <p:spPr>
            <a:xfrm>
              <a:off x="7472186"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9" name="直接箭头连接符 68"/>
            <p:cNvCxnSpPr>
              <a:endCxn id="67" idx="1"/>
            </p:cNvCxnSpPr>
            <p:nvPr/>
          </p:nvCxnSpPr>
          <p:spPr>
            <a:xfrm flipV="1">
              <a:off x="6475426" y="626739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71" name="TextBox 70"/>
          <p:cNvSpPr txBox="1"/>
          <p:nvPr/>
        </p:nvSpPr>
        <p:spPr>
          <a:xfrm>
            <a:off x="1142976" y="3143248"/>
            <a:ext cx="1571636" cy="707886"/>
          </a:xfrm>
          <a:prstGeom prst="rect">
            <a:avLst/>
          </a:prstGeom>
          <a:noFill/>
        </p:spPr>
        <p:txBody>
          <a:bodyPr wrap="square" rtlCol="0">
            <a:spAutoFit/>
          </a:bodyPr>
          <a:lstStyle/>
          <a:p>
            <a:pPr>
              <a:lnSpc>
                <a:spcPct val="100000"/>
              </a:lnSpc>
            </a:pPr>
            <a:r>
              <a:rPr kumimoji="1"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存放的不再是元素本身</a:t>
            </a:r>
            <a:endParaRPr lang="zh-CN" altLang="en-US" sz="2000">
              <a:latin typeface="仿宋" panose="02010609060101010101" pitchFamily="49" charset="-122"/>
              <a:ea typeface="仿宋" panose="02010609060101010101" pitchFamily="49" charset="-122"/>
            </a:endParaRPr>
          </a:p>
        </p:txBody>
      </p:sp>
      <p:cxnSp>
        <p:nvCxnSpPr>
          <p:cNvPr id="73" name="直接箭头连接符 72"/>
          <p:cNvCxnSpPr>
            <a:stCxn id="71" idx="3"/>
          </p:cNvCxnSpPr>
          <p:nvPr/>
        </p:nvCxnSpPr>
        <p:spPr>
          <a:xfrm flipV="1">
            <a:off x="2714612" y="3143250"/>
            <a:ext cx="928694" cy="353941"/>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78" name="灯片编号占位符 77"/>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285728"/>
            <a:ext cx="464347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9.4.4 </a:t>
            </a:r>
            <a:r>
              <a:rPr lang="zh-CN" altLang="zh-CN" smtClean="0">
                <a:latin typeface="Consolas" panose="020B0609020204030204" pitchFamily="49" charset="0"/>
                <a:ea typeface="微软雅黑" panose="020B0503020204020204" pitchFamily="34" charset="-122"/>
                <a:cs typeface="Consolas" panose="020B0609020204030204" pitchFamily="49" charset="0"/>
              </a:rPr>
              <a:t>哈希表查找及性能分析</a:t>
            </a:r>
            <a:endParaRPr lang="zh-CN" altLang="zh-CN">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928670"/>
            <a:ext cx="55721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采用开放定址法建立的哈希表的查找</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0" name="Text Box 2"/>
          <p:cNvSpPr txBox="1">
            <a:spLocks noChangeArrowheads="1"/>
          </p:cNvSpPr>
          <p:nvPr/>
        </p:nvSpPr>
        <p:spPr bwMode="auto">
          <a:xfrm>
            <a:off x="642910" y="1714488"/>
            <a:ext cx="7786742" cy="35267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lnSpc>
                <a:spcPts val="3000"/>
              </a:lnSpc>
              <a:spcBef>
                <a:spcPts val="6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9.16】</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关键字</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序列</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(7,8,30,11,18,9,14)</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散</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列存储到散列表中，散列表的存储空间是一个下标从</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开始的一维数组，散列函数为：</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mod 7</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，处理冲突采用线性探测再散列法，要求装填（载）因子为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0.7</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）请画出所构造的散列表。</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）分别计算等概率情况下，查找成功和查找不成功的平均查找长度。</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FF0000"/>
                </a:solidFill>
                <a:latin typeface="楷体" panose="02010609060101010101" pitchFamily="49" charset="-122"/>
                <a:ea typeface="楷体" panose="02010609060101010101" pitchFamily="49" charset="-122"/>
                <a:cs typeface="Consolas" panose="020B0609020204030204" pitchFamily="49" charset="0"/>
              </a:rPr>
              <a:t>说明</a:t>
            </a:r>
            <a:r>
              <a:rPr lang="zh-CN" altLang="en-US" sz="2000" dirty="0">
                <a:solidFill>
                  <a:srgbClr val="FF0000"/>
                </a:solidFill>
                <a:latin typeface="楷体" panose="02010609060101010101" pitchFamily="49" charset="-122"/>
                <a:ea typeface="楷体" panose="02010609060101010101" pitchFamily="49" charset="-122"/>
                <a:cs typeface="Consolas" panose="020B0609020204030204" pitchFamily="49" charset="0"/>
              </a:rPr>
              <a:t>：本题为</a:t>
            </a:r>
            <a:r>
              <a:rPr lang="en-US" altLang="zh-CN" sz="2000" dirty="0">
                <a:solidFill>
                  <a:srgbClr val="FF0000"/>
                </a:solidFill>
                <a:latin typeface="楷体" panose="02010609060101010101" pitchFamily="49" charset="-122"/>
                <a:ea typeface="楷体" panose="02010609060101010101" pitchFamily="49" charset="-122"/>
                <a:cs typeface="Consolas" panose="020B0609020204030204" pitchFamily="49" charset="0"/>
              </a:rPr>
              <a:t>2010</a:t>
            </a:r>
            <a:r>
              <a:rPr lang="zh-CN" altLang="en-US" sz="2000" dirty="0">
                <a:solidFill>
                  <a:srgbClr val="FF0000"/>
                </a:solidFill>
                <a:latin typeface="楷体" panose="02010609060101010101" pitchFamily="49" charset="-122"/>
                <a:ea typeface="楷体" panose="02010609060101010101" pitchFamily="49" charset="-122"/>
                <a:cs typeface="Consolas" panose="020B0609020204030204" pitchFamily="49" charset="0"/>
              </a:rPr>
              <a:t>年全国考研题。</a:t>
            </a:r>
            <a:endParaRPr lang="zh-CN" altLang="en-US" sz="2000" dirty="0">
              <a:solidFill>
                <a:srgbClr val="FF0000"/>
              </a:solidFill>
              <a:latin typeface="楷体" panose="02010609060101010101" pitchFamily="49" charset="-122"/>
              <a:ea typeface="楷体"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1142976" y="857232"/>
            <a:ext cx="7215238" cy="5443670"/>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pPr algn="l">
              <a:lnSpc>
                <a:spcPts val="3000"/>
              </a:lnSpc>
              <a:spcBef>
                <a:spcPts val="0"/>
              </a:spcBef>
            </a:pPr>
            <a:r>
              <a:rPr lang="zh-CN" altLang="en-US" sz="2000" smtClean="0">
                <a:solidFill>
                  <a:srgbClr val="3333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α=0.7=</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/0.7=10</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计算</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各关键字存储地址的过程如下：</a:t>
            </a:r>
            <a:endParaRPr lang="zh-CN" altLang="pt-BR" sz="20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20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)=7×3 mod 7=0</a:t>
            </a:r>
            <a:endParaRPr lang="pt-BR"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)=8×3 mod 7=3</a:t>
            </a:r>
            <a:endParaRPr lang="pt-BR"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(30</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)=30×3 mod 7=6</a:t>
            </a:r>
            <a:endParaRPr lang="pt-BR"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)=11×3 mod 7=5</a:t>
            </a:r>
            <a:endParaRPr lang="pt-BR"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(18</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)=18×3 mod 7=5	</a:t>
            </a:r>
            <a:r>
              <a:rPr lang="zh-CN" altLang="pt-BR"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冲突</a:t>
            </a:r>
            <a:endParaRPr lang="zh-CN" altLang="pt-BR"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pt-BR"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=(5+1) mod 10=6	</a:t>
            </a:r>
            <a:r>
              <a:rPr lang="zh-CN" altLang="pt-BR" sz="1800" dirty="0">
                <a:solidFill>
                  <a:srgbClr val="006600"/>
                </a:solidFill>
                <a:latin typeface="Consolas" panose="020B0609020204030204" pitchFamily="49" charset="0"/>
                <a:ea typeface="仿宋" panose="02010609060101010101" pitchFamily="49" charset="-122"/>
                <a:cs typeface="Consolas" panose="020B0609020204030204" pitchFamily="49" charset="0"/>
              </a:rPr>
              <a:t>仍冲突</a:t>
            </a:r>
            <a:endParaRPr lang="zh-CN" altLang="pt-BR" sz="1800" i="1"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pt-BR"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pt-BR"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=(6+1) mod 10=7</a:t>
            </a:r>
            <a:endParaRPr lang="pt-BR" altLang="zh-CN" sz="1800" i="1"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)=9×3 mod 7=6	</a:t>
            </a:r>
            <a:r>
              <a:rPr lang="zh-CN" altLang="pt-BR"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冲突</a:t>
            </a:r>
            <a:endParaRPr lang="zh-CN" altLang="pt-BR"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pt-BR"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=(6+1) mod 10=7	</a:t>
            </a:r>
            <a:r>
              <a:rPr lang="zh-CN" altLang="pt-BR" sz="1800" dirty="0">
                <a:solidFill>
                  <a:srgbClr val="006600"/>
                </a:solidFill>
                <a:latin typeface="Consolas" panose="020B0609020204030204" pitchFamily="49" charset="0"/>
                <a:ea typeface="仿宋" panose="02010609060101010101" pitchFamily="49" charset="-122"/>
                <a:cs typeface="Consolas" panose="020B0609020204030204" pitchFamily="49" charset="0"/>
              </a:rPr>
              <a:t>仍冲突</a:t>
            </a:r>
            <a:endParaRPr lang="zh-CN" altLang="pt-BR" sz="1800" i="1"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pt-BR"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pt-BR"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=(7+1) mod 10=8</a:t>
            </a:r>
            <a:endParaRPr lang="pt-BR" altLang="zh-CN" sz="1800" i="1"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pt-BR"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(14</a:t>
            </a:r>
            <a:r>
              <a:rPr lang="pt-BR"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)=14×3 mod 7=0	</a:t>
            </a:r>
            <a:r>
              <a:rPr lang="zh-CN" altLang="pt-BR"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冲突</a:t>
            </a:r>
            <a:endParaRPr lang="zh-CN" altLang="pt-BR"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zh-CN" altLang="pt-BR" sz="1800" i="1">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zh-CN" altLang="pt-BR" sz="1800" i="1" smtClean="0">
                <a:solidFill>
                  <a:srgbClr val="3333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i="1" smtClean="0">
                <a:solidFill>
                  <a:srgbClr val="006600"/>
                </a:solidFill>
                <a:latin typeface="Consolas" panose="020B0609020204030204" pitchFamily="49" charset="0"/>
                <a:ea typeface="仿宋" panose="02010609060101010101" pitchFamily="49" charset="-122"/>
                <a:cs typeface="Consolas" panose="020B0609020204030204" pitchFamily="49" charset="0"/>
              </a:rPr>
              <a:t>d</a:t>
            </a:r>
            <a:r>
              <a:rPr lang="pt-BR" altLang="zh-CN" sz="1800" baseline="-25000" smtClean="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=(0+1) mod 10=1</a:t>
            </a:r>
            <a:endPar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pic>
        <p:nvPicPr>
          <p:cNvPr id="5" name="Picture 2"/>
          <p:cNvPicPr>
            <a:picLocks noChangeAspect="1" noChangeArrowheads="1"/>
          </p:cNvPicPr>
          <p:nvPr/>
        </p:nvPicPr>
        <p:blipFill>
          <a:blip r:embed="rId1" cstate="print"/>
          <a:srcRect/>
          <a:stretch>
            <a:fillRect/>
          </a:stretch>
        </p:blipFill>
        <p:spPr bwMode="auto">
          <a:xfrm>
            <a:off x="285720" y="0"/>
            <a:ext cx="1643074" cy="796023"/>
          </a:xfrm>
          <a:prstGeom prst="rect">
            <a:avLst/>
          </a:prstGeom>
          <a:noFill/>
          <a:ln w="9525">
            <a:noFill/>
            <a:miter lim="800000"/>
            <a:headEnd/>
            <a:tailEnd/>
          </a:ln>
        </p:spPr>
      </p:pic>
      <p:sp>
        <p:nvSpPr>
          <p:cNvPr id="11" name="灯片编号占位符 10"/>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23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23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523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23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23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523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523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523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23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5234">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234">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523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1079532" y="333375"/>
            <a:ext cx="3638542" cy="400110"/>
          </a:xfrm>
          <a:prstGeom prst="rect">
            <a:avLst/>
          </a:prstGeom>
          <a:noFill/>
          <a:ln w="9525">
            <a:noFill/>
            <a:miter lim="800000"/>
          </a:ln>
        </p:spPr>
        <p:txBody>
          <a:bodyPr wrap="square">
            <a:spAutoFit/>
          </a:bodyPr>
          <a:lstStyle/>
          <a:p>
            <a:pPr algn="l">
              <a:lnSpc>
                <a:spcPct val="100000"/>
              </a:lnSpc>
              <a:spcBef>
                <a:spcPct val="50000"/>
              </a:spcBef>
            </a:pPr>
            <a:r>
              <a:rPr lang="zh-CN" altLang="en-US" sz="2000" dirty="0">
                <a:solidFill>
                  <a:srgbClr val="0000FF"/>
                </a:solidFill>
                <a:latin typeface="仿宋" panose="02010609060101010101" pitchFamily="49" charset="-122"/>
                <a:ea typeface="仿宋" panose="02010609060101010101" pitchFamily="49" charset="-122"/>
                <a:cs typeface="Times New Roman" panose="02020603050405020304" pitchFamily="18" charset="0"/>
              </a:rPr>
              <a:t>构造的</a:t>
            </a:r>
            <a:r>
              <a:rPr lang="zh-CN" altLang="en-US" sz="2000">
                <a:solidFill>
                  <a:srgbClr val="0000FF"/>
                </a:solidFill>
                <a:latin typeface="仿宋" panose="02010609060101010101" pitchFamily="49" charset="-122"/>
                <a:ea typeface="仿宋" panose="02010609060101010101" pitchFamily="49" charset="-122"/>
                <a:cs typeface="Times New Roman" panose="02020603050405020304" pitchFamily="18" charset="0"/>
              </a:rPr>
              <a:t>哈希</a:t>
            </a:r>
            <a:r>
              <a:rPr lang="zh-CN" altLang="en-US" sz="2000" smtClean="0">
                <a:solidFill>
                  <a:srgbClr val="0000FF"/>
                </a:solidFill>
                <a:latin typeface="仿宋" panose="02010609060101010101" pitchFamily="49" charset="-122"/>
                <a:ea typeface="仿宋" panose="02010609060101010101" pitchFamily="49" charset="-122"/>
                <a:cs typeface="Times New Roman" panose="02020603050405020304" pitchFamily="18" charset="0"/>
              </a:rPr>
              <a:t>表：</a:t>
            </a:r>
            <a:endParaRPr lang="zh-CN" altLang="en-US" sz="2000" dirty="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graphicFrame>
        <p:nvGraphicFramePr>
          <p:cNvPr id="207875" name="Group 3"/>
          <p:cNvGraphicFramePr>
            <a:graphicFrameLocks noGrp="1"/>
          </p:cNvGraphicFramePr>
          <p:nvPr/>
        </p:nvGraphicFramePr>
        <p:xfrm>
          <a:off x="642910" y="981075"/>
          <a:ext cx="7920038" cy="1097280"/>
        </p:xfrm>
        <a:graphic>
          <a:graphicData uri="http://schemas.openxmlformats.org/drawingml/2006/table">
            <a:tbl>
              <a:tblPr>
                <a:tableStyleId>{ED083AE6-46FA-4A59-8FB0-9F97EB10719F}</a:tableStyleId>
              </a:tblPr>
              <a:tblGrid>
                <a:gridCol w="1223963"/>
                <a:gridCol w="647700"/>
                <a:gridCol w="647700"/>
                <a:gridCol w="720725"/>
                <a:gridCol w="720725"/>
                <a:gridCol w="574675"/>
                <a:gridCol w="720725"/>
                <a:gridCol w="720725"/>
                <a:gridCol w="647700"/>
                <a:gridCol w="719137"/>
                <a:gridCol w="576263"/>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下标</a:t>
                      </a:r>
                      <a:endParaRPr kumimoji="0" lang="zh-CN" altLang="en-US"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dirty="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dirty="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关键字</a:t>
                      </a:r>
                      <a:endParaRPr kumimoji="0" lang="zh-CN" altLang="en-US"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14</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11</a:t>
                      </a:r>
                      <a:endParaRPr kumimoji="0" lang="en-US"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18</a:t>
                      </a:r>
                      <a:endParaRPr kumimoji="0" lang="en-US"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探测次数</a:t>
                      </a:r>
                      <a:endParaRPr kumimoji="0" lang="zh-CN" altLang="en-US"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bl>
          </a:graphicData>
        </a:graphic>
      </p:graphicFrame>
      <p:sp>
        <p:nvSpPr>
          <p:cNvPr id="96309" name="Text Box 53"/>
          <p:cNvSpPr txBox="1">
            <a:spLocks noChangeArrowheads="1"/>
          </p:cNvSpPr>
          <p:nvPr/>
        </p:nvSpPr>
        <p:spPr bwMode="auto">
          <a:xfrm>
            <a:off x="1428728" y="2500306"/>
            <a:ext cx="6064237" cy="861774"/>
          </a:xfrm>
          <a:prstGeom prst="rect">
            <a:avLst/>
          </a:prstGeom>
          <a:noFill/>
          <a:ln w="9525">
            <a:noFill/>
            <a:miter lim="800000"/>
          </a:ln>
        </p:spPr>
        <p:txBody>
          <a:bodyPr wrap="square">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）在等概率情况下：</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ASL</a:t>
            </a:r>
            <a:r>
              <a:rPr lang="zh-CN" altLang="en-US"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成功</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=(1+2+1+1+1+3+3)/7=12/7=1.71</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1000100" y="571480"/>
            <a:ext cx="4178299" cy="400110"/>
          </a:xfrm>
          <a:prstGeom prst="rect">
            <a:avLst/>
          </a:prstGeom>
          <a:noFill/>
          <a:ln w="9525">
            <a:noFill/>
            <a:miter lim="800000"/>
          </a:ln>
        </p:spPr>
        <p:txBody>
          <a:bodyPr wrap="square">
            <a:spAutoFit/>
          </a:bodyPr>
          <a:lstStyle/>
          <a:p>
            <a:pPr lvl="0" algn="l">
              <a:lnSpc>
                <a:spcPct val="100000"/>
              </a:lnSpc>
              <a:spcBef>
                <a:spcPct val="50000"/>
              </a:spcBef>
            </a:pP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不</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成功的</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情况</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下所有探测次数：</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208899" name="Group 3"/>
          <p:cNvGraphicFramePr>
            <a:graphicFrameLocks noGrp="1"/>
          </p:cNvGraphicFramePr>
          <p:nvPr/>
        </p:nvGraphicFramePr>
        <p:xfrm>
          <a:off x="785786" y="1500174"/>
          <a:ext cx="7643866" cy="1115695"/>
        </p:xfrm>
        <a:graphic>
          <a:graphicData uri="http://schemas.openxmlformats.org/drawingml/2006/table">
            <a:tbl>
              <a:tblPr>
                <a:tableStyleId>{ED083AE6-46FA-4A59-8FB0-9F97EB10719F}</a:tableStyleId>
              </a:tblPr>
              <a:tblGrid>
                <a:gridCol w="1214446"/>
                <a:gridCol w="714380"/>
                <a:gridCol w="714380"/>
                <a:gridCol w="571504"/>
                <a:gridCol w="642942"/>
                <a:gridCol w="522007"/>
                <a:gridCol w="668438"/>
                <a:gridCol w="665653"/>
                <a:gridCol w="668438"/>
                <a:gridCol w="668438"/>
                <a:gridCol w="593240"/>
              </a:tblGrid>
              <a:tr h="3841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下标</a:t>
                      </a:r>
                      <a:endParaRPr kumimoji="0" lang="zh-CN" altLang="en-US"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dirty="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0</a:t>
                      </a:r>
                      <a:endParaRPr kumimoji="0" lang="en-US" altLang="zh-CN" sz="1800" b="0" i="0" u="none" strike="noStrike" cap="none" normalizeH="0" baseline="0" dirty="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6</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0" i="0" u="none" strike="noStrike" cap="none" normalizeH="0" baseline="0" smtClean="0">
                        <a:ln>
                          <a:noFill/>
                        </a:ln>
                        <a:solidFill>
                          <a:schemeClr val="bg1">
                            <a:lumMod val="50000"/>
                          </a:schemeClr>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关键字</a:t>
                      </a:r>
                      <a:endParaRPr kumimoji="0" lang="zh-CN" altLang="en-US"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14</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11</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18</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9</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dirty="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探测次数</a:t>
                      </a:r>
                      <a:endParaRPr kumimoji="0" lang="zh-CN" altLang="en-US" sz="1800" b="1"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5</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4</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3</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2</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rPr>
                        <a:t>1</a:t>
                      </a:r>
                      <a:endParaRPr kumimoji="0" lang="en-US" altLang="zh-CN" sz="1800" b="1" i="0" u="none" strike="noStrike" cap="none" normalizeH="0" baseline="0" dirty="0" smtClean="0">
                        <a:ln>
                          <a:noFill/>
                        </a:ln>
                        <a:solidFill>
                          <a:srgbClr val="FF00FF"/>
                        </a:solidFill>
                        <a:effectLst/>
                        <a:latin typeface="Consolas" panose="020B0609020204030204" pitchFamily="49" charset="0"/>
                        <a:ea typeface="仿宋" panose="02010609060101010101" pitchFamily="49" charset="-122"/>
                        <a:cs typeface="Consolas" panose="020B0609020204030204" pitchFamily="49" charset="0"/>
                      </a:endParaRPr>
                    </a:p>
                  </a:txBody>
                  <a:tcPr horzOverflow="overflow"/>
                </a:tc>
              </a:tr>
            </a:tbl>
          </a:graphicData>
        </a:graphic>
      </p:graphicFrame>
      <p:sp>
        <p:nvSpPr>
          <p:cNvPr id="97333" name="Text Box 53"/>
          <p:cNvSpPr txBox="1">
            <a:spLocks noChangeArrowheads="1"/>
          </p:cNvSpPr>
          <p:nvPr/>
        </p:nvSpPr>
        <p:spPr bwMode="auto">
          <a:xfrm>
            <a:off x="1571604" y="3214686"/>
            <a:ext cx="5786478" cy="861774"/>
          </a:xfrm>
          <a:prstGeom prst="rect">
            <a:avLst/>
          </a:prstGeom>
          <a:noFill/>
          <a:ln w="9525">
            <a:noFill/>
            <a:miter lim="800000"/>
          </a:ln>
        </p:spPr>
        <p:txBody>
          <a:bodyPr wrap="square">
            <a:spAutoFit/>
          </a:bodyPr>
          <a:lstStyle/>
          <a:p>
            <a:pPr algn="l">
              <a:lnSpc>
                <a:spcPct val="100000"/>
              </a:lnSpc>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所以有：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ASL</a:t>
            </a:r>
            <a:r>
              <a:rPr lang="zh-CN" altLang="en-US" sz="20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不成功</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=(3+2+1+2+1+5+4)/7=18/7=2.57</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00042"/>
            <a:ext cx="528641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采用拉链法建立的哈希表的查找</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142976" y="1643050"/>
            <a:ext cx="3714776" cy="1141439"/>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36000" bIns="180000" rtlCol="0">
            <a:spAutoFit/>
          </a:bodyPr>
          <a:lstStyle/>
          <a:p>
            <a:pPr marL="457200" indent="-457200" algn="l">
              <a:lnSpc>
                <a:spcPct val="150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哈</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希函数为</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 % </a:t>
            </a:r>
            <a:r>
              <a:rPr lang="en-US" altLang="zh-CN" sz="2000" i="1" smtClean="0">
                <a:solidFill>
                  <a:srgbClr val="FF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50000"/>
              </a:lnSpc>
              <a:spcBef>
                <a:spcPts val="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用拉链法解决冲突</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42976" y="857232"/>
            <a:ext cx="3260748" cy="5605502"/>
            <a:chOff x="4643438" y="857232"/>
            <a:chExt cx="3260748" cy="5605502"/>
          </a:xfrm>
        </p:grpSpPr>
        <p:sp>
          <p:nvSpPr>
            <p:cNvPr id="3" name="矩形 2"/>
            <p:cNvSpPr/>
            <p:nvPr/>
          </p:nvSpPr>
          <p:spPr>
            <a:xfrm>
              <a:off x="5072066" y="171448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4" name="TextBox 3"/>
            <p:cNvSpPr txBox="1"/>
            <p:nvPr/>
          </p:nvSpPr>
          <p:spPr>
            <a:xfrm>
              <a:off x="4643438" y="175258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5" name="矩形 4"/>
            <p:cNvSpPr/>
            <p:nvPr/>
          </p:nvSpPr>
          <p:spPr>
            <a:xfrm>
              <a:off x="5072066" y="214311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6" name="TextBox 5"/>
            <p:cNvSpPr txBox="1"/>
            <p:nvPr/>
          </p:nvSpPr>
          <p:spPr>
            <a:xfrm>
              <a:off x="4643438" y="218121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3</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7" name="矩形 6"/>
            <p:cNvSpPr/>
            <p:nvPr/>
          </p:nvSpPr>
          <p:spPr>
            <a:xfrm>
              <a:off x="5072066" y="85723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8" name="TextBox 7"/>
            <p:cNvSpPr txBox="1"/>
            <p:nvPr/>
          </p:nvSpPr>
          <p:spPr>
            <a:xfrm>
              <a:off x="4643438" y="88263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9" name="矩形 8"/>
            <p:cNvSpPr/>
            <p:nvPr/>
          </p:nvSpPr>
          <p:spPr>
            <a:xfrm>
              <a:off x="5072066" y="128586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0" name="TextBox 9"/>
            <p:cNvSpPr txBox="1"/>
            <p:nvPr/>
          </p:nvSpPr>
          <p:spPr>
            <a:xfrm>
              <a:off x="4643438" y="131126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1" name="矩形 10"/>
            <p:cNvSpPr/>
            <p:nvPr/>
          </p:nvSpPr>
          <p:spPr>
            <a:xfrm>
              <a:off x="5072066" y="344170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2" name="TextBox 11"/>
            <p:cNvSpPr txBox="1"/>
            <p:nvPr/>
          </p:nvSpPr>
          <p:spPr>
            <a:xfrm>
              <a:off x="4643438" y="347980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6</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3" name="矩形 12"/>
            <p:cNvSpPr/>
            <p:nvPr/>
          </p:nvSpPr>
          <p:spPr>
            <a:xfrm>
              <a:off x="5072066" y="387032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4" name="TextBox 13"/>
            <p:cNvSpPr txBox="1"/>
            <p:nvPr/>
          </p:nvSpPr>
          <p:spPr>
            <a:xfrm>
              <a:off x="4643438" y="390842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7</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5" name="矩形 14"/>
            <p:cNvSpPr/>
            <p:nvPr/>
          </p:nvSpPr>
          <p:spPr>
            <a:xfrm>
              <a:off x="5072066" y="258444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6" name="TextBox 15"/>
            <p:cNvSpPr txBox="1"/>
            <p:nvPr/>
          </p:nvSpPr>
          <p:spPr>
            <a:xfrm>
              <a:off x="4643438" y="260984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4</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7" name="矩形 16"/>
            <p:cNvSpPr/>
            <p:nvPr/>
          </p:nvSpPr>
          <p:spPr>
            <a:xfrm>
              <a:off x="5072066" y="301307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8" name="TextBox 17"/>
            <p:cNvSpPr txBox="1"/>
            <p:nvPr/>
          </p:nvSpPr>
          <p:spPr>
            <a:xfrm>
              <a:off x="4643438" y="303847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5</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9" name="矩形 18"/>
            <p:cNvSpPr/>
            <p:nvPr/>
          </p:nvSpPr>
          <p:spPr>
            <a:xfrm>
              <a:off x="5072066" y="430689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0" name="TextBox 19"/>
            <p:cNvSpPr txBox="1"/>
            <p:nvPr/>
          </p:nvSpPr>
          <p:spPr>
            <a:xfrm>
              <a:off x="4643438" y="434499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8</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1" name="矩形 20"/>
            <p:cNvSpPr/>
            <p:nvPr/>
          </p:nvSpPr>
          <p:spPr>
            <a:xfrm>
              <a:off x="5072066" y="560547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22" name="TextBox 21"/>
            <p:cNvSpPr txBox="1"/>
            <p:nvPr/>
          </p:nvSpPr>
          <p:spPr>
            <a:xfrm>
              <a:off x="4643438" y="564357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3" name="矩形 22"/>
            <p:cNvSpPr/>
            <p:nvPr/>
          </p:nvSpPr>
          <p:spPr>
            <a:xfrm>
              <a:off x="5072066" y="603410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4" name="TextBox 23"/>
            <p:cNvSpPr txBox="1"/>
            <p:nvPr/>
          </p:nvSpPr>
          <p:spPr>
            <a:xfrm>
              <a:off x="4643438" y="607220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5" name="矩形 24"/>
            <p:cNvSpPr/>
            <p:nvPr/>
          </p:nvSpPr>
          <p:spPr>
            <a:xfrm>
              <a:off x="5072066" y="474822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6" name="TextBox 25"/>
            <p:cNvSpPr txBox="1"/>
            <p:nvPr/>
          </p:nvSpPr>
          <p:spPr>
            <a:xfrm>
              <a:off x="4643438" y="477362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9</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7" name="矩形 26"/>
            <p:cNvSpPr/>
            <p:nvPr/>
          </p:nvSpPr>
          <p:spPr>
            <a:xfrm>
              <a:off x="5072066" y="517685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8" name="TextBox 27"/>
            <p:cNvSpPr txBox="1"/>
            <p:nvPr/>
          </p:nvSpPr>
          <p:spPr>
            <a:xfrm>
              <a:off x="4643438" y="520225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9" name="矩形 28"/>
            <p:cNvSpPr/>
            <p:nvPr/>
          </p:nvSpPr>
          <p:spPr>
            <a:xfrm>
              <a:off x="5854512"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54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0" name="矩形 29"/>
            <p:cNvSpPr/>
            <p:nvPr/>
          </p:nvSpPr>
          <p:spPr>
            <a:xfrm>
              <a:off x="6283140"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1" name="直接箭头连接符 30"/>
            <p:cNvCxnSpPr>
              <a:endCxn id="29" idx="1"/>
            </p:cNvCxnSpPr>
            <p:nvPr/>
          </p:nvCxnSpPr>
          <p:spPr>
            <a:xfrm flipV="1">
              <a:off x="5286380" y="192252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2" name="矩形 31"/>
            <p:cNvSpPr/>
            <p:nvPr/>
          </p:nvSpPr>
          <p:spPr>
            <a:xfrm>
              <a:off x="5854512"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29</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3" name="矩形 32"/>
            <p:cNvSpPr/>
            <p:nvPr/>
          </p:nvSpPr>
          <p:spPr>
            <a:xfrm>
              <a:off x="6283140"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4" name="直接箭头连接符 33"/>
            <p:cNvCxnSpPr>
              <a:endCxn id="32" idx="1"/>
            </p:cNvCxnSpPr>
            <p:nvPr/>
          </p:nvCxnSpPr>
          <p:spPr>
            <a:xfrm flipV="1">
              <a:off x="5286380" y="237164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5" name="矩形 34"/>
            <p:cNvSpPr/>
            <p:nvPr/>
          </p:nvSpPr>
          <p:spPr>
            <a:xfrm>
              <a:off x="7043558"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16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a:xfrm>
              <a:off x="7472186"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7" name="直接箭头连接符 36"/>
            <p:cNvCxnSpPr>
              <a:endCxn id="35" idx="1"/>
            </p:cNvCxnSpPr>
            <p:nvPr/>
          </p:nvCxnSpPr>
          <p:spPr>
            <a:xfrm flipV="1">
              <a:off x="6475426" y="237655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8" name="矩形 37"/>
            <p:cNvSpPr/>
            <p:nvPr/>
          </p:nvSpPr>
          <p:spPr>
            <a:xfrm>
              <a:off x="5854512"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43</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9" name="矩形 38"/>
            <p:cNvSpPr/>
            <p:nvPr/>
          </p:nvSpPr>
          <p:spPr>
            <a:xfrm>
              <a:off x="6283140"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0" name="直接箭头连接符 39"/>
            <p:cNvCxnSpPr>
              <a:endCxn id="38" idx="1"/>
            </p:cNvCxnSpPr>
            <p:nvPr/>
          </p:nvCxnSpPr>
          <p:spPr>
            <a:xfrm flipV="1">
              <a:off x="5286380" y="281297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1" name="矩形 40"/>
            <p:cNvSpPr/>
            <p:nvPr/>
          </p:nvSpPr>
          <p:spPr>
            <a:xfrm>
              <a:off x="5854512"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31</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2" name="矩形 41"/>
            <p:cNvSpPr/>
            <p:nvPr/>
          </p:nvSpPr>
          <p:spPr>
            <a:xfrm>
              <a:off x="6283140"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3" name="直接箭头连接符 42"/>
            <p:cNvCxnSpPr>
              <a:endCxn id="41" idx="1"/>
            </p:cNvCxnSpPr>
            <p:nvPr/>
          </p:nvCxnSpPr>
          <p:spPr>
            <a:xfrm flipV="1">
              <a:off x="5286380" y="325430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4" name="矩形 43"/>
            <p:cNvSpPr/>
            <p:nvPr/>
          </p:nvSpPr>
          <p:spPr>
            <a:xfrm>
              <a:off x="5854512"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5" name="矩形 44"/>
            <p:cNvSpPr/>
            <p:nvPr/>
          </p:nvSpPr>
          <p:spPr>
            <a:xfrm>
              <a:off x="6283140"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6" name="直接箭头连接符 45"/>
            <p:cNvCxnSpPr>
              <a:endCxn id="44" idx="1"/>
            </p:cNvCxnSpPr>
            <p:nvPr/>
          </p:nvCxnSpPr>
          <p:spPr>
            <a:xfrm flipV="1">
              <a:off x="5286380" y="409885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7" name="矩形 46"/>
            <p:cNvSpPr/>
            <p:nvPr/>
          </p:nvSpPr>
          <p:spPr>
            <a:xfrm>
              <a:off x="5854512"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8" name="矩形 47"/>
            <p:cNvSpPr/>
            <p:nvPr/>
          </p:nvSpPr>
          <p:spPr>
            <a:xfrm>
              <a:off x="6283140"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a:endCxn id="47" idx="1"/>
            </p:cNvCxnSpPr>
            <p:nvPr/>
          </p:nvCxnSpPr>
          <p:spPr>
            <a:xfrm flipV="1">
              <a:off x="5286380" y="455288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0" name="矩形 49"/>
            <p:cNvSpPr/>
            <p:nvPr/>
          </p:nvSpPr>
          <p:spPr>
            <a:xfrm>
              <a:off x="5854512"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1" name="矩形 50"/>
            <p:cNvSpPr/>
            <p:nvPr/>
          </p:nvSpPr>
          <p:spPr>
            <a:xfrm>
              <a:off x="6283140"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2" name="直接箭头连接符 51"/>
            <p:cNvCxnSpPr>
              <a:endCxn id="50" idx="1"/>
            </p:cNvCxnSpPr>
            <p:nvPr/>
          </p:nvCxnSpPr>
          <p:spPr>
            <a:xfrm flipV="1">
              <a:off x="5286380" y="498151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3" name="矩形 52"/>
            <p:cNvSpPr/>
            <p:nvPr/>
          </p:nvSpPr>
          <p:spPr>
            <a:xfrm>
              <a:off x="5854512"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88</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4" name="矩形 53"/>
            <p:cNvSpPr/>
            <p:nvPr/>
          </p:nvSpPr>
          <p:spPr>
            <a:xfrm>
              <a:off x="6283140"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5" name="直接箭头连接符 54"/>
            <p:cNvCxnSpPr>
              <a:endCxn id="53" idx="1"/>
            </p:cNvCxnSpPr>
            <p:nvPr/>
          </p:nvCxnSpPr>
          <p:spPr>
            <a:xfrm flipV="1">
              <a:off x="5286380" y="541014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6" name="矩形 55"/>
            <p:cNvSpPr/>
            <p:nvPr/>
          </p:nvSpPr>
          <p:spPr>
            <a:xfrm>
              <a:off x="5854512"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FF0000"/>
                  </a:solidFill>
                  <a:latin typeface="Consolas" panose="020B0609020204030204" pitchFamily="49" charset="0"/>
                  <a:cs typeface="Consolas" panose="020B0609020204030204" pitchFamily="49" charset="0"/>
                </a:rPr>
                <a:t>77</a:t>
              </a:r>
              <a:endParaRPr lang="zh-CN" altLang="en-US" sz="1800" b="0">
                <a:solidFill>
                  <a:srgbClr val="FF0000"/>
                </a:solidFill>
                <a:latin typeface="Consolas" panose="020B0609020204030204" pitchFamily="49" charset="0"/>
                <a:cs typeface="Consolas" panose="020B0609020204030204" pitchFamily="49" charset="0"/>
              </a:endParaRPr>
            </a:p>
          </p:txBody>
        </p:sp>
        <p:sp>
          <p:nvSpPr>
            <p:cNvPr id="57" name="矩形 56"/>
            <p:cNvSpPr/>
            <p:nvPr/>
          </p:nvSpPr>
          <p:spPr>
            <a:xfrm>
              <a:off x="6283140"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8" name="直接箭头连接符 57"/>
            <p:cNvCxnSpPr>
              <a:endCxn id="56" idx="1"/>
            </p:cNvCxnSpPr>
            <p:nvPr/>
          </p:nvCxnSpPr>
          <p:spPr>
            <a:xfrm flipV="1">
              <a:off x="5286380" y="626248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9" name="矩形 58"/>
            <p:cNvSpPr/>
            <p:nvPr/>
          </p:nvSpPr>
          <p:spPr>
            <a:xfrm>
              <a:off x="7043558"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90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0" name="矩形 59"/>
            <p:cNvSpPr/>
            <p:nvPr/>
          </p:nvSpPr>
          <p:spPr>
            <a:xfrm>
              <a:off x="7472186"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1" name="直接箭头连接符 60"/>
            <p:cNvCxnSpPr>
              <a:endCxn id="59" idx="1"/>
            </p:cNvCxnSpPr>
            <p:nvPr/>
          </p:nvCxnSpPr>
          <p:spPr>
            <a:xfrm flipV="1">
              <a:off x="6475426" y="626739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62" name="TextBox 61"/>
          <p:cNvSpPr txBox="1"/>
          <p:nvPr/>
        </p:nvSpPr>
        <p:spPr>
          <a:xfrm>
            <a:off x="1500166" y="214290"/>
            <a:ext cx="5000660" cy="400110"/>
          </a:xfrm>
          <a:prstGeom prst="rect">
            <a:avLst/>
          </a:prstGeom>
          <a:noFill/>
        </p:spPr>
        <p:txBody>
          <a:bodyPr wrap="square" rtlCol="0">
            <a:spAutoFit/>
          </a:bodyPr>
          <a:lstStyle/>
          <a:p>
            <a:pPr algn="l">
              <a:lnSpc>
                <a:spcPct val="100000"/>
              </a:lnSpc>
            </a:pPr>
            <a:r>
              <a:rPr lang="zh-CN" altLang="en-US"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成功的查找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中找到对应的关键字</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3" name="组合 62"/>
          <p:cNvGrpSpPr/>
          <p:nvPr/>
        </p:nvGrpSpPr>
        <p:grpSpPr>
          <a:xfrm>
            <a:off x="4500562" y="3857628"/>
            <a:ext cx="4000528" cy="891239"/>
            <a:chOff x="1714480" y="2786058"/>
            <a:chExt cx="3714776" cy="661711"/>
          </a:xfrm>
        </p:grpSpPr>
        <p:sp>
          <p:nvSpPr>
            <p:cNvPr id="64" name="TextBox 63"/>
            <p:cNvSpPr txBox="1"/>
            <p:nvPr/>
          </p:nvSpPr>
          <p:spPr>
            <a:xfrm>
              <a:off x="1714480" y="3000372"/>
              <a:ext cx="1285884" cy="233083"/>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ASL</a:t>
              </a:r>
              <a:r>
                <a:rPr lang="en-US" altLang="zh-CN" sz="1800" baseline="-25000" smtClean="0">
                  <a:solidFill>
                    <a:srgbClr val="0000FF"/>
                  </a:solidFill>
                  <a:latin typeface="Consolas" panose="020B0609020204030204" pitchFamily="49" charset="0"/>
                  <a:cs typeface="Consolas" panose="020B0609020204030204" pitchFamily="49" charset="0"/>
                </a:rPr>
                <a:t>succ</a:t>
              </a:r>
              <a:r>
                <a:rPr lang="en-US" altLang="zh-CN" sz="1800" smtClean="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5" name="TextBox 64"/>
            <p:cNvSpPr txBox="1"/>
            <p:nvPr/>
          </p:nvSpPr>
          <p:spPr>
            <a:xfrm>
              <a:off x="3000364" y="2786058"/>
              <a:ext cx="1428760" cy="233083"/>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1×9+2×2</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6" name="TextBox 65"/>
            <p:cNvSpPr txBox="1"/>
            <p:nvPr/>
          </p:nvSpPr>
          <p:spPr>
            <a:xfrm>
              <a:off x="3428992" y="3214686"/>
              <a:ext cx="571504" cy="233083"/>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11</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67" name="直接连接符 66"/>
            <p:cNvCxnSpPr/>
            <p:nvPr/>
          </p:nvCxnSpPr>
          <p:spPr>
            <a:xfrm>
              <a:off x="3021002" y="3143248"/>
              <a:ext cx="1265246" cy="4677"/>
            </a:xfrm>
            <a:prstGeom prst="line">
              <a:avLst/>
            </a:prstGeom>
            <a:ln>
              <a:tailEnd type="none"/>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286248" y="3028890"/>
              <a:ext cx="1143008" cy="233083"/>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 1.18</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69" name="TextBox 68"/>
          <p:cNvSpPr txBox="1"/>
          <p:nvPr/>
        </p:nvSpPr>
        <p:spPr>
          <a:xfrm>
            <a:off x="4357686" y="928670"/>
            <a:ext cx="4429156" cy="861774"/>
          </a:xfrm>
          <a:prstGeom prst="rect">
            <a:avLst/>
          </a:prstGeom>
          <a:noFill/>
        </p:spPr>
        <p:txBody>
          <a:bodyPr wrap="square" rtlCol="0">
            <a:spAutoFit/>
          </a:bodyPr>
          <a:lstStyle/>
          <a:p>
            <a:pPr marL="457200" indent="-457200" algn="l">
              <a:lnSpc>
                <a:spcPct val="100000"/>
              </a:lnSpc>
              <a:buBlip>
                <a:blip r:embed="rId1"/>
              </a:buBlip>
            </a:pP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77</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ha[12]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的单链表中</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TextBox 69"/>
          <p:cNvSpPr txBox="1"/>
          <p:nvPr/>
        </p:nvSpPr>
        <p:spPr>
          <a:xfrm>
            <a:off x="5214942" y="2071678"/>
            <a:ext cx="2928958" cy="707886"/>
          </a:xfrm>
          <a:prstGeom prst="rect">
            <a:avLst/>
          </a:prstGeom>
          <a:noFill/>
        </p:spPr>
        <p:txBody>
          <a:bodyPr wrap="square" rtlCol="0">
            <a:spAutoFit/>
          </a:bodyPr>
          <a:lstStyle/>
          <a:p>
            <a:pPr>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比较次数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对应结点在单链表中的序号（从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a:t>
            </a:r>
            <a:endParaRPr lang="zh-CN" altLang="en-US" sz="2000"/>
          </a:p>
        </p:txBody>
      </p:sp>
      <p:sp>
        <p:nvSpPr>
          <p:cNvPr id="71" name="下箭头 70"/>
          <p:cNvSpPr/>
          <p:nvPr/>
        </p:nvSpPr>
        <p:spPr>
          <a:xfrm>
            <a:off x="6429388" y="3071810"/>
            <a:ext cx="285752" cy="428628"/>
          </a:xfrm>
          <a:prstGeom prst="down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grpSp>
        <p:nvGrpSpPr>
          <p:cNvPr id="72" name="组合 73"/>
          <p:cNvGrpSpPr/>
          <p:nvPr/>
        </p:nvGrpSpPr>
        <p:grpSpPr>
          <a:xfrm>
            <a:off x="142844" y="571480"/>
            <a:ext cx="928694" cy="1071570"/>
            <a:chOff x="214282" y="142852"/>
            <a:chExt cx="1000100" cy="1071569"/>
          </a:xfrm>
        </p:grpSpPr>
        <p:sp>
          <p:nvSpPr>
            <p:cNvPr id="75"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76"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77"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78" name="Text Box 23"/>
            <p:cNvSpPr txBox="1">
              <a:spLocks noChangeArrowheads="1"/>
            </p:cNvSpPr>
            <p:nvPr/>
          </p:nvSpPr>
          <p:spPr bwMode="gray">
            <a:xfrm>
              <a:off x="364012" y="538608"/>
              <a:ext cx="728120" cy="313932"/>
            </a:xfrm>
            <a:prstGeom prst="rect">
              <a:avLst/>
            </a:prstGeom>
            <a:noFill/>
            <a:ln w="9525" algn="ctr">
              <a:noFill/>
              <a:miter lim="800000"/>
            </a:ln>
          </p:spPr>
          <p:txBody>
            <a:bodyPr wrap="square">
              <a:spAutoFit/>
            </a:bodyPr>
            <a:lstStyle/>
            <a:p>
              <a:pPr algn="ctr">
                <a:spcBef>
                  <a:spcPct val="50000"/>
                </a:spcBef>
              </a:pPr>
              <a:r>
                <a:rPr lang="zh-CN" altLang="en-US" sz="1800" b="1"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示例</a:t>
              </a:r>
              <a:endParaRPr lang="zh-CN" altLang="en-US" sz="1800" b="1">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85" name="灯片编号占位符 84"/>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00100" y="857232"/>
            <a:ext cx="3260748" cy="5605502"/>
            <a:chOff x="4643438" y="857232"/>
            <a:chExt cx="3260748" cy="5605502"/>
          </a:xfrm>
        </p:grpSpPr>
        <p:sp>
          <p:nvSpPr>
            <p:cNvPr id="3" name="矩形 2"/>
            <p:cNvSpPr/>
            <p:nvPr/>
          </p:nvSpPr>
          <p:spPr>
            <a:xfrm>
              <a:off x="5072066" y="171448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4" name="TextBox 3"/>
            <p:cNvSpPr txBox="1"/>
            <p:nvPr/>
          </p:nvSpPr>
          <p:spPr>
            <a:xfrm>
              <a:off x="4643438" y="175258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5" name="矩形 4"/>
            <p:cNvSpPr/>
            <p:nvPr/>
          </p:nvSpPr>
          <p:spPr>
            <a:xfrm>
              <a:off x="5072066" y="214311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6" name="TextBox 5"/>
            <p:cNvSpPr txBox="1"/>
            <p:nvPr/>
          </p:nvSpPr>
          <p:spPr>
            <a:xfrm>
              <a:off x="4643438" y="218121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3</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7" name="矩形 6"/>
            <p:cNvSpPr/>
            <p:nvPr/>
          </p:nvSpPr>
          <p:spPr>
            <a:xfrm>
              <a:off x="5072066" y="85723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8" name="TextBox 7"/>
            <p:cNvSpPr txBox="1"/>
            <p:nvPr/>
          </p:nvSpPr>
          <p:spPr>
            <a:xfrm>
              <a:off x="4643438" y="88263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9" name="矩形 8"/>
            <p:cNvSpPr/>
            <p:nvPr/>
          </p:nvSpPr>
          <p:spPr>
            <a:xfrm>
              <a:off x="5072066" y="128586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0" name="TextBox 9"/>
            <p:cNvSpPr txBox="1"/>
            <p:nvPr/>
          </p:nvSpPr>
          <p:spPr>
            <a:xfrm>
              <a:off x="4643438" y="131126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1" name="矩形 10"/>
            <p:cNvSpPr/>
            <p:nvPr/>
          </p:nvSpPr>
          <p:spPr>
            <a:xfrm>
              <a:off x="5072066" y="344170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12" name="TextBox 11"/>
            <p:cNvSpPr txBox="1"/>
            <p:nvPr/>
          </p:nvSpPr>
          <p:spPr>
            <a:xfrm>
              <a:off x="4643438" y="347980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6</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3" name="矩形 12"/>
            <p:cNvSpPr/>
            <p:nvPr/>
          </p:nvSpPr>
          <p:spPr>
            <a:xfrm>
              <a:off x="5072066" y="387032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4" name="TextBox 13"/>
            <p:cNvSpPr txBox="1"/>
            <p:nvPr/>
          </p:nvSpPr>
          <p:spPr>
            <a:xfrm>
              <a:off x="4643438" y="390842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7</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5" name="矩形 14"/>
            <p:cNvSpPr/>
            <p:nvPr/>
          </p:nvSpPr>
          <p:spPr>
            <a:xfrm>
              <a:off x="5072066" y="258444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6" name="TextBox 15"/>
            <p:cNvSpPr txBox="1"/>
            <p:nvPr/>
          </p:nvSpPr>
          <p:spPr>
            <a:xfrm>
              <a:off x="4643438" y="260984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4</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7" name="矩形 16"/>
            <p:cNvSpPr/>
            <p:nvPr/>
          </p:nvSpPr>
          <p:spPr>
            <a:xfrm>
              <a:off x="5072066" y="301307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18" name="TextBox 17"/>
            <p:cNvSpPr txBox="1"/>
            <p:nvPr/>
          </p:nvSpPr>
          <p:spPr>
            <a:xfrm>
              <a:off x="4643438" y="303847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5</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19" name="矩形 18"/>
            <p:cNvSpPr/>
            <p:nvPr/>
          </p:nvSpPr>
          <p:spPr>
            <a:xfrm>
              <a:off x="5072066" y="4306894"/>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0" name="TextBox 19"/>
            <p:cNvSpPr txBox="1"/>
            <p:nvPr/>
          </p:nvSpPr>
          <p:spPr>
            <a:xfrm>
              <a:off x="4643438" y="4344994"/>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8</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1" name="矩形 20"/>
            <p:cNvSpPr/>
            <p:nvPr/>
          </p:nvSpPr>
          <p:spPr>
            <a:xfrm>
              <a:off x="5072066" y="5605478"/>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0" smtClean="0"/>
                <a:t>∧</a:t>
              </a:r>
              <a:endParaRPr lang="zh-CN" altLang="en-US" sz="1800" b="0"/>
            </a:p>
          </p:txBody>
        </p:sp>
        <p:sp>
          <p:nvSpPr>
            <p:cNvPr id="22" name="TextBox 21"/>
            <p:cNvSpPr txBox="1"/>
            <p:nvPr/>
          </p:nvSpPr>
          <p:spPr>
            <a:xfrm>
              <a:off x="4643438" y="5643578"/>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11</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3" name="矩形 22"/>
            <p:cNvSpPr/>
            <p:nvPr/>
          </p:nvSpPr>
          <p:spPr>
            <a:xfrm>
              <a:off x="5072066" y="6034106"/>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4" name="TextBox 23"/>
            <p:cNvSpPr txBox="1"/>
            <p:nvPr/>
          </p:nvSpPr>
          <p:spPr>
            <a:xfrm>
              <a:off x="4643438" y="6072206"/>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12</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5" name="矩形 24"/>
            <p:cNvSpPr/>
            <p:nvPr/>
          </p:nvSpPr>
          <p:spPr>
            <a:xfrm>
              <a:off x="5072066" y="4748222"/>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6" name="TextBox 25"/>
            <p:cNvSpPr txBox="1"/>
            <p:nvPr/>
          </p:nvSpPr>
          <p:spPr>
            <a:xfrm>
              <a:off x="4643438" y="4773622"/>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9</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7" name="矩形 26"/>
            <p:cNvSpPr/>
            <p:nvPr/>
          </p:nvSpPr>
          <p:spPr>
            <a:xfrm>
              <a:off x="5072066" y="5176850"/>
              <a:ext cx="500066" cy="4286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800" b="0"/>
            </a:p>
          </p:txBody>
        </p:sp>
        <p:sp>
          <p:nvSpPr>
            <p:cNvPr id="28" name="TextBox 27"/>
            <p:cNvSpPr txBox="1"/>
            <p:nvPr/>
          </p:nvSpPr>
          <p:spPr>
            <a:xfrm>
              <a:off x="4643438" y="5202250"/>
              <a:ext cx="285752" cy="313932"/>
            </a:xfrm>
            <a:prstGeom prst="rect">
              <a:avLst/>
            </a:prstGeom>
            <a:noFill/>
          </p:spPr>
          <p:txBody>
            <a:bodyPr wrap="square" lIns="0" rIns="0" rtlCol="0">
              <a:spAutoFit/>
            </a:bodyPr>
            <a:lstStyle/>
            <a:p>
              <a:r>
                <a:rPr lang="en-US" altLang="zh-CN" sz="1800" b="0" smtClean="0">
                  <a:solidFill>
                    <a:srgbClr val="00B0F0"/>
                  </a:solidFill>
                  <a:latin typeface="Consolas" panose="020B0609020204030204" pitchFamily="49" charset="0"/>
                  <a:cs typeface="Consolas" panose="020B0609020204030204" pitchFamily="49" charset="0"/>
                </a:rPr>
                <a:t>10</a:t>
              </a:r>
              <a:endParaRPr lang="zh-CN" altLang="en-US" sz="1800" b="0">
                <a:solidFill>
                  <a:srgbClr val="00B0F0"/>
                </a:solidFill>
                <a:latin typeface="Consolas" panose="020B0609020204030204" pitchFamily="49" charset="0"/>
                <a:cs typeface="Consolas" panose="020B0609020204030204" pitchFamily="49" charset="0"/>
              </a:endParaRPr>
            </a:p>
          </p:txBody>
        </p:sp>
        <p:sp>
          <p:nvSpPr>
            <p:cNvPr id="29" name="矩形 28"/>
            <p:cNvSpPr/>
            <p:nvPr/>
          </p:nvSpPr>
          <p:spPr>
            <a:xfrm>
              <a:off x="5854512"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54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0" name="矩形 29"/>
            <p:cNvSpPr/>
            <p:nvPr/>
          </p:nvSpPr>
          <p:spPr>
            <a:xfrm>
              <a:off x="6283140" y="176052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1" name="直接箭头连接符 30"/>
            <p:cNvCxnSpPr>
              <a:endCxn id="29" idx="1"/>
            </p:cNvCxnSpPr>
            <p:nvPr/>
          </p:nvCxnSpPr>
          <p:spPr>
            <a:xfrm flipV="1">
              <a:off x="5286380" y="192252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2" name="矩形 31"/>
            <p:cNvSpPr/>
            <p:nvPr/>
          </p:nvSpPr>
          <p:spPr>
            <a:xfrm>
              <a:off x="5854512"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29</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3" name="矩形 32"/>
            <p:cNvSpPr/>
            <p:nvPr/>
          </p:nvSpPr>
          <p:spPr>
            <a:xfrm>
              <a:off x="6283140" y="220964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4" name="直接箭头连接符 33"/>
            <p:cNvCxnSpPr>
              <a:endCxn id="32" idx="1"/>
            </p:cNvCxnSpPr>
            <p:nvPr/>
          </p:nvCxnSpPr>
          <p:spPr>
            <a:xfrm flipV="1">
              <a:off x="5286380" y="237164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5" name="矩形 34"/>
            <p:cNvSpPr/>
            <p:nvPr/>
          </p:nvSpPr>
          <p:spPr>
            <a:xfrm>
              <a:off x="7043558"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16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a:xfrm>
              <a:off x="7472186" y="221455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37" name="直接箭头连接符 36"/>
            <p:cNvCxnSpPr>
              <a:endCxn id="35" idx="1"/>
            </p:cNvCxnSpPr>
            <p:nvPr/>
          </p:nvCxnSpPr>
          <p:spPr>
            <a:xfrm flipV="1">
              <a:off x="6475426" y="237655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8" name="矩形 37"/>
            <p:cNvSpPr/>
            <p:nvPr/>
          </p:nvSpPr>
          <p:spPr>
            <a:xfrm>
              <a:off x="5854512"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43</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39" name="矩形 38"/>
            <p:cNvSpPr/>
            <p:nvPr/>
          </p:nvSpPr>
          <p:spPr>
            <a:xfrm>
              <a:off x="6283140" y="265097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0" name="直接箭头连接符 39"/>
            <p:cNvCxnSpPr>
              <a:endCxn id="38" idx="1"/>
            </p:cNvCxnSpPr>
            <p:nvPr/>
          </p:nvCxnSpPr>
          <p:spPr>
            <a:xfrm flipV="1">
              <a:off x="5286380" y="281297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1" name="矩形 40"/>
            <p:cNvSpPr/>
            <p:nvPr/>
          </p:nvSpPr>
          <p:spPr>
            <a:xfrm>
              <a:off x="5854512"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31</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2" name="矩形 41"/>
            <p:cNvSpPr/>
            <p:nvPr/>
          </p:nvSpPr>
          <p:spPr>
            <a:xfrm>
              <a:off x="6283140" y="309230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3" name="直接箭头连接符 42"/>
            <p:cNvCxnSpPr>
              <a:endCxn id="41" idx="1"/>
            </p:cNvCxnSpPr>
            <p:nvPr/>
          </p:nvCxnSpPr>
          <p:spPr>
            <a:xfrm flipV="1">
              <a:off x="5286380" y="325430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4" name="矩形 43"/>
            <p:cNvSpPr/>
            <p:nvPr/>
          </p:nvSpPr>
          <p:spPr>
            <a:xfrm>
              <a:off x="5854512"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46</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5" name="矩形 44"/>
            <p:cNvSpPr/>
            <p:nvPr/>
          </p:nvSpPr>
          <p:spPr>
            <a:xfrm>
              <a:off x="6283140" y="393685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6" name="直接箭头连接符 45"/>
            <p:cNvCxnSpPr>
              <a:endCxn id="44" idx="1"/>
            </p:cNvCxnSpPr>
            <p:nvPr/>
          </p:nvCxnSpPr>
          <p:spPr>
            <a:xfrm flipV="1">
              <a:off x="5286380" y="409885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7" name="矩形 46"/>
            <p:cNvSpPr/>
            <p:nvPr/>
          </p:nvSpPr>
          <p:spPr>
            <a:xfrm>
              <a:off x="5854512"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60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8" name="矩形 47"/>
            <p:cNvSpPr/>
            <p:nvPr/>
          </p:nvSpPr>
          <p:spPr>
            <a:xfrm>
              <a:off x="6283140" y="4390884"/>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a:endCxn id="47" idx="1"/>
            </p:cNvCxnSpPr>
            <p:nvPr/>
          </p:nvCxnSpPr>
          <p:spPr>
            <a:xfrm flipV="1">
              <a:off x="5286380" y="4552884"/>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0" name="矩形 49"/>
            <p:cNvSpPr/>
            <p:nvPr/>
          </p:nvSpPr>
          <p:spPr>
            <a:xfrm>
              <a:off x="5854512"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74</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1" name="矩形 50"/>
            <p:cNvSpPr/>
            <p:nvPr/>
          </p:nvSpPr>
          <p:spPr>
            <a:xfrm>
              <a:off x="6283140" y="4819512"/>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2" name="直接箭头连接符 51"/>
            <p:cNvCxnSpPr>
              <a:endCxn id="50" idx="1"/>
            </p:cNvCxnSpPr>
            <p:nvPr/>
          </p:nvCxnSpPr>
          <p:spPr>
            <a:xfrm flipV="1">
              <a:off x="5286380" y="4981512"/>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3" name="矩形 52"/>
            <p:cNvSpPr/>
            <p:nvPr/>
          </p:nvSpPr>
          <p:spPr>
            <a:xfrm>
              <a:off x="5854512"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88</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4" name="矩形 53"/>
            <p:cNvSpPr/>
            <p:nvPr/>
          </p:nvSpPr>
          <p:spPr>
            <a:xfrm>
              <a:off x="6283140" y="524814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5" name="直接箭头连接符 54"/>
            <p:cNvCxnSpPr>
              <a:endCxn id="53" idx="1"/>
            </p:cNvCxnSpPr>
            <p:nvPr/>
          </p:nvCxnSpPr>
          <p:spPr>
            <a:xfrm flipV="1">
              <a:off x="5286380" y="5410140"/>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6" name="矩形 55"/>
            <p:cNvSpPr/>
            <p:nvPr/>
          </p:nvSpPr>
          <p:spPr>
            <a:xfrm>
              <a:off x="5854512"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77</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57" name="矩形 56"/>
            <p:cNvSpPr/>
            <p:nvPr/>
          </p:nvSpPr>
          <p:spPr>
            <a:xfrm>
              <a:off x="6283140" y="610048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58" name="直接箭头连接符 57"/>
            <p:cNvCxnSpPr>
              <a:endCxn id="56" idx="1"/>
            </p:cNvCxnSpPr>
            <p:nvPr/>
          </p:nvCxnSpPr>
          <p:spPr>
            <a:xfrm flipV="1">
              <a:off x="5286380" y="626248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9" name="矩形 58"/>
            <p:cNvSpPr/>
            <p:nvPr/>
          </p:nvSpPr>
          <p:spPr>
            <a:xfrm>
              <a:off x="7043558"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90</a:t>
              </a:r>
              <a:endParaRPr lang="zh-CN" altLang="en-US" sz="1800" b="0">
                <a:solidFill>
                  <a:srgbClr val="0000FF"/>
                </a:solidFill>
                <a:latin typeface="Consolas" panose="020B0609020204030204" pitchFamily="49" charset="0"/>
                <a:cs typeface="Consolas" panose="020B0609020204030204" pitchFamily="49" charset="0"/>
              </a:endParaRPr>
            </a:p>
          </p:txBody>
        </p:sp>
        <p:sp>
          <p:nvSpPr>
            <p:cNvPr id="60" name="矩形 59"/>
            <p:cNvSpPr/>
            <p:nvPr/>
          </p:nvSpPr>
          <p:spPr>
            <a:xfrm>
              <a:off x="7472186" y="6105396"/>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b="0" smtClean="0">
                  <a:solidFill>
                    <a:srgbClr val="0000FF"/>
                  </a:solidFill>
                  <a:latin typeface="Consolas" panose="020B0609020204030204" pitchFamily="49" charset="0"/>
                  <a:cs typeface="Consolas" panose="020B0609020204030204" pitchFamily="49" charset="0"/>
                </a:rPr>
                <a:t>∧ </a:t>
              </a: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61" name="直接箭头连接符 60"/>
            <p:cNvCxnSpPr>
              <a:endCxn id="59" idx="1"/>
            </p:cNvCxnSpPr>
            <p:nvPr/>
          </p:nvCxnSpPr>
          <p:spPr>
            <a:xfrm flipV="1">
              <a:off x="6475426" y="6267396"/>
              <a:ext cx="568132"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62" name="组合 62"/>
          <p:cNvGrpSpPr/>
          <p:nvPr/>
        </p:nvGrpSpPr>
        <p:grpSpPr>
          <a:xfrm>
            <a:off x="4714876" y="3864948"/>
            <a:ext cx="3929090" cy="805052"/>
            <a:chOff x="1428728" y="2793378"/>
            <a:chExt cx="3929090" cy="805052"/>
          </a:xfrm>
        </p:grpSpPr>
        <p:sp>
          <p:nvSpPr>
            <p:cNvPr id="64" name="TextBox 63"/>
            <p:cNvSpPr txBox="1"/>
            <p:nvPr/>
          </p:nvSpPr>
          <p:spPr>
            <a:xfrm>
              <a:off x="1428728" y="3000372"/>
              <a:ext cx="1571636" cy="313932"/>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ASL</a:t>
              </a:r>
              <a:r>
                <a:rPr lang="en-US" altLang="zh-CN" sz="1800" baseline="-25000" smtClean="0">
                  <a:solidFill>
                    <a:srgbClr val="0000FF"/>
                  </a:solidFill>
                  <a:latin typeface="Consolas" panose="020B0609020204030204" pitchFamily="49" charset="0"/>
                  <a:cs typeface="Consolas" panose="020B0609020204030204" pitchFamily="49" charset="0"/>
                </a:rPr>
                <a:t>unsucc</a:t>
              </a:r>
              <a:r>
                <a:rPr lang="en-US" altLang="zh-CN" sz="1800" smtClean="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5" name="TextBox 64"/>
            <p:cNvSpPr txBox="1"/>
            <p:nvPr/>
          </p:nvSpPr>
          <p:spPr>
            <a:xfrm>
              <a:off x="2765412" y="2793378"/>
              <a:ext cx="1285884" cy="313932"/>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7×1+2×2</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6" name="TextBox 65"/>
            <p:cNvSpPr txBox="1"/>
            <p:nvPr/>
          </p:nvSpPr>
          <p:spPr>
            <a:xfrm>
              <a:off x="3122602" y="3284498"/>
              <a:ext cx="571504" cy="313932"/>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13</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67" name="直接连接符 66"/>
            <p:cNvCxnSpPr/>
            <p:nvPr/>
          </p:nvCxnSpPr>
          <p:spPr>
            <a:xfrm>
              <a:off x="2868078" y="3169817"/>
              <a:ext cx="1265246" cy="4677"/>
            </a:xfrm>
            <a:prstGeom prst="line">
              <a:avLst/>
            </a:prstGeom>
            <a:ln>
              <a:tailEnd type="none"/>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071934" y="3028890"/>
              <a:ext cx="1285884" cy="313932"/>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 0.846</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69" name="TextBox 68"/>
          <p:cNvSpPr txBox="1"/>
          <p:nvPr/>
        </p:nvSpPr>
        <p:spPr>
          <a:xfrm>
            <a:off x="4429124" y="928670"/>
            <a:ext cx="4357718" cy="861774"/>
          </a:xfrm>
          <a:prstGeom prst="rect">
            <a:avLst/>
          </a:prstGeom>
          <a:noFill/>
        </p:spPr>
        <p:txBody>
          <a:bodyPr wrap="square" rtlCol="0">
            <a:spAutoFit/>
          </a:bodyPr>
          <a:lstStyle/>
          <a:p>
            <a:pPr marL="457200" indent="-457200" algn="l">
              <a:lnSpc>
                <a:spcPct val="100000"/>
              </a:lnSpc>
              <a:buBlip>
                <a:blip r:embed="rId1"/>
              </a:buBlip>
            </a:pP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的单链表中</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次比较</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TextBox 69"/>
          <p:cNvSpPr txBox="1"/>
          <p:nvPr/>
        </p:nvSpPr>
        <p:spPr>
          <a:xfrm>
            <a:off x="4572000" y="2071678"/>
            <a:ext cx="442915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比较的次数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对应单链表中的结点个数</a:t>
            </a:r>
            <a:endParaRPr lang="zh-CN" altLang="en-US" sz="2000"/>
          </a:p>
        </p:txBody>
      </p:sp>
      <p:sp>
        <p:nvSpPr>
          <p:cNvPr id="71" name="下箭头 70"/>
          <p:cNvSpPr/>
          <p:nvPr/>
        </p:nvSpPr>
        <p:spPr>
          <a:xfrm>
            <a:off x="6429388" y="3071810"/>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2" name="TextBox 71"/>
          <p:cNvSpPr txBox="1"/>
          <p:nvPr/>
        </p:nvSpPr>
        <p:spPr>
          <a:xfrm>
            <a:off x="1571604" y="214290"/>
            <a:ext cx="5786478" cy="400110"/>
          </a:xfrm>
          <a:prstGeom prst="rect">
            <a:avLst/>
          </a:prstGeom>
          <a:noFill/>
        </p:spPr>
        <p:txBody>
          <a:bodyPr wrap="square" rtlCol="0">
            <a:spAutoFit/>
          </a:bodyPr>
          <a:lstStyle/>
          <a:p>
            <a:pPr algn="l">
              <a:lnSpc>
                <a:spcPct val="100000"/>
              </a:lnSpc>
            </a:pPr>
            <a:r>
              <a:rPr lang="zh-CN" altLang="en-US" sz="2000" smtClean="0">
                <a:solidFill>
                  <a:srgbClr val="FF0000"/>
                </a:solidFill>
                <a:latin typeface="华文中宋" panose="02010600040101010101" pitchFamily="2" charset="-122"/>
                <a:ea typeface="华文中宋" panose="02010600040101010101" pitchFamily="2" charset="-122"/>
                <a:cs typeface="Consolas" panose="020B0609020204030204" pitchFamily="49" charset="0"/>
              </a:rPr>
              <a:t>不成功的查找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中找不到对应的关键字</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endParaRPr lang="zh-CN" altLang="en-US" sz="20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Text Box 8"/>
          <p:cNvSpPr txBox="1">
            <a:spLocks noChangeArrowheads="1"/>
          </p:cNvSpPr>
          <p:nvPr/>
        </p:nvSpPr>
        <p:spPr bwMode="auto">
          <a:xfrm>
            <a:off x="6357951" y="5000636"/>
            <a:ext cx="714380" cy="400110"/>
          </a:xfrm>
          <a:prstGeom prst="rect">
            <a:avLst/>
          </a:prstGeom>
          <a:noFill/>
          <a:ln w="9525">
            <a:noFill/>
            <a:miter lim="800000"/>
          </a:ln>
        </p:spPr>
        <p:txBody>
          <a:bodyPr wrap="square">
            <a:spAutoFit/>
          </a:bodyPr>
          <a:lstStyle/>
          <a:p>
            <a:pPr>
              <a:spcBef>
                <a:spcPct val="500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=α</a:t>
            </a:r>
            <a:endPar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0" name="灯片编号占位符 79"/>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animBg="1"/>
      <p:bldP spid="73"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4" name="TextBox 3"/>
          <p:cNvSpPr txBox="1"/>
          <p:nvPr/>
        </p:nvSpPr>
        <p:spPr>
          <a:xfrm>
            <a:off x="428596" y="642918"/>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9.4.5</a:t>
            </a:r>
            <a:r>
              <a:rPr lang="zh-CN" altLang="en-US" smtClean="0">
                <a:latin typeface="Consolas" panose="020B0609020204030204" pitchFamily="49" charset="0"/>
                <a:ea typeface="微软雅黑" panose="020B0503020204020204" pitchFamily="34" charset="-122"/>
                <a:cs typeface="Consolas" panose="020B0609020204030204" pitchFamily="49" charset="0"/>
              </a:rPr>
              <a:t>*</a:t>
            </a:r>
            <a:r>
              <a:rPr lang="en-US" altLang="zh-CN" smtClean="0">
                <a:latin typeface="Consolas" panose="020B0609020204030204" pitchFamily="49" charset="0"/>
                <a:ea typeface="微软雅黑" panose="020B0503020204020204" pitchFamily="34" charset="-122"/>
                <a:cs typeface="Consolas" panose="020B0609020204030204" pitchFamily="49" charset="0"/>
              </a:rPr>
              <a:t> STL</a:t>
            </a:r>
            <a:r>
              <a:rPr lang="zh-CN" altLang="en-US" smtClean="0">
                <a:latin typeface="Consolas" panose="020B0609020204030204" pitchFamily="49" charset="0"/>
                <a:ea typeface="微软雅黑" panose="020B0503020204020204" pitchFamily="34" charset="-122"/>
                <a:cs typeface="Consolas" panose="020B0609020204030204" pitchFamily="49" charset="0"/>
              </a:rPr>
              <a:t>中的</a:t>
            </a:r>
            <a:r>
              <a:rPr lang="zh-CN" altLang="zh-CN" smtClean="0">
                <a:latin typeface="Consolas" panose="020B0609020204030204" pitchFamily="49" charset="0"/>
                <a:ea typeface="微软雅黑" panose="020B0503020204020204" pitchFamily="34" charset="-122"/>
                <a:cs typeface="Consolas" panose="020B0609020204030204" pitchFamily="49" charset="0"/>
              </a:rPr>
              <a:t>哈希</a:t>
            </a:r>
            <a:r>
              <a:rPr lang="zh-CN" altLang="en-US" smtClean="0">
                <a:latin typeface="Consolas" panose="020B0609020204030204" pitchFamily="49" charset="0"/>
                <a:ea typeface="微软雅黑" panose="020B0503020204020204" pitchFamily="34" charset="-122"/>
                <a:cs typeface="Consolas" panose="020B0609020204030204" pitchFamily="49" charset="0"/>
              </a:rPr>
              <a:t>表</a:t>
            </a:r>
            <a:endParaRPr lang="zh-CN" altLang="zh-CN">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571472" y="1714488"/>
            <a:ext cx="392909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unordered_map</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容</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器</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Box 7"/>
          <p:cNvSpPr txBox="1"/>
          <p:nvPr/>
        </p:nvSpPr>
        <p:spPr>
          <a:xfrm>
            <a:off x="571472" y="2428868"/>
            <a:ext cx="392909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unordered_set</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容器</a:t>
            </a:r>
            <a:endParaRPr lang="zh-CN" altLang="en-US" sz="2200" dirty="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pic>
        <p:nvPicPr>
          <p:cNvPr id="9" name="Picture 2"/>
          <p:cNvPicPr>
            <a:picLocks noChangeAspect="1" noChangeArrowheads="1"/>
          </p:cNvPicPr>
          <p:nvPr/>
        </p:nvPicPr>
        <p:blipFill>
          <a:blip r:embed="rId1" cstate="print"/>
          <a:srcRect/>
          <a:stretch>
            <a:fillRect/>
          </a:stretch>
        </p:blipFill>
        <p:spPr bwMode="auto">
          <a:xfrm>
            <a:off x="928662" y="3429000"/>
            <a:ext cx="1838325" cy="1781175"/>
          </a:xfrm>
          <a:prstGeom prst="rect">
            <a:avLst/>
          </a:prstGeom>
          <a:noFill/>
          <a:ln w="9525">
            <a:noFill/>
            <a:miter lim="800000"/>
            <a:headEnd/>
            <a:tailEnd/>
          </a:ln>
        </p:spPr>
      </p:pic>
      <p:sp>
        <p:nvSpPr>
          <p:cNvPr id="10" name="TextBox 9"/>
          <p:cNvSpPr txBox="1"/>
          <p:nvPr/>
        </p:nvSpPr>
        <p:spPr>
          <a:xfrm>
            <a:off x="2714612" y="4143380"/>
            <a:ext cx="8572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rPr>
              <a:t>自学</a:t>
            </a:r>
            <a:endParaRPr lang="zh-CN" altLang="en-US" sz="2000" smtClean="0">
              <a:solidFill>
                <a:srgbClr val="FF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fld>
            <a:r>
              <a:rPr lang="en-US" altLang="zh-CN" smtClean="0"/>
              <a:t>/115</a:t>
            </a:r>
            <a:endParaRPr lang="en-US" altLang="zh-CN"/>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a883ee67-2682-4701-b977-a30441017aae"/>
  <p:tag name="COMMONDATA" val="eyJoZGlkIjoiYjE5NTMxMzVkMjIwM2E5N2RhNTBjOGFiMGNlN2E4Nz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19050">
          <a:tailEnd type="arrow" w="sm" len="sm"/>
        </a:ln>
      </a:spPr>
      <a:bodyPr vert="horz" wrap="square" lIns="91440" tIns="45720" rIns="91440" bIns="45720" numCol="1" anchor="t" anchorCtr="0" compatLnSpc="1"/>
      <a:lstStyle>
        <a:defPPr>
          <a:defRPr sz="1600">
            <a:solidFill>
              <a:srgbClr val="0000FF"/>
            </a:solidFill>
            <a:latin typeface="Consolas" panose="020B0609020204030204" pitchFamily="49" charset="0"/>
            <a:cs typeface="Consolas" panose="020B0609020204030204" pitchFamily="49" charset="0"/>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仿宋"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24509</Words>
  <Application>WPS 演示</Application>
  <PresentationFormat>全屏显示(4:3)</PresentationFormat>
  <Paragraphs>5545</Paragraphs>
  <Slides>168</Slides>
  <Notes>3</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168</vt:i4>
      </vt:variant>
    </vt:vector>
  </HeadingPairs>
  <TitlesOfParts>
    <vt:vector size="189" baseType="lpstr">
      <vt:lpstr>Arial</vt:lpstr>
      <vt:lpstr>宋体</vt:lpstr>
      <vt:lpstr>Wingdings</vt:lpstr>
      <vt:lpstr>Times New Roman</vt:lpstr>
      <vt:lpstr>楷体_GB2312</vt:lpstr>
      <vt:lpstr>新宋体</vt:lpstr>
      <vt:lpstr>Consolas</vt:lpstr>
      <vt:lpstr>仿宋</vt:lpstr>
      <vt:lpstr>方正启体简体</vt:lpstr>
      <vt:lpstr>微软雅黑</vt:lpstr>
      <vt:lpstr>Arial</vt:lpstr>
      <vt:lpstr>楷体</vt:lpstr>
      <vt:lpstr>Wingdings</vt:lpstr>
      <vt:lpstr>华文中宋</vt:lpstr>
      <vt:lpstr>Arial Unicode MS</vt:lpstr>
      <vt:lpstr>Calibri</vt:lpstr>
      <vt:lpstr>Symbol</vt:lpstr>
      <vt:lpstr>隶书</vt:lpstr>
      <vt:lpstr>Symbol</vt:lpstr>
      <vt:lpstr>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刘峰</cp:lastModifiedBy>
  <cp:revision>2842</cp:revision>
  <dcterms:created xsi:type="dcterms:W3CDTF">2004-03-31T23:50:00Z</dcterms:created>
  <dcterms:modified xsi:type="dcterms:W3CDTF">2024-06-03T06:44:28Z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5689F4A816BE46639E199D1B8F228290_12</vt:lpwstr>
  </property>
  <property fmtid="{D5CDD505-2E9C-101B-9397-08002B2CF9AE}" pid="3" name="KSOProductBuildVer">
    <vt:lpwstr>2052-11.1.0.14309</vt:lpwstr>
  </property>
</Properties>
</file>