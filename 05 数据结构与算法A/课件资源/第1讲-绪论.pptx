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7"/>
  </p:handoutMasterIdLst>
  <p:sldIdLst>
    <p:sldId id="629" r:id="rId3"/>
    <p:sldId id="633" r:id="rId5"/>
    <p:sldId id="630" r:id="rId6"/>
    <p:sldId id="631" r:id="rId7"/>
    <p:sldId id="634" r:id="rId8"/>
    <p:sldId id="635" r:id="rId9"/>
    <p:sldId id="636" r:id="rId10"/>
    <p:sldId id="637" r:id="rId11"/>
    <p:sldId id="522" r:id="rId12"/>
    <p:sldId id="366" r:id="rId13"/>
    <p:sldId id="372" r:id="rId14"/>
    <p:sldId id="368" r:id="rId15"/>
    <p:sldId id="371" r:id="rId16"/>
    <p:sldId id="376" r:id="rId17"/>
    <p:sldId id="370" r:id="rId18"/>
    <p:sldId id="373" r:id="rId19"/>
    <p:sldId id="369" r:id="rId20"/>
    <p:sldId id="367" r:id="rId21"/>
    <p:sldId id="363" r:id="rId22"/>
    <p:sldId id="377" r:id="rId23"/>
    <p:sldId id="378" r:id="rId24"/>
    <p:sldId id="379" r:id="rId25"/>
    <p:sldId id="380" r:id="rId26"/>
    <p:sldId id="381" r:id="rId27"/>
    <p:sldId id="382" r:id="rId28"/>
    <p:sldId id="383" r:id="rId29"/>
    <p:sldId id="384" r:id="rId30"/>
    <p:sldId id="385" r:id="rId31"/>
    <p:sldId id="386" r:id="rId32"/>
    <p:sldId id="387" r:id="rId33"/>
    <p:sldId id="388" r:id="rId34"/>
    <p:sldId id="389" r:id="rId35"/>
    <p:sldId id="390" r:id="rId36"/>
    <p:sldId id="391" r:id="rId37"/>
    <p:sldId id="392" r:id="rId38"/>
    <p:sldId id="393" r:id="rId39"/>
    <p:sldId id="394" r:id="rId40"/>
    <p:sldId id="395" r:id="rId41"/>
    <p:sldId id="396" r:id="rId42"/>
    <p:sldId id="397" r:id="rId43"/>
    <p:sldId id="398" r:id="rId44"/>
    <p:sldId id="400" r:id="rId45"/>
    <p:sldId id="401" r:id="rId46"/>
    <p:sldId id="402" r:id="rId47"/>
    <p:sldId id="549" r:id="rId48"/>
    <p:sldId id="403" r:id="rId49"/>
    <p:sldId id="404" r:id="rId50"/>
    <p:sldId id="405" r:id="rId51"/>
    <p:sldId id="421" r:id="rId52"/>
    <p:sldId id="422" r:id="rId53"/>
    <p:sldId id="406" r:id="rId54"/>
    <p:sldId id="407" r:id="rId55"/>
    <p:sldId id="408" r:id="rId56"/>
    <p:sldId id="551" r:id="rId57"/>
    <p:sldId id="552" r:id="rId58"/>
    <p:sldId id="553" r:id="rId59"/>
    <p:sldId id="554" r:id="rId60"/>
    <p:sldId id="550" r:id="rId61"/>
    <p:sldId id="561" r:id="rId62"/>
    <p:sldId id="562" r:id="rId63"/>
    <p:sldId id="563" r:id="rId64"/>
    <p:sldId id="564" r:id="rId65"/>
    <p:sldId id="565" r:id="rId66"/>
    <p:sldId id="566" r:id="rId67"/>
    <p:sldId id="567" r:id="rId68"/>
    <p:sldId id="568" r:id="rId69"/>
    <p:sldId id="569" r:id="rId70"/>
    <p:sldId id="570" r:id="rId71"/>
    <p:sldId id="571" r:id="rId72"/>
    <p:sldId id="572" r:id="rId73"/>
    <p:sldId id="573" r:id="rId74"/>
    <p:sldId id="574" r:id="rId75"/>
    <p:sldId id="575" r:id="rId76"/>
    <p:sldId id="576" r:id="rId77"/>
    <p:sldId id="577" r:id="rId78"/>
    <p:sldId id="578" r:id="rId79"/>
    <p:sldId id="579" r:id="rId80"/>
    <p:sldId id="580" r:id="rId81"/>
    <p:sldId id="581" r:id="rId82"/>
    <p:sldId id="582" r:id="rId83"/>
    <p:sldId id="583" r:id="rId84"/>
    <p:sldId id="584" r:id="rId85"/>
    <p:sldId id="585" r:id="rId86"/>
    <p:sldId id="586" r:id="rId87"/>
    <p:sldId id="587" r:id="rId88"/>
    <p:sldId id="588" r:id="rId89"/>
    <p:sldId id="589" r:id="rId90"/>
    <p:sldId id="590" r:id="rId91"/>
    <p:sldId id="591" r:id="rId92"/>
    <p:sldId id="592" r:id="rId93"/>
    <p:sldId id="593" r:id="rId94"/>
    <p:sldId id="594" r:id="rId95"/>
    <p:sldId id="595" r:id="rId96"/>
    <p:sldId id="596" r:id="rId97"/>
    <p:sldId id="597" r:id="rId98"/>
    <p:sldId id="598" r:id="rId99"/>
    <p:sldId id="599" r:id="rId100"/>
    <p:sldId id="600" r:id="rId101"/>
    <p:sldId id="601" r:id="rId102"/>
    <p:sldId id="602" r:id="rId103"/>
    <p:sldId id="603" r:id="rId104"/>
    <p:sldId id="604" r:id="rId105"/>
    <p:sldId id="605" r:id="rId106"/>
    <p:sldId id="606" r:id="rId107"/>
    <p:sldId id="607" r:id="rId108"/>
    <p:sldId id="608" r:id="rId109"/>
    <p:sldId id="609" r:id="rId110"/>
    <p:sldId id="610" r:id="rId111"/>
    <p:sldId id="611" r:id="rId112"/>
    <p:sldId id="612" r:id="rId113"/>
    <p:sldId id="613" r:id="rId114"/>
    <p:sldId id="614" r:id="rId115"/>
    <p:sldId id="615" r:id="rId116"/>
  </p:sldIdLst>
  <p:sldSz cx="9144000" cy="6858000" type="screen4x3"/>
  <p:notesSz cx="6858000" cy="9144000"/>
  <p:custDataLst>
    <p:tags r:id="rId121"/>
  </p:custDataLst>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70"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0000FF"/>
    <a:srgbClr val="000000"/>
    <a:srgbClr val="006600"/>
    <a:srgbClr val="FF00FF"/>
    <a:srgbClr val="FF3300"/>
    <a:srgbClr val="FF3399"/>
    <a:srgbClr val="339933"/>
    <a:srgbClr val="3333FF"/>
    <a:srgbClr val="66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581" autoAdjust="0"/>
  </p:normalViewPr>
  <p:slideViewPr>
    <p:cSldViewPr showGuides="1">
      <p:cViewPr varScale="1">
        <p:scale>
          <a:sx n="100" d="100"/>
          <a:sy n="100" d="100"/>
        </p:scale>
        <p:origin x="-498" y="-96"/>
      </p:cViewPr>
      <p:guideLst>
        <p:guide orient="horz" pos="2170"/>
        <p:guide pos="287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93"/>
        <p:guide pos="2159"/>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1" Type="http://schemas.openxmlformats.org/officeDocument/2006/relationships/tags" Target="tags/tag2.xml"/><Relationship Id="rId120" Type="http://schemas.openxmlformats.org/officeDocument/2006/relationships/tableStyles" Target="tableStyles.xml"/><Relationship Id="rId12" Type="http://schemas.openxmlformats.org/officeDocument/2006/relationships/slide" Target="slides/slide9.xml"/><Relationship Id="rId119" Type="http://schemas.openxmlformats.org/officeDocument/2006/relationships/viewProps" Target="viewProps.xml"/><Relationship Id="rId118" Type="http://schemas.openxmlformats.org/officeDocument/2006/relationships/presProps" Target="presProps.xml"/><Relationship Id="rId117" Type="http://schemas.openxmlformats.org/officeDocument/2006/relationships/handoutMaster" Target="handoutMasters/handoutMaster1.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solidFill>
                  <a:schemeClr val="tx1"/>
                </a:solidFill>
                <a:ea typeface="宋体" panose="02010600030101010101" pitchFamily="2" charset="-122"/>
              </a:defRPr>
            </a:lvl1pPr>
          </a:lstStyle>
          <a:p>
            <a:fld id="{0D1E2EF4-146E-47B5-A412-FFD548A1AB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a:xfrm>
            <a:off x="7929586" y="6421461"/>
            <a:ext cx="1071570" cy="365125"/>
          </a:xfrm>
          <a:prstGeom prst="rect">
            <a:avLst/>
          </a:prstGeom>
        </p:spPr>
        <p:txBody>
          <a:bodyPr/>
          <a:lstStyle>
            <a:lvl1pPr>
              <a:defRPr sz="1400" b="0">
                <a:solidFill>
                  <a:srgbClr val="FF0000"/>
                </a:solidFill>
                <a:latin typeface="Consolas" panose="020B0609020204030204" pitchFamily="49" charset="0"/>
                <a:cs typeface="Consolas" panose="020B0609020204030204" pitchFamily="49" charset="0"/>
              </a:defRPr>
            </a:lvl1p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slide" Target="slide47.xml"/><Relationship Id="rId1"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3.GIF"/></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3.GIF"/></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5.GI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GI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GI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3.jpe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xml"/><Relationship Id="rId2" Type="http://schemas.openxmlformats.org/officeDocument/2006/relationships/image" Target="../media/image3.GIF"/><Relationship Id="rId1" Type="http://schemas.openxmlformats.org/officeDocument/2006/relationships/image" Target="../media/image14.jpe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xml"/><Relationship Id="rId2" Type="http://schemas.openxmlformats.org/officeDocument/2006/relationships/image" Target="../media/image3.GIF"/><Relationship Id="rId1" Type="http://schemas.openxmlformats.org/officeDocument/2006/relationships/image" Target="../media/image14.jpe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3.GIF"/></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7" Type="http://schemas.openxmlformats.org/officeDocument/2006/relationships/notesSlide" Target="../notesSlides/notesSlide63.xml"/><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20.wmf"/><Relationship Id="rId3" Type="http://schemas.openxmlformats.org/officeDocument/2006/relationships/oleObject" Target="../embeddings/oleObject2.bin"/><Relationship Id="rId2" Type="http://schemas.openxmlformats.org/officeDocument/2006/relationships/image" Target="../media/image19.wmf"/><Relationship Id="rId1" Type="http://schemas.openxmlformats.org/officeDocument/2006/relationships/oleObject" Target="../embeddings/oleObject1.bin"/></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059430" y="476250"/>
            <a:ext cx="3022600" cy="475615"/>
          </a:xfrm>
          <a:prstGeom prst="rect">
            <a:avLst/>
          </a:prstGeom>
          <a:noFill/>
        </p:spPr>
        <p:txBody>
          <a:bodyPr wrap="square" rtlCol="0">
            <a:spAutoFit/>
          </a:bodyPr>
          <a:lstStyle/>
          <a:p>
            <a:pPr algn="ctr">
              <a:lnSpc>
                <a:spcPts val="3000"/>
              </a:lnSpc>
              <a:spcBef>
                <a:spcPts val="0"/>
              </a:spcBef>
            </a:pPr>
            <a:r>
              <a:rPr lang="zh-CN" altLang="en-US" sz="3200" smtClean="0">
                <a:solidFill>
                  <a:srgbClr val="0000FF"/>
                </a:solidFill>
                <a:latin typeface="微软雅黑" panose="020B0503020204020204" pitchFamily="34" charset="-122"/>
                <a:ea typeface="微软雅黑" panose="020B0503020204020204" pitchFamily="34" charset="-122"/>
              </a:rPr>
              <a:t>课程介绍</a:t>
            </a:r>
            <a:endParaRPr lang="zh-CN" altLang="en-US" sz="3200" smtClean="0">
              <a:solidFill>
                <a:srgbClr val="0000FF"/>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467360" y="1484630"/>
            <a:ext cx="7929880" cy="431736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noAutofit/>
          </a:bodyPr>
          <a:lstStyle/>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课程名称：</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数据结构A</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课程号：</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3500520011012</a:t>
            </a:r>
            <a:endPar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上课时间：</a:t>
            </a:r>
            <a:r>
              <a:rPr lang="en-US" altLang="zh-CN"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1-16</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周，共计</a:t>
            </a:r>
            <a:r>
              <a:rPr lang="en-US" altLang="zh-CN"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48</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课时</a:t>
            </a:r>
            <a:endPar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实验安排：</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方案1：第5、10、15周周五6-9节计算机学院B302，B303，A301,一楼小米实验室;</a:t>
            </a:r>
            <a:endPar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方案2：第5、10、15周周日6-9节B302，B303，A301,一楼小米实验室；</a:t>
            </a:r>
            <a:endPar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endPar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539750" y="1844675"/>
            <a:ext cx="4971415" cy="40811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noAutofit/>
          </a:bodyPr>
          <a:lstStyle/>
          <a:p>
            <a:pPr algn="l">
              <a:lnSpc>
                <a:spcPct val="150000"/>
              </a:lnSpc>
              <a:spcBef>
                <a:spcPts val="0"/>
              </a:spcBef>
            </a:pP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数据结构教程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C++</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语言描述）第</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2</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版，</a:t>
            </a:r>
            <a:r>
              <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rPr>
              <a:t>李春葆等 清华大学出版社 </a:t>
            </a:r>
            <a:r>
              <a:rPr lang="en-US" altLang="zh-CN" sz="2000" b="0" smtClean="0">
                <a:solidFill>
                  <a:srgbClr val="FF0000"/>
                </a:solidFill>
                <a:latin typeface="Consolas" panose="020B0609020204030204" pitchFamily="49" charset="0"/>
                <a:ea typeface="楷体" panose="02010609060101010101" pitchFamily="49" charset="-122"/>
                <a:cs typeface="Consolas" panose="020B0609020204030204" pitchFamily="49" charset="0"/>
              </a:rPr>
              <a:t>2021</a:t>
            </a:r>
            <a:endParaRPr lang="en-US" altLang="zh-CN"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数据结构教程（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C++</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语言描述）学习与上机实验指导</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rPr>
              <a:t>李春葆等 清华大学出版社 </a:t>
            </a:r>
            <a:r>
              <a:rPr lang="en-US" altLang="zh-CN" sz="2000" b="0" smtClean="0">
                <a:solidFill>
                  <a:srgbClr val="FF0000"/>
                </a:solidFill>
                <a:latin typeface="Consolas" panose="020B0609020204030204" pitchFamily="49" charset="0"/>
                <a:ea typeface="楷体" panose="02010609060101010101" pitchFamily="49" charset="-122"/>
                <a:cs typeface="Consolas" panose="020B0609020204030204" pitchFamily="49" charset="0"/>
              </a:rPr>
              <a:t>2022</a:t>
            </a:r>
            <a:endParaRPr lang="en-US" altLang="zh-CN"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数据结构教程（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C++</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语言描述）在线编程题解析</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rPr>
              <a:t>李春葆等 清华大学出版社 </a:t>
            </a:r>
            <a:r>
              <a:rPr lang="en-US" altLang="zh-CN" sz="2000" b="0" smtClean="0">
                <a:solidFill>
                  <a:srgbClr val="FF0000"/>
                </a:solidFill>
                <a:latin typeface="Consolas" panose="020B0609020204030204" pitchFamily="49" charset="0"/>
                <a:ea typeface="楷体" panose="02010609060101010101" pitchFamily="49" charset="-122"/>
                <a:cs typeface="Consolas" panose="020B0609020204030204" pitchFamily="49" charset="0"/>
              </a:rPr>
              <a:t>2022</a:t>
            </a:r>
            <a:endPar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pic>
        <p:nvPicPr>
          <p:cNvPr id="2" name="Picture 2"/>
          <p:cNvPicPr>
            <a:picLocks noChangeAspect="1" noChangeArrowheads="1"/>
          </p:cNvPicPr>
          <p:nvPr/>
        </p:nvPicPr>
        <p:blipFill>
          <a:blip r:embed="rId1" cstate="print"/>
          <a:srcRect/>
          <a:stretch>
            <a:fillRect/>
          </a:stretch>
        </p:blipFill>
        <p:spPr bwMode="auto">
          <a:xfrm>
            <a:off x="6443980" y="2206625"/>
            <a:ext cx="1524635" cy="213868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p:cNvSpPr txBox="1"/>
          <p:nvPr/>
        </p:nvSpPr>
        <p:spPr>
          <a:xfrm>
            <a:off x="5867726" y="4582782"/>
            <a:ext cx="307183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ISBN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9787302585329</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
        <p:nvSpPr>
          <p:cNvPr id="3" name="TextBox 12"/>
          <p:cNvSpPr txBox="1"/>
          <p:nvPr>
            <p:custDataLst>
              <p:tags r:id="rId2"/>
            </p:custDataLst>
          </p:nvPr>
        </p:nvSpPr>
        <p:spPr>
          <a:xfrm>
            <a:off x="3059430" y="476250"/>
            <a:ext cx="3022600" cy="475615"/>
          </a:xfrm>
          <a:prstGeom prst="rect">
            <a:avLst/>
          </a:prstGeom>
          <a:noFill/>
        </p:spPr>
        <p:txBody>
          <a:bodyPr wrap="square" rtlCol="0">
            <a:spAutoFit/>
          </a:bodyPr>
          <a:p>
            <a:pPr algn="ctr">
              <a:lnSpc>
                <a:spcPts val="3000"/>
              </a:lnSpc>
              <a:spcBef>
                <a:spcPts val="0"/>
              </a:spcBef>
            </a:pPr>
            <a:r>
              <a:rPr lang="zh-CN" altLang="en-US" sz="3200" smtClean="0">
                <a:solidFill>
                  <a:srgbClr val="0000FF"/>
                </a:solidFill>
                <a:latin typeface="微软雅黑" panose="020B0503020204020204" pitchFamily="34" charset="-122"/>
                <a:ea typeface="微软雅黑" panose="020B0503020204020204" pitchFamily="34" charset="-122"/>
              </a:rPr>
              <a:t>主要教材</a:t>
            </a:r>
            <a:endParaRPr lang="zh-CN" altLang="en-US" sz="3200" smtClean="0">
              <a:solidFill>
                <a:srgbClr val="0000FF"/>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539750" y="5661025"/>
            <a:ext cx="8164830" cy="645160"/>
          </a:xfrm>
          <a:prstGeom prst="rect">
            <a:avLst/>
          </a:prstGeom>
          <a:noFill/>
        </p:spPr>
        <p:txBody>
          <a:bodyPr wrap="square" rtlCol="0" anchor="t">
            <a:spAutoFit/>
          </a:bodyPr>
          <a:p>
            <a:pPr algn="l">
              <a:lnSpc>
                <a:spcPct val="100000"/>
              </a:lnSpc>
              <a:spcBef>
                <a:spcPts val="0"/>
              </a:spcBef>
            </a:pPr>
            <a:r>
              <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慕课网：http://www.mooc.whu.edu.cn/mooc-ans/course/240684740.html </a:t>
            </a:r>
            <a:endPar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059430" y="476250"/>
            <a:ext cx="3022600" cy="475615"/>
          </a:xfrm>
          <a:prstGeom prst="rect">
            <a:avLst/>
          </a:prstGeom>
          <a:noFill/>
        </p:spPr>
        <p:txBody>
          <a:bodyPr wrap="square" rtlCol="0">
            <a:spAutoFit/>
          </a:bodyPr>
          <a:lstStyle/>
          <a:p>
            <a:pPr algn="ctr">
              <a:lnSpc>
                <a:spcPts val="3000"/>
              </a:lnSpc>
              <a:spcBef>
                <a:spcPts val="0"/>
              </a:spcBef>
            </a:pPr>
            <a:r>
              <a:rPr lang="zh-CN" altLang="en-US" sz="3200" smtClean="0">
                <a:solidFill>
                  <a:srgbClr val="0000FF"/>
                </a:solidFill>
                <a:latin typeface="微软雅黑" panose="020B0503020204020204" pitchFamily="34" charset="-122"/>
                <a:ea typeface="微软雅黑" panose="020B0503020204020204" pitchFamily="34" charset="-122"/>
              </a:rPr>
              <a:t>授课安排</a:t>
            </a:r>
            <a:endParaRPr lang="zh-CN" altLang="en-US" sz="3200" smtClean="0">
              <a:solidFill>
                <a:srgbClr val="0000FF"/>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467360" y="1484630"/>
            <a:ext cx="7929880" cy="431736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noAutofit/>
          </a:bodyPr>
          <a:lstStyle/>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上课时间：</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1-16</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周</a:t>
            </a:r>
            <a:endPar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周测安排：</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每四周的第</a:t>
            </a:r>
            <a:r>
              <a:rPr lang="en-US" altLang="zh-CN"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5</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节课组织月考</a:t>
            </a:r>
            <a:endPar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中期分流考试：</a:t>
            </a:r>
            <a:r>
              <a:rPr lang="zh-CN"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第</a:t>
            </a:r>
            <a:r>
              <a:rPr lang="en-US" altLang="zh-CN"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7</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周进行中期分流考试</a:t>
            </a:r>
            <a:endPar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实际上课时长：</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42</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课时</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endPar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059430" y="476250"/>
            <a:ext cx="3022600" cy="475615"/>
          </a:xfrm>
          <a:prstGeom prst="rect">
            <a:avLst/>
          </a:prstGeom>
          <a:noFill/>
        </p:spPr>
        <p:txBody>
          <a:bodyPr wrap="square" rtlCol="0">
            <a:spAutoFit/>
          </a:bodyPr>
          <a:lstStyle/>
          <a:p>
            <a:pPr algn="ctr">
              <a:lnSpc>
                <a:spcPts val="3000"/>
              </a:lnSpc>
              <a:spcBef>
                <a:spcPts val="0"/>
              </a:spcBef>
            </a:pPr>
            <a:r>
              <a:rPr lang="zh-CN" altLang="en-US" sz="3200" smtClean="0">
                <a:solidFill>
                  <a:srgbClr val="0000FF"/>
                </a:solidFill>
                <a:latin typeface="微软雅黑" panose="020B0503020204020204" pitchFamily="34" charset="-122"/>
                <a:ea typeface="微软雅黑" panose="020B0503020204020204" pitchFamily="34" charset="-122"/>
              </a:rPr>
              <a:t>授课安排</a:t>
            </a:r>
            <a:endParaRPr lang="zh-CN" altLang="en-US" sz="3200" smtClean="0">
              <a:solidFill>
                <a:srgbClr val="0000FF"/>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467360" y="1484630"/>
            <a:ext cx="7929880" cy="431736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noAutofit/>
          </a:bodyPr>
          <a:lstStyle/>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上课时间：</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1-16</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周</a:t>
            </a:r>
            <a:endPar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周测安排：</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每四周的第</a:t>
            </a:r>
            <a:r>
              <a:rPr lang="en-US" altLang="zh-CN"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5</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节课组织月考</a:t>
            </a:r>
            <a:endPar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中期分流考试：</a:t>
            </a:r>
            <a:r>
              <a:rPr lang="zh-CN"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第</a:t>
            </a:r>
            <a:r>
              <a:rPr lang="en-US" altLang="zh-CN"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7</a:t>
            </a:r>
            <a:r>
              <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rPr>
              <a:t>周进行中期分流考试</a:t>
            </a:r>
            <a:endParaRPr lang="zh-CN" altLang="en-US" sz="2000" b="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实际上课时长：</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42</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rPr>
              <a:t>课时</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endParaRPr lang="zh-CN" altLang="en-US" sz="2000" b="0" smtClean="0">
              <a:solidFill>
                <a:schemeClr val="tx1"/>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059430" y="476250"/>
            <a:ext cx="3022600" cy="475615"/>
          </a:xfrm>
          <a:prstGeom prst="rect">
            <a:avLst/>
          </a:prstGeom>
          <a:noFill/>
        </p:spPr>
        <p:txBody>
          <a:bodyPr wrap="square" rtlCol="0">
            <a:spAutoFit/>
          </a:bodyPr>
          <a:lstStyle/>
          <a:p>
            <a:pPr algn="ctr">
              <a:lnSpc>
                <a:spcPts val="3000"/>
              </a:lnSpc>
              <a:spcBef>
                <a:spcPts val="0"/>
              </a:spcBef>
            </a:pPr>
            <a:r>
              <a:rPr lang="zh-CN" altLang="en-US" sz="3200" smtClean="0">
                <a:solidFill>
                  <a:srgbClr val="0000FF"/>
                </a:solidFill>
                <a:latin typeface="微软雅黑" panose="020B0503020204020204" pitchFamily="34" charset="-122"/>
                <a:ea typeface="微软雅黑" panose="020B0503020204020204" pitchFamily="34" charset="-122"/>
              </a:rPr>
              <a:t>成绩组成</a:t>
            </a:r>
            <a:endParaRPr lang="zh-CN" altLang="en-US" sz="3200" smtClean="0">
              <a:solidFill>
                <a:srgbClr val="0000FF"/>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467360" y="1484630"/>
            <a:ext cx="7929880" cy="431736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noAutofit/>
          </a:bodyPr>
          <a:lstStyle/>
          <a:p>
            <a:pPr algn="l">
              <a:lnSpc>
                <a:spcPct val="150000"/>
              </a:lnSpc>
              <a:spcBef>
                <a:spcPts val="0"/>
              </a:spcBef>
            </a:pPr>
            <a:r>
              <a:rPr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作业</a:t>
            </a:r>
            <a:r>
              <a:rPr sz="2000" smtClean="0">
                <a:latin typeface="Consolas" panose="020B0609020204030204" pitchFamily="49" charset="0"/>
                <a:ea typeface="楷体" panose="02010609060101010101" pitchFamily="49" charset="-122"/>
                <a:cs typeface="Consolas" panose="020B0609020204030204" pitchFamily="49" charset="0"/>
              </a:rPr>
              <a:t>：15%</a:t>
            </a:r>
            <a:endParaRPr sz="2000" smtClean="0">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实验</a:t>
            </a:r>
            <a:r>
              <a:rPr sz="2000" smtClean="0">
                <a:latin typeface="Consolas" panose="020B0609020204030204" pitchFamily="49" charset="0"/>
                <a:ea typeface="楷体" panose="02010609060101010101" pitchFamily="49" charset="-122"/>
                <a:cs typeface="Consolas" panose="020B0609020204030204" pitchFamily="49" charset="0"/>
              </a:rPr>
              <a:t>：15%</a:t>
            </a:r>
            <a:r>
              <a:rPr lang="en-US" sz="2000" smtClean="0">
                <a:latin typeface="Consolas" panose="020B0609020204030204" pitchFamily="49" charset="0"/>
                <a:ea typeface="楷体" panose="02010609060101010101" pitchFamily="49" charset="-122"/>
                <a:cs typeface="Consolas" panose="020B0609020204030204" pitchFamily="49" charset="0"/>
              </a:rPr>
              <a:t> </a:t>
            </a:r>
            <a:r>
              <a:rPr lang="zh-CN" altLang="en-US" sz="2000" smtClean="0">
                <a:latin typeface="Consolas" panose="020B0609020204030204" pitchFamily="49" charset="0"/>
                <a:ea typeface="楷体" panose="02010609060101010101" pitchFamily="49" charset="-122"/>
                <a:cs typeface="Consolas" panose="020B0609020204030204" pitchFamily="49" charset="0"/>
              </a:rPr>
              <a:t>（实验中心老师评测，助教给出）</a:t>
            </a:r>
            <a:endParaRPr sz="2000" smtClean="0">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课堂小测验</a:t>
            </a:r>
            <a:r>
              <a:rPr sz="2000" smtClean="0">
                <a:latin typeface="Consolas" panose="020B0609020204030204" pitchFamily="49" charset="0"/>
                <a:ea typeface="楷体" panose="02010609060101010101" pitchFamily="49" charset="-122"/>
                <a:cs typeface="Consolas" panose="020B0609020204030204" pitchFamily="49" charset="0"/>
              </a:rPr>
              <a:t>（含中期分流成绩）：20%</a:t>
            </a:r>
            <a:endParaRPr sz="2000" smtClean="0">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A班期末机考</a:t>
            </a:r>
            <a:r>
              <a:rPr sz="2000" smtClean="0">
                <a:latin typeface="Consolas" panose="020B0609020204030204" pitchFamily="49" charset="0"/>
                <a:ea typeface="楷体" panose="02010609060101010101" pitchFamily="49" charset="-122"/>
                <a:cs typeface="Consolas" panose="020B0609020204030204" pitchFamily="49" charset="0"/>
              </a:rPr>
              <a:t>：50%</a:t>
            </a:r>
            <a:endParaRPr sz="2000" smtClean="0">
              <a:latin typeface="Consolas" panose="020B0609020204030204" pitchFamily="49" charset="0"/>
              <a:ea typeface="楷体"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059430" y="476250"/>
            <a:ext cx="3022600" cy="475615"/>
          </a:xfrm>
          <a:prstGeom prst="rect">
            <a:avLst/>
          </a:prstGeom>
          <a:noFill/>
        </p:spPr>
        <p:txBody>
          <a:bodyPr wrap="square" rtlCol="0">
            <a:spAutoFit/>
          </a:bodyPr>
          <a:lstStyle/>
          <a:p>
            <a:pPr algn="ctr">
              <a:lnSpc>
                <a:spcPts val="3000"/>
              </a:lnSpc>
              <a:spcBef>
                <a:spcPts val="0"/>
              </a:spcBef>
            </a:pPr>
            <a:r>
              <a:rPr lang="zh-CN" altLang="en-US" sz="3200" smtClean="0">
                <a:solidFill>
                  <a:srgbClr val="0000FF"/>
                </a:solidFill>
                <a:latin typeface="微软雅黑" panose="020B0503020204020204" pitchFamily="34" charset="-122"/>
                <a:ea typeface="微软雅黑" panose="020B0503020204020204" pitchFamily="34" charset="-122"/>
              </a:rPr>
              <a:t>成绩组成</a:t>
            </a:r>
            <a:endParaRPr lang="zh-CN" altLang="en-US" sz="3200" smtClean="0">
              <a:solidFill>
                <a:srgbClr val="0000FF"/>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467360" y="1484630"/>
            <a:ext cx="7929880" cy="431736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noAutofit/>
          </a:bodyPr>
          <a:lstStyle/>
          <a:p>
            <a:pPr algn="l">
              <a:lnSpc>
                <a:spcPct val="150000"/>
              </a:lnSpc>
              <a:spcBef>
                <a:spcPts val="0"/>
              </a:spcBef>
            </a:pPr>
            <a:r>
              <a:rPr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作业</a:t>
            </a:r>
            <a:r>
              <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（含出勤、课堂表现及课后作业）</a:t>
            </a:r>
            <a:r>
              <a:rPr sz="2000" smtClean="0">
                <a:latin typeface="Consolas" panose="020B0609020204030204" pitchFamily="49" charset="0"/>
                <a:ea typeface="楷体" panose="02010609060101010101" pitchFamily="49" charset="-122"/>
                <a:cs typeface="Consolas" panose="020B0609020204030204" pitchFamily="49" charset="0"/>
              </a:rPr>
              <a:t>：15%</a:t>
            </a:r>
            <a:endParaRPr sz="2000" smtClean="0">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实验</a:t>
            </a:r>
            <a:r>
              <a:rPr sz="2000" smtClean="0">
                <a:latin typeface="Consolas" panose="020B0609020204030204" pitchFamily="49" charset="0"/>
                <a:ea typeface="楷体" panose="02010609060101010101" pitchFamily="49" charset="-122"/>
                <a:cs typeface="Consolas" panose="020B0609020204030204" pitchFamily="49" charset="0"/>
              </a:rPr>
              <a:t>：15%</a:t>
            </a:r>
            <a:r>
              <a:rPr lang="en-US" sz="2000" smtClean="0">
                <a:latin typeface="Consolas" panose="020B0609020204030204" pitchFamily="49" charset="0"/>
                <a:ea typeface="楷体" panose="02010609060101010101" pitchFamily="49" charset="-122"/>
                <a:cs typeface="Consolas" panose="020B0609020204030204" pitchFamily="49" charset="0"/>
              </a:rPr>
              <a:t> </a:t>
            </a:r>
            <a:r>
              <a:rPr lang="zh-CN" altLang="en-US" sz="2000" smtClean="0">
                <a:latin typeface="Consolas" panose="020B0609020204030204" pitchFamily="49" charset="0"/>
                <a:ea typeface="楷体" panose="02010609060101010101" pitchFamily="49" charset="-122"/>
                <a:cs typeface="Consolas" panose="020B0609020204030204" pitchFamily="49" charset="0"/>
              </a:rPr>
              <a:t>（实验中心老师评测）</a:t>
            </a:r>
            <a:endParaRPr sz="2000" smtClean="0">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课堂小测验</a:t>
            </a:r>
            <a:r>
              <a:rPr sz="2000" smtClean="0">
                <a:latin typeface="Consolas" panose="020B0609020204030204" pitchFamily="49" charset="0"/>
                <a:ea typeface="楷体" panose="02010609060101010101" pitchFamily="49" charset="-122"/>
                <a:cs typeface="Consolas" panose="020B0609020204030204" pitchFamily="49" charset="0"/>
              </a:rPr>
              <a:t>（含中期分流成绩）：20%</a:t>
            </a:r>
            <a:endParaRPr sz="2000" smtClean="0">
              <a:latin typeface="Consolas" panose="020B0609020204030204" pitchFamily="49" charset="0"/>
              <a:ea typeface="楷体" panose="02010609060101010101" pitchFamily="49" charset="-122"/>
              <a:cs typeface="Consolas" panose="020B0609020204030204" pitchFamily="49" charset="0"/>
            </a:endParaRPr>
          </a:p>
          <a:p>
            <a:pPr algn="l">
              <a:lnSpc>
                <a:spcPct val="150000"/>
              </a:lnSpc>
              <a:spcBef>
                <a:spcPts val="0"/>
              </a:spcBef>
            </a:pPr>
            <a:r>
              <a:rPr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A班期末机考</a:t>
            </a:r>
            <a:r>
              <a:rPr sz="2000" smtClean="0">
                <a:latin typeface="Consolas" panose="020B0609020204030204" pitchFamily="49" charset="0"/>
                <a:ea typeface="楷体" panose="02010609060101010101" pitchFamily="49" charset="-122"/>
                <a:cs typeface="Consolas" panose="020B0609020204030204" pitchFamily="49" charset="0"/>
              </a:rPr>
              <a:t>：50%</a:t>
            </a:r>
            <a:endParaRPr sz="2000" smtClean="0">
              <a:latin typeface="Consolas" panose="020B0609020204030204" pitchFamily="49" charset="0"/>
              <a:ea typeface="楷体"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059430" y="476250"/>
            <a:ext cx="3022600" cy="475615"/>
          </a:xfrm>
          <a:prstGeom prst="rect">
            <a:avLst/>
          </a:prstGeom>
          <a:noFill/>
        </p:spPr>
        <p:txBody>
          <a:bodyPr wrap="square" rtlCol="0">
            <a:spAutoFit/>
          </a:bodyPr>
          <a:lstStyle/>
          <a:p>
            <a:pPr algn="ctr">
              <a:lnSpc>
                <a:spcPts val="3000"/>
              </a:lnSpc>
              <a:spcBef>
                <a:spcPts val="0"/>
              </a:spcBef>
            </a:pPr>
            <a:r>
              <a:rPr lang="zh-CN" altLang="en-US" sz="3200" smtClean="0">
                <a:solidFill>
                  <a:srgbClr val="0000FF"/>
                </a:solidFill>
                <a:latin typeface="微软雅黑" panose="020B0503020204020204" pitchFamily="34" charset="-122"/>
                <a:ea typeface="微软雅黑" panose="020B0503020204020204" pitchFamily="34" charset="-122"/>
              </a:rPr>
              <a:t>作业组成</a:t>
            </a:r>
            <a:endParaRPr lang="zh-CN" altLang="en-US" sz="3200" smtClean="0">
              <a:solidFill>
                <a:srgbClr val="0000FF"/>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467360" y="1484630"/>
            <a:ext cx="7929880" cy="48025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noAutofit/>
          </a:bodyPr>
          <a:lstStyle/>
          <a:p>
            <a:pPr algn="l">
              <a:lnSpc>
                <a:spcPct val="150000"/>
              </a:lnSpc>
              <a:spcBef>
                <a:spcPts val="0"/>
              </a:spcBef>
            </a:pPr>
            <a:r>
              <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出勤和课堂表现：</a:t>
            </a:r>
            <a:endPar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占平时作业的成绩的</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35%</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，由老师随机点名获取成绩。每人满分</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100</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分，每次点名不到扣</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10</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分。老师上课互动过程中，表现优异者，每次奖励</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20</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分。该项最低分为</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0</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分，最高分为</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100</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分。</a:t>
            </a:r>
            <a:endPar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algn="l">
              <a:lnSpc>
                <a:spcPct val="150000"/>
              </a:lnSpc>
              <a:spcBef>
                <a:spcPts val="0"/>
              </a:spcBef>
            </a:pPr>
            <a:r>
              <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课后作业：（希冀平台</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课后习题</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+Leecode</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刷题）</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endParaRPr>
          </a:p>
          <a:p>
            <a:pPr algn="l">
              <a:lnSpc>
                <a:spcPct val="150000"/>
              </a:lnSpc>
              <a:spcBef>
                <a:spcPts val="0"/>
              </a:spcBef>
            </a:pP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 </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         </a:t>
            </a:r>
            <a:r>
              <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占平时作业的成绩的</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65%</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a:t>
            </a:r>
            <a:endPar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sym typeface="+mn-ea"/>
              </a:rPr>
              <a:t>基础作业</a:t>
            </a:r>
            <a:r>
              <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：为适应期末机考，本学期的作业都以希冀平台为作业布置平台，学生需要在希冀平台完成作业。（另行约定时间，腾讯会议讲解）</a:t>
            </a:r>
            <a:endPar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sym typeface="+mn-ea"/>
              </a:rPr>
              <a:t>课后练习</a:t>
            </a:r>
            <a:r>
              <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：课本中的课后编程题</a:t>
            </a:r>
            <a:endPar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sym typeface="+mn-ea"/>
              </a:rPr>
              <a:t>Leecode刷题</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：每周每人不低于</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3</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题，本学期比低于</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48</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题。</a:t>
            </a:r>
            <a:endPar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endParaRPr>
          </a:p>
          <a:p>
            <a:pPr algn="l">
              <a:lnSpc>
                <a:spcPct val="150000"/>
              </a:lnSpc>
              <a:spcBef>
                <a:spcPts val="0"/>
              </a:spcBef>
            </a:pPr>
            <a:endPar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059430" y="476250"/>
            <a:ext cx="3646170" cy="475615"/>
          </a:xfrm>
          <a:prstGeom prst="rect">
            <a:avLst/>
          </a:prstGeom>
          <a:noFill/>
        </p:spPr>
        <p:txBody>
          <a:bodyPr wrap="square" rtlCol="0">
            <a:spAutoFit/>
          </a:bodyPr>
          <a:lstStyle/>
          <a:p>
            <a:pPr algn="ctr">
              <a:lnSpc>
                <a:spcPts val="3000"/>
              </a:lnSpc>
              <a:spcBef>
                <a:spcPts val="0"/>
              </a:spcBef>
            </a:pPr>
            <a:r>
              <a:rPr lang="zh-CN" altLang="en-US" sz="3200" smtClean="0">
                <a:solidFill>
                  <a:srgbClr val="0000FF"/>
                </a:solidFill>
                <a:latin typeface="微软雅黑" panose="020B0503020204020204" pitchFamily="34" charset="-122"/>
                <a:ea typeface="微软雅黑" panose="020B0503020204020204" pitchFamily="34" charset="-122"/>
              </a:rPr>
              <a:t>课后作业完成方式</a:t>
            </a:r>
            <a:endParaRPr lang="zh-CN" altLang="en-US" sz="3200" smtClean="0">
              <a:solidFill>
                <a:srgbClr val="0000FF"/>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467360" y="1484630"/>
            <a:ext cx="8352155" cy="431736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noAutofit/>
          </a:bodyPr>
          <a:lstStyle/>
          <a:p>
            <a:pPr algn="l">
              <a:lnSpc>
                <a:spcPct val="150000"/>
              </a:lnSpc>
              <a:spcBef>
                <a:spcPts val="0"/>
              </a:spcBef>
            </a:pPr>
            <a:r>
              <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小组完成：</a:t>
            </a:r>
            <a:endPar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endParaRPr>
          </a:p>
          <a:p>
            <a:pPr algn="l">
              <a:lnSpc>
                <a:spcPct val="150000"/>
              </a:lnSpc>
              <a:spcBef>
                <a:spcPts val="0"/>
              </a:spcBef>
            </a:pPr>
            <a:r>
              <a:rPr 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 </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  </a:t>
            </a:r>
            <a:r>
              <a:rPr 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sym typeface="+mn-ea"/>
              </a:rPr>
              <a:t>小组大小</a:t>
            </a:r>
            <a:r>
              <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3-5</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人，不超过</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5</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人，设置组长</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1</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名</a:t>
            </a:r>
            <a:r>
              <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a:t>
            </a:r>
            <a:endPar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任务：</a:t>
            </a:r>
            <a:endPar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1</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）安排每周集中学习一次，每次不低于</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2</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小时；</a:t>
            </a:r>
            <a:endPar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2</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）撰写小组学习报告及个人学习报告（</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见案例</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），创建个人</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github/Gittee</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页面，保存自己代码；（</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sym typeface="+mn-ea"/>
              </a:rPr>
              <a:t>期末考试后检查</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a:t>
            </a:r>
            <a:endPar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3</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）沟通学习任务。</a:t>
            </a:r>
            <a:endPar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4</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）小组分配由各班班长完成</a:t>
            </a:r>
            <a:endPar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indent="457200" algn="l">
              <a:lnSpc>
                <a:spcPct val="150000"/>
              </a:lnSpc>
              <a:spcBef>
                <a:spcPts val="0"/>
              </a:spcBef>
            </a:pP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a:t>
            </a:r>
            <a:r>
              <a:rPr lang="en-US" alt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5</a:t>
            </a:r>
            <a:r>
              <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rPr>
              <a:t>）每周助教视频验收作业（每位同学展示自己的作业）</a:t>
            </a:r>
            <a:endParaRPr lang="zh-CN"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a:p>
            <a:pPr algn="l">
              <a:lnSpc>
                <a:spcPct val="150000"/>
              </a:lnSpc>
              <a:spcBef>
                <a:spcPts val="0"/>
              </a:spcBef>
            </a:pPr>
            <a:endParaRPr lang="zh-CN" altLang="en-US" sz="2000" smtClean="0">
              <a:solidFill>
                <a:schemeClr val="tx1"/>
              </a:solidFill>
              <a:latin typeface="Consolas" panose="020B0609020204030204" pitchFamily="49" charset="0"/>
              <a:ea typeface="楷体" panose="02010609060101010101" pitchFamily="49" charset="-122"/>
              <a:cs typeface="Consolas" panose="020B0609020204030204" pitchFamily="49" charset="0"/>
              <a:sym typeface="+mn-ea"/>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571736" y="923685"/>
            <a:ext cx="3643338"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1</a:t>
            </a:r>
            <a:r>
              <a:rPr lang="zh-CN" altLang="en-US"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绪论</a:t>
            </a:r>
            <a:endPar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endParaRPr>
          </a:p>
        </p:txBody>
      </p:sp>
      <p:sp>
        <p:nvSpPr>
          <p:cNvPr id="5" name="TextBox 4">
            <a:hlinkClick r:id="rId1" action="ppaction://hlinksldjump"/>
          </p:cNvPr>
          <p:cNvSpPr txBox="1"/>
          <p:nvPr/>
        </p:nvSpPr>
        <p:spPr>
          <a:xfrm>
            <a:off x="3500430" y="2352445"/>
            <a:ext cx="378621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1.1 </a:t>
            </a:r>
            <a:r>
              <a:rPr lang="zh-CN"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什么是数据结构</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a:hlinkClick r:id="" action="ppaction://noaction"/>
          </p:cNvPr>
          <p:cNvSpPr txBox="1"/>
          <p:nvPr/>
        </p:nvSpPr>
        <p:spPr>
          <a:xfrm>
            <a:off x="3500430" y="3791253"/>
            <a:ext cx="378621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1.3 </a:t>
            </a:r>
            <a:r>
              <a:rPr lang="zh-CN" altLang="en-US"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算法分析</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9" name="TextBox 8">
            <a:hlinkClick r:id="rId2" action="ppaction://hlinksldjump"/>
          </p:cNvPr>
          <p:cNvSpPr txBox="1"/>
          <p:nvPr/>
        </p:nvSpPr>
        <p:spPr>
          <a:xfrm>
            <a:off x="3500430" y="3095400"/>
            <a:ext cx="378621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1.2 </a:t>
            </a:r>
            <a:r>
              <a:rPr lang="zh-CN" altLang="en-US"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算法及其描述</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0" name="TextBox 9">
            <a:hlinkClick r:id="" action="ppaction://noaction"/>
          </p:cNvPr>
          <p:cNvSpPr txBox="1"/>
          <p:nvPr/>
        </p:nvSpPr>
        <p:spPr>
          <a:xfrm>
            <a:off x="3500430" y="4538971"/>
            <a:ext cx="378621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1.4 </a:t>
            </a:r>
            <a:r>
              <a:rPr lang="zh-CN" altLang="en-US"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数据结构的目标</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16" name="组合 79"/>
          <p:cNvGrpSpPr/>
          <p:nvPr/>
        </p:nvGrpSpPr>
        <p:grpSpPr bwMode="auto">
          <a:xfrm>
            <a:off x="840364" y="2638197"/>
            <a:ext cx="2160000" cy="2177998"/>
            <a:chOff x="6379728" y="2488774"/>
            <a:chExt cx="2513016" cy="2533955"/>
          </a:xfrm>
        </p:grpSpPr>
        <p:sp>
          <p:nvSpPr>
            <p:cNvPr id="17"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panose="020B0604020202020204"/>
                <a:ea typeface="宋体" panose="02010600030101010101" pitchFamily="2" charset="-122"/>
              </a:endParaRPr>
            </a:p>
          </p:txBody>
        </p:sp>
        <p:sp>
          <p:nvSpPr>
            <p:cNvPr id="18"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smtClean="0">
                <a:solidFill>
                  <a:srgbClr val="FFFFFF"/>
                </a:solidFill>
              </a:endParaRPr>
            </a:p>
          </p:txBody>
        </p:sp>
      </p:grpSp>
      <p:sp>
        <p:nvSpPr>
          <p:cNvPr id="19" name="文本框 20"/>
          <p:cNvSpPr txBox="1">
            <a:spLocks noChangeArrowheads="1"/>
          </p:cNvSpPr>
          <p:nvPr/>
        </p:nvSpPr>
        <p:spPr bwMode="auto">
          <a:xfrm>
            <a:off x="1091886" y="3747974"/>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0" name="文本框 20"/>
          <p:cNvSpPr txBox="1">
            <a:spLocks noChangeArrowheads="1"/>
          </p:cNvSpPr>
          <p:nvPr/>
        </p:nvSpPr>
        <p:spPr bwMode="auto">
          <a:xfrm>
            <a:off x="1235902" y="3067964"/>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zh-CN" altLang="en-US" sz="3200" b="1" dirty="0" smtClean="0">
                <a:solidFill>
                  <a:srgbClr val="008000"/>
                </a:solidFill>
              </a:rPr>
              <a:t>提纲</a:t>
            </a:r>
            <a:endParaRPr lang="zh-CN" altLang="en-US" sz="3200" b="1" dirty="0">
              <a:solidFill>
                <a:srgbClr val="008000"/>
              </a:solidFill>
            </a:endParaRPr>
          </a:p>
        </p:txBody>
      </p:sp>
      <p:sp>
        <p:nvSpPr>
          <p:cNvPr id="24" name="灯片编号占位符 2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847767"/>
            <a:ext cx="7643866"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楷体" panose="02010609060101010101" pitchFamily="49" charset="-122"/>
                <a:ea typeface="楷体" panose="02010609060101010101" pitchFamily="49" charset="-122"/>
              </a:rPr>
              <a:t>用计算机解决一个具体问题</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需要从数据入手</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，数据的几个概念：</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TextBox 3"/>
          <p:cNvSpPr txBox="1"/>
          <p:nvPr/>
        </p:nvSpPr>
        <p:spPr>
          <a:xfrm>
            <a:off x="714348" y="2422572"/>
            <a:ext cx="7572428" cy="8635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algn="l">
              <a:lnSpc>
                <a:spcPts val="2800"/>
              </a:lnSpc>
              <a:spcBef>
                <a:spcPts val="0"/>
              </a:spcBef>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数据</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是描述客观事物的数、字符以及所有能输入到计算机中并被计算机程序处理的符号的集合。</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714348" y="3444635"/>
            <a:ext cx="7572428" cy="122262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algn="l">
              <a:lnSpc>
                <a:spcPts val="2800"/>
              </a:lnSpc>
              <a:spcBef>
                <a:spcPts val="0"/>
              </a:spcBef>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数据元素</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数据的基本单位（例如，</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班中的每个学生记录都是一个数据元素），也就是说数据元素是组成数据的、有一定意义的基本单位，在计算机中通常作为整体处理</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714348" y="4806485"/>
            <a:ext cx="7643866" cy="11942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algn="l">
              <a:lnSpc>
                <a:spcPts val="2800"/>
              </a:lnSpc>
              <a:spcBef>
                <a:spcPts val="0"/>
              </a:spcBef>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数据项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是具有独立含义的数据最小单位，也称为</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成员</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或域（例如，</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班中每个数据元素即学生记录是由学号、姓名、性别和班号等数据项组成）。</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2" name="组合 11"/>
          <p:cNvGrpSpPr/>
          <p:nvPr/>
        </p:nvGrpSpPr>
        <p:grpSpPr>
          <a:xfrm>
            <a:off x="3143240" y="5701856"/>
            <a:ext cx="1643074" cy="870416"/>
            <a:chOff x="3143240" y="5701856"/>
            <a:chExt cx="1643074" cy="870416"/>
          </a:xfrm>
        </p:grpSpPr>
        <p:sp>
          <p:nvSpPr>
            <p:cNvPr id="7" name="TextBox 6"/>
            <p:cNvSpPr txBox="1"/>
            <p:nvPr/>
          </p:nvSpPr>
          <p:spPr>
            <a:xfrm>
              <a:off x="3143240" y="6130484"/>
              <a:ext cx="1643074" cy="441788"/>
            </a:xfrm>
            <a:prstGeom prst="rect">
              <a:avLst/>
            </a:prstGeom>
            <a:noFill/>
          </p:spPr>
          <p:txBody>
            <a:bodyPr wrap="square" rtlCol="0">
              <a:spAutoFit/>
            </a:bodyPr>
            <a:lstStyle/>
            <a:p>
              <a:pPr algn="l">
                <a:lnSpc>
                  <a:spcPts val="3000"/>
                </a:lnSpc>
                <a:spcBef>
                  <a:spcPts val="0"/>
                </a:spcBef>
              </a:pPr>
              <a:r>
                <a:rPr lang="zh-CN" altLang="en-US" sz="2000" smtClean="0">
                  <a:solidFill>
                    <a:srgbClr val="0000FF"/>
                  </a:solidFill>
                  <a:latin typeface="华文中宋" panose="02010600040101010101" pitchFamily="2" charset="-122"/>
                  <a:ea typeface="华文中宋" panose="02010600040101010101" pitchFamily="2" charset="-122"/>
                </a:rPr>
                <a:t>结构化数据</a:t>
              </a:r>
              <a:endParaRPr lang="zh-CN" altLang="en-US" sz="2000" smtClean="0">
                <a:solidFill>
                  <a:srgbClr val="0000FF"/>
                </a:solidFill>
                <a:latin typeface="华文中宋" panose="02010600040101010101" pitchFamily="2" charset="-122"/>
                <a:ea typeface="华文中宋" panose="02010600040101010101" pitchFamily="2" charset="-122"/>
              </a:endParaRPr>
            </a:p>
          </p:txBody>
        </p:sp>
        <p:sp>
          <p:nvSpPr>
            <p:cNvPr id="8" name="上箭头 7"/>
            <p:cNvSpPr/>
            <p:nvPr/>
          </p:nvSpPr>
          <p:spPr>
            <a:xfrm>
              <a:off x="3714744" y="5701856"/>
              <a:ext cx="285752"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10" name="TextBox 9"/>
          <p:cNvSpPr txBox="1"/>
          <p:nvPr/>
        </p:nvSpPr>
        <p:spPr>
          <a:xfrm>
            <a:off x="2285984" y="285728"/>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1.1 </a:t>
            </a:r>
            <a:r>
              <a:rPr lang="zh-CN"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什么是数据结构</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1" name="TextBox 10"/>
          <p:cNvSpPr txBox="1"/>
          <p:nvPr/>
        </p:nvSpPr>
        <p:spPr>
          <a:xfrm>
            <a:off x="357158" y="1142984"/>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1.1.1 </a:t>
            </a:r>
            <a:r>
              <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数据结构的定义</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8" name="灯片编号占位符 17"/>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760224" y="2071678"/>
          <a:ext cx="3383280" cy="329184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学号</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姓名</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分数</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TextBox 3"/>
          <p:cNvSpPr txBox="1"/>
          <p:nvPr/>
        </p:nvSpPr>
        <p:spPr>
          <a:xfrm>
            <a:off x="2143108" y="642918"/>
            <a:ext cx="2500330" cy="400110"/>
          </a:xfrm>
          <a:prstGeom prst="rect">
            <a:avLst/>
          </a:prstGeom>
          <a:noFill/>
        </p:spPr>
        <p:txBody>
          <a:bodyPr wrap="square" rtlCol="0">
            <a:spAutoFit/>
          </a:bodyPr>
          <a:lstStyle/>
          <a:p>
            <a:pPr>
              <a:lnSpc>
                <a:spcPct val="100000"/>
              </a:lnSpc>
            </a:pPr>
            <a:r>
              <a:rPr lang="zh-CN" altLang="zh-CN" sz="2000" smtClean="0">
                <a:solidFill>
                  <a:srgbClr val="FF0000"/>
                </a:solidFill>
                <a:latin typeface="华文中宋" panose="02010600040101010101" pitchFamily="2" charset="-122"/>
                <a:ea typeface="华文中宋" panose="02010600040101010101" pitchFamily="2" charset="-122"/>
              </a:rPr>
              <a:t>高等数学成绩表</a:t>
            </a:r>
            <a:endParaRPr lang="zh-CN" altLang="en-US" sz="2000">
              <a:solidFill>
                <a:srgbClr val="FF0000"/>
              </a:solidFill>
              <a:latin typeface="华文中宋" panose="02010600040101010101" pitchFamily="2" charset="-122"/>
              <a:ea typeface="华文中宋" panose="02010600040101010101" pitchFamily="2" charset="-122"/>
            </a:endParaRPr>
          </a:p>
        </p:txBody>
      </p:sp>
      <p:grpSp>
        <p:nvGrpSpPr>
          <p:cNvPr id="7" name="组合 6"/>
          <p:cNvGrpSpPr/>
          <p:nvPr/>
        </p:nvGrpSpPr>
        <p:grpSpPr>
          <a:xfrm>
            <a:off x="545778" y="1928802"/>
            <a:ext cx="928694" cy="3214710"/>
            <a:chOff x="285720" y="928670"/>
            <a:chExt cx="928694" cy="3214710"/>
          </a:xfrm>
        </p:grpSpPr>
        <p:sp>
          <p:nvSpPr>
            <p:cNvPr id="5" name="TextBox 4"/>
            <p:cNvSpPr txBox="1"/>
            <p:nvPr/>
          </p:nvSpPr>
          <p:spPr>
            <a:xfrm>
              <a:off x="285720" y="2376066"/>
              <a:ext cx="857256" cy="313932"/>
            </a:xfrm>
            <a:prstGeom prst="rect">
              <a:avLst/>
            </a:prstGeom>
            <a:noFill/>
          </p:spPr>
          <p:txBody>
            <a:bodyPr wrap="square" rtlCol="0">
              <a:spAutoFit/>
            </a:bodyPr>
            <a:lstStyle/>
            <a:p>
              <a:pPr algn="l"/>
              <a:r>
                <a:rPr lang="zh-CN" altLang="en-US" sz="1800" smtClean="0">
                  <a:solidFill>
                    <a:srgbClr val="0000FF"/>
                  </a:solidFill>
                  <a:latin typeface="仿宋" panose="02010609060101010101" pitchFamily="49" charset="-122"/>
                  <a:ea typeface="仿宋" panose="02010609060101010101" pitchFamily="49" charset="-122"/>
                </a:rPr>
                <a:t>数据</a:t>
              </a:r>
              <a:endParaRPr lang="zh-CN" altLang="en-US" sz="1800">
                <a:solidFill>
                  <a:srgbClr val="0000FF"/>
                </a:solidFill>
                <a:latin typeface="仿宋" panose="02010609060101010101" pitchFamily="49" charset="-122"/>
                <a:ea typeface="仿宋" panose="02010609060101010101" pitchFamily="49" charset="-122"/>
              </a:endParaRPr>
            </a:p>
          </p:txBody>
        </p:sp>
        <p:sp>
          <p:nvSpPr>
            <p:cNvPr id="6" name="左大括号 5"/>
            <p:cNvSpPr/>
            <p:nvPr/>
          </p:nvSpPr>
          <p:spPr>
            <a:xfrm>
              <a:off x="1000100" y="928670"/>
              <a:ext cx="214314" cy="3214710"/>
            </a:xfrm>
            <a:prstGeom prst="leftBrace">
              <a:avLst/>
            </a:prstGeom>
            <a:ln w="19050">
              <a:tailEnd type="none"/>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grpSp>
      <p:grpSp>
        <p:nvGrpSpPr>
          <p:cNvPr id="21" name="组合 20"/>
          <p:cNvGrpSpPr/>
          <p:nvPr/>
        </p:nvGrpSpPr>
        <p:grpSpPr>
          <a:xfrm>
            <a:off x="2428860" y="1285860"/>
            <a:ext cx="2143140" cy="785818"/>
            <a:chOff x="2428860" y="1285860"/>
            <a:chExt cx="2143140" cy="785818"/>
          </a:xfrm>
        </p:grpSpPr>
        <p:sp>
          <p:nvSpPr>
            <p:cNvPr id="9" name="TextBox 8"/>
            <p:cNvSpPr txBox="1"/>
            <p:nvPr/>
          </p:nvSpPr>
          <p:spPr>
            <a:xfrm>
              <a:off x="2857488" y="1285860"/>
              <a:ext cx="1143008" cy="313932"/>
            </a:xfrm>
            <a:prstGeom prst="rect">
              <a:avLst/>
            </a:prstGeom>
            <a:noFill/>
          </p:spPr>
          <p:txBody>
            <a:bodyPr wrap="square" rtlCol="0">
              <a:spAutoFit/>
            </a:bodyPr>
            <a:lstStyle/>
            <a:p>
              <a:pPr algn="l"/>
              <a:r>
                <a:rPr lang="zh-CN" altLang="zh-CN" sz="1800" smtClean="0">
                  <a:solidFill>
                    <a:srgbClr val="0000FF"/>
                  </a:solidFill>
                  <a:latin typeface="仿宋" panose="02010609060101010101" pitchFamily="49" charset="-122"/>
                  <a:ea typeface="仿宋" panose="02010609060101010101" pitchFamily="49" charset="-122"/>
                  <a:cs typeface="Consolas" panose="020B0609020204030204" pitchFamily="49" charset="0"/>
                </a:rPr>
                <a:t>数据</a:t>
              </a:r>
              <a:r>
                <a:rPr lang="zh-CN" altLang="en-US" sz="1800" smtClean="0">
                  <a:solidFill>
                    <a:srgbClr val="0000FF"/>
                  </a:solidFill>
                  <a:latin typeface="仿宋" panose="02010609060101010101" pitchFamily="49" charset="-122"/>
                  <a:ea typeface="仿宋" panose="02010609060101010101" pitchFamily="49" charset="-122"/>
                  <a:cs typeface="Consolas" panose="020B0609020204030204" pitchFamily="49" charset="0"/>
                </a:rPr>
                <a:t>项</a:t>
              </a:r>
              <a:endParaRPr lang="zh-CN" altLang="en-US" sz="1800">
                <a:solidFill>
                  <a:srgbClr val="0000FF"/>
                </a:solidFill>
                <a:latin typeface="仿宋" panose="02010609060101010101" pitchFamily="49" charset="-122"/>
                <a:ea typeface="仿宋" panose="02010609060101010101" pitchFamily="49" charset="-122"/>
              </a:endParaRPr>
            </a:p>
          </p:txBody>
        </p:sp>
        <p:cxnSp>
          <p:nvCxnSpPr>
            <p:cNvPr id="11" name="直接箭头连接符 10"/>
            <p:cNvCxnSpPr/>
            <p:nvPr/>
          </p:nvCxnSpPr>
          <p:spPr>
            <a:xfrm rot="10800000" flipV="1">
              <a:off x="2428860" y="1571612"/>
              <a:ext cx="642942" cy="500066"/>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13" name="直接箭头连接符 12"/>
            <p:cNvCxnSpPr>
              <a:stCxn id="9" idx="2"/>
            </p:cNvCxnSpPr>
            <p:nvPr/>
          </p:nvCxnSpPr>
          <p:spPr>
            <a:xfrm rot="16200000" flipH="1">
              <a:off x="3228768" y="1800016"/>
              <a:ext cx="471886" cy="7143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15" name="直接箭头连接符 14"/>
            <p:cNvCxnSpPr/>
            <p:nvPr/>
          </p:nvCxnSpPr>
          <p:spPr>
            <a:xfrm>
              <a:off x="3714744" y="1643050"/>
              <a:ext cx="857256" cy="42862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grpSp>
        <p:nvGrpSpPr>
          <p:cNvPr id="24" name="组合 23"/>
          <p:cNvGrpSpPr/>
          <p:nvPr/>
        </p:nvGrpSpPr>
        <p:grpSpPr>
          <a:xfrm>
            <a:off x="5143504" y="2686045"/>
            <a:ext cx="2286016" cy="2071702"/>
            <a:chOff x="5143504" y="2643182"/>
            <a:chExt cx="2286016" cy="2071702"/>
          </a:xfrm>
        </p:grpSpPr>
        <p:sp>
          <p:nvSpPr>
            <p:cNvPr id="8" name="TextBox 7"/>
            <p:cNvSpPr txBox="1"/>
            <p:nvPr/>
          </p:nvSpPr>
          <p:spPr>
            <a:xfrm>
              <a:off x="5786446" y="3286124"/>
              <a:ext cx="1643074" cy="313932"/>
            </a:xfrm>
            <a:prstGeom prst="rect">
              <a:avLst/>
            </a:prstGeom>
            <a:noFill/>
          </p:spPr>
          <p:txBody>
            <a:bodyPr wrap="square" rtlCol="0">
              <a:spAutoFit/>
            </a:bodyPr>
            <a:lstStyle/>
            <a:p>
              <a:pPr algn="l"/>
              <a:r>
                <a:rPr lang="zh-CN" altLang="zh-CN" sz="1800" smtClean="0">
                  <a:solidFill>
                    <a:srgbClr val="0000FF"/>
                  </a:solidFill>
                  <a:latin typeface="仿宋" panose="02010609060101010101" pitchFamily="49" charset="-122"/>
                  <a:ea typeface="仿宋" panose="02010609060101010101" pitchFamily="49" charset="-122"/>
                  <a:cs typeface="Consolas" panose="020B0609020204030204" pitchFamily="49" charset="0"/>
                </a:rPr>
                <a:t>数据元素</a:t>
              </a:r>
              <a:endParaRPr lang="zh-CN" altLang="en-US" sz="1800">
                <a:solidFill>
                  <a:srgbClr val="0000FF"/>
                </a:solidFill>
                <a:latin typeface="仿宋" panose="02010609060101010101" pitchFamily="49" charset="-122"/>
                <a:ea typeface="仿宋" panose="02010609060101010101" pitchFamily="49" charset="-122"/>
              </a:endParaRPr>
            </a:p>
          </p:txBody>
        </p:sp>
        <p:cxnSp>
          <p:nvCxnSpPr>
            <p:cNvPr id="17" name="直接箭头连接符 16"/>
            <p:cNvCxnSpPr/>
            <p:nvPr/>
          </p:nvCxnSpPr>
          <p:spPr>
            <a:xfrm rot="16200000" flipV="1">
              <a:off x="5036347" y="2750339"/>
              <a:ext cx="785818" cy="571504"/>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19" name="直接箭头连接符 18"/>
            <p:cNvCxnSpPr/>
            <p:nvPr/>
          </p:nvCxnSpPr>
          <p:spPr>
            <a:xfrm rot="5400000">
              <a:off x="4786314" y="3786190"/>
              <a:ext cx="1285884" cy="571504"/>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23" name="直接箭头连接符 22"/>
            <p:cNvCxnSpPr/>
            <p:nvPr/>
          </p:nvCxnSpPr>
          <p:spPr>
            <a:xfrm rot="10800000" flipV="1">
              <a:off x="5143504" y="3429000"/>
              <a:ext cx="571504" cy="285752"/>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sp>
        <p:nvSpPr>
          <p:cNvPr id="28" name="灯片编号占位符 27"/>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1142984"/>
            <a:ext cx="7643866" cy="1799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algn="l">
              <a:lnSpc>
                <a:spcPts val="30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数据对象</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是性质相同的有限个数据元素的集合，它是数据的一个子集</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如大写字母数据对象是集合</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mn-ea"/>
                <a:ea typeface="+mn-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Z</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100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的整数数据对象是集合</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mj-ea"/>
                <a:ea typeface="+mj-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100}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1285852" y="3357562"/>
            <a:ext cx="6143668" cy="477054"/>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默认情况下，</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数据结构中的数据都指的是数据对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象。</a:t>
            </a:r>
            <a:endParaRPr lang="zh-CN" altLang="en-US" sz="2000" smtClean="0">
              <a:solidFill>
                <a:srgbClr val="0000FF"/>
              </a:solidFill>
              <a:latin typeface="仿宋" panose="02010609060101010101" pitchFamily="49" charset="-122"/>
              <a:ea typeface="仿宋" panose="02010609060101010101" pitchFamily="49" charset="-122"/>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7643866" cy="129956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a:lnSpc>
                <a:spcPts val="3000"/>
              </a:lnSpc>
              <a:spcBef>
                <a:spcPts val="600"/>
              </a:spcBef>
            </a:pPr>
            <a:r>
              <a:rPr lang="zh-CN" altLang="zh-CN" sz="2000" smtClean="0">
                <a:solidFill>
                  <a:srgbClr val="FF0000"/>
                </a:solidFill>
                <a:latin typeface="微软雅黑" panose="020B0503020204020204" pitchFamily="34" charset="-122"/>
                <a:ea typeface="微软雅黑" panose="020B0503020204020204" pitchFamily="34" charset="-122"/>
              </a:rPr>
              <a:t>数据结构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是指所</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涉及的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数据元素以及数据元素之间的关系，可以看作是相互之间存在着特定关系的数据元素的集合</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可时把数据结构看成是带结构的数据元素的集合。</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 Box 2"/>
          <p:cNvSpPr txBox="1">
            <a:spLocks noChangeArrowheads="1"/>
          </p:cNvSpPr>
          <p:nvPr/>
        </p:nvSpPr>
        <p:spPr bwMode="auto">
          <a:xfrm>
            <a:off x="1071538" y="2357430"/>
            <a:ext cx="5786478" cy="323141"/>
          </a:xfrm>
          <a:prstGeom prst="rect">
            <a:avLst/>
          </a:prstGeom>
          <a:noFill/>
          <a:ln w="57150" algn="ctr">
            <a:noFill/>
            <a:miter lim="800000"/>
            <a:tailEnd type="none" w="lg" len="lg"/>
          </a:ln>
          <a:effectLst/>
        </p:spPr>
        <p:txBody>
          <a:bodyPr wrap="square" tIns="76176" bIns="0">
            <a:spAutoFit/>
          </a:bodyPr>
          <a:lstStyle/>
          <a:p>
            <a:pPr marL="457200" indent="-457200" algn="l"/>
            <a:r>
              <a:rPr lang="zh-CN" altLang="en-US" sz="2000" b="1" dirty="0" smtClean="0">
                <a:solidFill>
                  <a:srgbClr val="0000FF"/>
                </a:solidFill>
                <a:latin typeface="微软雅黑" panose="020B0503020204020204" pitchFamily="34" charset="-122"/>
                <a:ea typeface="微软雅黑" panose="020B0503020204020204" pitchFamily="34" charset="-122"/>
                <a:cs typeface="Consolas" panose="020B0609020204030204" pitchFamily="49" charset="0"/>
              </a:rPr>
              <a:t>数据结构    ＝      </a:t>
            </a:r>
            <a:r>
              <a:rPr lang="zh-CN" altLang="en-US" sz="20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数据对象　　＋　　结构</a:t>
            </a:r>
            <a:endParaRPr lang="zh-CN" altLang="en-US" sz="2000" b="1" dirty="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Line 3"/>
          <p:cNvSpPr>
            <a:spLocks noChangeShapeType="1"/>
          </p:cNvSpPr>
          <p:nvPr/>
        </p:nvSpPr>
        <p:spPr bwMode="auto">
          <a:xfrm flipV="1">
            <a:off x="3643306" y="2764069"/>
            <a:ext cx="0" cy="577851"/>
          </a:xfrm>
          <a:prstGeom prst="line">
            <a:avLst/>
          </a:prstGeom>
          <a:noFill/>
          <a:ln w="38100">
            <a:solidFill>
              <a:srgbClr val="339933"/>
            </a:solidFill>
            <a:round/>
            <a:tailEnd type="stealth" w="lg" len="lg"/>
          </a:ln>
          <a:effectLst/>
        </p:spPr>
        <p:txBody>
          <a:bodyPr wrap="none" tIns="76176" bIns="0" anchor="ctr">
            <a:spAutoFit/>
          </a:bodyPr>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Line 4"/>
          <p:cNvSpPr>
            <a:spLocks noChangeShapeType="1"/>
          </p:cNvSpPr>
          <p:nvPr/>
        </p:nvSpPr>
        <p:spPr bwMode="auto">
          <a:xfrm flipV="1">
            <a:off x="5738821" y="2690421"/>
            <a:ext cx="0" cy="577851"/>
          </a:xfrm>
          <a:prstGeom prst="line">
            <a:avLst/>
          </a:prstGeom>
          <a:noFill/>
          <a:ln w="38100">
            <a:solidFill>
              <a:srgbClr val="339933"/>
            </a:solidFill>
            <a:round/>
            <a:tailEnd type="stealth" w="lg" len="lg"/>
          </a:ln>
          <a:effectLst/>
        </p:spPr>
        <p:txBody>
          <a:bodyPr wrap="none" tIns="76176" bIns="0" anchor="ctr">
            <a:spAutoFit/>
          </a:bodyPr>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4786314" y="3412194"/>
            <a:ext cx="1928826" cy="777777"/>
          </a:xfrm>
          <a:prstGeom prst="rect">
            <a:avLst/>
          </a:prstGeom>
          <a:noFill/>
        </p:spPr>
        <p:txBody>
          <a:bodyPr wrap="square" rtlCol="0">
            <a:spAutoFit/>
          </a:bodyPr>
          <a:lstStyle/>
          <a:p>
            <a:pPr algn="ctr">
              <a:lnSpc>
                <a:spcPct val="130000"/>
              </a:lnSpc>
            </a:pPr>
            <a:r>
              <a:rPr lang="zh-CN" altLang="en-US" sz="18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数据元素之间的关系构成结构</a:t>
            </a:r>
            <a:endParaRPr lang="zh-CN" altLang="en-US" sz="18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2786050" y="3412194"/>
            <a:ext cx="1714512" cy="777777"/>
          </a:xfrm>
          <a:prstGeom prst="rect">
            <a:avLst/>
          </a:prstGeom>
          <a:noFill/>
        </p:spPr>
        <p:txBody>
          <a:bodyPr wrap="square" rtlCol="0">
            <a:spAutoFit/>
          </a:bodyPr>
          <a:lstStyle/>
          <a:p>
            <a:pPr>
              <a:lnSpc>
                <a:spcPct val="130000"/>
              </a:lnSpc>
            </a:pPr>
            <a:r>
              <a:rPr lang="zh-CN" altLang="en-US" sz="18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相同性质的数据元素的集合</a:t>
            </a:r>
            <a:endParaRPr lang="zh-CN" altLang="en-US" sz="18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642910" y="1071546"/>
            <a:ext cx="6858048" cy="323141"/>
          </a:xfrm>
          <a:prstGeom prst="rect">
            <a:avLst/>
          </a:prstGeom>
          <a:noFill/>
          <a:ln w="57150" algn="ctr">
            <a:noFill/>
            <a:miter lim="800000"/>
            <a:tailEnd type="none" w="lg" len="lg"/>
          </a:ln>
          <a:effectLst/>
        </p:spPr>
        <p:txBody>
          <a:bodyPr wrap="square" tIns="76176" bIns="0">
            <a:spAutoFit/>
          </a:bodyPr>
          <a:lstStyle/>
          <a:p>
            <a:pPr marL="457200" indent="-457200" algn="l"/>
            <a:r>
              <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数据结构中</a:t>
            </a:r>
            <a:r>
              <a:rPr lang="zh-CN" altLang="en-US" sz="2000"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讨论</a:t>
            </a:r>
            <a:r>
              <a:rPr lang="zh-CN" altLang="en-US"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的元素关系</a:t>
            </a:r>
            <a:r>
              <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主要是指</a:t>
            </a:r>
            <a:r>
              <a:rPr lang="zh-CN" altLang="en-US"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相邻</a:t>
            </a:r>
            <a:r>
              <a:rPr lang="zh-CN" altLang="en-US" sz="2000" b="1"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关系</a:t>
            </a:r>
            <a:r>
              <a:rPr lang="zh-CN" altLang="en-US" sz="2000" b="1" dirty="0" smtClean="0">
                <a:solidFill>
                  <a:srgbClr val="0000FF"/>
                </a:solidFill>
                <a:latin typeface="楷体" panose="02010609060101010101" pitchFamily="49" charset="-122"/>
                <a:ea typeface="楷体" panose="02010609060101010101" pitchFamily="49" charset="-122"/>
                <a:cs typeface="Times New Roman" panose="02020603050405020304" pitchFamily="18" charset="0"/>
              </a:rPr>
              <a:t>或</a:t>
            </a:r>
            <a:r>
              <a:rPr lang="zh-CN" altLang="en-US" sz="2000" b="1"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邻接关系</a:t>
            </a:r>
            <a:r>
              <a:rPr lang="zh-CN" altLang="en-US" sz="2000"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Box 4"/>
          <p:cNvSpPr txBox="1"/>
          <p:nvPr/>
        </p:nvSpPr>
        <p:spPr>
          <a:xfrm>
            <a:off x="5785222" y="2334719"/>
            <a:ext cx="528030" cy="952507"/>
          </a:xfrm>
          <a:prstGeom prst="rect">
            <a:avLst/>
          </a:prstGeom>
          <a:noFill/>
        </p:spPr>
        <p:txBody>
          <a:bodyPr vert="eaVert" wrap="square" rtlCol="0">
            <a:spAutoFit/>
          </a:bodyPr>
          <a:lstStyle/>
          <a:p>
            <a:pPr algn="ctr">
              <a:lnSpc>
                <a:spcPct val="130000"/>
              </a:lnSpc>
            </a:pPr>
            <a:r>
              <a:rPr lang="zh-CN" altLang="en-US" sz="2000" b="1" dirty="0" smtClean="0">
                <a:solidFill>
                  <a:srgbClr val="0000FF"/>
                </a:solidFill>
                <a:latin typeface="仿宋" panose="02010609060101010101" pitchFamily="49" charset="-122"/>
                <a:ea typeface="仿宋" panose="02010609060101010101" pitchFamily="49" charset="-122"/>
                <a:cs typeface="Times New Roman" panose="02020603050405020304" pitchFamily="18" charset="0"/>
              </a:rPr>
              <a:t>相邻</a:t>
            </a:r>
            <a:endParaRPr lang="zh-CN" altLang="en-US" sz="2000" b="1" dirty="0" smtClean="0">
              <a:solidFill>
                <a:srgbClr val="0000FF"/>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6" name="TextBox 5"/>
          <p:cNvSpPr txBox="1"/>
          <p:nvPr/>
        </p:nvSpPr>
        <p:spPr>
          <a:xfrm>
            <a:off x="5786446" y="3908970"/>
            <a:ext cx="528030" cy="1238259"/>
          </a:xfrm>
          <a:prstGeom prst="rect">
            <a:avLst/>
          </a:prstGeom>
          <a:noFill/>
        </p:spPr>
        <p:txBody>
          <a:bodyPr vert="eaVert" wrap="square" rtlCol="0">
            <a:spAutoFit/>
          </a:bodyPr>
          <a:lstStyle/>
          <a:p>
            <a:pPr>
              <a:lnSpc>
                <a:spcPct val="130000"/>
              </a:lnSpc>
            </a:pPr>
            <a:r>
              <a:rPr lang="zh-CN" altLang="en-US" sz="2000" b="1" dirty="0" smtClean="0">
                <a:solidFill>
                  <a:srgbClr val="0000FF"/>
                </a:solidFill>
                <a:latin typeface="仿宋" panose="02010609060101010101" pitchFamily="49" charset="-122"/>
                <a:ea typeface="仿宋" panose="02010609060101010101" pitchFamily="49" charset="-122"/>
                <a:cs typeface="Times New Roman" panose="02020603050405020304" pitchFamily="18" charset="0"/>
              </a:rPr>
              <a:t>不相邻</a:t>
            </a:r>
            <a:endParaRPr lang="zh-CN" altLang="en-US" sz="2000" b="1" dirty="0" smtClean="0">
              <a:solidFill>
                <a:srgbClr val="0000FF"/>
              </a:solidFill>
              <a:latin typeface="仿宋" panose="02010609060101010101" pitchFamily="49" charset="-122"/>
              <a:ea typeface="仿宋" panose="02010609060101010101" pitchFamily="49" charset="-122"/>
              <a:cs typeface="Times New Roman" panose="02020603050405020304" pitchFamily="18" charset="0"/>
            </a:endParaRPr>
          </a:p>
        </p:txBody>
      </p:sp>
      <p:cxnSp>
        <p:nvCxnSpPr>
          <p:cNvPr id="8" name="直接连接符 7"/>
          <p:cNvCxnSpPr/>
          <p:nvPr/>
        </p:nvCxnSpPr>
        <p:spPr>
          <a:xfrm>
            <a:off x="5170242" y="4051846"/>
            <a:ext cx="544766" cy="500066"/>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5170242" y="4551912"/>
            <a:ext cx="544766" cy="428628"/>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5" idx="1"/>
          </p:cNvCxnSpPr>
          <p:nvPr/>
        </p:nvCxnSpPr>
        <p:spPr>
          <a:xfrm>
            <a:off x="5170242" y="2525220"/>
            <a:ext cx="614980" cy="285753"/>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5" idx="1"/>
          </p:cNvCxnSpPr>
          <p:nvPr/>
        </p:nvCxnSpPr>
        <p:spPr>
          <a:xfrm flipV="1">
            <a:off x="5170242" y="2810973"/>
            <a:ext cx="614980" cy="381006"/>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4" name="表格 13"/>
          <p:cNvGraphicFramePr>
            <a:graphicFrameLocks noGrp="1"/>
          </p:cNvGraphicFramePr>
          <p:nvPr/>
        </p:nvGraphicFramePr>
        <p:xfrm>
          <a:off x="1760224" y="2071678"/>
          <a:ext cx="3383280" cy="3000505"/>
        </p:xfrm>
        <a:graphic>
          <a:graphicData uri="http://schemas.openxmlformats.org/drawingml/2006/table">
            <a:tbl>
              <a:tblPr/>
              <a:tblGrid>
                <a:gridCol w="1097280"/>
                <a:gridCol w="1257300"/>
                <a:gridCol w="1028700"/>
              </a:tblGrid>
              <a:tr h="428628">
                <a:tc>
                  <a:txBody>
                    <a:bodyPr/>
                    <a:lstStyle/>
                    <a:p>
                      <a:pPr algn="ctr">
                        <a:lnSpc>
                          <a:spcPct val="150000"/>
                        </a:lnSpc>
                        <a:spcAft>
                          <a:spcPts val="180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学号</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180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姓名</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180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分数</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r>
            </a:tbl>
          </a:graphicData>
        </a:graphic>
      </p:graphicFrame>
      <p:sp>
        <p:nvSpPr>
          <p:cNvPr id="21" name="灯片编号占位符 2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4143404" cy="338554"/>
          </a:xfrm>
          <a:prstGeom prst="rect">
            <a:avLst/>
          </a:prstGeom>
          <a:noFill/>
        </p:spPr>
        <p:txBody>
          <a:bodyPr wrap="square" rtlCol="0">
            <a:spAutoFit/>
          </a:bodyPr>
          <a:lstStyle/>
          <a:p>
            <a:pPr algn="l"/>
            <a:r>
              <a:rPr lang="zh-CN" altLang="en-US" sz="2000" smtClean="0">
                <a:solidFill>
                  <a:srgbClr val="FF0000"/>
                </a:solidFill>
                <a:latin typeface="微软雅黑" panose="020B0503020204020204" pitchFamily="34" charset="-122"/>
                <a:ea typeface="微软雅黑" panose="020B0503020204020204" pitchFamily="34" charset="-122"/>
              </a:rPr>
              <a:t>一个数据结构的几个方面：</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4" name="矩形 3"/>
          <p:cNvSpPr/>
          <p:nvPr/>
        </p:nvSpPr>
        <p:spPr bwMode="auto">
          <a:xfrm>
            <a:off x="1785918" y="928670"/>
            <a:ext cx="1980000" cy="571504"/>
          </a:xfrm>
          <a:prstGeom prst="rect">
            <a:avLst/>
          </a:prstGeom>
          <a:solidFill>
            <a:schemeClr val="accent5">
              <a:lumMod val="20000"/>
              <a:lumOff val="8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vert="horz" wrap="square" lIns="91440" tIns="180000" rIns="91440" bIns="45720" numCol="1" rtlCol="0" anchor="t" anchorCtr="0" compatLnSpc="1"/>
          <a:lstStyle/>
          <a:p>
            <a:pPr marL="0" marR="0" indent="0" algn="ctr" defTabSz="914400" rtl="0" eaLnBrk="1" fontAlgn="base" latinLnBrk="0" hangingPunct="1">
              <a:spcBef>
                <a:spcPct val="0"/>
              </a:spcBef>
              <a:spcAft>
                <a:spcPct val="0"/>
              </a:spcAft>
              <a:buClrTx/>
              <a:buSzTx/>
              <a:buFontTx/>
              <a:buNone/>
            </a:pPr>
            <a:r>
              <a:rPr kumimoji="0" lang="zh-CN" altLang="en-US" sz="2000" b="1" i="0" u="none" strike="noStrike" cap="none" normalizeH="0" baseline="0" dirty="0" smtClean="0">
                <a:ln>
                  <a:noFill/>
                </a:ln>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逻辑结构</a:t>
            </a:r>
            <a:endParaRPr kumimoji="0" lang="zh-CN" altLang="en-US" sz="2000" b="1" i="0" u="none" strike="noStrike" cap="none" normalizeH="0" baseline="0" dirty="0" smtClean="0">
              <a:ln>
                <a:noFill/>
              </a:ln>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5" name="矩形 4"/>
          <p:cNvSpPr/>
          <p:nvPr/>
        </p:nvSpPr>
        <p:spPr bwMode="auto">
          <a:xfrm>
            <a:off x="1785918" y="1882764"/>
            <a:ext cx="1980000" cy="571504"/>
          </a:xfrm>
          <a:prstGeom prst="rect">
            <a:avLst/>
          </a:prstGeom>
          <a:solidFill>
            <a:schemeClr val="accent5">
              <a:lumMod val="20000"/>
              <a:lumOff val="8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vert="horz" wrap="square" lIns="91440" tIns="180000" rIns="91440" bIns="45720" numCol="1" rtlCol="0" anchor="t" anchorCtr="0" compatLnSpc="1"/>
          <a:lstStyle/>
          <a:p>
            <a:pPr marL="0" marR="0" indent="0" algn="ctr" defTabSz="914400" rtl="0" eaLnBrk="1" fontAlgn="base" latinLnBrk="0" hangingPunct="1">
              <a:spcBef>
                <a:spcPct val="0"/>
              </a:spcBef>
              <a:spcAft>
                <a:spcPct val="0"/>
              </a:spcAft>
              <a:buClrTx/>
              <a:buSzTx/>
              <a:buFontTx/>
              <a:buNone/>
            </a:pPr>
            <a:r>
              <a:rPr lang="zh-CN" altLang="en-US" sz="2000" b="1" dirty="0" smtClean="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a:t>
            </a:r>
            <a:r>
              <a:rPr kumimoji="0" lang="zh-CN" altLang="en-US" sz="2000" b="1" i="0" u="none" strike="noStrike" cap="none" normalizeH="0" baseline="0" dirty="0" smtClean="0">
                <a:ln>
                  <a:noFill/>
                </a:ln>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结构</a:t>
            </a:r>
            <a:endParaRPr kumimoji="0" lang="zh-CN" altLang="en-US" sz="2000" b="1" i="0" u="none" strike="noStrike" cap="none" normalizeH="0" baseline="0" dirty="0" smtClean="0">
              <a:ln>
                <a:noFill/>
              </a:ln>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6" name="矩形 5"/>
          <p:cNvSpPr>
            <a:spLocks noChangeAspect="1"/>
          </p:cNvSpPr>
          <p:nvPr/>
        </p:nvSpPr>
        <p:spPr bwMode="auto">
          <a:xfrm>
            <a:off x="1806182" y="2857496"/>
            <a:ext cx="1980000" cy="510970"/>
          </a:xfrm>
          <a:prstGeom prst="rect">
            <a:avLst/>
          </a:prstGeom>
          <a:solidFill>
            <a:schemeClr val="accent5">
              <a:lumMod val="20000"/>
              <a:lumOff val="8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vert="horz" wrap="square" lIns="91440" tIns="180000" rIns="91440" bIns="45720" numCol="1" rtlCol="0" anchor="t" anchorCtr="0" compatLnSpc="1"/>
          <a:lstStyle/>
          <a:p>
            <a:pPr marL="0" marR="0" indent="0" algn="ctr" defTabSz="914400" rtl="0" eaLnBrk="1" fontAlgn="base" latinLnBrk="0" hangingPunct="1">
              <a:spcBef>
                <a:spcPct val="0"/>
              </a:spcBef>
              <a:spcAft>
                <a:spcPct val="0"/>
              </a:spcAft>
              <a:buClrTx/>
              <a:buSzTx/>
              <a:buFontTx/>
              <a:buNone/>
            </a:pPr>
            <a:r>
              <a:rPr lang="zh-CN" altLang="en-US" sz="2000" b="1" smtClean="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数据运算</a:t>
            </a:r>
            <a:endParaRPr kumimoji="0" lang="zh-CN" altLang="en-US" sz="2000" b="1" i="0" u="none" strike="noStrike" cap="none" normalizeH="0" baseline="0" dirty="0" smtClean="0">
              <a:ln>
                <a:noFill/>
              </a:ln>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7" name="下箭头 6"/>
          <p:cNvSpPr/>
          <p:nvPr/>
        </p:nvSpPr>
        <p:spPr bwMode="auto">
          <a:xfrm>
            <a:off x="2714612" y="1558912"/>
            <a:ext cx="142876" cy="285752"/>
          </a:xfrm>
          <a:prstGeom prst="downArrow">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1" i="0" u="none" strike="noStrike" cap="none" normalizeH="0" baseline="0" smtClean="0">
              <a:ln>
                <a:noFill/>
              </a:ln>
              <a:solidFill>
                <a:srgbClr val="0033CC"/>
              </a:solidFill>
              <a:effectLst/>
              <a:latin typeface="Times New Roman" panose="02020603050405020304" pitchFamily="18" charset="0"/>
              <a:ea typeface="楷体_GB2312" pitchFamily="49" charset="-122"/>
            </a:endParaRPr>
          </a:p>
        </p:txBody>
      </p:sp>
      <p:sp>
        <p:nvSpPr>
          <p:cNvPr id="8" name="下箭头 7"/>
          <p:cNvSpPr/>
          <p:nvPr/>
        </p:nvSpPr>
        <p:spPr bwMode="auto">
          <a:xfrm>
            <a:off x="2714612" y="2525706"/>
            <a:ext cx="142876" cy="285752"/>
          </a:xfrm>
          <a:prstGeom prst="downArrow">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1" i="0" u="none" strike="noStrike" cap="none" normalizeH="0" baseline="0" smtClean="0">
              <a:ln>
                <a:noFill/>
              </a:ln>
              <a:solidFill>
                <a:srgbClr val="0033CC"/>
              </a:solidFill>
              <a:effectLst/>
              <a:latin typeface="Times New Roman" panose="02020603050405020304" pitchFamily="18" charset="0"/>
              <a:ea typeface="楷体_GB2312" pitchFamily="49" charset="-122"/>
            </a:endParaRPr>
          </a:p>
        </p:txBody>
      </p:sp>
      <p:sp>
        <p:nvSpPr>
          <p:cNvPr id="9" name="Text Box 7"/>
          <p:cNvSpPr txBox="1">
            <a:spLocks noChangeArrowheads="1"/>
          </p:cNvSpPr>
          <p:nvPr/>
        </p:nvSpPr>
        <p:spPr bwMode="auto">
          <a:xfrm>
            <a:off x="1071538" y="3785906"/>
            <a:ext cx="7072362" cy="1808059"/>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a:lnSpc>
                <a:spcPct val="130000"/>
              </a:lnSpc>
              <a:spcBef>
                <a:spcPts val="600"/>
              </a:spcBef>
              <a:buFontTx/>
              <a:buBlip>
                <a:blip r:embed="rId1"/>
              </a:buBlip>
            </a:pP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数据元素之间的</a:t>
            </a:r>
            <a:r>
              <a:rPr lang="zh-CN" altLang="en-US" sz="2000" b="1">
                <a:solidFill>
                  <a:srgbClr val="0000FF"/>
                </a:solidFill>
                <a:latin typeface="Consolas" panose="020B0609020204030204" pitchFamily="49" charset="0"/>
                <a:ea typeface="仿宋" panose="02010609060101010101" pitchFamily="49" charset="-122"/>
                <a:cs typeface="Consolas" panose="020B0609020204030204" pitchFamily="49" charset="0"/>
              </a:rPr>
              <a:t>逻辑</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关系 </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b="1" dirty="0">
                <a:solidFill>
                  <a:srgbClr val="FF0000"/>
                </a:solidFill>
                <a:latin typeface="Consolas" panose="020B0609020204030204" pitchFamily="49" charset="0"/>
                <a:ea typeface="仿宋" panose="02010609060101010101" pitchFamily="49" charset="-122"/>
                <a:cs typeface="Consolas" panose="020B0609020204030204" pitchFamily="49" charset="0"/>
              </a:rPr>
              <a:t>逻辑结构</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30000"/>
              </a:lnSpc>
              <a:spcBef>
                <a:spcPts val="600"/>
              </a:spcBef>
              <a:buFontTx/>
              <a:buBlip>
                <a:blip r:embed="rId1"/>
              </a:buBlip>
            </a:pP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数据元素及其关系在计算机存储器中的</a:t>
            </a:r>
            <a:r>
              <a:rPr lang="zh-CN" altLang="en-US" sz="2000" b="1">
                <a:solidFill>
                  <a:srgbClr val="0000FF"/>
                </a:solidFill>
                <a:latin typeface="Consolas" panose="020B0609020204030204" pitchFamily="49" charset="0"/>
                <a:ea typeface="仿宋" panose="02010609060101010101" pitchFamily="49" charset="-122"/>
                <a:cs typeface="Consolas" panose="020B0609020204030204" pitchFamily="49" charset="0"/>
              </a:rPr>
              <a:t>存储</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方式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b="1">
                <a:solidFill>
                  <a:srgbClr val="FF0000"/>
                </a:solidFill>
                <a:latin typeface="Consolas" panose="020B0609020204030204" pitchFamily="49" charset="0"/>
                <a:ea typeface="仿宋" panose="02010609060101010101" pitchFamily="49" charset="-122"/>
                <a:cs typeface="Consolas" panose="020B0609020204030204" pitchFamily="49" charset="0"/>
              </a:rPr>
              <a:t>存储</a:t>
            </a:r>
            <a:r>
              <a:rPr lang="zh-CN" altLang="en-US" sz="2000" b="1" smtClean="0">
                <a:solidFill>
                  <a:srgbClr val="FF0000"/>
                </a:solidFill>
                <a:latin typeface="Consolas" panose="020B0609020204030204" pitchFamily="49" charset="0"/>
                <a:ea typeface="仿宋" panose="02010609060101010101" pitchFamily="49" charset="-122"/>
                <a:cs typeface="Consolas" panose="020B0609020204030204" pitchFamily="49" charset="0"/>
              </a:rPr>
              <a:t>结构</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（或物理结构）。</a:t>
            </a:r>
            <a:endPar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30000"/>
              </a:lnSpc>
              <a:spcBef>
                <a:spcPts val="600"/>
              </a:spcBef>
              <a:buFontTx/>
              <a:buBlip>
                <a:blip r:embed="rId1"/>
              </a:buBlip>
            </a:pP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施加在该数据</a:t>
            </a:r>
            <a:r>
              <a:rPr lang="zh-CN" altLang="en-US" sz="2000" b="1">
                <a:solidFill>
                  <a:srgbClr val="0000FF"/>
                </a:solidFill>
                <a:latin typeface="Consolas" panose="020B0609020204030204" pitchFamily="49" charset="0"/>
                <a:ea typeface="仿宋" panose="02010609060101010101" pitchFamily="49" charset="-122"/>
                <a:cs typeface="Consolas" panose="020B0609020204030204" pitchFamily="49" charset="0"/>
              </a:rPr>
              <a:t>上</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的操作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b="1" smtClean="0">
                <a:solidFill>
                  <a:srgbClr val="FF0000"/>
                </a:solidFill>
                <a:latin typeface="Consolas" panose="020B0609020204030204" pitchFamily="49" charset="0"/>
                <a:ea typeface="仿宋" panose="02010609060101010101" pitchFamily="49" charset="-122"/>
                <a:cs typeface="Consolas" panose="020B0609020204030204" pitchFamily="49" charset="0"/>
              </a:rPr>
              <a:t>数据</a:t>
            </a:r>
            <a:r>
              <a:rPr lang="zh-CN" altLang="en-US"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运算</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714356"/>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1.1.2 </a:t>
            </a:r>
            <a:r>
              <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数据的逻辑结构</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1643050"/>
            <a:ext cx="7572428" cy="14338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数据的逻辑结构是面向用户的，它反映数据元素之间的逻辑关系而不是物理关系</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数据的逻辑结构是独立于计算机的。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26" name="Picture 2"/>
          <p:cNvPicPr>
            <a:picLocks noChangeAspect="1" noChangeArrowheads="1"/>
          </p:cNvPicPr>
          <p:nvPr/>
        </p:nvPicPr>
        <p:blipFill>
          <a:blip r:embed="rId2" cstate="print"/>
          <a:srcRect/>
          <a:stretch>
            <a:fillRect/>
          </a:stretch>
        </p:blipFill>
        <p:spPr bwMode="auto">
          <a:xfrm>
            <a:off x="1357290" y="3643314"/>
            <a:ext cx="2505075" cy="2171700"/>
          </a:xfrm>
          <a:prstGeom prst="rect">
            <a:avLst/>
          </a:prstGeom>
          <a:noFill/>
          <a:ln w="9525">
            <a:noFill/>
            <a:miter lim="800000"/>
            <a:headEnd/>
            <a:tailEnd/>
          </a:ln>
        </p:spPr>
      </p:pic>
      <p:sp>
        <p:nvSpPr>
          <p:cNvPr id="7" name="TextBox 6"/>
          <p:cNvSpPr txBox="1"/>
          <p:nvPr/>
        </p:nvSpPr>
        <p:spPr>
          <a:xfrm>
            <a:off x="4572000" y="4457707"/>
            <a:ext cx="135732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逻辑结构</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左箭头 7"/>
          <p:cNvSpPr/>
          <p:nvPr/>
        </p:nvSpPr>
        <p:spPr>
          <a:xfrm>
            <a:off x="4071934" y="4500570"/>
            <a:ext cx="357190" cy="285752"/>
          </a:xfrm>
          <a:prstGeom prst="lef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500042"/>
            <a:ext cx="285752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逻辑结构的表示</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285860"/>
            <a:ext cx="8001056" cy="804516"/>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仿宋" panose="02010609060101010101" pitchFamily="49" charset="-122"/>
                <a:ea typeface="仿宋" panose="02010609060101010101" pitchFamily="49" charset="-122"/>
              </a:rPr>
              <a:t>    </a:t>
            </a:r>
            <a:r>
              <a:rPr lang="zh-CN" altLang="zh-CN" sz="2000" smtClean="0">
                <a:solidFill>
                  <a:srgbClr val="0000FF"/>
                </a:solidFill>
                <a:latin typeface="仿宋" panose="02010609060101010101" pitchFamily="49" charset="-122"/>
                <a:ea typeface="仿宋" panose="02010609060101010101" pitchFamily="49" charset="-122"/>
              </a:rPr>
              <a:t>由于数据逻辑结构是面向用户的，可以采用表格、图等用户容易理解的形式表示。</a:t>
            </a:r>
            <a:endParaRPr lang="zh-CN" altLang="en-US" sz="2000">
              <a:solidFill>
                <a:srgbClr val="0000FF"/>
              </a:solidFill>
              <a:latin typeface="仿宋" panose="02010609060101010101" pitchFamily="49" charset="-122"/>
              <a:ea typeface="仿宋" panose="02010609060101010101" pitchFamily="49" charset="-122"/>
            </a:endParaRPr>
          </a:p>
        </p:txBody>
      </p:sp>
      <p:graphicFrame>
        <p:nvGraphicFramePr>
          <p:cNvPr id="5" name="表格 4"/>
          <p:cNvGraphicFramePr>
            <a:graphicFrameLocks noGrp="1"/>
          </p:cNvGraphicFramePr>
          <p:nvPr/>
        </p:nvGraphicFramePr>
        <p:xfrm>
          <a:off x="2928926" y="2928934"/>
          <a:ext cx="3383280" cy="329184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学号</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姓名</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分数</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TextBox 5"/>
          <p:cNvSpPr txBox="1"/>
          <p:nvPr/>
        </p:nvSpPr>
        <p:spPr>
          <a:xfrm>
            <a:off x="3286116" y="2285992"/>
            <a:ext cx="2500330" cy="369332"/>
          </a:xfrm>
          <a:prstGeom prst="rect">
            <a:avLst/>
          </a:prstGeom>
          <a:noFill/>
        </p:spPr>
        <p:txBody>
          <a:bodyPr wrap="square" rtlCol="0">
            <a:spAutoFit/>
          </a:bodyPr>
          <a:lstStyle/>
          <a:p>
            <a:pPr>
              <a:lnSpc>
                <a:spcPct val="100000"/>
              </a:lnSpc>
            </a:pPr>
            <a:r>
              <a:rPr lang="zh-CN" altLang="zh-CN" sz="1800" smtClean="0">
                <a:solidFill>
                  <a:srgbClr val="C00000"/>
                </a:solidFill>
                <a:latin typeface="楷体" panose="02010609060101010101" pitchFamily="49" charset="-122"/>
                <a:ea typeface="楷体" panose="02010609060101010101" pitchFamily="49" charset="-122"/>
              </a:rPr>
              <a:t>高等数学成绩表</a:t>
            </a:r>
            <a:endParaRPr lang="zh-CN" altLang="en-US" sz="1800">
              <a:solidFill>
                <a:srgbClr val="C00000"/>
              </a:solidFill>
              <a:latin typeface="楷体" panose="02010609060101010101" pitchFamily="49" charset="-122"/>
              <a:ea typeface="楷体" panose="02010609060101010101" pitchFamily="49" charset="-122"/>
            </a:endParaRPr>
          </a:p>
        </p:txBody>
      </p:sp>
      <p:sp>
        <p:nvSpPr>
          <p:cNvPr id="7" name="TextBox 6"/>
          <p:cNvSpPr txBox="1"/>
          <p:nvPr/>
        </p:nvSpPr>
        <p:spPr>
          <a:xfrm>
            <a:off x="1142976" y="2714620"/>
            <a:ext cx="1000132" cy="442301"/>
          </a:xfrm>
          <a:prstGeom prst="rect">
            <a:avLst/>
          </a:prstGeom>
          <a:noFill/>
        </p:spPr>
        <p:txBody>
          <a:bodyPr wrap="square" rtlCol="0">
            <a:spAutoFit/>
          </a:bodyPr>
          <a:lstStyle/>
          <a:p>
            <a:pPr algn="l">
              <a:lnSpc>
                <a:spcPts val="3000"/>
              </a:lnSpc>
              <a:spcBef>
                <a:spcPts val="0"/>
              </a:spcBef>
            </a:pP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1.1</a:t>
            </a:r>
            <a:endPar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 name="Rectangle 3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6145" name="Group 1"/>
          <p:cNvGrpSpPr>
            <a:grpSpLocks noChangeAspect="1"/>
          </p:cNvGrpSpPr>
          <p:nvPr/>
        </p:nvGrpSpPr>
        <p:grpSpPr bwMode="auto">
          <a:xfrm>
            <a:off x="571472" y="1571612"/>
            <a:ext cx="7510614" cy="2928958"/>
            <a:chOff x="1417" y="2788"/>
            <a:chExt cx="7462" cy="2404"/>
          </a:xfrm>
        </p:grpSpPr>
        <p:sp>
          <p:nvSpPr>
            <p:cNvPr id="6173" name="AutoShape 29"/>
            <p:cNvSpPr>
              <a:spLocks noChangeAspect="1" noChangeArrowheads="1" noTextEdit="1"/>
            </p:cNvSpPr>
            <p:nvPr/>
          </p:nvSpPr>
          <p:spPr bwMode="auto">
            <a:xfrm>
              <a:off x="1754" y="2788"/>
              <a:ext cx="7125" cy="2360"/>
            </a:xfrm>
            <a:prstGeom prst="rect">
              <a:avLst/>
            </a:prstGeom>
            <a:noFill/>
          </p:spPr>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72" name="Rectangle 28"/>
            <p:cNvSpPr>
              <a:spLocks noChangeArrowheads="1"/>
            </p:cNvSpPr>
            <p:nvPr/>
          </p:nvSpPr>
          <p:spPr bwMode="auto">
            <a:xfrm>
              <a:off x="4825" y="2880"/>
              <a:ext cx="125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XX</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大学</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71" name="Rectangle 27"/>
            <p:cNvSpPr>
              <a:spLocks noChangeArrowheads="1"/>
            </p:cNvSpPr>
            <p:nvPr/>
          </p:nvSpPr>
          <p:spPr bwMode="auto">
            <a:xfrm>
              <a:off x="2203" y="3845"/>
              <a:ext cx="125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计算机学院</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70" name="Rectangle 26"/>
            <p:cNvSpPr>
              <a:spLocks noChangeArrowheads="1"/>
            </p:cNvSpPr>
            <p:nvPr/>
          </p:nvSpPr>
          <p:spPr bwMode="auto">
            <a:xfrm>
              <a:off x="3946" y="3845"/>
              <a:ext cx="1525"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电子信息学院</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69" name="Rectangle 25"/>
            <p:cNvSpPr>
              <a:spLocks noChangeArrowheads="1"/>
            </p:cNvSpPr>
            <p:nvPr/>
          </p:nvSpPr>
          <p:spPr bwMode="auto">
            <a:xfrm>
              <a:off x="5631" y="3890"/>
              <a:ext cx="543" cy="291"/>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800"/>
                </a:lnSpc>
                <a:spcBef>
                  <a:spcPct val="0"/>
                </a:spcBef>
                <a:spcAft>
                  <a:spcPct val="0"/>
                </a:spcAft>
                <a:buClrTx/>
                <a:buSzTx/>
                <a:buFontTx/>
                <a:buNone/>
              </a:pPr>
              <a:r>
                <a:rPr kumimoji="0" lang="zh-CN" altLang="zh-CN" sz="1600" b="0" i="0" u="none" strike="noStrike" cap="none" normalizeH="0" baseline="0" smtClean="0">
                  <a:ln>
                    <a:noFill/>
                  </a:ln>
                  <a:solidFill>
                    <a:schemeClr val="tx1"/>
                  </a:solidFill>
                  <a:effectLst/>
                  <a:latin typeface="+mj-ea"/>
                  <a:ea typeface="+mj-ea"/>
                  <a:cs typeface="Consolas" panose="020B0609020204030204" pitchFamily="49" charset="0"/>
                </a:rPr>
                <a:t>……</a:t>
              </a:r>
              <a:endParaRPr kumimoji="0" lang="zh-CN" altLang="zh-CN" sz="1600" b="0" i="0" u="none" strike="noStrike" cap="none" normalizeH="0" baseline="0" smtClean="0">
                <a:ln>
                  <a:noFill/>
                </a:ln>
                <a:solidFill>
                  <a:schemeClr val="tx1"/>
                </a:solidFill>
                <a:effectLst/>
                <a:latin typeface="+mj-ea"/>
                <a:ea typeface="+mj-ea"/>
                <a:cs typeface="Consolas" panose="020B0609020204030204" pitchFamily="49" charset="0"/>
              </a:endParaRPr>
            </a:p>
          </p:txBody>
        </p:sp>
        <p:sp>
          <p:nvSpPr>
            <p:cNvPr id="6168" name="Rectangle 24"/>
            <p:cNvSpPr>
              <a:spLocks noChangeArrowheads="1"/>
            </p:cNvSpPr>
            <p:nvPr/>
          </p:nvSpPr>
          <p:spPr bwMode="auto">
            <a:xfrm>
              <a:off x="6265" y="3845"/>
              <a:ext cx="901"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教务处</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67" name="Rectangle 23"/>
            <p:cNvSpPr>
              <a:spLocks noChangeArrowheads="1"/>
            </p:cNvSpPr>
            <p:nvPr/>
          </p:nvSpPr>
          <p:spPr bwMode="auto">
            <a:xfrm>
              <a:off x="7347" y="3845"/>
              <a:ext cx="900"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学生处</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66" name="Rectangle 22"/>
            <p:cNvSpPr>
              <a:spLocks noChangeArrowheads="1"/>
            </p:cNvSpPr>
            <p:nvPr/>
          </p:nvSpPr>
          <p:spPr bwMode="auto">
            <a:xfrm>
              <a:off x="1417" y="4852"/>
              <a:ext cx="98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科学系</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65" name="Rectangle 21"/>
            <p:cNvSpPr>
              <a:spLocks noChangeArrowheads="1"/>
            </p:cNvSpPr>
            <p:nvPr/>
          </p:nvSpPr>
          <p:spPr bwMode="auto">
            <a:xfrm>
              <a:off x="2464" y="4852"/>
              <a:ext cx="841"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工程系</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64" name="Rectangle 20"/>
            <p:cNvSpPr>
              <a:spLocks noChangeArrowheads="1"/>
            </p:cNvSpPr>
            <p:nvPr/>
          </p:nvSpPr>
          <p:spPr bwMode="auto">
            <a:xfrm>
              <a:off x="3355" y="4852"/>
              <a:ext cx="101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应用系</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63" name="Rectangle 19"/>
            <p:cNvSpPr>
              <a:spLocks noChangeArrowheads="1"/>
            </p:cNvSpPr>
            <p:nvPr/>
          </p:nvSpPr>
          <p:spPr bwMode="auto">
            <a:xfrm>
              <a:off x="6811" y="4852"/>
              <a:ext cx="101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招生办</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62" name="Rectangle 18"/>
            <p:cNvSpPr>
              <a:spLocks noChangeArrowheads="1"/>
            </p:cNvSpPr>
            <p:nvPr/>
          </p:nvSpPr>
          <p:spPr bwMode="auto">
            <a:xfrm>
              <a:off x="7986" y="4852"/>
              <a:ext cx="848"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就业办</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61" name="Rectangle 17"/>
            <p:cNvSpPr>
              <a:spLocks noChangeArrowheads="1"/>
            </p:cNvSpPr>
            <p:nvPr/>
          </p:nvSpPr>
          <p:spPr bwMode="auto">
            <a:xfrm>
              <a:off x="5350" y="4831"/>
              <a:ext cx="542" cy="291"/>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800"/>
                </a:lnSpc>
                <a:spcBef>
                  <a:spcPct val="0"/>
                </a:spcBef>
                <a:spcAft>
                  <a:spcPct val="0"/>
                </a:spcAft>
                <a:buClrTx/>
                <a:buSzTx/>
                <a:buFontTx/>
                <a:buNone/>
              </a:pPr>
              <a:r>
                <a:rPr kumimoji="0" lang="zh-CN" altLang="zh-CN" sz="1600" b="0" i="0" u="none" strike="noStrike" cap="none" normalizeH="0" baseline="0" smtClean="0">
                  <a:ln>
                    <a:noFill/>
                  </a:ln>
                  <a:solidFill>
                    <a:schemeClr val="tx1"/>
                  </a:solidFill>
                  <a:effectLst/>
                  <a:latin typeface="+mj-ea"/>
                  <a:ea typeface="+mj-ea"/>
                  <a:cs typeface="Consolas" panose="020B0609020204030204" pitchFamily="49" charset="0"/>
                </a:rPr>
                <a:t>……</a:t>
              </a:r>
              <a:endParaRPr kumimoji="0" lang="zh-CN" altLang="zh-CN" sz="1600" b="0" i="0" u="none" strike="noStrike" cap="none" normalizeH="0" baseline="0" smtClean="0">
                <a:ln>
                  <a:noFill/>
                </a:ln>
                <a:solidFill>
                  <a:schemeClr val="tx1"/>
                </a:solidFill>
                <a:effectLst/>
                <a:latin typeface="+mj-ea"/>
                <a:ea typeface="+mj-ea"/>
                <a:cs typeface="Consolas" panose="020B0609020204030204" pitchFamily="49" charset="0"/>
              </a:endParaRPr>
            </a:p>
          </p:txBody>
        </p:sp>
        <p:sp>
          <p:nvSpPr>
            <p:cNvPr id="6160" name="Freeform 16"/>
            <p:cNvSpPr/>
            <p:nvPr/>
          </p:nvSpPr>
          <p:spPr bwMode="auto">
            <a:xfrm>
              <a:off x="3078" y="3227"/>
              <a:ext cx="2025" cy="615"/>
            </a:xfrm>
            <a:custGeom>
              <a:avLst/>
              <a:gdLst/>
              <a:ahLst/>
              <a:cxnLst>
                <a:cxn ang="0">
                  <a:pos x="2025" y="0"/>
                </a:cxn>
                <a:cxn ang="0">
                  <a:pos x="0" y="615"/>
                </a:cxn>
              </a:cxnLst>
              <a:rect l="0" t="0" r="r" b="b"/>
              <a:pathLst>
                <a:path w="2025" h="615">
                  <a:moveTo>
                    <a:pt x="2025" y="0"/>
                  </a:moveTo>
                  <a:lnTo>
                    <a:pt x="0" y="61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9" name="Freeform 15"/>
            <p:cNvSpPr/>
            <p:nvPr/>
          </p:nvSpPr>
          <p:spPr bwMode="auto">
            <a:xfrm>
              <a:off x="4728" y="3224"/>
              <a:ext cx="555" cy="623"/>
            </a:xfrm>
            <a:custGeom>
              <a:avLst/>
              <a:gdLst/>
              <a:ahLst/>
              <a:cxnLst>
                <a:cxn ang="0">
                  <a:pos x="555" y="0"/>
                </a:cxn>
                <a:cxn ang="0">
                  <a:pos x="0" y="623"/>
                </a:cxn>
              </a:cxnLst>
              <a:rect l="0" t="0" r="r" b="b"/>
              <a:pathLst>
                <a:path w="555" h="623">
                  <a:moveTo>
                    <a:pt x="555" y="0"/>
                  </a:moveTo>
                  <a:lnTo>
                    <a:pt x="0" y="62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8" name="Freeform 14"/>
            <p:cNvSpPr/>
            <p:nvPr/>
          </p:nvSpPr>
          <p:spPr bwMode="auto">
            <a:xfrm>
              <a:off x="5545" y="3232"/>
              <a:ext cx="240" cy="592"/>
            </a:xfrm>
            <a:custGeom>
              <a:avLst/>
              <a:gdLst/>
              <a:ahLst/>
              <a:cxnLst>
                <a:cxn ang="0">
                  <a:pos x="0" y="0"/>
                </a:cxn>
                <a:cxn ang="0">
                  <a:pos x="240" y="592"/>
                </a:cxn>
              </a:cxnLst>
              <a:rect l="0" t="0" r="r" b="b"/>
              <a:pathLst>
                <a:path w="240" h="592">
                  <a:moveTo>
                    <a:pt x="0" y="0"/>
                  </a:moveTo>
                  <a:lnTo>
                    <a:pt x="240" y="59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7" name="Freeform 13"/>
            <p:cNvSpPr/>
            <p:nvPr/>
          </p:nvSpPr>
          <p:spPr bwMode="auto">
            <a:xfrm>
              <a:off x="5785" y="3238"/>
              <a:ext cx="773" cy="609"/>
            </a:xfrm>
            <a:custGeom>
              <a:avLst/>
              <a:gdLst/>
              <a:ahLst/>
              <a:cxnLst>
                <a:cxn ang="0">
                  <a:pos x="0" y="0"/>
                </a:cxn>
                <a:cxn ang="0">
                  <a:pos x="773" y="608"/>
                </a:cxn>
              </a:cxnLst>
              <a:rect l="0" t="0" r="r" b="b"/>
              <a:pathLst>
                <a:path w="773" h="608">
                  <a:moveTo>
                    <a:pt x="0" y="0"/>
                  </a:moveTo>
                  <a:lnTo>
                    <a:pt x="773" y="608"/>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6" name="Freeform 12"/>
            <p:cNvSpPr/>
            <p:nvPr/>
          </p:nvSpPr>
          <p:spPr bwMode="auto">
            <a:xfrm>
              <a:off x="5905" y="3232"/>
              <a:ext cx="1665" cy="622"/>
            </a:xfrm>
            <a:custGeom>
              <a:avLst/>
              <a:gdLst/>
              <a:ahLst/>
              <a:cxnLst>
                <a:cxn ang="0">
                  <a:pos x="0" y="0"/>
                </a:cxn>
                <a:cxn ang="0">
                  <a:pos x="1665" y="622"/>
                </a:cxn>
              </a:cxnLst>
              <a:rect l="0" t="0" r="r" b="b"/>
              <a:pathLst>
                <a:path w="1665" h="622">
                  <a:moveTo>
                    <a:pt x="0" y="0"/>
                  </a:moveTo>
                  <a:lnTo>
                    <a:pt x="1665" y="6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5" name="Freeform 11"/>
            <p:cNvSpPr/>
            <p:nvPr/>
          </p:nvSpPr>
          <p:spPr bwMode="auto">
            <a:xfrm>
              <a:off x="2077" y="4197"/>
              <a:ext cx="441" cy="667"/>
            </a:xfrm>
            <a:custGeom>
              <a:avLst/>
              <a:gdLst/>
              <a:ahLst/>
              <a:cxnLst>
                <a:cxn ang="0">
                  <a:pos x="442" y="0"/>
                </a:cxn>
                <a:cxn ang="0">
                  <a:pos x="0" y="667"/>
                </a:cxn>
              </a:cxnLst>
              <a:rect l="0" t="0" r="r" b="b"/>
              <a:pathLst>
                <a:path w="442" h="667">
                  <a:moveTo>
                    <a:pt x="442" y="0"/>
                  </a:moveTo>
                  <a:lnTo>
                    <a:pt x="0" y="66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4" name="Line 10"/>
            <p:cNvSpPr>
              <a:spLocks noChangeShapeType="1"/>
            </p:cNvSpPr>
            <p:nvPr/>
          </p:nvSpPr>
          <p:spPr bwMode="auto">
            <a:xfrm>
              <a:off x="2874" y="4207"/>
              <a:ext cx="1" cy="62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3" name="Freeform 9"/>
            <p:cNvSpPr/>
            <p:nvPr/>
          </p:nvSpPr>
          <p:spPr bwMode="auto">
            <a:xfrm>
              <a:off x="3216" y="4189"/>
              <a:ext cx="442" cy="642"/>
            </a:xfrm>
            <a:custGeom>
              <a:avLst/>
              <a:gdLst/>
              <a:ahLst/>
              <a:cxnLst>
                <a:cxn ang="0">
                  <a:pos x="0" y="0"/>
                </a:cxn>
                <a:cxn ang="0">
                  <a:pos x="442" y="642"/>
                </a:cxn>
              </a:cxnLst>
              <a:rect l="0" t="0" r="r" b="b"/>
              <a:pathLst>
                <a:path w="442" h="642">
                  <a:moveTo>
                    <a:pt x="0" y="0"/>
                  </a:moveTo>
                  <a:lnTo>
                    <a:pt x="442" y="64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2" name="Freeform 8"/>
            <p:cNvSpPr/>
            <p:nvPr/>
          </p:nvSpPr>
          <p:spPr bwMode="auto">
            <a:xfrm>
              <a:off x="4314" y="4197"/>
              <a:ext cx="144" cy="330"/>
            </a:xfrm>
            <a:custGeom>
              <a:avLst/>
              <a:gdLst/>
              <a:ahLst/>
              <a:cxnLst>
                <a:cxn ang="0">
                  <a:pos x="143" y="0"/>
                </a:cxn>
                <a:cxn ang="0">
                  <a:pos x="0" y="330"/>
                </a:cxn>
              </a:cxnLst>
              <a:rect l="0" t="0" r="r" b="b"/>
              <a:pathLst>
                <a:path w="143" h="330">
                  <a:moveTo>
                    <a:pt x="143" y="0"/>
                  </a:moveTo>
                  <a:lnTo>
                    <a:pt x="0" y="3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1" name="Line 7"/>
            <p:cNvSpPr>
              <a:spLocks noChangeShapeType="1"/>
            </p:cNvSpPr>
            <p:nvPr/>
          </p:nvSpPr>
          <p:spPr bwMode="auto">
            <a:xfrm>
              <a:off x="4795" y="4207"/>
              <a:ext cx="1"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50" name="Freeform 6"/>
            <p:cNvSpPr/>
            <p:nvPr/>
          </p:nvSpPr>
          <p:spPr bwMode="auto">
            <a:xfrm>
              <a:off x="5098" y="4199"/>
              <a:ext cx="132" cy="328"/>
            </a:xfrm>
            <a:custGeom>
              <a:avLst/>
              <a:gdLst/>
              <a:ahLst/>
              <a:cxnLst>
                <a:cxn ang="0">
                  <a:pos x="0" y="0"/>
                </a:cxn>
                <a:cxn ang="0">
                  <a:pos x="132" y="328"/>
                </a:cxn>
              </a:cxnLst>
              <a:rect l="0" t="0" r="r" b="b"/>
              <a:pathLst>
                <a:path w="132" h="328">
                  <a:moveTo>
                    <a:pt x="0" y="0"/>
                  </a:moveTo>
                  <a:lnTo>
                    <a:pt x="132" y="328"/>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49" name="Freeform 5"/>
            <p:cNvSpPr/>
            <p:nvPr/>
          </p:nvSpPr>
          <p:spPr bwMode="auto">
            <a:xfrm>
              <a:off x="7480" y="4204"/>
              <a:ext cx="248" cy="653"/>
            </a:xfrm>
            <a:custGeom>
              <a:avLst/>
              <a:gdLst/>
              <a:ahLst/>
              <a:cxnLst>
                <a:cxn ang="0">
                  <a:pos x="248" y="0"/>
                </a:cxn>
                <a:cxn ang="0">
                  <a:pos x="0" y="653"/>
                </a:cxn>
              </a:cxnLst>
              <a:rect l="0" t="0" r="r" b="b"/>
              <a:pathLst>
                <a:path w="248" h="653">
                  <a:moveTo>
                    <a:pt x="248" y="0"/>
                  </a:moveTo>
                  <a:lnTo>
                    <a:pt x="0" y="65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48" name="Freeform 4"/>
            <p:cNvSpPr/>
            <p:nvPr/>
          </p:nvSpPr>
          <p:spPr bwMode="auto">
            <a:xfrm>
              <a:off x="8013" y="4183"/>
              <a:ext cx="397" cy="674"/>
            </a:xfrm>
            <a:custGeom>
              <a:avLst/>
              <a:gdLst/>
              <a:ahLst/>
              <a:cxnLst>
                <a:cxn ang="0">
                  <a:pos x="0" y="0"/>
                </a:cxn>
                <a:cxn ang="0">
                  <a:pos x="397" y="675"/>
                </a:cxn>
              </a:cxnLst>
              <a:rect l="0" t="0" r="r" b="b"/>
              <a:pathLst>
                <a:path w="397" h="675">
                  <a:moveTo>
                    <a:pt x="0" y="0"/>
                  </a:moveTo>
                  <a:lnTo>
                    <a:pt x="397" y="67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47" name="Line 3"/>
            <p:cNvSpPr>
              <a:spLocks noChangeShapeType="1"/>
            </p:cNvSpPr>
            <p:nvPr/>
          </p:nvSpPr>
          <p:spPr bwMode="auto">
            <a:xfrm flipH="1">
              <a:off x="6430" y="4207"/>
              <a:ext cx="180"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6146" name="Line 2"/>
            <p:cNvSpPr>
              <a:spLocks noChangeShapeType="1"/>
            </p:cNvSpPr>
            <p:nvPr/>
          </p:nvSpPr>
          <p:spPr bwMode="auto">
            <a:xfrm>
              <a:off x="6922" y="4191"/>
              <a:ext cx="180"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grpSp>
      <p:sp>
        <p:nvSpPr>
          <p:cNvPr id="33" name="TextBox 32"/>
          <p:cNvSpPr txBox="1"/>
          <p:nvPr/>
        </p:nvSpPr>
        <p:spPr>
          <a:xfrm>
            <a:off x="1142976" y="1142984"/>
            <a:ext cx="1000132" cy="442301"/>
          </a:xfrm>
          <a:prstGeom prst="rect">
            <a:avLst/>
          </a:prstGeom>
          <a:noFill/>
        </p:spPr>
        <p:txBody>
          <a:bodyPr wrap="square" rtlCol="0">
            <a:spAutoFit/>
          </a:bodyPr>
          <a:lstStyle/>
          <a:p>
            <a:pPr algn="l">
              <a:lnSpc>
                <a:spcPts val="3000"/>
              </a:lnSpc>
              <a:spcBef>
                <a:spcPts val="0"/>
              </a:spcBef>
            </a:pP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1.2</a:t>
            </a:r>
            <a:endPar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0" name="灯片编号占位符 39"/>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71604" y="1214422"/>
            <a:ext cx="1000132" cy="442301"/>
          </a:xfrm>
          <a:prstGeom prst="rect">
            <a:avLst/>
          </a:prstGeom>
          <a:noFill/>
        </p:spPr>
        <p:txBody>
          <a:bodyPr wrap="square" rtlCol="0">
            <a:spAutoFit/>
          </a:bodyPr>
          <a:lstStyle/>
          <a:p>
            <a:pPr algn="l">
              <a:lnSpc>
                <a:spcPts val="3000"/>
              </a:lnSpc>
              <a:spcBef>
                <a:spcPts val="0"/>
              </a:spcBef>
            </a:pP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1.3</a:t>
            </a:r>
            <a:endPar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0241" name="Group 1"/>
          <p:cNvGrpSpPr>
            <a:grpSpLocks noChangeAspect="1"/>
          </p:cNvGrpSpPr>
          <p:nvPr/>
        </p:nvGrpSpPr>
        <p:grpSpPr bwMode="auto">
          <a:xfrm>
            <a:off x="2357422" y="1469130"/>
            <a:ext cx="4714908" cy="3910399"/>
            <a:chOff x="3188" y="4547"/>
            <a:chExt cx="3736" cy="3099"/>
          </a:xfrm>
        </p:grpSpPr>
        <p:sp>
          <p:nvSpPr>
            <p:cNvPr id="10260" name="AutoShape 20"/>
            <p:cNvSpPr>
              <a:spLocks noChangeAspect="1" noChangeArrowheads="1" noTextEdit="1"/>
            </p:cNvSpPr>
            <p:nvPr/>
          </p:nvSpPr>
          <p:spPr bwMode="auto">
            <a:xfrm>
              <a:off x="3188" y="4576"/>
              <a:ext cx="3657" cy="3070"/>
            </a:xfrm>
            <a:prstGeom prst="rect">
              <a:avLst/>
            </a:prstGeom>
            <a:noFill/>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59" name="Freeform 19"/>
            <p:cNvSpPr/>
            <p:nvPr/>
          </p:nvSpPr>
          <p:spPr bwMode="auto">
            <a:xfrm>
              <a:off x="4489" y="4928"/>
              <a:ext cx="252" cy="355"/>
            </a:xfrm>
            <a:custGeom>
              <a:avLst/>
              <a:gdLst/>
              <a:ahLst/>
              <a:cxnLst>
                <a:cxn ang="0">
                  <a:pos x="252" y="0"/>
                </a:cxn>
                <a:cxn ang="0">
                  <a:pos x="0" y="355"/>
                </a:cxn>
              </a:cxnLst>
              <a:rect l="0" t="0" r="r" b="b"/>
              <a:pathLst>
                <a:path w="252" h="355">
                  <a:moveTo>
                    <a:pt x="252" y="0"/>
                  </a:moveTo>
                  <a:lnTo>
                    <a:pt x="0" y="355"/>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58" name="Oval 18"/>
            <p:cNvSpPr>
              <a:spLocks noChangeArrowheads="1"/>
            </p:cNvSpPr>
            <p:nvPr/>
          </p:nvSpPr>
          <p:spPr bwMode="auto">
            <a:xfrm>
              <a:off x="4589" y="4547"/>
              <a:ext cx="658" cy="3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北京</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57" name="Oval 17"/>
            <p:cNvSpPr>
              <a:spLocks noChangeArrowheads="1"/>
            </p:cNvSpPr>
            <p:nvPr/>
          </p:nvSpPr>
          <p:spPr bwMode="auto">
            <a:xfrm>
              <a:off x="4144" y="5283"/>
              <a:ext cx="645" cy="39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郑州</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56" name="Oval 16"/>
            <p:cNvSpPr>
              <a:spLocks noChangeArrowheads="1"/>
            </p:cNvSpPr>
            <p:nvPr/>
          </p:nvSpPr>
          <p:spPr bwMode="auto">
            <a:xfrm>
              <a:off x="3455" y="6219"/>
              <a:ext cx="682" cy="39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武汉</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55" name="Oval 15"/>
            <p:cNvSpPr>
              <a:spLocks noChangeArrowheads="1"/>
            </p:cNvSpPr>
            <p:nvPr/>
          </p:nvSpPr>
          <p:spPr bwMode="auto">
            <a:xfrm>
              <a:off x="6304" y="6296"/>
              <a:ext cx="620" cy="39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上海</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54" name="Oval 14"/>
            <p:cNvSpPr>
              <a:spLocks noChangeArrowheads="1"/>
            </p:cNvSpPr>
            <p:nvPr/>
          </p:nvSpPr>
          <p:spPr bwMode="auto">
            <a:xfrm>
              <a:off x="5339" y="5828"/>
              <a:ext cx="718" cy="39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南京</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53" name="Oval 13"/>
            <p:cNvSpPr>
              <a:spLocks noChangeArrowheads="1"/>
            </p:cNvSpPr>
            <p:nvPr/>
          </p:nvSpPr>
          <p:spPr bwMode="auto">
            <a:xfrm>
              <a:off x="4589" y="6920"/>
              <a:ext cx="628" cy="39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南昌</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52" name="Oval 12"/>
            <p:cNvSpPr>
              <a:spLocks noChangeArrowheads="1"/>
            </p:cNvSpPr>
            <p:nvPr/>
          </p:nvSpPr>
          <p:spPr bwMode="auto">
            <a:xfrm>
              <a:off x="3447" y="7246"/>
              <a:ext cx="741" cy="3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长沙</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51" name="Oval 11"/>
            <p:cNvSpPr>
              <a:spLocks noChangeArrowheads="1"/>
            </p:cNvSpPr>
            <p:nvPr/>
          </p:nvSpPr>
          <p:spPr bwMode="auto">
            <a:xfrm>
              <a:off x="5569" y="6687"/>
              <a:ext cx="621" cy="39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杭州</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50" name="Freeform 10"/>
            <p:cNvSpPr/>
            <p:nvPr/>
          </p:nvSpPr>
          <p:spPr bwMode="auto">
            <a:xfrm>
              <a:off x="3912" y="5643"/>
              <a:ext cx="360" cy="578"/>
            </a:xfrm>
            <a:custGeom>
              <a:avLst/>
              <a:gdLst/>
              <a:ahLst/>
              <a:cxnLst>
                <a:cxn ang="0">
                  <a:pos x="360" y="0"/>
                </a:cxn>
                <a:cxn ang="0">
                  <a:pos x="0" y="578"/>
                </a:cxn>
              </a:cxnLst>
              <a:rect l="0" t="0" r="r" b="b"/>
              <a:pathLst>
                <a:path w="360" h="578">
                  <a:moveTo>
                    <a:pt x="360" y="0"/>
                  </a:moveTo>
                  <a:lnTo>
                    <a:pt x="0" y="578"/>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9" name="Line 9"/>
            <p:cNvSpPr>
              <a:spLocks noChangeShapeType="1"/>
            </p:cNvSpPr>
            <p:nvPr/>
          </p:nvSpPr>
          <p:spPr bwMode="auto">
            <a:xfrm>
              <a:off x="3788" y="6615"/>
              <a:ext cx="0" cy="623"/>
            </a:xfrm>
            <a:prstGeom prst="line">
              <a:avLst/>
            </a:pr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8" name="Freeform 8"/>
            <p:cNvSpPr/>
            <p:nvPr/>
          </p:nvSpPr>
          <p:spPr bwMode="auto">
            <a:xfrm>
              <a:off x="6057" y="6111"/>
              <a:ext cx="300" cy="267"/>
            </a:xfrm>
            <a:custGeom>
              <a:avLst/>
              <a:gdLst/>
              <a:ahLst/>
              <a:cxnLst>
                <a:cxn ang="0">
                  <a:pos x="0" y="0"/>
                </a:cxn>
                <a:cxn ang="0">
                  <a:pos x="492" y="283"/>
                </a:cxn>
              </a:cxnLst>
              <a:rect l="0" t="0" r="r" b="b"/>
              <a:pathLst>
                <a:path w="492" h="283">
                  <a:moveTo>
                    <a:pt x="0" y="0"/>
                  </a:moveTo>
                  <a:lnTo>
                    <a:pt x="492" y="283"/>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7" name="Freeform 7"/>
            <p:cNvSpPr/>
            <p:nvPr/>
          </p:nvSpPr>
          <p:spPr bwMode="auto">
            <a:xfrm>
              <a:off x="6124" y="6596"/>
              <a:ext cx="233" cy="182"/>
            </a:xfrm>
            <a:custGeom>
              <a:avLst/>
              <a:gdLst/>
              <a:ahLst/>
              <a:cxnLst>
                <a:cxn ang="0">
                  <a:pos x="0" y="191"/>
                </a:cxn>
                <a:cxn ang="0">
                  <a:pos x="272" y="0"/>
                </a:cxn>
              </a:cxnLst>
              <a:rect l="0" t="0" r="r" b="b"/>
              <a:pathLst>
                <a:path w="272" h="191">
                  <a:moveTo>
                    <a:pt x="0" y="191"/>
                  </a:moveTo>
                  <a:lnTo>
                    <a:pt x="272" y="0"/>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6" name="Line 6"/>
            <p:cNvSpPr>
              <a:spLocks noChangeShapeType="1"/>
            </p:cNvSpPr>
            <p:nvPr/>
          </p:nvSpPr>
          <p:spPr bwMode="auto">
            <a:xfrm>
              <a:off x="5569" y="6219"/>
              <a:ext cx="180" cy="468"/>
            </a:xfrm>
            <a:prstGeom prst="line">
              <a:avLst/>
            </a:pr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5" name="Freeform 5"/>
            <p:cNvSpPr/>
            <p:nvPr/>
          </p:nvSpPr>
          <p:spPr bwMode="auto">
            <a:xfrm>
              <a:off x="5224" y="6971"/>
              <a:ext cx="360" cy="132"/>
            </a:xfrm>
            <a:custGeom>
              <a:avLst/>
              <a:gdLst/>
              <a:ahLst/>
              <a:cxnLst>
                <a:cxn ang="0">
                  <a:pos x="0" y="132"/>
                </a:cxn>
                <a:cxn ang="0">
                  <a:pos x="359" y="0"/>
                </a:cxn>
              </a:cxnLst>
              <a:rect l="0" t="0" r="r" b="b"/>
              <a:pathLst>
                <a:path w="359" h="132">
                  <a:moveTo>
                    <a:pt x="0" y="132"/>
                  </a:moveTo>
                  <a:lnTo>
                    <a:pt x="359" y="0"/>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4" name="Freeform 4"/>
            <p:cNvSpPr/>
            <p:nvPr/>
          </p:nvSpPr>
          <p:spPr bwMode="auto">
            <a:xfrm>
              <a:off x="4954" y="6138"/>
              <a:ext cx="450" cy="773"/>
            </a:xfrm>
            <a:custGeom>
              <a:avLst/>
              <a:gdLst/>
              <a:ahLst/>
              <a:cxnLst>
                <a:cxn ang="0">
                  <a:pos x="450" y="0"/>
                </a:cxn>
                <a:cxn ang="0">
                  <a:pos x="0" y="773"/>
                </a:cxn>
              </a:cxnLst>
              <a:rect l="0" t="0" r="r" b="b"/>
              <a:pathLst>
                <a:path w="450" h="773">
                  <a:moveTo>
                    <a:pt x="450" y="0"/>
                  </a:moveTo>
                  <a:lnTo>
                    <a:pt x="0" y="773"/>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3" name="Freeform 3"/>
            <p:cNvSpPr/>
            <p:nvPr/>
          </p:nvSpPr>
          <p:spPr bwMode="auto">
            <a:xfrm>
              <a:off x="4129" y="6056"/>
              <a:ext cx="1209" cy="319"/>
            </a:xfrm>
            <a:custGeom>
              <a:avLst/>
              <a:gdLst/>
              <a:ahLst/>
              <a:cxnLst>
                <a:cxn ang="0">
                  <a:pos x="0" y="319"/>
                </a:cxn>
                <a:cxn ang="0">
                  <a:pos x="1208" y="0"/>
                </a:cxn>
              </a:cxnLst>
              <a:rect l="0" t="0" r="r" b="b"/>
              <a:pathLst>
                <a:path w="1208" h="319">
                  <a:moveTo>
                    <a:pt x="0" y="319"/>
                  </a:moveTo>
                  <a:lnTo>
                    <a:pt x="1208" y="0"/>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2" name="Freeform 2"/>
            <p:cNvSpPr/>
            <p:nvPr/>
          </p:nvSpPr>
          <p:spPr bwMode="auto">
            <a:xfrm>
              <a:off x="5096" y="4928"/>
              <a:ext cx="488" cy="895"/>
            </a:xfrm>
            <a:custGeom>
              <a:avLst/>
              <a:gdLst/>
              <a:ahLst/>
              <a:cxnLst>
                <a:cxn ang="0">
                  <a:pos x="0" y="0"/>
                </a:cxn>
                <a:cxn ang="0">
                  <a:pos x="488" y="895"/>
                </a:cxn>
              </a:cxnLst>
              <a:rect l="0" t="0" r="r" b="b"/>
              <a:pathLst>
                <a:path w="488" h="895">
                  <a:moveTo>
                    <a:pt x="0" y="0"/>
                  </a:moveTo>
                  <a:lnTo>
                    <a:pt x="488" y="895"/>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1" name="灯片编号占位符 3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5" name="TextBox 24"/>
          <p:cNvSpPr txBox="1"/>
          <p:nvPr/>
        </p:nvSpPr>
        <p:spPr>
          <a:xfrm>
            <a:off x="714348" y="785794"/>
            <a:ext cx="7572428" cy="342902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rIns="144000" bIns="108000" rtlCol="0">
            <a:spAutoFit/>
          </a:bodyPr>
          <a:lstStyle/>
          <a:p>
            <a:pPr algn="l">
              <a:lnSpc>
                <a:spcPts val="2800"/>
              </a:lnSpc>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为了更通用地描述数据的逻辑结构，通常采用二元组表示数据的逻辑结构，一个</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二元组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pPr>
            <a:r>
              <a:rPr lang="en-US" altLang="zh-CN" sz="1800" i="1" smtClean="0">
                <a:solidFill>
                  <a:srgbClr val="339933"/>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D</a:t>
            </a:r>
            <a:r>
              <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是一种</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逻辑</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数据结构，</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是数据元素的集合，在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上数据元素之间可能存在多种关系，</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是所有关系的集合。即：</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pP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    D</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d</a:t>
            </a:r>
            <a:r>
              <a:rPr lang="en-US" altLang="zh-CN" sz="1800" i="1"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0</a:t>
            </a:r>
            <a:r>
              <a:rPr lang="zh-CN" altLang="zh-CN" sz="1800" smtClean="0">
                <a:solidFill>
                  <a:srgbClr val="006600"/>
                </a:solidFill>
                <a:latin typeface="+mn-ea"/>
                <a:ea typeface="+mn-ea"/>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6600"/>
                </a:solidFill>
                <a:latin typeface="+mj-ea"/>
                <a:ea typeface="+mj-ea"/>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n</a:t>
            </a:r>
            <a:r>
              <a:rPr lang="zh-CN" altLang="zh-CN" sz="1800" smtClean="0">
                <a:solidFill>
                  <a:srgbClr val="006600"/>
                </a:solidFill>
                <a:latin typeface="+mn-ea"/>
                <a:ea typeface="+mn-ea"/>
                <a:cs typeface="Consolas" panose="020B0609020204030204" pitchFamily="49" charset="0"/>
              </a:rPr>
              <a:t>≥</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pP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    R</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r</a:t>
            </a:r>
            <a:r>
              <a:rPr lang="en-US" altLang="zh-CN" sz="1800" i="1"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en-US" altLang="zh-CN" sz="1800"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1</a:t>
            </a:r>
            <a:r>
              <a:rPr lang="zh-CN" altLang="zh-CN" sz="1800" smtClean="0">
                <a:solidFill>
                  <a:srgbClr val="006600"/>
                </a:solidFill>
                <a:latin typeface="+mj-ea"/>
                <a:ea typeface="+mj-ea"/>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rgbClr val="006600"/>
                </a:solidFill>
                <a:latin typeface="+mn-ea"/>
                <a:ea typeface="+mn-ea"/>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zh-CN" altLang="zh-CN" sz="1800" smtClean="0">
                <a:solidFill>
                  <a:srgbClr val="006600"/>
                </a:solidFill>
                <a:latin typeface="+mn-ea"/>
                <a:ea typeface="+mn-ea"/>
                <a:cs typeface="Consolas" panose="020B0609020204030204" pitchFamily="49" charset="0"/>
              </a:rPr>
              <a:t>≥</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1428736"/>
            <a:ext cx="7929618" cy="37856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中的某个关系</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序偶</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的集合</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中的任一序偶</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），把</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叫做序偶的第一元素，把</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叫做序偶的第二元素，又称序偶的第一元素为第二元素的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前驱元素</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，称第二元素为第一元素的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后继元素</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的序偶中，</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的前驱元素，而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的后继元素。</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若某个元素没有前驱元素，则称该元素为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开始元素</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；若某个元素没有后继元素，则称该元素为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终端元素</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对于对称序偶，即满足这样的条件：若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），可用圆括号代替尖括号，即</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00034" y="714356"/>
            <a:ext cx="3429024" cy="400110"/>
          </a:xfrm>
          <a:prstGeom prst="rect">
            <a:avLst/>
          </a:prstGeom>
          <a:noFill/>
        </p:spPr>
        <p:txBody>
          <a:bodyPr wrap="square" rtlCol="0">
            <a:spAutoFit/>
          </a:bodyPr>
          <a:lstStyle/>
          <a:p>
            <a:pPr algn="l">
              <a:lnSpc>
                <a:spcPct val="100000"/>
              </a:lnSpc>
              <a:spcBef>
                <a:spcPts val="0"/>
              </a:spcBef>
            </a:pP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 R</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en-US" altLang="zh-CN" sz="2000"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 </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 1</a:t>
            </a:r>
            <a:r>
              <a:rPr lang="zh-CN" altLang="zh-CN" sz="2000" smtClean="0">
                <a:solidFill>
                  <a:srgbClr val="006600"/>
                </a:solidFill>
                <a:latin typeface="+mj-ea"/>
                <a:ea typeface="+mj-ea"/>
                <a:cs typeface="Consolas" panose="020B0609020204030204" pitchFamily="49" charset="0"/>
              </a:rPr>
              <a:t>≤</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6600"/>
                </a:solidFill>
                <a:latin typeface="+mn-ea"/>
                <a:ea typeface="+mn-ea"/>
                <a:cs typeface="Consolas" panose="020B0609020204030204" pitchFamily="49" charset="0"/>
              </a:rPr>
              <a:t>≤</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6600"/>
                </a:solidFill>
                <a:latin typeface="+mj-ea"/>
                <a:ea typeface="+mj-ea"/>
                <a:cs typeface="Consolas" panose="020B0609020204030204" pitchFamily="49" charset="0"/>
              </a:rPr>
              <a:t>≥</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0}</a:t>
            </a:r>
            <a:endParaRPr lang="zh-CN" altLang="en-US" sz="2000" smtClean="0">
              <a:solidFill>
                <a:srgbClr val="006600"/>
              </a:solidFill>
              <a:latin typeface="仿宋" panose="02010609060101010101" pitchFamily="49" charset="-122"/>
              <a:ea typeface="仿宋" panose="02010609060101010101" pitchFamily="49" charset="-122"/>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642910" y="500042"/>
            <a:ext cx="271464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逻辑结构的</a:t>
            </a:r>
            <a:r>
              <a:rPr lang="zh-CN" altLang="en-US"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类型</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857224" y="1428736"/>
            <a:ext cx="7000924" cy="82702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集合</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：结构中数据元素之间除了“同属于一个集合”的关系外，没有其他关系，与数学中的集合概念相同。</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7" name="组合 6"/>
          <p:cNvGrpSpPr/>
          <p:nvPr/>
        </p:nvGrpSpPr>
        <p:grpSpPr>
          <a:xfrm>
            <a:off x="2857488" y="3143248"/>
            <a:ext cx="1820862" cy="1389061"/>
            <a:chOff x="2608262" y="3929066"/>
            <a:chExt cx="1820862" cy="1389061"/>
          </a:xfrm>
        </p:grpSpPr>
        <p:sp>
          <p:nvSpPr>
            <p:cNvPr id="8" name="Oval 6"/>
            <p:cNvSpPr>
              <a:spLocks noChangeArrowheads="1"/>
            </p:cNvSpPr>
            <p:nvPr/>
          </p:nvSpPr>
          <p:spPr bwMode="auto">
            <a:xfrm>
              <a:off x="2608262" y="4505327"/>
              <a:ext cx="381000" cy="3810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9" name="Oval 8"/>
            <p:cNvSpPr>
              <a:spLocks noChangeArrowheads="1"/>
            </p:cNvSpPr>
            <p:nvPr/>
          </p:nvSpPr>
          <p:spPr bwMode="auto">
            <a:xfrm>
              <a:off x="2824162" y="3929066"/>
              <a:ext cx="381000" cy="3810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10" name="Oval 10"/>
            <p:cNvSpPr>
              <a:spLocks noChangeArrowheads="1"/>
            </p:cNvSpPr>
            <p:nvPr/>
          </p:nvSpPr>
          <p:spPr bwMode="auto">
            <a:xfrm>
              <a:off x="3327399" y="4362452"/>
              <a:ext cx="381000" cy="3810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11" name="Oval 12"/>
            <p:cNvSpPr>
              <a:spLocks noChangeArrowheads="1"/>
            </p:cNvSpPr>
            <p:nvPr/>
          </p:nvSpPr>
          <p:spPr bwMode="auto">
            <a:xfrm>
              <a:off x="3040062" y="4937127"/>
              <a:ext cx="381000" cy="3810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12" name="Oval 3"/>
            <p:cNvSpPr>
              <a:spLocks noChangeArrowheads="1"/>
            </p:cNvSpPr>
            <p:nvPr/>
          </p:nvSpPr>
          <p:spPr bwMode="auto">
            <a:xfrm>
              <a:off x="4048124" y="4002090"/>
              <a:ext cx="381000" cy="3810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13" name="Oval 4"/>
            <p:cNvSpPr>
              <a:spLocks noChangeArrowheads="1"/>
            </p:cNvSpPr>
            <p:nvPr/>
          </p:nvSpPr>
          <p:spPr bwMode="auto">
            <a:xfrm>
              <a:off x="3976687" y="4794252"/>
              <a:ext cx="381000" cy="3810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gr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642910" y="642918"/>
            <a:ext cx="7643866" cy="82086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线性结构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：若结构是非空的，则有且仅有一个开始元素和终端元素，并且所有元素最多只有一个前驱元素和一个后继元素。</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5" name="表格 4"/>
          <p:cNvGraphicFramePr>
            <a:graphicFrameLocks noGrp="1"/>
          </p:cNvGraphicFramePr>
          <p:nvPr/>
        </p:nvGraphicFramePr>
        <p:xfrm>
          <a:off x="2188852" y="2637490"/>
          <a:ext cx="3383280" cy="329184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学号</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姓名</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rPr>
                        <a:t>分数</a:t>
                      </a:r>
                      <a:endParaRPr lang="zh-CN" sz="18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2546042" y="1994548"/>
            <a:ext cx="2500330" cy="369332"/>
          </a:xfrm>
          <a:prstGeom prst="rect">
            <a:avLst/>
          </a:prstGeom>
          <a:noFill/>
        </p:spPr>
        <p:txBody>
          <a:bodyPr wrap="square" rtlCol="0">
            <a:spAutoFit/>
          </a:bodyPr>
          <a:lstStyle/>
          <a:p>
            <a:pPr>
              <a:lnSpc>
                <a:spcPct val="100000"/>
              </a:lnSpc>
            </a:pPr>
            <a:r>
              <a:rPr lang="zh-CN" altLang="zh-CN" sz="1800" smtClean="0">
                <a:solidFill>
                  <a:srgbClr val="C00000"/>
                </a:solidFill>
                <a:latin typeface="楷体" panose="02010609060101010101" pitchFamily="49" charset="-122"/>
                <a:ea typeface="楷体" panose="02010609060101010101" pitchFamily="49" charset="-122"/>
              </a:rPr>
              <a:t>高等数学成绩表</a:t>
            </a:r>
            <a:endParaRPr lang="zh-CN" altLang="en-US" sz="1800">
              <a:solidFill>
                <a:srgbClr val="C00000"/>
              </a:solidFill>
              <a:latin typeface="楷体" panose="02010609060101010101" pitchFamily="49" charset="-122"/>
              <a:ea typeface="楷体" panose="02010609060101010101" pitchFamily="49" charset="-122"/>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642910" y="785794"/>
            <a:ext cx="7715304" cy="12464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树形结构：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若结构是非空的，则有且仅有一个元素为开始元素（也称为根结点），可以有多个终端元素，每个元素有零个或多个后继元素，除开始元素外每个元素有且仅有一个前驱元素。</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 name="Group 1"/>
          <p:cNvGrpSpPr>
            <a:grpSpLocks noChangeAspect="1"/>
          </p:cNvGrpSpPr>
          <p:nvPr/>
        </p:nvGrpSpPr>
        <p:grpSpPr bwMode="auto">
          <a:xfrm>
            <a:off x="533452" y="2819961"/>
            <a:ext cx="6324564" cy="2466427"/>
            <a:chOff x="1417" y="2788"/>
            <a:chExt cx="7462" cy="2404"/>
          </a:xfrm>
        </p:grpSpPr>
        <p:sp>
          <p:nvSpPr>
            <p:cNvPr id="7" name="AutoShape 29"/>
            <p:cNvSpPr>
              <a:spLocks noChangeAspect="1" noChangeArrowheads="1" noTextEdit="1"/>
            </p:cNvSpPr>
            <p:nvPr/>
          </p:nvSpPr>
          <p:spPr bwMode="auto">
            <a:xfrm>
              <a:off x="1754" y="2788"/>
              <a:ext cx="7125" cy="2360"/>
            </a:xfrm>
            <a:prstGeom prst="rect">
              <a:avLst/>
            </a:prstGeom>
            <a:noFill/>
          </p:spPr>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8" name="Rectangle 28"/>
            <p:cNvSpPr>
              <a:spLocks noChangeArrowheads="1"/>
            </p:cNvSpPr>
            <p:nvPr/>
          </p:nvSpPr>
          <p:spPr bwMode="auto">
            <a:xfrm>
              <a:off x="4825" y="2880"/>
              <a:ext cx="125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XX</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大学</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Rectangle 27"/>
            <p:cNvSpPr>
              <a:spLocks noChangeArrowheads="1"/>
            </p:cNvSpPr>
            <p:nvPr/>
          </p:nvSpPr>
          <p:spPr bwMode="auto">
            <a:xfrm>
              <a:off x="2203" y="3845"/>
              <a:ext cx="125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计算机学院</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Rectangle 26"/>
            <p:cNvSpPr>
              <a:spLocks noChangeArrowheads="1"/>
            </p:cNvSpPr>
            <p:nvPr/>
          </p:nvSpPr>
          <p:spPr bwMode="auto">
            <a:xfrm>
              <a:off x="3946" y="3845"/>
              <a:ext cx="1525"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电子信息学院</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Rectangle 25"/>
            <p:cNvSpPr>
              <a:spLocks noChangeArrowheads="1"/>
            </p:cNvSpPr>
            <p:nvPr/>
          </p:nvSpPr>
          <p:spPr bwMode="auto">
            <a:xfrm>
              <a:off x="5639" y="3926"/>
              <a:ext cx="543" cy="291"/>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800"/>
                </a:lnSpc>
                <a:spcBef>
                  <a:spcPct val="0"/>
                </a:spcBef>
                <a:spcAft>
                  <a:spcPct val="0"/>
                </a:spcAft>
                <a:buClrTx/>
                <a:buSzTx/>
                <a:buFontTx/>
                <a:buNone/>
              </a:pPr>
              <a:r>
                <a:rPr kumimoji="0" lang="zh-CN" altLang="zh-CN" sz="1600" b="0" i="0" u="none" strike="noStrike" cap="none" normalizeH="0" baseline="0" smtClean="0">
                  <a:ln>
                    <a:noFill/>
                  </a:ln>
                  <a:solidFill>
                    <a:schemeClr val="tx1"/>
                  </a:solidFill>
                  <a:effectLst/>
                  <a:latin typeface="+mn-ea"/>
                  <a:ea typeface="+mn-ea"/>
                  <a:cs typeface="Consolas" panose="020B0609020204030204" pitchFamily="49" charset="0"/>
                </a:rPr>
                <a:t>……</a:t>
              </a:r>
              <a:endParaRPr kumimoji="0" lang="zh-CN" altLang="zh-CN" sz="1600" b="0" i="0" u="none" strike="noStrike" cap="none" normalizeH="0" baseline="0" smtClean="0">
                <a:ln>
                  <a:noFill/>
                </a:ln>
                <a:solidFill>
                  <a:schemeClr val="tx1"/>
                </a:solidFill>
                <a:effectLst/>
                <a:latin typeface="+mn-ea"/>
                <a:ea typeface="+mn-ea"/>
                <a:cs typeface="Consolas" panose="020B0609020204030204" pitchFamily="49" charset="0"/>
              </a:endParaRPr>
            </a:p>
          </p:txBody>
        </p:sp>
        <p:sp>
          <p:nvSpPr>
            <p:cNvPr id="12" name="Rectangle 24"/>
            <p:cNvSpPr>
              <a:spLocks noChangeArrowheads="1"/>
            </p:cNvSpPr>
            <p:nvPr/>
          </p:nvSpPr>
          <p:spPr bwMode="auto">
            <a:xfrm>
              <a:off x="6265" y="3845"/>
              <a:ext cx="901"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教务处</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Rectangle 23"/>
            <p:cNvSpPr>
              <a:spLocks noChangeArrowheads="1"/>
            </p:cNvSpPr>
            <p:nvPr/>
          </p:nvSpPr>
          <p:spPr bwMode="auto">
            <a:xfrm>
              <a:off x="7347" y="3845"/>
              <a:ext cx="900"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学生处</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Rectangle 22"/>
            <p:cNvSpPr>
              <a:spLocks noChangeArrowheads="1"/>
            </p:cNvSpPr>
            <p:nvPr/>
          </p:nvSpPr>
          <p:spPr bwMode="auto">
            <a:xfrm>
              <a:off x="1417" y="4852"/>
              <a:ext cx="98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科学系</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Rectangle 21"/>
            <p:cNvSpPr>
              <a:spLocks noChangeArrowheads="1"/>
            </p:cNvSpPr>
            <p:nvPr/>
          </p:nvSpPr>
          <p:spPr bwMode="auto">
            <a:xfrm>
              <a:off x="2464" y="4852"/>
              <a:ext cx="841"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工程系</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Rectangle 20"/>
            <p:cNvSpPr>
              <a:spLocks noChangeArrowheads="1"/>
            </p:cNvSpPr>
            <p:nvPr/>
          </p:nvSpPr>
          <p:spPr bwMode="auto">
            <a:xfrm>
              <a:off x="3355" y="4852"/>
              <a:ext cx="101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应用系</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Rectangle 19"/>
            <p:cNvSpPr>
              <a:spLocks noChangeArrowheads="1"/>
            </p:cNvSpPr>
            <p:nvPr/>
          </p:nvSpPr>
          <p:spPr bwMode="auto">
            <a:xfrm>
              <a:off x="6811" y="4852"/>
              <a:ext cx="1012"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招生办</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Rectangle 18"/>
            <p:cNvSpPr>
              <a:spLocks noChangeArrowheads="1"/>
            </p:cNvSpPr>
            <p:nvPr/>
          </p:nvSpPr>
          <p:spPr bwMode="auto">
            <a:xfrm>
              <a:off x="7986" y="4852"/>
              <a:ext cx="848" cy="34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就业办</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Rectangle 17"/>
            <p:cNvSpPr>
              <a:spLocks noChangeArrowheads="1"/>
            </p:cNvSpPr>
            <p:nvPr/>
          </p:nvSpPr>
          <p:spPr bwMode="auto">
            <a:xfrm>
              <a:off x="5350" y="4831"/>
              <a:ext cx="542" cy="291"/>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800"/>
                </a:lnSpc>
                <a:spcBef>
                  <a:spcPct val="0"/>
                </a:spcBef>
                <a:spcAft>
                  <a:spcPct val="0"/>
                </a:spcAft>
                <a:buClrTx/>
                <a:buSzTx/>
                <a:buFontTx/>
                <a:buNone/>
              </a:pPr>
              <a:r>
                <a:rPr kumimoji="0" lang="zh-CN" altLang="zh-CN" sz="1600" b="0" i="0" u="none" strike="noStrike" cap="none" normalizeH="0" baseline="0" smtClean="0">
                  <a:ln>
                    <a:noFill/>
                  </a:ln>
                  <a:solidFill>
                    <a:schemeClr val="tx1"/>
                  </a:solidFill>
                  <a:effectLst/>
                  <a:latin typeface="+mn-ea"/>
                  <a:ea typeface="+mn-ea"/>
                  <a:cs typeface="Consolas" panose="020B0609020204030204" pitchFamily="49" charset="0"/>
                </a:rPr>
                <a:t>……</a:t>
              </a:r>
              <a:endParaRPr kumimoji="0" lang="zh-CN" altLang="zh-CN" sz="1600" b="0" i="0" u="none" strike="noStrike" cap="none" normalizeH="0" baseline="0" smtClean="0">
                <a:ln>
                  <a:noFill/>
                </a:ln>
                <a:solidFill>
                  <a:schemeClr val="tx1"/>
                </a:solidFill>
                <a:effectLst/>
                <a:latin typeface="+mn-ea"/>
                <a:ea typeface="+mn-ea"/>
                <a:cs typeface="Consolas" panose="020B0609020204030204" pitchFamily="49" charset="0"/>
              </a:endParaRPr>
            </a:p>
          </p:txBody>
        </p:sp>
        <p:sp>
          <p:nvSpPr>
            <p:cNvPr id="20" name="Freeform 16"/>
            <p:cNvSpPr/>
            <p:nvPr/>
          </p:nvSpPr>
          <p:spPr bwMode="auto">
            <a:xfrm>
              <a:off x="3078" y="3227"/>
              <a:ext cx="2025" cy="615"/>
            </a:xfrm>
            <a:custGeom>
              <a:avLst/>
              <a:gdLst/>
              <a:ahLst/>
              <a:cxnLst>
                <a:cxn ang="0">
                  <a:pos x="2025" y="0"/>
                </a:cxn>
                <a:cxn ang="0">
                  <a:pos x="0" y="615"/>
                </a:cxn>
              </a:cxnLst>
              <a:rect l="0" t="0" r="r" b="b"/>
              <a:pathLst>
                <a:path w="2025" h="615">
                  <a:moveTo>
                    <a:pt x="2025" y="0"/>
                  </a:moveTo>
                  <a:lnTo>
                    <a:pt x="0" y="61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1" name="Freeform 15"/>
            <p:cNvSpPr/>
            <p:nvPr/>
          </p:nvSpPr>
          <p:spPr bwMode="auto">
            <a:xfrm>
              <a:off x="4728" y="3224"/>
              <a:ext cx="555" cy="623"/>
            </a:xfrm>
            <a:custGeom>
              <a:avLst/>
              <a:gdLst/>
              <a:ahLst/>
              <a:cxnLst>
                <a:cxn ang="0">
                  <a:pos x="555" y="0"/>
                </a:cxn>
                <a:cxn ang="0">
                  <a:pos x="0" y="623"/>
                </a:cxn>
              </a:cxnLst>
              <a:rect l="0" t="0" r="r" b="b"/>
              <a:pathLst>
                <a:path w="555" h="623">
                  <a:moveTo>
                    <a:pt x="555" y="0"/>
                  </a:moveTo>
                  <a:lnTo>
                    <a:pt x="0" y="62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2" name="Freeform 14"/>
            <p:cNvSpPr/>
            <p:nvPr/>
          </p:nvSpPr>
          <p:spPr bwMode="auto">
            <a:xfrm>
              <a:off x="5545" y="3232"/>
              <a:ext cx="240" cy="592"/>
            </a:xfrm>
            <a:custGeom>
              <a:avLst/>
              <a:gdLst/>
              <a:ahLst/>
              <a:cxnLst>
                <a:cxn ang="0">
                  <a:pos x="0" y="0"/>
                </a:cxn>
                <a:cxn ang="0">
                  <a:pos x="240" y="592"/>
                </a:cxn>
              </a:cxnLst>
              <a:rect l="0" t="0" r="r" b="b"/>
              <a:pathLst>
                <a:path w="240" h="592">
                  <a:moveTo>
                    <a:pt x="0" y="0"/>
                  </a:moveTo>
                  <a:lnTo>
                    <a:pt x="240" y="59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3" name="Freeform 13"/>
            <p:cNvSpPr/>
            <p:nvPr/>
          </p:nvSpPr>
          <p:spPr bwMode="auto">
            <a:xfrm>
              <a:off x="5785" y="3238"/>
              <a:ext cx="773" cy="609"/>
            </a:xfrm>
            <a:custGeom>
              <a:avLst/>
              <a:gdLst/>
              <a:ahLst/>
              <a:cxnLst>
                <a:cxn ang="0">
                  <a:pos x="0" y="0"/>
                </a:cxn>
                <a:cxn ang="0">
                  <a:pos x="773" y="608"/>
                </a:cxn>
              </a:cxnLst>
              <a:rect l="0" t="0" r="r" b="b"/>
              <a:pathLst>
                <a:path w="773" h="608">
                  <a:moveTo>
                    <a:pt x="0" y="0"/>
                  </a:moveTo>
                  <a:lnTo>
                    <a:pt x="773" y="608"/>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4" name="Freeform 12"/>
            <p:cNvSpPr/>
            <p:nvPr/>
          </p:nvSpPr>
          <p:spPr bwMode="auto">
            <a:xfrm>
              <a:off x="5905" y="3232"/>
              <a:ext cx="1665" cy="622"/>
            </a:xfrm>
            <a:custGeom>
              <a:avLst/>
              <a:gdLst/>
              <a:ahLst/>
              <a:cxnLst>
                <a:cxn ang="0">
                  <a:pos x="0" y="0"/>
                </a:cxn>
                <a:cxn ang="0">
                  <a:pos x="1665" y="622"/>
                </a:cxn>
              </a:cxnLst>
              <a:rect l="0" t="0" r="r" b="b"/>
              <a:pathLst>
                <a:path w="1665" h="622">
                  <a:moveTo>
                    <a:pt x="0" y="0"/>
                  </a:moveTo>
                  <a:lnTo>
                    <a:pt x="1665" y="6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11"/>
            <p:cNvSpPr/>
            <p:nvPr/>
          </p:nvSpPr>
          <p:spPr bwMode="auto">
            <a:xfrm>
              <a:off x="2077" y="4197"/>
              <a:ext cx="441" cy="667"/>
            </a:xfrm>
            <a:custGeom>
              <a:avLst/>
              <a:gdLst/>
              <a:ahLst/>
              <a:cxnLst>
                <a:cxn ang="0">
                  <a:pos x="442" y="0"/>
                </a:cxn>
                <a:cxn ang="0">
                  <a:pos x="0" y="667"/>
                </a:cxn>
              </a:cxnLst>
              <a:rect l="0" t="0" r="r" b="b"/>
              <a:pathLst>
                <a:path w="442" h="667">
                  <a:moveTo>
                    <a:pt x="442" y="0"/>
                  </a:moveTo>
                  <a:lnTo>
                    <a:pt x="0" y="66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6" name="Line 10"/>
            <p:cNvSpPr>
              <a:spLocks noChangeShapeType="1"/>
            </p:cNvSpPr>
            <p:nvPr/>
          </p:nvSpPr>
          <p:spPr bwMode="auto">
            <a:xfrm>
              <a:off x="2874" y="4207"/>
              <a:ext cx="1" cy="62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9"/>
            <p:cNvSpPr/>
            <p:nvPr/>
          </p:nvSpPr>
          <p:spPr bwMode="auto">
            <a:xfrm>
              <a:off x="3216" y="4189"/>
              <a:ext cx="442" cy="642"/>
            </a:xfrm>
            <a:custGeom>
              <a:avLst/>
              <a:gdLst/>
              <a:ahLst/>
              <a:cxnLst>
                <a:cxn ang="0">
                  <a:pos x="0" y="0"/>
                </a:cxn>
                <a:cxn ang="0">
                  <a:pos x="442" y="642"/>
                </a:cxn>
              </a:cxnLst>
              <a:rect l="0" t="0" r="r" b="b"/>
              <a:pathLst>
                <a:path w="442" h="642">
                  <a:moveTo>
                    <a:pt x="0" y="0"/>
                  </a:moveTo>
                  <a:lnTo>
                    <a:pt x="442" y="64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8"/>
            <p:cNvSpPr/>
            <p:nvPr/>
          </p:nvSpPr>
          <p:spPr bwMode="auto">
            <a:xfrm>
              <a:off x="4314" y="4197"/>
              <a:ext cx="144" cy="330"/>
            </a:xfrm>
            <a:custGeom>
              <a:avLst/>
              <a:gdLst/>
              <a:ahLst/>
              <a:cxnLst>
                <a:cxn ang="0">
                  <a:pos x="143" y="0"/>
                </a:cxn>
                <a:cxn ang="0">
                  <a:pos x="0" y="330"/>
                </a:cxn>
              </a:cxnLst>
              <a:rect l="0" t="0" r="r" b="b"/>
              <a:pathLst>
                <a:path w="143" h="330">
                  <a:moveTo>
                    <a:pt x="143" y="0"/>
                  </a:moveTo>
                  <a:lnTo>
                    <a:pt x="0" y="3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29" name="Line 7"/>
            <p:cNvSpPr>
              <a:spLocks noChangeShapeType="1"/>
            </p:cNvSpPr>
            <p:nvPr/>
          </p:nvSpPr>
          <p:spPr bwMode="auto">
            <a:xfrm>
              <a:off x="4795" y="4207"/>
              <a:ext cx="1"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6"/>
            <p:cNvSpPr/>
            <p:nvPr/>
          </p:nvSpPr>
          <p:spPr bwMode="auto">
            <a:xfrm>
              <a:off x="5098" y="4199"/>
              <a:ext cx="132" cy="328"/>
            </a:xfrm>
            <a:custGeom>
              <a:avLst/>
              <a:gdLst/>
              <a:ahLst/>
              <a:cxnLst>
                <a:cxn ang="0">
                  <a:pos x="0" y="0"/>
                </a:cxn>
                <a:cxn ang="0">
                  <a:pos x="132" y="328"/>
                </a:cxn>
              </a:cxnLst>
              <a:rect l="0" t="0" r="r" b="b"/>
              <a:pathLst>
                <a:path w="132" h="328">
                  <a:moveTo>
                    <a:pt x="0" y="0"/>
                  </a:moveTo>
                  <a:lnTo>
                    <a:pt x="132" y="328"/>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5"/>
            <p:cNvSpPr/>
            <p:nvPr/>
          </p:nvSpPr>
          <p:spPr bwMode="auto">
            <a:xfrm>
              <a:off x="7480" y="4204"/>
              <a:ext cx="248" cy="653"/>
            </a:xfrm>
            <a:custGeom>
              <a:avLst/>
              <a:gdLst/>
              <a:ahLst/>
              <a:cxnLst>
                <a:cxn ang="0">
                  <a:pos x="248" y="0"/>
                </a:cxn>
                <a:cxn ang="0">
                  <a:pos x="0" y="653"/>
                </a:cxn>
              </a:cxnLst>
              <a:rect l="0" t="0" r="r" b="b"/>
              <a:pathLst>
                <a:path w="248" h="653">
                  <a:moveTo>
                    <a:pt x="248" y="0"/>
                  </a:moveTo>
                  <a:lnTo>
                    <a:pt x="0" y="65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4"/>
            <p:cNvSpPr/>
            <p:nvPr/>
          </p:nvSpPr>
          <p:spPr bwMode="auto">
            <a:xfrm>
              <a:off x="8013" y="4183"/>
              <a:ext cx="397" cy="674"/>
            </a:xfrm>
            <a:custGeom>
              <a:avLst/>
              <a:gdLst/>
              <a:ahLst/>
              <a:cxnLst>
                <a:cxn ang="0">
                  <a:pos x="0" y="0"/>
                </a:cxn>
                <a:cxn ang="0">
                  <a:pos x="397" y="675"/>
                </a:cxn>
              </a:cxnLst>
              <a:rect l="0" t="0" r="r" b="b"/>
              <a:pathLst>
                <a:path w="397" h="675">
                  <a:moveTo>
                    <a:pt x="0" y="0"/>
                  </a:moveTo>
                  <a:lnTo>
                    <a:pt x="397" y="67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33" name="Line 3"/>
            <p:cNvSpPr>
              <a:spLocks noChangeShapeType="1"/>
            </p:cNvSpPr>
            <p:nvPr/>
          </p:nvSpPr>
          <p:spPr bwMode="auto">
            <a:xfrm flipH="1">
              <a:off x="6430" y="4207"/>
              <a:ext cx="180"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34" name="Line 2"/>
            <p:cNvSpPr>
              <a:spLocks noChangeShapeType="1"/>
            </p:cNvSpPr>
            <p:nvPr/>
          </p:nvSpPr>
          <p:spPr bwMode="auto">
            <a:xfrm>
              <a:off x="6922" y="4191"/>
              <a:ext cx="180"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8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grpSp>
      <p:pic>
        <p:nvPicPr>
          <p:cNvPr id="2050" name="Picture 2"/>
          <p:cNvPicPr>
            <a:picLocks noChangeAspect="1" noChangeArrowheads="1"/>
          </p:cNvPicPr>
          <p:nvPr/>
        </p:nvPicPr>
        <p:blipFill>
          <a:blip r:embed="rId2" cstate="print"/>
          <a:srcRect/>
          <a:stretch>
            <a:fillRect/>
          </a:stretch>
        </p:blipFill>
        <p:spPr bwMode="auto">
          <a:xfrm>
            <a:off x="6000760" y="2071678"/>
            <a:ext cx="2671763" cy="1519534"/>
          </a:xfrm>
          <a:prstGeom prst="rect">
            <a:avLst/>
          </a:prstGeom>
          <a:noFill/>
          <a:ln w="9525">
            <a:noFill/>
            <a:miter lim="800000"/>
            <a:headEnd/>
            <a:tailEnd/>
          </a:ln>
        </p:spPr>
      </p:pic>
      <p:cxnSp>
        <p:nvCxnSpPr>
          <p:cNvPr id="37" name="直接箭头连接符 36"/>
          <p:cNvCxnSpPr/>
          <p:nvPr/>
        </p:nvCxnSpPr>
        <p:spPr>
          <a:xfrm rot="10800000" flipV="1">
            <a:off x="5214942" y="2643182"/>
            <a:ext cx="642942" cy="428628"/>
          </a:xfrm>
          <a:prstGeom prst="straightConnector1">
            <a:avLst/>
          </a:prstGeom>
          <a:ln w="38100">
            <a:tailEnd type="arrow"/>
          </a:ln>
        </p:spPr>
        <p:style>
          <a:lnRef idx="2">
            <a:schemeClr val="dk1"/>
          </a:lnRef>
          <a:fillRef idx="0">
            <a:schemeClr val="dk1"/>
          </a:fillRef>
          <a:effectRef idx="1">
            <a:schemeClr val="dk1"/>
          </a:effectRef>
          <a:fontRef idx="minor">
            <a:schemeClr val="tx1"/>
          </a:fontRef>
        </p:style>
      </p:cxnSp>
      <p:sp>
        <p:nvSpPr>
          <p:cNvPr id="42" name="灯片编号占位符 4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 name="Group 1"/>
          <p:cNvGrpSpPr>
            <a:grpSpLocks noChangeAspect="1"/>
          </p:cNvGrpSpPr>
          <p:nvPr/>
        </p:nvGrpSpPr>
        <p:grpSpPr bwMode="auto">
          <a:xfrm>
            <a:off x="857224" y="1754885"/>
            <a:ext cx="3999653" cy="3317189"/>
            <a:chOff x="3188" y="4547"/>
            <a:chExt cx="3736" cy="3099"/>
          </a:xfrm>
        </p:grpSpPr>
        <p:sp>
          <p:nvSpPr>
            <p:cNvPr id="5" name="AutoShape 20"/>
            <p:cNvSpPr>
              <a:spLocks noChangeAspect="1" noChangeArrowheads="1" noTextEdit="1"/>
            </p:cNvSpPr>
            <p:nvPr/>
          </p:nvSpPr>
          <p:spPr bwMode="auto">
            <a:xfrm>
              <a:off x="3188" y="4576"/>
              <a:ext cx="3657" cy="3070"/>
            </a:xfrm>
            <a:prstGeom prst="rect">
              <a:avLst/>
            </a:prstGeom>
            <a:noFill/>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Freeform 19"/>
            <p:cNvSpPr/>
            <p:nvPr/>
          </p:nvSpPr>
          <p:spPr bwMode="auto">
            <a:xfrm>
              <a:off x="4489" y="4928"/>
              <a:ext cx="252" cy="355"/>
            </a:xfrm>
            <a:custGeom>
              <a:avLst/>
              <a:gdLst/>
              <a:ahLst/>
              <a:cxnLst>
                <a:cxn ang="0">
                  <a:pos x="252" y="0"/>
                </a:cxn>
                <a:cxn ang="0">
                  <a:pos x="0" y="355"/>
                </a:cxn>
              </a:cxnLst>
              <a:rect l="0" t="0" r="r" b="b"/>
              <a:pathLst>
                <a:path w="252" h="355">
                  <a:moveTo>
                    <a:pt x="252" y="0"/>
                  </a:moveTo>
                  <a:lnTo>
                    <a:pt x="0" y="355"/>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Oval 18"/>
            <p:cNvSpPr>
              <a:spLocks noChangeArrowheads="1"/>
            </p:cNvSpPr>
            <p:nvPr/>
          </p:nvSpPr>
          <p:spPr bwMode="auto">
            <a:xfrm>
              <a:off x="4589" y="4547"/>
              <a:ext cx="658" cy="3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北京</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Oval 17"/>
            <p:cNvSpPr>
              <a:spLocks noChangeArrowheads="1"/>
            </p:cNvSpPr>
            <p:nvPr/>
          </p:nvSpPr>
          <p:spPr bwMode="auto">
            <a:xfrm>
              <a:off x="4144" y="5283"/>
              <a:ext cx="645" cy="39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郑州</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Oval 16"/>
            <p:cNvSpPr>
              <a:spLocks noChangeArrowheads="1"/>
            </p:cNvSpPr>
            <p:nvPr/>
          </p:nvSpPr>
          <p:spPr bwMode="auto">
            <a:xfrm>
              <a:off x="3455" y="6219"/>
              <a:ext cx="682" cy="39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武汉</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Oval 15"/>
            <p:cNvSpPr>
              <a:spLocks noChangeArrowheads="1"/>
            </p:cNvSpPr>
            <p:nvPr/>
          </p:nvSpPr>
          <p:spPr bwMode="auto">
            <a:xfrm>
              <a:off x="6304" y="6296"/>
              <a:ext cx="620" cy="39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上海</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Oval 14"/>
            <p:cNvSpPr>
              <a:spLocks noChangeArrowheads="1"/>
            </p:cNvSpPr>
            <p:nvPr/>
          </p:nvSpPr>
          <p:spPr bwMode="auto">
            <a:xfrm>
              <a:off x="5339" y="5828"/>
              <a:ext cx="718" cy="39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南京</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Oval 13"/>
            <p:cNvSpPr>
              <a:spLocks noChangeArrowheads="1"/>
            </p:cNvSpPr>
            <p:nvPr/>
          </p:nvSpPr>
          <p:spPr bwMode="auto">
            <a:xfrm>
              <a:off x="4589" y="6920"/>
              <a:ext cx="628" cy="39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南昌</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12"/>
            <p:cNvSpPr>
              <a:spLocks noChangeArrowheads="1"/>
            </p:cNvSpPr>
            <p:nvPr/>
          </p:nvSpPr>
          <p:spPr bwMode="auto">
            <a:xfrm>
              <a:off x="3447" y="7246"/>
              <a:ext cx="741" cy="3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长沙</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11"/>
            <p:cNvSpPr>
              <a:spLocks noChangeArrowheads="1"/>
            </p:cNvSpPr>
            <p:nvPr/>
          </p:nvSpPr>
          <p:spPr bwMode="auto">
            <a:xfrm>
              <a:off x="5569" y="6687"/>
              <a:ext cx="621" cy="39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ts val="24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杭州</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10"/>
            <p:cNvSpPr/>
            <p:nvPr/>
          </p:nvSpPr>
          <p:spPr bwMode="auto">
            <a:xfrm>
              <a:off x="3912" y="5643"/>
              <a:ext cx="360" cy="578"/>
            </a:xfrm>
            <a:custGeom>
              <a:avLst/>
              <a:gdLst/>
              <a:ahLst/>
              <a:cxnLst>
                <a:cxn ang="0">
                  <a:pos x="360" y="0"/>
                </a:cxn>
                <a:cxn ang="0">
                  <a:pos x="0" y="578"/>
                </a:cxn>
              </a:cxnLst>
              <a:rect l="0" t="0" r="r" b="b"/>
              <a:pathLst>
                <a:path w="360" h="578">
                  <a:moveTo>
                    <a:pt x="360" y="0"/>
                  </a:moveTo>
                  <a:lnTo>
                    <a:pt x="0" y="578"/>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9"/>
            <p:cNvSpPr>
              <a:spLocks noChangeShapeType="1"/>
            </p:cNvSpPr>
            <p:nvPr/>
          </p:nvSpPr>
          <p:spPr bwMode="auto">
            <a:xfrm>
              <a:off x="3788" y="6615"/>
              <a:ext cx="0" cy="623"/>
            </a:xfrm>
            <a:prstGeom prst="line">
              <a:avLst/>
            </a:pr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Freeform 8"/>
            <p:cNvSpPr/>
            <p:nvPr/>
          </p:nvSpPr>
          <p:spPr bwMode="auto">
            <a:xfrm>
              <a:off x="6057" y="6111"/>
              <a:ext cx="300" cy="267"/>
            </a:xfrm>
            <a:custGeom>
              <a:avLst/>
              <a:gdLst/>
              <a:ahLst/>
              <a:cxnLst>
                <a:cxn ang="0">
                  <a:pos x="0" y="0"/>
                </a:cxn>
                <a:cxn ang="0">
                  <a:pos x="492" y="283"/>
                </a:cxn>
              </a:cxnLst>
              <a:rect l="0" t="0" r="r" b="b"/>
              <a:pathLst>
                <a:path w="492" h="283">
                  <a:moveTo>
                    <a:pt x="0" y="0"/>
                  </a:moveTo>
                  <a:lnTo>
                    <a:pt x="492" y="283"/>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7"/>
            <p:cNvSpPr/>
            <p:nvPr/>
          </p:nvSpPr>
          <p:spPr bwMode="auto">
            <a:xfrm>
              <a:off x="6124" y="6596"/>
              <a:ext cx="233" cy="182"/>
            </a:xfrm>
            <a:custGeom>
              <a:avLst/>
              <a:gdLst/>
              <a:ahLst/>
              <a:cxnLst>
                <a:cxn ang="0">
                  <a:pos x="0" y="191"/>
                </a:cxn>
                <a:cxn ang="0">
                  <a:pos x="272" y="0"/>
                </a:cxn>
              </a:cxnLst>
              <a:rect l="0" t="0" r="r" b="b"/>
              <a:pathLst>
                <a:path w="272" h="191">
                  <a:moveTo>
                    <a:pt x="0" y="191"/>
                  </a:moveTo>
                  <a:lnTo>
                    <a:pt x="272" y="0"/>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Line 6"/>
            <p:cNvSpPr>
              <a:spLocks noChangeShapeType="1"/>
            </p:cNvSpPr>
            <p:nvPr/>
          </p:nvSpPr>
          <p:spPr bwMode="auto">
            <a:xfrm>
              <a:off x="5569" y="6219"/>
              <a:ext cx="180" cy="468"/>
            </a:xfrm>
            <a:prstGeom prst="line">
              <a:avLst/>
            </a:pr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Freeform 5"/>
            <p:cNvSpPr/>
            <p:nvPr/>
          </p:nvSpPr>
          <p:spPr bwMode="auto">
            <a:xfrm>
              <a:off x="5224" y="6971"/>
              <a:ext cx="360" cy="132"/>
            </a:xfrm>
            <a:custGeom>
              <a:avLst/>
              <a:gdLst/>
              <a:ahLst/>
              <a:cxnLst>
                <a:cxn ang="0">
                  <a:pos x="0" y="132"/>
                </a:cxn>
                <a:cxn ang="0">
                  <a:pos x="359" y="0"/>
                </a:cxn>
              </a:cxnLst>
              <a:rect l="0" t="0" r="r" b="b"/>
              <a:pathLst>
                <a:path w="359" h="132">
                  <a:moveTo>
                    <a:pt x="0" y="132"/>
                  </a:moveTo>
                  <a:lnTo>
                    <a:pt x="359" y="0"/>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Freeform 4"/>
            <p:cNvSpPr/>
            <p:nvPr/>
          </p:nvSpPr>
          <p:spPr bwMode="auto">
            <a:xfrm>
              <a:off x="4954" y="6138"/>
              <a:ext cx="450" cy="773"/>
            </a:xfrm>
            <a:custGeom>
              <a:avLst/>
              <a:gdLst/>
              <a:ahLst/>
              <a:cxnLst>
                <a:cxn ang="0">
                  <a:pos x="450" y="0"/>
                </a:cxn>
                <a:cxn ang="0">
                  <a:pos x="0" y="773"/>
                </a:cxn>
              </a:cxnLst>
              <a:rect l="0" t="0" r="r" b="b"/>
              <a:pathLst>
                <a:path w="450" h="773">
                  <a:moveTo>
                    <a:pt x="450" y="0"/>
                  </a:moveTo>
                  <a:lnTo>
                    <a:pt x="0" y="773"/>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Freeform 3"/>
            <p:cNvSpPr/>
            <p:nvPr/>
          </p:nvSpPr>
          <p:spPr bwMode="auto">
            <a:xfrm>
              <a:off x="4129" y="6056"/>
              <a:ext cx="1209" cy="319"/>
            </a:xfrm>
            <a:custGeom>
              <a:avLst/>
              <a:gdLst/>
              <a:ahLst/>
              <a:cxnLst>
                <a:cxn ang="0">
                  <a:pos x="0" y="319"/>
                </a:cxn>
                <a:cxn ang="0">
                  <a:pos x="1208" y="0"/>
                </a:cxn>
              </a:cxnLst>
              <a:rect l="0" t="0" r="r" b="b"/>
              <a:pathLst>
                <a:path w="1208" h="319">
                  <a:moveTo>
                    <a:pt x="0" y="319"/>
                  </a:moveTo>
                  <a:lnTo>
                    <a:pt x="1208" y="0"/>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Freeform 2"/>
            <p:cNvSpPr/>
            <p:nvPr/>
          </p:nvSpPr>
          <p:spPr bwMode="auto">
            <a:xfrm>
              <a:off x="5096" y="4928"/>
              <a:ext cx="488" cy="895"/>
            </a:xfrm>
            <a:custGeom>
              <a:avLst/>
              <a:gdLst/>
              <a:ahLst/>
              <a:cxnLst>
                <a:cxn ang="0">
                  <a:pos x="0" y="0"/>
                </a:cxn>
                <a:cxn ang="0">
                  <a:pos x="488" y="895"/>
                </a:cxn>
              </a:cxnLst>
              <a:rect l="0" t="0" r="r" b="b"/>
              <a:pathLst>
                <a:path w="488" h="895">
                  <a:moveTo>
                    <a:pt x="0" y="0"/>
                  </a:moveTo>
                  <a:lnTo>
                    <a:pt x="488" y="895"/>
                  </a:lnTo>
                </a:path>
              </a:pathLst>
            </a:custGeom>
            <a:noFill/>
            <a:ln w="19050">
              <a:solidFill>
                <a:schemeClr val="tx1"/>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5" name="TextBox 24"/>
          <p:cNvSpPr txBox="1"/>
          <p:nvPr/>
        </p:nvSpPr>
        <p:spPr>
          <a:xfrm>
            <a:off x="571472" y="428604"/>
            <a:ext cx="7500990" cy="82702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图形结构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：若结构是非空的，则每个元素可以有多个前驱元素和多个后继元素。</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3074" name="Picture 2"/>
          <p:cNvPicPr>
            <a:picLocks noChangeAspect="1" noChangeArrowheads="1"/>
          </p:cNvPicPr>
          <p:nvPr/>
        </p:nvPicPr>
        <p:blipFill>
          <a:blip r:embed="rId2" cstate="print"/>
          <a:srcRect/>
          <a:stretch>
            <a:fillRect/>
          </a:stretch>
        </p:blipFill>
        <p:spPr bwMode="auto">
          <a:xfrm>
            <a:off x="5000628" y="1928802"/>
            <a:ext cx="3909864" cy="3000396"/>
          </a:xfrm>
          <a:prstGeom prst="rect">
            <a:avLst/>
          </a:prstGeom>
          <a:noFill/>
          <a:ln w="9525">
            <a:noFill/>
            <a:miter lim="800000"/>
            <a:headEnd/>
            <a:tailEnd/>
          </a:ln>
        </p:spPr>
      </p:pic>
      <p:cxnSp>
        <p:nvCxnSpPr>
          <p:cNvPr id="28" name="直接箭头连接符 27"/>
          <p:cNvCxnSpPr/>
          <p:nvPr/>
        </p:nvCxnSpPr>
        <p:spPr>
          <a:xfrm rot="10800000">
            <a:off x="4429124" y="3071810"/>
            <a:ext cx="500066" cy="1588"/>
          </a:xfrm>
          <a:prstGeom prst="straightConnector1">
            <a:avLst/>
          </a:prstGeom>
          <a:ln w="38100">
            <a:tailEnd type="arrow"/>
          </a:ln>
        </p:spPr>
        <p:style>
          <a:lnRef idx="2">
            <a:schemeClr val="dk1"/>
          </a:lnRef>
          <a:fillRef idx="0">
            <a:schemeClr val="dk1"/>
          </a:fillRef>
          <a:effectRef idx="1">
            <a:schemeClr val="dk1"/>
          </a:effectRef>
          <a:fontRef idx="minor">
            <a:schemeClr val="tx1"/>
          </a:fontRef>
        </p:style>
      </p:cxnSp>
      <p:sp>
        <p:nvSpPr>
          <p:cNvPr id="33" name="灯片编号占位符 3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571480"/>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1.1.3 </a:t>
            </a:r>
            <a:r>
              <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数据</a:t>
            </a:r>
            <a:r>
              <a:rPr lang="zh-CN" altLang="en-US"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的存储结构</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 Box 2"/>
          <p:cNvSpPr txBox="1">
            <a:spLocks noChangeArrowheads="1"/>
          </p:cNvSpPr>
          <p:nvPr/>
        </p:nvSpPr>
        <p:spPr bwMode="auto">
          <a:xfrm>
            <a:off x="500034" y="1395699"/>
            <a:ext cx="8143932" cy="424732"/>
          </a:xfrm>
          <a:prstGeom prst="rect">
            <a:avLst/>
          </a:prstGeom>
          <a:noFill/>
          <a:ln w="9525">
            <a:noFill/>
            <a:miter lim="800000"/>
          </a:ln>
          <a:effectLst/>
        </p:spPr>
        <p:txBody>
          <a:bodyPr wrap="square">
            <a:spAutoFit/>
          </a:bodyPr>
          <a:lstStyle/>
          <a:p>
            <a:pPr algn="just">
              <a:lnSpc>
                <a:spcPct val="120000"/>
              </a:lnSpc>
            </a:pPr>
            <a:r>
              <a:rPr lang="zh-CN" altLang="en-US" sz="2000" b="1" smtClean="0">
                <a:solidFill>
                  <a:srgbClr val="0000FF"/>
                </a:solidFill>
                <a:latin typeface="楷体" panose="02010609060101010101" pitchFamily="49" charset="-122"/>
                <a:ea typeface="楷体" panose="02010609060101010101" pitchFamily="49" charset="-122"/>
              </a:rPr>
              <a:t>数据</a:t>
            </a:r>
            <a:r>
              <a:rPr lang="zh-CN" altLang="en-US" sz="2000" b="1" dirty="0">
                <a:solidFill>
                  <a:srgbClr val="0000FF"/>
                </a:solidFill>
                <a:latin typeface="楷体" panose="02010609060101010101" pitchFamily="49" charset="-122"/>
                <a:ea typeface="楷体" panose="02010609060101010101" pitchFamily="49" charset="-122"/>
              </a:rPr>
              <a:t>在计算机存储器中的存储方式就是存储</a:t>
            </a:r>
            <a:r>
              <a:rPr lang="zh-CN" altLang="en-US" sz="2000" b="1">
                <a:solidFill>
                  <a:srgbClr val="0000FF"/>
                </a:solidFill>
                <a:latin typeface="楷体" panose="02010609060101010101" pitchFamily="49" charset="-122"/>
                <a:ea typeface="楷体" panose="02010609060101010101" pitchFamily="49" charset="-122"/>
              </a:rPr>
              <a:t>结构</a:t>
            </a:r>
            <a:r>
              <a:rPr lang="zh-CN" altLang="en-US" sz="2000" b="1" smtClean="0">
                <a:solidFill>
                  <a:srgbClr val="0000FF"/>
                </a:solidFill>
                <a:latin typeface="楷体" panose="02010609060101010101" pitchFamily="49" charset="-122"/>
                <a:ea typeface="楷体" panose="02010609060101010101" pitchFamily="49" charset="-122"/>
              </a:rPr>
              <a:t>。它是面向程序员的。       </a:t>
            </a:r>
            <a:endParaRPr lang="zh-CN" altLang="en-US" sz="2000" b="1" dirty="0">
              <a:solidFill>
                <a:srgbClr val="0000FF"/>
              </a:solidFill>
              <a:latin typeface="楷体" panose="02010609060101010101" pitchFamily="49" charset="-122"/>
              <a:ea typeface="楷体" panose="02010609060101010101" pitchFamily="49" charset="-122"/>
            </a:endParaRPr>
          </a:p>
        </p:txBody>
      </p:sp>
      <p:grpSp>
        <p:nvGrpSpPr>
          <p:cNvPr id="7" name="组合 12"/>
          <p:cNvGrpSpPr/>
          <p:nvPr/>
        </p:nvGrpSpPr>
        <p:grpSpPr>
          <a:xfrm>
            <a:off x="1868501" y="2387960"/>
            <a:ext cx="4951428" cy="1041049"/>
            <a:chOff x="1835150" y="1778000"/>
            <a:chExt cx="5257800" cy="720726"/>
          </a:xfrm>
        </p:grpSpPr>
        <p:sp>
          <p:nvSpPr>
            <p:cNvPr id="8" name="Rectangle 3"/>
            <p:cNvSpPr>
              <a:spLocks noChangeAspect="1" noChangeArrowheads="1"/>
            </p:cNvSpPr>
            <p:nvPr/>
          </p:nvSpPr>
          <p:spPr bwMode="auto">
            <a:xfrm>
              <a:off x="1835150" y="1778000"/>
              <a:ext cx="1657350" cy="72072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2"/>
            </a:lnRef>
            <a:fillRef idx="2">
              <a:schemeClr val="accent2"/>
            </a:fillRef>
            <a:effectRef idx="1">
              <a:schemeClr val="accent2"/>
            </a:effectRef>
            <a:fontRef idx="minor">
              <a:schemeClr val="dk1"/>
            </a:fontRef>
          </p:style>
          <p:txBody>
            <a:bodyPr wrap="none" anchor="ctr"/>
            <a:lstStyle/>
            <a:p>
              <a:pPr algn="ctr">
                <a:lnSpc>
                  <a:spcPct val="100000"/>
                </a:lnSpc>
                <a:spcBef>
                  <a:spcPct val="0"/>
                </a:spcBef>
              </a:pPr>
              <a:r>
                <a:rPr kumimoji="0" lang="zh-CN" altLang="en-US" sz="2000" b="1" dirty="0">
                  <a:solidFill>
                    <a:srgbClr val="0000FF"/>
                  </a:solidFill>
                  <a:latin typeface="楷体" panose="02010609060101010101" pitchFamily="49" charset="-122"/>
                  <a:ea typeface="楷体" panose="02010609060101010101" pitchFamily="49" charset="-122"/>
                </a:rPr>
                <a:t>逻辑结构</a:t>
              </a:r>
              <a:endParaRPr kumimoji="0" lang="zh-CN" altLang="en-US" sz="2000" b="1" dirty="0">
                <a:solidFill>
                  <a:srgbClr val="0000FF"/>
                </a:solidFill>
                <a:latin typeface="楷体" panose="02010609060101010101" pitchFamily="49" charset="-122"/>
                <a:ea typeface="楷体" panose="02010609060101010101" pitchFamily="49" charset="-122"/>
              </a:endParaRPr>
            </a:p>
          </p:txBody>
        </p:sp>
        <p:sp>
          <p:nvSpPr>
            <p:cNvPr id="9" name="Rectangle 4"/>
            <p:cNvSpPr>
              <a:spLocks noChangeAspect="1" noChangeArrowheads="1"/>
            </p:cNvSpPr>
            <p:nvPr/>
          </p:nvSpPr>
          <p:spPr bwMode="auto">
            <a:xfrm>
              <a:off x="5508625" y="1778001"/>
              <a:ext cx="1584325" cy="720725"/>
            </a:xfrm>
            <a:prstGeom prst="rect">
              <a:avLst/>
            </a:prstGeom>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1">
              <a:schemeClr val="accent2"/>
            </a:lnRef>
            <a:fillRef idx="2">
              <a:schemeClr val="accent2"/>
            </a:fillRef>
            <a:effectRef idx="1">
              <a:schemeClr val="accent2"/>
            </a:effectRef>
            <a:fontRef idx="minor">
              <a:schemeClr val="dk1"/>
            </a:fontRef>
          </p:style>
          <p:txBody>
            <a:bodyPr wrap="none" anchor="ctr"/>
            <a:lstStyle/>
            <a:p>
              <a:pPr algn="ctr">
                <a:lnSpc>
                  <a:spcPct val="100000"/>
                </a:lnSpc>
                <a:spcBef>
                  <a:spcPct val="0"/>
                </a:spcBef>
              </a:pPr>
              <a:r>
                <a:rPr kumimoji="0" lang="zh-CN" altLang="en-US" sz="2000" b="1" dirty="0">
                  <a:solidFill>
                    <a:srgbClr val="0000FF"/>
                  </a:solidFill>
                  <a:latin typeface="楷体" panose="02010609060101010101" pitchFamily="49" charset="-122"/>
                  <a:ea typeface="楷体" panose="02010609060101010101" pitchFamily="49" charset="-122"/>
                </a:rPr>
                <a:t>存储结构</a:t>
              </a:r>
              <a:endParaRPr kumimoji="0" lang="zh-CN" altLang="en-US" sz="2000" b="1" dirty="0">
                <a:solidFill>
                  <a:srgbClr val="0000FF"/>
                </a:solidFill>
                <a:latin typeface="楷体" panose="02010609060101010101" pitchFamily="49" charset="-122"/>
                <a:ea typeface="楷体" panose="02010609060101010101" pitchFamily="49" charset="-122"/>
              </a:endParaRPr>
            </a:p>
          </p:txBody>
        </p:sp>
        <p:sp>
          <p:nvSpPr>
            <p:cNvPr id="10" name="Line 6"/>
            <p:cNvSpPr>
              <a:spLocks noChangeShapeType="1"/>
            </p:cNvSpPr>
            <p:nvPr/>
          </p:nvSpPr>
          <p:spPr bwMode="auto">
            <a:xfrm>
              <a:off x="3563938" y="2211388"/>
              <a:ext cx="1944687" cy="0"/>
            </a:xfrm>
            <a:prstGeom prst="line">
              <a:avLst/>
            </a:prstGeom>
            <a:noFill/>
            <a:ln w="38100">
              <a:solidFill>
                <a:srgbClr val="FF0000"/>
              </a:solidFill>
              <a:round/>
              <a:tailEnd type="stealth" w="med" len="lg"/>
            </a:ln>
            <a:effectLst/>
            <a:scene3d>
              <a:camera prst="orthographicFront"/>
              <a:lightRig rig="threePt" dir="t"/>
            </a:scene3d>
            <a:sp3d>
              <a:bevelT w="139700" prst="cross"/>
            </a:sp3d>
          </p:spPr>
          <p:txBody>
            <a:bodyPr wrap="none" anchor="ctr"/>
            <a:lstStyle/>
            <a:p>
              <a:endParaRPr lang="zh-CN" altLang="en-US" sz="2000">
                <a:solidFill>
                  <a:srgbClr val="0000FF"/>
                </a:solidFill>
              </a:endParaRPr>
            </a:p>
          </p:txBody>
        </p:sp>
        <p:sp>
          <p:nvSpPr>
            <p:cNvPr id="11" name="Text Box 7"/>
            <p:cNvSpPr txBox="1">
              <a:spLocks noChangeArrowheads="1"/>
            </p:cNvSpPr>
            <p:nvPr/>
          </p:nvSpPr>
          <p:spPr bwMode="auto">
            <a:xfrm>
              <a:off x="4068763" y="1866122"/>
              <a:ext cx="863600" cy="255691"/>
            </a:xfrm>
            <a:prstGeom prst="rect">
              <a:avLst/>
            </a:prstGeom>
            <a:noFill/>
            <a:ln w="9525">
              <a:noFill/>
              <a:miter lim="800000"/>
            </a:ln>
            <a:effectLst/>
          </p:spPr>
          <p:txBody>
            <a:bodyPr>
              <a:spAutoFit/>
            </a:bodyPr>
            <a:lstStyle/>
            <a:p>
              <a:pPr algn="l">
                <a:lnSpc>
                  <a:spcPct val="100000"/>
                </a:lnSpc>
              </a:pPr>
              <a:r>
                <a:rPr kumimoji="0" lang="zh-CN" altLang="en-US" sz="1800" dirty="0">
                  <a:solidFill>
                    <a:srgbClr val="C00000"/>
                  </a:solidFill>
                  <a:latin typeface="仿宋" panose="02010609060101010101" pitchFamily="49" charset="-122"/>
                  <a:ea typeface="仿宋" panose="02010609060101010101" pitchFamily="49" charset="-122"/>
                </a:rPr>
                <a:t>映射</a:t>
              </a:r>
              <a:endParaRPr kumimoji="0" lang="zh-CN" altLang="en-US" sz="1800" dirty="0">
                <a:solidFill>
                  <a:srgbClr val="C00000"/>
                </a:solidFill>
                <a:latin typeface="仿宋" panose="02010609060101010101" pitchFamily="49" charset="-122"/>
                <a:ea typeface="仿宋" panose="02010609060101010101" pitchFamily="49" charset="-122"/>
              </a:endParaRPr>
            </a:p>
          </p:txBody>
        </p:sp>
      </p:grpSp>
      <p:sp>
        <p:nvSpPr>
          <p:cNvPr id="12" name="Text Box 9"/>
          <p:cNvSpPr txBox="1">
            <a:spLocks noChangeArrowheads="1"/>
          </p:cNvSpPr>
          <p:nvPr/>
        </p:nvSpPr>
        <p:spPr bwMode="auto">
          <a:xfrm>
            <a:off x="714348" y="4126527"/>
            <a:ext cx="6143668" cy="547697"/>
          </a:xfrm>
          <a:prstGeom prst="rect">
            <a:avLst/>
          </a:prstGeom>
          <a:noFill/>
          <a:ln>
            <a:noFill/>
          </a:ln>
          <a:effectLst>
            <a:outerShdw blurRad="44450" dist="27940" dir="5400000" algn="ctr">
              <a:srgbClr val="000000">
                <a:alpha val="32000"/>
              </a:srgbClr>
            </a:outerShdw>
          </a:effectLst>
        </p:spPr>
        <p:style>
          <a:lnRef idx="2">
            <a:schemeClr val="accent2"/>
          </a:lnRef>
          <a:fillRef idx="1">
            <a:schemeClr val="lt1"/>
          </a:fillRef>
          <a:effectRef idx="0">
            <a:schemeClr val="accent2"/>
          </a:effectRef>
          <a:fontRef idx="minor">
            <a:schemeClr val="dk1"/>
          </a:fontRef>
        </p:style>
        <p:txBody>
          <a:bodyPr tIns="118800" bIns="118800">
            <a:spAutoFit/>
          </a:bodyPr>
          <a:lstStyle/>
          <a:p>
            <a:pPr algn="l">
              <a:lnSpc>
                <a:spcPct val="100000"/>
              </a:lnSpc>
            </a:pPr>
            <a:r>
              <a:rPr lang="zh-CN" altLang="en-US" sz="2000" dirty="0">
                <a:solidFill>
                  <a:srgbClr val="0000FF"/>
                </a:solidFill>
                <a:latin typeface="楷体" panose="02010609060101010101" pitchFamily="49" charset="-122"/>
                <a:ea typeface="楷体" panose="02010609060101010101" pitchFamily="49" charset="-122"/>
              </a:rPr>
              <a:t>设计存储结构的这种</a:t>
            </a:r>
            <a:r>
              <a:rPr kumimoji="0" lang="zh-CN" altLang="en-US" sz="2000" dirty="0">
                <a:solidFill>
                  <a:srgbClr val="0000FF"/>
                </a:solidFill>
                <a:latin typeface="楷体" panose="02010609060101010101" pitchFamily="49" charset="-122"/>
                <a:ea typeface="楷体" panose="02010609060101010101" pitchFamily="49" charset="-122"/>
              </a:rPr>
              <a:t>映射应满足两</a:t>
            </a:r>
            <a:r>
              <a:rPr kumimoji="0" lang="zh-CN" altLang="en-US" sz="2000" dirty="0" smtClean="0">
                <a:solidFill>
                  <a:srgbClr val="0000FF"/>
                </a:solidFill>
                <a:latin typeface="楷体" panose="02010609060101010101" pitchFamily="49" charset="-122"/>
                <a:ea typeface="楷体" panose="02010609060101010101" pitchFamily="49" charset="-122"/>
              </a:rPr>
              <a:t>个要求： </a:t>
            </a:r>
            <a:endParaRPr kumimoji="0" lang="zh-CN" altLang="en-US" sz="2000" dirty="0">
              <a:solidFill>
                <a:srgbClr val="0000FF"/>
              </a:solidFill>
              <a:latin typeface="楷体" panose="02010609060101010101" pitchFamily="49" charset="-122"/>
              <a:ea typeface="楷体" panose="02010609060101010101" pitchFamily="49" charset="-122"/>
            </a:endParaRPr>
          </a:p>
        </p:txBody>
      </p:sp>
      <p:sp>
        <p:nvSpPr>
          <p:cNvPr id="13" name="TextBox 12"/>
          <p:cNvSpPr txBox="1"/>
          <p:nvPr/>
        </p:nvSpPr>
        <p:spPr>
          <a:xfrm>
            <a:off x="729211" y="4742729"/>
            <a:ext cx="5491835" cy="9148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lgn="l">
              <a:lnSpc>
                <a:spcPct val="100000"/>
              </a:lnSpc>
              <a:buBlip>
                <a:blip r:embed="rId1"/>
              </a:buBlip>
            </a:pP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存储所有元素</a:t>
            </a:r>
            <a:endPar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存储数据元素间的关系</a:t>
            </a:r>
            <a:endPar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4098" name="Picture 2"/>
          <p:cNvPicPr>
            <a:picLocks noChangeAspect="1" noChangeArrowheads="1"/>
          </p:cNvPicPr>
          <p:nvPr/>
        </p:nvPicPr>
        <p:blipFill>
          <a:blip r:embed="rId2" cstate="print"/>
          <a:srcRect/>
          <a:stretch>
            <a:fillRect/>
          </a:stretch>
        </p:blipFill>
        <p:spPr bwMode="auto">
          <a:xfrm>
            <a:off x="6962805" y="2357439"/>
            <a:ext cx="1895475" cy="1285875"/>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571472" y="2571744"/>
            <a:ext cx="1099440" cy="857256"/>
          </a:xfrm>
          <a:prstGeom prst="rect">
            <a:avLst/>
          </a:prstGeom>
          <a:noFill/>
          <a:ln w="9525">
            <a:noFill/>
            <a:miter lim="800000"/>
            <a:headEnd/>
            <a:tailEnd/>
          </a:ln>
        </p:spPr>
      </p:pic>
      <p:sp>
        <p:nvSpPr>
          <p:cNvPr id="21" name="灯片编号占位符 2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500042"/>
            <a:ext cx="7786742"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1.5</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对于表</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所示高等数学成绩表，设计多种存储结构，并讨论各种存储结构的特性。</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aphicFrame>
        <p:nvGraphicFramePr>
          <p:cNvPr id="5" name="表格 4"/>
          <p:cNvGraphicFramePr>
            <a:graphicFrameLocks noGrp="1"/>
          </p:cNvGraphicFramePr>
          <p:nvPr/>
        </p:nvGraphicFramePr>
        <p:xfrm>
          <a:off x="2546042" y="2208862"/>
          <a:ext cx="3383280" cy="3386118"/>
        </p:xfrm>
        <a:graphic>
          <a:graphicData uri="http://schemas.openxmlformats.org/drawingml/2006/table">
            <a:tbl>
              <a:tblPr/>
              <a:tblGrid>
                <a:gridCol w="1097280"/>
                <a:gridCol w="1257300"/>
                <a:gridCol w="1028700"/>
              </a:tblGrid>
              <a:tr h="505758">
                <a:tc>
                  <a:txBody>
                    <a:bodyPr/>
                    <a:lstStyle/>
                    <a:p>
                      <a:pPr algn="ctr">
                        <a:lnSpc>
                          <a:spcPct val="1500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学号</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姓名</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分数</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8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2903232" y="1565920"/>
            <a:ext cx="2500330" cy="400110"/>
          </a:xfrm>
          <a:prstGeom prst="rect">
            <a:avLst/>
          </a:prstGeom>
          <a:noFill/>
        </p:spPr>
        <p:txBody>
          <a:bodyPr wrap="square" rtlCol="0">
            <a:spAutoFit/>
          </a:bodyPr>
          <a:lstStyle/>
          <a:p>
            <a:pPr>
              <a:lnSpc>
                <a:spcPct val="100000"/>
              </a:lnSpc>
            </a:pPr>
            <a:r>
              <a:rPr lang="zh-CN" altLang="zh-CN" sz="2000" smtClean="0">
                <a:solidFill>
                  <a:srgbClr val="C00000"/>
                </a:solidFill>
                <a:latin typeface="楷体" panose="02010609060101010101" pitchFamily="49" charset="-122"/>
                <a:ea typeface="楷体" panose="02010609060101010101" pitchFamily="49" charset="-122"/>
              </a:rPr>
              <a:t>高等数学成绩表</a:t>
            </a:r>
            <a:endParaRPr lang="zh-CN" altLang="en-US" sz="2000">
              <a:solidFill>
                <a:srgbClr val="C00000"/>
              </a:solidFill>
              <a:latin typeface="楷体" panose="02010609060101010101" pitchFamily="49" charset="-122"/>
              <a:ea typeface="楷体" panose="02010609060101010101" pitchFamily="49" charset="-122"/>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500042"/>
            <a:ext cx="8143932" cy="775982"/>
          </a:xfrm>
          <a:prstGeom prst="rect">
            <a:avLst/>
          </a:prstGeom>
          <a:noFill/>
        </p:spPr>
        <p:txBody>
          <a:bodyPr wrap="square" rtlCol="0">
            <a:spAutoFit/>
          </a:bodyPr>
          <a:lstStyle/>
          <a:p>
            <a:pPr algn="l">
              <a:lnSpc>
                <a:spcPts val="28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存储结构</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用</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语言中的结构体数组来存储高等数学成绩表，设计其元素类型</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Stud1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如下：</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357158" y="1663039"/>
            <a:ext cx="8001056" cy="390500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strcut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Stud1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学生成绩元素类型</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no;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存放学号</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string name;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存放姓名</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score;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存放分数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Stud1() {}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Stud1(int no1,string name1,int score1)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重载构造函数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no=no1;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name=name1;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score=score1;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1428736"/>
            <a:ext cx="4643470" cy="33685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600" smtClean="0">
                <a:solidFill>
                  <a:srgbClr val="FF0000"/>
                </a:solidFill>
                <a:latin typeface="Consolas" panose="020B0609020204030204" pitchFamily="49" charset="0"/>
                <a:ea typeface="仿宋" panose="02010609060101010101" pitchFamily="49" charset="-122"/>
                <a:cs typeface="Consolas" panose="020B0609020204030204" pitchFamily="49" charset="0"/>
              </a:rPr>
              <a:t>Create()</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600" smtClean="0">
                <a:solidFill>
                  <a:srgbClr val="00B0F0"/>
                </a:solidFill>
                <a:latin typeface="Consolas" panose="020B0609020204030204" pitchFamily="49" charset="0"/>
                <a:ea typeface="仿宋" panose="02010609060101010101" pitchFamily="49" charset="-122"/>
                <a:cs typeface="Consolas" panose="020B0609020204030204" pitchFamily="49" charset="0"/>
              </a:rPr>
              <a:t>创建高数成绩顺序表</a:t>
            </a:r>
            <a:endParaRPr lang="zh-CN" altLang="zh-CN" sz="16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data[0]=Stud1(2018001,"</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王华</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data[1]=Stud1(2018010,"</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刘丽</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data[2]=Stud1(2018006,"</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陈明</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data[3]=Stud1(2018009,"</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张强</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data[4]=Stud1(2018007,"</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许兵</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data[5]=Stud1(2018012,"</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李萍</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data[6]=Stud1(2018005,"</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李英</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length=7;</a:t>
            </a:r>
            <a:endPar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142844" y="642918"/>
            <a:ext cx="7929618" cy="442301"/>
          </a:xfrm>
          <a:prstGeom prst="rect">
            <a:avLst/>
          </a:prstGeom>
          <a:noFill/>
        </p:spPr>
        <p:txBody>
          <a:bodyPr wrap="square" rtlCol="0">
            <a:spAutoFit/>
          </a:bodyPr>
          <a:lstStyle/>
          <a:p>
            <a:pPr algn="l">
              <a:lnSpc>
                <a:spcPts val="3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（所有的元素类型均为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Stud1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）存放高等数学成绩表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左弧形箭头 7"/>
          <p:cNvSpPr/>
          <p:nvPr/>
        </p:nvSpPr>
        <p:spPr>
          <a:xfrm rot="7754341">
            <a:off x="5609481" y="2282776"/>
            <a:ext cx="500066" cy="1071570"/>
          </a:xfrm>
          <a:prstGeom prst="curved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endParaRPr>
          </a:p>
        </p:txBody>
      </p:sp>
      <p:graphicFrame>
        <p:nvGraphicFramePr>
          <p:cNvPr id="7" name="表格 6"/>
          <p:cNvGraphicFramePr>
            <a:graphicFrameLocks noGrp="1"/>
          </p:cNvGraphicFramePr>
          <p:nvPr/>
        </p:nvGraphicFramePr>
        <p:xfrm>
          <a:off x="5357818" y="3351130"/>
          <a:ext cx="3383280" cy="292608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学号</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姓名</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分数</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90131" name="Rectangle 1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90113" name="Group 1"/>
          <p:cNvGrpSpPr>
            <a:grpSpLocks noChangeAspect="1"/>
          </p:cNvGrpSpPr>
          <p:nvPr/>
        </p:nvGrpSpPr>
        <p:grpSpPr bwMode="auto">
          <a:xfrm>
            <a:off x="1571604" y="4357694"/>
            <a:ext cx="6372822" cy="1000132"/>
            <a:chOff x="1399" y="3603"/>
            <a:chExt cx="6595" cy="1035"/>
          </a:xfrm>
        </p:grpSpPr>
        <p:sp>
          <p:nvSpPr>
            <p:cNvPr id="90130" name="AutoShape 18"/>
            <p:cNvSpPr>
              <a:spLocks noChangeAspect="1" noChangeArrowheads="1" noTextEdit="1"/>
            </p:cNvSpPr>
            <p:nvPr/>
          </p:nvSpPr>
          <p:spPr bwMode="auto">
            <a:xfrm>
              <a:off x="1399" y="3603"/>
              <a:ext cx="6595" cy="1035"/>
            </a:xfrm>
            <a:prstGeom prst="rect">
              <a:avLst/>
            </a:prstGeom>
            <a:noFill/>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0129" name="Text Box 17"/>
            <p:cNvSpPr txBox="1">
              <a:spLocks noChangeArrowheads="1"/>
            </p:cNvSpPr>
            <p:nvPr/>
          </p:nvSpPr>
          <p:spPr bwMode="auto">
            <a:xfrm>
              <a:off x="5644" y="4225"/>
              <a:ext cx="307" cy="313"/>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smtClean="0">
                  <a:ln>
                    <a:noFill/>
                  </a:ln>
                  <a:solidFill>
                    <a:srgbClr val="0000FF"/>
                  </a:solidFill>
                  <a:effectLst/>
                  <a:latin typeface="+mn-ea"/>
                  <a:ea typeface="+mn-ea"/>
                  <a:cs typeface="Consolas" panose="020B0609020204030204" pitchFamily="49" charset="0"/>
                </a:rPr>
                <a:t>…</a:t>
              </a:r>
              <a:endParaRPr kumimoji="0" lang="zh-CN" altLang="zh-CN" sz="1600" i="0" u="none" strike="noStrike" cap="none" normalizeH="0" baseline="0" smtClean="0">
                <a:ln>
                  <a:noFill/>
                </a:ln>
                <a:solidFill>
                  <a:srgbClr val="0000FF"/>
                </a:solidFill>
                <a:effectLst/>
                <a:latin typeface="+mn-ea"/>
                <a:ea typeface="+mn-ea"/>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mn-ea"/>
                <a:ea typeface="+mn-ea"/>
                <a:cs typeface="Consolas" panose="020B0609020204030204" pitchFamily="49" charset="0"/>
              </a:endParaRPr>
            </a:p>
          </p:txBody>
        </p:sp>
        <p:sp>
          <p:nvSpPr>
            <p:cNvPr id="90128" name="Text Box 16"/>
            <p:cNvSpPr txBox="1">
              <a:spLocks noChangeArrowheads="1"/>
            </p:cNvSpPr>
            <p:nvPr/>
          </p:nvSpPr>
          <p:spPr bwMode="auto">
            <a:xfrm>
              <a:off x="2028" y="3613"/>
              <a:ext cx="775" cy="3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data[0]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27" name="AutoShape 15"/>
            <p:cNvSpPr/>
            <p:nvPr/>
          </p:nvSpPr>
          <p:spPr bwMode="auto">
            <a:xfrm rot="5400000">
              <a:off x="2379" y="3014"/>
              <a:ext cx="124" cy="2027"/>
            </a:xfrm>
            <a:prstGeom prst="leftBrace">
              <a:avLst>
                <a:gd name="adj1" fmla="val 136223"/>
                <a:gd name="adj2" fmla="val 50000"/>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0126" name="Rectangle 14"/>
            <p:cNvSpPr>
              <a:spLocks noChangeArrowheads="1"/>
            </p:cNvSpPr>
            <p:nvPr/>
          </p:nvSpPr>
          <p:spPr bwMode="auto">
            <a:xfrm>
              <a:off x="1407" y="4205"/>
              <a:ext cx="910"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2018001</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25" name="Rectangle 13"/>
            <p:cNvSpPr>
              <a:spLocks noChangeArrowheads="1"/>
            </p:cNvSpPr>
            <p:nvPr/>
          </p:nvSpPr>
          <p:spPr bwMode="auto">
            <a:xfrm>
              <a:off x="2317" y="4205"/>
              <a:ext cx="683"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王华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24" name="Rectangle 12"/>
            <p:cNvSpPr>
              <a:spLocks noChangeArrowheads="1"/>
            </p:cNvSpPr>
            <p:nvPr/>
          </p:nvSpPr>
          <p:spPr bwMode="auto">
            <a:xfrm>
              <a:off x="3000" y="4205"/>
              <a:ext cx="486"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23" name="Text Box 11"/>
            <p:cNvSpPr txBox="1">
              <a:spLocks noChangeArrowheads="1"/>
            </p:cNvSpPr>
            <p:nvPr/>
          </p:nvSpPr>
          <p:spPr bwMode="auto">
            <a:xfrm>
              <a:off x="4134" y="3613"/>
              <a:ext cx="833" cy="3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data[1]</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22" name="AutoShape 10"/>
            <p:cNvSpPr/>
            <p:nvPr/>
          </p:nvSpPr>
          <p:spPr bwMode="auto">
            <a:xfrm rot="5400000">
              <a:off x="4482" y="3014"/>
              <a:ext cx="124" cy="2027"/>
            </a:xfrm>
            <a:prstGeom prst="leftBrace">
              <a:avLst>
                <a:gd name="adj1" fmla="val 136223"/>
                <a:gd name="adj2" fmla="val 50000"/>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0121" name="Rectangle 9"/>
            <p:cNvSpPr>
              <a:spLocks noChangeArrowheads="1"/>
            </p:cNvSpPr>
            <p:nvPr/>
          </p:nvSpPr>
          <p:spPr bwMode="auto">
            <a:xfrm>
              <a:off x="3510" y="4205"/>
              <a:ext cx="910"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20" name="Rectangle 8"/>
            <p:cNvSpPr>
              <a:spLocks noChangeArrowheads="1"/>
            </p:cNvSpPr>
            <p:nvPr/>
          </p:nvSpPr>
          <p:spPr bwMode="auto">
            <a:xfrm>
              <a:off x="4420" y="4205"/>
              <a:ext cx="683"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刘丽</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19" name="Rectangle 7"/>
            <p:cNvSpPr>
              <a:spLocks noChangeArrowheads="1"/>
            </p:cNvSpPr>
            <p:nvPr/>
          </p:nvSpPr>
          <p:spPr bwMode="auto">
            <a:xfrm>
              <a:off x="5103" y="4205"/>
              <a:ext cx="486"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62</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18" name="Text Box 6"/>
            <p:cNvSpPr txBox="1">
              <a:spLocks noChangeArrowheads="1"/>
            </p:cNvSpPr>
            <p:nvPr/>
          </p:nvSpPr>
          <p:spPr bwMode="auto">
            <a:xfrm>
              <a:off x="6500" y="3603"/>
              <a:ext cx="864" cy="3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data[6]</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17" name="AutoShape 5"/>
            <p:cNvSpPr/>
            <p:nvPr/>
          </p:nvSpPr>
          <p:spPr bwMode="auto">
            <a:xfrm rot="5400000">
              <a:off x="6879" y="3004"/>
              <a:ext cx="124" cy="2027"/>
            </a:xfrm>
            <a:prstGeom prst="leftBrace">
              <a:avLst>
                <a:gd name="adj1" fmla="val 136223"/>
                <a:gd name="adj2" fmla="val 50000"/>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0116" name="Rectangle 4"/>
            <p:cNvSpPr>
              <a:spLocks noChangeArrowheads="1"/>
            </p:cNvSpPr>
            <p:nvPr/>
          </p:nvSpPr>
          <p:spPr bwMode="auto">
            <a:xfrm>
              <a:off x="5907" y="4195"/>
              <a:ext cx="910"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2018005</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15" name="Rectangle 3"/>
            <p:cNvSpPr>
              <a:spLocks noChangeArrowheads="1"/>
            </p:cNvSpPr>
            <p:nvPr/>
          </p:nvSpPr>
          <p:spPr bwMode="auto">
            <a:xfrm>
              <a:off x="6817" y="4195"/>
              <a:ext cx="683"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李英</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114" name="Rectangle 2"/>
            <p:cNvSpPr>
              <a:spLocks noChangeArrowheads="1"/>
            </p:cNvSpPr>
            <p:nvPr/>
          </p:nvSpPr>
          <p:spPr bwMode="auto">
            <a:xfrm>
              <a:off x="7500" y="4195"/>
              <a:ext cx="486"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82</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aphicFrame>
        <p:nvGraphicFramePr>
          <p:cNvPr id="23" name="表格 22"/>
          <p:cNvGraphicFramePr>
            <a:graphicFrameLocks noGrp="1"/>
          </p:cNvGraphicFramePr>
          <p:nvPr/>
        </p:nvGraphicFramePr>
        <p:xfrm>
          <a:off x="2714612" y="428602"/>
          <a:ext cx="3383280" cy="3051460"/>
        </p:xfrm>
        <a:graphic>
          <a:graphicData uri="http://schemas.openxmlformats.org/drawingml/2006/table">
            <a:tbl>
              <a:tblPr/>
              <a:tblGrid>
                <a:gridCol w="1097280"/>
                <a:gridCol w="1257300"/>
                <a:gridCol w="1028700"/>
              </a:tblGrid>
              <a:tr h="428630">
                <a:tc>
                  <a:txBody>
                    <a:bodyPr/>
                    <a:lstStyle/>
                    <a:p>
                      <a:pPr algn="ctr">
                        <a:lnSpc>
                          <a:spcPct val="150000"/>
                        </a:lnSpc>
                        <a:spcAft>
                          <a:spcPts val="0"/>
                        </a:spcAft>
                      </a:pPr>
                      <a:r>
                        <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学号</a:t>
                      </a:r>
                      <a:endPar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姓名</a:t>
                      </a:r>
                      <a:endPar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分数</a:t>
                      </a:r>
                      <a:endPar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37469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4" name="下箭头 23"/>
          <p:cNvSpPr/>
          <p:nvPr/>
        </p:nvSpPr>
        <p:spPr>
          <a:xfrm>
            <a:off x="4357686" y="3643314"/>
            <a:ext cx="285752"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5" name="Text Box 7"/>
          <p:cNvSpPr txBox="1">
            <a:spLocks noChangeArrowheads="1"/>
          </p:cNvSpPr>
          <p:nvPr/>
        </p:nvSpPr>
        <p:spPr bwMode="auto">
          <a:xfrm>
            <a:off x="4643438" y="3702610"/>
            <a:ext cx="813278" cy="369332"/>
          </a:xfrm>
          <a:prstGeom prst="rect">
            <a:avLst/>
          </a:prstGeom>
          <a:noFill/>
          <a:ln w="9525">
            <a:noFill/>
            <a:miter lim="800000"/>
          </a:ln>
          <a:effectLst/>
        </p:spPr>
        <p:txBody>
          <a:bodyPr>
            <a:spAutoFit/>
          </a:bodyPr>
          <a:lstStyle/>
          <a:p>
            <a:pPr algn="l">
              <a:lnSpc>
                <a:spcPct val="100000"/>
              </a:lnSpc>
            </a:pPr>
            <a:r>
              <a:rPr kumimoji="0" lang="zh-CN" altLang="en-US" sz="1800" dirty="0">
                <a:solidFill>
                  <a:srgbClr val="C00000"/>
                </a:solidFill>
                <a:latin typeface="微软雅黑" panose="020B0503020204020204" pitchFamily="34" charset="-122"/>
                <a:ea typeface="微软雅黑" panose="020B0503020204020204" pitchFamily="34" charset="-122"/>
              </a:rPr>
              <a:t>映射</a:t>
            </a:r>
            <a:endParaRPr kumimoji="0" lang="zh-CN" altLang="en-US" sz="1800" dirty="0">
              <a:solidFill>
                <a:srgbClr val="C00000"/>
              </a:solidFill>
              <a:latin typeface="微软雅黑" panose="020B0503020204020204" pitchFamily="34" charset="-122"/>
              <a:ea typeface="微软雅黑" panose="020B0503020204020204" pitchFamily="34" charset="-122"/>
            </a:endParaRPr>
          </a:p>
        </p:txBody>
      </p:sp>
      <p:sp>
        <p:nvSpPr>
          <p:cNvPr id="32" name="灯片编号占位符 3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714348" y="357166"/>
            <a:ext cx="7286676" cy="1714512"/>
          </a:xfrm>
          <a:prstGeom prst="rect">
            <a:avLst/>
          </a:prstGeom>
          <a:solidFill>
            <a:schemeClr val="bg1">
              <a:lumMod val="9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5" name="Group 1"/>
          <p:cNvGrpSpPr>
            <a:grpSpLocks noChangeAspect="1"/>
          </p:cNvGrpSpPr>
          <p:nvPr/>
        </p:nvGrpSpPr>
        <p:grpSpPr bwMode="auto">
          <a:xfrm>
            <a:off x="1071538" y="642918"/>
            <a:ext cx="6372822" cy="1000132"/>
            <a:chOff x="1399" y="3603"/>
            <a:chExt cx="6595" cy="1035"/>
          </a:xfrm>
        </p:grpSpPr>
        <p:sp>
          <p:nvSpPr>
            <p:cNvPr id="26" name="AutoShape 18"/>
            <p:cNvSpPr>
              <a:spLocks noChangeAspect="1" noChangeArrowheads="1" noTextEdit="1"/>
            </p:cNvSpPr>
            <p:nvPr/>
          </p:nvSpPr>
          <p:spPr bwMode="auto">
            <a:xfrm>
              <a:off x="1399" y="3603"/>
              <a:ext cx="6595" cy="1035"/>
            </a:xfrm>
            <a:prstGeom prst="rect">
              <a:avLst/>
            </a:prstGeom>
            <a:noFill/>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 Box 17"/>
            <p:cNvSpPr txBox="1">
              <a:spLocks noChangeArrowheads="1"/>
            </p:cNvSpPr>
            <p:nvPr/>
          </p:nvSpPr>
          <p:spPr bwMode="auto">
            <a:xfrm>
              <a:off x="5644" y="4225"/>
              <a:ext cx="307" cy="313"/>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smtClean="0">
                  <a:ln>
                    <a:noFill/>
                  </a:ln>
                  <a:solidFill>
                    <a:srgbClr val="0000FF"/>
                  </a:solidFill>
                  <a:effectLst/>
                  <a:latin typeface="+mn-ea"/>
                  <a:ea typeface="+mn-ea"/>
                  <a:cs typeface="Consolas" panose="020B0609020204030204" pitchFamily="49" charset="0"/>
                </a:rPr>
                <a:t>…</a:t>
              </a:r>
              <a:endParaRPr kumimoji="0" lang="zh-CN" altLang="zh-CN" sz="1600" i="0" u="none" strike="noStrike" cap="none" normalizeH="0" baseline="0" smtClean="0">
                <a:ln>
                  <a:noFill/>
                </a:ln>
                <a:solidFill>
                  <a:srgbClr val="0000FF"/>
                </a:solidFill>
                <a:effectLst/>
                <a:latin typeface="+mn-ea"/>
                <a:ea typeface="+mn-ea"/>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mn-ea"/>
                <a:ea typeface="+mn-ea"/>
                <a:cs typeface="Consolas" panose="020B0609020204030204" pitchFamily="49" charset="0"/>
              </a:endParaRPr>
            </a:p>
          </p:txBody>
        </p:sp>
        <p:sp>
          <p:nvSpPr>
            <p:cNvPr id="28" name="Text Box 16"/>
            <p:cNvSpPr txBox="1">
              <a:spLocks noChangeArrowheads="1"/>
            </p:cNvSpPr>
            <p:nvPr/>
          </p:nvSpPr>
          <p:spPr bwMode="auto">
            <a:xfrm>
              <a:off x="2028" y="3613"/>
              <a:ext cx="775" cy="3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data[0]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AutoShape 15"/>
            <p:cNvSpPr/>
            <p:nvPr/>
          </p:nvSpPr>
          <p:spPr bwMode="auto">
            <a:xfrm rot="5400000">
              <a:off x="2379" y="3014"/>
              <a:ext cx="124" cy="2027"/>
            </a:xfrm>
            <a:prstGeom prst="leftBrace">
              <a:avLst>
                <a:gd name="adj1" fmla="val 136223"/>
                <a:gd name="adj2" fmla="val 50000"/>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Rectangle 14"/>
            <p:cNvSpPr>
              <a:spLocks noChangeArrowheads="1"/>
            </p:cNvSpPr>
            <p:nvPr/>
          </p:nvSpPr>
          <p:spPr bwMode="auto">
            <a:xfrm>
              <a:off x="1407" y="4205"/>
              <a:ext cx="910"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2018001</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 name="Rectangle 13"/>
            <p:cNvSpPr>
              <a:spLocks noChangeArrowheads="1"/>
            </p:cNvSpPr>
            <p:nvPr/>
          </p:nvSpPr>
          <p:spPr bwMode="auto">
            <a:xfrm>
              <a:off x="2317" y="4205"/>
              <a:ext cx="683"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王华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2" name="Rectangle 12"/>
            <p:cNvSpPr>
              <a:spLocks noChangeArrowheads="1"/>
            </p:cNvSpPr>
            <p:nvPr/>
          </p:nvSpPr>
          <p:spPr bwMode="auto">
            <a:xfrm>
              <a:off x="3000" y="4205"/>
              <a:ext cx="486"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 name="Text Box 11"/>
            <p:cNvSpPr txBox="1">
              <a:spLocks noChangeArrowheads="1"/>
            </p:cNvSpPr>
            <p:nvPr/>
          </p:nvSpPr>
          <p:spPr bwMode="auto">
            <a:xfrm>
              <a:off x="4134" y="3613"/>
              <a:ext cx="833" cy="3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data[1]</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AutoShape 10"/>
            <p:cNvSpPr/>
            <p:nvPr/>
          </p:nvSpPr>
          <p:spPr bwMode="auto">
            <a:xfrm rot="5400000">
              <a:off x="4482" y="3014"/>
              <a:ext cx="124" cy="2027"/>
            </a:xfrm>
            <a:prstGeom prst="leftBrace">
              <a:avLst>
                <a:gd name="adj1" fmla="val 136223"/>
                <a:gd name="adj2" fmla="val 50000"/>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Rectangle 9"/>
            <p:cNvSpPr>
              <a:spLocks noChangeArrowheads="1"/>
            </p:cNvSpPr>
            <p:nvPr/>
          </p:nvSpPr>
          <p:spPr bwMode="auto">
            <a:xfrm>
              <a:off x="3510" y="4205"/>
              <a:ext cx="910"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Rectangle 8"/>
            <p:cNvSpPr>
              <a:spLocks noChangeArrowheads="1"/>
            </p:cNvSpPr>
            <p:nvPr/>
          </p:nvSpPr>
          <p:spPr bwMode="auto">
            <a:xfrm>
              <a:off x="4420" y="4205"/>
              <a:ext cx="683"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刘丽</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Rectangle 7"/>
            <p:cNvSpPr>
              <a:spLocks noChangeArrowheads="1"/>
            </p:cNvSpPr>
            <p:nvPr/>
          </p:nvSpPr>
          <p:spPr bwMode="auto">
            <a:xfrm>
              <a:off x="5103" y="4205"/>
              <a:ext cx="486"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62</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Text Box 6"/>
            <p:cNvSpPr txBox="1">
              <a:spLocks noChangeArrowheads="1"/>
            </p:cNvSpPr>
            <p:nvPr/>
          </p:nvSpPr>
          <p:spPr bwMode="auto">
            <a:xfrm>
              <a:off x="6500" y="3603"/>
              <a:ext cx="864" cy="3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data[6]</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AutoShape 5"/>
            <p:cNvSpPr/>
            <p:nvPr/>
          </p:nvSpPr>
          <p:spPr bwMode="auto">
            <a:xfrm rot="5400000">
              <a:off x="6879" y="3004"/>
              <a:ext cx="124" cy="2027"/>
            </a:xfrm>
            <a:prstGeom prst="leftBrace">
              <a:avLst>
                <a:gd name="adj1" fmla="val 136223"/>
                <a:gd name="adj2" fmla="val 50000"/>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Rectangle 4"/>
            <p:cNvSpPr>
              <a:spLocks noChangeArrowheads="1"/>
            </p:cNvSpPr>
            <p:nvPr/>
          </p:nvSpPr>
          <p:spPr bwMode="auto">
            <a:xfrm>
              <a:off x="5907" y="4195"/>
              <a:ext cx="910"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2018005</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Rectangle 3"/>
            <p:cNvSpPr>
              <a:spLocks noChangeArrowheads="1"/>
            </p:cNvSpPr>
            <p:nvPr/>
          </p:nvSpPr>
          <p:spPr bwMode="auto">
            <a:xfrm>
              <a:off x="6817" y="4195"/>
              <a:ext cx="683"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李英</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Rectangle 2"/>
            <p:cNvSpPr>
              <a:spLocks noChangeArrowheads="1"/>
            </p:cNvSpPr>
            <p:nvPr/>
          </p:nvSpPr>
          <p:spPr bwMode="auto">
            <a:xfrm>
              <a:off x="7500" y="4195"/>
              <a:ext cx="486" cy="425"/>
            </a:xfrm>
            <a:prstGeom prst="rect">
              <a:avLst/>
            </a:prstGeom>
            <a:solidFill>
              <a:srgbClr val="FFFFFF"/>
            </a:solidFill>
            <a:ln w="9525">
              <a:solidFill>
                <a:srgbClr val="000000"/>
              </a:solidFill>
              <a:miter lim="800000"/>
              <a:tailEnd type="none" w="sm" len="sm"/>
            </a:ln>
          </p:spPr>
          <p:txBody>
            <a:bodyPr vert="horz" wrap="square" lIns="0" tIns="45720" rIns="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82</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45" name="组合 44"/>
          <p:cNvGrpSpPr/>
          <p:nvPr/>
        </p:nvGrpSpPr>
        <p:grpSpPr>
          <a:xfrm>
            <a:off x="857224" y="2500306"/>
            <a:ext cx="7572428" cy="2400374"/>
            <a:chOff x="857224" y="2500306"/>
            <a:chExt cx="7572428" cy="2400374"/>
          </a:xfrm>
        </p:grpSpPr>
        <p:sp>
          <p:nvSpPr>
            <p:cNvPr id="4" name="TextBox 3"/>
            <p:cNvSpPr txBox="1"/>
            <p:nvPr/>
          </p:nvSpPr>
          <p:spPr>
            <a:xfrm>
              <a:off x="928662" y="2962817"/>
              <a:ext cx="7500990" cy="13234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1"/>
                </a:buBlip>
              </a:pPr>
              <a:r>
                <a:rPr lang="zh-CN" altLang="zh-CN"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所有元素存放在一片地址连续的存储单元中</a:t>
              </a:r>
              <a:r>
                <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a:t>
              </a:r>
              <a:endParaRPr lang="en-US" altLang="zh-CN" sz="2000" smtClean="0">
                <a:solidFill>
                  <a:srgbClr val="0000FF"/>
                </a:solidFill>
                <a:latin typeface="仿宋" panose="02010609060101010101" pitchFamily="49" charset="-122"/>
                <a:ea typeface="仿宋" panose="02010609060101010101" pitchFamily="49" charset="-122"/>
                <a:cs typeface="Consolas" panose="020B0609020204030204" pitchFamily="49" charset="0"/>
              </a:endParaRPr>
            </a:p>
            <a:p>
              <a:pPr marL="457200" indent="-457200" algn="l">
                <a:lnSpc>
                  <a:spcPts val="3000"/>
                </a:lnSpc>
                <a:spcBef>
                  <a:spcPts val="600"/>
                </a:spcBef>
                <a:buBlip>
                  <a:blip r:embed="rId1"/>
                </a:buBlip>
              </a:pPr>
              <a:r>
                <a:rPr lang="zh-CN" altLang="zh-CN"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逻辑上相邻的元素在物理位置上也是相邻的，所以不需要额外空间表示元素之间的逻辑关系。</a:t>
              </a:r>
              <a:endParaRPr lang="en-US" altLang="zh-CN" sz="2000" smtClean="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23" name="TextBox 22"/>
            <p:cNvSpPr txBox="1"/>
            <p:nvPr/>
          </p:nvSpPr>
          <p:spPr>
            <a:xfrm>
              <a:off x="857224" y="2500306"/>
              <a:ext cx="285752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楷体" panose="02010609060101010101" pitchFamily="49" charset="-122"/>
                  <a:ea typeface="楷体" panose="02010609060101010101" pitchFamily="49" charset="-122"/>
                  <a:cs typeface="Consolas" panose="020B0609020204030204" pitchFamily="49" charset="0"/>
                </a:rPr>
                <a:t>该存储结构的</a:t>
              </a:r>
              <a:r>
                <a:rPr lang="zh-CN" altLang="zh-CN" sz="2000" smtClean="0">
                  <a:solidFill>
                    <a:srgbClr val="FF0000"/>
                  </a:solidFill>
                  <a:latin typeface="楷体" panose="02010609060101010101" pitchFamily="49" charset="-122"/>
                  <a:ea typeface="楷体" panose="02010609060101010101" pitchFamily="49" charset="-122"/>
                  <a:cs typeface="Consolas" panose="020B0609020204030204" pitchFamily="49" charset="0"/>
                </a:rPr>
                <a:t>特性</a:t>
              </a:r>
              <a:r>
                <a:rPr lang="zh-CN" altLang="en-US" sz="2000" smtClean="0">
                  <a:solidFill>
                    <a:srgbClr val="0000FF"/>
                  </a:solidFill>
                  <a:latin typeface="楷体" panose="02010609060101010101" pitchFamily="49" charset="-122"/>
                  <a:ea typeface="楷体" panose="02010609060101010101" pitchFamily="49" charset="-122"/>
                  <a:cs typeface="Consolas" panose="020B0609020204030204" pitchFamily="49" charset="0"/>
                </a:rPr>
                <a:t>：</a:t>
              </a:r>
              <a:endParaRPr lang="en-US" altLang="zh-CN" sz="2000" smtClean="0">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sp>
          <p:nvSpPr>
            <p:cNvPr id="43" name="TextBox 42"/>
            <p:cNvSpPr txBox="1"/>
            <p:nvPr/>
          </p:nvSpPr>
          <p:spPr>
            <a:xfrm>
              <a:off x="3000364" y="4500570"/>
              <a:ext cx="257176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称为</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顺序存储结构</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2" name="灯片编号占位符 5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71472" y="500042"/>
            <a:ext cx="8001056" cy="810478"/>
          </a:xfrm>
          <a:prstGeom prst="rect">
            <a:avLst/>
          </a:prstGeom>
          <a:noFill/>
        </p:spPr>
        <p:txBody>
          <a:bodyPr wrap="square" rtlCol="0">
            <a:spAutoFit/>
          </a:bodyPr>
          <a:lstStyle/>
          <a:p>
            <a:pPr algn="l">
              <a:lnSpc>
                <a:spcPts val="28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存储结构</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2</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用</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语言中的单链表来存储高等数学成绩表，设计其结点类型</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Stud2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如下：</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428596" y="1500174"/>
            <a:ext cx="8215370" cy="4371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Stud2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学生单链表结点类型</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no;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存放学号</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string name;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存放姓名</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score;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存放分数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Stud2* next;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存放下一个结点指针</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Stud2(int no1,string name1,int score1)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重载构造函数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no=no;</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name=name1;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score=score1;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next=NULL;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272055"/>
            <a:ext cx="8143932"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建立一个用于存放高等数学成绩表的单链表（开始结点为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head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42844" y="1000108"/>
            <a:ext cx="7286676" cy="508699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Create()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创建高数成绩单链表</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Stud2* p2,*p3,*p4,*p5,*p6,*p7;</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head=new Stud2(2018001,"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王华</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",90);</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单链表首结点</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p2=new Stud2(2018010,"</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刘丽</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",62);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建立其他结点 </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p3=new Stud2(2018006,"</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陈明</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p4=new Stud2(2018009,"</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张强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p5=new Stud2(2018007,"</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许兵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p6=new Stud2(2018012,"</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李萍</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p7=new Stud2(2018005,"</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李英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head-&gt;next=p2;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建立结点之间的关系</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p2-&gt;next=p3;</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p3-&gt;next=p4;</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p4-&gt;next=p5;</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p5-&gt;next=p6;</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p6-&gt;next=p7;</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p7-&gt;next=NULL;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尾结点的</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next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置为空</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7715272" y="928670"/>
            <a:ext cx="415498" cy="2428892"/>
          </a:xfrm>
          <a:prstGeom prst="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vert="eaVert" wrap="square" rtlCol="0">
            <a:spAutoFit/>
          </a:bodyPr>
          <a:lstStyle/>
          <a:p>
            <a:pPr>
              <a:lnSpc>
                <a:spcPts val="1800"/>
              </a:lnSpc>
              <a:spcBef>
                <a:spcPts val="0"/>
              </a:spcBef>
            </a:pPr>
            <a:r>
              <a:rPr lang="zh-CN" altLang="en-US" sz="2000" b="0" smtClean="0">
                <a:ln w="18415" cmpd="sng">
                  <a:solidFill>
                    <a:srgbClr val="FFFFFF"/>
                  </a:solidFill>
                  <a:prstDash val="solid"/>
                </a:ln>
                <a:solidFill>
                  <a:srgbClr val="FF0000"/>
                </a:solidFill>
                <a:effectLst>
                  <a:outerShdw blurRad="63500" dir="3600000" algn="tl" rotWithShape="0">
                    <a:srgbClr val="000000">
                      <a:alpha val="70000"/>
                    </a:srgbClr>
                  </a:outerShdw>
                </a:effectLst>
                <a:latin typeface="仿宋" panose="02010609060101010101" pitchFamily="49" charset="-122"/>
                <a:ea typeface="仿宋" panose="02010609060101010101" pitchFamily="49" charset="-122"/>
              </a:rPr>
              <a:t>建立每个元素的结点</a:t>
            </a:r>
            <a:endParaRPr lang="zh-CN" altLang="en-US" sz="2000" b="0" smtClean="0">
              <a:ln w="18415" cmpd="sng">
                <a:solidFill>
                  <a:srgbClr val="FFFFFF"/>
                </a:solidFill>
                <a:prstDash val="solid"/>
              </a:ln>
              <a:solidFill>
                <a:srgbClr val="FF0000"/>
              </a:solidFill>
              <a:effectLst>
                <a:outerShdw blurRad="63500" dir="3600000" algn="tl" rotWithShape="0">
                  <a:srgbClr val="000000">
                    <a:alpha val="70000"/>
                  </a:srgbClr>
                </a:outerShdw>
              </a:effectLst>
              <a:latin typeface="仿宋" panose="02010609060101010101" pitchFamily="49" charset="-122"/>
              <a:ea typeface="仿宋" panose="02010609060101010101" pitchFamily="49" charset="-122"/>
            </a:endParaRPr>
          </a:p>
        </p:txBody>
      </p:sp>
      <p:sp>
        <p:nvSpPr>
          <p:cNvPr id="9" name="TextBox 8"/>
          <p:cNvSpPr txBox="1"/>
          <p:nvPr/>
        </p:nvSpPr>
        <p:spPr>
          <a:xfrm>
            <a:off x="7605811" y="3500438"/>
            <a:ext cx="800219" cy="2714644"/>
          </a:xfrm>
          <a:prstGeom prst="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vert="eaVert" wrap="square" rtlCol="0">
            <a:spAutoFit/>
          </a:bodyPr>
          <a:lstStyle/>
          <a:p>
            <a:pPr algn="l">
              <a:lnSpc>
                <a:spcPts val="2400"/>
              </a:lnSpc>
              <a:spcBef>
                <a:spcPts val="0"/>
              </a:spcBef>
            </a:pPr>
            <a:r>
              <a:rPr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仿宋" panose="02010609060101010101" pitchFamily="49" charset="-122"/>
                <a:ea typeface="仿宋" panose="02010609060101010101" pitchFamily="49" charset="-122"/>
              </a:rPr>
              <a:t>建立结点之间关系以表示对应元素的逻辑关系</a:t>
            </a:r>
            <a:endParaRPr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仿宋" panose="02010609060101010101" pitchFamily="49" charset="-122"/>
              <a:ea typeface="仿宋" panose="02010609060101010101" pitchFamily="49" charset="-122"/>
            </a:endParaRPr>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p:cNvSpPr/>
          <p:nvPr/>
        </p:nvSpPr>
        <p:spPr>
          <a:xfrm>
            <a:off x="2071670" y="71414"/>
            <a:ext cx="4357718" cy="4429156"/>
          </a:xfrm>
          <a:prstGeom prst="rect">
            <a:avLst/>
          </a:prstGeom>
          <a:solidFill>
            <a:schemeClr val="bg1">
              <a:lumMod val="9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1977"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81921" name="Group 1"/>
          <p:cNvGrpSpPr>
            <a:grpSpLocks noChangeAspect="1"/>
          </p:cNvGrpSpPr>
          <p:nvPr/>
        </p:nvGrpSpPr>
        <p:grpSpPr bwMode="auto">
          <a:xfrm>
            <a:off x="2214546" y="211923"/>
            <a:ext cx="4071966" cy="4145771"/>
            <a:chOff x="2906" y="5720"/>
            <a:chExt cx="3999" cy="4072"/>
          </a:xfrm>
        </p:grpSpPr>
        <p:sp>
          <p:nvSpPr>
            <p:cNvPr id="81976" name="AutoShape 56"/>
            <p:cNvSpPr>
              <a:spLocks noChangeAspect="1" noChangeArrowheads="1" noTextEdit="1"/>
            </p:cNvSpPr>
            <p:nvPr/>
          </p:nvSpPr>
          <p:spPr bwMode="auto">
            <a:xfrm>
              <a:off x="2906" y="5720"/>
              <a:ext cx="3999" cy="4072"/>
            </a:xfrm>
            <a:prstGeom prst="rect">
              <a:avLst/>
            </a:prstGeom>
            <a:noFill/>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75" name="Rectangle 55"/>
            <p:cNvSpPr>
              <a:spLocks noChangeArrowheads="1"/>
            </p:cNvSpPr>
            <p:nvPr/>
          </p:nvSpPr>
          <p:spPr bwMode="auto">
            <a:xfrm>
              <a:off x="3023" y="5755"/>
              <a:ext cx="514" cy="312"/>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head</a:t>
              </a:r>
              <a:endParaRPr kumimoji="0" lang="en-US" altLang="zh-CN" sz="16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en-US" altLang="zh-CN" sz="16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74" name="Rectangle 54"/>
            <p:cNvSpPr>
              <a:spLocks noChangeArrowheads="1"/>
            </p:cNvSpPr>
            <p:nvPr/>
          </p:nvSpPr>
          <p:spPr bwMode="auto">
            <a:xfrm>
              <a:off x="3851" y="5728"/>
              <a:ext cx="1039"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2018001</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73" name="Rectangle 53"/>
            <p:cNvSpPr>
              <a:spLocks noChangeArrowheads="1"/>
            </p:cNvSpPr>
            <p:nvPr/>
          </p:nvSpPr>
          <p:spPr bwMode="auto">
            <a:xfrm>
              <a:off x="4887" y="5728"/>
              <a:ext cx="765"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王华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72" name="Rectangle 52"/>
            <p:cNvSpPr>
              <a:spLocks noChangeArrowheads="1"/>
            </p:cNvSpPr>
            <p:nvPr/>
          </p:nvSpPr>
          <p:spPr bwMode="auto">
            <a:xfrm>
              <a:off x="5607" y="5728"/>
              <a:ext cx="723"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71" name="Rectangle 51"/>
            <p:cNvSpPr>
              <a:spLocks noChangeArrowheads="1"/>
            </p:cNvSpPr>
            <p:nvPr/>
          </p:nvSpPr>
          <p:spPr bwMode="auto">
            <a:xfrm>
              <a:off x="6330" y="5728"/>
              <a:ext cx="567"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70" name="Rectangle 50"/>
            <p:cNvSpPr>
              <a:spLocks noChangeArrowheads="1"/>
            </p:cNvSpPr>
            <p:nvPr/>
          </p:nvSpPr>
          <p:spPr bwMode="auto">
            <a:xfrm>
              <a:off x="3851" y="6351"/>
              <a:ext cx="1039" cy="313"/>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69" name="Rectangle 49"/>
            <p:cNvSpPr>
              <a:spLocks noChangeArrowheads="1"/>
            </p:cNvSpPr>
            <p:nvPr/>
          </p:nvSpPr>
          <p:spPr bwMode="auto">
            <a:xfrm>
              <a:off x="4887" y="6351"/>
              <a:ext cx="765" cy="313"/>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刘丽</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68" name="Rectangle 48"/>
            <p:cNvSpPr>
              <a:spLocks noChangeArrowheads="1"/>
            </p:cNvSpPr>
            <p:nvPr/>
          </p:nvSpPr>
          <p:spPr bwMode="auto">
            <a:xfrm>
              <a:off x="5607" y="6351"/>
              <a:ext cx="723" cy="313"/>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62</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67" name="Rectangle 47"/>
            <p:cNvSpPr>
              <a:spLocks noChangeArrowheads="1"/>
            </p:cNvSpPr>
            <p:nvPr/>
          </p:nvSpPr>
          <p:spPr bwMode="auto">
            <a:xfrm>
              <a:off x="6330" y="6351"/>
              <a:ext cx="567" cy="313"/>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66" name="Line 46"/>
            <p:cNvSpPr>
              <a:spLocks noChangeShapeType="1"/>
            </p:cNvSpPr>
            <p:nvPr/>
          </p:nvSpPr>
          <p:spPr bwMode="auto">
            <a:xfrm>
              <a:off x="6625" y="5884"/>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65" name="Line 45"/>
            <p:cNvSpPr>
              <a:spLocks noChangeShapeType="1"/>
            </p:cNvSpPr>
            <p:nvPr/>
          </p:nvSpPr>
          <p:spPr bwMode="auto">
            <a:xfrm flipH="1">
              <a:off x="3668" y="6196"/>
              <a:ext cx="2948" cy="0"/>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64" name="Line 44"/>
            <p:cNvSpPr>
              <a:spLocks noChangeShapeType="1"/>
            </p:cNvSpPr>
            <p:nvPr/>
          </p:nvSpPr>
          <p:spPr bwMode="auto">
            <a:xfrm>
              <a:off x="3670" y="6196"/>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63" name="Line 43"/>
            <p:cNvSpPr>
              <a:spLocks noChangeShapeType="1"/>
            </p:cNvSpPr>
            <p:nvPr/>
          </p:nvSpPr>
          <p:spPr bwMode="auto">
            <a:xfrm>
              <a:off x="3668" y="6508"/>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62" name="Line 42"/>
            <p:cNvSpPr>
              <a:spLocks noChangeShapeType="1"/>
            </p:cNvSpPr>
            <p:nvPr/>
          </p:nvSpPr>
          <p:spPr bwMode="auto">
            <a:xfrm>
              <a:off x="3488" y="5884"/>
              <a:ext cx="351" cy="2"/>
            </a:xfrm>
            <a:prstGeom prst="line">
              <a:avLst/>
            </a:prstGeom>
            <a:ln>
              <a:tailEnd type="arrow" w="sm"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61" name="Rectangle 41"/>
            <p:cNvSpPr>
              <a:spLocks noChangeArrowheads="1"/>
            </p:cNvSpPr>
            <p:nvPr/>
          </p:nvSpPr>
          <p:spPr bwMode="auto">
            <a:xfrm>
              <a:off x="3851" y="6976"/>
              <a:ext cx="1039"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2018006</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60" name="Rectangle 40"/>
            <p:cNvSpPr>
              <a:spLocks noChangeArrowheads="1"/>
            </p:cNvSpPr>
            <p:nvPr/>
          </p:nvSpPr>
          <p:spPr bwMode="auto">
            <a:xfrm>
              <a:off x="4887" y="6976"/>
              <a:ext cx="765"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陈明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59" name="Rectangle 39"/>
            <p:cNvSpPr>
              <a:spLocks noChangeArrowheads="1"/>
            </p:cNvSpPr>
            <p:nvPr/>
          </p:nvSpPr>
          <p:spPr bwMode="auto">
            <a:xfrm>
              <a:off x="5607" y="6976"/>
              <a:ext cx="723"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54</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58" name="Rectangle 38"/>
            <p:cNvSpPr>
              <a:spLocks noChangeArrowheads="1"/>
            </p:cNvSpPr>
            <p:nvPr/>
          </p:nvSpPr>
          <p:spPr bwMode="auto">
            <a:xfrm>
              <a:off x="6330" y="6976"/>
              <a:ext cx="567"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57" name="Line 37"/>
            <p:cNvSpPr>
              <a:spLocks noChangeShapeType="1"/>
            </p:cNvSpPr>
            <p:nvPr/>
          </p:nvSpPr>
          <p:spPr bwMode="auto">
            <a:xfrm flipH="1">
              <a:off x="3668" y="6820"/>
              <a:ext cx="2948" cy="0"/>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56" name="Line 36"/>
            <p:cNvSpPr>
              <a:spLocks noChangeShapeType="1"/>
            </p:cNvSpPr>
            <p:nvPr/>
          </p:nvSpPr>
          <p:spPr bwMode="auto">
            <a:xfrm>
              <a:off x="3670" y="6820"/>
              <a:ext cx="0" cy="313"/>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55" name="Line 35"/>
            <p:cNvSpPr>
              <a:spLocks noChangeShapeType="1"/>
            </p:cNvSpPr>
            <p:nvPr/>
          </p:nvSpPr>
          <p:spPr bwMode="auto">
            <a:xfrm>
              <a:off x="3668" y="7133"/>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54" name="Rectangle 34"/>
            <p:cNvSpPr>
              <a:spLocks noChangeArrowheads="1"/>
            </p:cNvSpPr>
            <p:nvPr/>
          </p:nvSpPr>
          <p:spPr bwMode="auto">
            <a:xfrm>
              <a:off x="3851" y="7600"/>
              <a:ext cx="1039"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2018009</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53" name="Rectangle 33"/>
            <p:cNvSpPr>
              <a:spLocks noChangeArrowheads="1"/>
            </p:cNvSpPr>
            <p:nvPr/>
          </p:nvSpPr>
          <p:spPr bwMode="auto">
            <a:xfrm>
              <a:off x="4887" y="7600"/>
              <a:ext cx="765"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张强</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52" name="Rectangle 32"/>
            <p:cNvSpPr>
              <a:spLocks noChangeArrowheads="1"/>
            </p:cNvSpPr>
            <p:nvPr/>
          </p:nvSpPr>
          <p:spPr bwMode="auto">
            <a:xfrm>
              <a:off x="5607" y="7600"/>
              <a:ext cx="723"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95</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51" name="Rectangle 31"/>
            <p:cNvSpPr>
              <a:spLocks noChangeArrowheads="1"/>
            </p:cNvSpPr>
            <p:nvPr/>
          </p:nvSpPr>
          <p:spPr bwMode="auto">
            <a:xfrm>
              <a:off x="6330" y="7600"/>
              <a:ext cx="567"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50" name="Line 30"/>
            <p:cNvSpPr>
              <a:spLocks noChangeShapeType="1"/>
            </p:cNvSpPr>
            <p:nvPr/>
          </p:nvSpPr>
          <p:spPr bwMode="auto">
            <a:xfrm flipH="1">
              <a:off x="3668" y="7444"/>
              <a:ext cx="2948" cy="0"/>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49" name="Line 29"/>
            <p:cNvSpPr>
              <a:spLocks noChangeShapeType="1"/>
            </p:cNvSpPr>
            <p:nvPr/>
          </p:nvSpPr>
          <p:spPr bwMode="auto">
            <a:xfrm>
              <a:off x="3670" y="7444"/>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48" name="Line 28"/>
            <p:cNvSpPr>
              <a:spLocks noChangeShapeType="1"/>
            </p:cNvSpPr>
            <p:nvPr/>
          </p:nvSpPr>
          <p:spPr bwMode="auto">
            <a:xfrm>
              <a:off x="3668" y="7756"/>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47" name="Rectangle 27"/>
            <p:cNvSpPr>
              <a:spLocks noChangeArrowheads="1"/>
            </p:cNvSpPr>
            <p:nvPr/>
          </p:nvSpPr>
          <p:spPr bwMode="auto">
            <a:xfrm>
              <a:off x="3851" y="8224"/>
              <a:ext cx="1039"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2018007</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46" name="Rectangle 26"/>
            <p:cNvSpPr>
              <a:spLocks noChangeArrowheads="1"/>
            </p:cNvSpPr>
            <p:nvPr/>
          </p:nvSpPr>
          <p:spPr bwMode="auto">
            <a:xfrm>
              <a:off x="4887" y="8224"/>
              <a:ext cx="765"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许兵</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45" name="Rectangle 25"/>
            <p:cNvSpPr>
              <a:spLocks noChangeArrowheads="1"/>
            </p:cNvSpPr>
            <p:nvPr/>
          </p:nvSpPr>
          <p:spPr bwMode="auto">
            <a:xfrm>
              <a:off x="5607" y="8224"/>
              <a:ext cx="723"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76</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44" name="Rectangle 24"/>
            <p:cNvSpPr>
              <a:spLocks noChangeArrowheads="1"/>
            </p:cNvSpPr>
            <p:nvPr/>
          </p:nvSpPr>
          <p:spPr bwMode="auto">
            <a:xfrm>
              <a:off x="6330" y="8224"/>
              <a:ext cx="567"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43" name="Line 23"/>
            <p:cNvSpPr>
              <a:spLocks noChangeShapeType="1"/>
            </p:cNvSpPr>
            <p:nvPr/>
          </p:nvSpPr>
          <p:spPr bwMode="auto">
            <a:xfrm flipH="1">
              <a:off x="3668" y="8068"/>
              <a:ext cx="2948" cy="0"/>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42" name="Line 22"/>
            <p:cNvSpPr>
              <a:spLocks noChangeShapeType="1"/>
            </p:cNvSpPr>
            <p:nvPr/>
          </p:nvSpPr>
          <p:spPr bwMode="auto">
            <a:xfrm>
              <a:off x="3670" y="8068"/>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41" name="Line 21"/>
            <p:cNvSpPr>
              <a:spLocks noChangeShapeType="1"/>
            </p:cNvSpPr>
            <p:nvPr/>
          </p:nvSpPr>
          <p:spPr bwMode="auto">
            <a:xfrm>
              <a:off x="3668" y="8380"/>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40" name="Rectangle 20"/>
            <p:cNvSpPr>
              <a:spLocks noChangeArrowheads="1"/>
            </p:cNvSpPr>
            <p:nvPr/>
          </p:nvSpPr>
          <p:spPr bwMode="auto">
            <a:xfrm>
              <a:off x="3851" y="8848"/>
              <a:ext cx="1039" cy="311"/>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2018012</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39" name="Rectangle 19"/>
            <p:cNvSpPr>
              <a:spLocks noChangeArrowheads="1"/>
            </p:cNvSpPr>
            <p:nvPr/>
          </p:nvSpPr>
          <p:spPr bwMode="auto">
            <a:xfrm>
              <a:off x="4887" y="8848"/>
              <a:ext cx="765" cy="311"/>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李萍</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38" name="Rectangle 18"/>
            <p:cNvSpPr>
              <a:spLocks noChangeArrowheads="1"/>
            </p:cNvSpPr>
            <p:nvPr/>
          </p:nvSpPr>
          <p:spPr bwMode="auto">
            <a:xfrm>
              <a:off x="5607" y="8848"/>
              <a:ext cx="723" cy="311"/>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88</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37" name="Rectangle 17"/>
            <p:cNvSpPr>
              <a:spLocks noChangeArrowheads="1"/>
            </p:cNvSpPr>
            <p:nvPr/>
          </p:nvSpPr>
          <p:spPr bwMode="auto">
            <a:xfrm>
              <a:off x="6330" y="8848"/>
              <a:ext cx="567" cy="311"/>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36" name="Line 16"/>
            <p:cNvSpPr>
              <a:spLocks noChangeShapeType="1"/>
            </p:cNvSpPr>
            <p:nvPr/>
          </p:nvSpPr>
          <p:spPr bwMode="auto">
            <a:xfrm flipH="1">
              <a:off x="3668" y="8692"/>
              <a:ext cx="2948" cy="0"/>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35" name="Line 15"/>
            <p:cNvSpPr>
              <a:spLocks noChangeShapeType="1"/>
            </p:cNvSpPr>
            <p:nvPr/>
          </p:nvSpPr>
          <p:spPr bwMode="auto">
            <a:xfrm>
              <a:off x="3670" y="8692"/>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34" name="Line 14"/>
            <p:cNvSpPr>
              <a:spLocks noChangeShapeType="1"/>
            </p:cNvSpPr>
            <p:nvPr/>
          </p:nvSpPr>
          <p:spPr bwMode="auto">
            <a:xfrm>
              <a:off x="3668" y="9004"/>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33" name="Rectangle 13"/>
            <p:cNvSpPr>
              <a:spLocks noChangeArrowheads="1"/>
            </p:cNvSpPr>
            <p:nvPr/>
          </p:nvSpPr>
          <p:spPr bwMode="auto">
            <a:xfrm>
              <a:off x="3851" y="9472"/>
              <a:ext cx="1039"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2018005</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32" name="Rectangle 12"/>
            <p:cNvSpPr>
              <a:spLocks noChangeArrowheads="1"/>
            </p:cNvSpPr>
            <p:nvPr/>
          </p:nvSpPr>
          <p:spPr bwMode="auto">
            <a:xfrm>
              <a:off x="4887" y="9472"/>
              <a:ext cx="765"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李英</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31" name="Rectangle 11"/>
            <p:cNvSpPr>
              <a:spLocks noChangeArrowheads="1"/>
            </p:cNvSpPr>
            <p:nvPr/>
          </p:nvSpPr>
          <p:spPr bwMode="auto">
            <a:xfrm>
              <a:off x="5607" y="9472"/>
              <a:ext cx="723"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82</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30" name="Rectangle 10"/>
            <p:cNvSpPr>
              <a:spLocks noChangeArrowheads="1"/>
            </p:cNvSpPr>
            <p:nvPr/>
          </p:nvSpPr>
          <p:spPr bwMode="auto">
            <a:xfrm>
              <a:off x="6330" y="9472"/>
              <a:ext cx="567" cy="312"/>
            </a:xfrm>
            <a:prstGeom prst="rect">
              <a:avLst/>
            </a:prstGeom>
            <a:solidFill>
              <a:schemeClr val="accent6">
                <a:lumMod val="20000"/>
                <a:lumOff val="80000"/>
              </a:schemeClr>
            </a:solidFill>
            <a:ln w="9525">
              <a:solidFill>
                <a:srgbClr val="000000"/>
              </a:solid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null</a:t>
              </a:r>
              <a:endParaRPr kumimoji="0" lang="en-US" altLang="zh-CN" sz="16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300"/>
                </a:lnSpc>
                <a:spcBef>
                  <a:spcPct val="0"/>
                </a:spcBef>
                <a:spcAft>
                  <a:spcPct val="0"/>
                </a:spcAft>
                <a:buClrTx/>
                <a:buSzTx/>
                <a:buFontTx/>
                <a:buNone/>
              </a:pP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929" name="Line 9"/>
            <p:cNvSpPr>
              <a:spLocks noChangeShapeType="1"/>
            </p:cNvSpPr>
            <p:nvPr/>
          </p:nvSpPr>
          <p:spPr bwMode="auto">
            <a:xfrm flipH="1">
              <a:off x="3668" y="9316"/>
              <a:ext cx="2948" cy="0"/>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28" name="Line 8"/>
            <p:cNvSpPr>
              <a:spLocks noChangeShapeType="1"/>
            </p:cNvSpPr>
            <p:nvPr/>
          </p:nvSpPr>
          <p:spPr bwMode="auto">
            <a:xfrm>
              <a:off x="3670" y="9316"/>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27" name="Line 7"/>
            <p:cNvSpPr>
              <a:spLocks noChangeShapeType="1"/>
            </p:cNvSpPr>
            <p:nvPr/>
          </p:nvSpPr>
          <p:spPr bwMode="auto">
            <a:xfrm>
              <a:off x="3668" y="9628"/>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26" name="Line 6"/>
            <p:cNvSpPr>
              <a:spLocks noChangeShapeType="1"/>
            </p:cNvSpPr>
            <p:nvPr/>
          </p:nvSpPr>
          <p:spPr bwMode="auto">
            <a:xfrm>
              <a:off x="6627" y="6508"/>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25" name="Line 5"/>
            <p:cNvSpPr>
              <a:spLocks noChangeShapeType="1"/>
            </p:cNvSpPr>
            <p:nvPr/>
          </p:nvSpPr>
          <p:spPr bwMode="auto">
            <a:xfrm>
              <a:off x="6627" y="7133"/>
              <a:ext cx="0" cy="311"/>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24" name="Line 4"/>
            <p:cNvSpPr>
              <a:spLocks noChangeShapeType="1"/>
            </p:cNvSpPr>
            <p:nvPr/>
          </p:nvSpPr>
          <p:spPr bwMode="auto">
            <a:xfrm>
              <a:off x="6627" y="7756"/>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23" name="Line 3"/>
            <p:cNvSpPr>
              <a:spLocks noChangeShapeType="1"/>
            </p:cNvSpPr>
            <p:nvPr/>
          </p:nvSpPr>
          <p:spPr bwMode="auto">
            <a:xfrm>
              <a:off x="6627" y="8380"/>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922" name="Line 2"/>
            <p:cNvSpPr>
              <a:spLocks noChangeShapeType="1"/>
            </p:cNvSpPr>
            <p:nvPr/>
          </p:nvSpPr>
          <p:spPr bwMode="auto">
            <a:xfrm>
              <a:off x="6627" y="9004"/>
              <a:ext cx="0" cy="312"/>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62" name="TextBox 61"/>
          <p:cNvSpPr txBox="1"/>
          <p:nvPr/>
        </p:nvSpPr>
        <p:spPr>
          <a:xfrm>
            <a:off x="1428728" y="500042"/>
            <a:ext cx="492443" cy="3000396"/>
          </a:xfrm>
          <a:prstGeom prst="rect">
            <a:avLst/>
          </a:prstGeom>
          <a:noFill/>
        </p:spPr>
        <p:txBody>
          <a:bodyPr vert="eaVert"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head</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唯一标识单链表</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7" name="组合 66"/>
          <p:cNvGrpSpPr/>
          <p:nvPr/>
        </p:nvGrpSpPr>
        <p:grpSpPr>
          <a:xfrm>
            <a:off x="1000100" y="4572008"/>
            <a:ext cx="7215238" cy="2114622"/>
            <a:chOff x="1000100" y="4572008"/>
            <a:chExt cx="7215238" cy="2114622"/>
          </a:xfrm>
        </p:grpSpPr>
        <p:sp>
          <p:nvSpPr>
            <p:cNvPr id="61" name="TextBox 60"/>
            <p:cNvSpPr txBox="1"/>
            <p:nvPr/>
          </p:nvSpPr>
          <p:spPr>
            <a:xfrm>
              <a:off x="1142976" y="5000636"/>
              <a:ext cx="7072362" cy="1169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6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数据元素存放在任意的存储单元中，这组存储单元可以是连续的，也可以是不连续的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通过指针域来反映数据元素的逻辑关系</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5" name="TextBox 64"/>
            <p:cNvSpPr txBox="1"/>
            <p:nvPr/>
          </p:nvSpPr>
          <p:spPr>
            <a:xfrm>
              <a:off x="1000100" y="4572008"/>
              <a:ext cx="321471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这种存储结构的</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特性</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6" name="TextBox 65"/>
            <p:cNvSpPr txBox="1"/>
            <p:nvPr/>
          </p:nvSpPr>
          <p:spPr>
            <a:xfrm>
              <a:off x="1857356" y="6286520"/>
              <a:ext cx="378621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称为</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链式存储结构</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74" name="灯片编号占位符 7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6"/>
          <p:cNvSpPr txBox="1">
            <a:spLocks noChangeArrowheads="1"/>
          </p:cNvSpPr>
          <p:nvPr/>
        </p:nvSpPr>
        <p:spPr bwMode="auto">
          <a:xfrm>
            <a:off x="857224" y="1928802"/>
            <a:ext cx="4070409" cy="2019935"/>
          </a:xfrm>
          <a:prstGeom prst="rect">
            <a:avLst/>
          </a:prstGeom>
          <a:solidFill>
            <a:schemeClr val="accent6">
              <a:lumMod val="20000"/>
              <a:lumOff val="80000"/>
            </a:schemeClr>
          </a:solidFill>
          <a:ln>
            <a:solidFill>
              <a:schemeClr val="accent6">
                <a:lumMod val="20000"/>
                <a:lumOff val="80000"/>
              </a:schemeClr>
            </a:solidFill>
          </a:ln>
        </p:spPr>
        <p:style>
          <a:lnRef idx="1">
            <a:schemeClr val="accent5"/>
          </a:lnRef>
          <a:fillRef idx="2">
            <a:schemeClr val="accent5"/>
          </a:fillRef>
          <a:effectRef idx="1">
            <a:schemeClr val="accent5"/>
          </a:effectRef>
          <a:fontRef idx="minor">
            <a:schemeClr val="dk1"/>
          </a:fontRef>
        </p:style>
        <p:txBody>
          <a:bodyPr wrap="square" lIns="144000" tIns="180000" bIns="144000">
            <a:spAutoFit/>
          </a:bodyPr>
          <a:lstStyle/>
          <a:p>
            <a:pPr marL="457200" indent="-457200" algn="l" fontAlgn="t">
              <a:lnSpc>
                <a:spcPct val="100000"/>
              </a:lnSpc>
              <a:buBlip>
                <a:blip r:embed="rId1"/>
              </a:buBlip>
            </a:pP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顺序存储结构</a:t>
            </a:r>
            <a:endPar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fontAlgn="t">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链式存储结构</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fontAlgn="t">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索引存储结构</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fontAlgn="t">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哈希（散列）存储结构</a:t>
            </a:r>
            <a:endPar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71472" y="1071546"/>
            <a:ext cx="8072494" cy="502702"/>
          </a:xfrm>
          <a:prstGeom prst="rect">
            <a:avLst/>
          </a:prstGeom>
          <a:noFill/>
        </p:spPr>
        <p:txBody>
          <a:bodyPr wrap="square" rtlCol="0">
            <a:spAutoFit/>
          </a:bodyPr>
          <a:lstStyle/>
          <a:p>
            <a:pPr algn="l">
              <a:lnSpc>
                <a:spcPts val="3200"/>
              </a:lnSpc>
            </a:pP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在软件开发中，人们设计了各种存储结构。归纳为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种</a:t>
            </a: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基本的存储结构</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714356"/>
            <a:ext cx="314327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1.1.4 </a:t>
            </a:r>
            <a:r>
              <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数据</a:t>
            </a:r>
            <a:r>
              <a:rPr lang="zh-CN" altLang="en-US"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的运算</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1643050"/>
            <a:ext cx="7786742" cy="29533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将数据存放在计算机中的目的是为了实现一种或多种运算。</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运算包括</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功能描述</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（或运算功能）和</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功能实现</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（或运算实现）</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前者是基于逻辑结构的，是用户定义的，是抽象的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后者是基于存储结构的，是程序员用计算机语言或伪码表示的，是详细的过程，其核心是设计实现某一运算功能的处理步骤，即算法设计。</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9" name="Picture 29" descr="1"/>
          <p:cNvPicPr>
            <a:picLocks noChangeAspect="1" noChangeArrowheads="1"/>
          </p:cNvPicPr>
          <p:nvPr/>
        </p:nvPicPr>
        <p:blipFill>
          <a:blip r:embed="rId2" cstate="print">
            <a:lum bright="-6000" contrast="24000"/>
          </a:blip>
          <a:srcRect l="42606" t="64474" r="19473"/>
          <a:stretch>
            <a:fillRect/>
          </a:stretch>
        </p:blipFill>
        <p:spPr bwMode="auto">
          <a:xfrm>
            <a:off x="3857620" y="571480"/>
            <a:ext cx="1071570" cy="1095376"/>
          </a:xfrm>
          <a:prstGeom prst="rect">
            <a:avLst/>
          </a:prstGeom>
          <a:noFill/>
          <a:ln w="9525">
            <a:noFill/>
            <a:miter lim="800000"/>
            <a:headEnd/>
            <a:tailEnd/>
          </a:ln>
        </p:spPr>
      </p:pic>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71472" y="500042"/>
            <a:ext cx="8001056" cy="2141713"/>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例如，对于高等数学成绩表这种数据结构，可以进行一系列的运算</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增加一个学生成绩记录</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删除一个学生成绩记录</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求所有学生的平均分</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查找序号为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的学生分数等。</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5" name="表格 4"/>
          <p:cNvGraphicFramePr>
            <a:graphicFrameLocks noGrp="1"/>
          </p:cNvGraphicFramePr>
          <p:nvPr/>
        </p:nvGraphicFramePr>
        <p:xfrm>
          <a:off x="2571736" y="2928934"/>
          <a:ext cx="3383280" cy="292608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学号</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姓名</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分数</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上弧形箭头 6"/>
          <p:cNvSpPr/>
          <p:nvPr/>
        </p:nvSpPr>
        <p:spPr>
          <a:xfrm rot="4150512">
            <a:off x="3901630" y="1950336"/>
            <a:ext cx="1357322" cy="571504"/>
          </a:xfrm>
          <a:prstGeom prst="curved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357158" y="1357298"/>
            <a:ext cx="8001056" cy="861774"/>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查找序号为</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的学生分数</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，其本身就是运算的功能描述。但在顺序存储结构和链式存储结构中的实现过程不同的。</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428596" y="3214686"/>
            <a:ext cx="7643866" cy="20861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查找序号为</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的学生分数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(i&lt;0 || i&gt;=length)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错误时返回</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data[i].score;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正确时返回分数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9" name="Picture 29" descr="1"/>
          <p:cNvPicPr>
            <a:picLocks noChangeAspect="1" noChangeArrowheads="1"/>
          </p:cNvPicPr>
          <p:nvPr/>
        </p:nvPicPr>
        <p:blipFill>
          <a:blip r:embed="rId1" cstate="print">
            <a:lum bright="-6000" contrast="24000"/>
          </a:blip>
          <a:srcRect l="42606" t="64474" r="19473"/>
          <a:stretch>
            <a:fillRect/>
          </a:stretch>
        </p:blipFill>
        <p:spPr bwMode="auto">
          <a:xfrm>
            <a:off x="6143636" y="500042"/>
            <a:ext cx="1071570" cy="1095376"/>
          </a:xfrm>
          <a:prstGeom prst="rect">
            <a:avLst/>
          </a:prstGeom>
          <a:noFill/>
          <a:ln w="9525">
            <a:noFill/>
            <a:miter lim="800000"/>
            <a:headEnd/>
            <a:tailEnd/>
          </a:ln>
        </p:spPr>
      </p:pic>
      <p:sp>
        <p:nvSpPr>
          <p:cNvPr id="10" name="TextBox 9"/>
          <p:cNvSpPr txBox="1"/>
          <p:nvPr/>
        </p:nvSpPr>
        <p:spPr>
          <a:xfrm>
            <a:off x="571472" y="2571744"/>
            <a:ext cx="6215106" cy="477054"/>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在顺序存储结构即</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中实现查找</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357158" y="630776"/>
            <a:ext cx="600079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华文中宋" panose="02010600040101010101" pitchFamily="2" charset="-122"/>
                <a:ea typeface="华文中宋" panose="02010600040101010101" pitchFamily="2" charset="-122"/>
                <a:cs typeface="Consolas" panose="020B0609020204030204" pitchFamily="49" charset="0"/>
              </a:rPr>
              <a:t>同一运算，在不同存储结构中的实现过程是不同的。</a:t>
            </a:r>
            <a:endParaRPr lang="en-US" altLang="zh-CN" sz="2000" smtClean="0">
              <a:solidFill>
                <a:srgbClr val="FF0000"/>
              </a:solidFill>
              <a:latin typeface="华文中宋" panose="02010600040101010101" pitchFamily="2" charset="-122"/>
              <a:ea typeface="华文中宋" panose="02010600040101010101" pitchFamily="2" charset="-122"/>
              <a:cs typeface="Consolas" panose="020B0609020204030204" pitchFamily="49" charset="0"/>
            </a:endParaRPr>
          </a:p>
        </p:txBody>
      </p:sp>
      <p:sp>
        <p:nvSpPr>
          <p:cNvPr id="18" name="灯片编号占位符 17"/>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1428736"/>
            <a:ext cx="8001056" cy="42191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查找序号为</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的学生分数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(i&lt;0) return -1;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j=0;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Stud2* p=head;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//p</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指向第一个结点</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(j&lt;i &amp;&amp; p!=NULL)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p=p-&gt;next;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(p==NULL)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错误时返回</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正确时返回其分数</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p-&gt;score;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428596" y="642918"/>
            <a:ext cx="7143800"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在链式存储结构即</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head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单链表中实现查找</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785786" y="1928802"/>
            <a:ext cx="7358114" cy="1023902"/>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tIns="108000" bIns="144000" rtlCol="0">
            <a:spAutoFit/>
          </a:bodyPr>
          <a:lstStyle/>
          <a:p>
            <a:pPr marL="457200" indent="-457200" algn="just">
              <a:lnSpc>
                <a:spcPct val="100000"/>
              </a:lnSpc>
              <a:buBlip>
                <a:blip r:embed="rId1"/>
              </a:buBlip>
            </a:pPr>
            <a:r>
              <a:rPr lang="zh-CN" altLang="en-US" sz="2000" dirty="0" smtClean="0">
                <a:solidFill>
                  <a:srgbClr val="0000FF"/>
                </a:solidFill>
                <a:latin typeface="楷体" panose="02010609060101010101" pitchFamily="49" charset="-122"/>
                <a:ea typeface="楷体" panose="02010609060101010101" pitchFamily="49" charset="-122"/>
                <a:cs typeface="Consolas" panose="020B0609020204030204" pitchFamily="49" charset="0"/>
              </a:rPr>
              <a:t>同一逻辑结构可以对应多种存储结构。</a:t>
            </a:r>
            <a:endParaRPr lang="zh-CN" altLang="en-US" sz="2000" dirty="0" smtClean="0">
              <a:solidFill>
                <a:srgbClr val="0000FF"/>
              </a:solidFill>
              <a:latin typeface="楷体" panose="02010609060101010101" pitchFamily="49" charset="-122"/>
              <a:ea typeface="楷体" panose="02010609060101010101" pitchFamily="49" charset="-122"/>
              <a:cs typeface="Consolas" panose="020B0609020204030204" pitchFamily="49" charset="0"/>
            </a:endParaRPr>
          </a:p>
          <a:p>
            <a:pPr marL="457200" indent="-457200" algn="just">
              <a:lnSpc>
                <a:spcPct val="100000"/>
              </a:lnSpc>
              <a:buBlip>
                <a:blip r:embed="rId1"/>
              </a:buBlip>
            </a:pPr>
            <a:r>
              <a:rPr lang="zh-CN" altLang="en-US" sz="2000" dirty="0" smtClean="0">
                <a:solidFill>
                  <a:srgbClr val="0000FF"/>
                </a:solidFill>
                <a:latin typeface="楷体" panose="02010609060101010101" pitchFamily="49" charset="-122"/>
                <a:ea typeface="楷体" panose="02010609060101010101" pitchFamily="49" charset="-122"/>
                <a:cs typeface="Consolas" panose="020B0609020204030204" pitchFamily="49" charset="0"/>
              </a:rPr>
              <a:t>同样的运算，在不同的存储结构中，其实现过程是不同的。</a:t>
            </a:r>
            <a:endParaRPr lang="zh-CN" altLang="en-US" sz="2000" dirty="0">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grpSp>
        <p:nvGrpSpPr>
          <p:cNvPr id="9" name="组合 8"/>
          <p:cNvGrpSpPr/>
          <p:nvPr/>
        </p:nvGrpSpPr>
        <p:grpSpPr>
          <a:xfrm>
            <a:off x="428596" y="715129"/>
            <a:ext cx="1955562" cy="927921"/>
            <a:chOff x="428596" y="715129"/>
            <a:chExt cx="1955562" cy="927921"/>
          </a:xfrm>
        </p:grpSpPr>
        <p:pic>
          <p:nvPicPr>
            <p:cNvPr id="7" name="Oval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596" y="715129"/>
              <a:ext cx="1955562" cy="927921"/>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000554" y="1018137"/>
              <a:ext cx="812100" cy="338554"/>
            </a:xfrm>
            <a:prstGeom prst="rect">
              <a:avLst/>
            </a:prstGeom>
            <a:noFill/>
          </p:spPr>
          <p:txBody>
            <a:bodyPr wrap="square" rtlCol="0">
              <a:spAutoFit/>
            </a:bodyPr>
            <a:lstStyle/>
            <a:p>
              <a:pPr algn="ctr"/>
              <a:r>
                <a:rPr lang="zh-CN" altLang="en-US" sz="2000" dirty="0" smtClean="0">
                  <a:solidFill>
                    <a:srgbClr val="FF0000"/>
                  </a:solidFill>
                  <a:latin typeface="微软雅黑" panose="020B0503020204020204" pitchFamily="34" charset="-122"/>
                  <a:ea typeface="微软雅黑" panose="020B0503020204020204" pitchFamily="34" charset="-122"/>
                </a:rPr>
                <a:t>提示</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571480"/>
            <a:ext cx="421484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1.1.5 </a:t>
            </a:r>
            <a:r>
              <a:rPr lang="zh-CN" altLang="zh-CN" smtClean="0">
                <a:latin typeface="Consolas" panose="020B0609020204030204" pitchFamily="49" charset="0"/>
                <a:ea typeface="微软雅黑" panose="020B0503020204020204" pitchFamily="34" charset="-122"/>
                <a:cs typeface="Consolas" panose="020B0609020204030204" pitchFamily="49" charset="0"/>
              </a:rPr>
              <a:t>数据</a:t>
            </a:r>
            <a:r>
              <a:rPr lang="zh-CN" altLang="en-US" smtClean="0">
                <a:latin typeface="Consolas" panose="020B0609020204030204" pitchFamily="49" charset="0"/>
                <a:ea typeface="微软雅黑" panose="020B0503020204020204" pitchFamily="34" charset="-122"/>
                <a:cs typeface="Consolas" panose="020B0609020204030204" pitchFamily="49" charset="0"/>
              </a:rPr>
              <a:t>结构和数据类型</a:t>
            </a:r>
            <a:endParaRPr lang="zh-CN" altLang="zh-CN" smtClean="0">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500174"/>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1. </a:t>
            </a:r>
            <a:r>
              <a:rPr lang="zh-CN" altLang="en-US"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数据类型</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642910" y="2357430"/>
            <a:ext cx="7858180" cy="8800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72000" bIns="72000" rtlCol="0">
            <a:spAutoFit/>
          </a:bodyPr>
          <a:lstStyle/>
          <a:p>
            <a:pPr algn="l">
              <a:lnSpc>
                <a:spcPts val="3000"/>
              </a:lnSpc>
              <a:spcBef>
                <a:spcPts val="0"/>
              </a:spcBef>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数据类型</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是一组性质相同的值的集合和定义在此集合上的一组操作的总称。</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 Box 2"/>
          <p:cNvSpPr txBox="1">
            <a:spLocks noChangeArrowheads="1"/>
          </p:cNvSpPr>
          <p:nvPr/>
        </p:nvSpPr>
        <p:spPr bwMode="auto">
          <a:xfrm>
            <a:off x="785786" y="3286124"/>
            <a:ext cx="6215106" cy="400110"/>
          </a:xfrm>
          <a:prstGeom prst="rect">
            <a:avLst/>
          </a:prstGeom>
          <a:noFill/>
          <a:ln w="9525">
            <a:noFill/>
            <a:miter lim="800000"/>
          </a:ln>
          <a:effectLst/>
        </p:spPr>
        <p:txBody>
          <a:bodyPr wrap="square">
            <a:spAutoFit/>
          </a:bodyPr>
          <a:lstStyle/>
          <a:p>
            <a:pPr algn="l">
              <a:lnSpc>
                <a:spcPct val="100000"/>
              </a:lnSpc>
            </a:pPr>
            <a:r>
              <a:rPr lang="zh-CN" altLang="en-US"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例如，</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zh-CN" altLang="en-US"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中的</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short int </a:t>
            </a:r>
            <a:r>
              <a:rPr lang="zh-CN" altLang="en-US"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就</a:t>
            </a:r>
            <a:r>
              <a:rPr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是</a:t>
            </a:r>
            <a:r>
              <a:rPr lang="zh-CN" altLang="en-US" sz="2000" b="1">
                <a:solidFill>
                  <a:srgbClr val="0000FF"/>
                </a:solidFill>
                <a:latin typeface="Consolas" panose="020B0609020204030204" pitchFamily="49" charset="0"/>
                <a:ea typeface="楷体" panose="02010609060101010101" pitchFamily="49" charset="-122"/>
                <a:cs typeface="Consolas" panose="020B0609020204030204" pitchFamily="49" charset="0"/>
              </a:rPr>
              <a:t>整型</a:t>
            </a:r>
            <a:r>
              <a:rPr lang="zh-CN" altLang="en-US"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数据类型。</a:t>
            </a:r>
            <a:endParaRPr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1928794" y="4929198"/>
            <a:ext cx="2500330" cy="1143008"/>
          </a:xfrm>
          <a:prstGeom prst="ellipse">
            <a:avLst/>
          </a:prstGeom>
          <a:ln>
            <a:noFill/>
          </a:ln>
          <a:effectLst/>
          <a:scene3d>
            <a:camera prst="orthographicFront">
              <a:rot lat="0" lon="0" rev="0"/>
            </a:camera>
            <a:lightRig rig="glow" dir="t">
              <a:rot lat="0" lon="0" rev="14100000"/>
            </a:lightRig>
          </a:scene3d>
          <a:sp3d prstMaterial="softEdge">
            <a:bevelT w="127000" prst="artDeco"/>
          </a:sp3d>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800" smtClean="0">
                <a:solidFill>
                  <a:srgbClr val="0000FF"/>
                </a:solidFill>
                <a:latin typeface="Consolas" panose="020B0609020204030204" pitchFamily="49" charset="0"/>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32768~32767</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10" name="TextBox 9"/>
          <p:cNvSpPr txBox="1"/>
          <p:nvPr/>
        </p:nvSpPr>
        <p:spPr>
          <a:xfrm>
            <a:off x="1857356" y="4233454"/>
            <a:ext cx="2571768"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1800" smtClean="0">
                <a:solidFill>
                  <a:srgbClr val="0000FF"/>
                </a:solidFill>
                <a:latin typeface="+mn-ea"/>
                <a:ea typeface="+mn-ea"/>
                <a:cs typeface="Consolas" panose="020B0609020204030204" pitchFamily="49" charset="0"/>
                <a:sym typeface="Symbol" panose="05050102010706020507"/>
              </a:rPr>
              <a:t></a:t>
            </a:r>
            <a:endParaRPr lang="zh-CN" altLang="en-US" sz="1800">
              <a:solidFill>
                <a:srgbClr val="0000FF"/>
              </a:solidFill>
              <a:latin typeface="+mn-ea"/>
              <a:ea typeface="+mn-ea"/>
              <a:cs typeface="Consolas" panose="020B0609020204030204" pitchFamily="49" charset="0"/>
            </a:endParaRPr>
          </a:p>
        </p:txBody>
      </p:sp>
      <p:sp>
        <p:nvSpPr>
          <p:cNvPr id="11" name="下箭头 10"/>
          <p:cNvSpPr/>
          <p:nvPr/>
        </p:nvSpPr>
        <p:spPr>
          <a:xfrm>
            <a:off x="3000364" y="4643446"/>
            <a:ext cx="214314" cy="285752"/>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grpSp>
        <p:nvGrpSpPr>
          <p:cNvPr id="12" name="组合 11"/>
          <p:cNvGrpSpPr/>
          <p:nvPr/>
        </p:nvGrpSpPr>
        <p:grpSpPr>
          <a:xfrm>
            <a:off x="4429124" y="4305306"/>
            <a:ext cx="2000264" cy="1295014"/>
            <a:chOff x="4643438" y="1947852"/>
            <a:chExt cx="2000264" cy="1295014"/>
          </a:xfrm>
        </p:grpSpPr>
        <p:sp>
          <p:nvSpPr>
            <p:cNvPr id="13" name="TextBox 12"/>
            <p:cNvSpPr txBox="1"/>
            <p:nvPr/>
          </p:nvSpPr>
          <p:spPr>
            <a:xfrm>
              <a:off x="5214942" y="2928934"/>
              <a:ext cx="1428760" cy="313932"/>
            </a:xfrm>
            <a:prstGeom prst="rect">
              <a:avLst/>
            </a:prstGeom>
            <a:noFill/>
          </p:spPr>
          <p:txBody>
            <a:bodyPr wrap="square" rtlCol="0">
              <a:spAutoFit/>
            </a:bodyPr>
            <a:lstStyle/>
            <a:p>
              <a:pPr algn="l"/>
              <a:r>
                <a:rPr lang="zh-CN" altLang="en-US"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值的集合</a:t>
              </a:r>
              <a:endParaRPr lang="zh-CN" altLang="en-US" sz="1800">
                <a:solidFill>
                  <a:srgbClr val="339933"/>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Box 13"/>
            <p:cNvSpPr txBox="1"/>
            <p:nvPr/>
          </p:nvSpPr>
          <p:spPr>
            <a:xfrm>
              <a:off x="5214942" y="1947852"/>
              <a:ext cx="1357322" cy="313932"/>
            </a:xfrm>
            <a:prstGeom prst="rect">
              <a:avLst/>
            </a:prstGeom>
            <a:noFill/>
          </p:spPr>
          <p:txBody>
            <a:bodyPr wrap="square" rtlCol="0">
              <a:spAutoFit/>
            </a:bodyPr>
            <a:lstStyle/>
            <a:p>
              <a:pPr algn="l"/>
              <a:r>
                <a:rPr lang="zh-CN" altLang="en-US"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一组操作</a:t>
              </a:r>
              <a:endParaRPr lang="zh-CN" altLang="en-US" sz="1800">
                <a:solidFill>
                  <a:srgbClr val="339933"/>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5" name="直接连接符 14"/>
            <p:cNvCxnSpPr/>
            <p:nvPr/>
          </p:nvCxnSpPr>
          <p:spPr>
            <a:xfrm>
              <a:off x="4656138" y="2084378"/>
              <a:ext cx="500066" cy="1588"/>
            </a:xfrm>
            <a:prstGeom prst="line">
              <a:avLst/>
            </a:prstGeom>
            <a:ln w="19050"/>
          </p:spPr>
          <p:style>
            <a:lnRef idx="2">
              <a:schemeClr val="dk1"/>
            </a:lnRef>
            <a:fillRef idx="0">
              <a:schemeClr val="dk1"/>
            </a:fillRef>
            <a:effectRef idx="1">
              <a:schemeClr val="dk1"/>
            </a:effectRef>
            <a:fontRef idx="minor">
              <a:schemeClr val="tx1"/>
            </a:fontRef>
          </p:style>
        </p:cxnSp>
        <p:cxnSp>
          <p:nvCxnSpPr>
            <p:cNvPr id="16" name="直接连接符 15"/>
            <p:cNvCxnSpPr/>
            <p:nvPr/>
          </p:nvCxnSpPr>
          <p:spPr>
            <a:xfrm>
              <a:off x="4643438" y="3065874"/>
              <a:ext cx="500066" cy="1588"/>
            </a:xfrm>
            <a:prstGeom prst="line">
              <a:avLst/>
            </a:prstGeom>
            <a:ln w="19050"/>
          </p:spPr>
          <p:style>
            <a:lnRef idx="2">
              <a:schemeClr val="dk1"/>
            </a:lnRef>
            <a:fillRef idx="0">
              <a:schemeClr val="dk1"/>
            </a:fillRef>
            <a:effectRef idx="1">
              <a:schemeClr val="dk1"/>
            </a:effectRef>
            <a:fontRef idx="minor">
              <a:schemeClr val="tx1"/>
            </a:fontRef>
          </p:style>
        </p:cxnSp>
      </p:grpSp>
      <p:sp>
        <p:nvSpPr>
          <p:cNvPr id="23" name="灯片编号占位符 2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857232"/>
            <a:ext cx="235745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2. </a:t>
            </a:r>
            <a:r>
              <a:rPr lang="zh-CN" altLang="en-US"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抽象数据类型</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 Box 2"/>
          <p:cNvSpPr txBox="1">
            <a:spLocks noChangeArrowheads="1"/>
          </p:cNvSpPr>
          <p:nvPr/>
        </p:nvSpPr>
        <p:spPr bwMode="auto">
          <a:xfrm>
            <a:off x="428596" y="1627011"/>
            <a:ext cx="8358246" cy="108745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algn="just">
              <a:lnSpc>
                <a:spcPct val="150000"/>
              </a:lnSpc>
            </a:pP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b="1"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抽象数据类型</a:t>
            </a:r>
            <a:r>
              <a:rPr lang="zh-CN" altLang="en-US"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b="1"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ADT</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）指</a:t>
            </a:r>
            <a:r>
              <a:rPr lang="zh-CN" altLang="en-US" sz="2000" b="1">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是从</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求解</a:t>
            </a:r>
            <a:r>
              <a:rPr lang="zh-CN" altLang="en-US"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问题</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的数学模型中抽象</a:t>
            </a:r>
            <a:r>
              <a:rPr lang="zh-CN" altLang="en-US" sz="2000" b="1">
                <a:solidFill>
                  <a:srgbClr val="0000FF"/>
                </a:solidFill>
                <a:latin typeface="Consolas" panose="020B0609020204030204" pitchFamily="49" charset="0"/>
                <a:ea typeface="仿宋" panose="02010609060101010101" pitchFamily="49" charset="-122"/>
                <a:cs typeface="Consolas" panose="020B0609020204030204" pitchFamily="49" charset="0"/>
              </a:rPr>
              <a:t>出来</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数据逻辑结构</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和运算（</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抽象运算</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），而</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不考虑计算机</a:t>
            </a:r>
            <a:r>
              <a:rPr lang="zh-CN" altLang="en-US" sz="2000" b="1">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具体实现。          </a:t>
            </a:r>
            <a:endPar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1428728" y="3698713"/>
            <a:ext cx="6000792" cy="609737"/>
          </a:xfrm>
          <a:prstGeom prst="rect">
            <a:avLst/>
          </a:prstGeom>
          <a:scene3d>
            <a:camera prst="isometricOffAxis1Right"/>
            <a:lightRig rig="threePt" dir="t"/>
          </a:scene3d>
        </p:spPr>
        <p:style>
          <a:lnRef idx="1">
            <a:schemeClr val="accent6"/>
          </a:lnRef>
          <a:fillRef idx="2">
            <a:schemeClr val="accent6"/>
          </a:fillRef>
          <a:effectRef idx="1">
            <a:schemeClr val="accent6"/>
          </a:effectRef>
          <a:fontRef idx="minor">
            <a:schemeClr val="dk1"/>
          </a:fontRef>
        </p:style>
        <p:txBody>
          <a:bodyPr wrap="square" lIns="144000" tIns="180000" rIns="144000" bIns="180000" rtlCol="0">
            <a:spAutoFit/>
          </a:bodyPr>
          <a:lstStyle/>
          <a:p>
            <a:r>
              <a:rPr lang="zh-CN" altLang="en-US" sz="2000" smtClean="0">
                <a:solidFill>
                  <a:srgbClr val="CC00CC"/>
                </a:solidFill>
                <a:latin typeface="华文中宋" panose="02010600040101010101" pitchFamily="2" charset="-122"/>
                <a:ea typeface="华文中宋" panose="02010600040101010101" pitchFamily="2" charset="-122"/>
                <a:cs typeface="Consolas" panose="020B0609020204030204" pitchFamily="49" charset="0"/>
              </a:rPr>
              <a:t>抽象数据类型 </a:t>
            </a:r>
            <a:r>
              <a:rPr lang="en-US" altLang="zh-CN" sz="2000" smtClean="0">
                <a:solidFill>
                  <a:srgbClr val="CC00CC"/>
                </a:solidFill>
                <a:latin typeface="华文中宋" panose="02010600040101010101" pitchFamily="2" charset="-122"/>
                <a:ea typeface="华文中宋" panose="02010600040101010101" pitchFamily="2" charset="-122"/>
                <a:cs typeface="Consolas" panose="020B0609020204030204" pitchFamily="49" charset="0"/>
              </a:rPr>
              <a:t>= </a:t>
            </a:r>
            <a:r>
              <a:rPr lang="zh-CN" altLang="en-US" sz="2000" smtClean="0">
                <a:solidFill>
                  <a:srgbClr val="CC00CC"/>
                </a:solidFill>
                <a:latin typeface="华文中宋" panose="02010600040101010101" pitchFamily="2" charset="-122"/>
                <a:ea typeface="华文中宋" panose="02010600040101010101" pitchFamily="2" charset="-122"/>
                <a:cs typeface="Consolas" panose="020B0609020204030204" pitchFamily="49" charset="0"/>
              </a:rPr>
              <a:t>逻辑结构 ＋ 抽象运算</a:t>
            </a:r>
            <a:endParaRPr lang="zh-CN" altLang="en-US" sz="2000">
              <a:latin typeface="华文中宋" panose="02010600040101010101" pitchFamily="2" charset="-122"/>
              <a:ea typeface="华文中宋" panose="02010600040101010101" pitchFamily="2" charset="-122"/>
              <a:cs typeface="Consolas" panose="020B0609020204030204" pitchFamily="49" charset="0"/>
            </a:endParaRPr>
          </a:p>
        </p:txBody>
      </p:sp>
      <p:sp>
        <p:nvSpPr>
          <p:cNvPr id="8" name="左弧形箭头 7"/>
          <p:cNvSpPr/>
          <p:nvPr/>
        </p:nvSpPr>
        <p:spPr>
          <a:xfrm>
            <a:off x="1928794" y="2984333"/>
            <a:ext cx="428628" cy="1000132"/>
          </a:xfrm>
          <a:prstGeom prst="curved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Consolas" panose="020B0609020204030204" pitchFamily="49" charset="0"/>
            </a:endParaRPr>
          </a:p>
        </p:txBody>
      </p:sp>
      <p:pic>
        <p:nvPicPr>
          <p:cNvPr id="10" name="Picture 29" descr="1"/>
          <p:cNvPicPr>
            <a:picLocks noChangeAspect="1" noChangeArrowheads="1"/>
          </p:cNvPicPr>
          <p:nvPr/>
        </p:nvPicPr>
        <p:blipFill>
          <a:blip r:embed="rId1" cstate="print">
            <a:lum bright="-6000" contrast="24000"/>
          </a:blip>
          <a:srcRect l="42606" t="64474" r="19473"/>
          <a:stretch>
            <a:fillRect/>
          </a:stretch>
        </p:blipFill>
        <p:spPr bwMode="auto">
          <a:xfrm>
            <a:off x="7143768" y="3048004"/>
            <a:ext cx="1071570" cy="1095376"/>
          </a:xfrm>
          <a:prstGeom prst="rect">
            <a:avLst/>
          </a:prstGeom>
          <a:noFill/>
          <a:ln w="9525">
            <a:noFill/>
            <a:miter lim="800000"/>
            <a:headEnd/>
            <a:tailEnd/>
          </a:ln>
        </p:spPr>
      </p:pic>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9" name="TextBox 8"/>
          <p:cNvSpPr txBox="1"/>
          <p:nvPr/>
        </p:nvSpPr>
        <p:spPr>
          <a:xfrm>
            <a:off x="1000100" y="1643050"/>
            <a:ext cx="4714908" cy="22699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ADT </a:t>
            </a:r>
            <a:r>
              <a:rPr lang="zh-CN"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抽象数据类型名</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数据对象</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：数据对象的声明</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数据关系</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：数据关系的声明</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基本运算</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：基本运算的声明</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ADT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抽象数据类型名</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928662" y="928670"/>
            <a:ext cx="307183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ADT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基本格式</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9" name="TextBox 8"/>
          <p:cNvSpPr txBox="1"/>
          <p:nvPr/>
        </p:nvSpPr>
        <p:spPr>
          <a:xfrm>
            <a:off x="428596" y="500042"/>
            <a:ext cx="8358246" cy="314198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algn="l">
              <a:lnSpc>
                <a:spcPts val="3000"/>
              </a:lnSpc>
              <a:spcBef>
                <a:spcPts val="6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1.6</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构造集合</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ADT Set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，假设其中元素为整型，遵循标准数学定义，基本运算包括</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3000"/>
              </a:lnSpc>
              <a:spcBef>
                <a:spcPts val="6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求集合长度、求第</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个元素、判断一个元素是否属于集合、向集合中添加一个元素、从集合中删除一个元素、复制集合和输出集合中所有元素。</a:t>
            </a:r>
            <a:endPar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6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另外增加</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个集合运算</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3000"/>
              </a:lnSpc>
              <a:spcBef>
                <a:spcPts val="6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求两个集合并</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Union</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、集合交</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Inter</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和集合差</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Diff</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 name="TextBox 6"/>
          <p:cNvSpPr txBox="1"/>
          <p:nvPr/>
        </p:nvSpPr>
        <p:spPr>
          <a:xfrm>
            <a:off x="8355955" y="3000372"/>
            <a:ext cx="430887" cy="2000264"/>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vert="eaVert" wrap="square" rtlCol="0">
            <a:spAutoFit/>
          </a:bodyPr>
          <a:lstStyle/>
          <a:p>
            <a:r>
              <a:rPr lang="zh-CN" altLang="en-US" sz="2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运算功能描述</a:t>
            </a:r>
            <a:endParaRPr lang="zh-CN" altLang="en-US" sz="2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71406" y="357166"/>
            <a:ext cx="8143900" cy="56683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ADT Set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集合的抽象数据类型</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数据对象</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0</a:t>
            </a:r>
            <a:r>
              <a:rPr lang="zh-CN" altLang="zh-CN" sz="1800" smtClean="0">
                <a:solidFill>
                  <a:srgbClr val="0000FF"/>
                </a:solidFill>
                <a:latin typeface="+mn-ea"/>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00FF"/>
                </a:solidFill>
                <a:latin typeface="+mj-ea"/>
                <a:ea typeface="+mj-ea"/>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size-1 }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存放集合中元素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数据关系：</a:t>
            </a:r>
            <a:endPar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无</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基本运算</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getsize()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返回集合的长度</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get(int 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返回集合的第</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个元素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IsIn(E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判断</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是否在集合中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add(E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将元素</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添加到集合中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delete(E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从集合中删除元素</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Copy(s)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返回当前集合的复制集合</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display()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输出集合中的元素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Union(Set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 (s1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Inter(Set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 (s1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Diff(Set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s3=s1-s2 (s1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ADT Set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1785918" y="428604"/>
            <a:ext cx="1643074" cy="686865"/>
          </a:xfrm>
          <a:prstGeom prst="rect">
            <a:avLst/>
          </a:prstGeom>
        </p:spPr>
        <p:style>
          <a:lnRef idx="1">
            <a:schemeClr val="accent2"/>
          </a:lnRef>
          <a:fillRef idx="2">
            <a:schemeClr val="accent2"/>
          </a:fillRef>
          <a:effectRef idx="1">
            <a:schemeClr val="accent2"/>
          </a:effectRef>
          <a:fontRef idx="minor">
            <a:schemeClr val="dk1"/>
          </a:fontRef>
        </p:style>
        <p:txBody>
          <a:bodyPr wrap="square" tIns="252000" bIns="180000" rtlCol="0">
            <a:spAutoFit/>
          </a:bodyPr>
          <a:lstStyle/>
          <a:p>
            <a:r>
              <a:rPr lang="en-US" altLang="zh-CN" sz="2000"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Complex</a:t>
            </a:r>
            <a:endParaRPr lang="en-US" altLang="zh-CN" sz="2000" dirty="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下箭头 4"/>
          <p:cNvSpPr/>
          <p:nvPr/>
        </p:nvSpPr>
        <p:spPr>
          <a:xfrm>
            <a:off x="2500298" y="1357298"/>
            <a:ext cx="285752" cy="357190"/>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pic>
        <p:nvPicPr>
          <p:cNvPr id="7" name="Picture 2" descr="http://img1.mydrivers.com/img/20140831/49fd56108a3e410db2307a0676bd584c.jpg"/>
          <p:cNvPicPr>
            <a:picLocks noChangeAspect="1" noChangeArrowheads="1"/>
          </p:cNvPicPr>
          <p:nvPr/>
        </p:nvPicPr>
        <p:blipFill>
          <a:blip r:embed="rId1" cstate="print"/>
          <a:srcRect/>
          <a:stretch>
            <a:fillRect/>
          </a:stretch>
        </p:blipFill>
        <p:spPr bwMode="auto">
          <a:xfrm>
            <a:off x="928662" y="1857364"/>
            <a:ext cx="3254857" cy="2643206"/>
          </a:xfrm>
          <a:prstGeom prst="rect">
            <a:avLst/>
          </a:prstGeom>
          <a:noFill/>
        </p:spPr>
      </p:pic>
      <p:sp>
        <p:nvSpPr>
          <p:cNvPr id="8" name="TextBox 7"/>
          <p:cNvSpPr txBox="1"/>
          <p:nvPr/>
        </p:nvSpPr>
        <p:spPr>
          <a:xfrm>
            <a:off x="3643306" y="3000372"/>
            <a:ext cx="3071834" cy="338554"/>
          </a:xfrm>
          <a:prstGeom prst="rect">
            <a:avLst/>
          </a:prstGeom>
          <a:noFill/>
        </p:spPr>
        <p:txBody>
          <a:bodyPr wrap="square" rtlCol="0">
            <a:spAutoFit/>
          </a:bodyPr>
          <a:lstStyle/>
          <a:p>
            <a:pPr algn="l"/>
            <a:r>
              <a:rPr lang="zh-CN" altLang="en-US" sz="2000" smtClean="0">
                <a:solidFill>
                  <a:srgbClr val="0000FF"/>
                </a:solidFill>
                <a:latin typeface="仿宋" panose="02010609060101010101" pitchFamily="49" charset="-122"/>
                <a:ea typeface="仿宋" panose="02010609060101010101" pitchFamily="49" charset="-122"/>
                <a:cs typeface="Times New Roman" panose="02020603050405020304" pitchFamily="18" charset="0"/>
              </a:rPr>
              <a:t>编程实现</a:t>
            </a:r>
            <a:r>
              <a:rPr lang="zh-CN" altLang="en-US" sz="2000" dirty="0" smtClean="0">
                <a:solidFill>
                  <a:srgbClr val="0000FF"/>
                </a:solidFill>
                <a:latin typeface="仿宋" panose="02010609060101010101" pitchFamily="49" charset="-122"/>
                <a:ea typeface="仿宋" panose="02010609060101010101" pitchFamily="49" charset="-122"/>
                <a:cs typeface="Times New Roman" panose="02020603050405020304" pitchFamily="18" charset="0"/>
              </a:rPr>
              <a:t>该数据结构</a:t>
            </a:r>
            <a:endParaRPr lang="zh-CN" altLang="en-US" sz="2000" dirty="0">
              <a:solidFill>
                <a:srgbClr val="0000FF"/>
              </a:solidFill>
              <a:latin typeface="仿宋" panose="02010609060101010101" pitchFamily="49" charset="-122"/>
              <a:ea typeface="仿宋" panose="02010609060101010101" pitchFamily="49" charset="-122"/>
            </a:endParaRPr>
          </a:p>
        </p:txBody>
      </p:sp>
      <p:sp>
        <p:nvSpPr>
          <p:cNvPr id="9" name="TextBox 8"/>
          <p:cNvSpPr txBox="1"/>
          <p:nvPr/>
        </p:nvSpPr>
        <p:spPr>
          <a:xfrm>
            <a:off x="3643306" y="636932"/>
            <a:ext cx="928694" cy="367986"/>
          </a:xfrm>
          <a:prstGeom prst="rect">
            <a:avLst/>
          </a:prstGeom>
          <a:noFill/>
        </p:spPr>
        <p:txBody>
          <a:bodyPr wrap="square" rtlCol="0">
            <a:spAutoFit/>
          </a:bodyPr>
          <a:lstStyle/>
          <a:p>
            <a:pPr algn="l"/>
            <a:r>
              <a:rPr lang="en-US" altLang="zh-CN" sz="2200" smtClean="0">
                <a:solidFill>
                  <a:srgbClr val="6600CC"/>
                </a:solidFill>
                <a:latin typeface="Consolas" panose="020B0609020204030204" pitchFamily="49" charset="0"/>
                <a:ea typeface="楷体" panose="02010609060101010101" pitchFamily="49" charset="-122"/>
                <a:cs typeface="Consolas" panose="020B0609020204030204" pitchFamily="49" charset="0"/>
              </a:rPr>
              <a:t>ADT</a:t>
            </a:r>
            <a:endParaRPr lang="zh-CN" altLang="en-US" sz="2200" dirty="0">
              <a:latin typeface="Consolas" panose="020B0609020204030204" pitchFamily="49" charset="0"/>
              <a:ea typeface="楷体" panose="02010609060101010101" pitchFamily="49" charset="-122"/>
              <a:cs typeface="Consolas" panose="020B0609020204030204" pitchFamily="49" charset="0"/>
            </a:endParaRPr>
          </a:p>
        </p:txBody>
      </p:sp>
      <p:grpSp>
        <p:nvGrpSpPr>
          <p:cNvPr id="10" name="组合 9"/>
          <p:cNvGrpSpPr/>
          <p:nvPr/>
        </p:nvGrpSpPr>
        <p:grpSpPr>
          <a:xfrm>
            <a:off x="571472" y="4143380"/>
            <a:ext cx="7572428" cy="1285502"/>
            <a:chOff x="571472" y="4143380"/>
            <a:chExt cx="7572428" cy="1285502"/>
          </a:xfrm>
          <a:effectLst>
            <a:outerShdw blurRad="50800" dist="38100" dir="5400000" algn="t" rotWithShape="0">
              <a:prstClr val="black">
                <a:alpha val="40000"/>
              </a:prstClr>
            </a:outerShdw>
          </a:effectLst>
        </p:grpSpPr>
        <p:sp>
          <p:nvSpPr>
            <p:cNvPr id="11" name="左弧形箭头 10"/>
            <p:cNvSpPr/>
            <p:nvPr/>
          </p:nvSpPr>
          <p:spPr>
            <a:xfrm>
              <a:off x="571472" y="4143380"/>
              <a:ext cx="357190" cy="857256"/>
            </a:xfrm>
            <a:prstGeom prst="curved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2000">
                <a:solidFill>
                  <a:schemeClr val="tx1"/>
                </a:solidFill>
              </a:endParaRPr>
            </a:p>
          </p:txBody>
        </p:sp>
        <p:sp>
          <p:nvSpPr>
            <p:cNvPr id="12" name="TextBox 11"/>
            <p:cNvSpPr txBox="1"/>
            <p:nvPr/>
          </p:nvSpPr>
          <p:spPr>
            <a:xfrm>
              <a:off x="1000100" y="4572008"/>
              <a:ext cx="7143800" cy="856874"/>
            </a:xfrm>
            <a:prstGeom prst="rect">
              <a:avLst/>
            </a:prstGeom>
          </p:spPr>
          <p:style>
            <a:lnRef idx="1">
              <a:schemeClr val="accent5"/>
            </a:lnRef>
            <a:fillRef idx="2">
              <a:schemeClr val="accent5"/>
            </a:fillRef>
            <a:effectRef idx="1">
              <a:schemeClr val="accent5"/>
            </a:effectRef>
            <a:fontRef idx="minor">
              <a:schemeClr val="dk1"/>
            </a:fontRef>
          </p:style>
          <p:txBody>
            <a:bodyPr wrap="square" lIns="180000" tIns="108000" bIns="108000" rtlCol="0">
              <a:spAutoFit/>
            </a:bodyPr>
            <a:lstStyle/>
            <a:p>
              <a:pPr algn="l">
                <a:lnSpc>
                  <a:spcPts val="2600"/>
                </a:lnSpc>
                <a:spcBef>
                  <a:spcPts val="0"/>
                </a:spcBef>
              </a:pPr>
              <a:r>
                <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抽象数据类型实质上就是对一个求解问题的形式化描述（与计算机无关），程序员可以在理解基础上实现它。</a:t>
              </a:r>
              <a:endParaRPr lang="zh-CN" altLang="en-US" sz="200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gr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214546" y="571480"/>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1.2 </a:t>
            </a:r>
            <a:r>
              <a:rPr lang="zh-CN" altLang="en-US"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算法及其描述</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428596" y="1643050"/>
            <a:ext cx="3000396"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1.2.1 </a:t>
            </a:r>
            <a:r>
              <a:rPr lang="zh-CN" altLang="en-US"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什么是算法</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857224" y="2500306"/>
            <a:ext cx="7286676" cy="49537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a:lnSpc>
                <a:spcPts val="3000"/>
              </a:lnSpc>
              <a:spcBef>
                <a:spcPts val="0"/>
              </a:spcBef>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算法</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是对特定问题求解步骤的一种描述，它是指令的有限序列</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785794"/>
            <a:ext cx="4071966"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算法具有以下</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五个重要的特性</a:t>
            </a:r>
            <a:endPar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TextBox 4"/>
          <p:cNvSpPr txBox="1"/>
          <p:nvPr/>
        </p:nvSpPr>
        <p:spPr>
          <a:xfrm>
            <a:off x="571472" y="1500174"/>
            <a:ext cx="7643866" cy="2139020"/>
          </a:xfrm>
          <a:prstGeom prst="rect">
            <a:avLst/>
          </a:prstGeom>
          <a:solidFill>
            <a:schemeClr val="bg1">
              <a:lumMod val="95000"/>
            </a:schemeClr>
          </a:solidFill>
          <a:ln>
            <a:solidFill>
              <a:schemeClr val="accent6">
                <a:lumMod val="20000"/>
                <a:lumOff val="80000"/>
              </a:schemeClr>
            </a:solidFill>
          </a:ln>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120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有穷性</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。指算法在执行有限的步骤之后，自动结束而不会出现无限循环，并且每一个步骤在可接受的时间内完成。</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120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确定性</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。对于每种情况下执行的操作，在算法中都有确定的含义，不会出现二义性。并且在任何条件下，算法都只有一条执行路径。</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714348" y="714356"/>
            <a:ext cx="7643866" cy="936255"/>
          </a:xfrm>
          <a:prstGeom prst="rect">
            <a:avLst/>
          </a:prstGeom>
          <a:solidFill>
            <a:schemeClr val="bg1">
              <a:lumMod val="95000"/>
            </a:schemeClr>
          </a:solidFill>
          <a:ln>
            <a:solidFill>
              <a:schemeClr val="accent6">
                <a:lumMod val="20000"/>
                <a:lumOff val="80000"/>
              </a:schemeClr>
            </a:solidFill>
          </a:ln>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120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可行性</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。算法的每条指令都是可执行的，即便人借助纸和笔都可以完成。</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785786" y="2714620"/>
            <a:ext cx="7858180" cy="286409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a:lnSpc>
                <a:spcPts val="2600"/>
              </a:lnSpc>
              <a:spcBef>
                <a:spcPts val="60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设两数为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a:t>
            </a:r>
            <a:r>
              <a:rPr lang="en-US" altLang="zh-CN" sz="2000" smtClean="0">
                <a:solidFill>
                  <a:srgbClr val="0000FF"/>
                </a:solidFill>
                <a:latin typeface="+mj-ea"/>
                <a:ea typeface="+mj-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，求</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最大公约数（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）的步骤如下：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除以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a:t>
            </a:r>
            <a:r>
              <a:rPr lang="en-US" altLang="zh-CN" sz="2000" smtClean="0">
                <a:solidFill>
                  <a:srgbClr val="0000FF"/>
                </a:solidFill>
                <a:latin typeface="+mn-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b=q..r1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r1</a:t>
            </a:r>
            <a:r>
              <a:rPr lang="zh-CN" altLang="zh-CN" sz="2000" smtClean="0">
                <a:solidFill>
                  <a:srgbClr val="0000FF"/>
                </a:solidFill>
                <a:latin typeface="+mn-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r1=0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，结束。</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，则再用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除以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r1=q..r2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r2</a:t>
            </a:r>
            <a:r>
              <a:rPr lang="zh-CN" altLang="zh-CN" sz="2000" smtClean="0">
                <a:solidFill>
                  <a:srgbClr val="0000FF"/>
                </a:solidFill>
                <a:latin typeface="+mj-ea"/>
                <a:ea typeface="+mj-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r2=0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，结束；若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，则继续，</a:t>
            </a:r>
            <a:r>
              <a:rPr lang="en-US" altLang="zh-CN" sz="2000" smtClean="0">
                <a:solidFill>
                  <a:srgbClr val="0000FF"/>
                </a:solidFill>
                <a:latin typeface="+mn-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，如此下去，直到能整除为止。</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60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其最后一个余数为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的除数即为（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）的最大公约数。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2285984" y="1928802"/>
            <a:ext cx="4071966" cy="424155"/>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楷体" panose="02010609060101010101" pitchFamily="49" charset="-122"/>
                <a:ea typeface="楷体" panose="02010609060101010101" pitchFamily="49" charset="-122"/>
                <a:cs typeface="Consolas" panose="020B0609020204030204" pitchFamily="49" charset="0"/>
              </a:rPr>
              <a:t>求最大公约数</a:t>
            </a:r>
            <a:r>
              <a:rPr lang="zh-CN" altLang="en-US" sz="2000" smtClean="0">
                <a:solidFill>
                  <a:srgbClr val="0000FF"/>
                </a:solidFill>
                <a:latin typeface="楷体" panose="02010609060101010101" pitchFamily="49" charset="-122"/>
                <a:ea typeface="楷体" panose="02010609060101010101" pitchFamily="49" charset="-122"/>
                <a:cs typeface="Consolas" panose="020B0609020204030204" pitchFamily="49" charset="0"/>
              </a:rPr>
              <a:t>算法！</a:t>
            </a:r>
            <a:endParaRPr lang="zh-CN" altLang="en-US" sz="2000" smtClean="0">
              <a:solidFill>
                <a:srgbClr val="0000FF"/>
              </a:solidFill>
              <a:latin typeface="楷体" panose="02010609060101010101" pitchFamily="49" charset="-122"/>
              <a:ea typeface="楷体" panose="02010609060101010101" pitchFamily="49" charset="-122"/>
            </a:endParaRPr>
          </a:p>
        </p:txBody>
      </p:sp>
      <p:sp>
        <p:nvSpPr>
          <p:cNvPr id="9" name="下箭头 8"/>
          <p:cNvSpPr/>
          <p:nvPr/>
        </p:nvSpPr>
        <p:spPr>
          <a:xfrm>
            <a:off x="3571868" y="2357430"/>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642910" y="785794"/>
            <a:ext cx="7643866" cy="2526434"/>
          </a:xfrm>
          <a:prstGeom prst="rect">
            <a:avLst/>
          </a:prstGeom>
          <a:solidFill>
            <a:schemeClr val="bg1">
              <a:lumMod val="95000"/>
            </a:schemeClr>
          </a:solidFill>
          <a:ln>
            <a:solidFill>
              <a:schemeClr val="accent6">
                <a:lumMod val="20000"/>
                <a:lumOff val="80000"/>
              </a:schemeClr>
            </a:solidFill>
          </a:ln>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marL="457200" indent="-457200" algn="l">
              <a:lnSpc>
                <a:spcPts val="2800"/>
              </a:lnSpc>
              <a:spcBef>
                <a:spcPts val="120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输入性</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。算法有零个或多个输入。大多数算法中输入参数是必要的，但对于较简单的算法，如计算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的值，不需要任何输入参数，因此算法的输入可以是零个。</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120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输出性</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。算法至少有一个或多个输出。算法用于某种数据处理，如果没有输出，这样的算法是没有意义的，算法的输出是和输入有着某些特定关系的量。</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4826"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4825" name="AutoShape 9"/>
          <p:cNvSpPr>
            <a:spLocks noChangeAspect="1" noChangeArrowheads="1" noTextEdit="1"/>
          </p:cNvSpPr>
          <p:nvPr/>
        </p:nvSpPr>
        <p:spPr bwMode="auto">
          <a:xfrm>
            <a:off x="1009054" y="1428736"/>
            <a:ext cx="6277590" cy="1500198"/>
          </a:xfrm>
          <a:prstGeom prst="rect">
            <a:avLst/>
          </a:prstGeom>
          <a:noFill/>
        </p:spPr>
        <p:txBody>
          <a:bodyPr vert="horz" wrap="square" lIns="91440" tIns="45720" rIns="91440" bIns="45720" numCol="1" anchor="t" anchorCtr="0" compatLnSpc="1"/>
          <a:lstStyle/>
          <a:p>
            <a:pPr>
              <a:lnSpc>
                <a:spcPts val="25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24" name="Text Box 8"/>
          <p:cNvSpPr txBox="1">
            <a:spLocks noChangeArrowheads="1"/>
          </p:cNvSpPr>
          <p:nvPr/>
        </p:nvSpPr>
        <p:spPr bwMode="auto">
          <a:xfrm>
            <a:off x="2151677" y="2259447"/>
            <a:ext cx="3876169" cy="658557"/>
          </a:xfrm>
          <a:prstGeom prst="rect">
            <a:avLst/>
          </a:prstGeom>
          <a:solidFill>
            <a:schemeClr val="accent6">
              <a:lumMod val="20000"/>
              <a:lumOff val="80000"/>
            </a:schemeClr>
          </a:solidFill>
          <a:ln w="9525">
            <a:solidFill>
              <a:srgbClr val="000000"/>
            </a:solidFill>
            <a:miter lim="800000"/>
          </a:ln>
        </p:spPr>
        <p:txBody>
          <a:bodyPr vert="horz" wrap="square" lIns="72000" tIns="0" rIns="0" bIns="0" numCol="1" anchor="t" anchorCtr="0" compatLnSpc="1"/>
          <a:lstStyle/>
          <a:p>
            <a:pPr marL="0" marR="0" lvl="0" indent="0" defTabSz="914400" rtl="0" eaLnBrk="1" fontAlgn="base" latinLnBrk="0" hangingPunct="1">
              <a:lnSpc>
                <a:spcPts val="45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微软雅黑" panose="020B0503020204020204" pitchFamily="34" charset="-122"/>
                <a:ea typeface="微软雅黑" panose="020B0503020204020204" pitchFamily="34" charset="-122"/>
                <a:cs typeface="Consolas" panose="020B0609020204030204" pitchFamily="49" charset="0"/>
              </a:rPr>
              <a:t>算法（有穷性、确定性、可行性）</a:t>
            </a:r>
            <a:endParaRPr kumimoji="0" lang="zh-CN" sz="1800" i="0" u="none" strike="noStrike" cap="none" normalizeH="0" baseline="0" smtClean="0">
              <a:ln>
                <a:noFill/>
              </a:ln>
              <a:solidFill>
                <a:srgbClr val="0000FF"/>
              </a:solidFill>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34823" name="Text Box 7"/>
          <p:cNvSpPr txBox="1">
            <a:spLocks noChangeArrowheads="1"/>
          </p:cNvSpPr>
          <p:nvPr/>
        </p:nvSpPr>
        <p:spPr bwMode="auto">
          <a:xfrm>
            <a:off x="1132880" y="2447918"/>
            <a:ext cx="619148" cy="386663"/>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5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输入</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2" name="AutoShape 6"/>
          <p:cNvSpPr>
            <a:spLocks noChangeArrowheads="1"/>
          </p:cNvSpPr>
          <p:nvPr/>
        </p:nvSpPr>
        <p:spPr bwMode="auto">
          <a:xfrm>
            <a:off x="1641870" y="2491718"/>
            <a:ext cx="490672" cy="214509"/>
          </a:xfrm>
          <a:prstGeom prst="rightArrow">
            <a:avLst>
              <a:gd name="adj1" fmla="val 50000"/>
              <a:gd name="adj2" fmla="val 57166"/>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a:lnSpc>
                <a:spcPts val="25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21" name="Text Box 5"/>
          <p:cNvSpPr txBox="1">
            <a:spLocks noChangeArrowheads="1"/>
          </p:cNvSpPr>
          <p:nvPr/>
        </p:nvSpPr>
        <p:spPr bwMode="auto">
          <a:xfrm>
            <a:off x="6666129" y="2451783"/>
            <a:ext cx="620515" cy="386663"/>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5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输出</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0" name="AutoShape 4"/>
          <p:cNvSpPr>
            <a:spLocks noChangeArrowheads="1"/>
          </p:cNvSpPr>
          <p:nvPr/>
        </p:nvSpPr>
        <p:spPr bwMode="auto">
          <a:xfrm>
            <a:off x="6070216" y="2491718"/>
            <a:ext cx="492038" cy="214509"/>
          </a:xfrm>
          <a:prstGeom prst="rightArrow">
            <a:avLst>
              <a:gd name="adj1" fmla="val 50000"/>
              <a:gd name="adj2" fmla="val 57325"/>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a:lnSpc>
                <a:spcPts val="25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19" name="Text Box 3"/>
          <p:cNvSpPr txBox="1">
            <a:spLocks noChangeArrowheads="1"/>
          </p:cNvSpPr>
          <p:nvPr/>
        </p:nvSpPr>
        <p:spPr bwMode="auto">
          <a:xfrm>
            <a:off x="3585422" y="1000108"/>
            <a:ext cx="1343768" cy="386663"/>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5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求解问题</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18" name="Line 2"/>
          <p:cNvSpPr>
            <a:spLocks noChangeShapeType="1"/>
          </p:cNvSpPr>
          <p:nvPr/>
        </p:nvSpPr>
        <p:spPr bwMode="auto">
          <a:xfrm flipH="1">
            <a:off x="4074727" y="1428736"/>
            <a:ext cx="0" cy="812949"/>
          </a:xfrm>
          <a:prstGeom prst="line">
            <a:avLst/>
          </a:prstGeom>
          <a:ln>
            <a:tailEnd type="arrow" w="lg" len="lg"/>
          </a:ln>
        </p:spPr>
        <p:style>
          <a:lnRef idx="3">
            <a:schemeClr val="accent5"/>
          </a:lnRef>
          <a:fillRef idx="0">
            <a:schemeClr val="accent5"/>
          </a:fillRef>
          <a:effectRef idx="2">
            <a:schemeClr val="accent5"/>
          </a:effectRef>
          <a:fontRef idx="minor">
            <a:schemeClr val="tx1"/>
          </a:fontRef>
        </p:style>
        <p:txBody>
          <a:bodyPr vert="horz" wrap="square" lIns="91440" tIns="45720" rIns="91440" bIns="45720" numCol="1" anchor="t" anchorCtr="0" compatLnSpc="1"/>
          <a:lstStyle/>
          <a:p>
            <a:pPr>
              <a:lnSpc>
                <a:spcPts val="25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71472" y="571480"/>
            <a:ext cx="7929618" cy="39287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80000" bIns="108000" rtlCol="0">
            <a:spAutoFit/>
          </a:bodyPr>
          <a:lstStyle/>
          <a:p>
            <a:pPr algn="l"/>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1.7</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考虑下列两段描述：</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ct val="150000"/>
              </a:lnSpc>
            </a:pP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）描述一</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）描述二</a:t>
            </a:r>
            <a:endPar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exam1():			void exam2():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n=2;			{  int x=0,y=0;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while(n%2==0)		   x=5/y</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n=n+2;			   cout &lt;&lt; x &lt;&lt; endl;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n &lt;&lt; endl;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这两段描述均不能满足算法的特征，试问它们违反了哪些特性？</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2" name="组合 11"/>
          <p:cNvGrpSpPr/>
          <p:nvPr/>
        </p:nvGrpSpPr>
        <p:grpSpPr>
          <a:xfrm>
            <a:off x="1000100" y="3524244"/>
            <a:ext cx="1000132" cy="1976458"/>
            <a:chOff x="1214414" y="3001166"/>
            <a:chExt cx="1000132" cy="1976458"/>
          </a:xfrm>
        </p:grpSpPr>
        <p:sp>
          <p:nvSpPr>
            <p:cNvPr id="5" name="TextBox 4"/>
            <p:cNvSpPr txBox="1"/>
            <p:nvPr/>
          </p:nvSpPr>
          <p:spPr>
            <a:xfrm>
              <a:off x="1214414" y="4500570"/>
              <a:ext cx="1000132" cy="477054"/>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华文中宋" panose="02010600040101010101" pitchFamily="2" charset="-122"/>
                  <a:ea typeface="华文中宋" panose="02010600040101010101" pitchFamily="2" charset="-122"/>
                </a:rPr>
                <a:t>有穷性</a:t>
              </a:r>
              <a:endParaRPr lang="zh-CN" altLang="en-US" sz="2000" smtClean="0">
                <a:solidFill>
                  <a:srgbClr val="FF0000"/>
                </a:solidFill>
                <a:latin typeface="华文中宋" panose="02010600040101010101" pitchFamily="2" charset="-122"/>
                <a:ea typeface="华文中宋" panose="02010600040101010101" pitchFamily="2" charset="-122"/>
              </a:endParaRPr>
            </a:p>
          </p:txBody>
        </p:sp>
        <p:cxnSp>
          <p:nvCxnSpPr>
            <p:cNvPr id="9" name="直接箭头连接符 8"/>
            <p:cNvCxnSpPr/>
            <p:nvPr/>
          </p:nvCxnSpPr>
          <p:spPr>
            <a:xfrm rot="5400000" flipH="1" flipV="1">
              <a:off x="964381" y="3750471"/>
              <a:ext cx="1500198" cy="158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grpSp>
        <p:nvGrpSpPr>
          <p:cNvPr id="13" name="组合 12"/>
          <p:cNvGrpSpPr/>
          <p:nvPr/>
        </p:nvGrpSpPr>
        <p:grpSpPr>
          <a:xfrm>
            <a:off x="4857752" y="3309930"/>
            <a:ext cx="1000132" cy="2190772"/>
            <a:chOff x="5572132" y="2715414"/>
            <a:chExt cx="1000132" cy="2190772"/>
          </a:xfrm>
        </p:grpSpPr>
        <p:sp>
          <p:nvSpPr>
            <p:cNvPr id="7" name="TextBox 6"/>
            <p:cNvSpPr txBox="1"/>
            <p:nvPr/>
          </p:nvSpPr>
          <p:spPr>
            <a:xfrm>
              <a:off x="5572132" y="4429132"/>
              <a:ext cx="1000132" cy="477054"/>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华文中宋" panose="02010600040101010101" pitchFamily="2" charset="-122"/>
                  <a:ea typeface="华文中宋" panose="02010600040101010101" pitchFamily="2" charset="-122"/>
                </a:rPr>
                <a:t>可行性</a:t>
              </a:r>
              <a:endParaRPr lang="zh-CN" altLang="en-US" sz="2000" smtClean="0">
                <a:solidFill>
                  <a:srgbClr val="FF0000"/>
                </a:solidFill>
                <a:latin typeface="华文中宋" panose="02010600040101010101" pitchFamily="2" charset="-122"/>
                <a:ea typeface="华文中宋" panose="02010600040101010101" pitchFamily="2" charset="-122"/>
              </a:endParaRPr>
            </a:p>
          </p:txBody>
        </p:sp>
        <p:cxnSp>
          <p:nvCxnSpPr>
            <p:cNvPr id="11" name="直接箭头连接符 10"/>
            <p:cNvCxnSpPr/>
            <p:nvPr/>
          </p:nvCxnSpPr>
          <p:spPr>
            <a:xfrm rot="5400000" flipH="1" flipV="1">
              <a:off x="5230817" y="3536157"/>
              <a:ext cx="1643074" cy="158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714356"/>
            <a:ext cx="3000396"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1.2.2 </a:t>
            </a:r>
            <a:r>
              <a:rPr lang="zh-CN" altLang="en-US"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算法描述</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1500174"/>
            <a:ext cx="742955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通常算法用一个或者几个函数（或者方法）描述，其一般格式</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矩形 5"/>
          <p:cNvSpPr/>
          <p:nvPr/>
        </p:nvSpPr>
        <p:spPr>
          <a:xfrm>
            <a:off x="1000100" y="2143116"/>
            <a:ext cx="5286412" cy="1857388"/>
          </a:xfrm>
          <a:prstGeom prst="rect">
            <a:avLst/>
          </a:prstGeom>
          <a:solidFill>
            <a:schemeClr val="bg1">
              <a:lumMod val="95000"/>
            </a:schemeClr>
          </a:solidFill>
        </p:spPr>
        <p:style>
          <a:lnRef idx="1">
            <a:schemeClr val="accent6"/>
          </a:lnRef>
          <a:fillRef idx="2">
            <a:schemeClr val="accent6"/>
          </a:fillRef>
          <a:effectRef idx="1">
            <a:schemeClr val="accent6"/>
          </a:effectRef>
          <a:fontRef idx="minor">
            <a:schemeClr val="dk1"/>
          </a:fontRef>
        </p:style>
        <p:txBody>
          <a:bodyPr lIns="216000" rtlCol="0" anchor="ctr"/>
          <a:lstStyle/>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算法对应的函数或者方法名</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形参列表</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临时局部变量的定义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实现由输入参数到输出参数的操作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mn-ea"/>
                <a:cs typeface="Consolas" panose="020B0609020204030204" pitchFamily="49" charset="0"/>
              </a:rPr>
              <a:t>…</a:t>
            </a:r>
            <a:endParaRPr lang="en-US" altLang="zh-CN" sz="1800" smtClean="0">
              <a:solidFill>
                <a:srgbClr val="0000FF"/>
              </a:solidFill>
              <a:latin typeface="+mn-ea"/>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6572264" y="3000372"/>
            <a:ext cx="857256" cy="338554"/>
          </a:xfrm>
          <a:prstGeom prst="rect">
            <a:avLst/>
          </a:prstGeom>
          <a:noFill/>
        </p:spPr>
        <p:txBody>
          <a:bodyPr wrap="square" rtlCol="0">
            <a:spAutoFit/>
          </a:bodyPr>
          <a:lstStyle/>
          <a:p>
            <a:pPr algn="l">
              <a:lnSpc>
                <a:spcPct val="100000"/>
              </a:lnSpc>
              <a:spcBef>
                <a:spcPts val="0"/>
              </a:spcBef>
            </a:pPr>
            <a:r>
              <a:rPr lang="zh-CN" altLang="zh-CN" sz="1600" smtClean="0">
                <a:solidFill>
                  <a:srgbClr val="0000FF"/>
                </a:solidFill>
                <a:latin typeface="仿宋" panose="02010609060101010101" pitchFamily="49" charset="-122"/>
                <a:ea typeface="仿宋" panose="02010609060101010101" pitchFamily="49" charset="-122"/>
              </a:rPr>
              <a:t>函数体</a:t>
            </a:r>
            <a:endParaRPr lang="zh-CN" altLang="en-US" sz="1600" smtClean="0">
              <a:solidFill>
                <a:srgbClr val="0000FF"/>
              </a:solidFill>
              <a:latin typeface="仿宋" panose="02010609060101010101" pitchFamily="49" charset="-122"/>
              <a:ea typeface="仿宋" panose="02010609060101010101" pitchFamily="49" charset="-122"/>
            </a:endParaRPr>
          </a:p>
        </p:txBody>
      </p:sp>
      <p:sp>
        <p:nvSpPr>
          <p:cNvPr id="9" name="右大括号 8"/>
          <p:cNvSpPr/>
          <p:nvPr/>
        </p:nvSpPr>
        <p:spPr>
          <a:xfrm>
            <a:off x="6357950" y="2714620"/>
            <a:ext cx="214314" cy="928694"/>
          </a:xfrm>
          <a:prstGeom prst="rightBrace">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 name="TextBox 9"/>
          <p:cNvSpPr txBox="1"/>
          <p:nvPr/>
        </p:nvSpPr>
        <p:spPr>
          <a:xfrm>
            <a:off x="714348" y="4429132"/>
            <a:ext cx="7000924" cy="137227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000"/>
              </a:lnSpc>
              <a:spcBef>
                <a:spcPts val="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函数的返回值</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通常为布尔类型，表示算法是否成功执行。</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形参列表</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表示算法的参数，由输入参数和输出参数构成</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函数体</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实现算法的功能。</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571480"/>
            <a:ext cx="7500990" cy="400110"/>
          </a:xfrm>
          <a:prstGeom prst="rect">
            <a:avLst/>
          </a:prstGeom>
          <a:noFill/>
        </p:spPr>
        <p:txBody>
          <a:bodyPr wrap="square" rtlCol="0">
            <a:spAutoFit/>
          </a:bodyPr>
          <a:lstStyle/>
          <a:p>
            <a:pPr algn="l">
              <a:lnSpc>
                <a:spcPct val="100000"/>
              </a:lnSpc>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1.8</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求和问题是当</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smtClean="0">
                <a:solidFill>
                  <a:srgbClr val="0000FF"/>
                </a:solidFill>
                <a:latin typeface="+mn-ea"/>
                <a:ea typeface="+mn-ea"/>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时求</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=1+2+</a:t>
            </a:r>
            <a:r>
              <a:rPr lang="zh-CN" altLang="zh-CN" sz="2000" smtClean="0">
                <a:solidFill>
                  <a:srgbClr val="0000FF"/>
                </a:solidFill>
                <a:latin typeface="+mj-ea"/>
                <a:ea typeface="+mj-ea"/>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。设计对应的算法。</a:t>
            </a:r>
            <a:endPar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928662" y="1357298"/>
            <a:ext cx="7358114"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ct val="100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输入参数为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，操作结果为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初始条件是</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mn-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当初始条件不满足，返回</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False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，否则计算出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并返回</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True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571480"/>
            <a:ext cx="1428760" cy="400110"/>
          </a:xfrm>
          <a:prstGeom prst="rect">
            <a:avLst/>
          </a:prstGeom>
          <a:blipFill>
            <a:blip r:embed="rId1" cstate="print"/>
            <a:tile tx="0" ty="0" sx="100000" sy="100000" flip="none" algn="tl"/>
          </a:blipFill>
        </p:spPr>
        <p:txBody>
          <a:bodyPr wrap="square" rtlCol="0">
            <a:spAutoFit/>
          </a:bodyPr>
          <a:lstStyle/>
          <a:p>
            <a:pPr>
              <a:lnSpc>
                <a:spcPct val="100000"/>
              </a:lnSpc>
              <a:spcBef>
                <a:spcPts val="0"/>
              </a:spcBef>
            </a:pPr>
            <a:r>
              <a:rPr lang="zh-CN" altLang="en-US"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求解</a:t>
            </a:r>
            <a:r>
              <a:rPr lang="zh-CN" altLang="zh-CN"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算法</a:t>
            </a:r>
            <a:r>
              <a:rPr lang="en-US" altLang="zh-CN"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1</a:t>
            </a:r>
            <a:endParaRPr lang="zh-CN" altLang="en-US"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857224" y="1285860"/>
            <a:ext cx="6072230" cy="18211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Sum1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n,int&amp; s)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求和算法</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(n&lt;1) return false;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s=n*(n+1)/2;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857224" y="3714752"/>
            <a:ext cx="6000792" cy="257773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n=-5,s;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Sum1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的和</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=%d\n",n,s);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参数</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n</a:t>
            </a:r>
            <a:r>
              <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错误</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\n");</a:t>
            </a:r>
            <a:endPar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上箭头 8"/>
          <p:cNvSpPr/>
          <p:nvPr/>
        </p:nvSpPr>
        <p:spPr>
          <a:xfrm>
            <a:off x="3000364" y="3143248"/>
            <a:ext cx="214314" cy="500066"/>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1056285"/>
            <a:ext cx="1546596" cy="400110"/>
          </a:xfrm>
          <a:prstGeom prst="rect">
            <a:avLst/>
          </a:prstGeom>
          <a:blipFill>
            <a:blip r:embed="rId1" cstate="print"/>
            <a:tile tx="0" ty="0" sx="100000" sy="100000" flip="none" algn="tl"/>
          </a:blipFill>
        </p:spPr>
        <p:txBody>
          <a:bodyPr wrap="square" rtlCol="0">
            <a:spAutoFit/>
          </a:bodyPr>
          <a:lstStyle/>
          <a:p>
            <a:pPr>
              <a:lnSpc>
                <a:spcPct val="100000"/>
              </a:lnSpc>
              <a:spcBef>
                <a:spcPts val="0"/>
              </a:spcBef>
            </a:pPr>
            <a:r>
              <a:rPr lang="zh-CN" altLang="en-US"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求解</a:t>
            </a:r>
            <a:r>
              <a:rPr lang="zh-CN" altLang="zh-CN"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算法</a:t>
            </a:r>
            <a:r>
              <a:rPr lang="en-US" altLang="zh-CN"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2</a:t>
            </a:r>
            <a:endParaRPr lang="zh-CN" altLang="en-US"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928662" y="1642736"/>
            <a:ext cx="6286544" cy="15005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Sum2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n)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求和算法</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2</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(n&lt;1) return -1;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n*(n+1)/2;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785786" y="3643314"/>
            <a:ext cx="7572428" cy="275726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n=5;</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s=Sum2(n);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(s!=-1)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printf("1</a:t>
            </a:r>
            <a:r>
              <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%d</a:t>
            </a:r>
            <a:r>
              <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的和</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=%d\n",n,s);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输出：</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5</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的和</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=15</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参数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错误</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reurn 0;</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上箭头 8"/>
          <p:cNvSpPr/>
          <p:nvPr/>
        </p:nvSpPr>
        <p:spPr>
          <a:xfrm>
            <a:off x="3071802" y="3214686"/>
            <a:ext cx="214314" cy="372451"/>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 name="TextBox 10"/>
          <p:cNvSpPr txBox="1"/>
          <p:nvPr/>
        </p:nvSpPr>
        <p:spPr>
          <a:xfrm>
            <a:off x="571472" y="428604"/>
            <a:ext cx="7500990"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在有些情况下可以直接用算法的返回值来区分输入参数的正确性。</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1000108"/>
            <a:ext cx="1428760" cy="400110"/>
          </a:xfrm>
          <a:prstGeom prst="rect">
            <a:avLst/>
          </a:prstGeom>
          <a:blipFill>
            <a:blip r:embed="rId1" cstate="print"/>
            <a:tile tx="0" ty="0" sx="100000" sy="100000" flip="none" algn="tl"/>
          </a:blipFill>
        </p:spPr>
        <p:txBody>
          <a:bodyPr wrap="square" rtlCol="0">
            <a:spAutoFit/>
          </a:bodyPr>
          <a:lstStyle/>
          <a:p>
            <a:pPr>
              <a:lnSpc>
                <a:spcPct val="100000"/>
              </a:lnSpc>
              <a:spcBef>
                <a:spcPts val="0"/>
              </a:spcBef>
            </a:pPr>
            <a:r>
              <a:rPr lang="zh-CN" altLang="en-US"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求解</a:t>
            </a:r>
            <a:r>
              <a:rPr lang="zh-CN" altLang="zh-CN"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算法</a:t>
            </a:r>
            <a:r>
              <a:rPr lang="en-US" altLang="zh-CN"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rPr>
              <a:t>3</a:t>
            </a:r>
            <a:endParaRPr lang="zh-CN" altLang="en-US" sz="2000" smtClean="0">
              <a:solidFill>
                <a:srgbClr val="FF33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857224" y="1643050"/>
            <a:ext cx="6357982" cy="18211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Sum3(int n)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求和算法</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3</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(n&lt;1)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throw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参数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错误</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抛出异常信息</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n*(n+1)/2;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928662" y="4091017"/>
            <a:ext cx="6143668" cy="18840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n=-5;</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的和</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=%d\n",n,Sum3(n));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上箭头 8"/>
          <p:cNvSpPr/>
          <p:nvPr/>
        </p:nvSpPr>
        <p:spPr>
          <a:xfrm>
            <a:off x="3143240" y="3514726"/>
            <a:ext cx="214314" cy="41434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785786" y="428604"/>
            <a:ext cx="735811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在用</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语言描述算法时，用</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throw</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语句抛出异常</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500042"/>
            <a:ext cx="542928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1.2.3 C++</a:t>
            </a:r>
            <a:r>
              <a:rPr lang="zh-CN" altLang="zh-CN" smtClean="0">
                <a:latin typeface="Consolas" panose="020B0609020204030204" pitchFamily="49" charset="0"/>
                <a:ea typeface="微软雅黑" panose="020B0503020204020204" pitchFamily="34" charset="-122"/>
                <a:cs typeface="Consolas" panose="020B0609020204030204" pitchFamily="49" charset="0"/>
              </a:rPr>
              <a:t>语言描述算法要点</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pic>
        <p:nvPicPr>
          <p:cNvPr id="2050" name="Picture 2"/>
          <p:cNvPicPr>
            <a:picLocks noChangeAspect="1" noChangeArrowheads="1"/>
          </p:cNvPicPr>
          <p:nvPr/>
        </p:nvPicPr>
        <p:blipFill>
          <a:blip r:embed="rId1" cstate="print"/>
          <a:srcRect/>
          <a:stretch>
            <a:fillRect/>
          </a:stretch>
        </p:blipFill>
        <p:spPr bwMode="auto">
          <a:xfrm>
            <a:off x="2071670" y="1643050"/>
            <a:ext cx="1780347" cy="2214578"/>
          </a:xfrm>
          <a:prstGeom prst="rect">
            <a:avLst/>
          </a:prstGeom>
          <a:noFill/>
          <a:ln w="9525">
            <a:noFill/>
            <a:miter lim="800000"/>
            <a:headEnd/>
            <a:tailEnd/>
          </a:ln>
        </p:spPr>
      </p:pic>
      <p:sp>
        <p:nvSpPr>
          <p:cNvPr id="13" name="TextBox 12"/>
          <p:cNvSpPr txBox="1"/>
          <p:nvPr/>
        </p:nvSpPr>
        <p:spPr>
          <a:xfrm>
            <a:off x="2714612" y="4143380"/>
            <a:ext cx="714380"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自学</a:t>
            </a:r>
            <a:endPar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857224" y="1643050"/>
            <a:ext cx="7500990" cy="2381128"/>
          </a:xfrm>
          <a:prstGeom prst="rect">
            <a:avLst/>
          </a:prstGeom>
          <a:solidFill>
            <a:schemeClr val="bg1"/>
          </a:solidFill>
          <a:ln>
            <a:solidFill>
              <a:schemeClr val="accent6">
                <a:lumMod val="20000"/>
                <a:lumOff val="80000"/>
              </a:schemeClr>
            </a:solidFill>
          </a:ln>
        </p:spPr>
        <p:style>
          <a:lnRef idx="3">
            <a:schemeClr val="lt1"/>
          </a:lnRef>
          <a:fillRef idx="1">
            <a:schemeClr val="accent5"/>
          </a:fillRef>
          <a:effectRef idx="1">
            <a:schemeClr val="accent5"/>
          </a:effectRef>
          <a:fontRef idx="minor">
            <a:schemeClr val="lt1"/>
          </a:fontRef>
        </p:style>
        <p:txBody>
          <a:bodyPr wrap="square" lIns="180000" tIns="144000" bIns="144000" rtlCol="0">
            <a:spAutoFit/>
          </a:bodyPr>
          <a:lstStyle/>
          <a:p>
            <a:pPr algn="l">
              <a:lnSpc>
                <a:spcPts val="2500"/>
              </a:lnSpc>
              <a:spcBef>
                <a:spcPts val="600"/>
              </a:spcBef>
            </a:pPr>
            <a:r>
              <a:rPr lang="zh-CN" altLang="zh-CN" sz="2000" smtClean="0">
                <a:solidFill>
                  <a:srgbClr val="0000FF"/>
                </a:solidFill>
                <a:latin typeface="华文中宋" panose="02010600040101010101" pitchFamily="2" charset="-122"/>
                <a:ea typeface="华文中宋" panose="02010600040101010101" pitchFamily="2" charset="-122"/>
              </a:rPr>
              <a:t>数据结构的实现通常用类模板来描述</a:t>
            </a:r>
            <a:r>
              <a:rPr lang="zh-CN" altLang="en-US" sz="2000" smtClean="0">
                <a:solidFill>
                  <a:srgbClr val="0000FF"/>
                </a:solidFill>
                <a:latin typeface="华文中宋" panose="02010600040101010101" pitchFamily="2" charset="-122"/>
                <a:ea typeface="华文中宋" panose="02010600040101010101" pitchFamily="2" charset="-122"/>
              </a:rPr>
              <a:t>：</a:t>
            </a:r>
            <a:endParaRPr lang="en-US" altLang="zh-CN" sz="2000" smtClean="0">
              <a:solidFill>
                <a:srgbClr val="0000FF"/>
              </a:solidFill>
              <a:latin typeface="华文中宋" panose="02010600040101010101" pitchFamily="2" charset="-122"/>
              <a:ea typeface="华文中宋" panose="02010600040101010101" pitchFamily="2" charset="-122"/>
            </a:endParaRPr>
          </a:p>
          <a:p>
            <a:pPr marL="342900" indent="-342900" algn="l">
              <a:lnSpc>
                <a:spcPct val="150000"/>
              </a:lnSpc>
              <a:spcBef>
                <a:spcPts val="2400"/>
              </a:spcBef>
              <a:buBlip>
                <a:blip r:embed="rId1"/>
              </a:buBlip>
            </a:pPr>
            <a:r>
              <a:rPr lang="zh-CN" altLang="zh-CN" sz="2000" smtClean="0">
                <a:solidFill>
                  <a:srgbClr val="0000FF"/>
                </a:solidFill>
                <a:latin typeface="仿宋" panose="02010609060101010101" pitchFamily="49" charset="-122"/>
                <a:ea typeface="仿宋" panose="02010609060101010101" pitchFamily="49" charset="-122"/>
              </a:rPr>
              <a:t>数据结构关注的是数据元素及其关系是如何保存的，基于这些关系的运算是如何实现的，而数据元素可以是任意类型。</a:t>
            </a:r>
            <a:endParaRPr lang="en-US" altLang="zh-CN" sz="2000" smtClean="0">
              <a:solidFill>
                <a:srgbClr val="0000FF"/>
              </a:solidFill>
              <a:latin typeface="仿宋" panose="02010609060101010101" pitchFamily="49" charset="-122"/>
              <a:ea typeface="仿宋" panose="02010609060101010101" pitchFamily="49" charset="-122"/>
            </a:endParaRPr>
          </a:p>
          <a:p>
            <a:pPr marL="342900" indent="-342900" algn="l">
              <a:lnSpc>
                <a:spcPct val="150000"/>
              </a:lnSpc>
              <a:spcBef>
                <a:spcPts val="600"/>
              </a:spcBef>
              <a:buBlip>
                <a:blip r:embed="rId1"/>
              </a:buBlip>
            </a:pPr>
            <a:r>
              <a:rPr lang="zh-CN" altLang="zh-CN" sz="2000" smtClean="0">
                <a:solidFill>
                  <a:srgbClr val="0000FF"/>
                </a:solidFill>
                <a:latin typeface="仿宋" panose="02010609060101010101" pitchFamily="49" charset="-122"/>
                <a:ea typeface="仿宋" panose="02010609060101010101" pitchFamily="49" charset="-122"/>
              </a:rPr>
              <a:t>使用类模板来描述，可以避免对于具体数据元素类型的依赖。</a:t>
            </a:r>
            <a:endParaRPr lang="zh-CN" altLang="zh-CN" sz="2000" smtClean="0">
              <a:solidFill>
                <a:srgbClr val="0000FF"/>
              </a:solidFill>
              <a:latin typeface="仿宋" panose="02010609060101010101" pitchFamily="49" charset="-122"/>
              <a:ea typeface="仿宋" panose="02010609060101010101" pitchFamily="49" charset="-122"/>
            </a:endParaRPr>
          </a:p>
        </p:txBody>
      </p:sp>
      <p:grpSp>
        <p:nvGrpSpPr>
          <p:cNvPr id="9" name="组合 8"/>
          <p:cNvGrpSpPr/>
          <p:nvPr/>
        </p:nvGrpSpPr>
        <p:grpSpPr>
          <a:xfrm>
            <a:off x="1071538" y="571480"/>
            <a:ext cx="896901" cy="896901"/>
            <a:chOff x="388951" y="5103867"/>
            <a:chExt cx="896901" cy="896901"/>
          </a:xfrm>
        </p:grpSpPr>
        <p:sp>
          <p:nvSpPr>
            <p:cNvPr id="10" name="椭圆 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1" name="椭圆 10"/>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2" name="文本框 14"/>
            <p:cNvSpPr txBox="1"/>
            <p:nvPr/>
          </p:nvSpPr>
          <p:spPr>
            <a:xfrm>
              <a:off x="525185" y="5431228"/>
              <a:ext cx="646331" cy="313932"/>
            </a:xfrm>
            <a:prstGeom prst="rect">
              <a:avLst/>
            </a:prstGeom>
            <a:noFill/>
          </p:spPr>
          <p:txBody>
            <a:bodyPr wrap="none" rtlCol="0">
              <a:spAutoFit/>
            </a:bodyPr>
            <a:lstStyle/>
            <a:p>
              <a:r>
                <a:rPr lang="zh-CN" altLang="en-US" sz="1800" smtClean="0">
                  <a:solidFill>
                    <a:srgbClr val="FF0000"/>
                  </a:solidFill>
                  <a:latin typeface="微软雅黑" panose="020B0503020204020204" pitchFamily="34" charset="-122"/>
                  <a:ea typeface="微软雅黑" panose="020B0503020204020204" pitchFamily="34" charset="-122"/>
                </a:rPr>
                <a:t>提示</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428860" y="428604"/>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1.3 </a:t>
            </a:r>
            <a:r>
              <a:rPr lang="zh-CN" altLang="en-US"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算法分析</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428596" y="1500174"/>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1.3.1 </a:t>
            </a:r>
            <a:r>
              <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算法的设计目标</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1571604" y="2357430"/>
            <a:ext cx="4572032" cy="2445248"/>
          </a:xfrm>
          <a:prstGeom prst="rect">
            <a:avLst/>
          </a:prstGeom>
          <a:solidFill>
            <a:schemeClr val="accent5">
              <a:lumMod val="20000"/>
              <a:lumOff val="80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marL="457200" indent="-457200" algn="l">
              <a:lnSpc>
                <a:spcPct val="1000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正确性。</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可使用性。</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可读性。</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健壮性。</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zh-CN" altLang="zh-CN" sz="2000" smtClean="0">
                <a:solidFill>
                  <a:srgbClr val="FF0000"/>
                </a:solidFill>
                <a:latin typeface="华文中宋" panose="02010600040101010101" pitchFamily="2" charset="-122"/>
                <a:ea typeface="华文中宋" panose="02010600040101010101" pitchFamily="2" charset="-122"/>
                <a:cs typeface="Consolas" panose="020B0609020204030204" pitchFamily="49" charset="0"/>
              </a:rPr>
              <a:t>高时间性能与低存储量需求</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785786" y="2214554"/>
            <a:ext cx="2571768" cy="338554"/>
          </a:xfrm>
          <a:prstGeom prst="rect">
            <a:avLst/>
          </a:prstGeom>
          <a:noFill/>
        </p:spPr>
        <p:txBody>
          <a:bodyPr wrap="square" rtlCol="0">
            <a:spAutoFit/>
          </a:bodyPr>
          <a:lstStyle/>
          <a:p>
            <a:pPr algn="l"/>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分析算法</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占用的资源</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左大括号 4"/>
          <p:cNvSpPr/>
          <p:nvPr/>
        </p:nvSpPr>
        <p:spPr bwMode="auto">
          <a:xfrm>
            <a:off x="3357554" y="1705082"/>
            <a:ext cx="214314" cy="1214446"/>
          </a:xfrm>
          <a:prstGeom prst="leftBrac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none" lIns="91440" tIns="45720" rIns="91440" bIns="45720" numCol="1" rtlCol="0" anchor="ctr" anchorCtr="0" compatLnSpc="1">
            <a:noAutofit/>
          </a:bodyPr>
          <a:lstStyle/>
          <a:p>
            <a:pPr marL="0" marR="0" indent="0" algn="ctr" defTabSz="914400" rtl="0" eaLnBrk="1" fontAlgn="base" latinLnBrk="0" hangingPunct="1">
              <a:lnSpc>
                <a:spcPct val="110000"/>
              </a:lnSpc>
              <a:spcBef>
                <a:spcPct val="50000"/>
              </a:spcBef>
              <a:spcAft>
                <a:spcPct val="0"/>
              </a:spcAft>
              <a:buClrTx/>
              <a:buSzTx/>
              <a:buFontTx/>
              <a:buNone/>
            </a:pPr>
            <a:endParaRPr kumimoji="1" lang="zh-CN" altLang="en-US" sz="2000" b="1" i="0" u="none" strike="noStrike" cap="none" normalizeH="0" baseline="0" smtClean="0">
              <a:ln>
                <a:noFill/>
              </a:ln>
              <a:solidFill>
                <a:srgbClr val="0033CC"/>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571868" y="1733124"/>
            <a:ext cx="1285884" cy="338554"/>
          </a:xfrm>
          <a:prstGeom prst="rect">
            <a:avLst/>
          </a:prstGeom>
          <a:noFill/>
        </p:spPr>
        <p:txBody>
          <a:bodyPr wrap="square" rtlCol="0">
            <a:spAutoFit/>
          </a:bodyPr>
          <a:lstStyle/>
          <a:p>
            <a:pPr algn="l"/>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CPU</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时间</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3571868" y="2563806"/>
            <a:ext cx="1214446" cy="338554"/>
          </a:xfrm>
          <a:prstGeom prst="rect">
            <a:avLst/>
          </a:prstGeom>
          <a:noFill/>
        </p:spPr>
        <p:txBody>
          <a:bodyPr wrap="square" rtlCol="0">
            <a:spAutoFit/>
          </a:bodyPr>
          <a:lstStyle/>
          <a:p>
            <a:pPr algn="l"/>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内存空间</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8"/>
          <p:cNvGrpSpPr/>
          <p:nvPr/>
        </p:nvGrpSpPr>
        <p:grpSpPr>
          <a:xfrm>
            <a:off x="5000627" y="1731832"/>
            <a:ext cx="2500331" cy="351354"/>
            <a:chOff x="5500694" y="2257298"/>
            <a:chExt cx="3040943" cy="351354"/>
          </a:xfrm>
        </p:grpSpPr>
        <p:sp>
          <p:nvSpPr>
            <p:cNvPr id="10" name="右箭头 9"/>
            <p:cNvSpPr/>
            <p:nvPr/>
          </p:nvSpPr>
          <p:spPr>
            <a:xfrm>
              <a:off x="5500694" y="2257298"/>
              <a:ext cx="571504" cy="285752"/>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6143637" y="2270098"/>
              <a:ext cx="2398000" cy="338554"/>
            </a:xfrm>
            <a:prstGeom prst="rect">
              <a:avLst/>
            </a:prstGeom>
            <a:noFill/>
          </p:spPr>
          <p:txBody>
            <a:bodyPr wrap="square" rtlCol="0">
              <a:spAutoFit/>
            </a:bodyPr>
            <a:lstStyle/>
            <a:p>
              <a:pPr algn="l"/>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时间性能分析</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11"/>
          <p:cNvGrpSpPr/>
          <p:nvPr/>
        </p:nvGrpSpPr>
        <p:grpSpPr>
          <a:xfrm>
            <a:off x="5000628" y="2552665"/>
            <a:ext cx="2500330" cy="345023"/>
            <a:chOff x="5429256" y="3195517"/>
            <a:chExt cx="3026715" cy="345023"/>
          </a:xfrm>
        </p:grpSpPr>
        <p:sp>
          <p:nvSpPr>
            <p:cNvPr id="13" name="右箭头 12"/>
            <p:cNvSpPr/>
            <p:nvPr/>
          </p:nvSpPr>
          <p:spPr>
            <a:xfrm>
              <a:off x="5429256" y="3195517"/>
              <a:ext cx="571504" cy="285752"/>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14" name="TextBox 13"/>
            <p:cNvSpPr txBox="1"/>
            <p:nvPr/>
          </p:nvSpPr>
          <p:spPr>
            <a:xfrm>
              <a:off x="6143636" y="3201986"/>
              <a:ext cx="2312335" cy="338554"/>
            </a:xfrm>
            <a:prstGeom prst="rect">
              <a:avLst/>
            </a:prstGeom>
            <a:noFill/>
          </p:spPr>
          <p:txBody>
            <a:bodyPr wrap="square" rtlCol="0">
              <a:spAutoFit/>
            </a:bodyPr>
            <a:lstStyle/>
            <a:p>
              <a:pPr algn="l"/>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空间性能分析</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5" name="TextBox 14"/>
          <p:cNvSpPr txBox="1"/>
          <p:nvPr/>
        </p:nvSpPr>
        <p:spPr>
          <a:xfrm>
            <a:off x="785786" y="3714752"/>
            <a:ext cx="6858048" cy="464331"/>
          </a:xfrm>
          <a:prstGeom prst="rect">
            <a:avLst/>
          </a:prstGeom>
          <a:scene3d>
            <a:camera prst="perspectiveLeft"/>
            <a:lightRig rig="threePt" dir="t"/>
          </a:scene3d>
        </p:spPr>
        <p:style>
          <a:lnRef idx="1">
            <a:schemeClr val="accent5"/>
          </a:lnRef>
          <a:fillRef idx="2">
            <a:schemeClr val="accent5"/>
          </a:fillRef>
          <a:effectRef idx="1">
            <a:schemeClr val="accent5"/>
          </a:effectRef>
          <a:fontRef idx="minor">
            <a:schemeClr val="dk1"/>
          </a:fontRef>
        </p:style>
        <p:txBody>
          <a:bodyPr wrap="square" lIns="180000" tIns="108000" bIns="108000" rtlCol="0">
            <a:spAutoFit/>
          </a:bodyPr>
          <a:lstStyle/>
          <a:p>
            <a:pPr algn="l"/>
            <a:r>
              <a:rPr lang="zh-CN" altLang="en-US" sz="2000" dirty="0" smtClean="0">
                <a:solidFill>
                  <a:srgbClr val="C00000"/>
                </a:solidFill>
                <a:latin typeface="Consolas" panose="020B0609020204030204" pitchFamily="49" charset="0"/>
                <a:ea typeface="仿宋" panose="02010609060101010101" pitchFamily="49" charset="-122"/>
                <a:cs typeface="Consolas" panose="020B0609020204030204" pitchFamily="49" charset="0"/>
              </a:rPr>
              <a:t>算法分析目的：</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分析算法的时空</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效率以便改进算法性能。</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灯片编号占位符 2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642918"/>
            <a:ext cx="392909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1.3.2 </a:t>
            </a:r>
            <a:r>
              <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算法时间性能分析</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8" name="TextBox 7"/>
          <p:cNvSpPr txBox="1"/>
          <p:nvPr/>
        </p:nvSpPr>
        <p:spPr>
          <a:xfrm>
            <a:off x="642910" y="2071678"/>
            <a:ext cx="7358114"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事后分析统计方法</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：编写算法对应程序，统计其执行时间。</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 Box 2"/>
          <p:cNvSpPr txBox="1">
            <a:spLocks noChangeArrowheads="1"/>
          </p:cNvSpPr>
          <p:nvPr/>
        </p:nvSpPr>
        <p:spPr bwMode="auto">
          <a:xfrm>
            <a:off x="785786" y="2770126"/>
            <a:ext cx="3500462" cy="1253402"/>
          </a:xfrm>
          <a:prstGeom prst="rect">
            <a:avLst/>
          </a:prstGeom>
        </p:spPr>
        <p:style>
          <a:lnRef idx="1">
            <a:schemeClr val="accent5"/>
          </a:lnRef>
          <a:fillRef idx="2">
            <a:schemeClr val="accent5"/>
          </a:fillRef>
          <a:effectRef idx="1">
            <a:schemeClr val="accent5"/>
          </a:effectRef>
          <a:fontRef idx="minor">
            <a:schemeClr val="dk1"/>
          </a:fontRef>
        </p:style>
        <p:txBody>
          <a:bodyPr wrap="square" tIns="72000" bIns="72000">
            <a:spAutoFit/>
          </a:bodyPr>
          <a:lstStyle/>
          <a:p>
            <a:pPr marL="457200" indent="-457200" algn="just">
              <a:lnSpc>
                <a:spcPct val="100000"/>
              </a:lnSpc>
              <a:buFontTx/>
              <a:buBlip>
                <a:blip r:embed="rId1"/>
              </a:buBlip>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编写程序的</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语言不同</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00000"/>
              </a:lnSpc>
              <a:buFontTx/>
              <a:buBlip>
                <a:blip r:embed="rId1"/>
              </a:buBlip>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执行程序的</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环境不同</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00000"/>
              </a:lnSpc>
              <a:buFontTx/>
              <a:buBlip>
                <a:blip r:embed="rId1"/>
              </a:buBlip>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其他</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因素</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642910" y="4500570"/>
            <a:ext cx="7358114" cy="8635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marL="457200" indent="-457200" algn="l">
              <a:lnSpc>
                <a:spcPts val="28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事前估算分析方法</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：撇开上述因素，认为算法的执行时间是问题规模</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的函数。 </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endPar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4786314" y="3012915"/>
            <a:ext cx="2428892" cy="646331"/>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所以不能用绝对执行时间进行比较。</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右大括号 11"/>
          <p:cNvSpPr/>
          <p:nvPr/>
        </p:nvSpPr>
        <p:spPr>
          <a:xfrm>
            <a:off x="4429124" y="2714620"/>
            <a:ext cx="285752" cy="1285884"/>
          </a:xfrm>
          <a:prstGeom prst="rightBrace">
            <a:avLst/>
          </a:prstGeom>
          <a:ln>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13" name="TextBox 12"/>
          <p:cNvSpPr txBox="1"/>
          <p:nvPr/>
        </p:nvSpPr>
        <p:spPr>
          <a:xfrm>
            <a:off x="642910" y="1428736"/>
            <a:ext cx="2214578" cy="477054"/>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ts val="3000"/>
              </a:lnSpc>
              <a:spcBef>
                <a:spcPts val="0"/>
              </a:spcBef>
            </a:pPr>
            <a:r>
              <a:rPr lang="zh-CN" altLang="en-US" sz="2000" spc="50" smtClean="0">
                <a:ln w="11430"/>
                <a:solidFill>
                  <a:srgbClr val="FF0000"/>
                </a:soli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算法分析方式：</a:t>
            </a:r>
            <a:endParaRPr lang="zh-CN" altLang="en-US" sz="2000" spc="50" smtClean="0">
              <a:ln w="11430"/>
              <a:solidFill>
                <a:srgbClr val="FF0000"/>
              </a:soli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2"/>
          <p:cNvSpPr txBox="1">
            <a:spLocks noChangeArrowheads="1"/>
          </p:cNvSpPr>
          <p:nvPr/>
        </p:nvSpPr>
        <p:spPr bwMode="auto">
          <a:xfrm>
            <a:off x="533400" y="1255713"/>
            <a:ext cx="7783513" cy="1254061"/>
          </a:xfrm>
          <a:prstGeom prst="rect">
            <a:avLst/>
          </a:prstGeom>
          <a:noFill/>
          <a:ln w="9525">
            <a:noFill/>
            <a:miter lim="800000"/>
          </a:ln>
          <a:effectLst/>
        </p:spPr>
        <p:txBody>
          <a:bodyPr>
            <a:spAutoFit/>
          </a:bodyPr>
          <a:lstStyle/>
          <a:p>
            <a:pPr algn="just">
              <a:lnSpc>
                <a:spcPct val="130000"/>
              </a:lnSpc>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一个算法是由控制结构（顺序、分支和循环三种）和</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原</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操作（指固有数据类型的操作，如</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cs typeface="Consolas" panose="020B0609020204030204" pitchFamily="49" charset="0"/>
              </a:rPr>
              <a:t>-</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cs typeface="Consolas" panose="020B0609020204030204" pitchFamily="49" charset="0"/>
              </a:rPr>
              <a:t>--</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等）构成</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算法执行时间</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取决于两者的综合效果。</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 Box 4"/>
          <p:cNvSpPr txBox="1">
            <a:spLocks noChangeArrowheads="1"/>
          </p:cNvSpPr>
          <p:nvPr/>
        </p:nvSpPr>
        <p:spPr bwMode="auto">
          <a:xfrm>
            <a:off x="1142976" y="2786058"/>
            <a:ext cx="3529013" cy="338554"/>
          </a:xfrm>
          <a:prstGeom prst="rect">
            <a:avLst/>
          </a:prstGeom>
          <a:noFill/>
          <a:ln w="19050" algn="ctr">
            <a:noFill/>
            <a:miter lim="800000"/>
          </a:ln>
          <a:effectLst/>
        </p:spPr>
        <p:txBody>
          <a:bodyPr>
            <a:spAutoFit/>
          </a:bodyPr>
          <a:lstStyle/>
          <a:p>
            <a:pPr algn="l"/>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一个算法的基本构成：</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6"/>
          <p:cNvGrpSpPr/>
          <p:nvPr/>
        </p:nvGrpSpPr>
        <p:grpSpPr>
          <a:xfrm>
            <a:off x="1450974" y="3648073"/>
            <a:ext cx="6219825" cy="914400"/>
            <a:chOff x="1665288" y="4005263"/>
            <a:chExt cx="6219825" cy="914400"/>
          </a:xfrm>
        </p:grpSpPr>
        <p:sp>
          <p:nvSpPr>
            <p:cNvPr id="8" name="Rectangle 6"/>
            <p:cNvSpPr>
              <a:spLocks noChangeArrowheads="1"/>
            </p:cNvSpPr>
            <p:nvPr/>
          </p:nvSpPr>
          <p:spPr bwMode="auto">
            <a:xfrm>
              <a:off x="1665288" y="4005263"/>
              <a:ext cx="1524000" cy="9144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spcBef>
                  <a:spcPct val="0"/>
                </a:spcBef>
              </a:pPr>
              <a:r>
                <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rPr>
                <a:t>控制语句</a:t>
              </a:r>
              <a:r>
                <a:rPr lang="en-US" altLang="zh-CN" sz="2000" dirty="0">
                  <a:solidFill>
                    <a:srgbClr val="006600"/>
                  </a:solidFill>
                  <a:latin typeface="Consolas" panose="020B0609020204030204" pitchFamily="49" charset="0"/>
                  <a:ea typeface="仿宋" panose="02010609060101010101" pitchFamily="49" charset="-122"/>
                  <a:cs typeface="Consolas" panose="020B0609020204030204" pitchFamily="49" charset="0"/>
                </a:rPr>
                <a:t>1</a:t>
              </a:r>
              <a:endParaRPr lang="en-US" altLang="zh-CN" sz="20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nSpc>
                  <a:spcPct val="100000"/>
                </a:lnSpc>
                <a:spcBef>
                  <a:spcPct val="0"/>
                </a:spcBef>
              </a:pPr>
              <a:r>
                <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rPr>
                <a:t>原操作</a:t>
              </a:r>
              <a:endPar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Rectangle 7"/>
            <p:cNvSpPr>
              <a:spLocks noChangeArrowheads="1"/>
            </p:cNvSpPr>
            <p:nvPr/>
          </p:nvSpPr>
          <p:spPr bwMode="auto">
            <a:xfrm>
              <a:off x="6361113" y="4005263"/>
              <a:ext cx="1524000" cy="9144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spcBef>
                  <a:spcPct val="0"/>
                </a:spcBef>
              </a:pPr>
              <a:r>
                <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rPr>
                <a:t>控制语句</a:t>
              </a:r>
              <a:r>
                <a:rPr lang="en-US" altLang="zh-CN" sz="2000" i="1" dirty="0">
                  <a:solidFill>
                    <a:srgbClr val="006600"/>
                  </a:solidFill>
                  <a:latin typeface="Consolas" panose="020B0609020204030204" pitchFamily="49" charset="0"/>
                  <a:ea typeface="仿宋" panose="02010609060101010101" pitchFamily="49" charset="-122"/>
                  <a:cs typeface="Consolas" panose="020B0609020204030204" pitchFamily="49" charset="0"/>
                </a:rPr>
                <a:t>n</a:t>
              </a:r>
              <a:endParaRPr lang="en-US" altLang="zh-CN" sz="2000" i="1"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nSpc>
                  <a:spcPct val="100000"/>
                </a:lnSpc>
                <a:spcBef>
                  <a:spcPct val="0"/>
                </a:spcBef>
              </a:pPr>
              <a:r>
                <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rPr>
                <a:t>原操作</a:t>
              </a:r>
              <a:endPar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 Box 8"/>
            <p:cNvSpPr txBox="1">
              <a:spLocks noChangeArrowheads="1"/>
            </p:cNvSpPr>
            <p:nvPr/>
          </p:nvSpPr>
          <p:spPr bwMode="auto">
            <a:xfrm>
              <a:off x="5457836" y="4214818"/>
              <a:ext cx="685800" cy="400110"/>
            </a:xfrm>
            <a:prstGeom prst="rect">
              <a:avLst/>
            </a:prstGeom>
            <a:noFill/>
            <a:ln w="9525">
              <a:noFill/>
              <a:miter lim="800000"/>
            </a:ln>
            <a:effectLst/>
          </p:spPr>
          <p:txBody>
            <a:bodyPr>
              <a:spAutoFit/>
            </a:bodyPr>
            <a:lstStyle/>
            <a:p>
              <a:pPr algn="l">
                <a:lnSpc>
                  <a:spcPct val="100000"/>
                </a:lnSpc>
              </a:pPr>
              <a:r>
                <a:rPr lang="en-US" altLang="zh-CN" sz="2000">
                  <a:solidFill>
                    <a:schemeClr val="tx1"/>
                  </a:solidFill>
                  <a:latin typeface="+mj-ea"/>
                  <a:ea typeface="+mj-ea"/>
                  <a:cs typeface="Consolas" panose="020B0609020204030204" pitchFamily="49" charset="0"/>
                </a:rPr>
                <a:t>…</a:t>
              </a:r>
              <a:endParaRPr lang="en-US" altLang="zh-CN" sz="2000">
                <a:solidFill>
                  <a:schemeClr val="tx1"/>
                </a:solidFill>
                <a:latin typeface="+mj-ea"/>
                <a:ea typeface="+mj-ea"/>
                <a:cs typeface="Consolas" panose="020B0609020204030204" pitchFamily="49" charset="0"/>
              </a:endParaRPr>
            </a:p>
          </p:txBody>
        </p:sp>
        <p:sp>
          <p:nvSpPr>
            <p:cNvPr id="11" name="Rectangle 5"/>
            <p:cNvSpPr>
              <a:spLocks noChangeArrowheads="1"/>
            </p:cNvSpPr>
            <p:nvPr/>
          </p:nvSpPr>
          <p:spPr bwMode="auto">
            <a:xfrm>
              <a:off x="3624263" y="4005263"/>
              <a:ext cx="1524000" cy="9144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spcBef>
                  <a:spcPct val="0"/>
                </a:spcBef>
              </a:pPr>
              <a:r>
                <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rPr>
                <a:t>控制语句</a:t>
              </a:r>
              <a:r>
                <a:rPr lang="en-US" altLang="zh-CN" sz="2000" dirty="0">
                  <a:solidFill>
                    <a:srgbClr val="006600"/>
                  </a:solidFill>
                  <a:latin typeface="Consolas" panose="020B0609020204030204" pitchFamily="49" charset="0"/>
                  <a:ea typeface="仿宋" panose="02010609060101010101" pitchFamily="49" charset="-122"/>
                  <a:cs typeface="Consolas" panose="020B0609020204030204" pitchFamily="49" charset="0"/>
                </a:rPr>
                <a:t>2</a:t>
              </a:r>
              <a:endParaRPr lang="en-US" altLang="zh-CN" sz="20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nSpc>
                  <a:spcPct val="100000"/>
                </a:lnSpc>
                <a:spcBef>
                  <a:spcPct val="0"/>
                </a:spcBef>
              </a:pPr>
              <a:r>
                <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rPr>
                <a:t>原操作</a:t>
              </a:r>
              <a:endParaRPr lang="zh-CN" altLang="en-US" sz="20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2" name="TextBox 11"/>
          <p:cNvSpPr txBox="1"/>
          <p:nvPr/>
        </p:nvSpPr>
        <p:spPr>
          <a:xfrm>
            <a:off x="357158" y="428604"/>
            <a:ext cx="400052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1. </a:t>
            </a:r>
            <a:r>
              <a:rPr lang="zh-CN" altLang="en-US"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分析算法的时间复杂度</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8" presetClass="entr" presetSubtype="6"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trips(downRight)">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785786" y="285728"/>
            <a:ext cx="4929222" cy="3143272"/>
          </a:xfrm>
          <a:prstGeom prst="rect">
            <a:avLst/>
          </a:prstGeom>
          <a:solidFill>
            <a:schemeClr val="bg1">
              <a:lumMod val="9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6513"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6511" name="Text Box 15"/>
          <p:cNvSpPr txBox="1">
            <a:spLocks noChangeArrowheads="1"/>
          </p:cNvSpPr>
          <p:nvPr/>
        </p:nvSpPr>
        <p:spPr bwMode="auto">
          <a:xfrm>
            <a:off x="1426301" y="1528650"/>
            <a:ext cx="1777116" cy="328714"/>
          </a:xfrm>
          <a:prstGeom prst="rect">
            <a:avLst/>
          </a:prstGeom>
          <a:solidFill>
            <a:schemeClr val="bg1">
              <a:lumMod val="95000"/>
            </a:schemeClr>
          </a:solidFill>
          <a:ln w="28575" cap="rnd">
            <a:solidFill>
              <a:srgbClr val="FF3399"/>
            </a:solidFill>
            <a:prstDash val="sysDot"/>
            <a:miter lim="800000"/>
          </a:ln>
        </p:spPr>
        <p:txBody>
          <a:bodyPr vert="horz" wrap="square" lIns="90000" tIns="0" rIns="90000" bIns="0" numCol="1" anchor="t" anchorCtr="0" compatLnSpc="1"/>
          <a:lstStyle/>
          <a:p>
            <a:pPr marL="0" marR="0" lvl="0" indent="0" algn="l" defTabSz="914400" rtl="0" eaLnBrk="1" fontAlgn="base" latinLnBrk="0" hangingPunct="1">
              <a:lnSpc>
                <a:spcPts val="24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s=0;</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509" name="Text Box 13"/>
          <p:cNvSpPr txBox="1">
            <a:spLocks noChangeArrowheads="1"/>
          </p:cNvSpPr>
          <p:nvPr/>
        </p:nvSpPr>
        <p:spPr bwMode="auto">
          <a:xfrm>
            <a:off x="1426301" y="2010288"/>
            <a:ext cx="3448355" cy="615111"/>
          </a:xfrm>
          <a:prstGeom prst="rect">
            <a:avLst/>
          </a:prstGeom>
          <a:solidFill>
            <a:schemeClr val="bg1">
              <a:lumMod val="95000"/>
            </a:schemeClr>
          </a:solidFill>
          <a:ln w="28575" cap="rnd">
            <a:solidFill>
              <a:srgbClr val="FF3399"/>
            </a:solidFill>
            <a:prstDash val="sysDot"/>
            <a:miter lim="800000"/>
          </a:ln>
        </p:spPr>
        <p:txBody>
          <a:bodyPr vert="horz" wrap="square" lIns="91440" tIns="0" rIns="91440" bIns="0" numCol="1" anchor="t" anchorCtr="0" compatLnSpc="1"/>
          <a:lstStyle/>
          <a:p>
            <a:pPr marL="0" marR="0" lvl="0" indent="0" algn="l" defTabSz="914400" rtl="0" eaLnBrk="1" fontAlgn="base" latinLnBrk="0" hangingPunct="1">
              <a:lnSpc>
                <a:spcPts val="2400"/>
              </a:lnSpc>
              <a:spcBef>
                <a:spcPct val="0"/>
              </a:spcBef>
              <a:spcAft>
                <a:spcPct val="0"/>
              </a:spcAft>
              <a:buClrTx/>
              <a:buSzTx/>
              <a:buFontTx/>
              <a:buNone/>
            </a:pPr>
            <a:r>
              <a:rPr kumimoji="0" lang="nb-NO"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for (int i=0;i&lt;n;i++)</a:t>
            </a:r>
            <a:endParaRPr kumimoji="0" lang="nb-NO"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pPr>
            <a:r>
              <a:rPr kumimoji="0" lang="nb-NO"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s+=a[i][i];</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508" name="Text Box 12"/>
          <p:cNvSpPr txBox="1">
            <a:spLocks noChangeArrowheads="1"/>
          </p:cNvSpPr>
          <p:nvPr/>
        </p:nvSpPr>
        <p:spPr bwMode="auto">
          <a:xfrm>
            <a:off x="1426300" y="2816202"/>
            <a:ext cx="1788377" cy="270067"/>
          </a:xfrm>
          <a:prstGeom prst="rect">
            <a:avLst/>
          </a:prstGeom>
          <a:solidFill>
            <a:schemeClr val="bg1">
              <a:lumMod val="95000"/>
            </a:schemeClr>
          </a:solidFill>
          <a:ln w="28575" cap="rnd">
            <a:solidFill>
              <a:srgbClr val="FF3399"/>
            </a:solidFill>
            <a:prstDash val="sysDot"/>
            <a:miter lim="800000"/>
          </a:ln>
        </p:spPr>
        <p:txBody>
          <a:bodyPr vert="horz" wrap="square" lIns="90000" tIns="0" rIns="9000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return true;</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505" name="Text Box 9"/>
          <p:cNvSpPr txBox="1">
            <a:spLocks noChangeArrowheads="1"/>
          </p:cNvSpPr>
          <p:nvPr/>
        </p:nvSpPr>
        <p:spPr bwMode="auto">
          <a:xfrm>
            <a:off x="785786" y="428604"/>
            <a:ext cx="5000660" cy="500066"/>
          </a:xfrm>
          <a:prstGeom prst="rect">
            <a:avLst/>
          </a:prstGeom>
          <a:solidFill>
            <a:schemeClr val="bg1">
              <a:lumMod val="95000"/>
            </a:schemeClr>
          </a:solidFill>
          <a:ln w="9525" cap="rnd">
            <a:noFill/>
            <a:prstDash val="sysDot"/>
            <a:miter lim="800000"/>
          </a:ln>
        </p:spPr>
        <p:txBody>
          <a:bodyPr vert="horz" wrap="square" lIns="90000" tIns="0" rIns="90000" bIns="0" numCol="1" anchor="t" anchorCtr="0" compatLnSpc="1"/>
          <a:lstStyle/>
          <a:p>
            <a:pPr lvl="0" algn="l">
              <a:lnSpc>
                <a:spcPct val="100000"/>
              </a:lnSpc>
              <a:spcBef>
                <a:spcPct val="0"/>
              </a:spcBef>
            </a:pPr>
            <a:r>
              <a:rPr lang="en-US" altLang="zh-CN" sz="1600" smtClean="0">
                <a:solidFill>
                  <a:srgbClr val="0000FF"/>
                </a:solidFill>
                <a:latin typeface="Consolas" panose="020B0609020204030204" pitchFamily="49" charset="0"/>
                <a:cs typeface="Consolas" panose="020B0609020204030204" pitchFamily="49" charset="0"/>
              </a:rPr>
              <a:t>bool solve(int a[M][N],int m,int n,int&amp; s)</a:t>
            </a:r>
            <a:endParaRPr lang="en-US" altLang="zh-CN" sz="1600" smtClean="0">
              <a:solidFill>
                <a:srgbClr val="0000FF"/>
              </a:solidFill>
              <a:latin typeface="Consolas" panose="020B0609020204030204" pitchFamily="49" charset="0"/>
              <a:cs typeface="Consolas" panose="020B0609020204030204" pitchFamily="49" charset="0"/>
            </a:endParaRPr>
          </a:p>
          <a:p>
            <a:pPr lvl="0" algn="l">
              <a:lnSpc>
                <a:spcPct val="100000"/>
              </a:lnSpc>
              <a:spcBef>
                <a:spcPct val="0"/>
              </a:spcBef>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33"/>
          <p:cNvGrpSpPr/>
          <p:nvPr/>
        </p:nvGrpSpPr>
        <p:grpSpPr>
          <a:xfrm>
            <a:off x="3206338" y="929274"/>
            <a:ext cx="4080306" cy="2156995"/>
            <a:chOff x="3206338" y="929274"/>
            <a:chExt cx="4080306" cy="2156995"/>
          </a:xfrm>
        </p:grpSpPr>
        <p:sp>
          <p:nvSpPr>
            <p:cNvPr id="106507" name="Text Box 11"/>
            <p:cNvSpPr txBox="1">
              <a:spLocks noChangeArrowheads="1"/>
            </p:cNvSpPr>
            <p:nvPr/>
          </p:nvSpPr>
          <p:spPr bwMode="auto">
            <a:xfrm>
              <a:off x="6286512" y="2816202"/>
              <a:ext cx="1000132" cy="270067"/>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B050"/>
                  </a:solidFill>
                  <a:effectLst/>
                  <a:latin typeface="Consolas" panose="020B0609020204030204" pitchFamily="49" charset="0"/>
                  <a:ea typeface="仿宋" panose="02010609060101010101" pitchFamily="49" charset="-122"/>
                  <a:cs typeface="Consolas" panose="020B0609020204030204" pitchFamily="49" charset="0"/>
                </a:rPr>
                <a:t>顺序结构</a:t>
              </a:r>
              <a:endParaRPr kumimoji="0" lang="zh-CN" sz="1800" i="0" u="none" strike="noStrike" cap="none" normalizeH="0" baseline="0" smtClean="0">
                <a:ln>
                  <a:noFill/>
                </a:ln>
                <a:solidFill>
                  <a:srgbClr val="00B05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506" name="Text Box 10"/>
            <p:cNvSpPr txBox="1">
              <a:spLocks noChangeArrowheads="1"/>
            </p:cNvSpPr>
            <p:nvPr/>
          </p:nvSpPr>
          <p:spPr bwMode="auto">
            <a:xfrm>
              <a:off x="6286512" y="2168349"/>
              <a:ext cx="1000132" cy="270936"/>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B050"/>
                  </a:solidFill>
                  <a:effectLst/>
                  <a:latin typeface="Consolas" panose="020B0609020204030204" pitchFamily="49" charset="0"/>
                  <a:ea typeface="仿宋" panose="02010609060101010101" pitchFamily="49" charset="-122"/>
                  <a:cs typeface="Consolas" panose="020B0609020204030204" pitchFamily="49" charset="0"/>
                </a:rPr>
                <a:t>循环结构</a:t>
              </a:r>
              <a:endParaRPr kumimoji="0" lang="zh-CN" sz="1800" i="0" u="none" strike="noStrike" cap="none" normalizeH="0" baseline="0" smtClean="0">
                <a:ln>
                  <a:noFill/>
                </a:ln>
                <a:solidFill>
                  <a:srgbClr val="00B05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503" name="Text Box 7"/>
            <p:cNvSpPr txBox="1">
              <a:spLocks noChangeArrowheads="1"/>
            </p:cNvSpPr>
            <p:nvPr/>
          </p:nvSpPr>
          <p:spPr bwMode="auto">
            <a:xfrm>
              <a:off x="6286512" y="929274"/>
              <a:ext cx="1000132" cy="270067"/>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B050"/>
                  </a:solidFill>
                  <a:effectLst/>
                  <a:latin typeface="Consolas" panose="020B0609020204030204" pitchFamily="49" charset="0"/>
                  <a:ea typeface="仿宋" panose="02010609060101010101" pitchFamily="49" charset="-122"/>
                  <a:cs typeface="Consolas" panose="020B0609020204030204" pitchFamily="49" charset="0"/>
                </a:rPr>
                <a:t>分支结构</a:t>
              </a:r>
              <a:endParaRPr kumimoji="0" lang="zh-CN" sz="1800" i="0" u="none" strike="noStrike" cap="none" normalizeH="0" baseline="0" smtClean="0">
                <a:ln>
                  <a:noFill/>
                </a:ln>
                <a:solidFill>
                  <a:srgbClr val="00B05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502" name="Text Box 6"/>
            <p:cNvSpPr txBox="1">
              <a:spLocks noChangeArrowheads="1"/>
            </p:cNvSpPr>
            <p:nvPr/>
          </p:nvSpPr>
          <p:spPr bwMode="auto">
            <a:xfrm>
              <a:off x="6286512" y="1558175"/>
              <a:ext cx="1000132" cy="270936"/>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B050"/>
                  </a:solidFill>
                  <a:effectLst/>
                  <a:latin typeface="Consolas" panose="020B0609020204030204" pitchFamily="49" charset="0"/>
                  <a:ea typeface="仿宋" panose="02010609060101010101" pitchFamily="49" charset="-122"/>
                  <a:cs typeface="Consolas" panose="020B0609020204030204" pitchFamily="49" charset="0"/>
                </a:rPr>
                <a:t>顺序结构</a:t>
              </a:r>
              <a:endParaRPr kumimoji="0" lang="zh-CN" sz="1800" i="0" u="none" strike="noStrike" cap="none" normalizeH="0" baseline="0" smtClean="0">
                <a:ln>
                  <a:noFill/>
                </a:ln>
                <a:solidFill>
                  <a:srgbClr val="00B05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501" name="AutoShape 5"/>
            <p:cNvSpPr>
              <a:spLocks noChangeShapeType="1"/>
            </p:cNvSpPr>
            <p:nvPr/>
          </p:nvSpPr>
          <p:spPr bwMode="auto">
            <a:xfrm>
              <a:off x="3206338" y="1687564"/>
              <a:ext cx="3096000" cy="6078"/>
            </a:xfrm>
            <a:prstGeom prst="straightConnector1">
              <a:avLst/>
            </a:prstGeom>
            <a:noFill/>
            <a:ln w="19050">
              <a:solidFill>
                <a:schemeClr val="tx1"/>
              </a:solidFill>
              <a:round/>
              <a:tailEnd type="none" w="sm" len="sm"/>
            </a:ln>
          </p:spPr>
          <p:txBody>
            <a:bodyPr vert="horz" wrap="square" lIns="91440" tIns="45720" rIns="91440" bIns="45720" numCol="1" anchor="t" anchorCtr="0" compatLnSpc="1"/>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6500" name="AutoShape 4"/>
            <p:cNvSpPr>
              <a:spLocks noChangeShapeType="1"/>
            </p:cNvSpPr>
            <p:nvPr/>
          </p:nvSpPr>
          <p:spPr bwMode="auto">
            <a:xfrm flipV="1">
              <a:off x="4857752" y="1061498"/>
              <a:ext cx="1440000" cy="0"/>
            </a:xfrm>
            <a:prstGeom prst="straightConnector1">
              <a:avLst/>
            </a:prstGeom>
            <a:noFill/>
            <a:ln w="19050">
              <a:solidFill>
                <a:schemeClr val="tx1"/>
              </a:solidFill>
              <a:round/>
              <a:tailEnd type="none" w="sm" len="sm"/>
            </a:ln>
          </p:spPr>
          <p:txBody>
            <a:bodyPr vert="horz" wrap="square" lIns="91440" tIns="45720" rIns="91440" bIns="45720" numCol="1" anchor="t" anchorCtr="0" compatLnSpc="1"/>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6499" name="AutoShape 3"/>
            <p:cNvSpPr>
              <a:spLocks noChangeShapeType="1"/>
            </p:cNvSpPr>
            <p:nvPr/>
          </p:nvSpPr>
          <p:spPr bwMode="auto">
            <a:xfrm flipV="1">
              <a:off x="4874656" y="2313865"/>
              <a:ext cx="1440000" cy="869"/>
            </a:xfrm>
            <a:prstGeom prst="straightConnector1">
              <a:avLst/>
            </a:prstGeom>
            <a:noFill/>
            <a:ln w="19050">
              <a:solidFill>
                <a:schemeClr val="tx1"/>
              </a:solidFill>
              <a:round/>
              <a:tailEnd type="none" w="sm" len="sm"/>
            </a:ln>
          </p:spPr>
          <p:txBody>
            <a:bodyPr vert="horz" wrap="square" lIns="91440" tIns="45720" rIns="91440" bIns="45720" numCol="1" anchor="t" anchorCtr="0" compatLnSpc="1"/>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6498" name="AutoShape 2"/>
            <p:cNvSpPr>
              <a:spLocks noChangeShapeType="1"/>
            </p:cNvSpPr>
            <p:nvPr/>
          </p:nvSpPr>
          <p:spPr bwMode="auto">
            <a:xfrm flipV="1">
              <a:off x="3233672" y="2944349"/>
              <a:ext cx="3060000" cy="0"/>
            </a:xfrm>
            <a:prstGeom prst="straightConnector1">
              <a:avLst/>
            </a:prstGeom>
            <a:noFill/>
            <a:ln w="19050">
              <a:solidFill>
                <a:schemeClr val="tx1"/>
              </a:solidFill>
              <a:round/>
              <a:tailEnd type="none" w="sm" len="sm"/>
            </a:ln>
          </p:spPr>
          <p:txBody>
            <a:bodyPr vert="horz" wrap="square" lIns="91440" tIns="45720" rIns="91440" bIns="45720" numCol="1" anchor="t" anchorCtr="0" compatLnSpc="1"/>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52"/>
          <p:cNvGrpSpPr/>
          <p:nvPr/>
        </p:nvGrpSpPr>
        <p:grpSpPr>
          <a:xfrm>
            <a:off x="1948890" y="1398592"/>
            <a:ext cx="1001854" cy="2521641"/>
            <a:chOff x="2107114" y="2284179"/>
            <a:chExt cx="1036124" cy="2740084"/>
          </a:xfrm>
        </p:grpSpPr>
        <p:cxnSp>
          <p:nvCxnSpPr>
            <p:cNvPr id="41" name="直接箭头连接符 40"/>
            <p:cNvCxnSpPr/>
            <p:nvPr/>
          </p:nvCxnSpPr>
          <p:spPr>
            <a:xfrm rot="16200000" flipV="1">
              <a:off x="2376664" y="4394837"/>
              <a:ext cx="534915" cy="39670"/>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cxnSp>
          <p:nvCxnSpPr>
            <p:cNvPr id="43" name="直接箭头连接符 42"/>
            <p:cNvCxnSpPr/>
            <p:nvPr/>
          </p:nvCxnSpPr>
          <p:spPr>
            <a:xfrm rot="5400000" flipH="1" flipV="1">
              <a:off x="2425414" y="4003567"/>
              <a:ext cx="1041898" cy="242427"/>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cxnSp>
          <p:nvCxnSpPr>
            <p:cNvPr id="45" name="直接箭头连接符 44"/>
            <p:cNvCxnSpPr/>
            <p:nvPr/>
          </p:nvCxnSpPr>
          <p:spPr>
            <a:xfrm rot="16200000" flipV="1">
              <a:off x="1481294" y="3597402"/>
              <a:ext cx="1895791" cy="200863"/>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cxnSp>
          <p:nvCxnSpPr>
            <p:cNvPr id="47" name="直接箭头连接符 46"/>
            <p:cNvCxnSpPr/>
            <p:nvPr/>
          </p:nvCxnSpPr>
          <p:spPr>
            <a:xfrm rot="16200000" flipV="1">
              <a:off x="1026770" y="3364523"/>
              <a:ext cx="2361550" cy="200862"/>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2143106" y="4568102"/>
              <a:ext cx="1000132" cy="456161"/>
            </a:xfrm>
            <a:prstGeom prst="rect">
              <a:avLst/>
            </a:prstGeom>
            <a:noFill/>
          </p:spPr>
          <p:txBody>
            <a:bodyPr wrap="square" rtlCol="0">
              <a:spAutoFit/>
            </a:bodyPr>
            <a:lstStyle/>
            <a:p>
              <a:pPr algn="l">
                <a:lnSpc>
                  <a:spcPts val="3000"/>
                </a:lnSpc>
                <a:spcBef>
                  <a:spcPts val="0"/>
                </a:spcBef>
              </a:pPr>
              <a:r>
                <a:rPr lang="zh-CN" altLang="en-US" sz="1800" smtClean="0">
                  <a:solidFill>
                    <a:srgbClr val="FF0000"/>
                  </a:solidFill>
                  <a:latin typeface="仿宋" panose="02010609060101010101" pitchFamily="49" charset="-122"/>
                  <a:ea typeface="仿宋" panose="02010609060101010101" pitchFamily="49" charset="-122"/>
                  <a:cs typeface="Consolas" panose="020B0609020204030204" pitchFamily="49" charset="0"/>
                </a:rPr>
                <a:t>原操作</a:t>
              </a:r>
              <a:endParaRPr lang="zh-CN" altLang="en-US" sz="1800" smtClean="0">
                <a:solidFill>
                  <a:srgbClr val="FF0000"/>
                </a:solidFill>
                <a:latin typeface="仿宋" panose="02010609060101010101" pitchFamily="49" charset="-122"/>
                <a:ea typeface="仿宋" panose="02010609060101010101" pitchFamily="49" charset="-122"/>
              </a:endParaRPr>
            </a:p>
          </p:txBody>
        </p:sp>
      </p:grpSp>
      <p:sp>
        <p:nvSpPr>
          <p:cNvPr id="61" name="TextBox 60"/>
          <p:cNvSpPr txBox="1"/>
          <p:nvPr/>
        </p:nvSpPr>
        <p:spPr>
          <a:xfrm>
            <a:off x="500034" y="4000504"/>
            <a:ext cx="8358246" cy="21673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算法的执行时间取决于控制结构和原操作的</a:t>
            </a:r>
            <a:r>
              <a:rPr lang="zh-CN" altLang="zh-CN" sz="2000" smtClean="0">
                <a:solidFill>
                  <a:srgbClr val="FF3399"/>
                </a:solidFill>
                <a:latin typeface="Consolas" panose="020B0609020204030204" pitchFamily="49" charset="0"/>
                <a:ea typeface="仿宋" panose="02010609060101010101" pitchFamily="49" charset="-122"/>
                <a:cs typeface="Consolas" panose="020B0609020204030204" pitchFamily="49" charset="0"/>
              </a:rPr>
              <a:t>综合效果</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在一个算法中，执行原操作的次数越少，其执行时间也就相对地越少；执行原操作次数越多，其执行时间也就相对地越多。</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算法中所有原操作的执行次数称为</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算法频度</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，这样一个算法的执行时间可以由算法频度来计量。</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6510" name="Text Box 14"/>
          <p:cNvSpPr txBox="1">
            <a:spLocks noChangeArrowheads="1"/>
          </p:cNvSpPr>
          <p:nvPr/>
        </p:nvSpPr>
        <p:spPr bwMode="auto">
          <a:xfrm>
            <a:off x="1426301" y="782937"/>
            <a:ext cx="3431451" cy="574361"/>
          </a:xfrm>
          <a:prstGeom prst="rect">
            <a:avLst/>
          </a:prstGeom>
          <a:solidFill>
            <a:schemeClr val="bg1">
              <a:lumMod val="95000"/>
            </a:schemeClr>
          </a:solidFill>
          <a:ln w="28575" cap="rnd">
            <a:solidFill>
              <a:srgbClr val="FF3399"/>
            </a:solidFill>
            <a:prstDash val="sysDot"/>
            <a:miter lim="800000"/>
          </a:ln>
        </p:spPr>
        <p:txBody>
          <a:bodyPr vert="horz" wrap="square" lIns="91440" tIns="0" rIns="91440" bIns="0" numCol="1" anchor="t" anchorCtr="0" compatLnSpc="1"/>
          <a:lstStyle/>
          <a:p>
            <a:pPr marL="0" marR="0" lvl="0" indent="0" algn="l" defTabSz="914400" rtl="0" eaLnBrk="1" fontAlgn="base" latinLnBrk="0" hangingPunct="1">
              <a:lnSpc>
                <a:spcPts val="24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if (m!=n)</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ts val="2400"/>
              </a:lnSpc>
              <a:spcBef>
                <a:spcPct val="0"/>
              </a:spcBef>
              <a:spcAft>
                <a:spcPct val="0"/>
              </a:spcAft>
              <a:buClrTx/>
              <a:buSzTx/>
              <a:buFontTx/>
              <a:buNone/>
            </a:pPr>
            <a:r>
              <a:rPr kumimoji="0"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return false;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Text Box 9"/>
          <p:cNvSpPr txBox="1">
            <a:spLocks noChangeArrowheads="1"/>
          </p:cNvSpPr>
          <p:nvPr/>
        </p:nvSpPr>
        <p:spPr bwMode="auto">
          <a:xfrm>
            <a:off x="785786" y="3071810"/>
            <a:ext cx="428660" cy="285752"/>
          </a:xfrm>
          <a:prstGeom prst="rect">
            <a:avLst/>
          </a:prstGeom>
          <a:solidFill>
            <a:schemeClr val="bg1">
              <a:lumMod val="95000"/>
            </a:schemeClr>
          </a:solidFill>
          <a:ln w="9525" cap="rnd">
            <a:noFill/>
            <a:prstDash val="sysDot"/>
            <a:miter lim="800000"/>
          </a:ln>
        </p:spPr>
        <p:txBody>
          <a:bodyPr vert="horz" wrap="square" lIns="90000" tIns="0" rIns="90000" bIns="0" numCol="1" anchor="t" anchorCtr="0" compatLnSpc="1"/>
          <a:lstStyle/>
          <a:p>
            <a:pPr lvl="0" algn="l">
              <a:lnSpc>
                <a:spcPct val="100000"/>
              </a:lnSpc>
              <a:spcBef>
                <a:spcPct val="0"/>
              </a:spcBef>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灯片编号占位符 3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642910" y="642918"/>
            <a:ext cx="2928958" cy="400110"/>
          </a:xfrm>
          <a:prstGeom prst="rect">
            <a:avLst/>
          </a:prstGeom>
          <a:blipFill>
            <a:blip r:embed="rId1" cstate="print"/>
            <a:tile tx="0" ty="0" sx="100000" sy="100000" flip="none" algn="tl"/>
          </a:blip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）计算算法频度</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T(</a:t>
            </a:r>
            <a:r>
              <a:rPr lang="en-US" altLang="zh-CN" sz="2000" i="1"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n</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1428736"/>
            <a:ext cx="7786742" cy="22802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buBlip>
                <a:blip r:embed="rId2"/>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假设算法的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问题规模</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个整数排序，问题规模为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就是</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。算法频度是问题规模</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的函数，用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buBlip>
                <a:blip r:embed="rId2"/>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算法执行时间大致等于</a:t>
            </a:r>
            <a:r>
              <a:rPr lang="zh-CN"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原操作所需的时间×</a:t>
            </a: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，也就是说</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与算法的执行时间成正比。为此</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用</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表示算法的执行时间</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。比较不同算法的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大小得出算法执行时间的好坏。</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38120" y="1381111"/>
            <a:ext cx="6858048" cy="259913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matrixadd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A[N][N],int B[N][N],int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C[N][N],int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j=0A;j&lt;n;j++)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语句②</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C[i][j]=A[i][j]+B[i][j];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语句③</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214282" y="571480"/>
            <a:ext cx="7143800"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1.10</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求两个</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阶方阵相加</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的算法如下，求</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18"/>
          <p:cNvGrpSpPr/>
          <p:nvPr/>
        </p:nvGrpSpPr>
        <p:grpSpPr>
          <a:xfrm>
            <a:off x="6275834" y="1682163"/>
            <a:ext cx="2582446" cy="1762938"/>
            <a:chOff x="6132958" y="1339016"/>
            <a:chExt cx="2582446" cy="1762938"/>
          </a:xfrm>
        </p:grpSpPr>
        <p:sp>
          <p:nvSpPr>
            <p:cNvPr id="7" name="TextBox 6"/>
            <p:cNvSpPr txBox="1"/>
            <p:nvPr/>
          </p:nvSpPr>
          <p:spPr>
            <a:xfrm>
              <a:off x="7358082" y="1339016"/>
              <a:ext cx="1357322" cy="419795"/>
            </a:xfrm>
            <a:prstGeom prst="rect">
              <a:avLst/>
            </a:prstGeom>
            <a:noFill/>
          </p:spPr>
          <p:txBody>
            <a:bodyPr wrap="square" rtlCol="0">
              <a:spAutoFit/>
            </a:bodyPr>
            <a:lstStyle/>
            <a:p>
              <a:pPr algn="l">
                <a:lnSpc>
                  <a:spcPts val="3000"/>
                </a:lnSpc>
                <a:spcBef>
                  <a:spcPts val="0"/>
                </a:spcBef>
              </a:pPr>
              <a:r>
                <a:rPr lang="zh-CN" altLang="zh-CN" sz="1800" smtClean="0">
                  <a:solidFill>
                    <a:srgbClr val="C00000"/>
                  </a:solidFill>
                  <a:latin typeface="仿宋" panose="02010609060101010101" pitchFamily="49" charset="-122"/>
                  <a:ea typeface="仿宋" panose="02010609060101010101" pitchFamily="49" charset="-122"/>
                </a:rPr>
                <a:t>执行次数</a:t>
              </a:r>
              <a:endParaRPr lang="zh-CN" altLang="en-US" sz="1800" smtClean="0">
                <a:solidFill>
                  <a:srgbClr val="C00000"/>
                </a:solidFill>
                <a:latin typeface="仿宋" panose="02010609060101010101" pitchFamily="49" charset="-122"/>
                <a:ea typeface="仿宋" panose="02010609060101010101" pitchFamily="49" charset="-122"/>
              </a:endParaRPr>
            </a:p>
          </p:txBody>
        </p:sp>
        <p:sp>
          <p:nvSpPr>
            <p:cNvPr id="8" name="TextBox 7"/>
            <p:cNvSpPr txBox="1"/>
            <p:nvPr/>
          </p:nvSpPr>
          <p:spPr>
            <a:xfrm>
              <a:off x="7572396" y="1839082"/>
              <a:ext cx="857256" cy="477054"/>
            </a:xfrm>
            <a:prstGeom prst="rect">
              <a:avLst/>
            </a:prstGeom>
            <a:noFill/>
          </p:spPr>
          <p:txBody>
            <a:bodyPr wrap="square" rtlCol="0">
              <a:spAutoFit/>
            </a:bodyPr>
            <a:lstStyle/>
            <a:p>
              <a:pPr algn="l">
                <a:lnSpc>
                  <a:spcPts val="30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n</a:t>
              </a:r>
              <a:r>
                <a:rPr lang="en-US" altLang="zh-CN" sz="1800" smtClean="0">
                  <a:solidFill>
                    <a:srgbClr val="0000FF"/>
                  </a:solidFill>
                  <a:latin typeface="Consolas" panose="020B0609020204030204" pitchFamily="49" charset="0"/>
                  <a:cs typeface="Consolas" panose="020B0609020204030204" pitchFamily="49" charset="0"/>
                </a:rPr>
                <a:t>+1</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7572396" y="2224602"/>
              <a:ext cx="1143008" cy="477054"/>
            </a:xfrm>
            <a:prstGeom prst="rect">
              <a:avLst/>
            </a:prstGeom>
            <a:noFill/>
          </p:spPr>
          <p:txBody>
            <a:bodyPr wrap="square" rtlCol="0">
              <a:spAutoFit/>
            </a:bodyPr>
            <a:lstStyle/>
            <a:p>
              <a:pPr algn="l">
                <a:lnSpc>
                  <a:spcPts val="30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n</a:t>
              </a:r>
              <a:r>
                <a:rPr lang="en-US" altLang="zh-CN" sz="1800" smtClean="0">
                  <a:solidFill>
                    <a:srgbClr val="0000FF"/>
                  </a:solidFill>
                  <a:latin typeface="Consolas" panose="020B0609020204030204" pitchFamily="49" charset="0"/>
                  <a:cs typeface="Consolas" panose="020B0609020204030204" pitchFamily="49" charset="0"/>
                </a:rPr>
                <a:t>(</a:t>
              </a:r>
              <a:r>
                <a:rPr lang="en-US" altLang="zh-CN" sz="1800" i="1" smtClean="0">
                  <a:solidFill>
                    <a:srgbClr val="0000FF"/>
                  </a:solidFill>
                  <a:latin typeface="Consolas" panose="020B0609020204030204" pitchFamily="49" charset="0"/>
                  <a:cs typeface="Consolas" panose="020B0609020204030204" pitchFamily="49" charset="0"/>
                </a:rPr>
                <a:t>n</a:t>
              </a:r>
              <a:r>
                <a:rPr lang="en-US" altLang="zh-CN" sz="1800" smtClean="0">
                  <a:solidFill>
                    <a:srgbClr val="0000FF"/>
                  </a:solidFill>
                  <a:latin typeface="Consolas" panose="020B0609020204030204" pitchFamily="49" charset="0"/>
                  <a:cs typeface="Consolas" panose="020B0609020204030204" pitchFamily="49" charset="0"/>
                </a:rPr>
                <a:t>+1)</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7572396" y="2624900"/>
              <a:ext cx="571504" cy="477054"/>
            </a:xfrm>
            <a:prstGeom prst="rect">
              <a:avLst/>
            </a:prstGeom>
            <a:noFill/>
          </p:spPr>
          <p:txBody>
            <a:bodyPr wrap="square" rtlCol="0">
              <a:spAutoFit/>
            </a:bodyPr>
            <a:lstStyle/>
            <a:p>
              <a:pPr algn="l">
                <a:lnSpc>
                  <a:spcPts val="30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n</a:t>
              </a:r>
              <a:r>
                <a:rPr lang="en-US" altLang="zh-CN" sz="1800" baseline="30000" smtClean="0">
                  <a:solidFill>
                    <a:srgbClr val="0000FF"/>
                  </a:solidFill>
                  <a:latin typeface="Consolas" panose="020B0609020204030204" pitchFamily="49" charset="0"/>
                  <a:cs typeface="Consolas" panose="020B0609020204030204" pitchFamily="49" charset="0"/>
                </a:rPr>
                <a:t>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2" name="直接连接符 11"/>
            <p:cNvCxnSpPr/>
            <p:nvPr/>
          </p:nvCxnSpPr>
          <p:spPr>
            <a:xfrm>
              <a:off x="6143636" y="2113684"/>
              <a:ext cx="1357322" cy="0"/>
            </a:xfrm>
            <a:prstGeom prst="line">
              <a:avLst/>
            </a:prstGeom>
            <a:ln w="19050">
              <a:tailEnd type="arrow"/>
            </a:ln>
          </p:spPr>
          <p:style>
            <a:lnRef idx="2">
              <a:schemeClr val="dk1"/>
            </a:lnRef>
            <a:fillRef idx="0">
              <a:schemeClr val="dk1"/>
            </a:fillRef>
            <a:effectRef idx="1">
              <a:schemeClr val="dk1"/>
            </a:effectRef>
            <a:fontRef idx="minor">
              <a:schemeClr val="tx1"/>
            </a:fontRef>
          </p:style>
        </p:cxnSp>
        <p:cxnSp>
          <p:nvCxnSpPr>
            <p:cNvPr id="14" name="直接箭头连接符 13"/>
            <p:cNvCxnSpPr/>
            <p:nvPr/>
          </p:nvCxnSpPr>
          <p:spPr>
            <a:xfrm>
              <a:off x="6132958" y="2499204"/>
              <a:ext cx="1368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6" name="直接箭头连接符 15"/>
            <p:cNvCxnSpPr/>
            <p:nvPr/>
          </p:nvCxnSpPr>
          <p:spPr>
            <a:xfrm>
              <a:off x="6143636" y="2886538"/>
              <a:ext cx="135732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3" name="组合 19"/>
          <p:cNvGrpSpPr/>
          <p:nvPr/>
        </p:nvGrpSpPr>
        <p:grpSpPr>
          <a:xfrm>
            <a:off x="6215074" y="3629271"/>
            <a:ext cx="2786082" cy="1647592"/>
            <a:chOff x="6072198" y="3786190"/>
            <a:chExt cx="2786082" cy="1647592"/>
          </a:xfrm>
        </p:grpSpPr>
        <p:sp>
          <p:nvSpPr>
            <p:cNvPr id="17" name="TextBox 16"/>
            <p:cNvSpPr txBox="1"/>
            <p:nvPr/>
          </p:nvSpPr>
          <p:spPr>
            <a:xfrm>
              <a:off x="6072198" y="4572008"/>
              <a:ext cx="2786082" cy="86177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cs typeface="Consolas" panose="020B0609020204030204" pitchFamily="49" charset="0"/>
                </a:rPr>
                <a:t>T(</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+1+</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+1)+</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baseline="30000" smtClean="0">
                  <a:solidFill>
                    <a:srgbClr val="0000FF"/>
                  </a:solidFill>
                  <a:latin typeface="Consolas" panose="020B0609020204030204" pitchFamily="49" charset="0"/>
                  <a:cs typeface="Consolas" panose="020B0609020204030204" pitchFamily="49" charset="0"/>
                </a:rPr>
                <a:t>2</a:t>
              </a:r>
              <a:endParaRPr lang="en-US" altLang="zh-CN" sz="2000" baseline="30000" smtClean="0">
                <a:solidFill>
                  <a:srgbClr val="0000FF"/>
                </a:solidFill>
                <a:latin typeface="Consolas" panose="020B0609020204030204" pitchFamily="49" charset="0"/>
                <a:cs typeface="Consolas" panose="020B0609020204030204" pitchFamily="49" charset="0"/>
              </a:endParaRPr>
            </a:p>
            <a:p>
              <a:pPr algn="l">
                <a:lnSpc>
                  <a:spcPts val="3000"/>
                </a:lnSpc>
                <a:spcBef>
                  <a:spcPts val="0"/>
                </a:spcBef>
              </a:pPr>
              <a:r>
                <a:rPr lang="en-US" altLang="zh-CN" sz="2000" baseline="30000" smtClean="0">
                  <a:solidFill>
                    <a:srgbClr val="0000FF"/>
                  </a:solidFill>
                  <a:latin typeface="Consolas" panose="020B0609020204030204" pitchFamily="49" charset="0"/>
                  <a:cs typeface="Consolas" panose="020B0609020204030204" pitchFamily="49" charset="0"/>
                </a:rPr>
                <a:t>      </a:t>
              </a:r>
              <a:r>
                <a:rPr lang="en-US" altLang="zh-CN" sz="2000" smtClean="0">
                  <a:solidFill>
                    <a:srgbClr val="0000FF"/>
                  </a:solidFill>
                  <a:latin typeface="Consolas" panose="020B0609020204030204" pitchFamily="49" charset="0"/>
                  <a:cs typeface="Consolas" panose="020B0609020204030204" pitchFamily="49" charset="0"/>
                </a:rPr>
                <a:t>=2</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baseline="30000" smtClean="0">
                  <a:solidFill>
                    <a:srgbClr val="0000FF"/>
                  </a:solidFill>
                  <a:latin typeface="Consolas" panose="020B0609020204030204" pitchFamily="49" charset="0"/>
                  <a:cs typeface="Consolas" panose="020B0609020204030204" pitchFamily="49" charset="0"/>
                </a:rPr>
                <a:t>2</a:t>
              </a:r>
              <a:r>
                <a:rPr lang="en-US" altLang="zh-CN" sz="2000" smtClean="0">
                  <a:solidFill>
                    <a:srgbClr val="0000FF"/>
                  </a:solidFill>
                  <a:latin typeface="Consolas" panose="020B0609020204030204" pitchFamily="49" charset="0"/>
                  <a:cs typeface="Consolas" panose="020B0609020204030204" pitchFamily="49" charset="0"/>
                </a:rPr>
                <a:t>+2</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+1</a:t>
              </a:r>
              <a:r>
                <a:rPr lang="zh-CN" altLang="zh-CN" sz="2000" smtClean="0">
                  <a:solidFill>
                    <a:srgbClr val="0000FF"/>
                  </a:solidFill>
                  <a:latin typeface="Consolas" panose="020B0609020204030204" pitchFamily="49" charset="0"/>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下箭头 17"/>
            <p:cNvSpPr/>
            <p:nvPr/>
          </p:nvSpPr>
          <p:spPr>
            <a:xfrm>
              <a:off x="7572396" y="3786190"/>
              <a:ext cx="285752" cy="71438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25" name="灯片编号占位符 2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714348" y="500042"/>
            <a:ext cx="3714776" cy="400110"/>
          </a:xfrm>
          <a:prstGeom prst="rect">
            <a:avLst/>
          </a:prstGeom>
          <a:blipFill>
            <a:blip r:embed="rId1" cstate="print"/>
            <a:tile tx="0" ty="0" sx="100000" sy="100000" flip="none" algn="tl"/>
          </a:blip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2</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T(</a:t>
            </a:r>
            <a:r>
              <a:rPr lang="en-US" altLang="zh-CN" sz="2000" i="1"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n</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采用时间复杂度表示</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8" name="Text Box 4"/>
          <p:cNvSpPr txBox="1">
            <a:spLocks noChangeArrowheads="1"/>
          </p:cNvSpPr>
          <p:nvPr/>
        </p:nvSpPr>
        <p:spPr bwMode="auto">
          <a:xfrm>
            <a:off x="642910" y="1142984"/>
            <a:ext cx="7848600" cy="784830"/>
          </a:xfrm>
          <a:prstGeom prst="rect">
            <a:avLst/>
          </a:prstGeom>
          <a:noFill/>
          <a:ln w="9525">
            <a:noFill/>
            <a:miter lim="800000"/>
          </a:ln>
          <a:effectLst/>
        </p:spPr>
        <p:txBody>
          <a:bodyPr>
            <a:spAutoFit/>
          </a:bodyPr>
          <a:lstStyle/>
          <a:p>
            <a:pPr algn="just">
              <a:lnSpc>
                <a:spcPct val="100000"/>
              </a:lnSpc>
            </a:pPr>
            <a:r>
              <a:rPr lang="zh-CN" altLang="en-US" sz="1800" dirty="0">
                <a:solidFill>
                  <a:srgbClr val="0000FF"/>
                </a:solidFill>
                <a:latin typeface="Consolas" panose="020B0609020204030204" pitchFamily="49" charset="0"/>
                <a:ea typeface="楷体" panose="02010609060101010101" pitchFamily="49" charset="-122"/>
                <a:cs typeface="Consolas" panose="020B0609020204030204" pitchFamily="49" charset="0"/>
              </a:rPr>
              <a:t>算法中执行时间</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18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1800" dirty="0">
                <a:solidFill>
                  <a:srgbClr val="0000FF"/>
                </a:solidFill>
                <a:latin typeface="Consolas" panose="020B0609020204030204" pitchFamily="49" charset="0"/>
                <a:ea typeface="楷体" panose="02010609060101010101" pitchFamily="49" charset="-122"/>
                <a:cs typeface="Consolas" panose="020B0609020204030204" pitchFamily="49" charset="0"/>
              </a:rPr>
              <a:t>是问题规模</a:t>
            </a:r>
            <a:r>
              <a:rPr lang="en-US" altLang="zh-CN" sz="18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en-US" sz="1800" dirty="0">
                <a:solidFill>
                  <a:srgbClr val="0000FF"/>
                </a:solidFill>
                <a:latin typeface="Consolas" panose="020B0609020204030204" pitchFamily="49" charset="0"/>
                <a:ea typeface="楷体" panose="02010609060101010101" pitchFamily="49" charset="-122"/>
                <a:cs typeface="Consolas" panose="020B0609020204030204" pitchFamily="49" charset="0"/>
              </a:rPr>
              <a:t>的某个函数</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，记</a:t>
            </a:r>
            <a:r>
              <a:rPr lang="zh-CN" altLang="en-US" sz="1800" dirty="0">
                <a:solidFill>
                  <a:srgbClr val="0000FF"/>
                </a:solidFill>
                <a:latin typeface="Consolas" panose="020B0609020204030204" pitchFamily="49" charset="0"/>
                <a:ea typeface="楷体" panose="02010609060101010101" pitchFamily="49" charset="-122"/>
                <a:cs typeface="Consolas" panose="020B0609020204030204" pitchFamily="49" charset="0"/>
              </a:rPr>
              <a:t>作：</a:t>
            </a:r>
            <a:endParaRPr lang="zh-CN" altLang="en-US" sz="18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just">
              <a:lnSpc>
                <a:spcPct val="100000"/>
              </a:lnSpc>
            </a:pPr>
            <a:r>
              <a:rPr lang="zh-CN" altLang="en-US" sz="18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T(</a:t>
            </a:r>
            <a:r>
              <a:rPr lang="en-US" altLang="zh-CN" sz="1800" i="1">
                <a:solidFill>
                  <a:srgbClr val="FF0000"/>
                </a:solidFill>
                <a:latin typeface="Consolas" panose="020B0609020204030204" pitchFamily="49" charset="0"/>
                <a:ea typeface="楷体" panose="02010609060101010101" pitchFamily="49" charset="-122"/>
                <a:cs typeface="Consolas" panose="020B0609020204030204" pitchFamily="49" charset="0"/>
              </a:rPr>
              <a:t>n</a:t>
            </a:r>
            <a:r>
              <a:rPr lang="en-US" altLang="zh-CN" sz="1800" smtClean="0">
                <a:solidFill>
                  <a:srgbClr val="FF0000"/>
                </a:solidFill>
                <a:latin typeface="Consolas" panose="020B0609020204030204" pitchFamily="49" charset="0"/>
                <a:ea typeface="楷体" panose="02010609060101010101" pitchFamily="49" charset="-122"/>
                <a:cs typeface="Consolas" panose="020B0609020204030204" pitchFamily="49" charset="0"/>
              </a:rPr>
              <a:t>) = O(</a:t>
            </a:r>
            <a:r>
              <a:rPr lang="en-US" altLang="zh-CN" sz="1800" i="1" smtClean="0">
                <a:solidFill>
                  <a:srgbClr val="FF0000"/>
                </a:solidFill>
                <a:latin typeface="Consolas" panose="020B0609020204030204" pitchFamily="49" charset="0"/>
                <a:ea typeface="楷体" panose="02010609060101010101" pitchFamily="49" charset="-122"/>
                <a:cs typeface="Consolas" panose="020B0609020204030204" pitchFamily="49" charset="0"/>
              </a:rPr>
              <a:t>f</a:t>
            </a:r>
            <a:r>
              <a:rPr lang="en-US" altLang="zh-CN" sz="18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smtClean="0">
                <a:solidFill>
                  <a:srgbClr val="FF0000"/>
                </a:solidFill>
                <a:latin typeface="Consolas" panose="020B0609020204030204" pitchFamily="49" charset="0"/>
                <a:ea typeface="楷体" panose="02010609060101010101" pitchFamily="49" charset="-122"/>
                <a:cs typeface="Consolas" panose="020B0609020204030204" pitchFamily="49" charset="0"/>
              </a:rPr>
              <a:t>n</a:t>
            </a:r>
            <a:r>
              <a:rPr lang="en-US" altLang="zh-CN" sz="1800" dirty="0">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en-US" altLang="zh-CN" sz="18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100364"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28"/>
          <p:cNvGrpSpPr/>
          <p:nvPr/>
        </p:nvGrpSpPr>
        <p:grpSpPr>
          <a:xfrm>
            <a:off x="2939298" y="2643182"/>
            <a:ext cx="2775710" cy="3547396"/>
            <a:chOff x="2939298" y="2643182"/>
            <a:chExt cx="2775710" cy="3547396"/>
          </a:xfrm>
        </p:grpSpPr>
        <p:sp>
          <p:nvSpPr>
            <p:cNvPr id="100362" name="Rectangle 10"/>
            <p:cNvSpPr>
              <a:spLocks noChangeArrowheads="1"/>
            </p:cNvSpPr>
            <p:nvPr/>
          </p:nvSpPr>
          <p:spPr bwMode="auto">
            <a:xfrm>
              <a:off x="4728406" y="2951539"/>
              <a:ext cx="597666" cy="36277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cf</a:t>
              </a: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800" i="1"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0361" name="Rectangle 9"/>
            <p:cNvSpPr>
              <a:spLocks noChangeArrowheads="1"/>
            </p:cNvSpPr>
            <p:nvPr/>
          </p:nvSpPr>
          <p:spPr bwMode="auto">
            <a:xfrm>
              <a:off x="5117342" y="3741864"/>
              <a:ext cx="597666" cy="362772"/>
            </a:xfrm>
            <a:prstGeom prst="rect">
              <a:avLst/>
            </a:prstGeom>
            <a:solidFill>
              <a:srgbClr val="FFFFFF"/>
            </a:solidFill>
            <a:ln w="9525">
              <a:noFill/>
              <a:miter lim="800000"/>
            </a:ln>
          </p:spPr>
          <p:txBody>
            <a:bodyPr vert="horz" wrap="square" lIns="3600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T(</a:t>
              </a:r>
              <a:r>
                <a:rPr kumimoji="0" lang="en-US" altLang="zh-CN" sz="1800" i="1"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0360" name="AutoShape 8"/>
            <p:cNvSpPr>
              <a:spLocks noChangeShapeType="1"/>
            </p:cNvSpPr>
            <p:nvPr/>
          </p:nvSpPr>
          <p:spPr bwMode="auto">
            <a:xfrm>
              <a:off x="2939298" y="2653547"/>
              <a:ext cx="1296" cy="3071905"/>
            </a:xfrm>
            <a:prstGeom prst="straightConnector1">
              <a:avLst/>
            </a:prstGeom>
            <a:ln w="19050">
              <a:headEnd type="arrow"/>
              <a:tailEnd type="none"/>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00359" name="AutoShape 7"/>
            <p:cNvSpPr>
              <a:spLocks noChangeShapeType="1"/>
            </p:cNvSpPr>
            <p:nvPr/>
          </p:nvSpPr>
          <p:spPr bwMode="auto">
            <a:xfrm>
              <a:off x="2939298" y="5725452"/>
              <a:ext cx="2359548" cy="129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00358" name="AutoShape 6"/>
            <p:cNvSpPr>
              <a:spLocks noChangeShapeType="1"/>
            </p:cNvSpPr>
            <p:nvPr/>
          </p:nvSpPr>
          <p:spPr bwMode="auto">
            <a:xfrm flipH="1">
              <a:off x="3431951" y="4765401"/>
              <a:ext cx="1296" cy="969121"/>
            </a:xfrm>
            <a:prstGeom prst="straightConnector1">
              <a:avLst/>
            </a:prstGeom>
            <a:noFill/>
            <a:ln w="9525">
              <a:solidFill>
                <a:srgbClr val="000000"/>
              </a:solidFill>
              <a:prstDash val="dash"/>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00357" name="Rectangle 5"/>
            <p:cNvSpPr>
              <a:spLocks noChangeArrowheads="1"/>
            </p:cNvSpPr>
            <p:nvPr/>
          </p:nvSpPr>
          <p:spPr bwMode="auto">
            <a:xfrm>
              <a:off x="5182165" y="5827806"/>
              <a:ext cx="234658" cy="36277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0356" name="Freeform 4"/>
            <p:cNvSpPr/>
            <p:nvPr/>
          </p:nvSpPr>
          <p:spPr bwMode="auto">
            <a:xfrm>
              <a:off x="2940594" y="3715952"/>
              <a:ext cx="2267500" cy="1565104"/>
            </a:xfrm>
            <a:custGeom>
              <a:avLst/>
              <a:gdLst/>
              <a:ahLst/>
              <a:cxnLst>
                <a:cxn ang="0">
                  <a:pos x="0" y="980"/>
                </a:cxn>
                <a:cxn ang="0">
                  <a:pos x="169" y="1160"/>
                </a:cxn>
                <a:cxn ang="0">
                  <a:pos x="258" y="690"/>
                </a:cxn>
                <a:cxn ang="0">
                  <a:pos x="389" y="830"/>
                </a:cxn>
                <a:cxn ang="0">
                  <a:pos x="519" y="960"/>
                </a:cxn>
                <a:cxn ang="0">
                  <a:pos x="789" y="830"/>
                </a:cxn>
                <a:cxn ang="0">
                  <a:pos x="1249" y="510"/>
                </a:cxn>
                <a:cxn ang="0">
                  <a:pos x="1749" y="0"/>
                </a:cxn>
              </a:cxnLst>
              <a:rect l="0" t="0" r="r" b="b"/>
              <a:pathLst>
                <a:path w="1749" h="1208">
                  <a:moveTo>
                    <a:pt x="0" y="980"/>
                  </a:moveTo>
                  <a:cubicBezTo>
                    <a:pt x="63" y="1094"/>
                    <a:pt x="126" y="1208"/>
                    <a:pt x="169" y="1160"/>
                  </a:cubicBezTo>
                  <a:cubicBezTo>
                    <a:pt x="212" y="1112"/>
                    <a:pt x="221" y="745"/>
                    <a:pt x="258" y="690"/>
                  </a:cubicBezTo>
                  <a:cubicBezTo>
                    <a:pt x="295" y="635"/>
                    <a:pt x="345" y="785"/>
                    <a:pt x="389" y="830"/>
                  </a:cubicBezTo>
                  <a:cubicBezTo>
                    <a:pt x="433" y="875"/>
                    <a:pt x="452" y="960"/>
                    <a:pt x="519" y="960"/>
                  </a:cubicBezTo>
                  <a:cubicBezTo>
                    <a:pt x="586" y="960"/>
                    <a:pt x="667" y="905"/>
                    <a:pt x="789" y="830"/>
                  </a:cubicBezTo>
                  <a:cubicBezTo>
                    <a:pt x="911" y="755"/>
                    <a:pt x="1089" y="648"/>
                    <a:pt x="1249" y="510"/>
                  </a:cubicBezTo>
                  <a:cubicBezTo>
                    <a:pt x="1409" y="372"/>
                    <a:pt x="1645" y="106"/>
                    <a:pt x="1749" y="0"/>
                  </a:cubicBezTo>
                </a:path>
              </a:pathLst>
            </a:custGeom>
            <a:ln w="19050"/>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00355" name="Freeform 3"/>
            <p:cNvSpPr/>
            <p:nvPr/>
          </p:nvSpPr>
          <p:spPr bwMode="auto">
            <a:xfrm>
              <a:off x="2940594" y="3197706"/>
              <a:ext cx="2254535" cy="1982292"/>
            </a:xfrm>
            <a:custGeom>
              <a:avLst/>
              <a:gdLst/>
              <a:ahLst/>
              <a:cxnLst>
                <a:cxn ang="0">
                  <a:pos x="0" y="1530"/>
                </a:cxn>
                <a:cxn ang="0">
                  <a:pos x="429" y="1180"/>
                </a:cxn>
                <a:cxn ang="0">
                  <a:pos x="919" y="960"/>
                </a:cxn>
                <a:cxn ang="0">
                  <a:pos x="1739" y="0"/>
                </a:cxn>
              </a:cxnLst>
              <a:rect l="0" t="0" r="r" b="b"/>
              <a:pathLst>
                <a:path w="1739" h="1530">
                  <a:moveTo>
                    <a:pt x="0" y="1530"/>
                  </a:moveTo>
                  <a:cubicBezTo>
                    <a:pt x="138" y="1402"/>
                    <a:pt x="276" y="1275"/>
                    <a:pt x="429" y="1180"/>
                  </a:cubicBezTo>
                  <a:cubicBezTo>
                    <a:pt x="582" y="1085"/>
                    <a:pt x="701" y="1157"/>
                    <a:pt x="919" y="960"/>
                  </a:cubicBezTo>
                  <a:cubicBezTo>
                    <a:pt x="1137" y="763"/>
                    <a:pt x="1568" y="200"/>
                    <a:pt x="1739" y="0"/>
                  </a:cubicBezTo>
                </a:path>
              </a:pathLst>
            </a:custGeom>
            <a:ln w="19050"/>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00354" name="Rectangle 2"/>
            <p:cNvSpPr>
              <a:spLocks noChangeArrowheads="1"/>
            </p:cNvSpPr>
            <p:nvPr/>
          </p:nvSpPr>
          <p:spPr bwMode="auto">
            <a:xfrm>
              <a:off x="3341199" y="5775981"/>
              <a:ext cx="337078" cy="36277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800" i="0" u="none" strike="noStrike" cap="none" normalizeH="0" baseline="-3000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8" name="Rectangle 9"/>
            <p:cNvSpPr>
              <a:spLocks noChangeArrowheads="1"/>
            </p:cNvSpPr>
            <p:nvPr/>
          </p:nvSpPr>
          <p:spPr bwMode="auto">
            <a:xfrm>
              <a:off x="3071802" y="2643182"/>
              <a:ext cx="1000132" cy="362772"/>
            </a:xfrm>
            <a:prstGeom prst="rect">
              <a:avLst/>
            </a:prstGeom>
            <a:solidFill>
              <a:srgbClr val="FFFFFF"/>
            </a:solidFill>
            <a:ln w="9525">
              <a:noFill/>
              <a:miter lim="800000"/>
            </a:ln>
          </p:spPr>
          <p:txBody>
            <a:bodyPr vert="horz" wrap="square" lIns="3600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i="0" u="none" strike="noStrike" cap="none" normalizeH="0" baseline="0" smtClean="0">
                  <a:ln>
                    <a:noFill/>
                  </a:ln>
                  <a:solidFill>
                    <a:srgbClr val="0000FF"/>
                  </a:solidFill>
                  <a:effectLst/>
                  <a:latin typeface="仿宋" panose="02010609060101010101" pitchFamily="49" charset="-122"/>
                  <a:ea typeface="仿宋" panose="02010609060101010101" pitchFamily="49" charset="-122"/>
                  <a:cs typeface="Consolas" panose="020B0609020204030204" pitchFamily="49" charset="0"/>
                </a:rPr>
                <a:t>执行时间</a:t>
              </a:r>
              <a:endParaRPr kumimoji="0" lang="en-US" altLang="zh-CN" sz="1800" i="0" u="none" strike="noStrike" cap="none" normalizeH="0" baseline="0" smtClean="0">
                <a:ln>
                  <a:noFill/>
                </a:ln>
                <a:solidFill>
                  <a:srgbClr val="0000FF"/>
                </a:solidFill>
                <a:effectLst/>
                <a:latin typeface="仿宋" panose="02010609060101010101" pitchFamily="49" charset="-122"/>
                <a:ea typeface="仿宋" panose="02010609060101010101" pitchFamily="49" charset="-122"/>
                <a:cs typeface="Consolas" panose="020B0609020204030204" pitchFamily="49" charset="0"/>
              </a:endParaRPr>
            </a:p>
          </p:txBody>
        </p:sp>
      </p:grpSp>
      <p:sp>
        <p:nvSpPr>
          <p:cNvPr id="24" name="灯片编号占位符 2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2"/>
          <p:cNvSpPr txBox="1">
            <a:spLocks noChangeArrowheads="1"/>
          </p:cNvSpPr>
          <p:nvPr/>
        </p:nvSpPr>
        <p:spPr bwMode="auto">
          <a:xfrm>
            <a:off x="395288" y="357166"/>
            <a:ext cx="8305800" cy="1449216"/>
          </a:xfrm>
          <a:prstGeom prst="rect">
            <a:avLst/>
          </a:prstGeom>
          <a:solidFill>
            <a:schemeClr val="bg1"/>
          </a:solidFill>
        </p:spPr>
        <p:style>
          <a:lnRef idx="1">
            <a:schemeClr val="accent5"/>
          </a:lnRef>
          <a:fillRef idx="2">
            <a:schemeClr val="accent5"/>
          </a:fillRef>
          <a:effectRef idx="1">
            <a:schemeClr val="accent5"/>
          </a:effectRef>
          <a:fontRef idx="minor">
            <a:schemeClr val="dk1"/>
          </a:fontRef>
        </p:style>
        <p:txBody>
          <a:bodyPr tIns="108000" bIns="108000">
            <a:spAutoFit/>
          </a:bodyPr>
          <a:lstStyle/>
          <a:p>
            <a:pPr algn="just">
              <a:lnSpc>
                <a:spcPct val="100000"/>
              </a:lnSpc>
            </a:pP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dirty="0" smtClean="0">
                <a:solidFill>
                  <a:srgbClr val="FF0000"/>
                </a:solidFill>
                <a:latin typeface="Consolas" panose="020B0609020204030204" pitchFamily="49" charset="0"/>
                <a:ea typeface="楷体" panose="02010609060101010101" pitchFamily="49" charset="-122"/>
                <a:cs typeface="Consolas" panose="020B0609020204030204" pitchFamily="49" charset="0"/>
              </a:rPr>
              <a:t>O</a:t>
            </a:r>
            <a:r>
              <a:rPr lang="zh-CN" altLang="en-US" sz="2000"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”的</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形式定义为：</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just">
              <a:lnSpc>
                <a:spcPct val="100000"/>
              </a:lnSpc>
            </a:pP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   T(</a:t>
            </a:r>
            <a:r>
              <a:rPr lang="en-US" altLang="zh-CN" sz="2000" i="1" smtClean="0">
                <a:solidFill>
                  <a:srgbClr val="FF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 = O(</a:t>
            </a:r>
            <a:r>
              <a:rPr lang="en-US" altLang="zh-CN" sz="2000" i="1" smtClean="0">
                <a:solidFill>
                  <a:srgbClr val="FF00FF"/>
                </a:solidFill>
                <a:latin typeface="Consolas" panose="020B0609020204030204" pitchFamily="49" charset="0"/>
                <a:ea typeface="楷体" panose="02010609060101010101" pitchFamily="49" charset="-122"/>
                <a:cs typeface="Consolas" panose="020B0609020204030204" pitchFamily="49" charset="0"/>
              </a:rPr>
              <a:t>f</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FF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表示存在一个正的</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常</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数</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，使</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得当</a:t>
            </a:r>
            <a:r>
              <a:rPr lang="en-US"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dirty="0" err="1">
                <a:solidFill>
                  <a:srgbClr val="0000FF"/>
                </a:solidFill>
                <a:latin typeface="宋体" panose="02010600030101010101" pitchFamily="2" charset="-122"/>
                <a:ea typeface="宋体" panose="02010600030101010101" pitchFamily="2" charset="-122"/>
                <a:cs typeface="Consolas" panose="020B0609020204030204" pitchFamily="49" charset="0"/>
              </a:rPr>
              <a:t>≥</a:t>
            </a:r>
            <a:r>
              <a:rPr lang="en-US"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baseline="-30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时都满足：</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just">
              <a:lnSpc>
                <a:spcPct val="100000"/>
              </a:lnSpc>
            </a:pP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宋体" panose="02010600030101010101" pitchFamily="2" charset="-122"/>
                <a:ea typeface="宋体" panose="02010600030101010101" pitchFamily="2" charset="-122"/>
                <a:cs typeface="Consolas" panose="020B0609020204030204" pitchFamily="49" charset="0"/>
              </a:rPr>
              <a:t>≤</a:t>
            </a:r>
            <a:r>
              <a:rPr lang="en-US"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endPar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Line 7"/>
          <p:cNvSpPr>
            <a:spLocks noChangeShapeType="1"/>
          </p:cNvSpPr>
          <p:nvPr/>
        </p:nvSpPr>
        <p:spPr bwMode="auto">
          <a:xfrm flipV="1">
            <a:off x="4040189" y="1857364"/>
            <a:ext cx="0" cy="360363"/>
          </a:xfrm>
          <a:prstGeom prst="line">
            <a:avLst/>
          </a:prstGeom>
          <a:ln w="19050">
            <a:tailEnd type="triangle" w="med" len="med"/>
          </a:ln>
        </p:spPr>
        <p:style>
          <a:lnRef idx="2">
            <a:schemeClr val="accent2"/>
          </a:lnRef>
          <a:fillRef idx="0">
            <a:schemeClr val="accent2"/>
          </a:fillRef>
          <a:effectRef idx="1">
            <a:schemeClr val="accent2"/>
          </a:effectRef>
          <a:fontRef idx="minor">
            <a:schemeClr val="tx1"/>
          </a:fontRef>
        </p:style>
        <p:txBody>
          <a:bodyPr wrap="none" anchor="ctr">
            <a:spAutoFit/>
          </a:bodyPr>
          <a:lstStyle/>
          <a:p>
            <a:endParaRPr lang="zh-CN" altLang="en-US">
              <a:latin typeface="Consolas" panose="020B0609020204030204" pitchFamily="49" charset="0"/>
              <a:cs typeface="Consolas" panose="020B0609020204030204" pitchFamily="49" charset="0"/>
            </a:endParaRPr>
          </a:p>
        </p:txBody>
      </p:sp>
      <p:sp>
        <p:nvSpPr>
          <p:cNvPr id="7" name="Text Box 8"/>
          <p:cNvSpPr txBox="1">
            <a:spLocks noChangeArrowheads="1"/>
          </p:cNvSpPr>
          <p:nvPr/>
        </p:nvSpPr>
        <p:spPr bwMode="auto">
          <a:xfrm>
            <a:off x="2928926" y="2263765"/>
            <a:ext cx="2382832" cy="400110"/>
          </a:xfrm>
          <a:prstGeom prst="rect">
            <a:avLst/>
          </a:prstGeom>
          <a:noFill/>
          <a:ln w="19050" algn="ctr">
            <a:noFill/>
            <a:miter lim="800000"/>
          </a:ln>
          <a:effectLst/>
        </p:spPr>
        <p:txBody>
          <a:bodyPr wrap="square">
            <a:spAutoFit/>
          </a:bodyPr>
          <a:lstStyle/>
          <a:p>
            <a:pPr>
              <a:lnSpc>
                <a:spcPct val="100000"/>
              </a:lnSpc>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上界</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Line 7"/>
          <p:cNvSpPr>
            <a:spLocks noChangeShapeType="1"/>
          </p:cNvSpPr>
          <p:nvPr/>
        </p:nvSpPr>
        <p:spPr bwMode="auto">
          <a:xfrm flipV="1">
            <a:off x="4062409" y="2633069"/>
            <a:ext cx="0" cy="360363"/>
          </a:xfrm>
          <a:prstGeom prst="line">
            <a:avLst/>
          </a:prstGeom>
          <a:ln w="19050">
            <a:tailEnd type="triangle" w="med" len="med"/>
          </a:ln>
        </p:spPr>
        <p:style>
          <a:lnRef idx="2">
            <a:schemeClr val="accent2"/>
          </a:lnRef>
          <a:fillRef idx="0">
            <a:schemeClr val="accent2"/>
          </a:fillRef>
          <a:effectRef idx="1">
            <a:schemeClr val="accent2"/>
          </a:effectRef>
          <a:fontRef idx="minor">
            <a:schemeClr val="tx1"/>
          </a:fontRef>
        </p:style>
        <p:txBody>
          <a:bodyPr wrap="none" anchor="ctr">
            <a:spAutoFit/>
          </a:bodyPr>
          <a:lstStyle/>
          <a:p>
            <a:endParaRPr lang="zh-CN" altLang="en-US">
              <a:latin typeface="Consolas" panose="020B0609020204030204" pitchFamily="49" charset="0"/>
              <a:cs typeface="Consolas" panose="020B0609020204030204" pitchFamily="49" charset="0"/>
            </a:endParaRPr>
          </a:p>
        </p:txBody>
      </p:sp>
      <p:sp>
        <p:nvSpPr>
          <p:cNvPr id="9" name="Text Box 8"/>
          <p:cNvSpPr txBox="1">
            <a:spLocks noChangeArrowheads="1"/>
          </p:cNvSpPr>
          <p:nvPr/>
        </p:nvSpPr>
        <p:spPr bwMode="auto">
          <a:xfrm>
            <a:off x="2071670" y="3039470"/>
            <a:ext cx="3597278" cy="707886"/>
          </a:xfrm>
          <a:prstGeom prst="rect">
            <a:avLst/>
          </a:prstGeom>
          <a:noFill/>
          <a:ln w="19050" algn="ctr">
            <a:noFill/>
            <a:miter lim="800000"/>
          </a:ln>
          <a:effectLst/>
        </p:spPr>
        <p:txBody>
          <a:bodyPr wrap="square">
            <a:spAutoFit/>
          </a:bodyPr>
          <a:lstStyle/>
          <a:p>
            <a:pPr>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这种上界可能很多，通常取最接近的上界，即</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紧凑上界</a:t>
            </a:r>
            <a:endParaRPr lang="zh-CN" altLang="en-US" sz="20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9"/>
          <p:cNvGrpSpPr/>
          <p:nvPr/>
        </p:nvGrpSpPr>
        <p:grpSpPr>
          <a:xfrm>
            <a:off x="1428728" y="4143380"/>
            <a:ext cx="4500594" cy="911526"/>
            <a:chOff x="714348" y="4857760"/>
            <a:chExt cx="4500594" cy="911526"/>
          </a:xfrm>
        </p:grpSpPr>
        <p:sp>
          <p:nvSpPr>
            <p:cNvPr id="11" name="TextBox 10"/>
            <p:cNvSpPr txBox="1"/>
            <p:nvPr/>
          </p:nvSpPr>
          <p:spPr>
            <a:xfrm>
              <a:off x="714348" y="4857760"/>
              <a:ext cx="1928826"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大致情况：</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TextBox 11"/>
            <p:cNvSpPr txBox="1"/>
            <p:nvPr/>
          </p:nvSpPr>
          <p:spPr>
            <a:xfrm>
              <a:off x="2571736" y="5143512"/>
              <a:ext cx="857256" cy="246221"/>
            </a:xfrm>
            <a:prstGeom prst="rect">
              <a:avLst/>
            </a:prstGeom>
            <a:noFill/>
          </p:spPr>
          <p:txBody>
            <a:bodyPr wrap="square" lIns="0" tIns="0" rIns="0" bIns="0" rtlCol="0">
              <a:spAutoFit/>
            </a:bodyPr>
            <a:lstStyle/>
            <a:p>
              <a:r>
                <a:rPr lang="en-US" altLang="zh-CN" sz="2000" smtClean="0">
                  <a:solidFill>
                    <a:srgbClr val="0000FF"/>
                  </a:solidFill>
                  <a:latin typeface="Consolas" panose="020B0609020204030204" pitchFamily="49" charset="0"/>
                  <a:cs typeface="Consolas" panose="020B0609020204030204" pitchFamily="49" charset="0"/>
                </a:rPr>
                <a:t>lim</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13" name="TextBox 12"/>
            <p:cNvSpPr txBox="1"/>
            <p:nvPr/>
          </p:nvSpPr>
          <p:spPr>
            <a:xfrm>
              <a:off x="2786050" y="5523065"/>
              <a:ext cx="571504" cy="246221"/>
            </a:xfrm>
            <a:prstGeom prst="rect">
              <a:avLst/>
            </a:prstGeom>
            <a:noFill/>
          </p:spPr>
          <p:txBody>
            <a:bodyPr wrap="square" lIns="0" tIns="0" rIns="0" bIns="0" rtlCol="0">
              <a:spAutoFit/>
            </a:bodyPr>
            <a:lstStyle/>
            <a:p>
              <a:pPr algn="l"/>
              <a:r>
                <a:rPr lang="en-US" altLang="zh-CN" sz="2000" i="1" smtClean="0">
                  <a:solidFill>
                    <a:srgbClr val="0000FF"/>
                  </a:solidFill>
                  <a:latin typeface="Consolas" panose="020B0609020204030204" pitchFamily="49" charset="0"/>
                  <a:cs typeface="Consolas" panose="020B0609020204030204" pitchFamily="49" charset="0"/>
                </a:rPr>
                <a:t>n</a:t>
              </a:r>
              <a:r>
                <a:rPr lang="zh-CN" altLang="en-US" sz="2000" smtClean="0">
                  <a:solidFill>
                    <a:srgbClr val="0000FF"/>
                  </a:solidFill>
                  <a:latin typeface="Consolas" panose="020B0609020204030204" pitchFamily="49" charset="0"/>
                  <a:cs typeface="Consolas" panose="020B0609020204030204" pitchFamily="49" charset="0"/>
                </a:rPr>
                <a:t>→∞ </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14" name="TextBox 13"/>
            <p:cNvSpPr txBox="1"/>
            <p:nvPr/>
          </p:nvSpPr>
          <p:spPr>
            <a:xfrm>
              <a:off x="3357554" y="4980992"/>
              <a:ext cx="857256" cy="246221"/>
            </a:xfrm>
            <a:prstGeom prst="rect">
              <a:avLst/>
            </a:prstGeom>
            <a:noFill/>
          </p:spPr>
          <p:txBody>
            <a:bodyPr wrap="square" lIns="0" tIns="0" rIns="0" bIns="0" rtlCol="0">
              <a:spAutoFit/>
            </a:bodyPr>
            <a:lstStyle/>
            <a:p>
              <a:r>
                <a:rPr lang="en-US" altLang="zh-CN" sz="2000" i="1" smtClean="0">
                  <a:solidFill>
                    <a:srgbClr val="0000FF"/>
                  </a:solidFill>
                  <a:latin typeface="Consolas" panose="020B0609020204030204" pitchFamily="49" charset="0"/>
                  <a:cs typeface="Consolas" panose="020B0609020204030204" pitchFamily="49" charset="0"/>
                </a:rPr>
                <a:t>T</a:t>
              </a:r>
              <a:r>
                <a:rPr lang="en-US" altLang="zh-CN" sz="2000" smtClean="0">
                  <a:solidFill>
                    <a:srgbClr val="0000FF"/>
                  </a:solidFill>
                  <a:latin typeface="Consolas" panose="020B0609020204030204" pitchFamily="49" charset="0"/>
                  <a:cs typeface="Consolas" panose="020B0609020204030204" pitchFamily="49" charset="0"/>
                </a:rPr>
                <a:t>(</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15" name="TextBox 14"/>
            <p:cNvSpPr txBox="1"/>
            <p:nvPr/>
          </p:nvSpPr>
          <p:spPr>
            <a:xfrm>
              <a:off x="3357554" y="5500702"/>
              <a:ext cx="857256" cy="246221"/>
            </a:xfrm>
            <a:prstGeom prst="rect">
              <a:avLst/>
            </a:prstGeom>
            <a:noFill/>
          </p:spPr>
          <p:txBody>
            <a:bodyPr wrap="square" lIns="0" tIns="0" rIns="0" bIns="0" rtlCol="0">
              <a:spAutoFit/>
            </a:bodyPr>
            <a:lstStyle/>
            <a:p>
              <a:r>
                <a:rPr lang="en-US" altLang="zh-CN" sz="2000" i="1" smtClean="0">
                  <a:solidFill>
                    <a:srgbClr val="0000FF"/>
                  </a:solidFill>
                  <a:latin typeface="Consolas" panose="020B0609020204030204" pitchFamily="49" charset="0"/>
                  <a:cs typeface="Consolas" panose="020B0609020204030204" pitchFamily="49" charset="0"/>
                </a:rPr>
                <a:t>f</a:t>
              </a:r>
              <a:r>
                <a:rPr lang="en-US" altLang="zh-CN" sz="2000" smtClean="0">
                  <a:solidFill>
                    <a:srgbClr val="0000FF"/>
                  </a:solidFill>
                  <a:latin typeface="Consolas" panose="020B0609020204030204" pitchFamily="49" charset="0"/>
                  <a:cs typeface="Consolas" panose="020B0609020204030204" pitchFamily="49" charset="0"/>
                </a:rPr>
                <a:t>(</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a:t>
              </a:r>
              <a:endParaRPr lang="zh-CN" altLang="en-US" sz="2000">
                <a:solidFill>
                  <a:srgbClr val="0000FF"/>
                </a:solidFill>
                <a:latin typeface="Consolas" panose="020B0609020204030204" pitchFamily="49" charset="0"/>
                <a:cs typeface="Consolas" panose="020B0609020204030204" pitchFamily="49" charset="0"/>
              </a:endParaRPr>
            </a:p>
          </p:txBody>
        </p:sp>
        <p:cxnSp>
          <p:nvCxnSpPr>
            <p:cNvPr id="16" name="直接连接符 15"/>
            <p:cNvCxnSpPr/>
            <p:nvPr/>
          </p:nvCxnSpPr>
          <p:spPr>
            <a:xfrm>
              <a:off x="3500430" y="5429264"/>
              <a:ext cx="57150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71934" y="5214950"/>
              <a:ext cx="1143008" cy="246221"/>
            </a:xfrm>
            <a:prstGeom prst="rect">
              <a:avLst/>
            </a:prstGeom>
            <a:noFill/>
          </p:spPr>
          <p:txBody>
            <a:bodyPr wrap="square" lIns="0" tIns="0" rIns="0" bIns="0" rtlCol="0">
              <a:spAutoFit/>
            </a:bodyPr>
            <a:lstStyle/>
            <a:p>
              <a:r>
                <a:rPr lang="en-US" altLang="zh-CN" sz="2000" i="1" smtClean="0">
                  <a:solidFill>
                    <a:srgbClr val="0000FF"/>
                  </a:solidFill>
                  <a:latin typeface="Consolas" panose="020B0609020204030204" pitchFamily="49" charset="0"/>
                  <a:cs typeface="Consolas" panose="020B0609020204030204" pitchFamily="49" charset="0"/>
                </a:rPr>
                <a:t>= c</a:t>
              </a:r>
              <a:endParaRPr lang="zh-CN" altLang="en-US" sz="2000">
                <a:solidFill>
                  <a:srgbClr val="0000FF"/>
                </a:solidFill>
                <a:latin typeface="Consolas" panose="020B0609020204030204" pitchFamily="49" charset="0"/>
                <a:cs typeface="Consolas" panose="020B0609020204030204" pitchFamily="49" charset="0"/>
              </a:endParaRPr>
            </a:p>
          </p:txBody>
        </p:sp>
      </p:grpSp>
      <p:sp>
        <p:nvSpPr>
          <p:cNvPr id="24" name="灯片编号占位符 2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2"/>
          <p:cNvSpPr txBox="1">
            <a:spLocks noChangeArrowheads="1"/>
          </p:cNvSpPr>
          <p:nvPr/>
        </p:nvSpPr>
        <p:spPr bwMode="auto">
          <a:xfrm>
            <a:off x="571472" y="2008281"/>
            <a:ext cx="8001056" cy="853952"/>
          </a:xfrm>
          <a:prstGeom prst="rect">
            <a:avLst/>
          </a:prstGeom>
          <a:noFill/>
          <a:ln w="9525">
            <a:noFill/>
            <a:miter lim="800000"/>
          </a:ln>
          <a:effectLst/>
        </p:spPr>
        <p:txBody>
          <a:bodyPr wrap="square">
            <a:spAutoFit/>
          </a:bodyPr>
          <a:lstStyle/>
          <a:p>
            <a:pPr algn="l">
              <a:lnSpc>
                <a:spcPct val="130000"/>
              </a:lnSpc>
              <a:spcBef>
                <a:spcPct val="0"/>
              </a:spcBef>
            </a:pPr>
            <a:r>
              <a:rPr lang="en-US" altLang="zh-CN" sz="2000">
                <a:solidFill>
                  <a:srgbClr val="FF3300"/>
                </a:solidFill>
                <a:latin typeface="Consolas" panose="020B0609020204030204" pitchFamily="49" charset="0"/>
                <a:ea typeface="仿宋"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也就是</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只求出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最高</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阶，忽略</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其低阶项和</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常</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系数，这样</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既可简化</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计算，又</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能比较客观地反映出当</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很大时算法的时间性</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能</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2000" dirty="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AutoShape 3"/>
          <p:cNvSpPr>
            <a:spLocks noChangeArrowheads="1"/>
          </p:cNvSpPr>
          <p:nvPr/>
        </p:nvSpPr>
        <p:spPr bwMode="auto">
          <a:xfrm>
            <a:off x="4714876" y="708012"/>
            <a:ext cx="2643206" cy="863600"/>
          </a:xfrm>
          <a:prstGeom prst="wedgeRectCallout">
            <a:avLst>
              <a:gd name="adj1" fmla="val -64643"/>
              <a:gd name="adj2" fmla="val 101288"/>
            </a:avLst>
          </a:prstGeom>
        </p:spPr>
        <p:style>
          <a:lnRef idx="1">
            <a:schemeClr val="accent5"/>
          </a:lnRef>
          <a:fillRef idx="2">
            <a:schemeClr val="accent5"/>
          </a:fillRef>
          <a:effectRef idx="1">
            <a:schemeClr val="accent5"/>
          </a:effectRef>
          <a:fontRef idx="minor">
            <a:schemeClr val="dk1"/>
          </a:fontRef>
        </p:style>
        <p:txBody>
          <a:bodyPr/>
          <a:lstStyle/>
          <a:p>
            <a:pPr>
              <a:lnSpc>
                <a:spcPts val="2600"/>
              </a:lnSpc>
              <a:spcBef>
                <a:spcPct val="0"/>
              </a:spcBef>
            </a:pPr>
            <a:r>
              <a:rPr lang="zh-CN" altLang="en-US" sz="1800" dirty="0">
                <a:solidFill>
                  <a:srgbClr val="C00000"/>
                </a:solidFill>
                <a:latin typeface="Consolas" panose="020B0609020204030204" pitchFamily="49" charset="0"/>
                <a:ea typeface="楷体" panose="02010609060101010101" pitchFamily="49" charset="-122"/>
                <a:cs typeface="Consolas" panose="020B0609020204030204" pitchFamily="49" charset="0"/>
              </a:rPr>
              <a:t>本质</a:t>
            </a:r>
            <a:r>
              <a:rPr lang="zh-CN" altLang="en-US" sz="1800">
                <a:solidFill>
                  <a:srgbClr val="C00000"/>
                </a:solidFill>
                <a:latin typeface="Consolas" panose="020B0609020204030204" pitchFamily="49" charset="0"/>
                <a:ea typeface="楷体" panose="02010609060101010101" pitchFamily="49" charset="-122"/>
                <a:cs typeface="Consolas" panose="020B0609020204030204" pitchFamily="49" charset="0"/>
              </a:rPr>
              <a:t>上</a:t>
            </a:r>
            <a:r>
              <a:rPr lang="zh-CN" altLang="en-US" sz="1800" smtClean="0">
                <a:solidFill>
                  <a:srgbClr val="C00000"/>
                </a:solidFill>
                <a:latin typeface="Consolas" panose="020B0609020204030204" pitchFamily="49" charset="0"/>
                <a:ea typeface="楷体" panose="02010609060101010101" pitchFamily="49" charset="-122"/>
                <a:cs typeface="Consolas" panose="020B0609020204030204" pitchFamily="49" charset="0"/>
              </a:rPr>
              <a:t>讲，是</a:t>
            </a:r>
            <a:r>
              <a:rPr lang="zh-CN" altLang="en-US" sz="1800">
                <a:solidFill>
                  <a:srgbClr val="C00000"/>
                </a:solidFill>
                <a:latin typeface="Consolas" panose="020B0609020204030204" pitchFamily="49" charset="0"/>
                <a:ea typeface="楷体" panose="02010609060101010101" pitchFamily="49" charset="-122"/>
                <a:cs typeface="Consolas" panose="020B0609020204030204" pitchFamily="49" charset="0"/>
              </a:rPr>
              <a:t>一</a:t>
            </a:r>
            <a:r>
              <a:rPr lang="zh-CN" altLang="en-US" sz="1800" smtClean="0">
                <a:solidFill>
                  <a:srgbClr val="C00000"/>
                </a:solidFill>
                <a:latin typeface="Consolas" panose="020B0609020204030204" pitchFamily="49" charset="0"/>
                <a:ea typeface="楷体" panose="02010609060101010101" pitchFamily="49" charset="-122"/>
                <a:cs typeface="Consolas" panose="020B0609020204030204" pitchFamily="49" charset="0"/>
              </a:rPr>
              <a:t>种</a:t>
            </a:r>
            <a:r>
              <a:rPr lang="en-US" altLang="zh-CN" sz="1800" smtClean="0">
                <a:solidFill>
                  <a:srgbClr val="C00000"/>
                </a:solidFill>
                <a:latin typeface="Consolas" panose="020B0609020204030204" pitchFamily="49" charset="0"/>
                <a:ea typeface="楷体" panose="02010609060101010101" pitchFamily="49" charset="-122"/>
                <a:cs typeface="Consolas" panose="020B0609020204030204" pitchFamily="49" charset="0"/>
              </a:rPr>
              <a:t>T(</a:t>
            </a:r>
            <a:r>
              <a:rPr lang="en-US" altLang="zh-CN" sz="1800" i="1" smtClean="0">
                <a:solidFill>
                  <a:srgbClr val="C00000"/>
                </a:solidFill>
                <a:latin typeface="Consolas" panose="020B0609020204030204" pitchFamily="49" charset="0"/>
                <a:ea typeface="楷体" panose="02010609060101010101" pitchFamily="49" charset="-122"/>
                <a:cs typeface="Consolas" panose="020B0609020204030204" pitchFamily="49" charset="0"/>
              </a:rPr>
              <a:t>n</a:t>
            </a:r>
            <a:r>
              <a:rPr lang="en-US" altLang="zh-CN" sz="1800" smtClean="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zh-CN" altLang="en-US" sz="1800" smtClean="0">
                <a:solidFill>
                  <a:srgbClr val="C00000"/>
                </a:solidFill>
                <a:latin typeface="Consolas" panose="020B0609020204030204" pitchFamily="49" charset="0"/>
                <a:ea typeface="楷体" panose="02010609060101010101" pitchFamily="49" charset="-122"/>
                <a:cs typeface="Consolas" panose="020B0609020204030204" pitchFamily="49" charset="0"/>
              </a:rPr>
              <a:t>最高</a:t>
            </a:r>
            <a:r>
              <a:rPr lang="zh-CN" altLang="en-US" sz="1800" dirty="0">
                <a:solidFill>
                  <a:srgbClr val="C00000"/>
                </a:solidFill>
                <a:latin typeface="Consolas" panose="020B0609020204030204" pitchFamily="49" charset="0"/>
                <a:ea typeface="楷体" panose="02010609060101010101" pitchFamily="49" charset="-122"/>
                <a:cs typeface="Consolas" panose="020B0609020204030204" pitchFamily="49" charset="0"/>
              </a:rPr>
              <a:t>数量级的比较</a:t>
            </a:r>
            <a:endParaRPr lang="zh-CN" altLang="en-US" sz="1800" dirty="0">
              <a:solidFill>
                <a:srgbClr val="C00000"/>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7"/>
          <p:cNvGrpSpPr/>
          <p:nvPr/>
        </p:nvGrpSpPr>
        <p:grpSpPr>
          <a:xfrm>
            <a:off x="428596" y="715129"/>
            <a:ext cx="1955562" cy="927921"/>
            <a:chOff x="428596" y="715129"/>
            <a:chExt cx="1955562" cy="927921"/>
          </a:xfrm>
        </p:grpSpPr>
        <p:pic>
          <p:nvPicPr>
            <p:cNvPr id="9" name="Oval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28596" y="715129"/>
              <a:ext cx="1955562" cy="927921"/>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1000554" y="1018137"/>
              <a:ext cx="812100" cy="338554"/>
            </a:xfrm>
            <a:prstGeom prst="rect">
              <a:avLst/>
            </a:prstGeom>
            <a:noFill/>
          </p:spPr>
          <p:txBody>
            <a:bodyPr wrap="square" rtlCol="0">
              <a:spAutoFit/>
            </a:bodyPr>
            <a:lstStyle/>
            <a:p>
              <a:pPr algn="ctr"/>
              <a:r>
                <a:rPr lang="zh-CN" altLang="en-US" sz="2000" dirty="0" smtClean="0">
                  <a:solidFill>
                    <a:srgbClr val="FF0000"/>
                  </a:solidFill>
                  <a:latin typeface="微软雅黑" panose="020B0503020204020204" pitchFamily="34" charset="-122"/>
                  <a:ea typeface="微软雅黑" panose="020B0503020204020204" pitchFamily="34" charset="-122"/>
                </a:rPr>
                <a:t>提示</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71472" y="571480"/>
            <a:ext cx="1214446"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1.10</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2285984" y="3774569"/>
            <a:ext cx="3000396" cy="47705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下箭头 7"/>
          <p:cNvSpPr/>
          <p:nvPr/>
        </p:nvSpPr>
        <p:spPr>
          <a:xfrm>
            <a:off x="3571868" y="3345941"/>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 name="TextBox 10"/>
          <p:cNvSpPr txBox="1"/>
          <p:nvPr/>
        </p:nvSpPr>
        <p:spPr>
          <a:xfrm>
            <a:off x="3929058" y="4643446"/>
            <a:ext cx="150019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仿宋" panose="02010609060101010101" pitchFamily="49" charset="-122"/>
                <a:ea typeface="仿宋" panose="02010609060101010101" pitchFamily="49" charset="-122"/>
              </a:rPr>
              <a:t>时间复杂度</a:t>
            </a:r>
            <a:endParaRPr lang="zh-CN" altLang="en-US" sz="2000" smtClean="0">
              <a:solidFill>
                <a:srgbClr val="0000FF"/>
              </a:solidFill>
              <a:latin typeface="仿宋" panose="02010609060101010101" pitchFamily="49" charset="-122"/>
              <a:ea typeface="仿宋" panose="02010609060101010101" pitchFamily="49" charset="-122"/>
            </a:endParaRPr>
          </a:p>
        </p:txBody>
      </p:sp>
      <p:cxnSp>
        <p:nvCxnSpPr>
          <p:cNvPr id="13" name="直接连接符 12"/>
          <p:cNvCxnSpPr/>
          <p:nvPr/>
        </p:nvCxnSpPr>
        <p:spPr>
          <a:xfrm rot="5400000">
            <a:off x="4357686" y="4429132"/>
            <a:ext cx="428628" cy="0"/>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571472" y="1071546"/>
            <a:ext cx="7929618"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matrixadd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A[N][N],int B[N][N],int C[N][N],int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j=0;j&lt;n;j++)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语句②</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C[i][j]=A[i][j]+B[i][j];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语句③</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2"/>
          <p:cNvSpPr txBox="1">
            <a:spLocks noChangeArrowheads="1"/>
          </p:cNvSpPr>
          <p:nvPr/>
        </p:nvSpPr>
        <p:spPr bwMode="auto">
          <a:xfrm>
            <a:off x="215931" y="1189490"/>
            <a:ext cx="8785225" cy="2872160"/>
          </a:xfrm>
          <a:prstGeom prst="rect">
            <a:avLst/>
          </a:prstGeom>
          <a:solidFill>
            <a:schemeClr val="bg1">
              <a:lumMod val="95000"/>
            </a:schemeClr>
          </a:solidFill>
          <a:ln>
            <a:solidFill>
              <a:schemeClr val="accent6">
                <a:lumMod val="20000"/>
                <a:lumOff val="80000"/>
              </a:schemeClr>
            </a:solidFill>
          </a:ln>
        </p:spPr>
        <p:style>
          <a:lnRef idx="1">
            <a:schemeClr val="accent3"/>
          </a:lnRef>
          <a:fillRef idx="2">
            <a:schemeClr val="accent3"/>
          </a:fillRef>
          <a:effectRef idx="1">
            <a:schemeClr val="accent3"/>
          </a:effectRef>
          <a:fontRef idx="minor">
            <a:schemeClr val="dk1"/>
          </a:fontRef>
        </p:style>
        <p:txBody>
          <a:bodyPr tIns="144000" bIns="144000">
            <a:spAutoFit/>
          </a:bodyPr>
          <a:lstStyle/>
          <a:p>
            <a:pPr marL="457200" indent="-457200" algn="l">
              <a:lnSpc>
                <a:spcPts val="3000"/>
              </a:lnSpc>
              <a:buFontTx/>
              <a:buBlip>
                <a:blip r:embed="rId1"/>
              </a:buBlip>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一个没有循环的算法的执行时间与问题规模</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无关，记</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作</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称作</a:t>
            </a:r>
            <a:r>
              <a:rPr lang="zh-CN" altLang="en-US" sz="2000" dirty="0">
                <a:solidFill>
                  <a:srgbClr val="FF00FF"/>
                </a:solidFill>
                <a:latin typeface="Consolas" panose="020B0609020204030204" pitchFamily="49" charset="0"/>
                <a:ea typeface="仿宋" panose="02010609060101010101" pitchFamily="49" charset="-122"/>
                <a:cs typeface="Consolas" panose="020B0609020204030204" pitchFamily="49" charset="0"/>
              </a:rPr>
              <a:t>常数阶</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buFontTx/>
              <a:buBlip>
                <a:blip r:embed="rId1"/>
              </a:buBlip>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一个只有一重循环的算法的执行时间与问题规模</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的增长呈线性</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增大</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关系，记</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作</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称</a:t>
            </a:r>
            <a:r>
              <a:rPr lang="zh-CN" altLang="en-US" sz="2000" dirty="0">
                <a:solidFill>
                  <a:srgbClr val="FF00FF"/>
                </a:solidFill>
                <a:latin typeface="Consolas" panose="020B0609020204030204" pitchFamily="49" charset="0"/>
                <a:ea typeface="仿宋" panose="02010609060101010101" pitchFamily="49" charset="-122"/>
                <a:cs typeface="Consolas" panose="020B0609020204030204" pitchFamily="49" charset="0"/>
              </a:rPr>
              <a:t>线性阶</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buFontTx/>
              <a:buBlip>
                <a:blip r:embed="rId1"/>
              </a:buBlip>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其余常用的算法时间复杂度还有</a:t>
            </a:r>
            <a:r>
              <a:rPr lang="zh-CN" altLang="en-US" sz="2000" dirty="0">
                <a:solidFill>
                  <a:srgbClr val="FF00FF"/>
                </a:solidFill>
                <a:latin typeface="Consolas" panose="020B0609020204030204" pitchFamily="49" charset="0"/>
                <a:ea typeface="仿宋" panose="02010609060101010101" pitchFamily="49" charset="-122"/>
                <a:cs typeface="Consolas" panose="020B0609020204030204" pitchFamily="49" charset="0"/>
              </a:rPr>
              <a:t>平方阶</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FF00FF"/>
                </a:solidFill>
                <a:latin typeface="Consolas" panose="020B0609020204030204" pitchFamily="49" charset="0"/>
                <a:ea typeface="仿宋" panose="02010609060101010101" pitchFamily="49" charset="-122"/>
                <a:cs typeface="Consolas" panose="020B0609020204030204" pitchFamily="49" charset="0"/>
              </a:rPr>
              <a:t>立方阶</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FF00FF"/>
                </a:solidFill>
                <a:latin typeface="Consolas" panose="020B0609020204030204" pitchFamily="49" charset="0"/>
                <a:ea typeface="仿宋" panose="02010609060101010101" pitchFamily="49" charset="-122"/>
                <a:cs typeface="Consolas" panose="020B0609020204030204" pitchFamily="49" charset="0"/>
              </a:rPr>
              <a:t>对数阶</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FF00FF"/>
                </a:solidFill>
                <a:latin typeface="Consolas" panose="020B0609020204030204" pitchFamily="49" charset="0"/>
                <a:ea typeface="仿宋" panose="02010609060101010101" pitchFamily="49" charset="-122"/>
                <a:cs typeface="Consolas" panose="020B0609020204030204" pitchFamily="49" charset="0"/>
              </a:rPr>
              <a:t>指数阶</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等。</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428596" y="689424"/>
            <a:ext cx="1285884" cy="338554"/>
          </a:xfrm>
          <a:prstGeom prst="rect">
            <a:avLst/>
          </a:prstGeom>
          <a:noFill/>
        </p:spPr>
        <p:txBody>
          <a:bodyPr wrap="square" rtlCol="0">
            <a:spAutoFit/>
          </a:bodyPr>
          <a:lstStyle/>
          <a:p>
            <a:pPr algn="l"/>
            <a:r>
              <a:rPr lang="zh-CN" altLang="en-US" sz="2000" smtClean="0">
                <a:solidFill>
                  <a:srgbClr val="C00000"/>
                </a:solidFill>
                <a:latin typeface="微软雅黑" panose="020B0503020204020204" pitchFamily="34" charset="-122"/>
                <a:ea typeface="微软雅黑" panose="020B0503020204020204" pitchFamily="34" charset="-122"/>
              </a:rPr>
              <a:t>一般地：</a:t>
            </a:r>
            <a:endParaRPr lang="zh-CN" altLang="en-US" sz="2000">
              <a:solidFill>
                <a:srgbClr val="C00000"/>
              </a:solidFill>
              <a:latin typeface="微软雅黑" panose="020B0503020204020204" pitchFamily="34" charset="-122"/>
              <a:ea typeface="微软雅黑" panose="020B0503020204020204" pitchFamily="34" charset="-122"/>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nodeType="afterEffect">
                                  <p:stCondLst>
                                    <p:cond delay="0"/>
                                  </p:stCondLst>
                                  <p:iterate type="lt">
                                    <p:tmPct val="50000"/>
                                  </p:iterate>
                                  <p:childTnLst>
                                    <p:set>
                                      <p:cBhvr>
                                        <p:cTn id="6" dur="1" fill="hold">
                                          <p:stCondLst>
                                            <p:cond delay="0"/>
                                          </p:stCondLst>
                                        </p:cTn>
                                        <p:tgtEl>
                                          <p:spTgt spid="4">
                                            <p:txEl>
                                              <p:pRg st="0" end="0"/>
                                            </p:txEl>
                                          </p:spTgt>
                                        </p:tgtEl>
                                        <p:attrNameLst>
                                          <p:attrName>style.visibility</p:attrName>
                                        </p:attrNameLst>
                                      </p:cBhvr>
                                      <p:to>
                                        <p:strVal val="visible"/>
                                      </p:to>
                                    </p:set>
                                    <p:anim calcmode="discrete" valueType="clr">
                                      <p:cBhvr override="childStyle">
                                        <p:cTn id="7" dur="80"/>
                                        <p:tgtEl>
                                          <p:spTgt spid="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4">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4">
                                            <p:txEl>
                                              <p:pRg st="1" end="1"/>
                                            </p:txEl>
                                          </p:spTgt>
                                        </p:tgtEl>
                                        <p:attrNameLst>
                                          <p:attrName>style.visibility</p:attrName>
                                        </p:attrNameLst>
                                      </p:cBhvr>
                                      <p:to>
                                        <p:strVal val="visible"/>
                                      </p:to>
                                    </p:set>
                                    <p:anim calcmode="discrete" valueType="clr">
                                      <p:cBhvr override="childStyle">
                                        <p:cTn id="14" dur="80"/>
                                        <p:tgtEl>
                                          <p:spTgt spid="4">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4">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4">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4">
                                            <p:txEl>
                                              <p:pRg st="2" end="2"/>
                                            </p:txEl>
                                          </p:spTgt>
                                        </p:tgtEl>
                                        <p:attrNameLst>
                                          <p:attrName>style.visibility</p:attrName>
                                        </p:attrNameLst>
                                      </p:cBhvr>
                                      <p:to>
                                        <p:strVal val="visible"/>
                                      </p:to>
                                    </p:set>
                                    <p:anim calcmode="discrete" valueType="clr">
                                      <p:cBhvr override="childStyle">
                                        <p:cTn id="21" dur="80"/>
                                        <p:tgtEl>
                                          <p:spTgt spid="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4">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4">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2"/>
          <p:cNvSpPr txBox="1">
            <a:spLocks noChangeArrowheads="1"/>
          </p:cNvSpPr>
          <p:nvPr/>
        </p:nvSpPr>
        <p:spPr bwMode="auto">
          <a:xfrm>
            <a:off x="539750" y="428604"/>
            <a:ext cx="8382000" cy="1169551"/>
          </a:xfrm>
          <a:prstGeom prst="rect">
            <a:avLst/>
          </a:prstGeom>
          <a:noFill/>
          <a:ln w="9525">
            <a:noFill/>
            <a:miter lim="800000"/>
          </a:ln>
          <a:effectLst/>
        </p:spPr>
        <p:txBody>
          <a:bodyPr>
            <a:spAutoFit/>
          </a:bodyPr>
          <a:lstStyle/>
          <a:p>
            <a:pPr algn="l">
              <a:lnSpc>
                <a:spcPct val="150000"/>
              </a:lnSpc>
            </a:pP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各种不同算法时间复杂度的比较关系</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如下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O(1</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)&lt;O(</a:t>
            </a:r>
            <a:r>
              <a:rPr lang="en-US" altLang="zh-CN" sz="1800" dirty="0" err="1">
                <a:solidFill>
                  <a:srgbClr val="0000FF"/>
                </a:solidFill>
                <a:latin typeface="Consolas" panose="020B0609020204030204" pitchFamily="49" charset="0"/>
                <a:ea typeface="楷体" panose="02010609060101010101" pitchFamily="49" charset="-122"/>
                <a:cs typeface="Consolas" panose="020B0609020204030204" pitchFamily="49" charset="0"/>
              </a:rPr>
              <a:t>log</a:t>
            </a:r>
            <a:r>
              <a:rPr lang="en-US" altLang="zh-CN" sz="1800" baseline="-30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18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)&lt;O(</a:t>
            </a:r>
            <a:r>
              <a:rPr lang="en-US" altLang="zh-CN" sz="18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)&lt;O(</a:t>
            </a:r>
            <a:r>
              <a:rPr lang="en-US" altLang="zh-CN" sz="18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dirty="0" err="1">
                <a:solidFill>
                  <a:srgbClr val="0000FF"/>
                </a:solidFill>
                <a:latin typeface="Consolas" panose="020B0609020204030204" pitchFamily="49" charset="0"/>
                <a:ea typeface="楷体" panose="02010609060101010101" pitchFamily="49" charset="-122"/>
                <a:cs typeface="Consolas" panose="020B0609020204030204" pitchFamily="49" charset="0"/>
              </a:rPr>
              <a:t>log</a:t>
            </a:r>
            <a:r>
              <a:rPr lang="en-US" altLang="zh-CN" sz="1800" baseline="-30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18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)&lt;O(</a:t>
            </a:r>
            <a:r>
              <a:rPr lang="en-US" altLang="zh-CN" sz="18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baseline="30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)&lt;O(</a:t>
            </a:r>
            <a:r>
              <a:rPr lang="en-US" altLang="zh-CN" sz="18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baseline="30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)&lt;O(</a:t>
            </a:r>
            <a:r>
              <a:rPr lang="en-US" altLang="zh-CN" sz="1800" dirty="0" err="1">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1800" i="1" baseline="30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)&lt;O(</a:t>
            </a:r>
            <a:r>
              <a:rPr lang="en-US" altLang="zh-CN" sz="18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1800" b="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6"/>
          <p:cNvGrpSpPr/>
          <p:nvPr/>
        </p:nvGrpSpPr>
        <p:grpSpPr>
          <a:xfrm>
            <a:off x="6000760" y="1701788"/>
            <a:ext cx="1071570" cy="934900"/>
            <a:chOff x="6715140" y="1701788"/>
            <a:chExt cx="1071570" cy="934900"/>
          </a:xfrm>
        </p:grpSpPr>
        <p:sp>
          <p:nvSpPr>
            <p:cNvPr id="8" name="右大括号 7"/>
            <p:cNvSpPr/>
            <p:nvPr/>
          </p:nvSpPr>
          <p:spPr>
            <a:xfrm rot="5400000">
              <a:off x="7108049" y="1308879"/>
              <a:ext cx="142876" cy="928694"/>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ct val="100000"/>
                </a:lnSpc>
              </a:pP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6715140" y="1928802"/>
              <a:ext cx="1071570" cy="707886"/>
            </a:xfrm>
            <a:prstGeom prst="rect">
              <a:avLst/>
            </a:prstGeom>
            <a:noFill/>
          </p:spPr>
          <p:txBody>
            <a:bodyPr wrap="square" rtlCol="0">
              <a:spAutoFit/>
            </a:bodyPr>
            <a:lstStyle/>
            <a:p>
              <a:pPr>
                <a:lnSpc>
                  <a:spcPct val="100000"/>
                </a:lnSpc>
              </a:pP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指数阶：</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NP</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问题</a:t>
              </a:r>
              <a:endPar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9"/>
          <p:cNvGrpSpPr/>
          <p:nvPr/>
        </p:nvGrpSpPr>
        <p:grpSpPr>
          <a:xfrm>
            <a:off x="1000100" y="1714488"/>
            <a:ext cx="4500594" cy="922200"/>
            <a:chOff x="1000100" y="1714488"/>
            <a:chExt cx="5143536" cy="922200"/>
          </a:xfrm>
        </p:grpSpPr>
        <p:sp>
          <p:nvSpPr>
            <p:cNvPr id="11" name="右大括号 10"/>
            <p:cNvSpPr/>
            <p:nvPr/>
          </p:nvSpPr>
          <p:spPr>
            <a:xfrm rot="5400000">
              <a:off x="3499868" y="-785280"/>
              <a:ext cx="144000" cy="5143536"/>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ct val="100000"/>
                </a:lnSpc>
              </a:pP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2796255" y="1928802"/>
              <a:ext cx="1673690" cy="707886"/>
            </a:xfrm>
            <a:prstGeom prst="rect">
              <a:avLst/>
            </a:prstGeom>
            <a:noFill/>
          </p:spPr>
          <p:txBody>
            <a:bodyPr wrap="square" rtlCol="0">
              <a:spAutoFit/>
            </a:bodyPr>
            <a:lstStyle/>
            <a:p>
              <a:pPr>
                <a:lnSpc>
                  <a:spcPct val="100000"/>
                </a:lnSpc>
              </a:pP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多项式阶：</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P</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问题</a:t>
              </a:r>
              <a:endPar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3" name="TextBox 12"/>
          <p:cNvSpPr txBox="1"/>
          <p:nvPr/>
        </p:nvSpPr>
        <p:spPr>
          <a:xfrm>
            <a:off x="2285984" y="3571876"/>
            <a:ext cx="3143272" cy="830997"/>
          </a:xfrm>
          <a:prstGeom prst="rect">
            <a:avLst/>
          </a:prstGeom>
          <a:noFill/>
        </p:spPr>
        <p:txBody>
          <a:bodyPr wrap="square" rtlCol="0">
            <a:spAutoFit/>
          </a:bodyPr>
          <a:lstStyle/>
          <a:p>
            <a:pPr>
              <a:lnSpc>
                <a:spcPct val="100000"/>
              </a:lnSpc>
            </a:pPr>
            <a:r>
              <a:rPr lang="en-US" altLang="zh-CN"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NP = P</a:t>
            </a:r>
            <a:r>
              <a:rPr lang="zh-CN" altLang="en-US"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？是目前计算机科学的难题之一</a:t>
            </a:r>
            <a:endParaRPr lang="zh-CN" altLang="en-US">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601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6019" name="Text Box 3"/>
          <p:cNvSpPr txBox="1">
            <a:spLocks noChangeArrowheads="1"/>
          </p:cNvSpPr>
          <p:nvPr/>
        </p:nvSpPr>
        <p:spPr bwMode="auto">
          <a:xfrm>
            <a:off x="785786" y="509567"/>
            <a:ext cx="3214710" cy="1919301"/>
          </a:xfrm>
          <a:prstGeom prst="rect">
            <a:avLst/>
          </a:prstGeom>
          <a:solidFill>
            <a:srgbClr val="FFFFFF"/>
          </a:solidFill>
          <a:ln w="9525">
            <a:noFill/>
            <a:miter lim="800000"/>
          </a:ln>
          <a:effectLst/>
          <a:scene3d>
            <a:camera prst="orthographicFront">
              <a:rot lat="0" lon="0" rev="0"/>
            </a:camera>
            <a:lightRig rig="chilly" dir="t">
              <a:rot lat="0" lon="0" rev="18480000"/>
            </a:lightRig>
          </a:scene3d>
          <a:sp3d prstMaterial="clear">
            <a:bevelT h="63500"/>
          </a:sp3d>
        </p:spPr>
        <p:txBody>
          <a:bodyPr vert="horz" wrap="square" lIns="144000" tIns="108000" rIns="91440" bIns="144000" numCol="1" anchor="t" anchorCtr="0" compatLnSpc="1"/>
          <a:lstStyle/>
          <a:p>
            <a:pPr marL="0" marR="0" lvl="0" indent="0" algn="just" defTabSz="914400" rtl="0" eaLnBrk="1" fontAlgn="base" latinLnBrk="0" hangingPunct="1">
              <a:lnSpc>
                <a:spcPct val="100000"/>
              </a:lnSpc>
              <a:spcBef>
                <a:spcPct val="0"/>
              </a:spcBef>
              <a:spcAft>
                <a:spcPct val="0"/>
              </a:spcAft>
              <a:buClrTx/>
              <a:buSzTx/>
              <a:buFontTx/>
              <a:buNone/>
            </a:pPr>
            <a:r>
              <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int </a:t>
            </a:r>
            <a:r>
              <a:rPr kumimoji="0" lang="nb-NO"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Sum1</a:t>
            </a:r>
            <a:r>
              <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(int n)</a:t>
            </a:r>
            <a:endPar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int i,s=0;</a:t>
            </a:r>
            <a:endPar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for (i=1;i&lt;=n;i++)</a:t>
            </a:r>
            <a:endPar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s+=i;</a:t>
            </a:r>
            <a:endPar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nb-NO"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return s;</a:t>
            </a:r>
            <a:endPar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nb-NO"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6020" name="Text Box 4"/>
          <p:cNvSpPr txBox="1">
            <a:spLocks noChangeArrowheads="1"/>
          </p:cNvSpPr>
          <p:nvPr/>
        </p:nvSpPr>
        <p:spPr bwMode="auto">
          <a:xfrm>
            <a:off x="4643438" y="581005"/>
            <a:ext cx="2786082" cy="1633549"/>
          </a:xfrm>
          <a:prstGeom prst="rect">
            <a:avLst/>
          </a:prstGeom>
          <a:solidFill>
            <a:srgbClr val="FFFFFF"/>
          </a:solidFill>
          <a:ln w="9525">
            <a:noFill/>
            <a:miter lim="800000"/>
          </a:ln>
          <a:effectLst/>
          <a:scene3d>
            <a:camera prst="orthographicFront">
              <a:rot lat="0" lon="0" rev="0"/>
            </a:camera>
            <a:lightRig rig="chilly" dir="t">
              <a:rot lat="0" lon="0" rev="18480000"/>
            </a:lightRig>
          </a:scene3d>
          <a:sp3d prstMaterial="clear">
            <a:bevelT h="63500"/>
          </a:sp3d>
        </p:spPr>
        <p:txBody>
          <a:bodyPr vert="horz" wrap="square" lIns="144000" tIns="108000" rIns="91440" bIns="108000" numCol="1" anchor="t" anchorCtr="0" compatLnSpc="1"/>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int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Sum2</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(int n)</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int s;</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pt-BR"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s=n*(n+1)/2;</a:t>
            </a:r>
            <a:endParaRPr kumimoji="0" lang="pt-BR"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pt-BR"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return s;</a:t>
            </a:r>
            <a:endParaRPr kumimoji="0" lang="pt-BR"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pt-BR"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2071670" y="2928934"/>
            <a:ext cx="1000132" cy="47705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下箭头 8"/>
          <p:cNvSpPr/>
          <p:nvPr/>
        </p:nvSpPr>
        <p:spPr>
          <a:xfrm>
            <a:off x="2285984" y="2500306"/>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5715008" y="2857496"/>
            <a:ext cx="1000132" cy="47705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下箭头 10"/>
          <p:cNvSpPr/>
          <p:nvPr/>
        </p:nvSpPr>
        <p:spPr>
          <a:xfrm>
            <a:off x="5929322" y="242886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2" name="TextBox 11"/>
          <p:cNvSpPr txBox="1"/>
          <p:nvPr/>
        </p:nvSpPr>
        <p:spPr>
          <a:xfrm>
            <a:off x="3714744" y="3786190"/>
            <a:ext cx="1428760" cy="445763"/>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Sum2</a:t>
            </a:r>
            <a:r>
              <a:rPr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更好</a:t>
            </a:r>
            <a:endParaRPr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3" name="左大括号 12"/>
          <p:cNvSpPr/>
          <p:nvPr/>
        </p:nvSpPr>
        <p:spPr>
          <a:xfrm rot="16200000">
            <a:off x="4143372" y="2000240"/>
            <a:ext cx="285752" cy="3143272"/>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500042"/>
            <a:ext cx="3857652" cy="400110"/>
          </a:xfrm>
          <a:prstGeom prst="rect">
            <a:avLst/>
          </a:prstGeom>
          <a:blipFill>
            <a:blip r:embed="rId1" cstate="print"/>
            <a:tile tx="0" ty="0" sx="100000" sy="100000" flip="none" algn="tl"/>
          </a:blipFill>
        </p:spPr>
        <p:txBody>
          <a:bodyPr wrap="square" rtlCol="0">
            <a:spAutoFit/>
          </a:bodyPr>
          <a:lstStyle/>
          <a:p>
            <a:pPr>
              <a:lnSpc>
                <a:spcPct val="100000"/>
              </a:lnSpc>
              <a:spcBef>
                <a:spcPts val="0"/>
              </a:spcBef>
            </a:pP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3</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）简化的算法时间复杂度分析</a:t>
            </a:r>
            <a:endPar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285860"/>
            <a:ext cx="7715304" cy="22608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buBlip>
                <a:blip r:embed="rId2"/>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一种简化的算法时间复杂度分析方法是，仅仅考虑算法中的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基本操作</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buBlip>
                <a:blip r:embed="rId2"/>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所谓</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基本操作</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是指算法中最深层循环内的原操作。而算法执行时间大致等于基本操作所需的时间×其运算次数。所以在算法分析时，计算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时仅仅考虑基本操作的执行次数。</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357422" y="3380574"/>
            <a:ext cx="3214710" cy="477054"/>
          </a:xfrm>
          <a:prstGeom prst="rect">
            <a:avLst/>
          </a:prstGeom>
          <a:noFill/>
        </p:spPr>
        <p:txBody>
          <a:bodyPr wrap="square" rtlCol="0">
            <a:spAutoFit/>
          </a:bodyPr>
          <a:lstStyle/>
          <a:p>
            <a:pPr algn="l">
              <a:lnSpc>
                <a:spcPts val="3000"/>
              </a:lnSpc>
              <a:spcBef>
                <a:spcPts val="0"/>
              </a:spcBef>
            </a:pPr>
            <a:r>
              <a:rPr lang="zh-CN"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基本操作</a:t>
            </a:r>
            <a:r>
              <a:rPr lang="zh-CN" altLang="en-US"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，执行次数为</a:t>
            </a: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C00000"/>
                </a:solidFill>
                <a:latin typeface="Consolas" panose="020B0609020204030204" pitchFamily="49" charset="0"/>
                <a:ea typeface="仿宋" panose="02010609060101010101" pitchFamily="49" charset="-122"/>
                <a:cs typeface="Consolas" panose="020B0609020204030204" pitchFamily="49" charset="0"/>
              </a:rPr>
              <a:t>2</a:t>
            </a:r>
            <a:endParaRPr lang="zh-CN" altLang="en-US" sz="2000" smtClean="0">
              <a:solidFill>
                <a:srgbClr val="C00000"/>
              </a:solidFill>
              <a:latin typeface="仿宋" panose="02010609060101010101" pitchFamily="49" charset="-122"/>
              <a:ea typeface="仿宋" panose="02010609060101010101" pitchFamily="49" charset="-122"/>
            </a:endParaRPr>
          </a:p>
        </p:txBody>
      </p:sp>
      <p:sp>
        <p:nvSpPr>
          <p:cNvPr id="5" name="TextBox 4"/>
          <p:cNvSpPr txBox="1"/>
          <p:nvPr/>
        </p:nvSpPr>
        <p:spPr>
          <a:xfrm>
            <a:off x="571472" y="214290"/>
            <a:ext cx="1214446"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1.10</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TextBox 7"/>
          <p:cNvSpPr txBox="1"/>
          <p:nvPr/>
        </p:nvSpPr>
        <p:spPr>
          <a:xfrm>
            <a:off x="2786050" y="4380706"/>
            <a:ext cx="2000264" cy="44685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下箭头 8"/>
          <p:cNvSpPr/>
          <p:nvPr/>
        </p:nvSpPr>
        <p:spPr>
          <a:xfrm>
            <a:off x="3500430" y="395207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cxnSp>
        <p:nvCxnSpPr>
          <p:cNvPr id="11" name="直接箭头连接符 10"/>
          <p:cNvCxnSpPr/>
          <p:nvPr/>
        </p:nvCxnSpPr>
        <p:spPr>
          <a:xfrm rot="5400000" flipH="1" flipV="1">
            <a:off x="2569158" y="2860074"/>
            <a:ext cx="864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714348" y="785956"/>
            <a:ext cx="7643866"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matrixadd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A[N][N],int B[N][N],int C[N][N],int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j=0;j&lt;n;j++)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语句②</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C[i][j]=A[i][j]+B[i][j];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语句③</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灯片编号占位符 17"/>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357158" y="285728"/>
            <a:ext cx="5643602"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1.11</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分析以下算法的时间复杂度。</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500034" y="857232"/>
            <a:ext cx="5429288" cy="25300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fun(int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s=0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j=0;j&lt;=i;j++)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k=0;k&lt;j;k++)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s++;</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2"/>
          <p:cNvGrpSpPr/>
          <p:nvPr/>
        </p:nvGrpSpPr>
        <p:grpSpPr>
          <a:xfrm>
            <a:off x="2357422" y="2643182"/>
            <a:ext cx="1500198" cy="1257366"/>
            <a:chOff x="1857357" y="2786058"/>
            <a:chExt cx="1500198" cy="1257366"/>
          </a:xfrm>
        </p:grpSpPr>
        <p:sp>
          <p:nvSpPr>
            <p:cNvPr id="7" name="TextBox 6"/>
            <p:cNvSpPr txBox="1"/>
            <p:nvPr/>
          </p:nvSpPr>
          <p:spPr>
            <a:xfrm>
              <a:off x="1857357" y="3643314"/>
              <a:ext cx="150019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基本操作</a:t>
              </a:r>
              <a:endParaRPr lang="zh-CN" altLang="en-US" sz="2000" smtClean="0">
                <a:solidFill>
                  <a:srgbClr val="FF0000"/>
                </a:solidFill>
                <a:latin typeface="仿宋" panose="02010609060101010101" pitchFamily="49" charset="-122"/>
                <a:ea typeface="仿宋" panose="02010609060101010101" pitchFamily="49" charset="-122"/>
              </a:endParaRPr>
            </a:p>
          </p:txBody>
        </p:sp>
        <p:cxnSp>
          <p:nvCxnSpPr>
            <p:cNvPr id="9" name="直接箭头连接符 8"/>
            <p:cNvCxnSpPr/>
            <p:nvPr/>
          </p:nvCxnSpPr>
          <p:spPr>
            <a:xfrm rot="10800000">
              <a:off x="2071671" y="2786058"/>
              <a:ext cx="285753" cy="81546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10" name="TextBox 9"/>
          <p:cNvSpPr txBox="1"/>
          <p:nvPr/>
        </p:nvSpPr>
        <p:spPr>
          <a:xfrm>
            <a:off x="714348" y="4143380"/>
            <a:ext cx="1785950" cy="43281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仿宋" panose="02010609060101010101" pitchFamily="49" charset="-122"/>
                <a:ea typeface="仿宋" panose="02010609060101010101" pitchFamily="49" charset="-122"/>
              </a:rPr>
              <a:t>算法频度为：</a:t>
            </a:r>
            <a:endParaRPr lang="zh-CN" altLang="en-US" sz="2000" smtClean="0">
              <a:solidFill>
                <a:srgbClr val="0000FF"/>
              </a:solidFill>
              <a:latin typeface="仿宋" panose="02010609060101010101" pitchFamily="49" charset="-122"/>
              <a:ea typeface="仿宋" panose="02010609060101010101" pitchFamily="49" charset="-122"/>
            </a:endParaRPr>
          </a:p>
        </p:txBody>
      </p:sp>
      <p:pic>
        <p:nvPicPr>
          <p:cNvPr id="57345" name="Picture 1"/>
          <p:cNvPicPr>
            <a:picLocks noChangeAspect="1" noChangeArrowheads="1"/>
          </p:cNvPicPr>
          <p:nvPr/>
        </p:nvPicPr>
        <p:blipFill>
          <a:blip r:embed="rId1" cstate="print"/>
          <a:srcRect/>
          <a:stretch>
            <a:fillRect/>
          </a:stretch>
        </p:blipFill>
        <p:spPr bwMode="auto">
          <a:xfrm>
            <a:off x="2143108" y="4143380"/>
            <a:ext cx="6000750" cy="1866900"/>
          </a:xfrm>
          <a:prstGeom prst="rect">
            <a:avLst/>
          </a:prstGeom>
          <a:noFill/>
          <a:ln w="9525">
            <a:noFill/>
            <a:miter lim="800000"/>
            <a:headEnd/>
            <a:tailEnd/>
          </a:ln>
        </p:spPr>
      </p:pic>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3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5643602"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1.12</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分析以下算法的时间复杂度。</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TextBox 3"/>
          <p:cNvSpPr txBox="1"/>
          <p:nvPr/>
        </p:nvSpPr>
        <p:spPr>
          <a:xfrm>
            <a:off x="1071538" y="928670"/>
            <a:ext cx="3286148" cy="196582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fun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x=2;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(x&lt;n/2)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x=2*x;</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x;</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214414" y="3143248"/>
            <a:ext cx="7643866" cy="2829969"/>
          </a:xfrm>
          <a:prstGeom prst="rect">
            <a:avLst/>
          </a:prstGeom>
          <a:solidFill>
            <a:schemeClr val="bg1">
              <a:lumMod val="95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44000" tIns="144000" bIns="144000" rtlCol="0">
            <a:spAutoFit/>
          </a:bodyPr>
          <a:lstStyle/>
          <a:p>
            <a:pPr marL="342900" indent="-342900" algn="l">
              <a:lnSpc>
                <a:spcPts val="3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基本操作是语句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x=2*x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，设该语句执行</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nb-NO"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mn-ea"/>
                <a:ea typeface="+mn-ea"/>
                <a:cs typeface="Consolas" panose="020B0609020204030204" pitchFamily="49" charset="0"/>
              </a:rPr>
              <a: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（该条件刚成立时</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while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循环结束），不妨添加一个常量</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使得</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nb-NO"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成立，故</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nb-NO"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600"/>
              </a:spcBef>
              <a:buBlip>
                <a:blip r:embed="rId1"/>
              </a:buBlip>
            </a:pP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nb-NO"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)-1=O(log</a:t>
            </a:r>
            <a:r>
              <a:rPr lang="nb-NO"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为了简单，可以直接认为</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nb-NO"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成立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求出</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nb-NO"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/2)-1=log</a:t>
            </a:r>
            <a:r>
              <a:rPr lang="nb-NO"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-2=O(log</a:t>
            </a:r>
            <a:r>
              <a:rPr lang="nb-NO"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nb-NO"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nb-NO"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 name="Picture 2"/>
          <p:cNvPicPr>
            <a:picLocks noChangeAspect="1" noChangeArrowheads="1"/>
          </p:cNvPicPr>
          <p:nvPr/>
        </p:nvPicPr>
        <p:blipFill>
          <a:blip r:embed="rId2" cstate="print"/>
          <a:srcRect/>
          <a:stretch>
            <a:fillRect/>
          </a:stretch>
        </p:blipFill>
        <p:spPr bwMode="auto">
          <a:xfrm>
            <a:off x="142844" y="3786190"/>
            <a:ext cx="1021529" cy="1214446"/>
          </a:xfrm>
          <a:prstGeom prst="rect">
            <a:avLst/>
          </a:prstGeom>
          <a:noFill/>
          <a:ln w="9525">
            <a:noFill/>
            <a:miter lim="800000"/>
            <a:headEnd/>
            <a:tailEnd/>
          </a:ln>
        </p:spPr>
      </p:pic>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4286280" cy="400110"/>
          </a:xfrm>
          <a:prstGeom prst="rect">
            <a:avLst/>
          </a:prstGeom>
          <a:blipFill>
            <a:blip r:embed="rId1" cstate="print"/>
            <a:tile tx="0" ty="0" sx="100000" sy="100000" flip="none" algn="tl"/>
          </a:blipFill>
        </p:spPr>
        <p:txBody>
          <a:bodyPr wrap="square" rtlCol="0">
            <a:spAutoFit/>
          </a:bodyPr>
          <a:lstStyle/>
          <a:p>
            <a:pPr>
              <a:lnSpc>
                <a:spcPct val="100000"/>
              </a:lnSpc>
              <a:spcBef>
                <a:spcPts val="0"/>
              </a:spcBef>
            </a:pP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4</a:t>
            </a: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时间复杂度的求和、求积定理</a:t>
            </a:r>
            <a:endPar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428596" y="1357298"/>
            <a:ext cx="8143932" cy="236830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rIns="180000" bIns="144000" rtlCol="0">
            <a:spAutoFit/>
          </a:bodyPr>
          <a:lstStyle/>
          <a:p>
            <a:pPr algn="l">
              <a:lnSpc>
                <a:spcPts val="3000"/>
              </a:lnSpc>
              <a:spcBef>
                <a:spcPts val="1200"/>
              </a:spcBef>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求和定理</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是程序段</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的执行时间，并且有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3000"/>
              </a:lnSpc>
              <a:spcBef>
                <a:spcPts val="12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那么先执行</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，再执行</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的总执行时间是</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6600"/>
                </a:solidFill>
                <a:latin typeface="Consolas" panose="020B0609020204030204" pitchFamily="49" charset="0"/>
                <a:ea typeface="楷体" panose="02010609060101010101" pitchFamily="49" charset="-122"/>
                <a:cs typeface="Consolas" panose="020B0609020204030204" pitchFamily="49" charset="0"/>
              </a:rPr>
              <a:t>1</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6600"/>
                </a:solidFill>
                <a:latin typeface="Consolas" panose="020B0609020204030204" pitchFamily="49" charset="0"/>
                <a:ea typeface="楷体" panose="02010609060101010101" pitchFamily="49" charset="-122"/>
                <a:cs typeface="Consolas" panose="020B0609020204030204" pitchFamily="49" charset="0"/>
              </a:rPr>
              <a:t>2</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)=O(MAX(</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f</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g</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，即总的时间复杂度</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量级最大的程序段的时间复杂度，如多个并列循环就属于这种情况。</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500042"/>
            <a:ext cx="6000792" cy="31762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fun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s=0;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rPr>
              <a:t>for (int i=0; i&lt;n; 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第一个</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for</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循环</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rPr>
              <a:t>       s+=2;</a:t>
            </a:r>
            <a:endParaRPr lang="zh-CN"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for (int i=0; i&lt;n; 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第二个</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for</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循环</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for (int j=0; j&lt;n; j++)</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s++;</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1714480" y="3929066"/>
            <a:ext cx="4214842" cy="44230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)=O(MAX(</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348" y="1357298"/>
            <a:ext cx="7429552" cy="198358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rIns="180000" bIns="144000" rtlCol="0">
            <a:spAutoFit/>
          </a:bodyPr>
          <a:lstStyle/>
          <a:p>
            <a:pPr algn="l">
              <a:lnSpc>
                <a:spcPts val="3000"/>
              </a:lnSpc>
              <a:spcBef>
                <a:spcPts val="1200"/>
              </a:spcBef>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求</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积</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定理</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是程序段</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的执行时间，并且有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3000"/>
              </a:lnSpc>
              <a:spcBef>
                <a:spcPts val="12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那么，</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6600"/>
                </a:solidFill>
                <a:latin typeface="Consolas" panose="020B0609020204030204" pitchFamily="49" charset="0"/>
                <a:ea typeface="楷体" panose="02010609060101010101" pitchFamily="49" charset="-122"/>
                <a:cs typeface="Consolas" panose="020B0609020204030204" pitchFamily="49" charset="0"/>
              </a:rPr>
              <a:t>1</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T</a:t>
            </a:r>
            <a:r>
              <a:rPr lang="en-US" altLang="zh-CN" sz="2000" baseline="-25000" smtClean="0">
                <a:solidFill>
                  <a:srgbClr val="006600"/>
                </a:solidFill>
                <a:latin typeface="Consolas" panose="020B0609020204030204" pitchFamily="49" charset="0"/>
                <a:ea typeface="楷体" panose="02010609060101010101" pitchFamily="49" charset="-122"/>
                <a:cs typeface="Consolas" panose="020B0609020204030204" pitchFamily="49" charset="0"/>
              </a:rPr>
              <a:t>2</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)=O(</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f</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g</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66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，如嵌套代码的复杂度</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嵌套内外代码复杂度的乘积。</a:t>
            </a:r>
            <a:endPar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500042"/>
            <a:ext cx="6357982" cy="33452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fun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s=0;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rPr>
              <a:t>for (int i=0; i&lt;n; 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第一个</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for</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循环</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rPr>
              <a:t>       s+=2;</a:t>
            </a:r>
            <a:endParaRPr lang="zh-CN"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for (int i=0; i&lt;n; 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第二个</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for</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循环</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for (int j=0; j&lt;n; j++)</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s++;</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1571604" y="4071942"/>
            <a:ext cx="4214842" cy="44230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cs typeface="Consolas" panose="020B0609020204030204" pitchFamily="49" charset="0"/>
              </a:rPr>
              <a:t>O(</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a:t>
            </a:r>
            <a:r>
              <a:rPr lang="zh-CN" altLang="zh-CN" sz="2000" smtClean="0">
                <a:solidFill>
                  <a:srgbClr val="0000FF"/>
                </a:solidFill>
                <a:latin typeface="Consolas" panose="020B0609020204030204" pitchFamily="49" charset="0"/>
                <a:cs typeface="Consolas" panose="020B0609020204030204" pitchFamily="49" charset="0"/>
              </a:rPr>
              <a:t>×</a:t>
            </a:r>
            <a:r>
              <a:rPr lang="en-US" altLang="zh-CN" sz="2000" smtClean="0">
                <a:solidFill>
                  <a:srgbClr val="0000FF"/>
                </a:solidFill>
                <a:latin typeface="Consolas" panose="020B0609020204030204" pitchFamily="49" charset="0"/>
                <a:cs typeface="Consolas" panose="020B0609020204030204" pitchFamily="49" charset="0"/>
              </a:rPr>
              <a:t>O(</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)=O(</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baseline="30000" smtClean="0">
                <a:solidFill>
                  <a:srgbClr val="0000FF"/>
                </a:solidFill>
                <a:latin typeface="Consolas" panose="020B0609020204030204" pitchFamily="49" charset="0"/>
                <a:cs typeface="Consolas" panose="020B0609020204030204" pitchFamily="49" charset="0"/>
              </a:rPr>
              <a:t>2</a:t>
            </a:r>
            <a:r>
              <a:rPr lang="en-US" altLang="zh-CN" sz="2000" smtClean="0">
                <a:solidFill>
                  <a:srgbClr val="0000FF"/>
                </a:solidFill>
                <a:latin typeface="Consolas" panose="020B0609020204030204" pitchFamily="49" charset="0"/>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圆角矩形 4"/>
          <p:cNvSpPr/>
          <p:nvPr/>
        </p:nvSpPr>
        <p:spPr>
          <a:xfrm>
            <a:off x="1071538" y="1948898"/>
            <a:ext cx="5429288" cy="1000132"/>
          </a:xfrm>
          <a:prstGeom prst="roundRect">
            <a:avLst/>
          </a:prstGeom>
          <a:solidFill>
            <a:schemeClr val="accent1">
              <a:alpha val="0"/>
            </a:schemeClr>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rot="5400000">
            <a:off x="2536017" y="3484815"/>
            <a:ext cx="1071570" cy="0"/>
          </a:xfrm>
          <a:prstGeom prst="line">
            <a:avLst/>
          </a:prstGeom>
          <a:ln w="19050">
            <a:tailEnd type="arrow"/>
          </a:ln>
        </p:spPr>
        <p:style>
          <a:lnRef idx="2">
            <a:schemeClr val="dk1"/>
          </a:lnRef>
          <a:fillRef idx="0">
            <a:schemeClr val="dk1"/>
          </a:fillRef>
          <a:effectRef idx="1">
            <a:schemeClr val="dk1"/>
          </a:effectRef>
          <a:fontRef idx="minor">
            <a:schemeClr val="tx1"/>
          </a:fontRef>
        </p:style>
      </p:cxn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4"/>
          <p:cNvSpPr txBox="1">
            <a:spLocks noChangeArrowheads="1"/>
          </p:cNvSpPr>
          <p:nvPr/>
        </p:nvSpPr>
        <p:spPr bwMode="auto">
          <a:xfrm>
            <a:off x="285720" y="1324450"/>
            <a:ext cx="8569325" cy="1917063"/>
          </a:xfrm>
          <a:prstGeom prst="rect">
            <a:avLst/>
          </a:prstGeom>
          <a:noFill/>
          <a:ln w="9525" algn="ctr">
            <a:noFill/>
            <a:miter lim="800000"/>
          </a:ln>
          <a:effectLst/>
        </p:spPr>
        <p:txBody>
          <a:bodyPr>
            <a:spAutoFit/>
          </a:bodyPr>
          <a:lstStyle/>
          <a:p>
            <a:pPr algn="l">
              <a:lnSpc>
                <a:spcPts val="5000"/>
              </a:lnSpc>
            </a:pPr>
            <a:r>
              <a:rPr lang="zh-CN" altLang="en-US" sz="2000" dirty="0">
                <a:latin typeface="Consolas" panose="020B0609020204030204" pitchFamily="49" charset="0"/>
                <a:ea typeface="楷体" panose="02010609060101010101" pitchFamily="49" charset="-122"/>
                <a:cs typeface="Consolas" panose="020B0609020204030204" pitchFamily="49" charset="0"/>
              </a:rPr>
              <a:t>　</a:t>
            </a:r>
            <a:r>
              <a:rPr lang="zh-CN" altLang="en-US" sz="2000">
                <a:latin typeface="Consolas" panose="020B0609020204030204" pitchFamily="49" charset="0"/>
                <a:ea typeface="楷体" panose="02010609060101010101" pitchFamily="49" charset="-122"/>
                <a:cs typeface="Consolas" panose="020B0609020204030204" pitchFamily="49" charset="0"/>
              </a:rPr>
              <a:t>　</a:t>
            </a: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定义：</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一个算法的输入规模</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2000" i="1"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是所有</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输</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入实例的集合，任</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一输入</a:t>
            </a:r>
            <a:r>
              <a:rPr lang="en-US"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err="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2000" i="1"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是</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出现</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的概率，有   </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是算法在输入</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下的执行时间，则算法的</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平均时间复杂</a:t>
            </a:r>
            <a:r>
              <a:rPr lang="zh-CN" altLang="en-US" sz="2000" dirty="0">
                <a:solidFill>
                  <a:srgbClr val="FF0000"/>
                </a:solidFill>
                <a:latin typeface="Consolas" panose="020B0609020204030204" pitchFamily="49" charset="0"/>
                <a:ea typeface="楷体" panose="02010609060101010101" pitchFamily="49" charset="-122"/>
                <a:cs typeface="Consolas" panose="020B0609020204030204" pitchFamily="49" charset="0"/>
              </a:rPr>
              <a:t>度</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为：</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aphicFrame>
        <p:nvGraphicFramePr>
          <p:cNvPr id="5" name="Object 2"/>
          <p:cNvGraphicFramePr>
            <a:graphicFrameLocks noChangeAspect="1"/>
          </p:cNvGraphicFramePr>
          <p:nvPr/>
        </p:nvGraphicFramePr>
        <p:xfrm>
          <a:off x="2714612" y="3429000"/>
          <a:ext cx="2432050" cy="1066800"/>
        </p:xfrm>
        <a:graphic>
          <a:graphicData uri="http://schemas.openxmlformats.org/presentationml/2006/ole">
            <mc:AlternateContent xmlns:mc="http://schemas.openxmlformats.org/markup-compatibility/2006">
              <mc:Choice xmlns:v="urn:schemas-microsoft-com:vml" Requires="v">
                <p:oleObj spid="_x0000_s1025" name="Equation" r:id="rId1" imgW="29260800" imgH="12801600" progId="">
                  <p:embed/>
                </p:oleObj>
              </mc:Choice>
              <mc:Fallback>
                <p:oleObj name="Equation" r:id="rId1" imgW="29260800" imgH="12801600" progId="">
                  <p:embed/>
                  <p:pic>
                    <p:nvPicPr>
                      <p:cNvPr id="0" name="图片 1024"/>
                      <p:cNvPicPr>
                        <a:picLocks noChangeAspect="1"/>
                      </p:cNvPicPr>
                      <p:nvPr/>
                    </p:nvPicPr>
                    <p:blipFill>
                      <a:blip r:embed="rId2"/>
                      <a:stretch>
                        <a:fillRect/>
                      </a:stretch>
                    </p:blipFill>
                    <p:spPr>
                      <a:xfrm>
                        <a:off x="2714612" y="3429000"/>
                        <a:ext cx="2432050" cy="1066800"/>
                      </a:xfrm>
                      <a:prstGeom prst="rect">
                        <a:avLst/>
                      </a:prstGeom>
                      <a:noFill/>
                      <a:ln w="9525">
                        <a:noFill/>
                      </a:ln>
                    </p:spPr>
                  </p:pic>
                </p:oleObj>
              </mc:Fallback>
            </mc:AlternateContent>
          </a:graphicData>
        </a:graphic>
      </p:graphicFrame>
      <p:graphicFrame>
        <p:nvGraphicFramePr>
          <p:cNvPr id="7" name="Object 4"/>
          <p:cNvGraphicFramePr>
            <a:graphicFrameLocks noChangeAspect="1"/>
          </p:cNvGraphicFramePr>
          <p:nvPr/>
        </p:nvGraphicFramePr>
        <p:xfrm>
          <a:off x="4402547" y="2000240"/>
          <a:ext cx="1026709" cy="785818"/>
        </p:xfrm>
        <a:graphic>
          <a:graphicData uri="http://schemas.openxmlformats.org/presentationml/2006/ole">
            <mc:AlternateContent xmlns:mc="http://schemas.openxmlformats.org/markup-compatibility/2006">
              <mc:Choice xmlns:v="urn:schemas-microsoft-com:vml" Requires="v">
                <p:oleObj spid="_x0000_s1026" name="Equation" r:id="rId3" imgW="16764000" imgH="12801600" progId="">
                  <p:embed/>
                </p:oleObj>
              </mc:Choice>
              <mc:Fallback>
                <p:oleObj name="Equation" r:id="rId3" imgW="16764000" imgH="12801600" progId="">
                  <p:embed/>
                  <p:pic>
                    <p:nvPicPr>
                      <p:cNvPr id="0" name="图片 1025"/>
                      <p:cNvPicPr>
                        <a:picLocks noChangeAspect="1"/>
                      </p:cNvPicPr>
                      <p:nvPr/>
                    </p:nvPicPr>
                    <p:blipFill>
                      <a:blip r:embed="rId4"/>
                      <a:stretch>
                        <a:fillRect/>
                      </a:stretch>
                    </p:blipFill>
                    <p:spPr>
                      <a:xfrm>
                        <a:off x="4402547" y="2000240"/>
                        <a:ext cx="1026709" cy="785818"/>
                      </a:xfrm>
                      <a:prstGeom prst="rect">
                        <a:avLst/>
                      </a:prstGeom>
                      <a:noFill/>
                      <a:ln w="9525">
                        <a:noFill/>
                      </a:ln>
                    </p:spPr>
                  </p:pic>
                </p:oleObj>
              </mc:Fallback>
            </mc:AlternateContent>
          </a:graphicData>
        </a:graphic>
      </p:graphicFrame>
      <p:sp>
        <p:nvSpPr>
          <p:cNvPr id="8" name="TextBox 7"/>
          <p:cNvSpPr txBox="1"/>
          <p:nvPr/>
        </p:nvSpPr>
        <p:spPr>
          <a:xfrm>
            <a:off x="357158" y="642918"/>
            <a:ext cx="571504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算法的最好、最坏和平均时间复杂度</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15"/>
          <p:cNvSpPr txBox="1">
            <a:spLocks noChangeArrowheads="1"/>
          </p:cNvSpPr>
          <p:nvPr/>
        </p:nvSpPr>
        <p:spPr bwMode="auto">
          <a:xfrm>
            <a:off x="293713" y="948490"/>
            <a:ext cx="5349857" cy="2708434"/>
          </a:xfrm>
          <a:prstGeom prst="rect">
            <a:avLst/>
          </a:prstGeom>
          <a:noFill/>
          <a:ln w="19050" algn="ctr">
            <a:noFill/>
            <a:miter lim="800000"/>
          </a:ln>
          <a:effectLst/>
        </p:spPr>
        <p:txBody>
          <a:bodyPr wrap="square">
            <a:spAutoFit/>
          </a:bodyPr>
          <a:lstStyle/>
          <a:p>
            <a:pPr algn="l">
              <a:lnSpc>
                <a:spcPct val="9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整数序列递增</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排序：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pP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i="1" smtClean="0">
                <a:solidFill>
                  <a:srgbClr val="FF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=10</a:t>
            </a:r>
            <a:endPar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a:p>
            <a:pPr algn="l">
              <a:lnSpc>
                <a:spcPct val="90000"/>
              </a:lnSpc>
            </a:pPr>
            <a:r>
              <a:rPr lang="zh-CN" altLang="en-US" sz="2000">
                <a:solidFill>
                  <a:srgbClr val="FF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i="1" smtClean="0">
                <a:solidFill>
                  <a:srgbClr val="FF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baseline="-25000" smtClean="0">
                <a:solidFill>
                  <a:srgbClr val="FF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3</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4</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5</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6</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7</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8</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9</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10</a:t>
            </a:r>
            <a:r>
              <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a:p>
            <a:pPr algn="l">
              <a:lnSpc>
                <a:spcPct val="90000"/>
              </a:lnSpc>
            </a:pPr>
            <a:r>
              <a:rPr lang="zh-CN" altLang="en-US" sz="2000">
                <a:solidFill>
                  <a:srgbClr val="FF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i="1" smtClean="0">
                <a:solidFill>
                  <a:srgbClr val="FF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baseline="-25000" smtClean="0">
                <a:solidFill>
                  <a:srgbClr val="FF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3</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4</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5</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6</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7</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8</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9</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10</a:t>
            </a:r>
            <a:r>
              <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a:p>
            <a:pPr algn="l">
              <a:lnSpc>
                <a:spcPct val="90000"/>
              </a:lnSpc>
            </a:pPr>
            <a:r>
              <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dirty="0">
                <a:solidFill>
                  <a:srgbClr val="FF00FF"/>
                </a:solidFill>
                <a:latin typeface="+mj-ea"/>
                <a:ea typeface="+mj-ea"/>
                <a:cs typeface="Consolas" panose="020B0609020204030204" pitchFamily="49" charset="0"/>
              </a:rPr>
              <a:t>…</a:t>
            </a:r>
            <a:endParaRPr lang="en-US" altLang="zh-CN" sz="2000" dirty="0">
              <a:solidFill>
                <a:srgbClr val="FF00FF"/>
              </a:solidFill>
              <a:latin typeface="+mj-ea"/>
              <a:ea typeface="+mj-ea"/>
              <a:cs typeface="Consolas" panose="020B0609020204030204" pitchFamily="49" charset="0"/>
            </a:endParaRPr>
          </a:p>
          <a:p>
            <a:pPr algn="l">
              <a:lnSpc>
                <a:spcPct val="90000"/>
              </a:lnSpc>
            </a:pPr>
            <a:r>
              <a:rPr lang="zh-CN" altLang="en-US" sz="2000">
                <a:solidFill>
                  <a:srgbClr val="FF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i="1" smtClean="0">
                <a:solidFill>
                  <a:srgbClr val="FF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i="1" baseline="-25000" smtClean="0">
                <a:solidFill>
                  <a:srgbClr val="FF00FF"/>
                </a:solidFill>
                <a:latin typeface="Consolas" panose="020B0609020204030204" pitchFamily="49" charset="0"/>
                <a:ea typeface="楷体" panose="02010609060101010101" pitchFamily="49" charset="-122"/>
                <a:cs typeface="Consolas" panose="020B0609020204030204" pitchFamily="49" charset="0"/>
              </a:rPr>
              <a:t>m</a:t>
            </a:r>
            <a:r>
              <a:rPr lang="en-US" altLang="zh-CN" sz="200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10</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9</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8</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7</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6</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5</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4</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3</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FF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 Box 17"/>
          <p:cNvSpPr txBox="1">
            <a:spLocks noChangeArrowheads="1"/>
          </p:cNvSpPr>
          <p:nvPr/>
        </p:nvSpPr>
        <p:spPr bwMode="auto">
          <a:xfrm>
            <a:off x="5500694" y="2457443"/>
            <a:ext cx="2684508" cy="338554"/>
          </a:xfrm>
          <a:prstGeom prst="rect">
            <a:avLst/>
          </a:prstGeom>
          <a:noFill/>
          <a:ln w="19050" algn="ctr">
            <a:noFill/>
            <a:miter lim="800000"/>
          </a:ln>
          <a:effectLst/>
        </p:spPr>
        <p:txBody>
          <a:bodyPr wrap="square">
            <a:spAutoFit/>
          </a:bodyPr>
          <a:lstStyle/>
          <a:p>
            <a:pPr algn="l"/>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构成</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2000" i="1"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m</a:t>
            </a:r>
            <a:endPar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上箭头 7"/>
          <p:cNvSpPr/>
          <p:nvPr/>
        </p:nvSpPr>
        <p:spPr>
          <a:xfrm>
            <a:off x="2500298" y="3643314"/>
            <a:ext cx="214314" cy="426369"/>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000"/>
          </a:p>
        </p:txBody>
      </p:sp>
      <p:sp>
        <p:nvSpPr>
          <p:cNvPr id="9" name="TextBox 8"/>
          <p:cNvSpPr txBox="1"/>
          <p:nvPr/>
        </p:nvSpPr>
        <p:spPr>
          <a:xfrm>
            <a:off x="714348" y="4357694"/>
            <a:ext cx="4286280" cy="338554"/>
          </a:xfrm>
          <a:prstGeom prst="rect">
            <a:avLst/>
          </a:prstGeom>
          <a:noFill/>
        </p:spPr>
        <p:txBody>
          <a:bodyPr wrap="square" rtlCol="0">
            <a:spAutoFit/>
          </a:bodyPr>
          <a:lstStyle/>
          <a:p>
            <a:pPr algn="l"/>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所有可能的初始序列有</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右大括号 9"/>
          <p:cNvSpPr/>
          <p:nvPr/>
        </p:nvSpPr>
        <p:spPr>
          <a:xfrm>
            <a:off x="5143504" y="1928802"/>
            <a:ext cx="216000" cy="1357322"/>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5"/>
          <p:cNvSpPr txBox="1">
            <a:spLocks noChangeArrowheads="1"/>
          </p:cNvSpPr>
          <p:nvPr/>
        </p:nvSpPr>
        <p:spPr bwMode="auto">
          <a:xfrm>
            <a:off x="4214810" y="1052513"/>
            <a:ext cx="719138" cy="172355"/>
          </a:xfrm>
          <a:prstGeom prst="rect">
            <a:avLst/>
          </a:prstGeom>
          <a:noFill/>
          <a:ln w="19050" algn="ctr">
            <a:noFill/>
            <a:miter lim="800000"/>
          </a:ln>
          <a:effectLst/>
        </p:spPr>
        <p:txBody>
          <a:bodyPr lIns="0" tIns="0" rIns="0" bIns="0">
            <a:spAutoFit/>
          </a:bodyPr>
          <a:lstStyle/>
          <a:p>
            <a:r>
              <a:rPr lang="en-US" altLang="zh-CN" sz="1400" i="1" dirty="0" err="1">
                <a:solidFill>
                  <a:srgbClr val="0000FF"/>
                </a:solidFill>
                <a:latin typeface="Consolas" panose="020B0609020204030204" pitchFamily="49" charset="0"/>
                <a:cs typeface="Consolas" panose="020B0609020204030204" pitchFamily="49" charset="0"/>
              </a:rPr>
              <a:t>I</a:t>
            </a:r>
            <a:r>
              <a:rPr lang="en-US" altLang="zh-CN" sz="1400" dirty="0" err="1">
                <a:solidFill>
                  <a:srgbClr val="0000FF"/>
                </a:solidFill>
                <a:latin typeface="Consolas" panose="020B0609020204030204" pitchFamily="49" charset="0"/>
                <a:cs typeface="Consolas" panose="020B0609020204030204" pitchFamily="49" charset="0"/>
              </a:rPr>
              <a:t>∈</a:t>
            </a:r>
            <a:r>
              <a:rPr lang="en-US" altLang="zh-CN" sz="1400" i="1" dirty="0" err="1">
                <a:solidFill>
                  <a:srgbClr val="0000FF"/>
                </a:solidFill>
                <a:latin typeface="Consolas" panose="020B0609020204030204" pitchFamily="49" charset="0"/>
                <a:cs typeface="Consolas" panose="020B0609020204030204" pitchFamily="49" charset="0"/>
              </a:rPr>
              <a:t>D</a:t>
            </a:r>
            <a:r>
              <a:rPr lang="en-US" altLang="zh-CN" sz="1400" i="1" baseline="-25000" dirty="0" err="1">
                <a:solidFill>
                  <a:srgbClr val="0000FF"/>
                </a:solidFill>
                <a:latin typeface="Consolas" panose="020B0609020204030204" pitchFamily="49" charset="0"/>
                <a:cs typeface="Consolas" panose="020B0609020204030204" pitchFamily="49" charset="0"/>
              </a:rPr>
              <a:t>n</a:t>
            </a:r>
            <a:endParaRPr lang="en-US" altLang="zh-CN" sz="1400" i="1" baseline="-25000" dirty="0">
              <a:solidFill>
                <a:srgbClr val="0000FF"/>
              </a:solidFill>
              <a:latin typeface="Consolas" panose="020B0609020204030204" pitchFamily="49" charset="0"/>
              <a:cs typeface="Consolas" panose="020B0609020204030204" pitchFamily="49" charset="0"/>
            </a:endParaRPr>
          </a:p>
        </p:txBody>
      </p:sp>
      <p:sp>
        <p:nvSpPr>
          <p:cNvPr id="5" name="Text Box 4"/>
          <p:cNvSpPr txBox="1">
            <a:spLocks noChangeArrowheads="1"/>
          </p:cNvSpPr>
          <p:nvPr/>
        </p:nvSpPr>
        <p:spPr bwMode="auto">
          <a:xfrm>
            <a:off x="468313" y="549275"/>
            <a:ext cx="5461009" cy="553998"/>
          </a:xfrm>
          <a:prstGeom prst="rect">
            <a:avLst/>
          </a:prstGeom>
          <a:noFill/>
          <a:ln w="19050" algn="ctr">
            <a:noFill/>
            <a:miter lim="800000"/>
          </a:ln>
          <a:effectLst/>
        </p:spPr>
        <p:txBody>
          <a:bodyPr wrap="square">
            <a:spAutoFit/>
          </a:bodyPr>
          <a:lstStyle/>
          <a:p>
            <a:pPr algn="l">
              <a:lnSpc>
                <a:spcPct val="150000"/>
              </a:lnSpc>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算法的</a:t>
            </a:r>
            <a:r>
              <a:rPr lang="zh-CN" altLang="en-US" sz="2000" dirty="0" smtClean="0">
                <a:solidFill>
                  <a:srgbClr val="FF00FF"/>
                </a:solidFill>
                <a:latin typeface="Consolas" panose="020B0609020204030204" pitchFamily="49" charset="0"/>
                <a:ea typeface="楷体" panose="02010609060101010101" pitchFamily="49" charset="-122"/>
                <a:cs typeface="Consolas" panose="020B0609020204030204" pitchFamily="49" charset="0"/>
              </a:rPr>
              <a:t>最坏时间复杂</a:t>
            </a:r>
            <a:r>
              <a:rPr lang="zh-CN" altLang="en-US" sz="2000" dirty="0">
                <a:solidFill>
                  <a:srgbClr val="FF00FF"/>
                </a:solidFill>
                <a:latin typeface="Consolas" panose="020B0609020204030204" pitchFamily="49" charset="0"/>
                <a:ea typeface="楷体" panose="02010609060101010101" pitchFamily="49" charset="-122"/>
                <a:cs typeface="Consolas" panose="020B0609020204030204" pitchFamily="49" charset="0"/>
              </a:rPr>
              <a:t>度</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为：</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W</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MAX</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7"/>
          <p:cNvGrpSpPr/>
          <p:nvPr/>
        </p:nvGrpSpPr>
        <p:grpSpPr>
          <a:xfrm>
            <a:off x="1785918" y="971928"/>
            <a:ext cx="2571768" cy="2553132"/>
            <a:chOff x="1928794" y="1071546"/>
            <a:chExt cx="2571768" cy="2553132"/>
          </a:xfrm>
        </p:grpSpPr>
        <p:sp>
          <p:nvSpPr>
            <p:cNvPr id="9" name="TextBox 8"/>
            <p:cNvSpPr txBox="1"/>
            <p:nvPr/>
          </p:nvSpPr>
          <p:spPr>
            <a:xfrm>
              <a:off x="1928794" y="3286124"/>
              <a:ext cx="2571768" cy="338554"/>
            </a:xfrm>
            <a:prstGeom prst="rect">
              <a:avLst/>
            </a:prstGeom>
            <a:noFill/>
          </p:spPr>
          <p:txBody>
            <a:bodyPr wrap="square" rtlCol="0">
              <a:spAutoFit/>
            </a:bodyPr>
            <a:lstStyle/>
            <a:p>
              <a:pPr algn="l"/>
              <a:r>
                <a:rPr lang="zh-CN" altLang="en-US" sz="2000" smtClean="0">
                  <a:solidFill>
                    <a:srgbClr val="C00000"/>
                  </a:solidFill>
                  <a:latin typeface="华文中宋" panose="02010600040101010101" pitchFamily="2" charset="-122"/>
                  <a:ea typeface="华文中宋" panose="02010600040101010101" pitchFamily="2" charset="-122"/>
                </a:rPr>
                <a:t>一种或几种特殊情况</a:t>
              </a:r>
              <a:endParaRPr lang="zh-CN" altLang="en-US" sz="2000">
                <a:solidFill>
                  <a:srgbClr val="C00000"/>
                </a:solidFill>
                <a:latin typeface="华文中宋" panose="02010600040101010101" pitchFamily="2" charset="-122"/>
                <a:ea typeface="华文中宋" panose="02010600040101010101" pitchFamily="2" charset="-122"/>
              </a:endParaRPr>
            </a:p>
          </p:txBody>
        </p:sp>
        <p:cxnSp>
          <p:nvCxnSpPr>
            <p:cNvPr id="10" name="直接箭头连接符 9"/>
            <p:cNvCxnSpPr/>
            <p:nvPr/>
          </p:nvCxnSpPr>
          <p:spPr>
            <a:xfrm rot="16200000" flipV="1">
              <a:off x="1893075" y="2178835"/>
              <a:ext cx="1571636" cy="642942"/>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rot="16200000" flipV="1">
              <a:off x="2214546" y="1857364"/>
              <a:ext cx="2214578" cy="642942"/>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grpSp>
      <p:sp>
        <p:nvSpPr>
          <p:cNvPr id="12" name="Text Box 6"/>
          <p:cNvSpPr txBox="1">
            <a:spLocks noChangeArrowheads="1"/>
          </p:cNvSpPr>
          <p:nvPr/>
        </p:nvSpPr>
        <p:spPr bwMode="auto">
          <a:xfrm>
            <a:off x="4214810" y="1747927"/>
            <a:ext cx="719138" cy="172355"/>
          </a:xfrm>
          <a:prstGeom prst="rect">
            <a:avLst/>
          </a:prstGeom>
          <a:noFill/>
          <a:ln w="19050" algn="ctr">
            <a:noFill/>
            <a:miter lim="800000"/>
          </a:ln>
          <a:effectLst/>
        </p:spPr>
        <p:txBody>
          <a:bodyPr lIns="0" tIns="0" rIns="0" bIns="0">
            <a:spAutoFit/>
          </a:bodyPr>
          <a:lstStyle/>
          <a:p>
            <a:r>
              <a:rPr lang="en-US" altLang="zh-CN" sz="1400" i="1" dirty="0" err="1">
                <a:solidFill>
                  <a:srgbClr val="0000FF"/>
                </a:solidFill>
                <a:latin typeface="Consolas" panose="020B0609020204030204" pitchFamily="49" charset="0"/>
                <a:cs typeface="Consolas" panose="020B0609020204030204" pitchFamily="49" charset="0"/>
              </a:rPr>
              <a:t>I</a:t>
            </a:r>
            <a:r>
              <a:rPr lang="en-US" altLang="zh-CN" sz="1400" dirty="0" err="1">
                <a:solidFill>
                  <a:srgbClr val="0000FF"/>
                </a:solidFill>
                <a:latin typeface="Consolas" panose="020B0609020204030204" pitchFamily="49" charset="0"/>
                <a:cs typeface="Consolas" panose="020B0609020204030204" pitchFamily="49" charset="0"/>
              </a:rPr>
              <a:t>∈</a:t>
            </a:r>
            <a:r>
              <a:rPr lang="en-US" altLang="zh-CN" sz="1400" i="1" dirty="0" err="1">
                <a:solidFill>
                  <a:srgbClr val="0000FF"/>
                </a:solidFill>
                <a:latin typeface="Consolas" panose="020B0609020204030204" pitchFamily="49" charset="0"/>
                <a:cs typeface="Consolas" panose="020B0609020204030204" pitchFamily="49" charset="0"/>
              </a:rPr>
              <a:t>D</a:t>
            </a:r>
            <a:r>
              <a:rPr lang="en-US" altLang="zh-CN" sz="1400" i="1" baseline="-25000" dirty="0" err="1">
                <a:solidFill>
                  <a:srgbClr val="0000FF"/>
                </a:solidFill>
                <a:latin typeface="Consolas" panose="020B0609020204030204" pitchFamily="49" charset="0"/>
                <a:cs typeface="Consolas" panose="020B0609020204030204" pitchFamily="49" charset="0"/>
              </a:rPr>
              <a:t>n</a:t>
            </a:r>
            <a:endParaRPr lang="en-US" altLang="zh-CN" sz="1400" i="1" baseline="-25000" dirty="0">
              <a:solidFill>
                <a:srgbClr val="0000FF"/>
              </a:solidFill>
              <a:latin typeface="Consolas" panose="020B0609020204030204" pitchFamily="49" charset="0"/>
              <a:cs typeface="Consolas" panose="020B0609020204030204" pitchFamily="49" charset="0"/>
            </a:endParaRPr>
          </a:p>
        </p:txBody>
      </p:sp>
      <p:sp>
        <p:nvSpPr>
          <p:cNvPr id="13" name="Text Box 7"/>
          <p:cNvSpPr txBox="1">
            <a:spLocks noChangeArrowheads="1"/>
          </p:cNvSpPr>
          <p:nvPr/>
        </p:nvSpPr>
        <p:spPr bwMode="auto">
          <a:xfrm>
            <a:off x="468313" y="1244689"/>
            <a:ext cx="7991475" cy="553998"/>
          </a:xfrm>
          <a:prstGeom prst="rect">
            <a:avLst/>
          </a:prstGeom>
          <a:noFill/>
          <a:ln w="19050" algn="ctr">
            <a:noFill/>
            <a:miter lim="800000"/>
          </a:ln>
          <a:effectLst/>
        </p:spPr>
        <p:txBody>
          <a:bodyPr>
            <a:spAutoFit/>
          </a:bodyPr>
          <a:lstStyle/>
          <a:p>
            <a:pPr algn="l">
              <a:lnSpc>
                <a:spcPct val="150000"/>
              </a:lnSpc>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算法的</a:t>
            </a:r>
            <a:r>
              <a:rPr lang="zh-CN" altLang="en-US" sz="2000" dirty="0" smtClean="0">
                <a:solidFill>
                  <a:srgbClr val="FF00FF"/>
                </a:solidFill>
                <a:latin typeface="Consolas" panose="020B0609020204030204" pitchFamily="49" charset="0"/>
                <a:ea typeface="楷体" panose="02010609060101010101" pitchFamily="49" charset="-122"/>
                <a:cs typeface="Consolas" panose="020B0609020204030204" pitchFamily="49" charset="0"/>
              </a:rPr>
              <a:t>最好时间复杂</a:t>
            </a:r>
            <a:r>
              <a:rPr lang="zh-CN" altLang="en-US" sz="2000" dirty="0">
                <a:solidFill>
                  <a:srgbClr val="FF00FF"/>
                </a:solidFill>
                <a:latin typeface="Consolas" panose="020B0609020204030204" pitchFamily="49" charset="0"/>
                <a:ea typeface="楷体" panose="02010609060101010101" pitchFamily="49" charset="-122"/>
                <a:cs typeface="Consolas" panose="020B0609020204030204" pitchFamily="49" charset="0"/>
              </a:rPr>
              <a:t>度</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为：</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MIN</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 Box 2"/>
          <p:cNvSpPr txBox="1">
            <a:spLocks noChangeArrowheads="1"/>
          </p:cNvSpPr>
          <p:nvPr/>
        </p:nvSpPr>
        <p:spPr bwMode="auto">
          <a:xfrm>
            <a:off x="571472" y="1785926"/>
            <a:ext cx="8143932" cy="1288943"/>
          </a:xfrm>
          <a:prstGeom prst="rect">
            <a:avLst/>
          </a:prstGeom>
          <a:noFill/>
          <a:ln w="19050" algn="ctr">
            <a:noFill/>
            <a:miter lim="800000"/>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algn="l">
              <a:lnSpc>
                <a:spcPts val="2800"/>
              </a:lnSpc>
              <a:spcBef>
                <a:spcPts val="1200"/>
              </a:spcBef>
            </a:pPr>
            <a:r>
              <a:rPr lang="zh-CN" altLang="en-US" sz="2000" dirty="0">
                <a:latin typeface="Consolas" panose="020B0609020204030204" pitchFamily="49" charset="0"/>
                <a:ea typeface="仿宋" panose="02010609060101010101" pitchFamily="49" charset="-122"/>
                <a:cs typeface="Consolas" panose="020B0609020204030204" pitchFamily="49" charset="0"/>
              </a:rPr>
              <a:t>　</a:t>
            </a:r>
            <a:r>
              <a:rPr lang="zh-CN" altLang="en-US" sz="2000">
                <a:latin typeface="Consolas" panose="020B0609020204030204" pitchFamily="49" charset="0"/>
                <a:ea typeface="仿宋" panose="02010609060101010101" pitchFamily="49" charset="-122"/>
                <a:cs typeface="Consolas" panose="020B0609020204030204" pitchFamily="49" charset="0"/>
              </a:rPr>
              <a:t>　</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算法时间性能比较：</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假如</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求同一问题有两个算法：</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算法</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的平均时间</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，而</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算法</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的平均时间</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复杂度为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1200"/>
              </a:spcBef>
            </a:pPr>
            <a:r>
              <a:rPr lang="zh-CN" altLang="en-US" sz="2000" dirty="0">
                <a:latin typeface="Consolas" panose="020B0609020204030204" pitchFamily="49" charset="0"/>
                <a:ea typeface="仿宋" panose="02010609060101010101" pitchFamily="49" charset="-122"/>
                <a:cs typeface="Consolas" panose="020B0609020204030204" pitchFamily="49" charset="0"/>
              </a:rPr>
              <a:t>　　</a:t>
            </a:r>
            <a:r>
              <a:rPr lang="zh-CN" altLang="en-US" sz="2000" dirty="0">
                <a:solidFill>
                  <a:srgbClr val="FF3300"/>
                </a:solidFill>
                <a:latin typeface="Consolas" panose="020B0609020204030204" pitchFamily="49" charset="0"/>
                <a:ea typeface="仿宋" panose="02010609060101010101" pitchFamily="49" charset="-122"/>
                <a:cs typeface="Consolas" panose="020B0609020204030204" pitchFamily="49" charset="0"/>
              </a:rPr>
              <a:t>一般</a:t>
            </a:r>
            <a:r>
              <a:rPr lang="zh-CN" altLang="en-US" sz="2000">
                <a:solidFill>
                  <a:srgbClr val="FF3300"/>
                </a:solidFill>
                <a:latin typeface="Consolas" panose="020B0609020204030204" pitchFamily="49" charset="0"/>
                <a:ea typeface="仿宋" panose="02010609060101010101" pitchFamily="49" charset="-122"/>
                <a:cs typeface="Consolas" panose="020B0609020204030204" pitchFamily="49" charset="0"/>
              </a:rPr>
              <a:t>情况</a:t>
            </a:r>
            <a:r>
              <a:rPr lang="zh-CN" altLang="en-US" sz="2000" smtClean="0">
                <a:solidFill>
                  <a:srgbClr val="FF3300"/>
                </a:solidFill>
                <a:latin typeface="Consolas" panose="020B0609020204030204" pitchFamily="49" charset="0"/>
                <a:ea typeface="仿宋" panose="02010609060101010101" pitchFamily="49" charset="-122"/>
                <a:cs typeface="Consolas" panose="020B0609020204030204" pitchFamily="49" charset="0"/>
              </a:rPr>
              <a:t>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，认为</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算法</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的时间性能好比算法</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6"/>
          <p:cNvGrpSpPr/>
          <p:nvPr/>
        </p:nvGrpSpPr>
        <p:grpSpPr>
          <a:xfrm>
            <a:off x="428596" y="715129"/>
            <a:ext cx="1955562" cy="927921"/>
            <a:chOff x="428596" y="715129"/>
            <a:chExt cx="1955562" cy="927921"/>
          </a:xfrm>
        </p:grpSpPr>
        <p:pic>
          <p:nvPicPr>
            <p:cNvPr id="8" name="Oval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28596" y="715129"/>
              <a:ext cx="1955562" cy="927921"/>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000554" y="1018137"/>
              <a:ext cx="812100" cy="338554"/>
            </a:xfrm>
            <a:prstGeom prst="rect">
              <a:avLst/>
            </a:prstGeom>
            <a:noFill/>
          </p:spPr>
          <p:txBody>
            <a:bodyPr wrap="square" rtlCol="0">
              <a:spAutoFit/>
            </a:bodyPr>
            <a:lstStyle/>
            <a:p>
              <a:pPr algn="ctr"/>
              <a:r>
                <a:rPr lang="zh-CN" altLang="en-US" sz="2000" dirty="0" smtClean="0">
                  <a:solidFill>
                    <a:srgbClr val="FF0000"/>
                  </a:solidFill>
                  <a:latin typeface="微软雅黑" panose="020B0503020204020204" pitchFamily="34" charset="-122"/>
                  <a:ea typeface="微软雅黑" panose="020B0503020204020204" pitchFamily="34" charset="-122"/>
                </a:rPr>
                <a:t>提示</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571480"/>
            <a:ext cx="8072494" cy="827021"/>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    </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1.13</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以下算法用于在数组</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查找元素</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总是包含在</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中，分析算法的最好、最坏和平均时间复杂度。</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1571604" y="1643050"/>
            <a:ext cx="4286280"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a[],int n,int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(i&lt;n &amp;&amp; a[i]!=k)</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3786190"/>
            <a:ext cx="8429684" cy="1246495"/>
          </a:xfrm>
          <a:prstGeom prst="rect">
            <a:avLst/>
          </a:prstGeom>
          <a:noFill/>
        </p:spPr>
        <p:txBody>
          <a:bodyPr wrap="square" rtlCol="0">
            <a:spAutoFit/>
          </a:bodyPr>
          <a:lstStyle/>
          <a:p>
            <a:pPr algn="l">
              <a:lnSpc>
                <a:spcPts val="28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该算法的主要时间花费在元素比较上，可以将元素比较看成基本操作。</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）算法在查找中总是从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开始的，如果</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，则仅仅一次比较就成功找到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，呈现最好情况，所以算法的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最好时间复杂度为</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O(1)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643042" y="714356"/>
            <a:ext cx="4500594" cy="19528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a[],int n,int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(i&lt;n &amp;&amp; a[i]!=k)</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 name="Picture 2"/>
          <p:cNvPicPr>
            <a:picLocks noChangeAspect="1" noChangeArrowheads="1"/>
          </p:cNvPicPr>
          <p:nvPr/>
        </p:nvPicPr>
        <p:blipFill>
          <a:blip r:embed="rId1" cstate="print"/>
          <a:srcRect/>
          <a:stretch>
            <a:fillRect/>
          </a:stretch>
        </p:blipFill>
        <p:spPr bwMode="auto">
          <a:xfrm>
            <a:off x="571472" y="2928934"/>
            <a:ext cx="1643074" cy="796023"/>
          </a:xfrm>
          <a:prstGeom prst="rect">
            <a:avLst/>
          </a:prstGeom>
          <a:noFill/>
          <a:ln w="9525">
            <a:noFill/>
            <a:miter lim="800000"/>
            <a:headEnd/>
            <a:tailEnd/>
          </a:ln>
        </p:spPr>
      </p:pic>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3000372"/>
            <a:ext cx="8286808"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，则需要</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次比较成功找到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，呈现最坏情况，所以算法的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最坏时间复杂度为</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643042" y="785794"/>
            <a:ext cx="4357718" cy="19528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a[],int n,int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(i&lt;n &amp;&amp; a[i]!=k)</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2536598"/>
            <a:ext cx="8286808" cy="3321294"/>
          </a:xfrm>
          <a:prstGeom prst="rect">
            <a:avLst/>
          </a:prstGeom>
          <a:noFill/>
        </p:spPr>
        <p:txBody>
          <a:bodyPr wrap="square" rtlCol="0">
            <a:spAutoFit/>
          </a:bodyPr>
          <a:lstStyle/>
          <a:p>
            <a:pPr algn="l">
              <a:lnSpc>
                <a:spcPts val="28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）考虑平均情况：</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    a</a:t>
            </a: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时比较</a:t>
            </a: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次</a:t>
            </a:r>
            <a:endPar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    a</a:t>
            </a: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时比较</a:t>
            </a: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次</a:t>
            </a:r>
            <a:endPar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C00000"/>
                </a:solidFill>
                <a:latin typeface="+mj-ea"/>
                <a:ea typeface="+mj-ea"/>
                <a:cs typeface="Consolas" panose="020B0609020204030204" pitchFamily="49" charset="0"/>
              </a:rPr>
              <a:t>…</a:t>
            </a:r>
            <a:endParaRPr lang="en-US" altLang="zh-CN" sz="2000" smtClean="0">
              <a:solidFill>
                <a:srgbClr val="C00000"/>
              </a:solidFill>
              <a:latin typeface="+mj-ea"/>
              <a:ea typeface="+mj-ea"/>
              <a:cs typeface="Consolas" panose="020B0609020204030204" pitchFamily="49" charset="0"/>
            </a:endParaRPr>
          </a:p>
          <a:p>
            <a:pPr algn="l">
              <a:lnSpc>
                <a:spcPts val="2800"/>
              </a:lnSpc>
              <a:spcBef>
                <a:spcPts val="600"/>
              </a:spcBef>
            </a:pP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    a</a:t>
            </a: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时比较</a:t>
            </a:r>
            <a:r>
              <a:rPr lang="en-US" altLang="zh-CN" sz="20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次</a:t>
            </a:r>
            <a:endParaRPr lang="en-US" altLang="zh-CN" sz="20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种情况，假设等概率，也就是说每种情况的概率为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，则平均比较次数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zh-CN" altLang="zh-CN" sz="2000" smtClean="0">
                <a:solidFill>
                  <a:srgbClr val="0000FF"/>
                </a:solidFill>
                <a:latin typeface="+mj-ea"/>
                <a:ea typeface="+mj-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+1)/2=O(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，所以算法</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平均时间复杂度为</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928662" y="446414"/>
            <a:ext cx="4572032" cy="19528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a[],int n,int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(i&lt;n &amp;&amp; a[i]!=k)</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642918"/>
            <a:ext cx="392909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1.3.3 </a:t>
            </a:r>
            <a:r>
              <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算法</a:t>
            </a:r>
            <a:r>
              <a:rPr lang="zh-CN" altLang="en-US"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空间</a:t>
            </a:r>
            <a:r>
              <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性能分析</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571612"/>
            <a:ext cx="7715304" cy="28342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一个算法的存储量包括形参所占空间和临时变量所占空间。在对算法进行存储空间分析时，只考察</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临时变量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所占空间</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空间复杂度是对一个算法在运行过程中临时占用的存储空间大小的量度，一般也作为问题规模</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的函数，以数量级形式给出，记作：</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”的含义与时间复杂度分析中的相同。</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758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7587" name="Text Box 3"/>
          <p:cNvSpPr txBox="1">
            <a:spLocks noChangeArrowheads="1"/>
          </p:cNvSpPr>
          <p:nvPr/>
        </p:nvSpPr>
        <p:spPr bwMode="auto">
          <a:xfrm>
            <a:off x="642910" y="714356"/>
            <a:ext cx="3786214" cy="2286016"/>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vert="horz" wrap="square" lIns="180000" tIns="144000" rIns="91440" bIns="144000" numCol="1" anchor="t" anchorCtr="0" compatLnSpc="1"/>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Max(int a[],int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maxi=0;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i=1;i&lt;n;i++)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(a[i]&gt;a[maxi])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maxi=i;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a[maxi];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7589" name="Text Box 5"/>
          <p:cNvSpPr txBox="1">
            <a:spLocks noChangeArrowheads="1"/>
          </p:cNvSpPr>
          <p:nvPr/>
        </p:nvSpPr>
        <p:spPr bwMode="auto">
          <a:xfrm>
            <a:off x="4857752" y="1357298"/>
            <a:ext cx="3929090" cy="998546"/>
          </a:xfrm>
          <a:prstGeom prst="rect">
            <a:avLst/>
          </a:prstGeom>
          <a:solidFill>
            <a:srgbClr val="FFFFFF"/>
          </a:solidFill>
          <a:ln w="9525">
            <a:noFill/>
            <a:miter lim="800000"/>
          </a:ln>
        </p:spPr>
        <p:txBody>
          <a:bodyPr vert="horz" wrap="square" lIns="0" tIns="0" rIns="0" bIns="0" numCol="1" anchor="t" anchorCtr="0" compatLnSpc="1"/>
          <a:lstStyle/>
          <a:p>
            <a:pPr marL="0" marR="0" lvl="0" indent="0" algn="just" defTabSz="914400" rtl="0" eaLnBrk="1" fontAlgn="base" latinLnBrk="0" hangingPunct="1">
              <a:lnSpc>
                <a:spcPts val="2500"/>
              </a:lnSpc>
              <a:spcBef>
                <a:spcPct val="0"/>
              </a:spcBef>
              <a:spcAft>
                <a:spcPct val="0"/>
              </a:spcAft>
              <a:buClrTx/>
              <a:buSzTx/>
              <a:buFontTx/>
              <a:buNone/>
            </a:pPr>
            <a:r>
              <a:rPr kumimoji="0" lang="zh-CN" altLang="en-US"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函数</a:t>
            </a:r>
            <a:r>
              <a:rPr kumimoji="0" lang="zh-CN" altLang="en-US" sz="2000" i="0" u="none" strike="noStrike" cap="none" normalizeH="0" baseline="0" smtClean="0">
                <a:ln>
                  <a:noFill/>
                </a:ln>
                <a:solidFill>
                  <a:srgbClr val="C00000"/>
                </a:solidFill>
                <a:effectLst/>
                <a:latin typeface="Consolas" panose="020B0609020204030204" pitchFamily="49" charset="0"/>
                <a:ea typeface="仿宋" panose="02010609060101010101" pitchFamily="49" charset="-122"/>
                <a:cs typeface="Consolas" panose="020B0609020204030204" pitchFamily="49" charset="0"/>
              </a:rPr>
              <a:t>体内分配的变量空间为临时空间，不计形参占用的空间，这里的仅计</a:t>
            </a:r>
            <a:r>
              <a:rPr kumimoji="0" lang="en-US" altLang="zh-CN" sz="2000" i="1" u="none" strike="noStrike" cap="none" normalizeH="0" baseline="0" smtClean="0">
                <a:ln>
                  <a:noFill/>
                </a:ln>
                <a:solidFill>
                  <a:srgbClr val="C00000"/>
                </a:solidFill>
                <a:effectLst/>
                <a:latin typeface="Consolas" panose="020B0609020204030204" pitchFamily="49" charset="0"/>
                <a:ea typeface="仿宋" panose="02010609060101010101" pitchFamily="49" charset="-122"/>
                <a:cs typeface="Consolas" panose="020B0609020204030204" pitchFamily="49" charset="0"/>
              </a:rPr>
              <a:t>i</a:t>
            </a:r>
            <a:r>
              <a:rPr kumimoji="0" lang="zh-CN" altLang="en-US" sz="2000" i="0" u="none" strike="noStrike" cap="none" normalizeH="0" baseline="0" smtClean="0">
                <a:ln>
                  <a:noFill/>
                </a:ln>
                <a:solidFill>
                  <a:srgbClr val="C0000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2000" i="0" u="none" strike="noStrike" cap="none" normalizeH="0" baseline="0" smtClean="0">
                <a:ln>
                  <a:noFill/>
                </a:ln>
                <a:solidFill>
                  <a:srgbClr val="C00000"/>
                </a:solidFill>
                <a:effectLst/>
                <a:latin typeface="Consolas" panose="020B0609020204030204" pitchFamily="49" charset="0"/>
                <a:ea typeface="仿宋" panose="02010609060101010101" pitchFamily="49" charset="-122"/>
                <a:cs typeface="Consolas" panose="020B0609020204030204" pitchFamily="49" charset="0"/>
              </a:rPr>
              <a:t>maxi</a:t>
            </a:r>
            <a:r>
              <a:rPr kumimoji="0" lang="zh-CN" altLang="en-US" sz="2000" i="0" u="none" strike="noStrike" cap="none" normalizeH="0" baseline="0" smtClean="0">
                <a:ln>
                  <a:noFill/>
                </a:ln>
                <a:solidFill>
                  <a:srgbClr val="C00000"/>
                </a:solidFill>
                <a:effectLst/>
                <a:latin typeface="Consolas" panose="020B0609020204030204" pitchFamily="49" charset="0"/>
                <a:ea typeface="仿宋" panose="02010609060101010101" pitchFamily="49" charset="-122"/>
                <a:cs typeface="Consolas" panose="020B0609020204030204" pitchFamily="49" charset="0"/>
              </a:rPr>
              <a:t>变量的空间。</a:t>
            </a:r>
            <a:endParaRPr kumimoji="0" lang="zh-CN" sz="2000" i="0" u="none" strike="noStrike" cap="none" normalizeH="0" baseline="0" smtClean="0">
              <a:ln>
                <a:noFill/>
              </a:ln>
              <a:solidFill>
                <a:srgbClr val="C0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右大括号 8"/>
          <p:cNvSpPr/>
          <p:nvPr/>
        </p:nvSpPr>
        <p:spPr>
          <a:xfrm>
            <a:off x="4572000" y="1142984"/>
            <a:ext cx="142876" cy="1357322"/>
          </a:xfrm>
          <a:prstGeom prst="rightBrace">
            <a:avLst/>
          </a:prstGeom>
          <a:ln w="1905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857224" y="357166"/>
            <a:ext cx="7572428"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为什么算法空间分析只考虑临时空间，而不必考虑形参的空间呢？</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214282" y="4214818"/>
            <a:ext cx="4143404" cy="18296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Maxfun()</a:t>
            </a:r>
            <a:endParaRPr lang="zh-CN"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b[]={1,2,3,4,5};</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n=5;</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printf("Max=%d\n",Max(b,n));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上箭头 7"/>
          <p:cNvSpPr/>
          <p:nvPr/>
        </p:nvSpPr>
        <p:spPr>
          <a:xfrm>
            <a:off x="2143108" y="3643314"/>
            <a:ext cx="285752" cy="500066"/>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4572000" y="1660477"/>
            <a:ext cx="3143272" cy="1015663"/>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nSpc>
                <a:spcPct val="100000"/>
              </a:lnSpc>
            </a:pP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如果</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Max</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函数中再考虑形参</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的空间，就重复累计了执行整个算法所需的空间。</a:t>
            </a:r>
            <a:endPar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4929190" y="4423484"/>
            <a:ext cx="2714644" cy="1077218"/>
          </a:xfrm>
          <a:prstGeom prst="rect">
            <a:avLst/>
          </a:prstGeom>
          <a:noFill/>
        </p:spPr>
        <p:txBody>
          <a:bodyPr wrap="square" rtlCol="0">
            <a:spAutoFit/>
          </a:bodyPr>
          <a:lstStyle/>
          <a:p>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Maxfun</a:t>
            </a:r>
            <a:r>
              <a:rPr lang="zh-CN" altLang="pt-BR"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算法中为</a:t>
            </a:r>
            <a:r>
              <a:rPr lang="pt-BR"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pt-BR"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数组分配了相应的</a:t>
            </a:r>
            <a:r>
              <a:rPr lang="zh-CN" altLang="pt-BR"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内存空间</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pt-BR"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a:t>
            </a:r>
            <a:r>
              <a:rPr lang="zh-CN" altLang="pt-BR"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4" name="直接箭头连接符 13"/>
          <p:cNvCxnSpPr/>
          <p:nvPr/>
        </p:nvCxnSpPr>
        <p:spPr>
          <a:xfrm rot="5400000" flipH="1" flipV="1">
            <a:off x="5251455" y="3553584"/>
            <a:ext cx="164307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6143636" y="3374989"/>
            <a:ext cx="1785950"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仿宋" panose="02010609060101010101" pitchFamily="49" charset="-122"/>
                <a:ea typeface="仿宋" panose="02010609060101010101" pitchFamily="49" charset="-122"/>
              </a:rPr>
              <a:t>传递数组地址</a:t>
            </a:r>
            <a:endParaRPr lang="zh-CN" altLang="en-US" sz="1800" smtClean="0">
              <a:solidFill>
                <a:srgbClr val="0000FF"/>
              </a:solidFill>
              <a:latin typeface="仿宋" panose="02010609060101010101" pitchFamily="49" charset="-122"/>
              <a:ea typeface="仿宋" panose="02010609060101010101" pitchFamily="49" charset="-122"/>
            </a:endParaRPr>
          </a:p>
        </p:txBody>
      </p:sp>
      <p:pic>
        <p:nvPicPr>
          <p:cNvPr id="12" name="Picture 2"/>
          <p:cNvPicPr>
            <a:picLocks noChangeAspect="1" noChangeArrowheads="1"/>
          </p:cNvPicPr>
          <p:nvPr/>
        </p:nvPicPr>
        <p:blipFill>
          <a:blip r:embed="rId1" cstate="print"/>
          <a:srcRect/>
          <a:stretch>
            <a:fillRect/>
          </a:stretch>
        </p:blipFill>
        <p:spPr bwMode="auto">
          <a:xfrm>
            <a:off x="285720" y="214290"/>
            <a:ext cx="500066" cy="794881"/>
          </a:xfrm>
          <a:prstGeom prst="rect">
            <a:avLst/>
          </a:prstGeom>
          <a:noFill/>
          <a:ln w="9525">
            <a:noFill/>
            <a:miter lim="800000"/>
            <a:headEnd/>
            <a:tailEnd/>
          </a:ln>
        </p:spPr>
      </p:pic>
      <p:sp>
        <p:nvSpPr>
          <p:cNvPr id="13" name="Text Box 3"/>
          <p:cNvSpPr txBox="1">
            <a:spLocks noChangeArrowheads="1"/>
          </p:cNvSpPr>
          <p:nvPr/>
        </p:nvSpPr>
        <p:spPr bwMode="auto">
          <a:xfrm>
            <a:off x="428596" y="1214422"/>
            <a:ext cx="3786214" cy="2286016"/>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vert="horz" wrap="square" lIns="180000" tIns="144000" rIns="91440" bIns="144000" numCol="1" anchor="t" anchorCtr="0" compatLnSpc="1"/>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Max</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maxi=0;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i=1;i&lt;n;i++)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(a[i]&gt;a[maxi])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maxi=i;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a[maxi];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灯片编号占位符 2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500042"/>
            <a:ext cx="7572428" cy="477054"/>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1.14</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分析例</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1.13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算法的空间复杂度。</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642910" y="1214422"/>
            <a:ext cx="12144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1.10</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TextBox 7"/>
          <p:cNvSpPr txBox="1"/>
          <p:nvPr/>
        </p:nvSpPr>
        <p:spPr>
          <a:xfrm>
            <a:off x="2643174" y="4572008"/>
            <a:ext cx="2357454"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上箭头 8"/>
          <p:cNvSpPr/>
          <p:nvPr/>
        </p:nvSpPr>
        <p:spPr>
          <a:xfrm>
            <a:off x="3571868" y="4143380"/>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 name="TextBox 10"/>
          <p:cNvSpPr txBox="1"/>
          <p:nvPr/>
        </p:nvSpPr>
        <p:spPr>
          <a:xfrm>
            <a:off x="642910" y="1785926"/>
            <a:ext cx="7500990"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matrixadd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A[M][N],int B[M][N],int C[M][N],int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j=0;j&lt;m;j++)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语句②</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C[i][j]=A[i][j]+B[i][j];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语句③</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642910" y="428604"/>
            <a:ext cx="12144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1.11</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TextBox 9"/>
          <p:cNvSpPr txBox="1"/>
          <p:nvPr/>
        </p:nvSpPr>
        <p:spPr>
          <a:xfrm>
            <a:off x="1643042" y="4071942"/>
            <a:ext cx="3571900"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上箭头 10"/>
          <p:cNvSpPr/>
          <p:nvPr/>
        </p:nvSpPr>
        <p:spPr>
          <a:xfrm>
            <a:off x="2643174" y="3571876"/>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571472" y="1000108"/>
            <a:ext cx="5429288" cy="25300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fun(int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s</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=0;i&lt;=n;i++)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=0;j&lt;=i;j++)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k=0;k&lt;j;k++)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a:t>
            </a:r>
            <a:endParaRPr lang="zh-CN"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642910" y="428604"/>
            <a:ext cx="12144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1.12</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1785918" y="3500438"/>
            <a:ext cx="2500330"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上箭头 7"/>
          <p:cNvSpPr/>
          <p:nvPr/>
        </p:nvSpPr>
        <p:spPr>
          <a:xfrm>
            <a:off x="2786050" y="3000372"/>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1285852" y="1000108"/>
            <a:ext cx="3286148" cy="196582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fun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x</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(x&lt;n/2)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x=2*x;</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x;</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642910" y="428604"/>
            <a:ext cx="12144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1.13</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2285984" y="3857628"/>
            <a:ext cx="2500330"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上箭头 7"/>
          <p:cNvSpPr/>
          <p:nvPr/>
        </p:nvSpPr>
        <p:spPr>
          <a:xfrm>
            <a:off x="3286116" y="3357562"/>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1357290" y="1071546"/>
            <a:ext cx="4500594"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a[],int n,int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(i&lt;n &amp;&amp; a[i]!=k)</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285984" y="214290"/>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1.4 </a:t>
            </a:r>
            <a:r>
              <a:rPr lang="zh-CN" altLang="en-US"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数据结构的目标</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2" name="Group 50"/>
          <p:cNvGrpSpPr/>
          <p:nvPr/>
        </p:nvGrpSpPr>
        <p:grpSpPr bwMode="auto">
          <a:xfrm>
            <a:off x="258734" y="4170386"/>
            <a:ext cx="8742363" cy="479426"/>
            <a:chOff x="113" y="2276"/>
            <a:chExt cx="5507" cy="302"/>
          </a:xfrm>
        </p:grpSpPr>
        <p:sp>
          <p:nvSpPr>
            <p:cNvPr id="8" name="Text Box 40"/>
            <p:cNvSpPr txBox="1">
              <a:spLocks noChangeArrowheads="1"/>
            </p:cNvSpPr>
            <p:nvPr/>
          </p:nvSpPr>
          <p:spPr bwMode="auto">
            <a:xfrm>
              <a:off x="4483" y="2325"/>
              <a:ext cx="1137" cy="253"/>
            </a:xfrm>
            <a:prstGeom prst="rect">
              <a:avLst/>
            </a:prstGeom>
          </p:spPr>
          <p:style>
            <a:lnRef idx="1">
              <a:schemeClr val="accent3"/>
            </a:lnRef>
            <a:fillRef idx="2">
              <a:schemeClr val="accent3"/>
            </a:fillRef>
            <a:effectRef idx="1">
              <a:schemeClr val="accent3"/>
            </a:effectRef>
            <a:fontRef idx="minor">
              <a:schemeClr val="dk1"/>
            </a:fontRef>
          </p:style>
          <p:txBody>
            <a:bodyPr tIns="108000">
              <a:spAutoFit/>
            </a:bodyPr>
            <a:lstStyle/>
            <a:p>
              <a:pPr eaLnBrk="1" hangingPunct="1">
                <a:spcBef>
                  <a:spcPct val="50000"/>
                </a:spcBef>
                <a:buNone/>
              </a:pP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设计</a:t>
              </a:r>
              <a:endPar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Rectangle 48"/>
            <p:cNvSpPr>
              <a:spLocks noChangeArrowheads="1"/>
            </p:cNvSpPr>
            <p:nvPr/>
          </p:nvSpPr>
          <p:spPr bwMode="auto">
            <a:xfrm>
              <a:off x="113" y="2276"/>
              <a:ext cx="3629" cy="295"/>
            </a:xfrm>
            <a:prstGeom prst="rect">
              <a:avLst/>
            </a:prstGeom>
            <a:solidFill>
              <a:schemeClr val="bg1"/>
            </a:solidFill>
            <a:ln w="28575">
              <a:noFill/>
              <a:prstDash val="sysDot"/>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nchor="ctr"/>
            <a:lstStyle/>
            <a:p>
              <a:pPr>
                <a:buNone/>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Line 49"/>
            <p:cNvSpPr>
              <a:spLocks noChangeShapeType="1"/>
            </p:cNvSpPr>
            <p:nvPr/>
          </p:nvSpPr>
          <p:spPr bwMode="auto">
            <a:xfrm>
              <a:off x="3742" y="2478"/>
              <a:ext cx="726" cy="0"/>
            </a:xfrm>
            <a:prstGeom prst="line">
              <a:avLst/>
            </a:prstGeom>
            <a:ln w="28575">
              <a:tailEnd type="triangle" w="med" len="med"/>
            </a:ln>
          </p:spPr>
          <p:style>
            <a:lnRef idx="1">
              <a:schemeClr val="accent5"/>
            </a:lnRef>
            <a:fillRef idx="0">
              <a:schemeClr val="accent5"/>
            </a:fillRef>
            <a:effectRef idx="0">
              <a:schemeClr val="accent5"/>
            </a:effectRef>
            <a:fontRef idx="minor">
              <a:schemeClr val="tx1"/>
            </a:fontRef>
          </p:style>
          <p:txBody>
            <a:bodyPr wrap="none" anchor="ctr"/>
            <a:lstStyle/>
            <a:p>
              <a:pPr>
                <a:buNone/>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Group 47"/>
          <p:cNvGrpSpPr/>
          <p:nvPr/>
        </p:nvGrpSpPr>
        <p:grpSpPr bwMode="auto">
          <a:xfrm>
            <a:off x="690534" y="2927372"/>
            <a:ext cx="8353425" cy="647701"/>
            <a:chOff x="385" y="1493"/>
            <a:chExt cx="5262" cy="408"/>
          </a:xfrm>
        </p:grpSpPr>
        <p:sp>
          <p:nvSpPr>
            <p:cNvPr id="12" name="Text Box 39"/>
            <p:cNvSpPr txBox="1">
              <a:spLocks noChangeArrowheads="1"/>
            </p:cNvSpPr>
            <p:nvPr/>
          </p:nvSpPr>
          <p:spPr bwMode="auto">
            <a:xfrm>
              <a:off x="4513" y="1493"/>
              <a:ext cx="1134" cy="408"/>
            </a:xfrm>
            <a:prstGeom prst="rect">
              <a:avLst/>
            </a:prstGeom>
          </p:spPr>
          <p:style>
            <a:lnRef idx="1">
              <a:schemeClr val="accent3"/>
            </a:lnRef>
            <a:fillRef idx="2">
              <a:schemeClr val="accent3"/>
            </a:fillRef>
            <a:effectRef idx="1">
              <a:schemeClr val="accent3"/>
            </a:effectRef>
            <a:fontRef idx="minor">
              <a:schemeClr val="dk1"/>
            </a:fontRef>
          </p:style>
          <p:txBody>
            <a:bodyPr tIns="108000">
              <a:spAutoFit/>
            </a:bodyPr>
            <a:lstStyle/>
            <a:p>
              <a:pPr eaLnBrk="1" hangingPunct="1">
                <a:spcBef>
                  <a:spcPct val="50000"/>
                </a:spcBef>
                <a:buNone/>
              </a:pPr>
              <a:r>
                <a:rPr lang="en-US" altLang="zh-CN" sz="2000" b="1" smtClean="0">
                  <a:solidFill>
                    <a:srgbClr val="0000FF"/>
                  </a:solidFill>
                  <a:latin typeface="仿宋" panose="02010609060101010101" pitchFamily="49" charset="-122"/>
                  <a:ea typeface="仿宋" panose="02010609060101010101" pitchFamily="49" charset="-122"/>
                  <a:cs typeface="Consolas" panose="020B0609020204030204" pitchFamily="49" charset="0"/>
                  <a:sym typeface="Wingdings" panose="05000000000000000000"/>
                </a:rPr>
                <a:t></a:t>
              </a:r>
              <a:r>
                <a:rPr lang="en-US" altLang="zh-CN" sz="2000" b="1" smtClean="0">
                  <a:solidFill>
                    <a:srgbClr val="0000FF"/>
                  </a:solidFill>
                  <a:latin typeface="仿宋" panose="02010609060101010101" pitchFamily="49" charset="-122"/>
                  <a:ea typeface="仿宋" panose="02010609060101010101" pitchFamily="49" charset="-122"/>
                  <a:cs typeface="Consolas" panose="020B0609020204030204" pitchFamily="49" charset="0"/>
                </a:rPr>
                <a:t> </a:t>
              </a:r>
              <a:r>
                <a:rPr lang="zh-CN" altLang="en-US" sz="2000" b="1" smtClean="0">
                  <a:solidFill>
                    <a:srgbClr val="0000FF"/>
                  </a:solidFill>
                  <a:latin typeface="仿宋" panose="02010609060101010101" pitchFamily="49" charset="-122"/>
                  <a:ea typeface="仿宋" panose="02010609060101010101" pitchFamily="49" charset="-122"/>
                  <a:cs typeface="Consolas" panose="020B0609020204030204" pitchFamily="49" charset="0"/>
                </a:rPr>
                <a:t>设计</a:t>
              </a:r>
              <a:r>
                <a:rPr lang="zh-CN" altLang="en-US" sz="2000" b="1" dirty="0">
                  <a:solidFill>
                    <a:srgbClr val="0000FF"/>
                  </a:solidFill>
                  <a:latin typeface="仿宋" panose="02010609060101010101" pitchFamily="49" charset="-122"/>
                  <a:ea typeface="仿宋" panose="02010609060101010101" pitchFamily="49" charset="-122"/>
                  <a:cs typeface="Consolas" panose="020B0609020204030204" pitchFamily="49" charset="0"/>
                </a:rPr>
                <a:t>存储结构</a:t>
              </a:r>
              <a:endParaRPr lang="zh-CN" altLang="en-US" sz="2000" b="1"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3" name="Rectangle 45"/>
            <p:cNvSpPr>
              <a:spLocks noChangeArrowheads="1"/>
            </p:cNvSpPr>
            <p:nvPr/>
          </p:nvSpPr>
          <p:spPr bwMode="auto">
            <a:xfrm>
              <a:off x="385" y="1522"/>
              <a:ext cx="3629" cy="304"/>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lnRef>
            <a:fillRef idx="1">
              <a:schemeClr val="lt1"/>
            </a:fillRef>
            <a:effectRef idx="0">
              <a:schemeClr val="accent6"/>
            </a:effectRef>
            <a:fontRef idx="minor">
              <a:schemeClr val="dk1"/>
            </a:fontRef>
          </p:style>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14" name="Line 46"/>
            <p:cNvSpPr>
              <a:spLocks noChangeShapeType="1"/>
            </p:cNvSpPr>
            <p:nvPr/>
          </p:nvSpPr>
          <p:spPr bwMode="auto">
            <a:xfrm>
              <a:off x="4014" y="1706"/>
              <a:ext cx="499" cy="0"/>
            </a:xfrm>
            <a:prstGeom prst="line">
              <a:avLst/>
            </a:prstGeom>
            <a:ln w="28575">
              <a:tailEnd type="triangle" w="med" len="med"/>
            </a:ln>
          </p:spPr>
          <p:style>
            <a:lnRef idx="1">
              <a:schemeClr val="accent5"/>
            </a:lnRef>
            <a:fillRef idx="0">
              <a:schemeClr val="accent5"/>
            </a:fillRef>
            <a:effectRef idx="0">
              <a:schemeClr val="accent5"/>
            </a:effectRef>
            <a:fontRef idx="minor">
              <a:schemeClr val="tx1"/>
            </a:fontRef>
          </p:style>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grpSp>
      <p:grpSp>
        <p:nvGrpSpPr>
          <p:cNvPr id="5" name="Group 44"/>
          <p:cNvGrpSpPr/>
          <p:nvPr/>
        </p:nvGrpSpPr>
        <p:grpSpPr bwMode="auto">
          <a:xfrm>
            <a:off x="403195" y="1538308"/>
            <a:ext cx="8597900" cy="417513"/>
            <a:chOff x="204" y="618"/>
            <a:chExt cx="5416" cy="263"/>
          </a:xfrm>
        </p:grpSpPr>
        <p:sp>
          <p:nvSpPr>
            <p:cNvPr id="16" name="Text Box 38"/>
            <p:cNvSpPr txBox="1">
              <a:spLocks noChangeArrowheads="1"/>
            </p:cNvSpPr>
            <p:nvPr/>
          </p:nvSpPr>
          <p:spPr bwMode="auto">
            <a:xfrm>
              <a:off x="4534" y="628"/>
              <a:ext cx="1086" cy="253"/>
            </a:xfrm>
            <a:prstGeom prst="rect">
              <a:avLst/>
            </a:prstGeom>
          </p:spPr>
          <p:style>
            <a:lnRef idx="1">
              <a:schemeClr val="accent3"/>
            </a:lnRef>
            <a:fillRef idx="2">
              <a:schemeClr val="accent3"/>
            </a:fillRef>
            <a:effectRef idx="1">
              <a:schemeClr val="accent3"/>
            </a:effectRef>
            <a:fontRef idx="minor">
              <a:schemeClr val="dk1"/>
            </a:fontRef>
          </p:style>
          <p:txBody>
            <a:bodyPr wrap="square" tIns="108000">
              <a:spAutoFit/>
            </a:bodyPr>
            <a:lstStyle/>
            <a:p>
              <a:pPr eaLnBrk="1" hangingPunct="1">
                <a:spcBef>
                  <a:spcPct val="50000"/>
                </a:spcBef>
                <a:buNone/>
              </a:pPr>
              <a:r>
                <a:rPr lang="en-US" altLang="zh-CN" sz="2000" b="1" smtClean="0">
                  <a:solidFill>
                    <a:srgbClr val="0000FF"/>
                  </a:solidFill>
                  <a:latin typeface="仿宋" panose="02010609060101010101" pitchFamily="49" charset="-122"/>
                  <a:ea typeface="仿宋" panose="02010609060101010101" pitchFamily="49" charset="-122"/>
                  <a:cs typeface="Consolas" panose="020B0609020204030204" pitchFamily="49" charset="0"/>
                  <a:sym typeface="Wingdings" panose="05000000000000000000"/>
                </a:rPr>
                <a:t></a:t>
              </a:r>
              <a:r>
                <a:rPr lang="en-US" altLang="zh-CN" sz="2000" b="1" smtClean="0">
                  <a:solidFill>
                    <a:srgbClr val="0000FF"/>
                  </a:solidFill>
                  <a:latin typeface="仿宋" panose="02010609060101010101" pitchFamily="49" charset="-122"/>
                  <a:ea typeface="仿宋" panose="02010609060101010101" pitchFamily="49" charset="-122"/>
                  <a:cs typeface="Consolas" panose="020B0609020204030204" pitchFamily="49" charset="0"/>
                </a:rPr>
                <a:t> </a:t>
              </a:r>
              <a:r>
                <a:rPr lang="zh-CN" altLang="en-US" sz="2000" b="1" smtClean="0">
                  <a:solidFill>
                    <a:srgbClr val="0000FF"/>
                  </a:solidFill>
                  <a:latin typeface="仿宋" panose="02010609060101010101" pitchFamily="49" charset="-122"/>
                  <a:ea typeface="仿宋" panose="02010609060101010101" pitchFamily="49" charset="-122"/>
                  <a:cs typeface="Consolas" panose="020B0609020204030204" pitchFamily="49" charset="0"/>
                </a:rPr>
                <a:t>问题描述</a:t>
              </a:r>
              <a:endParaRPr lang="zh-CN" altLang="en-US" sz="2000" b="1"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7" name="Rectangle 42"/>
            <p:cNvSpPr>
              <a:spLocks noChangeArrowheads="1"/>
            </p:cNvSpPr>
            <p:nvPr/>
          </p:nvSpPr>
          <p:spPr bwMode="auto">
            <a:xfrm>
              <a:off x="204" y="618"/>
              <a:ext cx="3981" cy="263"/>
            </a:xfrm>
            <a:prstGeom prst="rect">
              <a:avLst/>
            </a:prstGeom>
            <a:solidFill>
              <a:schemeClr val="bg1"/>
            </a:solidFill>
          </p:spPr>
          <p:style>
            <a:lnRef idx="1">
              <a:schemeClr val="accent3"/>
            </a:lnRef>
            <a:fillRef idx="2">
              <a:schemeClr val="accent3"/>
            </a:fillRef>
            <a:effectRef idx="1">
              <a:schemeClr val="accent3"/>
            </a:effectRef>
            <a:fontRef idx="minor">
              <a:schemeClr val="dk1"/>
            </a:fontRef>
          </p:style>
          <p:txBody>
            <a:bodyPr wrap="none" tIns="108000"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18" name="Line 43"/>
            <p:cNvSpPr>
              <a:spLocks noChangeShapeType="1"/>
            </p:cNvSpPr>
            <p:nvPr/>
          </p:nvSpPr>
          <p:spPr bwMode="auto">
            <a:xfrm>
              <a:off x="4195" y="754"/>
              <a:ext cx="318" cy="0"/>
            </a:xfrm>
            <a:prstGeom prst="line">
              <a:avLst/>
            </a:prstGeom>
            <a:ln w="28575">
              <a:tailEnd type="triangle" w="med" len="med"/>
            </a:ln>
          </p:spPr>
          <p:style>
            <a:lnRef idx="1">
              <a:schemeClr val="accent5"/>
            </a:lnRef>
            <a:fillRef idx="0">
              <a:schemeClr val="accent5"/>
            </a:fillRef>
            <a:effectRef idx="0">
              <a:schemeClr val="accent5"/>
            </a:effectRef>
            <a:fontRef idx="minor">
              <a:schemeClr val="tx1"/>
            </a:fontRef>
          </p:style>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grpSp>
      <p:sp>
        <p:nvSpPr>
          <p:cNvPr id="19" name="Text Box 4"/>
          <p:cNvSpPr txBox="1">
            <a:spLocks noChangeArrowheads="1"/>
          </p:cNvSpPr>
          <p:nvPr/>
        </p:nvSpPr>
        <p:spPr bwMode="auto">
          <a:xfrm>
            <a:off x="620682" y="1584342"/>
            <a:ext cx="5959488" cy="374461"/>
          </a:xfrm>
          <a:prstGeom prst="rect">
            <a:avLst/>
          </a:prstGeom>
          <a:noFill/>
          <a:ln w="9525">
            <a:noFill/>
            <a:miter lim="800000"/>
          </a:ln>
          <a:effectLst/>
        </p:spPr>
        <p:txBody>
          <a:bodyPr wrap="square">
            <a:spAutoFit/>
          </a:bodyPr>
          <a:lstStyle/>
          <a:p>
            <a:pPr algn="l" eaLnBrk="1" hangingPunct="1">
              <a:lnSpc>
                <a:spcPts val="2200"/>
              </a:lnSpc>
              <a:spcBef>
                <a:spcPts val="0"/>
              </a:spcBef>
              <a:buNone/>
            </a:pPr>
            <a:r>
              <a:rPr lang="en-US" altLang="zh-CN" sz="2000" b="1" err="1">
                <a:solidFill>
                  <a:srgbClr val="0000FF"/>
                </a:solidFill>
                <a:latin typeface="Consolas" panose="020B0609020204030204" pitchFamily="49" charset="0"/>
                <a:ea typeface="仿宋" panose="02010609060101010101" pitchFamily="49" charset="-122"/>
                <a:cs typeface="Consolas" panose="020B0609020204030204" pitchFamily="49" charset="0"/>
              </a:rPr>
              <a:t>ADT</a:t>
            </a: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  逻</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辑</a:t>
            </a:r>
            <a:r>
              <a:rPr lang="zh-CN" altLang="en-US" sz="2000" b="1">
                <a:solidFill>
                  <a:srgbClr val="0000FF"/>
                </a:solidFill>
                <a:latin typeface="Consolas" panose="020B0609020204030204" pitchFamily="49" charset="0"/>
                <a:ea typeface="仿宋" panose="02010609060101010101" pitchFamily="49" charset="-122"/>
                <a:cs typeface="Consolas" panose="020B0609020204030204" pitchFamily="49" charset="0"/>
              </a:rPr>
              <a:t>结</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构   ＋  抽</a:t>
            </a:r>
            <a:r>
              <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象运算（功能描述）</a:t>
            </a:r>
            <a:endParaRPr lang="zh-CN" altLang="en-US"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 name="Group 55"/>
          <p:cNvGrpSpPr/>
          <p:nvPr/>
        </p:nvGrpSpPr>
        <p:grpSpPr bwMode="auto">
          <a:xfrm>
            <a:off x="763559" y="2186007"/>
            <a:ext cx="4384675" cy="1201738"/>
            <a:chOff x="431" y="1405"/>
            <a:chExt cx="2762" cy="757"/>
          </a:xfrm>
        </p:grpSpPr>
        <p:grpSp>
          <p:nvGrpSpPr>
            <p:cNvPr id="7" name="Group 31"/>
            <p:cNvGrpSpPr/>
            <p:nvPr/>
          </p:nvGrpSpPr>
          <p:grpSpPr bwMode="auto">
            <a:xfrm>
              <a:off x="1475" y="1405"/>
              <a:ext cx="1089" cy="363"/>
              <a:chOff x="1565" y="1026"/>
              <a:chExt cx="1089" cy="363"/>
            </a:xfrm>
          </p:grpSpPr>
          <p:sp>
            <p:nvSpPr>
              <p:cNvPr id="26" name="AutoShape 5"/>
              <p:cNvSpPr>
                <a:spLocks noChangeArrowheads="1"/>
              </p:cNvSpPr>
              <p:nvPr/>
            </p:nvSpPr>
            <p:spPr bwMode="auto">
              <a:xfrm>
                <a:off x="1565" y="1026"/>
                <a:ext cx="227" cy="363"/>
              </a:xfrm>
              <a:prstGeom prst="downArrow">
                <a:avLst>
                  <a:gd name="adj1" fmla="val 50000"/>
                  <a:gd name="adj2" fmla="val 39978"/>
                </a:avLst>
              </a:prstGeom>
            </p:spPr>
            <p:style>
              <a:lnRef idx="1">
                <a:schemeClr val="accent2"/>
              </a:lnRef>
              <a:fillRef idx="3">
                <a:schemeClr val="accent2"/>
              </a:fillRef>
              <a:effectRef idx="2">
                <a:schemeClr val="accent2"/>
              </a:effectRef>
              <a:fontRef idx="minor">
                <a:schemeClr val="lt1"/>
              </a:fontRef>
            </p:style>
            <p:txBody>
              <a:bodyPr wrap="none" anchor="ctr"/>
              <a:lstStyle/>
              <a:p>
                <a:pPr>
                  <a:buNone/>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 Box 6"/>
              <p:cNvSpPr txBox="1">
                <a:spLocks noChangeArrowheads="1"/>
              </p:cNvSpPr>
              <p:nvPr/>
            </p:nvSpPr>
            <p:spPr bwMode="auto">
              <a:xfrm>
                <a:off x="1883" y="1071"/>
                <a:ext cx="771" cy="198"/>
              </a:xfrm>
              <a:prstGeom prst="rect">
                <a:avLst/>
              </a:prstGeom>
              <a:noFill/>
              <a:ln w="9525">
                <a:noFill/>
                <a:miter lim="800000"/>
              </a:ln>
              <a:effectLst/>
            </p:spPr>
            <p:txBody>
              <a:bodyPr>
                <a:spAutoFit/>
              </a:bodyPr>
              <a:lstStyle/>
              <a:p>
                <a:pPr algn="l" eaLnBrk="1" hangingPunct="1">
                  <a:spcBef>
                    <a:spcPct val="50000"/>
                  </a:spcBef>
                  <a:buNone/>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映射</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1" name="Group 32"/>
            <p:cNvGrpSpPr/>
            <p:nvPr/>
          </p:nvGrpSpPr>
          <p:grpSpPr bwMode="auto">
            <a:xfrm>
              <a:off x="431" y="1944"/>
              <a:ext cx="2762" cy="218"/>
              <a:chOff x="521" y="1565"/>
              <a:chExt cx="2762" cy="218"/>
            </a:xfrm>
          </p:grpSpPr>
          <p:sp>
            <p:nvSpPr>
              <p:cNvPr id="23" name="Text Box 7"/>
              <p:cNvSpPr txBox="1">
                <a:spLocks noChangeArrowheads="1"/>
              </p:cNvSpPr>
              <p:nvPr/>
            </p:nvSpPr>
            <p:spPr bwMode="auto">
              <a:xfrm>
                <a:off x="521" y="1570"/>
                <a:ext cx="998" cy="198"/>
              </a:xfrm>
              <a:prstGeom prst="rect">
                <a:avLst/>
              </a:prstGeom>
              <a:noFill/>
              <a:ln w="9525">
                <a:noFill/>
                <a:miter lim="800000"/>
              </a:ln>
              <a:effectLst/>
            </p:spPr>
            <p:txBody>
              <a:bodyPr>
                <a:spAutoFit/>
              </a:bodyPr>
              <a:lstStyle/>
              <a:p>
                <a:pPr algn="l" eaLnBrk="1" hangingPunct="1">
                  <a:spcBef>
                    <a:spcPct val="50000"/>
                  </a:spcBef>
                  <a:buNone/>
                </a:pPr>
                <a:r>
                  <a:rPr lang="zh-CN" altLang="en-US" sz="1800" b="1" dirty="0">
                    <a:solidFill>
                      <a:srgbClr val="0000FF"/>
                    </a:solidFill>
                    <a:latin typeface="Consolas" panose="020B0609020204030204" pitchFamily="49" charset="0"/>
                    <a:ea typeface="仿宋" panose="02010609060101010101" pitchFamily="49" charset="-122"/>
                    <a:cs typeface="Consolas" panose="020B0609020204030204" pitchFamily="49" charset="0"/>
                  </a:rPr>
                  <a:t>存储结构</a:t>
                </a:r>
                <a:r>
                  <a:rPr lang="en-US" altLang="zh-CN" sz="1800" b="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b="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 Box 8"/>
              <p:cNvSpPr txBox="1">
                <a:spLocks noChangeArrowheads="1"/>
              </p:cNvSpPr>
              <p:nvPr/>
            </p:nvSpPr>
            <p:spPr bwMode="auto">
              <a:xfrm>
                <a:off x="2285" y="1565"/>
                <a:ext cx="998" cy="198"/>
              </a:xfrm>
              <a:prstGeom prst="rect">
                <a:avLst/>
              </a:prstGeom>
              <a:noFill/>
              <a:ln w="9525">
                <a:noFill/>
                <a:miter lim="800000"/>
              </a:ln>
              <a:effectLst/>
            </p:spPr>
            <p:txBody>
              <a:bodyPr>
                <a:spAutoFit/>
              </a:bodyPr>
              <a:lstStyle/>
              <a:p>
                <a:pPr algn="l" eaLnBrk="1" hangingPunct="1">
                  <a:spcBef>
                    <a:spcPct val="50000"/>
                  </a:spcBef>
                  <a:buNone/>
                </a:pPr>
                <a:r>
                  <a:rPr lang="zh-CN" altLang="en-US" sz="1800" b="1" dirty="0">
                    <a:solidFill>
                      <a:srgbClr val="0000FF"/>
                    </a:solidFill>
                    <a:latin typeface="Consolas" panose="020B0609020204030204" pitchFamily="49" charset="0"/>
                    <a:ea typeface="仿宋" panose="02010609060101010101" pitchFamily="49" charset="-122"/>
                    <a:cs typeface="Consolas" panose="020B0609020204030204" pitchFamily="49" charset="0"/>
                  </a:rPr>
                  <a:t>存储结构</a:t>
                </a:r>
                <a:r>
                  <a:rPr lang="en-US" altLang="zh-CN" sz="1800" b="1"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en-US" altLang="zh-CN" sz="1800" b="1"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 Box 9"/>
              <p:cNvSpPr txBox="1">
                <a:spLocks noChangeArrowheads="1"/>
              </p:cNvSpPr>
              <p:nvPr/>
            </p:nvSpPr>
            <p:spPr bwMode="auto">
              <a:xfrm>
                <a:off x="1610" y="1583"/>
                <a:ext cx="499" cy="200"/>
              </a:xfrm>
              <a:prstGeom prst="rect">
                <a:avLst/>
              </a:prstGeom>
              <a:noFill/>
              <a:ln w="9525">
                <a:noFill/>
                <a:miter lim="800000"/>
              </a:ln>
              <a:effectLst/>
            </p:spPr>
            <p:txBody>
              <a:bodyPr>
                <a:spAutoFit/>
              </a:bodyPr>
              <a:lstStyle/>
              <a:p>
                <a:pPr algn="l" eaLnBrk="1" hangingPunct="1">
                  <a:spcBef>
                    <a:spcPct val="50000"/>
                  </a:spcBef>
                  <a:buNone/>
                </a:pPr>
                <a:r>
                  <a:rPr lang="en-US" altLang="zh-CN" sz="1800" dirty="0">
                    <a:solidFill>
                      <a:srgbClr val="0000FF"/>
                    </a:solidFill>
                    <a:latin typeface="宋体" panose="02010600030101010101" pitchFamily="2" charset="-122"/>
                    <a:ea typeface="宋体" panose="02010600030101010101" pitchFamily="2" charset="-122"/>
                    <a:cs typeface="Consolas" panose="020B0609020204030204" pitchFamily="49" charset="0"/>
                  </a:rPr>
                  <a:t>…</a:t>
                </a:r>
                <a:endParaRPr lang="en-US" altLang="zh-CN" sz="1800" dirty="0">
                  <a:solidFill>
                    <a:srgbClr val="0000FF"/>
                  </a:solidFill>
                  <a:latin typeface="宋体" panose="02010600030101010101" pitchFamily="2" charset="-122"/>
                  <a:ea typeface="宋体" panose="02010600030101010101" pitchFamily="2" charset="-122"/>
                  <a:cs typeface="Consolas" panose="020B0609020204030204" pitchFamily="49" charset="0"/>
                </a:endParaRPr>
              </a:p>
            </p:txBody>
          </p:sp>
        </p:grpSp>
      </p:grpSp>
      <p:grpSp>
        <p:nvGrpSpPr>
          <p:cNvPr id="15" name="Group 36"/>
          <p:cNvGrpSpPr/>
          <p:nvPr/>
        </p:nvGrpSpPr>
        <p:grpSpPr bwMode="auto">
          <a:xfrm>
            <a:off x="214282" y="2071706"/>
            <a:ext cx="6550025" cy="2513012"/>
            <a:chOff x="204" y="963"/>
            <a:chExt cx="4126" cy="1583"/>
          </a:xfrm>
        </p:grpSpPr>
        <p:sp>
          <p:nvSpPr>
            <p:cNvPr id="29" name="Text Box 10"/>
            <p:cNvSpPr txBox="1">
              <a:spLocks noChangeArrowheads="1"/>
            </p:cNvSpPr>
            <p:nvPr/>
          </p:nvSpPr>
          <p:spPr bwMode="auto">
            <a:xfrm>
              <a:off x="204" y="2296"/>
              <a:ext cx="726" cy="198"/>
            </a:xfrm>
            <a:prstGeom prst="rect">
              <a:avLst/>
            </a:prstGeom>
            <a:noFill/>
            <a:ln w="9525">
              <a:noFill/>
              <a:miter lim="800000"/>
            </a:ln>
            <a:effectLst/>
          </p:spPr>
          <p:txBody>
            <a:bodyPr>
              <a:spAutoFit/>
            </a:bodyPr>
            <a:lstStyle/>
            <a:p>
              <a:pPr algn="l" eaLnBrk="1" hangingPunct="1">
                <a:spcBef>
                  <a:spcPct val="50000"/>
                </a:spcBef>
                <a:buNone/>
              </a:pPr>
              <a:r>
                <a:rPr lang="zh-CN" altLang="en-US" sz="1800" b="1" dirty="0">
                  <a:solidFill>
                    <a:srgbClr val="0000FF"/>
                  </a:solidFill>
                  <a:latin typeface="Consolas" panose="020B0609020204030204" pitchFamily="49" charset="0"/>
                  <a:ea typeface="楷体" panose="02010609060101010101" pitchFamily="49" charset="-122"/>
                  <a:cs typeface="Consolas" panose="020B0609020204030204" pitchFamily="49" charset="0"/>
                </a:rPr>
                <a:t>算法</a:t>
              </a:r>
              <a:r>
                <a:rPr lang="en-US" altLang="zh-CN" sz="1800" b="1"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rPr>
                <a:t>11</a:t>
              </a:r>
              <a:endParaRPr lang="en-US" altLang="zh-CN" sz="1800" b="1"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0" name="Text Box 11"/>
            <p:cNvSpPr txBox="1">
              <a:spLocks noChangeArrowheads="1"/>
            </p:cNvSpPr>
            <p:nvPr/>
          </p:nvSpPr>
          <p:spPr bwMode="auto">
            <a:xfrm>
              <a:off x="839" y="2280"/>
              <a:ext cx="499" cy="244"/>
            </a:xfrm>
            <a:prstGeom prst="rect">
              <a:avLst/>
            </a:prstGeom>
            <a:noFill/>
            <a:ln w="9525">
              <a:noFill/>
              <a:miter lim="800000"/>
            </a:ln>
            <a:effectLst/>
          </p:spPr>
          <p:txBody>
            <a:bodyPr>
              <a:spAutoFit/>
            </a:bodyPr>
            <a:lstStyle/>
            <a:p>
              <a:pPr algn="l" eaLnBrk="1" hangingPunct="1">
                <a:spcBef>
                  <a:spcPct val="50000"/>
                </a:spcBef>
                <a:buNone/>
              </a:pPr>
              <a:r>
                <a:rPr lang="en-US" altLang="zh-CN" dirty="0">
                  <a:solidFill>
                    <a:srgbClr val="0033CC"/>
                  </a:solidFill>
                  <a:latin typeface="Consolas" panose="020B0609020204030204" pitchFamily="49" charset="0"/>
                  <a:ea typeface="楷体" panose="02010609060101010101" pitchFamily="49" charset="-122"/>
                  <a:cs typeface="Consolas" panose="020B0609020204030204" pitchFamily="49" charset="0"/>
                </a:rPr>
                <a:t>…</a:t>
              </a:r>
              <a:endParaRPr lang="en-US" altLang="zh-CN" dirty="0">
                <a:solidFill>
                  <a:srgbClr val="0033CC"/>
                </a:solidFill>
                <a:latin typeface="Consolas" panose="020B0609020204030204" pitchFamily="49" charset="0"/>
                <a:ea typeface="楷体" panose="02010609060101010101" pitchFamily="49" charset="-122"/>
                <a:cs typeface="Consolas" panose="020B0609020204030204" pitchFamily="49" charset="0"/>
              </a:endParaRPr>
            </a:p>
          </p:txBody>
        </p:sp>
        <p:sp>
          <p:nvSpPr>
            <p:cNvPr id="31" name="Text Box 12"/>
            <p:cNvSpPr txBox="1">
              <a:spLocks noChangeArrowheads="1"/>
            </p:cNvSpPr>
            <p:nvPr/>
          </p:nvSpPr>
          <p:spPr bwMode="auto">
            <a:xfrm>
              <a:off x="1156" y="2296"/>
              <a:ext cx="726" cy="198"/>
            </a:xfrm>
            <a:prstGeom prst="rect">
              <a:avLst/>
            </a:prstGeom>
            <a:noFill/>
            <a:ln w="9525">
              <a:noFill/>
              <a:miter lim="800000"/>
            </a:ln>
            <a:effectLst/>
          </p:spPr>
          <p:txBody>
            <a:bodyPr>
              <a:spAutoFit/>
            </a:bodyPr>
            <a:lstStyle/>
            <a:p>
              <a:pPr algn="l" eaLnBrk="1" hangingPunct="1">
                <a:spcBef>
                  <a:spcPct val="50000"/>
                </a:spcBef>
                <a:buNone/>
              </a:pPr>
              <a:r>
                <a:rPr lang="zh-CN" altLang="en-US" sz="1800" b="1" dirty="0">
                  <a:solidFill>
                    <a:srgbClr val="0000FF"/>
                  </a:solidFill>
                  <a:latin typeface="Consolas" panose="020B0609020204030204" pitchFamily="49" charset="0"/>
                  <a:ea typeface="楷体" panose="02010609060101010101" pitchFamily="49" charset="-122"/>
                  <a:cs typeface="Consolas" panose="020B0609020204030204" pitchFamily="49" charset="0"/>
                </a:rPr>
                <a:t>算法</a:t>
              </a:r>
              <a:r>
                <a:rPr lang="en-US" altLang="zh-CN" sz="1800" b="1" baseline="-25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1800" b="1" i="1" baseline="-25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m</a:t>
              </a:r>
              <a:endParaRPr lang="en-US" altLang="zh-CN" sz="1800" b="1" i="1"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2" name="Line 13"/>
            <p:cNvSpPr>
              <a:spLocks noChangeShapeType="1"/>
            </p:cNvSpPr>
            <p:nvPr/>
          </p:nvSpPr>
          <p:spPr bwMode="auto">
            <a:xfrm flipH="1">
              <a:off x="521" y="1863"/>
              <a:ext cx="223" cy="457"/>
            </a:xfrm>
            <a:prstGeom prst="line">
              <a:avLst/>
            </a:prstGeom>
            <a:noFill/>
            <a:ln w="28575">
              <a:solidFill>
                <a:srgbClr val="808000"/>
              </a:solidFill>
              <a:round/>
              <a:tailEnd type="triangle" w="med" len="med"/>
            </a:ln>
            <a:effectLst/>
          </p:spPr>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33" name="Line 14"/>
            <p:cNvSpPr>
              <a:spLocks noChangeShapeType="1"/>
            </p:cNvSpPr>
            <p:nvPr/>
          </p:nvSpPr>
          <p:spPr bwMode="auto">
            <a:xfrm>
              <a:off x="1020" y="1877"/>
              <a:ext cx="0" cy="408"/>
            </a:xfrm>
            <a:prstGeom prst="line">
              <a:avLst/>
            </a:prstGeom>
            <a:noFill/>
            <a:ln w="28575">
              <a:solidFill>
                <a:srgbClr val="808000"/>
              </a:solidFill>
              <a:round/>
              <a:tailEnd type="triangle" w="med" len="med"/>
            </a:ln>
            <a:effectLst/>
          </p:spPr>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34" name="Freeform 15"/>
            <p:cNvSpPr/>
            <p:nvPr/>
          </p:nvSpPr>
          <p:spPr bwMode="auto">
            <a:xfrm>
              <a:off x="1200" y="1880"/>
              <a:ext cx="240" cy="424"/>
            </a:xfrm>
            <a:custGeom>
              <a:avLst/>
              <a:gdLst/>
              <a:ahLst/>
              <a:cxnLst>
                <a:cxn ang="0">
                  <a:pos x="0" y="0"/>
                </a:cxn>
                <a:cxn ang="0">
                  <a:pos x="240" y="424"/>
                </a:cxn>
              </a:cxnLst>
              <a:rect l="0" t="0" r="r" b="b"/>
              <a:pathLst>
                <a:path w="240" h="424">
                  <a:moveTo>
                    <a:pt x="0" y="0"/>
                  </a:moveTo>
                  <a:lnTo>
                    <a:pt x="240" y="424"/>
                  </a:lnTo>
                </a:path>
              </a:pathLst>
            </a:custGeom>
            <a:noFill/>
            <a:ln w="28575" cap="flat" cmpd="sng">
              <a:solidFill>
                <a:srgbClr val="808000"/>
              </a:solidFill>
              <a:prstDash val="solid"/>
              <a:round/>
              <a:headEnd type="none" w="med" len="med"/>
              <a:tailEnd type="triangle" w="med" len="med"/>
            </a:ln>
            <a:effectLst/>
          </p:spPr>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35" name="Text Box 16"/>
            <p:cNvSpPr txBox="1">
              <a:spLocks noChangeArrowheads="1"/>
            </p:cNvSpPr>
            <p:nvPr/>
          </p:nvSpPr>
          <p:spPr bwMode="auto">
            <a:xfrm>
              <a:off x="1928" y="2318"/>
              <a:ext cx="726" cy="198"/>
            </a:xfrm>
            <a:prstGeom prst="rect">
              <a:avLst/>
            </a:prstGeom>
            <a:noFill/>
            <a:ln w="9525">
              <a:noFill/>
              <a:miter lim="800000"/>
            </a:ln>
            <a:effectLst/>
          </p:spPr>
          <p:txBody>
            <a:bodyPr>
              <a:spAutoFit/>
            </a:bodyPr>
            <a:lstStyle/>
            <a:p>
              <a:pPr algn="l" eaLnBrk="1" hangingPunct="1">
                <a:spcBef>
                  <a:spcPct val="50000"/>
                </a:spcBef>
                <a:buNone/>
              </a:pPr>
              <a:r>
                <a:rPr lang="zh-CN" altLang="en-US" sz="1800" b="1" dirty="0">
                  <a:solidFill>
                    <a:srgbClr val="0000FF"/>
                  </a:solidFill>
                  <a:latin typeface="Consolas" panose="020B0609020204030204" pitchFamily="49" charset="0"/>
                  <a:ea typeface="楷体" panose="02010609060101010101" pitchFamily="49" charset="-122"/>
                  <a:cs typeface="Consolas" panose="020B0609020204030204" pitchFamily="49" charset="0"/>
                </a:rPr>
                <a:t>算法</a:t>
              </a:r>
              <a:r>
                <a:rPr lang="en-US" altLang="zh-CN" sz="1800" b="1" i="1" baseline="-25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1800" b="1" baseline="-25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en-US" altLang="zh-CN" sz="1800" b="1"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 Box 17"/>
            <p:cNvSpPr txBox="1">
              <a:spLocks noChangeArrowheads="1"/>
            </p:cNvSpPr>
            <p:nvPr/>
          </p:nvSpPr>
          <p:spPr bwMode="auto">
            <a:xfrm>
              <a:off x="2590" y="2302"/>
              <a:ext cx="499" cy="244"/>
            </a:xfrm>
            <a:prstGeom prst="rect">
              <a:avLst/>
            </a:prstGeom>
            <a:noFill/>
            <a:ln w="9525">
              <a:noFill/>
              <a:miter lim="800000"/>
            </a:ln>
            <a:effectLst/>
          </p:spPr>
          <p:txBody>
            <a:bodyPr>
              <a:spAutoFit/>
            </a:bodyPr>
            <a:lstStyle/>
            <a:p>
              <a:pPr algn="l" eaLnBrk="1" hangingPunct="1">
                <a:spcBef>
                  <a:spcPct val="50000"/>
                </a:spcBef>
                <a:buNone/>
              </a:pPr>
              <a:r>
                <a:rPr lang="en-US" altLang="zh-CN" dirty="0">
                  <a:solidFill>
                    <a:srgbClr val="0033CC"/>
                  </a:solidFill>
                  <a:latin typeface="Consolas" panose="020B0609020204030204" pitchFamily="49" charset="0"/>
                  <a:ea typeface="楷体" panose="02010609060101010101" pitchFamily="49" charset="-122"/>
                  <a:cs typeface="Consolas" panose="020B0609020204030204" pitchFamily="49" charset="0"/>
                </a:rPr>
                <a:t>…</a:t>
              </a:r>
              <a:endParaRPr lang="en-US" altLang="zh-CN" dirty="0">
                <a:solidFill>
                  <a:srgbClr val="0033CC"/>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 Box 18"/>
            <p:cNvSpPr txBox="1">
              <a:spLocks noChangeArrowheads="1"/>
            </p:cNvSpPr>
            <p:nvPr/>
          </p:nvSpPr>
          <p:spPr bwMode="auto">
            <a:xfrm>
              <a:off x="2880" y="2318"/>
              <a:ext cx="726" cy="198"/>
            </a:xfrm>
            <a:prstGeom prst="rect">
              <a:avLst/>
            </a:prstGeom>
            <a:noFill/>
            <a:ln w="9525">
              <a:noFill/>
              <a:miter lim="800000"/>
            </a:ln>
            <a:effectLst/>
          </p:spPr>
          <p:txBody>
            <a:bodyPr>
              <a:spAutoFit/>
            </a:bodyPr>
            <a:lstStyle/>
            <a:p>
              <a:pPr algn="l" eaLnBrk="1" hangingPunct="1">
                <a:spcBef>
                  <a:spcPct val="50000"/>
                </a:spcBef>
                <a:buNone/>
              </a:pPr>
              <a:r>
                <a:rPr lang="zh-CN" altLang="en-US" sz="1800" b="1" dirty="0">
                  <a:solidFill>
                    <a:srgbClr val="0000FF"/>
                  </a:solidFill>
                  <a:latin typeface="Consolas" panose="020B0609020204030204" pitchFamily="49" charset="0"/>
                  <a:ea typeface="楷体" panose="02010609060101010101" pitchFamily="49" charset="-122"/>
                  <a:cs typeface="Consolas" panose="020B0609020204030204" pitchFamily="49" charset="0"/>
                </a:rPr>
                <a:t>算法</a:t>
              </a:r>
              <a:r>
                <a:rPr lang="en-US" altLang="zh-CN" sz="1800" b="1" i="1"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rPr>
                <a:t>nm</a:t>
              </a:r>
              <a:endParaRPr lang="en-US" altLang="zh-CN" sz="1800" b="1" i="1"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Line 19"/>
            <p:cNvSpPr>
              <a:spLocks noChangeShapeType="1"/>
            </p:cNvSpPr>
            <p:nvPr/>
          </p:nvSpPr>
          <p:spPr bwMode="auto">
            <a:xfrm flipH="1">
              <a:off x="2245" y="1908"/>
              <a:ext cx="254" cy="434"/>
            </a:xfrm>
            <a:prstGeom prst="line">
              <a:avLst/>
            </a:prstGeom>
            <a:noFill/>
            <a:ln w="28575">
              <a:solidFill>
                <a:srgbClr val="808000"/>
              </a:solidFill>
              <a:round/>
              <a:tailEnd type="triangle" w="med" len="med"/>
            </a:ln>
            <a:effectLst/>
          </p:spPr>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39" name="Line 20"/>
            <p:cNvSpPr>
              <a:spLocks noChangeShapeType="1"/>
            </p:cNvSpPr>
            <p:nvPr/>
          </p:nvSpPr>
          <p:spPr bwMode="auto">
            <a:xfrm>
              <a:off x="2744" y="1899"/>
              <a:ext cx="0" cy="408"/>
            </a:xfrm>
            <a:prstGeom prst="line">
              <a:avLst/>
            </a:prstGeom>
            <a:noFill/>
            <a:ln w="28575">
              <a:solidFill>
                <a:srgbClr val="808000"/>
              </a:solidFill>
              <a:round/>
              <a:tailEnd type="triangle" w="med" len="med"/>
            </a:ln>
            <a:effectLst/>
          </p:spPr>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40" name="Freeform 21"/>
            <p:cNvSpPr/>
            <p:nvPr/>
          </p:nvSpPr>
          <p:spPr bwMode="auto">
            <a:xfrm>
              <a:off x="2924" y="1902"/>
              <a:ext cx="240" cy="424"/>
            </a:xfrm>
            <a:custGeom>
              <a:avLst/>
              <a:gdLst/>
              <a:ahLst/>
              <a:cxnLst>
                <a:cxn ang="0">
                  <a:pos x="0" y="0"/>
                </a:cxn>
                <a:cxn ang="0">
                  <a:pos x="240" y="424"/>
                </a:cxn>
              </a:cxnLst>
              <a:rect l="0" t="0" r="r" b="b"/>
              <a:pathLst>
                <a:path w="240" h="424">
                  <a:moveTo>
                    <a:pt x="0" y="0"/>
                  </a:moveTo>
                  <a:lnTo>
                    <a:pt x="240" y="424"/>
                  </a:lnTo>
                </a:path>
              </a:pathLst>
            </a:custGeom>
            <a:noFill/>
            <a:ln w="28575" cap="flat" cmpd="sng">
              <a:solidFill>
                <a:srgbClr val="808000"/>
              </a:solidFill>
              <a:prstDash val="solid"/>
              <a:round/>
              <a:headEnd type="none" w="med" len="med"/>
              <a:tailEnd type="triangle" w="med" len="med"/>
            </a:ln>
            <a:effectLst/>
          </p:spPr>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41" name="Line 22"/>
            <p:cNvSpPr>
              <a:spLocks noChangeShapeType="1"/>
            </p:cNvSpPr>
            <p:nvPr/>
          </p:nvSpPr>
          <p:spPr bwMode="auto">
            <a:xfrm>
              <a:off x="4014" y="983"/>
              <a:ext cx="0" cy="1451"/>
            </a:xfrm>
            <a:prstGeom prst="line">
              <a:avLst/>
            </a:prstGeom>
            <a:noFill/>
            <a:ln w="19050">
              <a:solidFill>
                <a:srgbClr val="339933"/>
              </a:solidFill>
              <a:round/>
            </a:ln>
            <a:effectLst/>
          </p:spPr>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42" name="Line 23"/>
            <p:cNvSpPr>
              <a:spLocks noChangeShapeType="1"/>
            </p:cNvSpPr>
            <p:nvPr/>
          </p:nvSpPr>
          <p:spPr bwMode="auto">
            <a:xfrm flipH="1">
              <a:off x="3515" y="2432"/>
              <a:ext cx="499" cy="0"/>
            </a:xfrm>
            <a:prstGeom prst="line">
              <a:avLst/>
            </a:prstGeom>
            <a:noFill/>
            <a:ln w="19050">
              <a:solidFill>
                <a:srgbClr val="339933"/>
              </a:solidFill>
              <a:round/>
              <a:tailEnd type="triangle" w="med" len="med"/>
            </a:ln>
            <a:effectLst/>
          </p:spPr>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sp>
          <p:nvSpPr>
            <p:cNvPr id="43" name="Text Box 24"/>
            <p:cNvSpPr txBox="1">
              <a:spLocks noChangeArrowheads="1"/>
            </p:cNvSpPr>
            <p:nvPr/>
          </p:nvSpPr>
          <p:spPr bwMode="auto">
            <a:xfrm>
              <a:off x="4074" y="963"/>
              <a:ext cx="256" cy="747"/>
            </a:xfrm>
            <a:prstGeom prst="rect">
              <a:avLst/>
            </a:prstGeom>
            <a:noFill/>
            <a:ln w="9525">
              <a:noFill/>
              <a:miter lim="800000"/>
            </a:ln>
            <a:effectLst/>
          </p:spPr>
          <p:txBody>
            <a:bodyPr vert="eaVert" wrap="square">
              <a:spAutoFit/>
            </a:bodyPr>
            <a:lstStyle/>
            <a:p>
              <a:pPr algn="l" eaLnBrk="1" hangingPunct="1">
                <a:spcBef>
                  <a:spcPct val="50000"/>
                </a:spcBef>
                <a:buNone/>
              </a:pPr>
              <a:r>
                <a:rPr lang="zh-CN" altLang="en-US" sz="1800">
                  <a:solidFill>
                    <a:srgbClr val="FF00FF"/>
                  </a:solidFill>
                  <a:latin typeface="Consolas" panose="020B0609020204030204" pitchFamily="49" charset="0"/>
                  <a:ea typeface="仿宋" panose="02010609060101010101" pitchFamily="49" charset="-122"/>
                  <a:cs typeface="Consolas" panose="020B0609020204030204" pitchFamily="49" charset="0"/>
                </a:rPr>
                <a:t>运算实现</a:t>
              </a:r>
              <a:endParaRPr lang="zh-CN" altLang="en-US" sz="180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20" name="Group 37"/>
          <p:cNvGrpSpPr/>
          <p:nvPr/>
        </p:nvGrpSpPr>
        <p:grpSpPr bwMode="auto">
          <a:xfrm>
            <a:off x="908019" y="4922856"/>
            <a:ext cx="4464050" cy="1346200"/>
            <a:chOff x="612" y="2750"/>
            <a:chExt cx="2812" cy="848"/>
          </a:xfrm>
        </p:grpSpPr>
        <p:sp>
          <p:nvSpPr>
            <p:cNvPr id="45" name="AutoShape 25"/>
            <p:cNvSpPr/>
            <p:nvPr/>
          </p:nvSpPr>
          <p:spPr bwMode="auto">
            <a:xfrm rot="16200000">
              <a:off x="1950" y="1412"/>
              <a:ext cx="136" cy="2812"/>
            </a:xfrm>
            <a:prstGeom prst="leftBrace">
              <a:avLst>
                <a:gd name="adj1" fmla="val 172304"/>
                <a:gd name="adj2" fmla="val 50000"/>
              </a:avLst>
            </a:prstGeom>
            <a:noFill/>
            <a:ln w="28575">
              <a:solidFill>
                <a:schemeClr val="tx1"/>
              </a:solidFill>
              <a:round/>
            </a:ln>
            <a:effectLst/>
          </p:spPr>
          <p:txBody>
            <a:bodyPr wrap="none" anchor="ctr"/>
            <a:lstStyle/>
            <a:p>
              <a:pPr>
                <a:buNone/>
              </a:pPr>
              <a:endParaRPr lang="zh-CN" altLang="en-US">
                <a:latin typeface="Consolas" panose="020B0609020204030204" pitchFamily="49" charset="0"/>
                <a:cs typeface="Consolas" panose="020B0609020204030204" pitchFamily="49" charset="0"/>
              </a:endParaRPr>
            </a:p>
          </p:txBody>
        </p:sp>
        <p:sp>
          <p:nvSpPr>
            <p:cNvPr id="46" name="Text Box 26"/>
            <p:cNvSpPr txBox="1">
              <a:spLocks noChangeArrowheads="1"/>
            </p:cNvSpPr>
            <p:nvPr/>
          </p:nvSpPr>
          <p:spPr bwMode="auto">
            <a:xfrm>
              <a:off x="1610" y="3385"/>
              <a:ext cx="998" cy="213"/>
            </a:xfrm>
            <a:prstGeom prst="rect">
              <a:avLst/>
            </a:prstGeom>
            <a:noFill/>
            <a:ln w="9525">
              <a:noFill/>
              <a:miter lim="800000"/>
            </a:ln>
            <a:effectLst/>
          </p:spPr>
          <p:txBody>
            <a:bodyPr>
              <a:spAutoFit/>
            </a:bodyPr>
            <a:lstStyle/>
            <a:p>
              <a:pPr algn="l" eaLnBrk="1" hangingPunct="1">
                <a:spcBef>
                  <a:spcPct val="50000"/>
                </a:spcBef>
                <a:buNone/>
              </a:pPr>
              <a:r>
                <a:rPr lang="zh-CN" altLang="en-US" sz="2000">
                  <a:solidFill>
                    <a:srgbClr val="FF3300"/>
                  </a:solidFill>
                  <a:latin typeface="微软雅黑" panose="020B0503020204020204" pitchFamily="34" charset="-122"/>
                  <a:ea typeface="微软雅黑" panose="020B0503020204020204" pitchFamily="34" charset="-122"/>
                  <a:cs typeface="Consolas" panose="020B0609020204030204" pitchFamily="49" charset="0"/>
                </a:rPr>
                <a:t>最佳算法</a:t>
              </a:r>
              <a:endParaRPr lang="zh-CN" altLang="en-US" sz="2000" baseline="-25000">
                <a:solidFill>
                  <a:srgbClr val="FF33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47" name="AutoShape 27"/>
            <p:cNvSpPr>
              <a:spLocks noChangeArrowheads="1"/>
            </p:cNvSpPr>
            <p:nvPr/>
          </p:nvSpPr>
          <p:spPr bwMode="auto">
            <a:xfrm>
              <a:off x="1927" y="2976"/>
              <a:ext cx="227" cy="363"/>
            </a:xfrm>
            <a:prstGeom prst="downArrow">
              <a:avLst>
                <a:gd name="adj1" fmla="val 50000"/>
                <a:gd name="adj2" fmla="val 39978"/>
              </a:avLst>
            </a:prstGeom>
          </p:spPr>
          <p:style>
            <a:lnRef idx="1">
              <a:schemeClr val="accent2"/>
            </a:lnRef>
            <a:fillRef idx="3">
              <a:schemeClr val="accent2"/>
            </a:fillRef>
            <a:effectRef idx="2">
              <a:schemeClr val="accent2"/>
            </a:effectRef>
            <a:fontRef idx="minor">
              <a:schemeClr val="lt1"/>
            </a:fontRef>
          </p:style>
          <p:txBody>
            <a:bodyPr wrap="none" anchor="ctr"/>
            <a:lstStyle/>
            <a:p>
              <a:pPr>
                <a:buNone/>
              </a:pPr>
              <a:endParaRPr lang="zh-CN" altLang="en-US">
                <a:latin typeface="Consolas" panose="020B0609020204030204" pitchFamily="49" charset="0"/>
                <a:cs typeface="Consolas" panose="020B0609020204030204" pitchFamily="49" charset="0"/>
              </a:endParaRPr>
            </a:p>
          </p:txBody>
        </p:sp>
        <p:sp>
          <p:nvSpPr>
            <p:cNvPr id="48" name="Text Box 28"/>
            <p:cNvSpPr txBox="1">
              <a:spLocks noChangeArrowheads="1"/>
            </p:cNvSpPr>
            <p:nvPr/>
          </p:nvSpPr>
          <p:spPr bwMode="auto">
            <a:xfrm>
              <a:off x="2245" y="3021"/>
              <a:ext cx="953" cy="198"/>
            </a:xfrm>
            <a:prstGeom prst="rect">
              <a:avLst/>
            </a:prstGeom>
            <a:noFill/>
            <a:ln w="9525">
              <a:noFill/>
              <a:miter lim="800000"/>
            </a:ln>
            <a:effectLst/>
          </p:spPr>
          <p:txBody>
            <a:bodyPr>
              <a:spAutoFit/>
            </a:bodyPr>
            <a:lstStyle/>
            <a:p>
              <a:pPr algn="l" eaLnBrk="1" hangingPunct="1">
                <a:spcBef>
                  <a:spcPct val="50000"/>
                </a:spcBef>
                <a:buNone/>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算法分析</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21" name="组合 48"/>
          <p:cNvGrpSpPr/>
          <p:nvPr/>
        </p:nvGrpSpPr>
        <p:grpSpPr>
          <a:xfrm>
            <a:off x="1643042" y="5087958"/>
            <a:ext cx="7358114" cy="1270000"/>
            <a:chOff x="2008187" y="4670452"/>
            <a:chExt cx="7358114" cy="1270000"/>
          </a:xfrm>
        </p:grpSpPr>
        <p:sp>
          <p:nvSpPr>
            <p:cNvPr id="50" name="Rectangle 51"/>
            <p:cNvSpPr>
              <a:spLocks noChangeArrowheads="1"/>
            </p:cNvSpPr>
            <p:nvPr/>
          </p:nvSpPr>
          <p:spPr bwMode="auto">
            <a:xfrm>
              <a:off x="2008187" y="4670452"/>
              <a:ext cx="3492507" cy="1270000"/>
            </a:xfrm>
            <a:prstGeom prst="rect">
              <a:avLst/>
            </a:prstGeom>
            <a:solidFill>
              <a:schemeClr val="accent1">
                <a:alpha val="0"/>
              </a:schemeClr>
            </a:solidFill>
            <a:ln w="28575">
              <a:solidFill>
                <a:srgbClr val="A50021"/>
              </a:solidFill>
              <a:prstDash val="sysDot"/>
              <a:miter lim="800000"/>
            </a:ln>
            <a:effectLst/>
          </p:spPr>
          <p:txBody>
            <a:bodyPr wrap="none" anchor="ctr"/>
            <a:lstStyle/>
            <a:p>
              <a:pPr>
                <a:buNone/>
              </a:pPr>
              <a:endParaRPr lang="zh-CN" altLang="en-US" dirty="0">
                <a:latin typeface="Consolas" panose="020B0609020204030204" pitchFamily="49" charset="0"/>
                <a:ea typeface="楷体" panose="02010609060101010101" pitchFamily="49" charset="-122"/>
                <a:cs typeface="Consolas" panose="020B0609020204030204" pitchFamily="49" charset="0"/>
              </a:endParaRPr>
            </a:p>
          </p:txBody>
        </p:sp>
        <p:sp>
          <p:nvSpPr>
            <p:cNvPr id="51" name="Text Box 41"/>
            <p:cNvSpPr txBox="1">
              <a:spLocks noChangeArrowheads="1"/>
            </p:cNvSpPr>
            <p:nvPr/>
          </p:nvSpPr>
          <p:spPr bwMode="auto">
            <a:xfrm>
              <a:off x="7561313" y="4968902"/>
              <a:ext cx="1804988" cy="401442"/>
            </a:xfrm>
            <a:prstGeom prst="rect">
              <a:avLst/>
            </a:prstGeom>
          </p:spPr>
          <p:style>
            <a:lnRef idx="1">
              <a:schemeClr val="accent3"/>
            </a:lnRef>
            <a:fillRef idx="2">
              <a:schemeClr val="accent3"/>
            </a:fillRef>
            <a:effectRef idx="1">
              <a:schemeClr val="accent3"/>
            </a:effectRef>
            <a:fontRef idx="minor">
              <a:schemeClr val="dk1"/>
            </a:fontRef>
          </p:style>
          <p:txBody>
            <a:bodyPr tIns="108000">
              <a:spAutoFit/>
            </a:bodyPr>
            <a:lstStyle/>
            <a:p>
              <a:pPr eaLnBrk="1" hangingPunct="1">
                <a:spcBef>
                  <a:spcPct val="50000"/>
                </a:spcBef>
                <a:buNone/>
              </a:pPr>
              <a:r>
                <a:rPr lang="en-US" altLang="zh-CN" sz="2000" b="1" smtClean="0">
                  <a:solidFill>
                    <a:srgbClr val="0000FF"/>
                  </a:solidFill>
                  <a:latin typeface="仿宋" panose="02010609060101010101" pitchFamily="49" charset="-122"/>
                  <a:ea typeface="仿宋" panose="02010609060101010101" pitchFamily="49" charset="-122"/>
                  <a:cs typeface="Consolas" panose="020B0609020204030204" pitchFamily="49" charset="0"/>
                  <a:sym typeface="Wingdings" panose="05000000000000000000"/>
                </a:rPr>
                <a:t></a:t>
              </a:r>
              <a:r>
                <a:rPr lang="en-US" altLang="zh-CN" sz="2000" b="1" smtClean="0">
                  <a:solidFill>
                    <a:srgbClr val="0000FF"/>
                  </a:solidFill>
                  <a:latin typeface="仿宋" panose="02010609060101010101" pitchFamily="49" charset="-122"/>
                  <a:ea typeface="仿宋" panose="02010609060101010101" pitchFamily="49" charset="-122"/>
                  <a:cs typeface="Consolas" panose="020B0609020204030204" pitchFamily="49" charset="0"/>
                </a:rPr>
                <a:t> </a:t>
              </a:r>
              <a:r>
                <a:rPr lang="zh-CN" altLang="en-US" sz="2000" b="1" smtClean="0">
                  <a:solidFill>
                    <a:srgbClr val="0000FF"/>
                  </a:solidFill>
                  <a:latin typeface="仿宋" panose="02010609060101010101" pitchFamily="49" charset="-122"/>
                  <a:ea typeface="仿宋" panose="02010609060101010101" pitchFamily="49" charset="-122"/>
                  <a:cs typeface="Consolas" panose="020B0609020204030204" pitchFamily="49" charset="0"/>
                </a:rPr>
                <a:t>算法分析</a:t>
              </a:r>
              <a:endParaRPr lang="zh-CN" altLang="en-US" sz="2000" b="1"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52" name="Line 52"/>
            <p:cNvSpPr>
              <a:spLocks noChangeShapeType="1"/>
            </p:cNvSpPr>
            <p:nvPr/>
          </p:nvSpPr>
          <p:spPr bwMode="auto">
            <a:xfrm flipV="1">
              <a:off x="5495960" y="5154634"/>
              <a:ext cx="2084391" cy="19056"/>
            </a:xfrm>
            <a:prstGeom prst="line">
              <a:avLst/>
            </a:prstGeom>
            <a:ln w="28575">
              <a:tailEnd type="triangle" w="med" len="med"/>
            </a:ln>
          </p:spPr>
          <p:style>
            <a:lnRef idx="1">
              <a:schemeClr val="accent5"/>
            </a:lnRef>
            <a:fillRef idx="0">
              <a:schemeClr val="accent5"/>
            </a:fillRef>
            <a:effectRef idx="0">
              <a:schemeClr val="accent5"/>
            </a:effectRef>
            <a:fontRef idx="minor">
              <a:schemeClr val="tx1"/>
            </a:fontRef>
          </p:style>
          <p:txBody>
            <a:bodyPr wrap="none" anchor="ctr"/>
            <a:lstStyle/>
            <a:p>
              <a:pPr>
                <a:buNone/>
              </a:pPr>
              <a:endParaRPr lang="zh-CN" altLang="en-US">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357158" y="916528"/>
            <a:ext cx="285752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华文中宋" panose="02010600040101010101" pitchFamily="2" charset="-122"/>
                <a:ea typeface="华文中宋" panose="02010600040101010101" pitchFamily="2" charset="-122"/>
              </a:rPr>
              <a:t>好算法</a:t>
            </a:r>
            <a:r>
              <a:rPr lang="zh-CN" altLang="en-US" sz="2000" smtClean="0">
                <a:solidFill>
                  <a:srgbClr val="0000FF"/>
                </a:solidFill>
                <a:latin typeface="华文中宋" panose="02010600040101010101" pitchFamily="2" charset="-122"/>
                <a:ea typeface="华文中宋" panose="02010600040101010101" pitchFamily="2" charset="-122"/>
              </a:rPr>
              <a:t>设计</a:t>
            </a:r>
            <a:r>
              <a:rPr lang="zh-CN" altLang="zh-CN" sz="2000" smtClean="0">
                <a:solidFill>
                  <a:srgbClr val="0000FF"/>
                </a:solidFill>
                <a:latin typeface="华文中宋" panose="02010600040101010101" pitchFamily="2" charset="-122"/>
                <a:ea typeface="华文中宋" panose="02010600040101010101" pitchFamily="2" charset="-122"/>
              </a:rPr>
              <a:t>的过程</a:t>
            </a:r>
            <a:endParaRPr lang="zh-CN" altLang="en-US" sz="2000" smtClean="0">
              <a:solidFill>
                <a:srgbClr val="0000FF"/>
              </a:solidFill>
              <a:latin typeface="华文中宋" panose="02010600040101010101" pitchFamily="2" charset="-122"/>
              <a:ea typeface="华文中宋" panose="02010600040101010101" pitchFamily="2" charset="-122"/>
            </a:endParaRPr>
          </a:p>
        </p:txBody>
      </p:sp>
      <p:sp>
        <p:nvSpPr>
          <p:cNvPr id="60" name="灯片编号占位符 59"/>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85720" y="571480"/>
            <a:ext cx="8001056" cy="1246495"/>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语言实现抽象数据类型时，通常将一个抽象数据类型设计成一个</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类，采用类的数据变量表示数据的存储结构，将抽象运算通过类的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公有</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方法实现。</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314" name="Rectangle 1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5312" name="Text Box 16"/>
          <p:cNvSpPr txBox="1">
            <a:spLocks noChangeArrowheads="1"/>
          </p:cNvSpPr>
          <p:nvPr/>
        </p:nvSpPr>
        <p:spPr bwMode="auto">
          <a:xfrm>
            <a:off x="620336" y="2502730"/>
            <a:ext cx="1848388" cy="390808"/>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抽象数据类型</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11" name="Rectangle 15"/>
          <p:cNvSpPr>
            <a:spLocks noChangeArrowheads="1"/>
          </p:cNvSpPr>
          <p:nvPr/>
        </p:nvSpPr>
        <p:spPr bwMode="auto">
          <a:xfrm>
            <a:off x="5432411" y="2828404"/>
            <a:ext cx="2857169" cy="1743604"/>
          </a:xfrm>
          <a:prstGeom prst="rect">
            <a:avLst/>
          </a:prstGeom>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310" name="Rectangle 14"/>
          <p:cNvSpPr>
            <a:spLocks noChangeArrowheads="1"/>
          </p:cNvSpPr>
          <p:nvPr/>
        </p:nvSpPr>
        <p:spPr bwMode="auto">
          <a:xfrm>
            <a:off x="4680524" y="3136541"/>
            <a:ext cx="1421066" cy="42588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18000" rIns="0" bIns="0" numCol="1" anchor="t" anchorCtr="0" compatLnSpc="1"/>
          <a:lstStyle/>
          <a:p>
            <a:pPr marL="0" marR="0" lvl="0" indent="0" algn="ctr" defTabSz="914400" rtl="0" eaLnBrk="1" fontAlgn="base" latinLnBrk="0" hangingPunct="1">
              <a:lnSpc>
                <a:spcPts val="25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成员变量</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09" name="Rectangle 13"/>
          <p:cNvSpPr>
            <a:spLocks noChangeArrowheads="1"/>
          </p:cNvSpPr>
          <p:nvPr/>
        </p:nvSpPr>
        <p:spPr bwMode="auto">
          <a:xfrm>
            <a:off x="4680524" y="3918156"/>
            <a:ext cx="1634100" cy="42588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18000" rIns="0" bIns="0" numCol="1" anchor="t" anchorCtr="0" compatLnSpc="1"/>
          <a:lstStyle/>
          <a:p>
            <a:pPr marL="0" marR="0" lvl="0" indent="0" algn="ctr" defTabSz="914400" rtl="0" eaLnBrk="1" fontAlgn="base" latinLnBrk="0" hangingPunct="1">
              <a:lnSpc>
                <a:spcPts val="2500"/>
              </a:lnSpc>
              <a:spcBef>
                <a:spcPct val="0"/>
              </a:spcBef>
              <a:spcAft>
                <a:spcPct val="0"/>
              </a:spcAft>
              <a:buClrTx/>
              <a:buSzTx/>
              <a:buFontTx/>
              <a:buNone/>
            </a:pPr>
            <a:r>
              <a:rPr kumimoji="0"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公有</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方法</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08" name="Rectangle 12"/>
          <p:cNvSpPr>
            <a:spLocks noChangeArrowheads="1"/>
          </p:cNvSpPr>
          <p:nvPr/>
        </p:nvSpPr>
        <p:spPr bwMode="auto">
          <a:xfrm>
            <a:off x="6709365" y="3367017"/>
            <a:ext cx="1137855" cy="425880"/>
          </a:xfrm>
          <a:prstGeom prst="rect">
            <a:avLst/>
          </a:prstGeom>
          <a:solidFill>
            <a:srgbClr val="FFFFFF"/>
          </a:solidFill>
          <a:ln w="9525">
            <a:noFill/>
            <a:miter lim="800000"/>
          </a:ln>
        </p:spPr>
        <p:txBody>
          <a:bodyPr vert="horz" wrap="square" lIns="36000" tIns="1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其他</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07" name="Rectangle 11"/>
          <p:cNvSpPr>
            <a:spLocks noChangeArrowheads="1"/>
          </p:cNvSpPr>
          <p:nvPr/>
        </p:nvSpPr>
        <p:spPr bwMode="auto">
          <a:xfrm>
            <a:off x="5912365" y="2357430"/>
            <a:ext cx="1231403" cy="425880"/>
          </a:xfrm>
          <a:prstGeom prst="rect">
            <a:avLst/>
          </a:prstGeom>
          <a:solidFill>
            <a:srgbClr val="FFFFFF"/>
          </a:solidFill>
          <a:ln w="9525">
            <a:noFill/>
            <a:miter lim="800000"/>
          </a:ln>
        </p:spPr>
        <p:txBody>
          <a:bodyPr vert="horz" wrap="square" lIns="36000" tIns="1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C++</a:t>
            </a:r>
            <a:r>
              <a:rPr kumimoji="0" lang="zh-CN" altLang="en-US"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类</a:t>
            </a:r>
            <a:endParaRPr kumimoji="0" lang="zh-CN" altLang="en-US"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06" name="Text Box 10"/>
          <p:cNvSpPr txBox="1">
            <a:spLocks noChangeArrowheads="1"/>
          </p:cNvSpPr>
          <p:nvPr/>
        </p:nvSpPr>
        <p:spPr bwMode="auto">
          <a:xfrm>
            <a:off x="500034" y="3184139"/>
            <a:ext cx="1804528" cy="390808"/>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数据的逻辑结构</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05" name="Text Box 9"/>
          <p:cNvSpPr txBox="1">
            <a:spLocks noChangeArrowheads="1"/>
          </p:cNvSpPr>
          <p:nvPr/>
        </p:nvSpPr>
        <p:spPr bwMode="auto">
          <a:xfrm>
            <a:off x="830864" y="3920662"/>
            <a:ext cx="1127830" cy="39206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抽象运算</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04" name="Line 8"/>
          <p:cNvSpPr>
            <a:spLocks noChangeShapeType="1"/>
          </p:cNvSpPr>
          <p:nvPr/>
        </p:nvSpPr>
        <p:spPr bwMode="auto">
          <a:xfrm>
            <a:off x="2204310" y="3383301"/>
            <a:ext cx="2486239" cy="1253"/>
          </a:xfrm>
          <a:prstGeom prst="line">
            <a:avLst/>
          </a:prstGeom>
          <a:ln>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303" name="Rectangle 7"/>
          <p:cNvSpPr>
            <a:spLocks noChangeArrowheads="1"/>
          </p:cNvSpPr>
          <p:nvPr/>
        </p:nvSpPr>
        <p:spPr bwMode="auto">
          <a:xfrm>
            <a:off x="2304562" y="3058880"/>
            <a:ext cx="2030094" cy="2843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映射成存储结构</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02" name="Line 6"/>
          <p:cNvSpPr>
            <a:spLocks noChangeShapeType="1"/>
          </p:cNvSpPr>
          <p:nvPr/>
        </p:nvSpPr>
        <p:spPr bwMode="auto">
          <a:xfrm flipV="1">
            <a:off x="2214545" y="4137360"/>
            <a:ext cx="2484775" cy="6020"/>
          </a:xfrm>
          <a:prstGeom prst="line">
            <a:avLst/>
          </a:prstGeom>
          <a:ln>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301" name="Rectangle 5"/>
          <p:cNvSpPr>
            <a:spLocks noChangeArrowheads="1"/>
          </p:cNvSpPr>
          <p:nvPr/>
        </p:nvSpPr>
        <p:spPr bwMode="auto">
          <a:xfrm>
            <a:off x="2304562" y="3810434"/>
            <a:ext cx="2030094" cy="2843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抽象运算的实现</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300" name="Rectangle 4"/>
          <p:cNvSpPr>
            <a:spLocks noChangeArrowheads="1"/>
          </p:cNvSpPr>
          <p:nvPr/>
        </p:nvSpPr>
        <p:spPr bwMode="auto">
          <a:xfrm>
            <a:off x="1220592" y="3610019"/>
            <a:ext cx="238097" cy="2843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299" name="Line 3"/>
          <p:cNvSpPr>
            <a:spLocks noChangeShapeType="1"/>
          </p:cNvSpPr>
          <p:nvPr/>
        </p:nvSpPr>
        <p:spPr bwMode="auto">
          <a:xfrm>
            <a:off x="1270718" y="2923600"/>
            <a:ext cx="1253" cy="195404"/>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298" name="Line 2"/>
          <p:cNvSpPr>
            <a:spLocks noChangeShapeType="1"/>
          </p:cNvSpPr>
          <p:nvPr/>
        </p:nvSpPr>
        <p:spPr bwMode="auto">
          <a:xfrm>
            <a:off x="1333375" y="2923600"/>
            <a:ext cx="1253" cy="195404"/>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矩形 23"/>
          <p:cNvSpPr/>
          <p:nvPr/>
        </p:nvSpPr>
        <p:spPr>
          <a:xfrm>
            <a:off x="285720" y="2285992"/>
            <a:ext cx="1928826" cy="2214578"/>
          </a:xfrm>
          <a:prstGeom prst="rect">
            <a:avLst/>
          </a:prstGeom>
          <a:solidFill>
            <a:schemeClr val="accent1">
              <a:alpha val="0"/>
            </a:schemeClr>
          </a:solid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灯片编号占位符 28"/>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71472" y="714356"/>
            <a:ext cx="4786346"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存储结构对算法的影响主要在两方面：</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642910" y="1428736"/>
            <a:ext cx="5857916" cy="987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ct val="1000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存储结构的存储能力</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存储结构应与所选择的算法相适应</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571480"/>
            <a:ext cx="8072494"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1.15</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设计一个完整的程序实现例</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的抽象数据类型，并用相关数据进行测试。</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10"/>
          <p:cNvGrpSpPr/>
          <p:nvPr/>
        </p:nvGrpSpPr>
        <p:grpSpPr>
          <a:xfrm>
            <a:off x="500034" y="1643050"/>
            <a:ext cx="8358246" cy="3962777"/>
            <a:chOff x="500034" y="1643050"/>
            <a:chExt cx="8358246" cy="3962777"/>
          </a:xfrm>
        </p:grpSpPr>
        <p:sp>
          <p:nvSpPr>
            <p:cNvPr id="7" name="TextBox 6"/>
            <p:cNvSpPr txBox="1"/>
            <p:nvPr/>
          </p:nvSpPr>
          <p:spPr>
            <a:xfrm>
              <a:off x="714348" y="1643050"/>
              <a:ext cx="2000264" cy="441339"/>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华文中宋" panose="02010600040101010101" pitchFamily="2" charset="-122"/>
                  <a:ea typeface="华文中宋" panose="02010600040101010101" pitchFamily="2" charset="-122"/>
                  <a:sym typeface="Wingdings" panose="05000000000000000000"/>
                </a:rPr>
                <a:t></a:t>
              </a:r>
              <a:r>
                <a:rPr lang="en-US" altLang="zh-CN" sz="2000" smtClean="0">
                  <a:solidFill>
                    <a:srgbClr val="FF0000"/>
                  </a:solidFill>
                  <a:latin typeface="华文中宋" panose="02010600040101010101" pitchFamily="2" charset="-122"/>
                  <a:ea typeface="华文中宋" panose="02010600040101010101" pitchFamily="2" charset="-122"/>
                </a:rPr>
                <a:t> </a:t>
              </a:r>
              <a:r>
                <a:rPr lang="zh-CN" altLang="zh-CN" sz="2000" smtClean="0">
                  <a:solidFill>
                    <a:srgbClr val="FF0000"/>
                  </a:solidFill>
                  <a:latin typeface="华文中宋" panose="02010600040101010101" pitchFamily="2" charset="-122"/>
                  <a:ea typeface="华文中宋" panose="02010600040101010101" pitchFamily="2" charset="-122"/>
                </a:rPr>
                <a:t>问题描述</a:t>
              </a:r>
              <a:endParaRPr lang="zh-CN" altLang="zh-CN" sz="2000" smtClean="0">
                <a:solidFill>
                  <a:srgbClr val="FF0000"/>
                </a:solidFill>
                <a:latin typeface="华文中宋" panose="02010600040101010101" pitchFamily="2" charset="-122"/>
                <a:ea typeface="华文中宋" panose="02010600040101010101" pitchFamily="2" charset="-122"/>
              </a:endParaRPr>
            </a:p>
          </p:txBody>
        </p:sp>
        <p:sp>
          <p:nvSpPr>
            <p:cNvPr id="8" name="TextBox 7"/>
            <p:cNvSpPr txBox="1"/>
            <p:nvPr/>
          </p:nvSpPr>
          <p:spPr>
            <a:xfrm>
              <a:off x="500034" y="2393537"/>
              <a:ext cx="8358246" cy="321229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12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【例</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1.6</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构造集合</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ADT Set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，假设其中元素为整型，遵循标准数学定义，基本运算包括</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3000"/>
                </a:lnSpc>
                <a:spcBef>
                  <a:spcPts val="12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求集合长度、求第</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个元素、判断一个元素是否属于集合、向集合中添加一个元素、从集合中删除一个元素、复制集合和输出集合中所有元素。</a:t>
              </a:r>
              <a:endPar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12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另外增加</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个集合运算</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3000"/>
                </a:lnSpc>
                <a:spcBef>
                  <a:spcPts val="12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求两个集合并</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Union</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、集合交</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Inter</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和集合差</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Diff</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环形箭头 9"/>
            <p:cNvSpPr/>
            <p:nvPr/>
          </p:nvSpPr>
          <p:spPr>
            <a:xfrm rot="3860415">
              <a:off x="2195786" y="1876584"/>
              <a:ext cx="357190" cy="500066"/>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gr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571472" y="357166"/>
            <a:ext cx="8215370" cy="56683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ADT Set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集合的抽象数据类型</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数据对象</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0</a:t>
            </a:r>
            <a:r>
              <a:rPr lang="zh-CN" altLang="zh-CN" sz="1800" smtClean="0">
                <a:solidFill>
                  <a:srgbClr val="0000FF"/>
                </a:solidFill>
                <a:latin typeface="+mn-ea"/>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00FF"/>
                </a:solidFill>
                <a:latin typeface="+mj-ea"/>
                <a:ea typeface="+mj-ea"/>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size-1 }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存放集合中元素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数据关系：</a:t>
            </a:r>
            <a:endPar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无</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基本运算</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getsize()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返回集合的长度</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get(int 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返回集合的第</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个元素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IsIn(E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判断</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是否在集合中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add(E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将元素</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添加到集合中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delete(E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从集合中删除元素</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Copy(s)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返回当前集合的复制集合</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display()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输出集合中的元素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Union(Set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 (s1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Inter(Set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 (s1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Diff(Set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s3=s1-s2 (s1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ADT Set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71472" y="428604"/>
            <a:ext cx="2714644" cy="437877"/>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华文中宋" panose="02010600040101010101" pitchFamily="2" charset="-122"/>
                <a:ea typeface="华文中宋" panose="02010600040101010101" pitchFamily="2" charset="-122"/>
                <a:sym typeface="Wingdings" panose="05000000000000000000"/>
              </a:rPr>
              <a:t></a:t>
            </a:r>
            <a:r>
              <a:rPr lang="en-US" altLang="zh-CN" sz="2000" smtClean="0">
                <a:solidFill>
                  <a:srgbClr val="FF0000"/>
                </a:solidFill>
                <a:latin typeface="华文中宋" panose="02010600040101010101" pitchFamily="2" charset="-122"/>
                <a:ea typeface="华文中宋" panose="02010600040101010101" pitchFamily="2" charset="-122"/>
              </a:rPr>
              <a:t> </a:t>
            </a:r>
            <a:r>
              <a:rPr lang="zh-CN" altLang="zh-CN" sz="2000" smtClean="0">
                <a:solidFill>
                  <a:srgbClr val="FF0000"/>
                </a:solidFill>
                <a:latin typeface="华文中宋" panose="02010600040101010101" pitchFamily="2" charset="-122"/>
                <a:ea typeface="华文中宋" panose="02010600040101010101" pitchFamily="2" charset="-122"/>
              </a:rPr>
              <a:t>设计存储结构</a:t>
            </a:r>
            <a:endParaRPr lang="zh-CN" altLang="zh-CN" sz="2000" smtClean="0">
              <a:solidFill>
                <a:srgbClr val="FF0000"/>
              </a:solidFill>
              <a:latin typeface="华文中宋" panose="02010600040101010101" pitchFamily="2" charset="-122"/>
              <a:ea typeface="华文中宋" panose="02010600040101010101" pitchFamily="2" charset="-122"/>
            </a:endParaRPr>
          </a:p>
        </p:txBody>
      </p:sp>
      <p:sp>
        <p:nvSpPr>
          <p:cNvPr id="7" name="TextBox 6"/>
          <p:cNvSpPr txBox="1"/>
          <p:nvPr/>
        </p:nvSpPr>
        <p:spPr>
          <a:xfrm>
            <a:off x="857224" y="1214422"/>
            <a:ext cx="6000792" cy="19751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216000" bIns="216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class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Set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集合类</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data;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//data</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存放集合元素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length;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//length</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为集合的长度</a:t>
            </a:r>
            <a:endPar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mj-ea"/>
                <a:ea typeface="+mj-ea"/>
                <a:cs typeface="Consolas" panose="020B0609020204030204" pitchFamily="49" charset="0"/>
              </a:rPr>
              <a:t>   …</a:t>
            </a:r>
            <a:endParaRPr lang="en-US" altLang="zh-CN" sz="1800" smtClean="0">
              <a:solidFill>
                <a:srgbClr val="0000FF"/>
              </a:solidFill>
              <a:latin typeface="+mj-ea"/>
              <a:ea typeface="+mj-ea"/>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642918"/>
            <a:ext cx="2571768" cy="477054"/>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a:t>
            </a: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 </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设计运算算法</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5" name="TextBox 4"/>
          <p:cNvSpPr txBox="1"/>
          <p:nvPr/>
        </p:nvSpPr>
        <p:spPr>
          <a:xfrm>
            <a:off x="785786" y="1285860"/>
            <a:ext cx="4643470"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类包含以下基本运算方法</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785786" y="2071678"/>
            <a:ext cx="7643866" cy="309068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public:</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Set()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构造函数 </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data=new int[MaxSize];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//data</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存放集合元素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length=0;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//length</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为集合的长度</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  ~Set()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析构函数 </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delete[] data;</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 name="TextBox 6"/>
          <p:cNvSpPr txBox="1"/>
          <p:nvPr/>
        </p:nvSpPr>
        <p:spPr>
          <a:xfrm>
            <a:off x="642910" y="642918"/>
            <a:ext cx="7643866" cy="49238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getlength()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返回集合的长度</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length;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get(int 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返回集合的第</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个元素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(i&lt;0 || i&gt;=length)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检测参数</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的正确性</a:t>
            </a:r>
            <a:endPar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throw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参数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错误</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data[i];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IsIn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判断</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是否在集合中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i=0;i&lt;length;i++)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(data[i]==e) return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false;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71472" y="357166"/>
            <a:ext cx="8358246" cy="509469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ct val="15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将元素</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添加到集合中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(!IsIn(e))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元素</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不在集合中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data[length]=e;</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length++;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delelem</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e)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从集合中删除元素</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(i&lt;length &amp;&amp; data[i]!=e) 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(i&gt;=length)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未找到元素</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直接返回</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j=i+1;j&lt;length;j++)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找到元素</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后通过移动实现删除</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data[j-1]=data[j];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length--;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714348" y="714356"/>
            <a:ext cx="7000924" cy="393706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Set&amp;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Copy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返回当前集合的复制集合</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static Set s1;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i=0;i&lt;length;i++)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s1.data[i]=data[i];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s1.length=length;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s1;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display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输出集合中的元素</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i=0;i&lt;length-1;i++)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printf("%d ",data[i]);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printf("%d\n",data[length-1]);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00034" y="2214554"/>
            <a:ext cx="8215370" cy="31554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Set&amp;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Union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(Set&amp;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Set&amp; s3=Copy();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将当前集合复制到</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i=0;i&lt;s2.getlength();i++)</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中不在</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中的元素添加到</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e=s2.get(i);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(!IsIn(e)) s3.add(e);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s3;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000100" y="785794"/>
            <a:ext cx="6072230" cy="91060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bIns="108000" rtlCol="0">
            <a:spAutoFit/>
          </a:bodyPr>
          <a:lstStyle/>
          <a:p>
            <a:pPr marL="342900" indent="-342900" algn="l">
              <a:lnSpc>
                <a:spcPct val="100000"/>
              </a:lnSpc>
              <a:spcBef>
                <a:spcPts val="6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s3=s1</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中不属于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的元素添加到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a:t>
            </a:r>
            <a:endParaRPr lang="zh-CN" altLang="en-US" sz="2000" smtClean="0">
              <a:solidFill>
                <a:srgbClr val="0000FF"/>
              </a:solidFill>
              <a:latin typeface="仿宋" panose="02010609060101010101" pitchFamily="49" charset="-122"/>
              <a:ea typeface="仿宋" panose="02010609060101010101" pitchFamily="49" charset="-122"/>
            </a:endParaRPr>
          </a:p>
        </p:txBody>
      </p:sp>
      <p:sp>
        <p:nvSpPr>
          <p:cNvPr id="7" name="TextBox 6"/>
          <p:cNvSpPr txBox="1"/>
          <p:nvPr/>
        </p:nvSpPr>
        <p:spPr>
          <a:xfrm>
            <a:off x="1214414" y="357166"/>
            <a:ext cx="20002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s3=s1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下箭头 7"/>
          <p:cNvSpPr/>
          <p:nvPr/>
        </p:nvSpPr>
        <p:spPr>
          <a:xfrm>
            <a:off x="3357554" y="1643050"/>
            <a:ext cx="214314" cy="57150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85720" y="2285992"/>
            <a:ext cx="8215370" cy="31554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Set&amp;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Inter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(Set&amp;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static Set s3;</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i=0;i&lt;length;i++)</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中出现在</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中的元素复制到</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e=data[i];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(s2.IsIn(e)) s3.add(e);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s3;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000100" y="785794"/>
            <a:ext cx="6072230" cy="91060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bIns="108000" rtlCol="0">
            <a:spAutoFit/>
          </a:bodyPr>
          <a:lstStyle/>
          <a:p>
            <a:pPr marL="342900" indent="-342900" algn="l">
              <a:lnSpc>
                <a:spcPct val="100000"/>
              </a:lnSpc>
              <a:spcBef>
                <a:spcPts val="6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中属于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的元素添加到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a:t>
            </a:r>
            <a:endParaRPr lang="zh-CN" altLang="en-US" sz="2000" smtClean="0">
              <a:solidFill>
                <a:srgbClr val="0000FF"/>
              </a:solidFill>
              <a:latin typeface="仿宋" panose="02010609060101010101" pitchFamily="49" charset="-122"/>
              <a:ea typeface="仿宋" panose="02010609060101010101" pitchFamily="49" charset="-122"/>
            </a:endParaRPr>
          </a:p>
        </p:txBody>
      </p:sp>
      <p:sp>
        <p:nvSpPr>
          <p:cNvPr id="7" name="TextBox 6"/>
          <p:cNvSpPr txBox="1"/>
          <p:nvPr/>
        </p:nvSpPr>
        <p:spPr>
          <a:xfrm>
            <a:off x="1214414" y="357166"/>
            <a:ext cx="20002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s3=s1</a:t>
            </a:r>
            <a:r>
              <a:rPr lang="zh-CN" altLang="en-US" sz="2000" smtClean="0">
                <a:solidFill>
                  <a:srgbClr val="0000FF"/>
                </a:solidFill>
                <a:latin typeface="+mn-ea"/>
                <a:ea typeface="+mn-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下箭头 7"/>
          <p:cNvSpPr/>
          <p:nvPr/>
        </p:nvSpPr>
        <p:spPr>
          <a:xfrm>
            <a:off x="3357554" y="1643050"/>
            <a:ext cx="214314" cy="57150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2285992"/>
            <a:ext cx="8215370" cy="28348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Set&amp;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Diff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(Set&amp; s2)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s3=s1-s2(s1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为当前集合</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static Set s3;</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i=0;i&lt;length;i++)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中不出现在</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s2</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中的元素复制到</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e=data[i];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(!s2.IsIn(e)) s3.add(e);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s3;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返回</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s3</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000100" y="785794"/>
            <a:ext cx="6072230" cy="91060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bIns="108000" rtlCol="0">
            <a:spAutoFit/>
          </a:bodyPr>
          <a:lstStyle/>
          <a:p>
            <a:pPr marL="342900" indent="-342900" algn="l">
              <a:lnSpc>
                <a:spcPct val="100000"/>
              </a:lnSpc>
              <a:spcBef>
                <a:spcPts val="6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中不属于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的元素添加到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a:t>
            </a:r>
            <a:endParaRPr lang="zh-CN" altLang="en-US" sz="2000" smtClean="0">
              <a:solidFill>
                <a:srgbClr val="0000FF"/>
              </a:solidFill>
              <a:latin typeface="仿宋" panose="02010609060101010101" pitchFamily="49" charset="-122"/>
              <a:ea typeface="仿宋" panose="02010609060101010101" pitchFamily="49" charset="-122"/>
            </a:endParaRPr>
          </a:p>
        </p:txBody>
      </p:sp>
      <p:sp>
        <p:nvSpPr>
          <p:cNvPr id="7" name="TextBox 6"/>
          <p:cNvSpPr txBox="1"/>
          <p:nvPr/>
        </p:nvSpPr>
        <p:spPr>
          <a:xfrm>
            <a:off x="1214414" y="357166"/>
            <a:ext cx="20002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s3=s1-s2:</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下箭头 7"/>
          <p:cNvSpPr/>
          <p:nvPr/>
        </p:nvSpPr>
        <p:spPr>
          <a:xfrm>
            <a:off x="3357554" y="1643050"/>
            <a:ext cx="214314" cy="57150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2976" y="571480"/>
            <a:ext cx="20002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类的描述</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0479"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18"/>
          <p:cNvGrpSpPr/>
          <p:nvPr/>
        </p:nvGrpSpPr>
        <p:grpSpPr>
          <a:xfrm>
            <a:off x="1936621" y="1579440"/>
            <a:ext cx="3777304" cy="2563939"/>
            <a:chOff x="1936621" y="1579441"/>
            <a:chExt cx="3777304" cy="2341796"/>
          </a:xfrm>
        </p:grpSpPr>
        <p:sp>
          <p:nvSpPr>
            <p:cNvPr id="190477" name="Rectangle 13"/>
            <p:cNvSpPr>
              <a:spLocks noChangeArrowheads="1"/>
            </p:cNvSpPr>
            <p:nvPr/>
          </p:nvSpPr>
          <p:spPr bwMode="auto">
            <a:xfrm>
              <a:off x="2442414" y="1579441"/>
              <a:ext cx="2708976" cy="2341796"/>
            </a:xfrm>
            <a:prstGeom prst="rect">
              <a:avLst/>
            </a:prstGeom>
            <a:solidFill>
              <a:srgbClr val="FFFFFF"/>
            </a:solidFill>
            <a:ln w="19050">
              <a:solidFill>
                <a:srgbClr val="000000"/>
              </a:solidFill>
              <a:miter lim="800000"/>
              <a:tailEnd type="none" w="sm" len="sm"/>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cs typeface="Consolas" panose="020B0609020204030204" pitchFamily="49" charset="0"/>
              </a:endParaRPr>
            </a:p>
          </p:txBody>
        </p:sp>
        <p:sp>
          <p:nvSpPr>
            <p:cNvPr id="190476" name="Rectangle 12"/>
            <p:cNvSpPr>
              <a:spLocks noChangeArrowheads="1"/>
            </p:cNvSpPr>
            <p:nvPr/>
          </p:nvSpPr>
          <p:spPr bwMode="auto">
            <a:xfrm>
              <a:off x="1936621" y="1767333"/>
              <a:ext cx="1066372" cy="29749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getsize</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75" name="Rectangle 11"/>
            <p:cNvSpPr>
              <a:spLocks noChangeArrowheads="1"/>
            </p:cNvSpPr>
            <p:nvPr/>
          </p:nvSpPr>
          <p:spPr bwMode="auto">
            <a:xfrm>
              <a:off x="1936621" y="2187153"/>
              <a:ext cx="1066372" cy="29749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get</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74" name="Rectangle 10"/>
            <p:cNvSpPr>
              <a:spLocks noChangeArrowheads="1"/>
            </p:cNvSpPr>
            <p:nvPr/>
          </p:nvSpPr>
          <p:spPr bwMode="auto">
            <a:xfrm>
              <a:off x="1936621" y="2610888"/>
              <a:ext cx="1066372" cy="29749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IsIn</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73" name="Rectangle 9"/>
            <p:cNvSpPr>
              <a:spLocks noChangeArrowheads="1"/>
            </p:cNvSpPr>
            <p:nvPr/>
          </p:nvSpPr>
          <p:spPr bwMode="auto">
            <a:xfrm>
              <a:off x="1936621" y="3022880"/>
              <a:ext cx="1066372" cy="29749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add</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72" name="Rectangle 8"/>
            <p:cNvSpPr>
              <a:spLocks noChangeArrowheads="1"/>
            </p:cNvSpPr>
            <p:nvPr/>
          </p:nvSpPr>
          <p:spPr bwMode="auto">
            <a:xfrm>
              <a:off x="1936621" y="3425086"/>
              <a:ext cx="1066372" cy="29749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delelem</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71" name="AutoShape 7"/>
            <p:cNvSpPr>
              <a:spLocks noChangeArrowheads="1"/>
            </p:cNvSpPr>
            <p:nvPr/>
          </p:nvSpPr>
          <p:spPr bwMode="auto">
            <a:xfrm>
              <a:off x="3349319" y="2125501"/>
              <a:ext cx="864837" cy="822026"/>
            </a:xfrm>
            <a:prstGeom prst="can">
              <a:avLst>
                <a:gd name="adj" fmla="val 25000"/>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87782" tIns="43891" rIns="87782"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length</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70" name="Rectangle 6"/>
            <p:cNvSpPr>
              <a:spLocks noChangeArrowheads="1"/>
            </p:cNvSpPr>
            <p:nvPr/>
          </p:nvSpPr>
          <p:spPr bwMode="auto">
            <a:xfrm>
              <a:off x="4646575" y="1767333"/>
              <a:ext cx="1067350" cy="296517"/>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display</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69" name="Rectangle 5"/>
            <p:cNvSpPr>
              <a:spLocks noChangeArrowheads="1"/>
            </p:cNvSpPr>
            <p:nvPr/>
          </p:nvSpPr>
          <p:spPr bwMode="auto">
            <a:xfrm>
              <a:off x="4646575" y="2187153"/>
              <a:ext cx="1067350" cy="29749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Copy</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68" name="Rectangle 4"/>
            <p:cNvSpPr>
              <a:spLocks noChangeArrowheads="1"/>
            </p:cNvSpPr>
            <p:nvPr/>
          </p:nvSpPr>
          <p:spPr bwMode="auto">
            <a:xfrm>
              <a:off x="4646575" y="2610888"/>
              <a:ext cx="1067350" cy="29749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Union</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67" name="Rectangle 3"/>
            <p:cNvSpPr>
              <a:spLocks noChangeArrowheads="1"/>
            </p:cNvSpPr>
            <p:nvPr/>
          </p:nvSpPr>
          <p:spPr bwMode="auto">
            <a:xfrm>
              <a:off x="4646575" y="3022880"/>
              <a:ext cx="1067350" cy="296517"/>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Inter</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0466" name="Rectangle 2"/>
            <p:cNvSpPr>
              <a:spLocks noChangeArrowheads="1"/>
            </p:cNvSpPr>
            <p:nvPr/>
          </p:nvSpPr>
          <p:spPr bwMode="auto">
            <a:xfrm>
              <a:off x="4646575" y="3425086"/>
              <a:ext cx="1067350" cy="29749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Diff</a:t>
              </a:r>
              <a:endParaRPr kumimoji="0" lang="en-US" altLang="zh-CN" sz="16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grpSp>
      <p:sp>
        <p:nvSpPr>
          <p:cNvPr id="24" name="灯片编号占位符 23"/>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357158" y="285728"/>
            <a:ext cx="2357454" cy="477054"/>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华文中宋" panose="02010600040101010101" pitchFamily="2" charset="-122"/>
                <a:ea typeface="华文中宋" panose="02010600040101010101" pitchFamily="2" charset="-122"/>
                <a:sym typeface="Wingdings" panose="05000000000000000000"/>
              </a:rPr>
              <a:t></a:t>
            </a:r>
            <a:r>
              <a:rPr lang="en-US" altLang="zh-CN" sz="2000" smtClean="0">
                <a:solidFill>
                  <a:srgbClr val="FF0000"/>
                </a:solidFill>
                <a:latin typeface="华文中宋" panose="02010600040101010101" pitchFamily="2" charset="-122"/>
                <a:ea typeface="华文中宋" panose="02010600040101010101" pitchFamily="2" charset="-122"/>
              </a:rPr>
              <a:t> </a:t>
            </a:r>
            <a:r>
              <a:rPr lang="zh-CN" altLang="zh-CN" sz="2000" smtClean="0">
                <a:solidFill>
                  <a:srgbClr val="FF0000"/>
                </a:solidFill>
                <a:latin typeface="华文中宋" panose="02010600040101010101" pitchFamily="2" charset="-122"/>
                <a:ea typeface="华文中宋" panose="02010600040101010101" pitchFamily="2" charset="-122"/>
              </a:rPr>
              <a:t>设计主</a:t>
            </a:r>
            <a:r>
              <a:rPr lang="zh-CN" altLang="en-US" sz="2000" smtClean="0">
                <a:solidFill>
                  <a:srgbClr val="FF0000"/>
                </a:solidFill>
                <a:latin typeface="华文中宋" panose="02010600040101010101" pitchFamily="2" charset="-122"/>
                <a:ea typeface="华文中宋" panose="02010600040101010101" pitchFamily="2" charset="-122"/>
              </a:rPr>
              <a:t>程序</a:t>
            </a:r>
            <a:endParaRPr lang="zh-CN" altLang="en-US" sz="2000" smtClean="0">
              <a:solidFill>
                <a:srgbClr val="FF0000"/>
              </a:solidFill>
              <a:latin typeface="华文中宋" panose="02010600040101010101" pitchFamily="2" charset="-122"/>
              <a:ea typeface="华文中宋" panose="02010600040101010101" pitchFamily="2" charset="-122"/>
            </a:endParaRPr>
          </a:p>
        </p:txBody>
      </p:sp>
      <p:sp>
        <p:nvSpPr>
          <p:cNvPr id="5" name="TextBox 4"/>
          <p:cNvSpPr txBox="1"/>
          <p:nvPr/>
        </p:nvSpPr>
        <p:spPr>
          <a:xfrm>
            <a:off x="357158" y="1000108"/>
            <a:ext cx="7000924" cy="51936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Set s1,s2;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s1: "); 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display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printf("s1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的长度为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%d\n",s1.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getlength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s2.</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s2.</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s2.</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s2.</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add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s2: "); s2.</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display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500034" y="714356"/>
            <a:ext cx="6143668" cy="41173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的并集</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-&gt;s3\n");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Set&amp; s3=s1.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Union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s3: "); s3.</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display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的差集</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-&gt;s4\n");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Set&amp; s4=s1.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Diff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s4: "); s4.</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displa</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的交集</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-&gt;s5\n");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Set&amp; s5=s1.</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Inter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(s2);</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s5: "); s5.</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display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571472" y="428604"/>
            <a:ext cx="2214578" cy="477054"/>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华文中宋" panose="02010600040101010101" pitchFamily="2" charset="-122"/>
                <a:ea typeface="华文中宋" panose="02010600040101010101" pitchFamily="2" charset="-122"/>
                <a:sym typeface="Wingdings" panose="05000000000000000000"/>
              </a:rPr>
              <a:t></a:t>
            </a:r>
            <a:r>
              <a:rPr lang="en-US" altLang="zh-CN" sz="2000" smtClean="0">
                <a:solidFill>
                  <a:srgbClr val="FF0000"/>
                </a:solidFill>
                <a:latin typeface="华文中宋" panose="02010600040101010101" pitchFamily="2" charset="-122"/>
                <a:ea typeface="华文中宋" panose="02010600040101010101" pitchFamily="2" charset="-122"/>
              </a:rPr>
              <a:t> </a:t>
            </a:r>
            <a:r>
              <a:rPr lang="zh-CN" altLang="zh-CN" sz="2000" smtClean="0">
                <a:solidFill>
                  <a:srgbClr val="FF0000"/>
                </a:solidFill>
                <a:latin typeface="华文中宋" panose="02010600040101010101" pitchFamily="2" charset="-122"/>
                <a:ea typeface="华文中宋" panose="02010600040101010101" pitchFamily="2" charset="-122"/>
              </a:rPr>
              <a:t>程序执行结果</a:t>
            </a:r>
            <a:endParaRPr lang="zh-CN" altLang="zh-CN" sz="2000" smtClean="0">
              <a:solidFill>
                <a:srgbClr val="FF0000"/>
              </a:solidFill>
              <a:latin typeface="华文中宋" panose="02010600040101010101" pitchFamily="2" charset="-122"/>
              <a:ea typeface="华文中宋" panose="02010600040101010101" pitchFamily="2" charset="-122"/>
            </a:endParaRPr>
          </a:p>
        </p:txBody>
      </p:sp>
      <p:sp>
        <p:nvSpPr>
          <p:cNvPr id="13107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31073" name="Rectangle 1"/>
          <p:cNvSpPr>
            <a:spLocks noChangeArrowheads="1"/>
          </p:cNvSpPr>
          <p:nvPr/>
        </p:nvSpPr>
        <p:spPr bwMode="auto">
          <a:xfrm>
            <a:off x="1142976" y="1214422"/>
            <a:ext cx="3286148" cy="2786082"/>
          </a:xfrm>
          <a:prstGeom prst="rect">
            <a:avLst/>
          </a:prstGeom>
          <a:ln>
            <a:tailEnd type="none" w="sm" len="sm"/>
          </a:ln>
        </p:spPr>
        <p:style>
          <a:lnRef idx="3">
            <a:schemeClr val="lt1"/>
          </a:lnRef>
          <a:fillRef idx="1">
            <a:schemeClr val="dk1"/>
          </a:fillRef>
          <a:effectRef idx="1">
            <a:schemeClr val="dk1"/>
          </a:effectRef>
          <a:fontRef idx="minor">
            <a:schemeClr val="lt1"/>
          </a:fontRef>
        </p:style>
        <p:txBody>
          <a:bodyPr vert="horz" wrap="square" lIns="180000" tIns="14400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集合</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s1: 1 4 2 6 8 </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s1</a:t>
            </a: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的长度为</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集合</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s2: 2 5 3 6 </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集合</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s1</a:t>
            </a: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和</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s2</a:t>
            </a: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的并集</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-&gt;s3</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集合</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s3: 1 4 2 6 8 5 3 </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集合</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s1</a:t>
            </a: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和</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s2</a:t>
            </a: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的差集</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-&gt;s4</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集合</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s4: 1 4 8 </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集合</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s1</a:t>
            </a: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和</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s2</a:t>
            </a: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的交集</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-&gt;s5</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集合</a:t>
            </a:r>
            <a:r>
              <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s5: 2 6</a:t>
            </a:r>
            <a:endParaRPr kumimoji="0" lang="en-US" altLang="zh-CN" sz="18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fld>
            <a:r>
              <a:rPr lang="en-US" altLang="zh-CN" smtClean="0"/>
              <a:t>/106</a:t>
            </a:r>
            <a:endParaRPr lang="en-US" altLang="zh-CN"/>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99010905-e72a-45ea-afc0-06007ff0e87e"/>
  <p:tag name="COMMONDATA" val="eyJoZGlkIjoiYjE5NTMxMzVkMjIwM2E5N2RhNTBjOGFiMGNlN2E4Nz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anose="020B0609020204030204" pitchFamily="49" charset="0"/>
            <a:ea typeface="楷体" panose="02010609060101010101" pitchFamily="49" charset="-122"/>
            <a:cs typeface="Consolas" panose="020B0609020204030204" pitchFamily="49"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20395</Words>
  <Application>WPS 演示</Application>
  <PresentationFormat>全屏显示(4:3)</PresentationFormat>
  <Paragraphs>2032</Paragraphs>
  <Slides>113</Slides>
  <Notes>86</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0</vt:i4>
      </vt:variant>
      <vt:variant>
        <vt:lpstr>幻灯片标题</vt:lpstr>
      </vt:variant>
      <vt:variant>
        <vt:i4>113</vt:i4>
      </vt:variant>
    </vt:vector>
  </HeadingPairs>
  <TitlesOfParts>
    <vt:vector size="131" baseType="lpstr">
      <vt:lpstr>Arial</vt:lpstr>
      <vt:lpstr>宋体</vt:lpstr>
      <vt:lpstr>Wingdings</vt:lpstr>
      <vt:lpstr>Times New Roman</vt:lpstr>
      <vt:lpstr>楷体_GB2312</vt:lpstr>
      <vt:lpstr>新宋体</vt:lpstr>
      <vt:lpstr>Consolas</vt:lpstr>
      <vt:lpstr>楷体</vt:lpstr>
      <vt:lpstr>微软雅黑</vt:lpstr>
      <vt:lpstr>仿宋</vt:lpstr>
      <vt:lpstr>方正启体简体</vt:lpstr>
      <vt:lpstr>Arial</vt:lpstr>
      <vt:lpstr>华文中宋</vt:lpstr>
      <vt:lpstr>Arial Unicode MS</vt:lpstr>
      <vt:lpstr>Calibri</vt:lpstr>
      <vt:lpstr>Wingdings</vt:lpstr>
      <vt:lpstr>Symbol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刘峰</cp:lastModifiedBy>
  <cp:revision>1563</cp:revision>
  <dcterms:created xsi:type="dcterms:W3CDTF">2004-03-31T23:50:00Z</dcterms:created>
  <dcterms:modified xsi:type="dcterms:W3CDTF">2024-02-23T06:33:46Z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9927C054708A4944BAA0684BE1D87938_12</vt:lpwstr>
  </property>
  <property fmtid="{D5CDD505-2E9C-101B-9397-08002B2CF9AE}" pid="3" name="KSOProductBuildVer">
    <vt:lpwstr>2052-11.1.0.14309</vt:lpwstr>
  </property>
</Properties>
</file>