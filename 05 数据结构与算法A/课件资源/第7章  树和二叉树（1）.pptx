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3"/>
  </p:notesMasterIdLst>
  <p:handoutMasterIdLst>
    <p:handoutMasterId r:id="rId114"/>
  </p:handoutMasterIdLst>
  <p:sldIdLst>
    <p:sldId id="670" r:id="rId3"/>
    <p:sldId id="546" r:id="rId4"/>
    <p:sldId id="796" r:id="rId5"/>
    <p:sldId id="854" r:id="rId6"/>
    <p:sldId id="855" r:id="rId7"/>
    <p:sldId id="856" r:id="rId8"/>
    <p:sldId id="857" r:id="rId9"/>
    <p:sldId id="858" r:id="rId10"/>
    <p:sldId id="859" r:id="rId11"/>
    <p:sldId id="860" r:id="rId12"/>
    <p:sldId id="861" r:id="rId13"/>
    <p:sldId id="862" r:id="rId14"/>
    <p:sldId id="863" r:id="rId15"/>
    <p:sldId id="864" r:id="rId16"/>
    <p:sldId id="865" r:id="rId17"/>
    <p:sldId id="866" r:id="rId18"/>
    <p:sldId id="867" r:id="rId19"/>
    <p:sldId id="868" r:id="rId20"/>
    <p:sldId id="869" r:id="rId21"/>
    <p:sldId id="870" r:id="rId22"/>
    <p:sldId id="871" r:id="rId23"/>
    <p:sldId id="874" r:id="rId24"/>
    <p:sldId id="877" r:id="rId25"/>
    <p:sldId id="878" r:id="rId26"/>
    <p:sldId id="872" r:id="rId27"/>
    <p:sldId id="891" r:id="rId28"/>
    <p:sldId id="797" r:id="rId29"/>
    <p:sldId id="892" r:id="rId30"/>
    <p:sldId id="882" r:id="rId31"/>
    <p:sldId id="894" r:id="rId32"/>
    <p:sldId id="895" r:id="rId33"/>
    <p:sldId id="896" r:id="rId34"/>
    <p:sldId id="897" r:id="rId35"/>
    <p:sldId id="899" r:id="rId36"/>
    <p:sldId id="900" r:id="rId37"/>
    <p:sldId id="901" r:id="rId38"/>
    <p:sldId id="902" r:id="rId39"/>
    <p:sldId id="903" r:id="rId40"/>
    <p:sldId id="904" r:id="rId41"/>
    <p:sldId id="905" r:id="rId42"/>
    <p:sldId id="906" r:id="rId43"/>
    <p:sldId id="907" r:id="rId44"/>
    <p:sldId id="908" r:id="rId45"/>
    <p:sldId id="909" r:id="rId46"/>
    <p:sldId id="910" r:id="rId47"/>
    <p:sldId id="912" r:id="rId48"/>
    <p:sldId id="913" r:id="rId49"/>
    <p:sldId id="914" r:id="rId50"/>
    <p:sldId id="915" r:id="rId51"/>
    <p:sldId id="916" r:id="rId52"/>
    <p:sldId id="917" r:id="rId53"/>
    <p:sldId id="918" r:id="rId54"/>
    <p:sldId id="919" r:id="rId55"/>
    <p:sldId id="920" r:id="rId56"/>
    <p:sldId id="921" r:id="rId57"/>
    <p:sldId id="922" r:id="rId58"/>
    <p:sldId id="923" r:id="rId59"/>
    <p:sldId id="924" r:id="rId60"/>
    <p:sldId id="925" r:id="rId61"/>
    <p:sldId id="926" r:id="rId62"/>
    <p:sldId id="936" r:id="rId63"/>
    <p:sldId id="937" r:id="rId64"/>
    <p:sldId id="939" r:id="rId65"/>
    <p:sldId id="940" r:id="rId66"/>
    <p:sldId id="941" r:id="rId67"/>
    <p:sldId id="942" r:id="rId68"/>
    <p:sldId id="943" r:id="rId69"/>
    <p:sldId id="944" r:id="rId70"/>
    <p:sldId id="945" r:id="rId71"/>
    <p:sldId id="946" r:id="rId72"/>
    <p:sldId id="947" r:id="rId73"/>
    <p:sldId id="948" r:id="rId74"/>
    <p:sldId id="949" r:id="rId75"/>
    <p:sldId id="950" r:id="rId76"/>
    <p:sldId id="951" r:id="rId77"/>
    <p:sldId id="952" r:id="rId78"/>
    <p:sldId id="953" r:id="rId79"/>
    <p:sldId id="954" r:id="rId80"/>
    <p:sldId id="955" r:id="rId81"/>
    <p:sldId id="956" r:id="rId82"/>
    <p:sldId id="957" r:id="rId83"/>
    <p:sldId id="958" r:id="rId84"/>
    <p:sldId id="959" r:id="rId85"/>
    <p:sldId id="960" r:id="rId86"/>
    <p:sldId id="961" r:id="rId87"/>
    <p:sldId id="962" r:id="rId88"/>
    <p:sldId id="963" r:id="rId89"/>
    <p:sldId id="964" r:id="rId90"/>
    <p:sldId id="965" r:id="rId91"/>
    <p:sldId id="966" r:id="rId92"/>
    <p:sldId id="967" r:id="rId93"/>
    <p:sldId id="968" r:id="rId94"/>
    <p:sldId id="969" r:id="rId95"/>
    <p:sldId id="970" r:id="rId96"/>
    <p:sldId id="971" r:id="rId97"/>
    <p:sldId id="972" r:id="rId98"/>
    <p:sldId id="973" r:id="rId99"/>
    <p:sldId id="974" r:id="rId100"/>
    <p:sldId id="975" r:id="rId101"/>
    <p:sldId id="976" r:id="rId102"/>
    <p:sldId id="977" r:id="rId103"/>
    <p:sldId id="978" r:id="rId104"/>
    <p:sldId id="979" r:id="rId105"/>
    <p:sldId id="980" r:id="rId106"/>
    <p:sldId id="981" r:id="rId107"/>
    <p:sldId id="982" r:id="rId108"/>
    <p:sldId id="983" r:id="rId109"/>
    <p:sldId id="984" r:id="rId110"/>
    <p:sldId id="985" r:id="rId111"/>
    <p:sldId id="989" r:id="rId112"/>
  </p:sldIdLst>
  <p:sldSz cx="9144000" cy="6858000" type="screen4x3"/>
  <p:notesSz cx="6858000" cy="9144000"/>
  <p:custDataLst>
    <p:tags r:id="rId118"/>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009900"/>
    <a:srgbClr val="FF00FF"/>
    <a:srgbClr val="FF3399"/>
    <a:srgbClr val="0000FF"/>
    <a:srgbClr val="006600"/>
    <a:srgbClr val="339933"/>
    <a:srgbClr val="3333FF"/>
    <a:srgbClr val="6600CC"/>
    <a:srgbClr val="00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4581" autoAdjust="0"/>
  </p:normalViewPr>
  <p:slideViewPr>
    <p:cSldViewPr>
      <p:cViewPr varScale="1">
        <p:scale>
          <a:sx n="100" d="100"/>
          <a:sy n="100" d="100"/>
        </p:scale>
        <p:origin x="-51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8" Type="http://schemas.openxmlformats.org/officeDocument/2006/relationships/tags" Target="tags/tag1.xml"/><Relationship Id="rId117" Type="http://schemas.openxmlformats.org/officeDocument/2006/relationships/tableStyles" Target="tableStyles.xml"/><Relationship Id="rId116" Type="http://schemas.openxmlformats.org/officeDocument/2006/relationships/viewProps" Target="viewProps.xml"/><Relationship Id="rId115" Type="http://schemas.openxmlformats.org/officeDocument/2006/relationships/presProps" Target="presProps.xml"/><Relationship Id="rId114" Type="http://schemas.openxmlformats.org/officeDocument/2006/relationships/handoutMaster" Target="handoutMasters/handoutMaster1.xml"/><Relationship Id="rId113" Type="http://schemas.openxmlformats.org/officeDocument/2006/relationships/notesMaster" Target="notesMasters/notesMaster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a:xfrm>
            <a:off x="7958190" y="6356350"/>
            <a:ext cx="1042966" cy="365125"/>
          </a:xfrm>
        </p:spPr>
        <p:txBody>
          <a:bodyPr/>
          <a:lstStyle>
            <a:lvl1pPr>
              <a:defRPr sz="1400" b="0">
                <a:solidFill>
                  <a:srgbClr val="FF0000"/>
                </a:solidFill>
                <a:latin typeface="Consolas" panose="020B0609020204030204" pitchFamily="49" charset="0"/>
                <a:cs typeface="Consolas" panose="020B0609020204030204" pitchFamily="49" charset="0"/>
              </a:defRPr>
            </a:lvl1p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600">
                <a:solidFill>
                  <a:srgbClr val="FF0000"/>
                </a:solidFill>
                <a:latin typeface="Consolas" panose="020B0609020204030204" pitchFamily="49" charset="0"/>
                <a:cs typeface="Consolas" panose="020B0609020204030204" pitchFamily="49" charset="0"/>
              </a:defRPr>
            </a:lvl1pPr>
          </a:lstStyle>
          <a:p>
            <a:fld id="{FFD28AF7-D4CC-4B35-B7D7-507FA0146854}" type="slidenum">
              <a:rPr lang="en-US" altLang="zh-CN" smtClean="0"/>
            </a:fld>
            <a:r>
              <a:rPr lang="en-US" altLang="zh-CN" smtClean="0"/>
              <a:t>/19</a:t>
            </a:r>
            <a:endParaRPr lang="en-US" altLang="zh-C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GI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5.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GI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5.GI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GIF"/><Relationship Id="rId1" Type="http://schemas.openxmlformats.org/officeDocument/2006/relationships/image" Target="../media/image10.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1.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GIF"/><Relationship Id="rId1" Type="http://schemas.openxmlformats.org/officeDocument/2006/relationships/image" Target="../media/image1.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jpe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3.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GI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4.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GI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5.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6.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928926" y="357166"/>
            <a:ext cx="400052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7</a:t>
            </a:r>
            <a:r>
              <a:rPr lang="zh-CN" altLang="en-US" sz="320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树和二叉树</a:t>
            </a:r>
            <a:endPar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endParaRPr>
          </a:p>
        </p:txBody>
      </p:sp>
      <p:sp>
        <p:nvSpPr>
          <p:cNvPr id="12" name="TextBox 11">
            <a:hlinkClick r:id="rId1" action="ppaction://hlinksldjump"/>
          </p:cNvPr>
          <p:cNvSpPr txBox="1"/>
          <p:nvPr/>
        </p:nvSpPr>
        <p:spPr>
          <a:xfrm>
            <a:off x="214282" y="2500306"/>
            <a:ext cx="4248000" cy="478387"/>
          </a:xfrm>
          <a:prstGeom prst="rect">
            <a:avLst/>
          </a:prstGeom>
        </p:spPr>
        <p:style>
          <a:lnRef idx="1">
            <a:schemeClr val="accent2"/>
          </a:lnRef>
          <a:fillRef idx="2">
            <a:schemeClr val="accent2"/>
          </a:fillRef>
          <a:effectRef idx="1">
            <a:schemeClr val="accent2"/>
          </a:effectRef>
          <a:fontRef idx="minor">
            <a:schemeClr val="dk1"/>
          </a:fontRef>
        </p:style>
        <p:txBody>
          <a:bodyPr wrap="square" tIns="36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树</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214282" y="3214686"/>
            <a:ext cx="4248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7.2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 叉 树</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8" name="组合 79"/>
          <p:cNvGrpSpPr/>
          <p:nvPr/>
        </p:nvGrpSpPr>
        <p:grpSpPr bwMode="auto">
          <a:xfrm>
            <a:off x="768926" y="500042"/>
            <a:ext cx="1659934" cy="1677932"/>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smtClean="0">
                <a:solidFill>
                  <a:srgbClr val="FFFFFF"/>
                </a:solidFill>
              </a:endParaRPr>
            </a:p>
          </p:txBody>
        </p:sp>
      </p:grpSp>
      <p:sp>
        <p:nvSpPr>
          <p:cNvPr id="21" name="文本框 20"/>
          <p:cNvSpPr txBox="1">
            <a:spLocks noChangeArrowheads="1"/>
          </p:cNvSpPr>
          <p:nvPr/>
        </p:nvSpPr>
        <p:spPr bwMode="auto">
          <a:xfrm>
            <a:off x="949011" y="1462455"/>
            <a:ext cx="13369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400" b="1" dirty="0">
                <a:solidFill>
                  <a:srgbClr val="9900FF"/>
                </a:solidFill>
              </a:rPr>
              <a:t>CONTENTS</a:t>
            </a:r>
            <a:endParaRPr lang="zh-CN" altLang="en-US" sz="1400" b="1" dirty="0">
              <a:solidFill>
                <a:srgbClr val="9900FF"/>
              </a:solidFill>
            </a:endParaRPr>
          </a:p>
        </p:txBody>
      </p:sp>
      <p:sp>
        <p:nvSpPr>
          <p:cNvPr id="22" name="文本框 20"/>
          <p:cNvSpPr txBox="1">
            <a:spLocks noChangeArrowheads="1"/>
          </p:cNvSpPr>
          <p:nvPr/>
        </p:nvSpPr>
        <p:spPr bwMode="auto">
          <a:xfrm>
            <a:off x="1091887" y="928670"/>
            <a:ext cx="10500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b="1" dirty="0" smtClean="0">
                <a:solidFill>
                  <a:srgbClr val="008000"/>
                </a:solidFill>
              </a:rPr>
              <a:t>提纲</a:t>
            </a:r>
            <a:endParaRPr lang="zh-CN" altLang="en-US" b="1" dirty="0">
              <a:solidFill>
                <a:srgbClr val="008000"/>
              </a:solidFill>
            </a:endParaRPr>
          </a:p>
        </p:txBody>
      </p:sp>
      <p:sp>
        <p:nvSpPr>
          <p:cNvPr id="13" name="TextBox 12">
            <a:hlinkClick r:id="" action="ppaction://noaction"/>
          </p:cNvPr>
          <p:cNvSpPr txBox="1"/>
          <p:nvPr/>
        </p:nvSpPr>
        <p:spPr>
          <a:xfrm>
            <a:off x="214282" y="3867153"/>
            <a:ext cx="4248000" cy="468000"/>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7.3 </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二叉树先序、中序和后序遍历</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214282" y="4557720"/>
            <a:ext cx="4248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7.4 </a:t>
            </a:r>
            <a:r>
              <a:rPr lang="zh-CN"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二叉树的层次遍历</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3" name="TextBox 22">
            <a:hlinkClick r:id="" action="ppaction://noaction"/>
          </p:cNvPr>
          <p:cNvSpPr txBox="1"/>
          <p:nvPr/>
        </p:nvSpPr>
        <p:spPr>
          <a:xfrm>
            <a:off x="214282" y="5253050"/>
            <a:ext cx="4248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7.5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 叉 树的构造</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4572000" y="2761861"/>
            <a:ext cx="432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7.6 </a:t>
            </a:r>
            <a:r>
              <a:rPr lang="zh-CN"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线索</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Box 24">
            <a:hlinkClick r:id="" action="ppaction://noaction"/>
          </p:cNvPr>
          <p:cNvSpPr txBox="1"/>
          <p:nvPr/>
        </p:nvSpPr>
        <p:spPr>
          <a:xfrm>
            <a:off x="4572000" y="4190621"/>
            <a:ext cx="4320000" cy="468000"/>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7.8 </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二叉树与树、森林之间的转换</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6" name="TextBox 25">
            <a:hlinkClick r:id="" action="ppaction://noaction"/>
          </p:cNvPr>
          <p:cNvSpPr txBox="1"/>
          <p:nvPr/>
        </p:nvSpPr>
        <p:spPr>
          <a:xfrm>
            <a:off x="4572000" y="3476241"/>
            <a:ext cx="432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7.7 </a:t>
            </a:r>
            <a:r>
              <a:rPr lang="zh-CN" altLang="en-US"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哈夫曼树</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8" name="TextBox 27">
            <a:hlinkClick r:id="" action="ppaction://noaction"/>
          </p:cNvPr>
          <p:cNvSpPr txBox="1"/>
          <p:nvPr/>
        </p:nvSpPr>
        <p:spPr>
          <a:xfrm>
            <a:off x="4572000" y="4843088"/>
            <a:ext cx="432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7.9 </a:t>
            </a:r>
            <a:r>
              <a:rPr lang="zh-CN" altLang="zh-CN"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并查集</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9" name="灯片编号占位符 2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571472" y="2357430"/>
            <a:ext cx="8143932" cy="2651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是由</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）个结点组成的有限集合（记为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，它是一棵空树，这是树的特例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个结点中存在（有仅存在）一个结点作为树的根结点（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root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），其余结点可分为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）个互不相交的有限集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mj-ea"/>
                <a:ea typeface="+mj-ea"/>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，其中每个子集本身又是一棵符合本定义的树，称为根结点的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子树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428596" y="1500174"/>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7.1.1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树的定义</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2857488" y="428604"/>
            <a:ext cx="2571768"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7.1 </a:t>
            </a:r>
            <a:r>
              <a:rPr lang="zh-CN" altLang="en-US"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树</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71472" y="500042"/>
            <a:ext cx="450059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7.1.2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树的逻辑结构表示方法</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 Box 4"/>
          <p:cNvSpPr txBox="1">
            <a:spLocks noChangeArrowheads="1"/>
          </p:cNvSpPr>
          <p:nvPr/>
        </p:nvSpPr>
        <p:spPr bwMode="auto">
          <a:xfrm>
            <a:off x="500034" y="1438278"/>
            <a:ext cx="7423145" cy="871905"/>
          </a:xfrm>
          <a:prstGeom prst="rect">
            <a:avLst/>
          </a:prstGeom>
          <a:noFill/>
          <a:ln w="9525">
            <a:noFill/>
            <a:miter lim="800000"/>
          </a:ln>
        </p:spPr>
        <p:txBody>
          <a:bodyPr wrap="square">
            <a:spAutoFit/>
          </a:bodyPr>
          <a:lstStyle/>
          <a:p>
            <a:pPr marL="342900" indent="-342900" algn="l">
              <a:lnSpc>
                <a:spcPts val="3200"/>
              </a:lnSpc>
              <a:buFontTx/>
              <a:buBlip>
                <a:blip r:embed="rId1"/>
              </a:buBlip>
            </a:pP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树形表示法</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。这是树的最基本的表示，使用一棵倒置的树表示树结构，非常直观和形象。</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nvGrpSpPr>
          <p:cNvPr id="45" name="组合 44"/>
          <p:cNvGrpSpPr/>
          <p:nvPr/>
        </p:nvGrpSpPr>
        <p:grpSpPr>
          <a:xfrm>
            <a:off x="2071670" y="2714620"/>
            <a:ext cx="3143272" cy="2000264"/>
            <a:chOff x="2214546" y="2928934"/>
            <a:chExt cx="3143272" cy="2000264"/>
          </a:xfrm>
        </p:grpSpPr>
        <p:sp>
          <p:nvSpPr>
            <p:cNvPr id="20482"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3"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4"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5"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6"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7"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8"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89"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90"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91"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2"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3"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4"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5"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6"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7"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8"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499"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00"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01"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02"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03"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504"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9" name="灯片编号占位符 2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500034" y="773652"/>
            <a:ext cx="7286676" cy="400110"/>
          </a:xfrm>
          <a:prstGeom prst="rect">
            <a:avLst/>
          </a:prstGeom>
          <a:noFill/>
          <a:ln w="9525">
            <a:noFill/>
            <a:miter lim="800000"/>
          </a:ln>
        </p:spPr>
        <p:txBody>
          <a:bodyPr wrap="square">
            <a:spAutoFit/>
          </a:bodyPr>
          <a:lstStyle/>
          <a:p>
            <a:pPr marL="342900" indent="-342900" algn="l">
              <a:lnSpc>
                <a:spcPct val="100000"/>
              </a:lnSpc>
              <a:buFontTx/>
              <a:buBlip>
                <a:blip r:embed="rId1"/>
              </a:buBlip>
            </a:pP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文氏图表示法</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。使用集合以及集合的包含关系描述树结构。</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6" name="AutoShape 7"/>
          <p:cNvSpPr>
            <a:spLocks noChangeArrowheads="1"/>
          </p:cNvSpPr>
          <p:nvPr/>
        </p:nvSpPr>
        <p:spPr bwMode="auto">
          <a:xfrm>
            <a:off x="3970361" y="3067050"/>
            <a:ext cx="431800" cy="433388"/>
          </a:xfrm>
          <a:prstGeom prst="right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p>
        </p:txBody>
      </p:sp>
      <p:pic>
        <p:nvPicPr>
          <p:cNvPr id="19457" name="Picture 1"/>
          <p:cNvPicPr>
            <a:picLocks noChangeAspect="1" noChangeArrowheads="1"/>
          </p:cNvPicPr>
          <p:nvPr/>
        </p:nvPicPr>
        <p:blipFill>
          <a:blip r:embed="rId2" cstate="print"/>
          <a:srcRect/>
          <a:stretch>
            <a:fillRect/>
          </a:stretch>
        </p:blipFill>
        <p:spPr bwMode="auto">
          <a:xfrm>
            <a:off x="4714876" y="2143116"/>
            <a:ext cx="3390900" cy="2581275"/>
          </a:xfrm>
          <a:prstGeom prst="rect">
            <a:avLst/>
          </a:prstGeom>
          <a:noFill/>
          <a:ln w="9525">
            <a:noFill/>
            <a:miter lim="800000"/>
            <a:headEnd/>
            <a:tailEnd/>
          </a:ln>
        </p:spPr>
      </p:pic>
      <p:grpSp>
        <p:nvGrpSpPr>
          <p:cNvPr id="24" name="组合 23"/>
          <p:cNvGrpSpPr/>
          <p:nvPr/>
        </p:nvGrpSpPr>
        <p:grpSpPr>
          <a:xfrm>
            <a:off x="857224" y="2143116"/>
            <a:ext cx="3143272" cy="2000264"/>
            <a:chOff x="2214546" y="2928934"/>
            <a:chExt cx="3143272" cy="2000264"/>
          </a:xfrm>
        </p:grpSpPr>
        <p:sp>
          <p:nvSpPr>
            <p:cNvPr id="26"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0" name="灯片编号占位符 4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857224" y="714356"/>
            <a:ext cx="6357982" cy="400110"/>
          </a:xfrm>
          <a:prstGeom prst="rect">
            <a:avLst/>
          </a:prstGeom>
          <a:noFill/>
          <a:ln w="9525">
            <a:noFill/>
            <a:miter lim="800000"/>
          </a:ln>
        </p:spPr>
        <p:txBody>
          <a:bodyPr wrap="square">
            <a:spAutoFit/>
          </a:bodyPr>
          <a:lstStyle/>
          <a:p>
            <a:pPr marL="342900" indent="-342900" algn="l">
              <a:lnSpc>
                <a:spcPct val="100000"/>
              </a:lnSpc>
              <a:buFontTx/>
              <a:buBlip>
                <a:blip r:embed="rId1"/>
              </a:buBlip>
            </a:pP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凹入表示法</a:t>
            </a:r>
            <a:r>
              <a:rPr lang="zh-CN" altLang="en-US" sz="2000" dirty="0">
                <a:solidFill>
                  <a:srgbClr val="0000FF"/>
                </a:solidFill>
                <a:latin typeface="仿宋" panose="02010609060101010101" pitchFamily="49" charset="-122"/>
                <a:ea typeface="仿宋" panose="02010609060101010101" pitchFamily="49" charset="-122"/>
                <a:cs typeface="Times New Roman" panose="02020603050405020304" pitchFamily="18" charset="0"/>
              </a:rPr>
              <a:t>。使用线段的伸缩关系描述树结构。</a:t>
            </a:r>
            <a:endParaRPr lang="zh-CN" altLang="en-US" sz="2000" dirty="0">
              <a:solidFill>
                <a:srgbClr val="0000FF"/>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5" name="AutoShape 6"/>
          <p:cNvSpPr>
            <a:spLocks noChangeArrowheads="1"/>
          </p:cNvSpPr>
          <p:nvPr/>
        </p:nvSpPr>
        <p:spPr bwMode="auto">
          <a:xfrm>
            <a:off x="3857620" y="3071810"/>
            <a:ext cx="431800" cy="433388"/>
          </a:xfrm>
          <a:prstGeom prst="right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wrap="none" anchor="ctr"/>
          <a:lstStyle/>
          <a:p>
            <a:pPr algn="l"/>
            <a:endParaRPr lang="zh-CN" altLang="en-US"/>
          </a:p>
        </p:txBody>
      </p:sp>
      <p:grpSp>
        <p:nvGrpSpPr>
          <p:cNvPr id="23" name="组合 22"/>
          <p:cNvGrpSpPr/>
          <p:nvPr/>
        </p:nvGrpSpPr>
        <p:grpSpPr>
          <a:xfrm>
            <a:off x="785786" y="2285992"/>
            <a:ext cx="3143272" cy="2000264"/>
            <a:chOff x="2214546" y="2928934"/>
            <a:chExt cx="3143272" cy="2000264"/>
          </a:xfrm>
        </p:grpSpPr>
        <p:sp>
          <p:nvSpPr>
            <p:cNvPr id="25"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pic>
        <p:nvPicPr>
          <p:cNvPr id="18433" name="Picture 1"/>
          <p:cNvPicPr>
            <a:picLocks noChangeAspect="1" noChangeArrowheads="1"/>
          </p:cNvPicPr>
          <p:nvPr/>
        </p:nvPicPr>
        <p:blipFill>
          <a:blip r:embed="rId2" cstate="print"/>
          <a:srcRect/>
          <a:stretch>
            <a:fillRect/>
          </a:stretch>
        </p:blipFill>
        <p:spPr bwMode="auto">
          <a:xfrm>
            <a:off x="4357686" y="1785926"/>
            <a:ext cx="2938471" cy="2938471"/>
          </a:xfrm>
          <a:prstGeom prst="rect">
            <a:avLst/>
          </a:prstGeom>
          <a:noFill/>
          <a:ln w="9525">
            <a:noFill/>
            <a:miter lim="800000"/>
            <a:headEnd/>
            <a:tailEnd/>
          </a:ln>
        </p:spPr>
      </p:pic>
      <p:sp>
        <p:nvSpPr>
          <p:cNvPr id="49" name="灯片编号占位符 4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500034" y="642918"/>
            <a:ext cx="7786742" cy="853760"/>
          </a:xfrm>
          <a:prstGeom prst="rect">
            <a:avLst/>
          </a:prstGeom>
          <a:noFill/>
          <a:ln w="9525">
            <a:noFill/>
            <a:miter lim="800000"/>
          </a:ln>
        </p:spPr>
        <p:txBody>
          <a:bodyPr wrap="square">
            <a:spAutoFit/>
          </a:bodyPr>
          <a:lstStyle/>
          <a:p>
            <a:pPr marL="342900" indent="-342900" algn="l">
              <a:lnSpc>
                <a:spcPts val="3200"/>
              </a:lnSpc>
              <a:buFontTx/>
              <a:buBlip>
                <a:blip r:embed="rId1"/>
              </a:buBlip>
            </a:pP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括号表示法</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将树的根结点写在括号的左边，除根结点之外的其余结点写在括号中并用逗号分隔。</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5" name="AutoShape 6"/>
          <p:cNvSpPr>
            <a:spLocks noChangeArrowheads="1"/>
          </p:cNvSpPr>
          <p:nvPr/>
        </p:nvSpPr>
        <p:spPr bwMode="auto">
          <a:xfrm>
            <a:off x="3997324" y="3281364"/>
            <a:ext cx="431800" cy="433388"/>
          </a:xfrm>
          <a:prstGeom prst="right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wrap="none" anchor="ctr"/>
          <a:lstStyle/>
          <a:p>
            <a:pPr algn="l"/>
            <a:endParaRPr lang="zh-CN" altLang="en-US" sz="1800"/>
          </a:p>
        </p:txBody>
      </p:sp>
      <p:sp>
        <p:nvSpPr>
          <p:cNvPr id="6" name="TextBox 5"/>
          <p:cNvSpPr txBox="1"/>
          <p:nvPr/>
        </p:nvSpPr>
        <p:spPr>
          <a:xfrm>
            <a:off x="4714876" y="3329382"/>
            <a:ext cx="4000528" cy="313932"/>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cs typeface="Consolas" panose="020B0609020204030204" pitchFamily="49" charset="0"/>
              </a:rPr>
              <a:t>A(B(E,F),C(G(J)),D(H,I(K,L,M)))</a:t>
            </a:r>
            <a:endParaRPr lang="zh-CN" altLang="zh-CN" sz="1800">
              <a:solidFill>
                <a:srgbClr val="0000FF"/>
              </a:solidFill>
              <a:latin typeface="Consolas" panose="020B0609020204030204" pitchFamily="49" charset="0"/>
              <a:cs typeface="Consolas" panose="020B0609020204030204" pitchFamily="49" charset="0"/>
            </a:endParaRPr>
          </a:p>
        </p:txBody>
      </p:sp>
      <p:sp>
        <p:nvSpPr>
          <p:cNvPr id="23" name="TextBox 22"/>
          <p:cNvSpPr txBox="1"/>
          <p:nvPr/>
        </p:nvSpPr>
        <p:spPr>
          <a:xfrm>
            <a:off x="4714876" y="4071942"/>
            <a:ext cx="3500462" cy="369332"/>
          </a:xfrm>
          <a:prstGeom prst="rect">
            <a:avLst/>
          </a:prstGeom>
          <a:noFill/>
        </p:spPr>
        <p:txBody>
          <a:bodyPr wrap="square" rtlCol="0">
            <a:spAutoFit/>
          </a:bodyPr>
          <a:lstStyle/>
          <a:p>
            <a:pPr algn="l">
              <a:lnSpc>
                <a:spcPct val="100000"/>
              </a:lnSpc>
              <a:spcBef>
                <a:spcPts val="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子树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，子树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mj-ea"/>
                <a:ea typeface="+mj-ea"/>
                <a:cs typeface="Consolas" panose="020B0609020204030204" pitchFamily="49" charset="0"/>
              </a:rPr>
              <a: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，子树</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4" name="组合 23"/>
          <p:cNvGrpSpPr/>
          <p:nvPr/>
        </p:nvGrpSpPr>
        <p:grpSpPr>
          <a:xfrm>
            <a:off x="785786" y="2285992"/>
            <a:ext cx="3143272" cy="2000264"/>
            <a:chOff x="2214546" y="2928934"/>
            <a:chExt cx="3143272" cy="2000264"/>
          </a:xfrm>
        </p:grpSpPr>
        <p:sp>
          <p:nvSpPr>
            <p:cNvPr id="26"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0" name="灯片编号占位符 4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7.1.3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树的基本术语</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Line 30"/>
          <p:cNvSpPr>
            <a:spLocks noChangeShapeType="1"/>
          </p:cNvSpPr>
          <p:nvPr/>
        </p:nvSpPr>
        <p:spPr bwMode="auto">
          <a:xfrm flipH="1">
            <a:off x="3500430" y="2586033"/>
            <a:ext cx="357190" cy="217486"/>
          </a:xfrm>
          <a:prstGeom prst="line">
            <a:avLst/>
          </a:prstGeom>
          <a:noFill/>
          <a:ln w="28575">
            <a:solidFill>
              <a:srgbClr val="CC00FF"/>
            </a:solidFill>
            <a:round/>
            <a:tailEnd type="stealth" w="med" len="lg"/>
          </a:ln>
        </p:spPr>
        <p:txBody>
          <a:bodyPr wrap="none"/>
          <a:lstStyle/>
          <a:p>
            <a:endParaRPr lang="zh-CN" altLang="en-US"/>
          </a:p>
        </p:txBody>
      </p:sp>
      <p:sp>
        <p:nvSpPr>
          <p:cNvPr id="6" name="Text Box 31"/>
          <p:cNvSpPr txBox="1">
            <a:spLocks noChangeArrowheads="1"/>
          </p:cNvSpPr>
          <p:nvPr/>
        </p:nvSpPr>
        <p:spPr bwMode="auto">
          <a:xfrm>
            <a:off x="3652831" y="2400293"/>
            <a:ext cx="1079500" cy="313932"/>
          </a:xfrm>
          <a:prstGeom prst="rect">
            <a:avLst/>
          </a:prstGeom>
          <a:noFill/>
          <a:ln w="9525" algn="ctr">
            <a:noFill/>
            <a:miter lim="800000"/>
            <a:tailEnd type="none" w="med" len="lg"/>
          </a:ln>
        </p:spPr>
        <p:txBody>
          <a:bodyPr>
            <a:spAutoFit/>
          </a:bodyPr>
          <a:lstStyle/>
          <a:p>
            <a:pPr algn="ctr">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度为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32"/>
          <p:cNvSpPr txBox="1">
            <a:spLocks noChangeArrowheads="1"/>
          </p:cNvSpPr>
          <p:nvPr/>
        </p:nvSpPr>
        <p:spPr bwMode="auto">
          <a:xfrm>
            <a:off x="4519612" y="2972192"/>
            <a:ext cx="857256" cy="313932"/>
          </a:xfrm>
          <a:prstGeom prst="rect">
            <a:avLst/>
          </a:prstGeom>
          <a:noFill/>
          <a:ln w="9525" algn="ctr">
            <a:noFill/>
            <a:miter lim="800000"/>
            <a:tailEnd type="none" w="med" len="lg"/>
          </a:ln>
        </p:spPr>
        <p:txBody>
          <a:bodyPr wrap="square">
            <a:spAutoFit/>
          </a:bodyPr>
          <a:lstStyle/>
          <a:p>
            <a:pPr algn="ctr">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33"/>
          <p:cNvSpPr>
            <a:spLocks noChangeShapeType="1"/>
          </p:cNvSpPr>
          <p:nvPr/>
        </p:nvSpPr>
        <p:spPr bwMode="auto">
          <a:xfrm flipH="1">
            <a:off x="4435468" y="3184122"/>
            <a:ext cx="215900" cy="215900"/>
          </a:xfrm>
          <a:prstGeom prst="line">
            <a:avLst/>
          </a:prstGeom>
          <a:noFill/>
          <a:ln w="28575">
            <a:solidFill>
              <a:srgbClr val="CC00FF"/>
            </a:solidFill>
            <a:round/>
            <a:tailEnd type="stealth" w="med" len="lg"/>
          </a:ln>
        </p:spPr>
        <p:txBody>
          <a:bodyPr wrap="none"/>
          <a:lstStyle/>
          <a:p>
            <a:endParaRPr lang="zh-CN" altLang="en-US"/>
          </a:p>
        </p:txBody>
      </p:sp>
      <p:sp>
        <p:nvSpPr>
          <p:cNvPr id="9" name="TextBox 33"/>
          <p:cNvSpPr txBox="1">
            <a:spLocks noChangeArrowheads="1"/>
          </p:cNvSpPr>
          <p:nvPr/>
        </p:nvSpPr>
        <p:spPr bwMode="auto">
          <a:xfrm>
            <a:off x="785786" y="1357298"/>
            <a:ext cx="7143800" cy="759632"/>
          </a:xfrm>
          <a:prstGeom prst="rect">
            <a:avLst/>
          </a:prstGeom>
          <a:noFill/>
          <a:ln w="9525">
            <a:noFill/>
            <a:miter lim="800000"/>
          </a:ln>
        </p:spPr>
        <p:txBody>
          <a:bodyPr wrap="square">
            <a:spAutoFit/>
          </a:bodyPr>
          <a:lstStyle/>
          <a:p>
            <a:pPr marL="457200" indent="-457200" algn="l">
              <a:lnSpc>
                <a:spcPts val="2800"/>
              </a:lnSpc>
              <a:spcBef>
                <a:spcPts val="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的度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树中每个结点具有的子树数或者后继结点数称为该结点的</a:t>
            </a: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度</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grpSp>
        <p:nvGrpSpPr>
          <p:cNvPr id="26" name="组合 25"/>
          <p:cNvGrpSpPr/>
          <p:nvPr/>
        </p:nvGrpSpPr>
        <p:grpSpPr>
          <a:xfrm>
            <a:off x="2214546" y="2786058"/>
            <a:ext cx="3143272" cy="2000264"/>
            <a:chOff x="2214546" y="2928934"/>
            <a:chExt cx="3143272" cy="2000264"/>
          </a:xfrm>
        </p:grpSpPr>
        <p:sp>
          <p:nvSpPr>
            <p:cNvPr id="28"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Oval 11"/>
            <p:cNvSpPr>
              <a:spLocks noChangeArrowheads="1"/>
            </p:cNvSpPr>
            <p:nvPr/>
          </p:nvSpPr>
          <p:spPr bwMode="auto">
            <a:xfrm>
              <a:off x="3160540" y="2928934"/>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17"/>
            <p:cNvSpPr>
              <a:spLocks noChangeArrowheads="1"/>
            </p:cNvSpPr>
            <p:nvPr/>
          </p:nvSpPr>
          <p:spPr bwMode="auto">
            <a:xfrm>
              <a:off x="4108543"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9"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2" name="灯片编号占位符 5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642910" y="785794"/>
            <a:ext cx="6572296" cy="400110"/>
          </a:xfrm>
          <a:prstGeom prst="rect">
            <a:avLst/>
          </a:prstGeom>
          <a:noFill/>
          <a:ln w="9525">
            <a:noFill/>
            <a:miter lim="800000"/>
          </a:ln>
        </p:spPr>
        <p:txBody>
          <a:bodyPr wrap="square">
            <a:spAutoFit/>
          </a:bodyPr>
          <a:lstStyle/>
          <a:p>
            <a:pPr marL="457200" indent="-457200" algn="l">
              <a:lnSpc>
                <a:spcPct val="100000"/>
              </a:lnSpc>
              <a:spcBef>
                <a:spcPct val="5000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树</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的度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树中所有结点的度的最大值称之为树的</a:t>
            </a: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度</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a:t>
            </a:r>
            <a:endParaRPr lang="zh-CN" altLang="en-US" sz="2000" b="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5" name="TextBox 4"/>
          <p:cNvSpPr txBox="1"/>
          <p:nvPr/>
        </p:nvSpPr>
        <p:spPr>
          <a:xfrm>
            <a:off x="4357686" y="2500306"/>
            <a:ext cx="2214578" cy="313932"/>
          </a:xfrm>
          <a:prstGeom prst="rect">
            <a:avLst/>
          </a:prstGeom>
          <a:noFill/>
        </p:spPr>
        <p:txBody>
          <a:bodyPr wrap="square" rtlCol="0">
            <a:spAutoFit/>
          </a:bodyPr>
          <a:lstStyle/>
          <a:p>
            <a:pPr algn="l"/>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树的度为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500166" y="1928802"/>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714356"/>
            <a:ext cx="8143932" cy="1015663"/>
          </a:xfrm>
          <a:prstGeom prst="rect">
            <a:avLst/>
          </a:prstGeom>
          <a:noFill/>
          <a:ln w="9525">
            <a:noFill/>
            <a:miter lim="800000"/>
          </a:ln>
        </p:spPr>
        <p:txBody>
          <a:bodyPr wrap="square">
            <a:spAutoFit/>
          </a:bodyPr>
          <a:lstStyle/>
          <a:p>
            <a:pPr marL="457200" indent="-457200" algn="l">
              <a:lnSpc>
                <a:spcPct val="150000"/>
              </a:lnSpc>
              <a:spcBef>
                <a:spcPct val="5000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分支</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度大于</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的结点称为分支结点或非终端结点。度为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的结点称为单分支结点，度为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的结点称为双分支结点，依次</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类推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857752" y="3143248"/>
            <a:ext cx="3714776" cy="338554"/>
          </a:xfrm>
          <a:prstGeom prst="rect">
            <a:avLst/>
          </a:prstGeom>
          <a:noFill/>
        </p:spPr>
        <p:txBody>
          <a:bodyPr wrap="square" rtlCol="0">
            <a:spAutoFit/>
          </a:bodyPr>
          <a:lstStyle/>
          <a:p>
            <a:pPr algn="l"/>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为分支结点</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643042" y="2285992"/>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785794"/>
            <a:ext cx="8072494" cy="400110"/>
          </a:xfrm>
          <a:prstGeom prst="rect">
            <a:avLst/>
          </a:prstGeom>
          <a:noFill/>
          <a:ln w="9525">
            <a:noFill/>
            <a:miter lim="800000"/>
          </a:ln>
        </p:spPr>
        <p:txBody>
          <a:bodyPr wrap="square">
            <a:spAutoFit/>
          </a:bodyPr>
          <a:lstStyle/>
          <a:p>
            <a:pPr marL="457200" indent="-457200" algn="l">
              <a:lnSpc>
                <a:spcPct val="100000"/>
              </a:lnSpc>
              <a:spcBef>
                <a:spcPct val="5000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叶子</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结点（或叶结点）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度为零的结点称为叶子结点或终端</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429124" y="2928934"/>
            <a:ext cx="4071966" cy="400110"/>
          </a:xfrm>
          <a:prstGeom prst="rect">
            <a:avLst/>
          </a:prstGeom>
          <a:noFill/>
        </p:spPr>
        <p:txBody>
          <a:bodyPr wrap="square" rtlCol="0">
            <a:spAutoFit/>
          </a:bodyPr>
          <a:lstStyle/>
          <a:p>
            <a:pPr algn="l">
              <a:lnSpc>
                <a:spcPct val="100000"/>
              </a:lnSpc>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为叶子结点</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357290" y="2214554"/>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714348" y="714356"/>
            <a:ext cx="7358114" cy="400110"/>
          </a:xfrm>
          <a:prstGeom prst="rect">
            <a:avLst/>
          </a:prstGeom>
          <a:noFill/>
          <a:ln w="9525">
            <a:noFill/>
            <a:miter lim="800000"/>
          </a:ln>
        </p:spPr>
        <p:txBody>
          <a:bodyPr wrap="square">
            <a:spAutoFit/>
          </a:bodyPr>
          <a:lstStyle/>
          <a:p>
            <a:pPr marL="457200" indent="-457200" algn="l">
              <a:lnSpc>
                <a:spcPct val="10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孩子</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一个结点的后继称之为该结点的孩子</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4500562" y="2357430"/>
            <a:ext cx="364333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的孩子结点为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500166" y="2071678"/>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71472" y="714356"/>
            <a:ext cx="7929618" cy="400110"/>
          </a:xfrm>
          <a:prstGeom prst="rect">
            <a:avLst/>
          </a:prstGeom>
          <a:noFill/>
          <a:ln w="9525">
            <a:noFill/>
            <a:miter lim="800000"/>
          </a:ln>
        </p:spPr>
        <p:txBody>
          <a:bodyPr wrap="square">
            <a:spAutoFit/>
          </a:bodyPr>
          <a:lstStyle/>
          <a:p>
            <a:pPr marL="457200" indent="-457200" algn="l">
              <a:lnSpc>
                <a:spcPct val="10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双亲</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结点（或父亲结点</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。一个结点称为其后继结点的双亲</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4429124" y="2643182"/>
            <a:ext cx="3214710" cy="338554"/>
          </a:xfrm>
          <a:prstGeom prst="rect">
            <a:avLst/>
          </a:prstGeom>
          <a:noFill/>
        </p:spPr>
        <p:txBody>
          <a:bodyPr wrap="square" rtlCol="0">
            <a:spAutoFit/>
          </a:bodyPr>
          <a:lstStyle/>
          <a:p>
            <a:pPr algn="l"/>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的双亲结点均为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428728" y="2143116"/>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1154" y="500042"/>
            <a:ext cx="8178498" cy="810478"/>
          </a:xfrm>
          <a:prstGeom prst="rect">
            <a:avLst/>
          </a:prstGeom>
          <a:noFill/>
          <a:ln w="9525">
            <a:noFill/>
            <a:miter lim="800000"/>
          </a:ln>
        </p:spPr>
        <p:txBody>
          <a:bodyPr wrap="square">
            <a:spAutoFit/>
          </a:bodyPr>
          <a:lstStyle/>
          <a:p>
            <a:pPr marL="457200" indent="-457200" algn="l">
              <a:lnSpc>
                <a:spcPts val="2800"/>
              </a:lnSpc>
              <a:spcBef>
                <a:spcPts val="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子孙</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一个结点的子树中除该结点外的所有结点称之为该结点的子孙结点</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071934" y="2500306"/>
            <a:ext cx="4786346"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结点的子孙结点为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142976" y="2143116"/>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357158" y="428604"/>
            <a:ext cx="7858183" cy="810478"/>
          </a:xfrm>
          <a:prstGeom prst="rect">
            <a:avLst/>
          </a:prstGeom>
          <a:noFill/>
          <a:ln w="9525">
            <a:noFill/>
            <a:miter lim="800000"/>
          </a:ln>
        </p:spPr>
        <p:txBody>
          <a:bodyPr wrap="square">
            <a:spAutoFit/>
          </a:bodyPr>
          <a:lstStyle/>
          <a:p>
            <a:pPr marL="457200" indent="-457200" algn="l">
              <a:lnSpc>
                <a:spcPts val="2800"/>
              </a:lnSpc>
              <a:spcBef>
                <a:spcPts val="0"/>
              </a:spcBef>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祖先</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从树根结点到达某个结点的路径上通过的所有结点称为该结点的祖先结点（不含该结点自身）。</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572000" y="2714620"/>
            <a:ext cx="3643338"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的祖先结点为</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1643042" y="2071678"/>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a:solidFill>
                <a:srgbClr val="C0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2"/>
            </a:lnRef>
            <a:fillRef idx="3">
              <a:schemeClr val="accent2"/>
            </a:fillRef>
            <a:effectRef idx="2">
              <a:schemeClr val="accent2"/>
            </a:effectRef>
            <a:fontRef idx="minor">
              <a:schemeClr val="lt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a:solidFill>
                <a:srgbClr val="C00000"/>
              </a:solidFill>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785786" y="1000108"/>
            <a:ext cx="7358114" cy="400110"/>
          </a:xfrm>
          <a:prstGeom prst="rect">
            <a:avLst/>
          </a:prstGeom>
          <a:noFill/>
          <a:ln w="9525">
            <a:noFill/>
            <a:miter lim="800000"/>
          </a:ln>
        </p:spPr>
        <p:txBody>
          <a:bodyPr wrap="square">
            <a:spAutoFit/>
          </a:bodyPr>
          <a:lstStyle/>
          <a:p>
            <a:pPr marL="457200" indent="-457200" algn="l">
              <a:lnSpc>
                <a:spcPct val="10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兄弟</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结点</a:t>
            </a:r>
            <a:r>
              <a:rPr lang="zh-CN" altLang="en-US" sz="2000" dirty="0">
                <a:solidFill>
                  <a:srgbClr val="0000FF"/>
                </a:solidFill>
                <a:ea typeface="楷体" panose="02010609060101010101" pitchFamily="49" charset="-122"/>
                <a:cs typeface="Times New Roman" panose="02020603050405020304" pitchFamily="18"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具有同一双亲的结点互相称之为兄弟</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143504" y="3214686"/>
            <a:ext cx="3214710" cy="400110"/>
          </a:xfrm>
          <a:prstGeom prst="rect">
            <a:avLst/>
          </a:prstGeom>
          <a:noFill/>
        </p:spPr>
        <p:txBody>
          <a:bodyPr wrap="square" rtlCol="0">
            <a:spAutoFit/>
          </a:bodyPr>
          <a:lstStyle/>
          <a:p>
            <a:pPr algn="l">
              <a:lnSpc>
                <a:spcPct val="100000"/>
              </a:lnSpc>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是兄弟结点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2" name="组合 21"/>
          <p:cNvGrpSpPr/>
          <p:nvPr/>
        </p:nvGrpSpPr>
        <p:grpSpPr>
          <a:xfrm>
            <a:off x="2071670" y="2714620"/>
            <a:ext cx="3143272" cy="2000264"/>
            <a:chOff x="2214546" y="2928934"/>
            <a:chExt cx="3143272" cy="2000264"/>
          </a:xfrm>
        </p:grpSpPr>
        <p:sp>
          <p:nvSpPr>
            <p:cNvPr id="24"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21"/>
            <p:cNvSpPr>
              <a:spLocks noChangeArrowheads="1"/>
            </p:cNvSpPr>
            <p:nvPr/>
          </p:nvSpPr>
          <p:spPr bwMode="auto">
            <a:xfrm>
              <a:off x="5073618"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22"/>
            <p:cNvSpPr>
              <a:spLocks noChangeArrowheads="1"/>
            </p:cNvSpPr>
            <p:nvPr/>
          </p:nvSpPr>
          <p:spPr bwMode="auto">
            <a:xfrm>
              <a:off x="4028204"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23"/>
            <p:cNvSpPr>
              <a:spLocks noChangeArrowheads="1"/>
            </p:cNvSpPr>
            <p:nvPr/>
          </p:nvSpPr>
          <p:spPr bwMode="auto">
            <a:xfrm>
              <a:off x="4566477" y="4620246"/>
              <a:ext cx="284200" cy="308952"/>
            </a:xfrm>
            <a:prstGeom prst="ellipse">
              <a:avLst/>
            </a:prstGeom>
          </p:spPr>
          <p:style>
            <a:lnRef idx="1">
              <a:schemeClr val="accent6"/>
            </a:lnRef>
            <a:fillRef idx="2">
              <a:schemeClr val="accent6"/>
            </a:fillRef>
            <a:effectRef idx="1">
              <a:schemeClr val="accent6"/>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8" name="灯片编号占位符 4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642910" y="571480"/>
            <a:ext cx="7572428" cy="961674"/>
          </a:xfrm>
          <a:prstGeom prst="rect">
            <a:avLst/>
          </a:prstGeom>
          <a:noFill/>
          <a:ln w="9525">
            <a:noFill/>
            <a:miter lim="800000"/>
          </a:ln>
        </p:spPr>
        <p:txBody>
          <a:bodyPr wrap="square">
            <a:spAutoFit/>
          </a:bodyPr>
          <a:lstStyle/>
          <a:p>
            <a:pPr marL="457200" indent="-457200" algn="l">
              <a:lnSpc>
                <a:spcPct val="15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结点</a:t>
            </a:r>
            <a:r>
              <a:rPr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层次</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树具有一种层次结构，根结点为第一层，其孩子结点为第二层，如此类推得到每个结点的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层次</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 Box 29"/>
          <p:cNvSpPr txBox="1">
            <a:spLocks noChangeArrowheads="1"/>
          </p:cNvSpPr>
          <p:nvPr/>
        </p:nvSpPr>
        <p:spPr bwMode="auto">
          <a:xfrm>
            <a:off x="6283339" y="2484040"/>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dirty="0">
                <a:solidFill>
                  <a:srgbClr val="CC00FF"/>
                </a:solidFill>
                <a:latin typeface="Consolas" panose="020B0609020204030204" pitchFamily="49" charset="0"/>
                <a:cs typeface="Consolas" panose="020B0609020204030204" pitchFamily="49" charset="0"/>
              </a:rPr>
              <a:t>1</a:t>
            </a:r>
            <a:endParaRPr lang="en-US" altLang="zh-CN" sz="1800" b="0" dirty="0">
              <a:solidFill>
                <a:srgbClr val="CC00FF"/>
              </a:solidFill>
              <a:latin typeface="Consolas" panose="020B0609020204030204" pitchFamily="49" charset="0"/>
              <a:cs typeface="Consolas" panose="020B0609020204030204" pitchFamily="49" charset="0"/>
            </a:endParaRPr>
          </a:p>
        </p:txBody>
      </p:sp>
      <p:sp>
        <p:nvSpPr>
          <p:cNvPr id="6" name="Text Box 30"/>
          <p:cNvSpPr txBox="1">
            <a:spLocks noChangeArrowheads="1"/>
          </p:cNvSpPr>
          <p:nvPr/>
        </p:nvSpPr>
        <p:spPr bwMode="auto">
          <a:xfrm>
            <a:off x="6283339" y="3133328"/>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2</a:t>
            </a:r>
            <a:endParaRPr lang="en-US" altLang="zh-CN" sz="1800" b="0">
              <a:solidFill>
                <a:srgbClr val="CC00FF"/>
              </a:solidFill>
              <a:latin typeface="Consolas" panose="020B0609020204030204" pitchFamily="49" charset="0"/>
              <a:cs typeface="Consolas" panose="020B0609020204030204" pitchFamily="49" charset="0"/>
            </a:endParaRPr>
          </a:p>
        </p:txBody>
      </p:sp>
      <p:sp>
        <p:nvSpPr>
          <p:cNvPr id="7" name="Text Box 31"/>
          <p:cNvSpPr txBox="1">
            <a:spLocks noChangeArrowheads="1"/>
          </p:cNvSpPr>
          <p:nvPr/>
        </p:nvSpPr>
        <p:spPr bwMode="auto">
          <a:xfrm>
            <a:off x="6283339" y="3738565"/>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3</a:t>
            </a:r>
            <a:endParaRPr lang="en-US" altLang="zh-CN" sz="1800" b="0">
              <a:solidFill>
                <a:srgbClr val="CC00FF"/>
              </a:solidFill>
              <a:latin typeface="Consolas" panose="020B0609020204030204" pitchFamily="49" charset="0"/>
              <a:cs typeface="Consolas" panose="020B0609020204030204" pitchFamily="49" charset="0"/>
            </a:endParaRPr>
          </a:p>
        </p:txBody>
      </p:sp>
      <p:sp>
        <p:nvSpPr>
          <p:cNvPr id="8" name="Text Box 32"/>
          <p:cNvSpPr txBox="1">
            <a:spLocks noChangeArrowheads="1"/>
          </p:cNvSpPr>
          <p:nvPr/>
        </p:nvSpPr>
        <p:spPr bwMode="auto">
          <a:xfrm>
            <a:off x="6283339" y="4376744"/>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4</a:t>
            </a:r>
            <a:endParaRPr lang="en-US" altLang="zh-CN" sz="1800" b="0">
              <a:solidFill>
                <a:srgbClr val="CC00FF"/>
              </a:solidFill>
              <a:latin typeface="Consolas" panose="020B0609020204030204" pitchFamily="49" charset="0"/>
              <a:cs typeface="Consolas" panose="020B0609020204030204" pitchFamily="49" charset="0"/>
            </a:endParaRPr>
          </a:p>
        </p:txBody>
      </p:sp>
      <p:cxnSp>
        <p:nvCxnSpPr>
          <p:cNvPr id="9" name="直接连接符 23"/>
          <p:cNvCxnSpPr>
            <a:cxnSpLocks noChangeShapeType="1"/>
          </p:cNvCxnSpPr>
          <p:nvPr/>
        </p:nvCxnSpPr>
        <p:spPr bwMode="auto">
          <a:xfrm>
            <a:off x="3929074" y="2659073"/>
            <a:ext cx="2286000" cy="1588"/>
          </a:xfrm>
          <a:prstGeom prst="line">
            <a:avLst/>
          </a:prstGeom>
          <a:noFill/>
          <a:ln w="28575" algn="ctr">
            <a:solidFill>
              <a:srgbClr val="CC3300"/>
            </a:solidFill>
            <a:prstDash val="sysDash"/>
            <a:round/>
          </a:ln>
        </p:spPr>
      </p:cxnSp>
      <p:cxnSp>
        <p:nvCxnSpPr>
          <p:cNvPr id="10" name="直接连接符 25"/>
          <p:cNvCxnSpPr>
            <a:cxnSpLocks noChangeShapeType="1"/>
          </p:cNvCxnSpPr>
          <p:nvPr/>
        </p:nvCxnSpPr>
        <p:spPr bwMode="auto">
          <a:xfrm flipV="1">
            <a:off x="4643438" y="3255973"/>
            <a:ext cx="1500187" cy="0"/>
          </a:xfrm>
          <a:prstGeom prst="line">
            <a:avLst/>
          </a:prstGeom>
          <a:noFill/>
          <a:ln w="28575" algn="ctr">
            <a:solidFill>
              <a:srgbClr val="CC3300"/>
            </a:solidFill>
            <a:prstDash val="sysDash"/>
            <a:round/>
          </a:ln>
        </p:spPr>
      </p:cxnSp>
      <p:cxnSp>
        <p:nvCxnSpPr>
          <p:cNvPr id="11" name="直接连接符 27"/>
          <p:cNvCxnSpPr>
            <a:cxnSpLocks noChangeShapeType="1"/>
          </p:cNvCxnSpPr>
          <p:nvPr/>
        </p:nvCxnSpPr>
        <p:spPr bwMode="auto">
          <a:xfrm>
            <a:off x="5053023" y="3857628"/>
            <a:ext cx="1071563" cy="1588"/>
          </a:xfrm>
          <a:prstGeom prst="line">
            <a:avLst/>
          </a:prstGeom>
          <a:noFill/>
          <a:ln w="28575" algn="ctr">
            <a:solidFill>
              <a:srgbClr val="CC3300"/>
            </a:solidFill>
            <a:prstDash val="sysDash"/>
            <a:round/>
          </a:ln>
        </p:spPr>
      </p:cxnSp>
      <p:cxnSp>
        <p:nvCxnSpPr>
          <p:cNvPr id="12" name="直接连接符 29"/>
          <p:cNvCxnSpPr>
            <a:cxnSpLocks noChangeShapeType="1"/>
          </p:cNvCxnSpPr>
          <p:nvPr/>
        </p:nvCxnSpPr>
        <p:spPr bwMode="auto">
          <a:xfrm flipV="1">
            <a:off x="5214942" y="4500570"/>
            <a:ext cx="857257" cy="0"/>
          </a:xfrm>
          <a:prstGeom prst="line">
            <a:avLst/>
          </a:prstGeom>
          <a:noFill/>
          <a:ln w="28575" algn="ctr">
            <a:solidFill>
              <a:srgbClr val="CC3300"/>
            </a:solidFill>
            <a:prstDash val="sysDash"/>
            <a:round/>
          </a:ln>
        </p:spPr>
      </p:cxnSp>
      <p:grpSp>
        <p:nvGrpSpPr>
          <p:cNvPr id="29" name="组合 28"/>
          <p:cNvGrpSpPr/>
          <p:nvPr/>
        </p:nvGrpSpPr>
        <p:grpSpPr>
          <a:xfrm>
            <a:off x="1857356" y="2571744"/>
            <a:ext cx="3143272" cy="2000264"/>
            <a:chOff x="2214546" y="2928934"/>
            <a:chExt cx="3143272" cy="2000264"/>
          </a:xfrm>
        </p:grpSpPr>
        <p:sp>
          <p:nvSpPr>
            <p:cNvPr id="31"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1"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2"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3"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4"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5"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6"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7"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8"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49"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1"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4" name="灯片编号占位符 5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a:spLocks noChangeArrowheads="1"/>
          </p:cNvSpPr>
          <p:nvPr/>
        </p:nvSpPr>
        <p:spPr bwMode="auto">
          <a:xfrm>
            <a:off x="642910" y="428604"/>
            <a:ext cx="7786687" cy="400110"/>
          </a:xfrm>
          <a:prstGeom prst="rect">
            <a:avLst/>
          </a:prstGeom>
          <a:noFill/>
          <a:ln w="9525">
            <a:noFill/>
            <a:miter lim="800000"/>
          </a:ln>
        </p:spPr>
        <p:txBody>
          <a:bodyPr>
            <a:spAutoFit/>
          </a:bodyPr>
          <a:lstStyle/>
          <a:p>
            <a:pPr marL="457200" indent="-457200" algn="l">
              <a:lnSpc>
                <a:spcPct val="10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树的高度</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0000FF"/>
                </a:solidFill>
                <a:latin typeface="仿宋" panose="02010609060101010101" pitchFamily="49" charset="-122"/>
                <a:ea typeface="仿宋" panose="02010609060101010101" pitchFamily="49" charset="-122"/>
                <a:cs typeface="Consolas" panose="020B0609020204030204" pitchFamily="49" charset="0"/>
              </a:rPr>
              <a:t>树中结点的最大层次称为树的高度或深度。</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29" name="TextBox 28"/>
          <p:cNvSpPr txBox="1"/>
          <p:nvPr/>
        </p:nvSpPr>
        <p:spPr>
          <a:xfrm>
            <a:off x="2928926" y="4000504"/>
            <a:ext cx="1643074" cy="400110"/>
          </a:xfrm>
          <a:prstGeom prst="rect">
            <a:avLst/>
          </a:prstGeom>
          <a:noFill/>
        </p:spPr>
        <p:txBody>
          <a:bodyPr wrap="square" rtlCol="0">
            <a:spAutoFit/>
          </a:bodyPr>
          <a:lstStyle/>
          <a:p>
            <a:pPr algn="l">
              <a:lnSpc>
                <a:spcPct val="100000"/>
              </a:lnSpc>
            </a:pPr>
            <a:r>
              <a:rPr lang="zh-CN" altLang="en-US" sz="2000" spc="300" smtClean="0">
                <a:solidFill>
                  <a:srgbClr val="0000FF"/>
                </a:solidFill>
                <a:latin typeface="Consolas" panose="020B0609020204030204" pitchFamily="49" charset="0"/>
                <a:ea typeface="微软雅黑" panose="020B0503020204020204" pitchFamily="34" charset="-122"/>
                <a:cs typeface="Consolas" panose="020B0609020204030204" pitchFamily="49" charset="0"/>
              </a:rPr>
              <a:t>高度是</a:t>
            </a:r>
            <a:r>
              <a:rPr lang="en-US" sz="2000" spc="300" smtClean="0">
                <a:solidFill>
                  <a:srgbClr val="0000FF"/>
                </a:solidFill>
                <a:latin typeface="Consolas" panose="020B0609020204030204" pitchFamily="49" charset="0"/>
                <a:ea typeface="微软雅黑" panose="020B0503020204020204" pitchFamily="34" charset="-122"/>
                <a:cs typeface="Consolas" panose="020B0609020204030204" pitchFamily="49" charset="0"/>
              </a:rPr>
              <a:t>4</a:t>
            </a:r>
            <a:endParaRPr lang="zh-CN" altLang="en-US" sz="2000" spc="300">
              <a:solidFill>
                <a:srgbClr val="0000FF"/>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0" name="Text Box 29"/>
          <p:cNvSpPr txBox="1">
            <a:spLocks noChangeArrowheads="1"/>
          </p:cNvSpPr>
          <p:nvPr/>
        </p:nvSpPr>
        <p:spPr bwMode="auto">
          <a:xfrm>
            <a:off x="6497653" y="1432702"/>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dirty="0">
                <a:solidFill>
                  <a:srgbClr val="CC00FF"/>
                </a:solidFill>
                <a:latin typeface="Consolas" panose="020B0609020204030204" pitchFamily="49" charset="0"/>
                <a:cs typeface="Consolas" panose="020B0609020204030204" pitchFamily="49" charset="0"/>
              </a:rPr>
              <a:t>1</a:t>
            </a:r>
            <a:endParaRPr lang="en-US" altLang="zh-CN" sz="1800" b="0" dirty="0">
              <a:solidFill>
                <a:srgbClr val="CC00FF"/>
              </a:solidFill>
              <a:latin typeface="Consolas" panose="020B0609020204030204" pitchFamily="49" charset="0"/>
              <a:cs typeface="Consolas" panose="020B0609020204030204" pitchFamily="49" charset="0"/>
            </a:endParaRPr>
          </a:p>
        </p:txBody>
      </p:sp>
      <p:sp>
        <p:nvSpPr>
          <p:cNvPr id="32" name="Text Box 30"/>
          <p:cNvSpPr txBox="1">
            <a:spLocks noChangeArrowheads="1"/>
          </p:cNvSpPr>
          <p:nvPr/>
        </p:nvSpPr>
        <p:spPr bwMode="auto">
          <a:xfrm>
            <a:off x="6497653" y="2081990"/>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2</a:t>
            </a:r>
            <a:endParaRPr lang="en-US" altLang="zh-CN" sz="1800" b="0">
              <a:solidFill>
                <a:srgbClr val="CC00FF"/>
              </a:solidFill>
              <a:latin typeface="Consolas" panose="020B0609020204030204" pitchFamily="49" charset="0"/>
              <a:cs typeface="Consolas" panose="020B0609020204030204" pitchFamily="49" charset="0"/>
            </a:endParaRPr>
          </a:p>
        </p:txBody>
      </p:sp>
      <p:sp>
        <p:nvSpPr>
          <p:cNvPr id="33" name="Text Box 31"/>
          <p:cNvSpPr txBox="1">
            <a:spLocks noChangeArrowheads="1"/>
          </p:cNvSpPr>
          <p:nvPr/>
        </p:nvSpPr>
        <p:spPr bwMode="auto">
          <a:xfrm>
            <a:off x="6497653" y="2687227"/>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3</a:t>
            </a:r>
            <a:endParaRPr lang="en-US" altLang="zh-CN" sz="1800" b="0">
              <a:solidFill>
                <a:srgbClr val="CC00FF"/>
              </a:solidFill>
              <a:latin typeface="Consolas" panose="020B0609020204030204" pitchFamily="49" charset="0"/>
              <a:cs typeface="Consolas" panose="020B0609020204030204" pitchFamily="49" charset="0"/>
            </a:endParaRPr>
          </a:p>
        </p:txBody>
      </p:sp>
      <p:sp>
        <p:nvSpPr>
          <p:cNvPr id="34" name="Text Box 32"/>
          <p:cNvSpPr txBox="1">
            <a:spLocks noChangeArrowheads="1"/>
          </p:cNvSpPr>
          <p:nvPr/>
        </p:nvSpPr>
        <p:spPr bwMode="auto">
          <a:xfrm>
            <a:off x="6497653" y="3325406"/>
            <a:ext cx="360363" cy="317908"/>
          </a:xfrm>
          <a:prstGeom prst="rect">
            <a:avLst/>
          </a:prstGeom>
          <a:noFill/>
          <a:ln w="9525" algn="ctr">
            <a:noFill/>
            <a:miter lim="800000"/>
            <a:tailEnd type="none" w="med" len="lg"/>
          </a:ln>
        </p:spPr>
        <p:txBody>
          <a:bodyPr>
            <a:spAutoFit/>
          </a:bodyPr>
          <a:lstStyle/>
          <a:p>
            <a:pPr algn="l">
              <a:spcBef>
                <a:spcPct val="50000"/>
              </a:spcBef>
            </a:pPr>
            <a:r>
              <a:rPr lang="en-US" altLang="zh-CN" sz="1800" b="0">
                <a:solidFill>
                  <a:srgbClr val="CC00FF"/>
                </a:solidFill>
                <a:latin typeface="Consolas" panose="020B0609020204030204" pitchFamily="49" charset="0"/>
                <a:cs typeface="Consolas" panose="020B0609020204030204" pitchFamily="49" charset="0"/>
              </a:rPr>
              <a:t>4</a:t>
            </a:r>
            <a:endParaRPr lang="en-US" altLang="zh-CN" sz="1800" b="0">
              <a:solidFill>
                <a:srgbClr val="CC00FF"/>
              </a:solidFill>
              <a:latin typeface="Consolas" panose="020B0609020204030204" pitchFamily="49" charset="0"/>
              <a:cs typeface="Consolas" panose="020B0609020204030204" pitchFamily="49" charset="0"/>
            </a:endParaRPr>
          </a:p>
        </p:txBody>
      </p:sp>
      <p:cxnSp>
        <p:nvCxnSpPr>
          <p:cNvPr id="35" name="直接连接符 23"/>
          <p:cNvCxnSpPr>
            <a:cxnSpLocks noChangeShapeType="1"/>
          </p:cNvCxnSpPr>
          <p:nvPr/>
        </p:nvCxnSpPr>
        <p:spPr bwMode="auto">
          <a:xfrm>
            <a:off x="4143388" y="1607735"/>
            <a:ext cx="2286000" cy="1588"/>
          </a:xfrm>
          <a:prstGeom prst="line">
            <a:avLst/>
          </a:prstGeom>
          <a:noFill/>
          <a:ln w="28575" algn="ctr">
            <a:solidFill>
              <a:srgbClr val="CC3300"/>
            </a:solidFill>
            <a:prstDash val="sysDash"/>
            <a:round/>
          </a:ln>
        </p:spPr>
      </p:cxnSp>
      <p:cxnSp>
        <p:nvCxnSpPr>
          <p:cNvPr id="36" name="直接连接符 25"/>
          <p:cNvCxnSpPr>
            <a:cxnSpLocks noChangeShapeType="1"/>
          </p:cNvCxnSpPr>
          <p:nvPr/>
        </p:nvCxnSpPr>
        <p:spPr bwMode="auto">
          <a:xfrm flipV="1">
            <a:off x="4857752" y="2204635"/>
            <a:ext cx="1500187" cy="0"/>
          </a:xfrm>
          <a:prstGeom prst="line">
            <a:avLst/>
          </a:prstGeom>
          <a:noFill/>
          <a:ln w="28575" algn="ctr">
            <a:solidFill>
              <a:srgbClr val="CC3300"/>
            </a:solidFill>
            <a:prstDash val="sysDash"/>
            <a:round/>
          </a:ln>
        </p:spPr>
      </p:cxnSp>
      <p:cxnSp>
        <p:nvCxnSpPr>
          <p:cNvPr id="37" name="直接连接符 27"/>
          <p:cNvCxnSpPr>
            <a:cxnSpLocks noChangeShapeType="1"/>
          </p:cNvCxnSpPr>
          <p:nvPr/>
        </p:nvCxnSpPr>
        <p:spPr bwMode="auto">
          <a:xfrm>
            <a:off x="5267337" y="2806290"/>
            <a:ext cx="1071563" cy="1588"/>
          </a:xfrm>
          <a:prstGeom prst="line">
            <a:avLst/>
          </a:prstGeom>
          <a:noFill/>
          <a:ln w="28575" algn="ctr">
            <a:solidFill>
              <a:srgbClr val="CC3300"/>
            </a:solidFill>
            <a:prstDash val="sysDash"/>
            <a:round/>
          </a:ln>
        </p:spPr>
      </p:cxnSp>
      <p:cxnSp>
        <p:nvCxnSpPr>
          <p:cNvPr id="38" name="直接连接符 29"/>
          <p:cNvCxnSpPr>
            <a:cxnSpLocks noChangeShapeType="1"/>
          </p:cNvCxnSpPr>
          <p:nvPr/>
        </p:nvCxnSpPr>
        <p:spPr bwMode="auto">
          <a:xfrm flipV="1">
            <a:off x="5429256" y="3449232"/>
            <a:ext cx="857257" cy="0"/>
          </a:xfrm>
          <a:prstGeom prst="line">
            <a:avLst/>
          </a:prstGeom>
          <a:noFill/>
          <a:ln w="28575" algn="ctr">
            <a:solidFill>
              <a:srgbClr val="CC3300"/>
            </a:solidFill>
            <a:prstDash val="sysDash"/>
            <a:round/>
          </a:ln>
        </p:spPr>
      </p:cxnSp>
      <p:grpSp>
        <p:nvGrpSpPr>
          <p:cNvPr id="39" name="组合 38"/>
          <p:cNvGrpSpPr/>
          <p:nvPr/>
        </p:nvGrpSpPr>
        <p:grpSpPr>
          <a:xfrm>
            <a:off x="2071670" y="1520406"/>
            <a:ext cx="3143272" cy="2000264"/>
            <a:chOff x="2214546" y="2928934"/>
            <a:chExt cx="3143272" cy="2000264"/>
          </a:xfrm>
        </p:grpSpPr>
        <p:sp>
          <p:nvSpPr>
            <p:cNvPr id="40" name="Freeform 2"/>
            <p:cNvSpPr/>
            <p:nvPr/>
          </p:nvSpPr>
          <p:spPr bwMode="auto">
            <a:xfrm>
              <a:off x="3933805" y="3734981"/>
              <a:ext cx="269136" cy="377278"/>
            </a:xfrm>
            <a:custGeom>
              <a:avLst/>
              <a:gdLst/>
              <a:ahLst/>
              <a:cxnLst>
                <a:cxn ang="0">
                  <a:pos x="285" y="0"/>
                </a:cxn>
                <a:cxn ang="0">
                  <a:pos x="0" y="405"/>
                </a:cxn>
              </a:cxnLst>
              <a:rect l="0" t="0" r="r" b="b"/>
              <a:pathLst>
                <a:path w="285" h="405">
                  <a:moveTo>
                    <a:pt x="285"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Freeform 3"/>
            <p:cNvSpPr/>
            <p:nvPr/>
          </p:nvSpPr>
          <p:spPr bwMode="auto">
            <a:xfrm>
              <a:off x="4372658" y="3748844"/>
              <a:ext cx="291230" cy="363414"/>
            </a:xfrm>
            <a:custGeom>
              <a:avLst/>
              <a:gdLst/>
              <a:ahLst/>
              <a:cxnLst>
                <a:cxn ang="0">
                  <a:pos x="0" y="0"/>
                </a:cxn>
                <a:cxn ang="0">
                  <a:pos x="308" y="390"/>
                </a:cxn>
              </a:cxnLst>
              <a:rect l="0" t="0" r="r" b="b"/>
              <a:pathLst>
                <a:path w="308" h="390">
                  <a:moveTo>
                    <a:pt x="0" y="0"/>
                  </a:moveTo>
                  <a:lnTo>
                    <a:pt x="308" y="390"/>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Line 4"/>
            <p:cNvSpPr>
              <a:spLocks noChangeShapeType="1"/>
            </p:cNvSpPr>
            <p:nvPr/>
          </p:nvSpPr>
          <p:spPr bwMode="auto">
            <a:xfrm>
              <a:off x="4695019" y="4376650"/>
              <a:ext cx="1004" cy="28518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Freeform 5"/>
            <p:cNvSpPr/>
            <p:nvPr/>
          </p:nvSpPr>
          <p:spPr bwMode="auto">
            <a:xfrm>
              <a:off x="4798456" y="4308324"/>
              <a:ext cx="338429" cy="342619"/>
            </a:xfrm>
            <a:custGeom>
              <a:avLst/>
              <a:gdLst/>
              <a:ahLst/>
              <a:cxnLst>
                <a:cxn ang="0">
                  <a:pos x="0" y="0"/>
                </a:cxn>
                <a:cxn ang="0">
                  <a:pos x="337" y="346"/>
                </a:cxn>
              </a:cxnLst>
              <a:rect l="0" t="0" r="r" b="b"/>
              <a:pathLst>
                <a:path w="337" h="346">
                  <a:moveTo>
                    <a:pt x="0" y="0"/>
                  </a:moveTo>
                  <a:lnTo>
                    <a:pt x="337" y="346"/>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Freeform 6"/>
            <p:cNvSpPr/>
            <p:nvPr/>
          </p:nvSpPr>
          <p:spPr bwMode="auto">
            <a:xfrm>
              <a:off x="4196916" y="4265744"/>
              <a:ext cx="380607" cy="342619"/>
            </a:xfrm>
            <a:custGeom>
              <a:avLst/>
              <a:gdLst/>
              <a:ahLst/>
              <a:cxnLst>
                <a:cxn ang="0">
                  <a:pos x="404" y="0"/>
                </a:cxn>
                <a:cxn ang="0">
                  <a:pos x="0" y="369"/>
                </a:cxn>
              </a:cxnLst>
              <a:rect l="0" t="0" r="r" b="b"/>
              <a:pathLst>
                <a:path w="404" h="369">
                  <a:moveTo>
                    <a:pt x="404" y="0"/>
                  </a:moveTo>
                  <a:lnTo>
                    <a:pt x="0" y="36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Freeform 7"/>
            <p:cNvSpPr/>
            <p:nvPr/>
          </p:nvSpPr>
          <p:spPr bwMode="auto">
            <a:xfrm>
              <a:off x="2736751" y="3771619"/>
              <a:ext cx="123522" cy="372326"/>
            </a:xfrm>
            <a:custGeom>
              <a:avLst/>
              <a:gdLst/>
              <a:ahLst/>
              <a:cxnLst>
                <a:cxn ang="0">
                  <a:pos x="0" y="0"/>
                </a:cxn>
                <a:cxn ang="0">
                  <a:pos x="130" y="399"/>
                </a:cxn>
              </a:cxnLst>
              <a:rect l="0" t="0" r="r" b="b"/>
              <a:pathLst>
                <a:path w="130" h="399">
                  <a:moveTo>
                    <a:pt x="0" y="0"/>
                  </a:moveTo>
                  <a:lnTo>
                    <a:pt x="130" y="399"/>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Freeform 8"/>
            <p:cNvSpPr/>
            <p:nvPr/>
          </p:nvSpPr>
          <p:spPr bwMode="auto">
            <a:xfrm>
              <a:off x="2350118" y="3770629"/>
              <a:ext cx="201852" cy="324795"/>
            </a:xfrm>
            <a:custGeom>
              <a:avLst/>
              <a:gdLst/>
              <a:ahLst/>
              <a:cxnLst>
                <a:cxn ang="0">
                  <a:pos x="201" y="0"/>
                </a:cxn>
                <a:cxn ang="0">
                  <a:pos x="0" y="328"/>
                </a:cxn>
              </a:cxnLst>
              <a:rect l="0" t="0" r="r" b="b"/>
              <a:pathLst>
                <a:path w="201" h="328">
                  <a:moveTo>
                    <a:pt x="201" y="0"/>
                  </a:moveTo>
                  <a:lnTo>
                    <a:pt x="0" y="328"/>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Freeform 9"/>
            <p:cNvSpPr/>
            <p:nvPr/>
          </p:nvSpPr>
          <p:spPr bwMode="auto">
            <a:xfrm>
              <a:off x="2715662" y="3121039"/>
              <a:ext cx="453917" cy="377278"/>
            </a:xfrm>
            <a:custGeom>
              <a:avLst/>
              <a:gdLst/>
              <a:ahLst/>
              <a:cxnLst>
                <a:cxn ang="0">
                  <a:pos x="480" y="0"/>
                </a:cxn>
                <a:cxn ang="0">
                  <a:pos x="0" y="405"/>
                </a:cxn>
              </a:cxnLst>
              <a:rect l="0" t="0" r="r" b="b"/>
              <a:pathLst>
                <a:path w="480" h="405">
                  <a:moveTo>
                    <a:pt x="480" y="0"/>
                  </a:moveTo>
                  <a:lnTo>
                    <a:pt x="0" y="405"/>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Line 10"/>
            <p:cNvSpPr>
              <a:spLocks noChangeShapeType="1"/>
            </p:cNvSpPr>
            <p:nvPr/>
          </p:nvSpPr>
          <p:spPr bwMode="auto">
            <a:xfrm>
              <a:off x="3315193" y="3216101"/>
              <a:ext cx="0" cy="14516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Oval 11"/>
            <p:cNvSpPr>
              <a:spLocks noChangeArrowheads="1"/>
            </p:cNvSpPr>
            <p:nvPr/>
          </p:nvSpPr>
          <p:spPr bwMode="auto">
            <a:xfrm>
              <a:off x="3160540" y="2928934"/>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0" name="Oval 12"/>
            <p:cNvSpPr>
              <a:spLocks noChangeArrowheads="1"/>
            </p:cNvSpPr>
            <p:nvPr/>
          </p:nvSpPr>
          <p:spPr bwMode="auto">
            <a:xfrm>
              <a:off x="3160540"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1" name="Oval 13"/>
            <p:cNvSpPr>
              <a:spLocks noChangeArrowheads="1"/>
            </p:cNvSpPr>
            <p:nvPr/>
          </p:nvSpPr>
          <p:spPr bwMode="auto">
            <a:xfrm>
              <a:off x="3160540" y="4073640"/>
              <a:ext cx="284200" cy="30994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Oval 14"/>
            <p:cNvSpPr>
              <a:spLocks noChangeArrowheads="1"/>
            </p:cNvSpPr>
            <p:nvPr/>
          </p:nvSpPr>
          <p:spPr bwMode="auto">
            <a:xfrm>
              <a:off x="3160540"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Oval 15"/>
            <p:cNvSpPr>
              <a:spLocks noChangeArrowheads="1"/>
            </p:cNvSpPr>
            <p:nvPr/>
          </p:nvSpPr>
          <p:spPr bwMode="auto">
            <a:xfrm>
              <a:off x="2494729"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4" name="Oval 16"/>
            <p:cNvSpPr>
              <a:spLocks noChangeArrowheads="1"/>
            </p:cNvSpPr>
            <p:nvPr/>
          </p:nvSpPr>
          <p:spPr bwMode="auto">
            <a:xfrm>
              <a:off x="2214546"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 name="Oval 17"/>
            <p:cNvSpPr>
              <a:spLocks noChangeArrowheads="1"/>
            </p:cNvSpPr>
            <p:nvPr/>
          </p:nvSpPr>
          <p:spPr bwMode="auto">
            <a:xfrm>
              <a:off x="4108543" y="3503267"/>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 name="Oval 18"/>
            <p:cNvSpPr>
              <a:spLocks noChangeArrowheads="1"/>
            </p:cNvSpPr>
            <p:nvPr/>
          </p:nvSpPr>
          <p:spPr bwMode="auto">
            <a:xfrm>
              <a:off x="2737755"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7" name="Oval 19"/>
            <p:cNvSpPr>
              <a:spLocks noChangeArrowheads="1"/>
            </p:cNvSpPr>
            <p:nvPr/>
          </p:nvSpPr>
          <p:spPr bwMode="auto">
            <a:xfrm>
              <a:off x="4526307"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8" name="Oval 20"/>
            <p:cNvSpPr>
              <a:spLocks noChangeArrowheads="1"/>
            </p:cNvSpPr>
            <p:nvPr/>
          </p:nvSpPr>
          <p:spPr bwMode="auto">
            <a:xfrm>
              <a:off x="3783169" y="4074630"/>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H</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 name="Oval 21"/>
            <p:cNvSpPr>
              <a:spLocks noChangeArrowheads="1"/>
            </p:cNvSpPr>
            <p:nvPr/>
          </p:nvSpPr>
          <p:spPr bwMode="auto">
            <a:xfrm>
              <a:off x="5073618"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M</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0" name="Oval 22"/>
            <p:cNvSpPr>
              <a:spLocks noChangeArrowheads="1"/>
            </p:cNvSpPr>
            <p:nvPr/>
          </p:nvSpPr>
          <p:spPr bwMode="auto">
            <a:xfrm>
              <a:off x="4028204"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1" name="Oval 23"/>
            <p:cNvSpPr>
              <a:spLocks noChangeArrowheads="1"/>
            </p:cNvSpPr>
            <p:nvPr/>
          </p:nvSpPr>
          <p:spPr bwMode="auto">
            <a:xfrm>
              <a:off x="4566477" y="4620246"/>
              <a:ext cx="284200" cy="308952"/>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9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L</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62" name="Line 24"/>
            <p:cNvSpPr>
              <a:spLocks noChangeShapeType="1"/>
            </p:cNvSpPr>
            <p:nvPr/>
          </p:nvSpPr>
          <p:spPr bwMode="auto">
            <a:xfrm>
              <a:off x="3435702" y="3124009"/>
              <a:ext cx="692926" cy="469369"/>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19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4" name="灯片编号占位符 6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857224" y="571480"/>
            <a:ext cx="7620000" cy="400110"/>
          </a:xfrm>
          <a:prstGeom prst="rect">
            <a:avLst/>
          </a:prstGeom>
          <a:noFill/>
          <a:ln w="9525">
            <a:noFill/>
            <a:miter lim="800000"/>
          </a:ln>
        </p:spPr>
        <p:txBody>
          <a:bodyPr>
            <a:spAutoFit/>
          </a:bodyPr>
          <a:lstStyle/>
          <a:p>
            <a:pPr marL="457200" indent="-457200" algn="l">
              <a:lnSpc>
                <a:spcPct val="100000"/>
              </a:lnSpc>
              <a:buBlip>
                <a:blip r:embed="rId1"/>
              </a:buBlip>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森林</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零棵或多棵互不相交的树的集合称为森林。</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8" name="组合 17"/>
          <p:cNvGrpSpPr/>
          <p:nvPr/>
        </p:nvGrpSpPr>
        <p:grpSpPr>
          <a:xfrm>
            <a:off x="2000232" y="2143116"/>
            <a:ext cx="3000396" cy="1500198"/>
            <a:chOff x="2000232" y="2143116"/>
            <a:chExt cx="3308354" cy="1704970"/>
          </a:xfrm>
        </p:grpSpPr>
        <p:sp>
          <p:nvSpPr>
            <p:cNvPr id="5" name="Oval 7"/>
            <p:cNvSpPr>
              <a:spLocks noChangeArrowheads="1"/>
            </p:cNvSpPr>
            <p:nvPr/>
          </p:nvSpPr>
          <p:spPr bwMode="auto">
            <a:xfrm>
              <a:off x="2000232" y="2143116"/>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rPr>
                <a:t>A</a:t>
              </a:r>
              <a:endParaRPr lang="en-US" altLang="zh-CN" sz="1600" b="0" dirty="0">
                <a:solidFill>
                  <a:srgbClr val="0000FF"/>
                </a:solidFill>
              </a:endParaRPr>
            </a:p>
          </p:txBody>
        </p:sp>
        <p:sp>
          <p:nvSpPr>
            <p:cNvPr id="6" name="Freeform 5"/>
            <p:cNvSpPr/>
            <p:nvPr/>
          </p:nvSpPr>
          <p:spPr bwMode="auto">
            <a:xfrm>
              <a:off x="3384518" y="2487291"/>
              <a:ext cx="214314" cy="391143"/>
            </a:xfrm>
            <a:custGeom>
              <a:avLst/>
              <a:gdLst>
                <a:gd name="T0" fmla="*/ 214314 w 121"/>
                <a:gd name="T1" fmla="*/ 0 h 144"/>
                <a:gd name="T2" fmla="*/ 0 w 121"/>
                <a:gd name="T3" fmla="*/ 391057 h 144"/>
                <a:gd name="T4" fmla="*/ 0 60000 65536"/>
                <a:gd name="T5" fmla="*/ 0 60000 65536"/>
                <a:gd name="T6" fmla="*/ 0 w 121"/>
                <a:gd name="T7" fmla="*/ 0 h 144"/>
                <a:gd name="T8" fmla="*/ 121 w 121"/>
                <a:gd name="T9" fmla="*/ 144 h 144"/>
              </a:gdLst>
              <a:ahLst/>
              <a:cxnLst>
                <a:cxn ang="T4">
                  <a:pos x="T0" y="T1"/>
                </a:cxn>
                <a:cxn ang="T5">
                  <a:pos x="T2" y="T3"/>
                </a:cxn>
              </a:cxnLst>
              <a:rect l="T6" t="T7" r="T8" b="T9"/>
              <a:pathLst>
                <a:path w="121" h="144">
                  <a:moveTo>
                    <a:pt x="121" y="0"/>
                  </a:moveTo>
                  <a:lnTo>
                    <a:pt x="0" y="144"/>
                  </a:lnTo>
                </a:path>
              </a:pathLst>
            </a:custGeom>
            <a:ln w="19050"/>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600" b="0">
                <a:solidFill>
                  <a:srgbClr val="0000FF"/>
                </a:solidFill>
              </a:endParaRPr>
            </a:p>
          </p:txBody>
        </p:sp>
        <p:sp>
          <p:nvSpPr>
            <p:cNvPr id="7" name="Freeform 6"/>
            <p:cNvSpPr/>
            <p:nvPr/>
          </p:nvSpPr>
          <p:spPr bwMode="auto">
            <a:xfrm>
              <a:off x="3786182" y="2428868"/>
              <a:ext cx="229988" cy="415693"/>
            </a:xfrm>
            <a:custGeom>
              <a:avLst/>
              <a:gdLst>
                <a:gd name="T0" fmla="*/ 0 w 72"/>
                <a:gd name="T1" fmla="*/ 0 h 150"/>
                <a:gd name="T2" fmla="*/ 214314 w 72"/>
                <a:gd name="T3" fmla="*/ 357190 h 150"/>
                <a:gd name="T4" fmla="*/ 0 60000 65536"/>
                <a:gd name="T5" fmla="*/ 0 60000 65536"/>
                <a:gd name="T6" fmla="*/ 0 w 72"/>
                <a:gd name="T7" fmla="*/ 0 h 150"/>
                <a:gd name="T8" fmla="*/ 72 w 72"/>
                <a:gd name="T9" fmla="*/ 150 h 150"/>
              </a:gdLst>
              <a:ahLst/>
              <a:cxnLst>
                <a:cxn ang="T4">
                  <a:pos x="T0" y="T1"/>
                </a:cxn>
                <a:cxn ang="T5">
                  <a:pos x="T2" y="T3"/>
                </a:cxn>
              </a:cxnLst>
              <a:rect l="T6" t="T7" r="T8" b="T9"/>
              <a:pathLst>
                <a:path w="72" h="150">
                  <a:moveTo>
                    <a:pt x="0" y="0"/>
                  </a:moveTo>
                  <a:lnTo>
                    <a:pt x="72" y="150"/>
                  </a:lnTo>
                </a:path>
              </a:pathLst>
            </a:custGeom>
            <a:ln w="19050"/>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600" b="0">
                <a:solidFill>
                  <a:srgbClr val="0000FF"/>
                </a:solidFill>
              </a:endParaRPr>
            </a:p>
          </p:txBody>
        </p:sp>
        <p:sp>
          <p:nvSpPr>
            <p:cNvPr id="8" name="Oval 8"/>
            <p:cNvSpPr>
              <a:spLocks noChangeArrowheads="1"/>
            </p:cNvSpPr>
            <p:nvPr/>
          </p:nvSpPr>
          <p:spPr bwMode="auto">
            <a:xfrm>
              <a:off x="2711439" y="2143116"/>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rPr>
                <a:t>B</a:t>
              </a:r>
              <a:endParaRPr lang="en-US" altLang="zh-CN" sz="1600" b="0" dirty="0">
                <a:solidFill>
                  <a:srgbClr val="0000FF"/>
                </a:solidFill>
              </a:endParaRPr>
            </a:p>
          </p:txBody>
        </p:sp>
        <p:sp>
          <p:nvSpPr>
            <p:cNvPr id="9" name="Oval 9"/>
            <p:cNvSpPr>
              <a:spLocks noChangeArrowheads="1"/>
            </p:cNvSpPr>
            <p:nvPr/>
          </p:nvSpPr>
          <p:spPr bwMode="auto">
            <a:xfrm>
              <a:off x="3508360" y="2145901"/>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rPr>
                <a:t>C</a:t>
              </a:r>
              <a:endParaRPr lang="en-US" altLang="zh-CN" sz="1600" b="0" dirty="0">
                <a:solidFill>
                  <a:srgbClr val="0000FF"/>
                </a:solidFill>
              </a:endParaRPr>
            </a:p>
          </p:txBody>
        </p:sp>
        <p:sp>
          <p:nvSpPr>
            <p:cNvPr id="10" name="Oval 10"/>
            <p:cNvSpPr>
              <a:spLocks noChangeArrowheads="1"/>
            </p:cNvSpPr>
            <p:nvPr/>
          </p:nvSpPr>
          <p:spPr bwMode="auto">
            <a:xfrm>
              <a:off x="4516423" y="2145901"/>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a:solidFill>
                    <a:srgbClr val="0000FF"/>
                  </a:solidFill>
                </a:rPr>
                <a:t>D</a:t>
              </a:r>
              <a:endParaRPr lang="en-US" altLang="zh-CN" sz="1600" b="0">
                <a:solidFill>
                  <a:srgbClr val="0000FF"/>
                </a:solidFill>
              </a:endParaRPr>
            </a:p>
          </p:txBody>
        </p:sp>
        <p:sp>
          <p:nvSpPr>
            <p:cNvPr id="11" name="Oval 11"/>
            <p:cNvSpPr>
              <a:spLocks noChangeArrowheads="1"/>
            </p:cNvSpPr>
            <p:nvPr/>
          </p:nvSpPr>
          <p:spPr bwMode="auto">
            <a:xfrm>
              <a:off x="3194551" y="2816341"/>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rPr>
                <a:t>E</a:t>
              </a:r>
              <a:endParaRPr lang="en-US" altLang="zh-CN" sz="1600" b="0" dirty="0">
                <a:solidFill>
                  <a:srgbClr val="0000FF"/>
                </a:solidFill>
              </a:endParaRPr>
            </a:p>
          </p:txBody>
        </p:sp>
        <p:sp>
          <p:nvSpPr>
            <p:cNvPr id="12" name="Oval 12"/>
            <p:cNvSpPr>
              <a:spLocks noChangeArrowheads="1"/>
            </p:cNvSpPr>
            <p:nvPr/>
          </p:nvSpPr>
          <p:spPr bwMode="auto">
            <a:xfrm>
              <a:off x="3873825" y="2816341"/>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rPr>
                <a:t>F</a:t>
              </a:r>
              <a:endParaRPr lang="en-US" altLang="zh-CN" sz="1600" b="0" dirty="0">
                <a:solidFill>
                  <a:srgbClr val="0000FF"/>
                </a:solidFill>
              </a:endParaRPr>
            </a:p>
          </p:txBody>
        </p:sp>
        <p:sp>
          <p:nvSpPr>
            <p:cNvPr id="13" name="Oval 15"/>
            <p:cNvSpPr>
              <a:spLocks noChangeArrowheads="1"/>
            </p:cNvSpPr>
            <p:nvPr/>
          </p:nvSpPr>
          <p:spPr bwMode="auto">
            <a:xfrm>
              <a:off x="3193312" y="3487644"/>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a:solidFill>
                    <a:srgbClr val="0000FF"/>
                  </a:solidFill>
                </a:rPr>
                <a:t>H</a:t>
              </a:r>
              <a:endParaRPr lang="en-US" altLang="zh-CN" sz="1600" b="0">
                <a:solidFill>
                  <a:srgbClr val="0000FF"/>
                </a:solidFill>
              </a:endParaRPr>
            </a:p>
          </p:txBody>
        </p:sp>
        <p:sp>
          <p:nvSpPr>
            <p:cNvPr id="14" name="Oval 16"/>
            <p:cNvSpPr>
              <a:spLocks noChangeArrowheads="1"/>
            </p:cNvSpPr>
            <p:nvPr/>
          </p:nvSpPr>
          <p:spPr bwMode="auto">
            <a:xfrm>
              <a:off x="4948223" y="2816341"/>
              <a:ext cx="360363" cy="36044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a:solidFill>
                    <a:srgbClr val="0000FF"/>
                  </a:solidFill>
                </a:rPr>
                <a:t>G</a:t>
              </a:r>
              <a:endParaRPr lang="en-US" altLang="zh-CN" sz="1600" b="0">
                <a:solidFill>
                  <a:srgbClr val="0000FF"/>
                </a:solidFill>
              </a:endParaRPr>
            </a:p>
          </p:txBody>
        </p:sp>
        <p:sp>
          <p:nvSpPr>
            <p:cNvPr id="15" name="Freeform 26"/>
            <p:cNvSpPr/>
            <p:nvPr/>
          </p:nvSpPr>
          <p:spPr bwMode="auto">
            <a:xfrm>
              <a:off x="4835964" y="2457047"/>
              <a:ext cx="258308" cy="380081"/>
            </a:xfrm>
            <a:custGeom>
              <a:avLst/>
              <a:gdLst>
                <a:gd name="T0" fmla="*/ 0 w 167"/>
                <a:gd name="T1" fmla="*/ 0 h 208"/>
                <a:gd name="T2" fmla="*/ 265113 w 167"/>
                <a:gd name="T3" fmla="*/ 330200 h 208"/>
                <a:gd name="T4" fmla="*/ 0 60000 65536"/>
                <a:gd name="T5" fmla="*/ 0 60000 65536"/>
                <a:gd name="T6" fmla="*/ 0 w 167"/>
                <a:gd name="T7" fmla="*/ 0 h 208"/>
                <a:gd name="T8" fmla="*/ 167 w 167"/>
                <a:gd name="T9" fmla="*/ 208 h 208"/>
              </a:gdLst>
              <a:ahLst/>
              <a:cxnLst>
                <a:cxn ang="T4">
                  <a:pos x="T0" y="T1"/>
                </a:cxn>
                <a:cxn ang="T5">
                  <a:pos x="T2" y="T3"/>
                </a:cxn>
              </a:cxnLst>
              <a:rect l="T6" t="T7" r="T8" b="T9"/>
              <a:pathLst>
                <a:path w="167" h="208">
                  <a:moveTo>
                    <a:pt x="0" y="0"/>
                  </a:moveTo>
                  <a:lnTo>
                    <a:pt x="167" y="208"/>
                  </a:lnTo>
                </a:path>
              </a:pathLst>
            </a:custGeom>
            <a:ln w="19050"/>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600" b="0">
                <a:solidFill>
                  <a:srgbClr val="0000FF"/>
                </a:solidFill>
              </a:endParaRPr>
            </a:p>
          </p:txBody>
        </p:sp>
        <p:cxnSp>
          <p:nvCxnSpPr>
            <p:cNvPr id="16" name="直接连接符 43"/>
            <p:cNvCxnSpPr>
              <a:cxnSpLocks noChangeShapeType="1"/>
              <a:stCxn id="11" idx="4"/>
              <a:endCxn id="13" idx="0"/>
            </p:cNvCxnSpPr>
            <p:nvPr/>
          </p:nvCxnSpPr>
          <p:spPr bwMode="auto">
            <a:xfrm rot="5400000">
              <a:off x="3218684" y="3331594"/>
              <a:ext cx="310861" cy="1239"/>
            </a:xfrm>
            <a:prstGeom prst="line">
              <a:avLst/>
            </a:prstGeom>
            <a:ln w="19050"/>
          </p:spPr>
          <p:style>
            <a:lnRef idx="2">
              <a:schemeClr val="dk1"/>
            </a:lnRef>
            <a:fillRef idx="0">
              <a:schemeClr val="dk1"/>
            </a:fillRef>
            <a:effectRef idx="1">
              <a:schemeClr val="dk1"/>
            </a:effectRef>
            <a:fontRef idx="minor">
              <a:schemeClr val="tx1"/>
            </a:fontRef>
          </p:style>
        </p:cxnSp>
      </p:grpSp>
      <p:sp>
        <p:nvSpPr>
          <p:cNvPr id="17" name="TextBox 16"/>
          <p:cNvSpPr txBox="1"/>
          <p:nvPr/>
        </p:nvSpPr>
        <p:spPr>
          <a:xfrm>
            <a:off x="2643174" y="4071942"/>
            <a:ext cx="2643206" cy="400110"/>
          </a:xfrm>
          <a:prstGeom prst="rect">
            <a:avLst/>
          </a:prstGeom>
          <a:noFill/>
        </p:spPr>
        <p:txBody>
          <a:bodyPr wrap="square" rtlCol="0">
            <a:spAutoFit/>
          </a:bodyPr>
          <a:lstStyle/>
          <a:p>
            <a:pPr algn="l">
              <a:lnSpc>
                <a:spcPct val="100000"/>
              </a:lnSpc>
            </a:pP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棵树构成的森林</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灯片编号占位符 1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257176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7.1.4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树的性质</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2"/>
          <p:cNvSpPr txBox="1">
            <a:spLocks noChangeArrowheads="1"/>
          </p:cNvSpPr>
          <p:nvPr/>
        </p:nvSpPr>
        <p:spPr bwMode="auto">
          <a:xfrm>
            <a:off x="714349" y="1357298"/>
            <a:ext cx="5715040" cy="400110"/>
          </a:xfrm>
          <a:prstGeom prst="rect">
            <a:avLst/>
          </a:prstGeom>
          <a:noFill/>
          <a:ln w="9525">
            <a:noFill/>
            <a:miter lim="800000"/>
          </a:ln>
        </p:spPr>
        <p:txBody>
          <a:bodyPr wrap="square">
            <a:spAutoFit/>
          </a:bodyPr>
          <a:lstStyle/>
          <a:p>
            <a:pPr algn="l">
              <a:lnSpc>
                <a:spcPct val="100000"/>
              </a:lnSpc>
              <a:spcBef>
                <a:spcPct val="50000"/>
              </a:spcBef>
            </a:pP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kumimoji="1"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树</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中的结点数等于所有结点的度数加</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 Box 3"/>
          <p:cNvSpPr txBox="1">
            <a:spLocks noChangeArrowheads="1"/>
          </p:cNvSpPr>
          <p:nvPr/>
        </p:nvSpPr>
        <p:spPr bwMode="auto">
          <a:xfrm>
            <a:off x="2763876" y="4444379"/>
            <a:ext cx="3094008" cy="1169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lgn="l">
              <a:lnSpc>
                <a:spcPct val="100000"/>
              </a:lnSpc>
              <a:spcBef>
                <a:spcPts val="600"/>
              </a:spcBef>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之</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支数</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分支数</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1"/>
              </a:buBlip>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所以，</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度之和</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1285852" y="2214554"/>
            <a:ext cx="2428892" cy="1928826"/>
            <a:chOff x="3357554" y="2786058"/>
            <a:chExt cx="2808288" cy="2419350"/>
          </a:xfrm>
        </p:grpSpPr>
        <p:sp>
          <p:nvSpPr>
            <p:cNvPr id="8" name="Oval 7"/>
            <p:cNvSpPr>
              <a:spLocks noChangeArrowheads="1"/>
            </p:cNvSpPr>
            <p:nvPr/>
          </p:nvSpPr>
          <p:spPr bwMode="auto">
            <a:xfrm>
              <a:off x="4365617" y="2786058"/>
              <a:ext cx="360362" cy="36036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A</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9" name="Line 22"/>
            <p:cNvSpPr>
              <a:spLocks noChangeShapeType="1"/>
            </p:cNvSpPr>
            <p:nvPr/>
          </p:nvSpPr>
          <p:spPr bwMode="auto">
            <a:xfrm>
              <a:off x="4724392" y="2998783"/>
              <a:ext cx="731859" cy="593713"/>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sp>
          <p:nvSpPr>
            <p:cNvPr id="10" name="Line 20"/>
            <p:cNvSpPr>
              <a:spLocks noChangeShapeType="1"/>
            </p:cNvSpPr>
            <p:nvPr/>
          </p:nvSpPr>
          <p:spPr bwMode="auto">
            <a:xfrm flipH="1">
              <a:off x="3687941" y="3020991"/>
              <a:ext cx="696738" cy="481912"/>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sp>
          <p:nvSpPr>
            <p:cNvPr id="11" name="Freeform 5"/>
            <p:cNvSpPr/>
            <p:nvPr/>
          </p:nvSpPr>
          <p:spPr bwMode="auto">
            <a:xfrm>
              <a:off x="4241792" y="3844920"/>
              <a:ext cx="214312" cy="390525"/>
            </a:xfrm>
            <a:custGeom>
              <a:avLst/>
              <a:gdLst>
                <a:gd name="T0" fmla="*/ 214314 w 121"/>
                <a:gd name="T1" fmla="*/ 0 h 144"/>
                <a:gd name="T2" fmla="*/ 0 w 121"/>
                <a:gd name="T3" fmla="*/ 391057 h 144"/>
                <a:gd name="T4" fmla="*/ 0 60000 65536"/>
                <a:gd name="T5" fmla="*/ 0 60000 65536"/>
                <a:gd name="T6" fmla="*/ 0 w 121"/>
                <a:gd name="T7" fmla="*/ 0 h 144"/>
                <a:gd name="T8" fmla="*/ 121 w 121"/>
                <a:gd name="T9" fmla="*/ 144 h 144"/>
              </a:gdLst>
              <a:ahLst/>
              <a:cxnLst>
                <a:cxn ang="T4">
                  <a:pos x="T0" y="T1"/>
                </a:cxn>
                <a:cxn ang="T5">
                  <a:pos x="T2" y="T3"/>
                </a:cxn>
              </a:cxnLst>
              <a:rect l="T6" t="T7" r="T8" b="T9"/>
              <a:pathLst>
                <a:path w="121" h="144">
                  <a:moveTo>
                    <a:pt x="121" y="0"/>
                  </a:moveTo>
                  <a:lnTo>
                    <a:pt x="0" y="144"/>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sp>
          <p:nvSpPr>
            <p:cNvPr id="12" name="Freeform 6"/>
            <p:cNvSpPr/>
            <p:nvPr/>
          </p:nvSpPr>
          <p:spPr bwMode="auto">
            <a:xfrm>
              <a:off x="4659304" y="3844920"/>
              <a:ext cx="214313" cy="357188"/>
            </a:xfrm>
            <a:custGeom>
              <a:avLst/>
              <a:gdLst>
                <a:gd name="T0" fmla="*/ 0 w 72"/>
                <a:gd name="T1" fmla="*/ 0 h 150"/>
                <a:gd name="T2" fmla="*/ 214314 w 72"/>
                <a:gd name="T3" fmla="*/ 357190 h 150"/>
                <a:gd name="T4" fmla="*/ 0 60000 65536"/>
                <a:gd name="T5" fmla="*/ 0 60000 65536"/>
                <a:gd name="T6" fmla="*/ 0 w 72"/>
                <a:gd name="T7" fmla="*/ 0 h 150"/>
                <a:gd name="T8" fmla="*/ 72 w 72"/>
                <a:gd name="T9" fmla="*/ 150 h 150"/>
              </a:gdLst>
              <a:ahLst/>
              <a:cxnLst>
                <a:cxn ang="T4">
                  <a:pos x="T0" y="T1"/>
                </a:cxn>
                <a:cxn ang="T5">
                  <a:pos x="T2" y="T3"/>
                </a:cxn>
              </a:cxnLst>
              <a:rect l="T6" t="T7" r="T8" b="T9"/>
              <a:pathLst>
                <a:path w="72" h="150">
                  <a:moveTo>
                    <a:pt x="0" y="0"/>
                  </a:moveTo>
                  <a:lnTo>
                    <a:pt x="72" y="150"/>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sp>
          <p:nvSpPr>
            <p:cNvPr id="13" name="Oval 8"/>
            <p:cNvSpPr>
              <a:spLocks noChangeArrowheads="1"/>
            </p:cNvSpPr>
            <p:nvPr/>
          </p:nvSpPr>
          <p:spPr bwMode="auto">
            <a:xfrm>
              <a:off x="3357554" y="3525657"/>
              <a:ext cx="360363" cy="36036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B</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14" name="Oval 9"/>
            <p:cNvSpPr>
              <a:spLocks noChangeArrowheads="1"/>
            </p:cNvSpPr>
            <p:nvPr/>
          </p:nvSpPr>
          <p:spPr bwMode="auto">
            <a:xfrm>
              <a:off x="4365617" y="3525657"/>
              <a:ext cx="360362" cy="36036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C</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15" name="Oval 10"/>
            <p:cNvSpPr>
              <a:spLocks noChangeArrowheads="1"/>
            </p:cNvSpPr>
            <p:nvPr/>
          </p:nvSpPr>
          <p:spPr bwMode="auto">
            <a:xfrm>
              <a:off x="5373679" y="3525657"/>
              <a:ext cx="360363" cy="360363"/>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D</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16" name="Oval 11"/>
            <p:cNvSpPr>
              <a:spLocks noChangeArrowheads="1"/>
            </p:cNvSpPr>
            <p:nvPr/>
          </p:nvSpPr>
          <p:spPr bwMode="auto">
            <a:xfrm>
              <a:off x="4051292" y="4184646"/>
              <a:ext cx="360362" cy="36036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E</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17" name="Oval 12"/>
            <p:cNvSpPr>
              <a:spLocks noChangeArrowheads="1"/>
            </p:cNvSpPr>
            <p:nvPr/>
          </p:nvSpPr>
          <p:spPr bwMode="auto">
            <a:xfrm>
              <a:off x="4730742" y="4184646"/>
              <a:ext cx="360362" cy="360362"/>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F</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18" name="Oval 15"/>
            <p:cNvSpPr>
              <a:spLocks noChangeArrowheads="1"/>
            </p:cNvSpPr>
            <p:nvPr/>
          </p:nvSpPr>
          <p:spPr bwMode="auto">
            <a:xfrm>
              <a:off x="4051292" y="4845045"/>
              <a:ext cx="360363" cy="360363"/>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a:solidFill>
                    <a:srgbClr val="0000FF"/>
                  </a:solidFill>
                  <a:latin typeface="Consolas" panose="020B0609020204030204" pitchFamily="49" charset="0"/>
                  <a:cs typeface="Consolas" panose="020B0609020204030204" pitchFamily="49" charset="0"/>
                </a:rPr>
                <a:t>H</a:t>
              </a:r>
              <a:endParaRPr lang="en-US" altLang="zh-CN" sz="1600" b="0">
                <a:solidFill>
                  <a:srgbClr val="0000FF"/>
                </a:solidFill>
                <a:latin typeface="Consolas" panose="020B0609020204030204" pitchFamily="49" charset="0"/>
                <a:cs typeface="Consolas" panose="020B0609020204030204" pitchFamily="49" charset="0"/>
              </a:endParaRPr>
            </a:p>
          </p:txBody>
        </p:sp>
        <p:sp>
          <p:nvSpPr>
            <p:cNvPr id="19" name="Oval 16"/>
            <p:cNvSpPr>
              <a:spLocks noChangeArrowheads="1"/>
            </p:cNvSpPr>
            <p:nvPr/>
          </p:nvSpPr>
          <p:spPr bwMode="auto">
            <a:xfrm>
              <a:off x="5805479" y="4184646"/>
              <a:ext cx="360363" cy="360363"/>
            </a:xfrm>
            <a:prstGeom prst="ellipse">
              <a:avLst/>
            </a:prstGeom>
          </p:spPr>
          <p:style>
            <a:lnRef idx="1">
              <a:schemeClr val="accent4"/>
            </a:lnRef>
            <a:fillRef idx="2">
              <a:schemeClr val="accent4"/>
            </a:fillRef>
            <a:effectRef idx="1">
              <a:schemeClr val="accent4"/>
            </a:effectRef>
            <a:fontRef idx="minor">
              <a:schemeClr val="dk1"/>
            </a:fontRef>
          </p:style>
          <p:txBody>
            <a:bodyPr wrap="none" lIns="0" rIns="0" anchor="ctr"/>
            <a:lstStyle/>
            <a:p>
              <a:pPr>
                <a:lnSpc>
                  <a:spcPct val="100000"/>
                </a:lnSpc>
              </a:pPr>
              <a:r>
                <a:rPr lang="en-US" altLang="zh-CN" sz="1600" b="0" dirty="0">
                  <a:solidFill>
                    <a:srgbClr val="0000FF"/>
                  </a:solidFill>
                  <a:latin typeface="Consolas" panose="020B0609020204030204" pitchFamily="49" charset="0"/>
                  <a:cs typeface="Consolas" panose="020B0609020204030204" pitchFamily="49" charset="0"/>
                </a:rPr>
                <a:t>G</a:t>
              </a:r>
              <a:endParaRPr lang="en-US" altLang="zh-CN" sz="1600" b="0" dirty="0">
                <a:solidFill>
                  <a:srgbClr val="0000FF"/>
                </a:solidFill>
                <a:latin typeface="Consolas" panose="020B0609020204030204" pitchFamily="49" charset="0"/>
                <a:cs typeface="Consolas" panose="020B0609020204030204" pitchFamily="49" charset="0"/>
              </a:endParaRPr>
            </a:p>
          </p:txBody>
        </p:sp>
        <p:sp>
          <p:nvSpPr>
            <p:cNvPr id="20" name="Line 21"/>
            <p:cNvSpPr>
              <a:spLocks noChangeShapeType="1"/>
            </p:cNvSpPr>
            <p:nvPr/>
          </p:nvSpPr>
          <p:spPr bwMode="auto">
            <a:xfrm>
              <a:off x="4543417" y="3146420"/>
              <a:ext cx="0" cy="360363"/>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sp>
          <p:nvSpPr>
            <p:cNvPr id="21" name="Freeform 26"/>
            <p:cNvSpPr/>
            <p:nvPr/>
          </p:nvSpPr>
          <p:spPr bwMode="auto">
            <a:xfrm>
              <a:off x="5650962" y="3865735"/>
              <a:ext cx="265113" cy="330200"/>
            </a:xfrm>
            <a:custGeom>
              <a:avLst/>
              <a:gdLst>
                <a:gd name="T0" fmla="*/ 0 w 167"/>
                <a:gd name="T1" fmla="*/ 0 h 208"/>
                <a:gd name="T2" fmla="*/ 265113 w 167"/>
                <a:gd name="T3" fmla="*/ 330200 h 208"/>
                <a:gd name="T4" fmla="*/ 0 60000 65536"/>
                <a:gd name="T5" fmla="*/ 0 60000 65536"/>
                <a:gd name="T6" fmla="*/ 0 w 167"/>
                <a:gd name="T7" fmla="*/ 0 h 208"/>
                <a:gd name="T8" fmla="*/ 167 w 167"/>
                <a:gd name="T9" fmla="*/ 208 h 208"/>
              </a:gdLst>
              <a:ahLst/>
              <a:cxnLst>
                <a:cxn ang="T4">
                  <a:pos x="T0" y="T1"/>
                </a:cxn>
                <a:cxn ang="T5">
                  <a:pos x="T2" y="T3"/>
                </a:cxn>
              </a:cxnLst>
              <a:rect l="T6" t="T7" r="T8" b="T9"/>
              <a:pathLst>
                <a:path w="167" h="208">
                  <a:moveTo>
                    <a:pt x="0" y="0"/>
                  </a:moveTo>
                  <a:lnTo>
                    <a:pt x="167" y="20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lIns="0" rIns="0"/>
            <a:lstStyle/>
            <a:p>
              <a:pPr>
                <a:lnSpc>
                  <a:spcPct val="100000"/>
                </a:lnSpc>
              </a:pPr>
              <a:endParaRPr lang="zh-CN" altLang="en-US" sz="1800" b="0"/>
            </a:p>
          </p:txBody>
        </p:sp>
        <p:cxnSp>
          <p:nvCxnSpPr>
            <p:cNvPr id="22" name="直接连接符 21"/>
            <p:cNvCxnSpPr>
              <a:cxnSpLocks noChangeShapeType="1"/>
              <a:stCxn id="16" idx="4"/>
              <a:endCxn id="18" idx="0"/>
            </p:cNvCxnSpPr>
            <p:nvPr/>
          </p:nvCxnSpPr>
          <p:spPr bwMode="auto">
            <a:xfrm rot="16200000" flipH="1">
              <a:off x="4081455" y="4695025"/>
              <a:ext cx="300037" cy="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cxnSp>
      </p:grpSp>
      <p:sp>
        <p:nvSpPr>
          <p:cNvPr id="39" name="任意多边形 38"/>
          <p:cNvSpPr/>
          <p:nvPr/>
        </p:nvSpPr>
        <p:spPr>
          <a:xfrm>
            <a:off x="2160587" y="4219575"/>
            <a:ext cx="525463" cy="752475"/>
          </a:xfrm>
          <a:custGeom>
            <a:avLst/>
            <a:gdLst>
              <a:gd name="connsiteX0" fmla="*/ 98425 w 574675"/>
              <a:gd name="connsiteY0" fmla="*/ 0 h 752475"/>
              <a:gd name="connsiteX1" fmla="*/ 79375 w 574675"/>
              <a:gd name="connsiteY1" fmla="*/ 409575 h 752475"/>
              <a:gd name="connsiteX2" fmla="*/ 574675 w 574675"/>
              <a:gd name="connsiteY2" fmla="*/ 752475 h 752475"/>
              <a:gd name="connsiteX0-1" fmla="*/ 49213 w 525463"/>
              <a:gd name="connsiteY0-2" fmla="*/ 0 h 752475"/>
              <a:gd name="connsiteX1-3" fmla="*/ 125397 w 525463"/>
              <a:gd name="connsiteY1-4" fmla="*/ 423871 h 752475"/>
              <a:gd name="connsiteX2-5" fmla="*/ 525463 w 525463"/>
              <a:gd name="connsiteY2-6" fmla="*/ 752475 h 752475"/>
            </a:gdLst>
            <a:ahLst/>
            <a:cxnLst>
              <a:cxn ang="0">
                <a:pos x="connsiteX0-1" y="connsiteY0-2"/>
              </a:cxn>
              <a:cxn ang="0">
                <a:pos x="connsiteX1-3" y="connsiteY1-4"/>
              </a:cxn>
              <a:cxn ang="0">
                <a:pos x="connsiteX2-5" y="connsiteY2-6"/>
              </a:cxn>
            </a:cxnLst>
            <a:rect l="l" t="t" r="r" b="b"/>
            <a:pathLst>
              <a:path w="525463" h="752475">
                <a:moveTo>
                  <a:pt x="49213" y="0"/>
                </a:moveTo>
                <a:cubicBezTo>
                  <a:pt x="0" y="142081"/>
                  <a:pt x="46022" y="298459"/>
                  <a:pt x="125397" y="423871"/>
                </a:cubicBezTo>
                <a:cubicBezTo>
                  <a:pt x="204772" y="549283"/>
                  <a:pt x="317500" y="643731"/>
                  <a:pt x="525463" y="752475"/>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43" name="直接箭头连接符 42"/>
          <p:cNvCxnSpPr>
            <a:endCxn id="8" idx="0"/>
          </p:cNvCxnSpPr>
          <p:nvPr/>
        </p:nvCxnSpPr>
        <p:spPr>
          <a:xfrm rot="5400000">
            <a:off x="2264058" y="1906874"/>
            <a:ext cx="357189" cy="258171"/>
          </a:xfrm>
          <a:prstGeom prst="straightConnector1">
            <a:avLst/>
          </a:prstGeom>
          <a:ln w="19050">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24" name="灯片编号占位符 2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00034" y="714356"/>
            <a:ext cx="7572428" cy="400110"/>
          </a:xfrm>
          <a:prstGeom prst="rect">
            <a:avLst/>
          </a:prstGeom>
          <a:noFill/>
          <a:ln w="9525">
            <a:noFill/>
            <a:miter lim="800000"/>
          </a:ln>
        </p:spPr>
        <p:txBody>
          <a:bodyPr wrap="square">
            <a:spAutoFit/>
          </a:bodyPr>
          <a:lstStyle/>
          <a:p>
            <a:pPr algn="l">
              <a:lnSpc>
                <a:spcPct val="100000"/>
              </a:lnSpc>
              <a:spcBef>
                <a:spcPct val="50000"/>
              </a:spcBef>
            </a:pP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kumimoji="1"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2</a:t>
            </a: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的树中第</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层上至多有</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en-US" altLang="zh-CN" sz="2000" i="1"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个结点，这里应有</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err="1">
                <a:solidFill>
                  <a:srgbClr val="0000FF"/>
                </a:solidFill>
                <a:latin typeface="+mj-ea"/>
                <a:ea typeface="+mj-ea"/>
                <a:cs typeface="Consolas" panose="020B0609020204030204" pitchFamily="49" charset="0"/>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071538" y="1357298"/>
            <a:ext cx="207170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华文中宋" panose="02010600040101010101" pitchFamily="2" charset="-122"/>
                <a:ea typeface="华文中宋" panose="02010600040101010101" pitchFamily="2" charset="-122"/>
              </a:rPr>
              <a:t>数学归纳法证明</a:t>
            </a:r>
            <a:endParaRPr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sp>
        <p:nvSpPr>
          <p:cNvPr id="6" name="Text Box 2"/>
          <p:cNvSpPr txBox="1">
            <a:spLocks noChangeArrowheads="1"/>
          </p:cNvSpPr>
          <p:nvPr/>
        </p:nvSpPr>
        <p:spPr bwMode="auto">
          <a:xfrm>
            <a:off x="785786" y="3143248"/>
            <a:ext cx="7820050" cy="2323713"/>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一棵</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次树的第</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层有</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i="1"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个结点（</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err="1">
                <a:solidFill>
                  <a:srgbClr val="0000FF"/>
                </a:solidFill>
                <a:latin typeface="+mj-ea"/>
                <a:ea typeface="+mj-ea"/>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）时，称该层是满的，若一棵</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次树的所有叶子结点在同一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层</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一层都是满的，称为</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满</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次树</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。显然，满</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次树是所有相同高度的</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次树中结点总数最多的树。</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可以说，对于</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个结点，构造的</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次树为满</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次树或者接近满</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次树，此时树的高度最小。</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817579" y="2143116"/>
            <a:ext cx="896901" cy="896901"/>
            <a:chOff x="388951" y="5103867"/>
            <a:chExt cx="896901" cy="896901"/>
          </a:xfrm>
        </p:grpSpPr>
        <p:sp>
          <p:nvSpPr>
            <p:cNvPr id="8" name="椭圆 7"/>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9" name="椭圆 8"/>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0" name="文本框 14"/>
            <p:cNvSpPr txBox="1"/>
            <p:nvPr/>
          </p:nvSpPr>
          <p:spPr>
            <a:xfrm>
              <a:off x="523583" y="5431228"/>
              <a:ext cx="649537" cy="313932"/>
            </a:xfrm>
            <a:prstGeom prst="rect">
              <a:avLst/>
            </a:prstGeom>
            <a:noFill/>
          </p:spPr>
          <p:txBody>
            <a:bodyPr wrap="none" rtlCol="0">
              <a:spAutoFit/>
            </a:bodyPr>
            <a:lstStyle/>
            <a:p>
              <a:r>
                <a:rPr lang="zh-CN" altLang="en-US" sz="18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推广</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12" name="灯片编号占位符 1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428596" y="985816"/>
            <a:ext cx="6548486" cy="430759"/>
          </a:xfrm>
          <a:prstGeom prst="rect">
            <a:avLst/>
          </a:prstGeom>
          <a:noFill/>
          <a:ln w="9525">
            <a:noFill/>
            <a:miter lim="800000"/>
          </a:ln>
        </p:spPr>
        <p:txBody>
          <a:bodyPr wrap="square">
            <a:spAutoFit/>
          </a:bodyPr>
          <a:lstStyle/>
          <a:p>
            <a:pPr algn="just">
              <a:lnSpc>
                <a:spcPct val="120000"/>
              </a:lnSpc>
              <a:spcBef>
                <a:spcPct val="50000"/>
              </a:spcBef>
            </a:pP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kumimoji="1"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3</a:t>
            </a:r>
            <a:r>
              <a:rPr kumimoji="1"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kumimoji="1"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高度为</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次树至多</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有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aphicFrame>
        <p:nvGraphicFramePr>
          <p:cNvPr id="5" name="Object 4"/>
          <p:cNvGraphicFramePr>
            <a:graphicFrameLocks noChangeAspect="1"/>
          </p:cNvGraphicFramePr>
          <p:nvPr/>
        </p:nvGraphicFramePr>
        <p:xfrm>
          <a:off x="4321178" y="857232"/>
          <a:ext cx="679450" cy="628650"/>
        </p:xfrm>
        <a:graphic>
          <a:graphicData uri="http://schemas.openxmlformats.org/presentationml/2006/ole">
            <mc:AlternateContent xmlns:mc="http://schemas.openxmlformats.org/markup-compatibility/2006">
              <mc:Choice xmlns:v="urn:schemas-microsoft-com:vml" Requires="v">
                <p:oleObj spid="_x0000_s1025" name="Equation" r:id="rId1" imgW="10972800" imgH="10058400" progId="Equation.3">
                  <p:embed/>
                </p:oleObj>
              </mc:Choice>
              <mc:Fallback>
                <p:oleObj name="Equation" r:id="rId1" imgW="10972800" imgH="10058400" progId="Equation.3">
                  <p:embed/>
                  <p:pic>
                    <p:nvPicPr>
                      <p:cNvPr id="0" name="Object 4"/>
                      <p:cNvPicPr>
                        <a:picLocks noChangeAspect="1"/>
                      </p:cNvPicPr>
                      <p:nvPr/>
                    </p:nvPicPr>
                    <p:blipFill>
                      <a:blip r:embed="rId2"/>
                      <a:stretch>
                        <a:fillRect/>
                      </a:stretch>
                    </p:blipFill>
                    <p:spPr>
                      <a:xfrm>
                        <a:off x="4321178" y="857232"/>
                        <a:ext cx="679450" cy="628650"/>
                      </a:xfrm>
                      <a:prstGeom prst="rect">
                        <a:avLst/>
                      </a:prstGeom>
                      <a:noFill/>
                      <a:ln w="9525">
                        <a:noFill/>
                      </a:ln>
                    </p:spPr>
                  </p:pic>
                </p:oleObj>
              </mc:Fallback>
            </mc:AlternateContent>
          </a:graphicData>
        </a:graphic>
      </p:graphicFrame>
      <p:sp>
        <p:nvSpPr>
          <p:cNvPr id="6" name="TextBox 5"/>
          <p:cNvSpPr txBox="1"/>
          <p:nvPr/>
        </p:nvSpPr>
        <p:spPr>
          <a:xfrm>
            <a:off x="1071538" y="2000240"/>
            <a:ext cx="207170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由性质</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2</a:t>
            </a:r>
            <a:r>
              <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推出</a:t>
            </a:r>
            <a:endPar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8" name="TextBox 7"/>
          <p:cNvSpPr txBox="1"/>
          <p:nvPr/>
        </p:nvSpPr>
        <p:spPr>
          <a:xfrm>
            <a:off x="500034" y="3071810"/>
            <a:ext cx="764386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4</a:t>
            </a:r>
            <a:r>
              <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具有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次树的</a:t>
            </a:r>
            <a:r>
              <a:rPr lang="zh-CN"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最小高度</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i="1"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357158" y="285728"/>
            <a:ext cx="8429684" cy="1169551"/>
          </a:xfrm>
          <a:prstGeom prst="rect">
            <a:avLst/>
          </a:prstGeom>
          <a:noFill/>
          <a:ln w="9525">
            <a:noFill/>
            <a:miter lim="800000"/>
          </a:ln>
        </p:spPr>
        <p:txBody>
          <a:bodyPr wrap="square">
            <a:spAutoFit/>
          </a:bodyPr>
          <a:lstStyle/>
          <a:p>
            <a:pPr algn="l">
              <a:lnSpc>
                <a:spcPts val="2800"/>
              </a:lnSpc>
              <a:spcBef>
                <a:spcPts val="0"/>
              </a:spcBef>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en-US"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a:t>
            </a:r>
            <a:r>
              <a:rPr lang="en-US" altLang="zh-CN" sz="2000" dirty="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若一棵三次树中度为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的结点为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个，度为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的结点为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个，度为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的结点为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个，则该三次树中总的结点个数和度为</a:t>
            </a: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的结点个数分别是多少？</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 Box 3"/>
          <p:cNvSpPr txBox="1">
            <a:spLocks noChangeArrowheads="1"/>
          </p:cNvSpPr>
          <p:nvPr/>
        </p:nvSpPr>
        <p:spPr bwMode="auto">
          <a:xfrm>
            <a:off x="1000100" y="1714488"/>
            <a:ext cx="7715304" cy="4116383"/>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pPr marL="360045" indent="-360045"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该三次树中总结点个数、度为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的结点个数和度为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的结点个数分别为</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显然</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，每个度为</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的结点在所有结点的度数之和中贡献</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个度。依题意有：</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。由树的性质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可知</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结点的度数之和</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 0×</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 1×2+2×1+3×2+1=</a:t>
            </a:r>
            <a:r>
              <a:rPr lang="en-US" altLang="zh-CN" sz="2000" smtClean="0">
                <a:solidFill>
                  <a:srgbClr val="FF00FF"/>
                </a:solidFill>
                <a:latin typeface="Consolas" panose="020B0609020204030204" pitchFamily="49" charset="0"/>
                <a:ea typeface="仿宋" panose="02010609060101010101" pitchFamily="49" charset="-122"/>
                <a:cs typeface="Consolas" panose="020B0609020204030204" pitchFamily="49" charset="0"/>
              </a:rPr>
              <a:t>11</a:t>
            </a:r>
            <a:endParaRPr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又</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因</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=11-2-1-2=</a:t>
            </a:r>
            <a:r>
              <a:rPr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rPr>
              <a:t>6</a:t>
            </a:r>
            <a:endParaRPr lang="en-US" altLang="zh-CN" sz="20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marL="360045" indent="-360045"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以该三次树中总的结点个数和度为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的结点个数分别是</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2"/>
          <p:cNvPicPr>
            <a:picLocks noChangeAspect="1" noChangeArrowheads="1"/>
          </p:cNvPicPr>
          <p:nvPr/>
        </p:nvPicPr>
        <p:blipFill>
          <a:blip r:embed="rId2" cstate="print"/>
          <a:srcRect/>
          <a:stretch>
            <a:fillRect/>
          </a:stretch>
        </p:blipFill>
        <p:spPr bwMode="auto">
          <a:xfrm>
            <a:off x="71406" y="1928803"/>
            <a:ext cx="961439" cy="1143008"/>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1142976" y="1831410"/>
            <a:ext cx="1811338"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72000" bIns="72000">
            <a:spAutoFit/>
          </a:bodyPr>
          <a:lstStyle/>
          <a:p>
            <a:pPr marL="342900" indent="-342900" algn="l">
              <a:lnSpc>
                <a:spcPct val="100000"/>
              </a:lnSpc>
              <a:buBlip>
                <a:blip r:embed="rId1"/>
              </a:buBlip>
            </a:pPr>
            <a:r>
              <a:rPr kumimoji="1"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先根遍历</a:t>
            </a:r>
            <a:r>
              <a:rPr kumimoji="1" lang="en-US" altLang="zh-CN"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endParaRPr kumimoji="1" lang="en-US" altLang="zh-CN" sz="2000" b="0"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5" name="Rectangle 4"/>
          <p:cNvSpPr>
            <a:spLocks noChangeArrowheads="1"/>
          </p:cNvSpPr>
          <p:nvPr/>
        </p:nvSpPr>
        <p:spPr bwMode="auto">
          <a:xfrm>
            <a:off x="1438309" y="2434510"/>
            <a:ext cx="6705591" cy="430887"/>
          </a:xfrm>
          <a:prstGeom prst="rect">
            <a:avLst/>
          </a:prstGeom>
          <a:noFill/>
          <a:ln w="12700" cap="sq">
            <a:noFill/>
            <a:miter lim="800000"/>
            <a:headEnd type="none" w="sm" len="sm"/>
            <a:tailEnd type="none" w="sm" len="sm"/>
          </a:ln>
        </p:spPr>
        <p:txBody>
          <a:bodyPr wrap="square">
            <a:spAutoFit/>
          </a:bodyPr>
          <a:lstStyle/>
          <a:p>
            <a:pPr algn="l">
              <a:lnSpc>
                <a:spcPct val="110000"/>
              </a:lnSpc>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若树</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不空，则先访问根结点，然后依次先根遍历各棵子树。</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 Box 6"/>
          <p:cNvSpPr txBox="1">
            <a:spLocks noChangeArrowheads="1"/>
          </p:cNvSpPr>
          <p:nvPr/>
        </p:nvSpPr>
        <p:spPr bwMode="auto">
          <a:xfrm>
            <a:off x="1142976" y="3241110"/>
            <a:ext cx="1882775"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72000" bIns="72000">
            <a:spAutoFit/>
          </a:bodyPr>
          <a:lstStyle/>
          <a:p>
            <a:pPr marL="342900" indent="-342900" algn="l">
              <a:lnSpc>
                <a:spcPct val="100000"/>
              </a:lnSpc>
              <a:buBlip>
                <a:blip r:embed="rId1"/>
              </a:buBlip>
            </a:pPr>
            <a:r>
              <a:rPr kumimoji="1"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后根遍历</a:t>
            </a:r>
            <a:r>
              <a:rPr kumimoji="1"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endParaRPr kumimoji="1"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7" name="Rectangle 7"/>
          <p:cNvSpPr>
            <a:spLocks noChangeArrowheads="1"/>
          </p:cNvSpPr>
          <p:nvPr/>
        </p:nvSpPr>
        <p:spPr bwMode="auto">
          <a:xfrm>
            <a:off x="1438309" y="3791832"/>
            <a:ext cx="6919905" cy="430887"/>
          </a:xfrm>
          <a:prstGeom prst="rect">
            <a:avLst/>
          </a:prstGeom>
          <a:noFill/>
          <a:ln w="12700" cap="sq">
            <a:noFill/>
            <a:miter lim="800000"/>
            <a:headEnd type="none" w="sm" len="sm"/>
            <a:tailEnd type="none" w="sm" len="sm"/>
          </a:ln>
        </p:spPr>
        <p:txBody>
          <a:bodyPr wrap="square">
            <a:spAutoFit/>
          </a:bodyPr>
          <a:lstStyle/>
          <a:p>
            <a:pPr algn="l">
              <a:lnSpc>
                <a:spcPct val="110000"/>
              </a:lnSpc>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若树</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不空，则先依次后根遍历各棵子树，然后访问根结点。</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 Box 9"/>
          <p:cNvSpPr txBox="1">
            <a:spLocks noChangeArrowheads="1"/>
          </p:cNvSpPr>
          <p:nvPr/>
        </p:nvSpPr>
        <p:spPr bwMode="auto">
          <a:xfrm>
            <a:off x="1142976" y="4469402"/>
            <a:ext cx="1882775" cy="453183"/>
          </a:xfrm>
          <a:prstGeom prst="rect">
            <a:avLst/>
          </a:prstGeom>
          <a:ln>
            <a:noFill/>
            <a:headEnd type="none" w="sm" len="sm"/>
            <a:tailEnd type="none" w="sm" len="sm"/>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lIns="180000" tIns="72000" bIns="72000">
            <a:spAutoFit/>
          </a:bodyPr>
          <a:lstStyle/>
          <a:p>
            <a:pPr marL="342900" indent="-342900" algn="l">
              <a:lnSpc>
                <a:spcPct val="100000"/>
              </a:lnSpc>
              <a:buBlip>
                <a:blip r:embed="rId1"/>
              </a:buBlip>
            </a:pPr>
            <a:r>
              <a:rPr kumimoji="1"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层次</a:t>
            </a:r>
            <a:r>
              <a:rPr kumimoji="1"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遍历</a:t>
            </a:r>
            <a:r>
              <a:rPr kumimoji="1"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a:t>
            </a:r>
            <a:endParaRPr kumimoji="1" lang="en-US"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9" name="Rectangle 10"/>
          <p:cNvSpPr>
            <a:spLocks noChangeArrowheads="1"/>
          </p:cNvSpPr>
          <p:nvPr/>
        </p:nvSpPr>
        <p:spPr bwMode="auto">
          <a:xfrm>
            <a:off x="1438309" y="5069815"/>
            <a:ext cx="6705591" cy="430887"/>
          </a:xfrm>
          <a:prstGeom prst="rect">
            <a:avLst/>
          </a:prstGeom>
          <a:noFill/>
          <a:ln w="12700" cap="sq">
            <a:noFill/>
            <a:miter lim="800000"/>
            <a:headEnd type="none" w="sm" len="sm"/>
            <a:tailEnd type="none" w="sm" len="sm"/>
          </a:ln>
        </p:spPr>
        <p:txBody>
          <a:bodyPr wrap="square">
            <a:spAutoFit/>
          </a:bodyPr>
          <a:lstStyle/>
          <a:p>
            <a:pPr algn="l">
              <a:lnSpc>
                <a:spcPct val="110000"/>
              </a:lnSpc>
            </a:pP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若树</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不空，则自上而下自左至右访问树中每个结点。</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4" name="组合 13"/>
          <p:cNvGrpSpPr/>
          <p:nvPr/>
        </p:nvGrpSpPr>
        <p:grpSpPr>
          <a:xfrm>
            <a:off x="1285852" y="5644351"/>
            <a:ext cx="5143536" cy="927921"/>
            <a:chOff x="1357290" y="4714884"/>
            <a:chExt cx="5143536" cy="927921"/>
          </a:xfrm>
        </p:grpSpPr>
        <p:sp>
          <p:nvSpPr>
            <p:cNvPr id="10" name="Text Box 5"/>
            <p:cNvSpPr txBox="1">
              <a:spLocks noChangeArrowheads="1"/>
            </p:cNvSpPr>
            <p:nvPr/>
          </p:nvSpPr>
          <p:spPr bwMode="auto">
            <a:xfrm>
              <a:off x="2643174" y="4988494"/>
              <a:ext cx="3857652" cy="400110"/>
            </a:xfrm>
            <a:prstGeom prst="rect">
              <a:avLst/>
            </a:prstGeom>
            <a:noFill/>
            <a:ln w="9525">
              <a:noFill/>
              <a:miter lim="800000"/>
            </a:ln>
          </p:spPr>
          <p:txBody>
            <a:bodyPr wrap="square">
              <a:spAutoFit/>
            </a:bodyPr>
            <a:lstStyle/>
            <a:p>
              <a:pPr algn="l">
                <a:lnSpc>
                  <a:spcPct val="100000"/>
                </a:lnSpc>
                <a:spcBef>
                  <a:spcPct val="50000"/>
                </a:spcBef>
              </a:pPr>
              <a:r>
                <a:rPr kumimoji="1" lang="zh-CN" altLang="en-US" sz="2000" smtClean="0">
                  <a:solidFill>
                    <a:srgbClr val="0000FF"/>
                  </a:solidFill>
                  <a:latin typeface="华文中宋" panose="02010600040101010101" pitchFamily="2" charset="-122"/>
                  <a:ea typeface="华文中宋" panose="02010600040101010101" pitchFamily="2" charset="-122"/>
                  <a:cs typeface="Consolas" panose="020B0609020204030204" pitchFamily="49" charset="0"/>
                </a:rPr>
                <a:t>先</a:t>
              </a:r>
              <a:r>
                <a:rPr kumimoji="1" lang="zh-CN" altLang="en-US" sz="2000" dirty="0">
                  <a:solidFill>
                    <a:srgbClr val="0000FF"/>
                  </a:solidFill>
                  <a:latin typeface="华文中宋" panose="02010600040101010101" pitchFamily="2" charset="-122"/>
                  <a:ea typeface="华文中宋" panose="02010600040101010101" pitchFamily="2" charset="-122"/>
                  <a:cs typeface="Consolas" panose="020B0609020204030204" pitchFamily="49" charset="0"/>
                </a:rPr>
                <a:t>根和后根遍历算法都是递归的。</a:t>
              </a:r>
              <a:endParaRPr kumimoji="1" lang="zh-CN" altLang="en-US" sz="2000" dirty="0">
                <a:solidFill>
                  <a:srgbClr val="0000FF"/>
                </a:solidFill>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11" name="组合 10"/>
            <p:cNvGrpSpPr/>
            <p:nvPr/>
          </p:nvGrpSpPr>
          <p:grpSpPr>
            <a:xfrm>
              <a:off x="1357290" y="4714884"/>
              <a:ext cx="1428760" cy="927921"/>
              <a:chOff x="428596" y="715129"/>
              <a:chExt cx="1955562" cy="927921"/>
            </a:xfrm>
          </p:grpSpPr>
          <p:pic>
            <p:nvPicPr>
              <p:cNvPr id="12" name="Oval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917486" y="1008612"/>
                <a:ext cx="992492" cy="338554"/>
              </a:xfrm>
              <a:prstGeom prst="rect">
                <a:avLst/>
              </a:prstGeom>
              <a:noFill/>
            </p:spPr>
            <p:txBody>
              <a:bodyPr wrap="square" rtlCol="0">
                <a:spAutoFit/>
              </a:bodyPr>
              <a:lstStyle/>
              <a:p>
                <a:pPr algn="ctr"/>
                <a:r>
                  <a:rPr lang="zh-CN" altLang="en-US" sz="2000" smtClean="0">
                    <a:solidFill>
                      <a:srgbClr val="FF0000"/>
                    </a:solidFill>
                    <a:latin typeface="微软雅黑" panose="020B0503020204020204" pitchFamily="34" charset="-122"/>
                    <a:ea typeface="微软雅黑" panose="020B0503020204020204" pitchFamily="34" charset="-122"/>
                  </a:rPr>
                  <a:t>注意</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grpSp>
      <p:sp>
        <p:nvSpPr>
          <p:cNvPr id="16" name="TextBox 15"/>
          <p:cNvSpPr txBox="1"/>
          <p:nvPr/>
        </p:nvSpPr>
        <p:spPr>
          <a:xfrm>
            <a:off x="357126" y="1000108"/>
            <a:ext cx="878687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树遍历</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指按某种方式访问树中的每一个结点且每一个结点只被访问一</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次</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57158" y="214290"/>
            <a:ext cx="357190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7.1.5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树的基本运算</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8" name="灯片编号占位符 1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a:grpSpLocks noChangeAspect="1"/>
          </p:cNvGrpSpPr>
          <p:nvPr/>
        </p:nvGrpSpPr>
        <p:grpSpPr bwMode="auto">
          <a:xfrm>
            <a:off x="500034" y="1103295"/>
            <a:ext cx="2800350" cy="3040062"/>
            <a:chOff x="3395" y="384"/>
            <a:chExt cx="2206" cy="2395"/>
          </a:xfrm>
        </p:grpSpPr>
        <p:sp>
          <p:nvSpPr>
            <p:cNvPr id="5" name="Freeform 3"/>
            <p:cNvSpPr>
              <a:spLocks noChangeAspect="1"/>
            </p:cNvSpPr>
            <p:nvPr/>
          </p:nvSpPr>
          <p:spPr bwMode="auto">
            <a:xfrm>
              <a:off x="4377" y="653"/>
              <a:ext cx="2" cy="284"/>
            </a:xfrm>
            <a:custGeom>
              <a:avLst/>
              <a:gdLst>
                <a:gd name="T0" fmla="*/ 0 w 2"/>
                <a:gd name="T1" fmla="*/ 0 h 284"/>
                <a:gd name="T2" fmla="*/ 2 w 2"/>
                <a:gd name="T3" fmla="*/ 284 h 284"/>
                <a:gd name="T4" fmla="*/ 0 60000 65536"/>
                <a:gd name="T5" fmla="*/ 0 60000 65536"/>
                <a:gd name="T6" fmla="*/ 0 w 2"/>
                <a:gd name="T7" fmla="*/ 0 h 284"/>
                <a:gd name="T8" fmla="*/ 2 w 2"/>
                <a:gd name="T9" fmla="*/ 284 h 284"/>
              </a:gdLst>
              <a:ahLst/>
              <a:cxnLst>
                <a:cxn ang="T4">
                  <a:pos x="T0" y="T1"/>
                </a:cxn>
                <a:cxn ang="T5">
                  <a:pos x="T2" y="T3"/>
                </a:cxn>
              </a:cxnLst>
              <a:rect l="T6" t="T7" r="T8" b="T9"/>
              <a:pathLst>
                <a:path w="2" h="284">
                  <a:moveTo>
                    <a:pt x="0" y="0"/>
                  </a:moveTo>
                  <a:lnTo>
                    <a:pt x="2" y="284"/>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Oval 4"/>
            <p:cNvSpPr>
              <a:spLocks noChangeAspect="1" noChangeArrowheads="1"/>
            </p:cNvSpPr>
            <p:nvPr/>
          </p:nvSpPr>
          <p:spPr bwMode="auto">
            <a:xfrm>
              <a:off x="4241" y="384"/>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Oval 5"/>
            <p:cNvSpPr>
              <a:spLocks noChangeAspect="1" noChangeArrowheads="1"/>
            </p:cNvSpPr>
            <p:nvPr/>
          </p:nvSpPr>
          <p:spPr bwMode="auto">
            <a:xfrm>
              <a:off x="3672" y="935"/>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B</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Oval 6"/>
            <p:cNvSpPr>
              <a:spLocks noChangeAspect="1" noChangeArrowheads="1"/>
            </p:cNvSpPr>
            <p:nvPr/>
          </p:nvSpPr>
          <p:spPr bwMode="auto">
            <a:xfrm>
              <a:off x="4240" y="935"/>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C</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Oval 7"/>
            <p:cNvSpPr>
              <a:spLocks noChangeAspect="1" noChangeArrowheads="1"/>
            </p:cNvSpPr>
            <p:nvPr/>
          </p:nvSpPr>
          <p:spPr bwMode="auto">
            <a:xfrm>
              <a:off x="4864" y="935"/>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D</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Oval 8"/>
            <p:cNvSpPr>
              <a:spLocks noChangeAspect="1" noChangeArrowheads="1"/>
            </p:cNvSpPr>
            <p:nvPr/>
          </p:nvSpPr>
          <p:spPr bwMode="auto">
            <a:xfrm>
              <a:off x="3395" y="1480"/>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Oval 9"/>
            <p:cNvSpPr>
              <a:spLocks noChangeAspect="1" noChangeArrowheads="1"/>
            </p:cNvSpPr>
            <p:nvPr/>
          </p:nvSpPr>
          <p:spPr bwMode="auto">
            <a:xfrm>
              <a:off x="3923" y="1480"/>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F</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Oval 10"/>
            <p:cNvSpPr>
              <a:spLocks noChangeAspect="1" noChangeArrowheads="1"/>
            </p:cNvSpPr>
            <p:nvPr/>
          </p:nvSpPr>
          <p:spPr bwMode="auto">
            <a:xfrm>
              <a:off x="4875" y="1480"/>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G</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11"/>
            <p:cNvSpPr>
              <a:spLocks noChangeAspect="1" noChangeArrowheads="1"/>
            </p:cNvSpPr>
            <p:nvPr/>
          </p:nvSpPr>
          <p:spPr bwMode="auto">
            <a:xfrm>
              <a:off x="4869" y="1988"/>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Oval 12"/>
            <p:cNvSpPr>
              <a:spLocks noChangeAspect="1" noChangeArrowheads="1"/>
            </p:cNvSpPr>
            <p:nvPr/>
          </p:nvSpPr>
          <p:spPr bwMode="auto">
            <a:xfrm>
              <a:off x="4878" y="2507"/>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Oval 13"/>
            <p:cNvSpPr>
              <a:spLocks noChangeAspect="1" noChangeArrowheads="1"/>
            </p:cNvSpPr>
            <p:nvPr/>
          </p:nvSpPr>
          <p:spPr bwMode="auto">
            <a:xfrm>
              <a:off x="4468" y="2507"/>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Oval 14"/>
            <p:cNvSpPr>
              <a:spLocks noChangeAspect="1" noChangeArrowheads="1"/>
            </p:cNvSpPr>
            <p:nvPr/>
          </p:nvSpPr>
          <p:spPr bwMode="auto">
            <a:xfrm>
              <a:off x="5329" y="2507"/>
              <a:ext cx="272" cy="272"/>
            </a:xfrm>
            <a:prstGeom prst="ellips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K</a:t>
              </a:r>
              <a:endPar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Freeform 15"/>
            <p:cNvSpPr>
              <a:spLocks noChangeAspect="1"/>
            </p:cNvSpPr>
            <p:nvPr/>
          </p:nvSpPr>
          <p:spPr bwMode="auto">
            <a:xfrm>
              <a:off x="3865" y="569"/>
              <a:ext cx="382" cy="382"/>
            </a:xfrm>
            <a:custGeom>
              <a:avLst/>
              <a:gdLst>
                <a:gd name="T0" fmla="*/ 382 w 382"/>
                <a:gd name="T1" fmla="*/ 0 h 382"/>
                <a:gd name="T2" fmla="*/ 0 w 382"/>
                <a:gd name="T3" fmla="*/ 382 h 382"/>
                <a:gd name="T4" fmla="*/ 0 60000 65536"/>
                <a:gd name="T5" fmla="*/ 0 60000 65536"/>
                <a:gd name="T6" fmla="*/ 0 w 382"/>
                <a:gd name="T7" fmla="*/ 0 h 382"/>
                <a:gd name="T8" fmla="*/ 382 w 382"/>
                <a:gd name="T9" fmla="*/ 382 h 382"/>
              </a:gdLst>
              <a:ahLst/>
              <a:cxnLst>
                <a:cxn ang="T4">
                  <a:pos x="T0" y="T1"/>
                </a:cxn>
                <a:cxn ang="T5">
                  <a:pos x="T2" y="T3"/>
                </a:cxn>
              </a:cxnLst>
              <a:rect l="T6" t="T7" r="T8" b="T9"/>
              <a:pathLst>
                <a:path w="382" h="382">
                  <a:moveTo>
                    <a:pt x="382" y="0"/>
                  </a:moveTo>
                  <a:lnTo>
                    <a:pt x="0" y="382"/>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16"/>
            <p:cNvSpPr>
              <a:spLocks noChangeAspect="1"/>
            </p:cNvSpPr>
            <p:nvPr/>
          </p:nvSpPr>
          <p:spPr bwMode="auto">
            <a:xfrm>
              <a:off x="4511" y="555"/>
              <a:ext cx="402" cy="410"/>
            </a:xfrm>
            <a:custGeom>
              <a:avLst/>
              <a:gdLst>
                <a:gd name="T0" fmla="*/ 0 w 402"/>
                <a:gd name="T1" fmla="*/ 0 h 410"/>
                <a:gd name="T2" fmla="*/ 402 w 402"/>
                <a:gd name="T3" fmla="*/ 410 h 410"/>
                <a:gd name="T4" fmla="*/ 0 60000 65536"/>
                <a:gd name="T5" fmla="*/ 0 60000 65536"/>
                <a:gd name="T6" fmla="*/ 0 w 402"/>
                <a:gd name="T7" fmla="*/ 0 h 410"/>
                <a:gd name="T8" fmla="*/ 402 w 402"/>
                <a:gd name="T9" fmla="*/ 410 h 410"/>
              </a:gdLst>
              <a:ahLst/>
              <a:cxnLst>
                <a:cxn ang="T4">
                  <a:pos x="T0" y="T1"/>
                </a:cxn>
                <a:cxn ang="T5">
                  <a:pos x="T2" y="T3"/>
                </a:cxn>
              </a:cxnLst>
              <a:rect l="T6" t="T7" r="T8" b="T9"/>
              <a:pathLst>
                <a:path w="402" h="410">
                  <a:moveTo>
                    <a:pt x="0" y="0"/>
                  </a:moveTo>
                  <a:lnTo>
                    <a:pt x="402" y="410"/>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Freeform 17"/>
            <p:cNvSpPr>
              <a:spLocks noChangeAspect="1"/>
            </p:cNvSpPr>
            <p:nvPr/>
          </p:nvSpPr>
          <p:spPr bwMode="auto">
            <a:xfrm>
              <a:off x="3553" y="1180"/>
              <a:ext cx="146" cy="312"/>
            </a:xfrm>
            <a:custGeom>
              <a:avLst/>
              <a:gdLst>
                <a:gd name="T0" fmla="*/ 146 w 146"/>
                <a:gd name="T1" fmla="*/ 0 h 312"/>
                <a:gd name="T2" fmla="*/ 0 w 146"/>
                <a:gd name="T3" fmla="*/ 312 h 312"/>
                <a:gd name="T4" fmla="*/ 0 60000 65536"/>
                <a:gd name="T5" fmla="*/ 0 60000 65536"/>
                <a:gd name="T6" fmla="*/ 0 w 146"/>
                <a:gd name="T7" fmla="*/ 0 h 312"/>
                <a:gd name="T8" fmla="*/ 146 w 146"/>
                <a:gd name="T9" fmla="*/ 312 h 312"/>
              </a:gdLst>
              <a:ahLst/>
              <a:cxnLst>
                <a:cxn ang="T4">
                  <a:pos x="T0" y="T1"/>
                </a:cxn>
                <a:cxn ang="T5">
                  <a:pos x="T2" y="T3"/>
                </a:cxn>
              </a:cxnLst>
              <a:rect l="T6" t="T7" r="T8" b="T9"/>
              <a:pathLst>
                <a:path w="146" h="312">
                  <a:moveTo>
                    <a:pt x="146" y="0"/>
                  </a:moveTo>
                  <a:lnTo>
                    <a:pt x="0" y="312"/>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Freeform 18"/>
            <p:cNvSpPr>
              <a:spLocks noChangeAspect="1"/>
            </p:cNvSpPr>
            <p:nvPr/>
          </p:nvSpPr>
          <p:spPr bwMode="auto">
            <a:xfrm>
              <a:off x="3900" y="1180"/>
              <a:ext cx="139" cy="298"/>
            </a:xfrm>
            <a:custGeom>
              <a:avLst/>
              <a:gdLst>
                <a:gd name="T0" fmla="*/ 0 w 139"/>
                <a:gd name="T1" fmla="*/ 0 h 298"/>
                <a:gd name="T2" fmla="*/ 139 w 139"/>
                <a:gd name="T3" fmla="*/ 298 h 298"/>
                <a:gd name="T4" fmla="*/ 0 60000 65536"/>
                <a:gd name="T5" fmla="*/ 0 60000 65536"/>
                <a:gd name="T6" fmla="*/ 0 w 139"/>
                <a:gd name="T7" fmla="*/ 0 h 298"/>
                <a:gd name="T8" fmla="*/ 139 w 139"/>
                <a:gd name="T9" fmla="*/ 298 h 298"/>
              </a:gdLst>
              <a:ahLst/>
              <a:cxnLst>
                <a:cxn ang="T4">
                  <a:pos x="T0" y="T1"/>
                </a:cxn>
                <a:cxn ang="T5">
                  <a:pos x="T2" y="T3"/>
                </a:cxn>
              </a:cxnLst>
              <a:rect l="T6" t="T7" r="T8" b="T9"/>
              <a:pathLst>
                <a:path w="139" h="298">
                  <a:moveTo>
                    <a:pt x="0" y="0"/>
                  </a:moveTo>
                  <a:lnTo>
                    <a:pt x="139" y="298"/>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Freeform 19"/>
            <p:cNvSpPr>
              <a:spLocks noChangeAspect="1"/>
            </p:cNvSpPr>
            <p:nvPr/>
          </p:nvSpPr>
          <p:spPr bwMode="auto">
            <a:xfrm>
              <a:off x="5004" y="1229"/>
              <a:ext cx="8" cy="256"/>
            </a:xfrm>
            <a:custGeom>
              <a:avLst/>
              <a:gdLst>
                <a:gd name="T0" fmla="*/ 8 w 8"/>
                <a:gd name="T1" fmla="*/ 0 h 256"/>
                <a:gd name="T2" fmla="*/ 0 w 8"/>
                <a:gd name="T3" fmla="*/ 256 h 256"/>
                <a:gd name="T4" fmla="*/ 0 60000 65536"/>
                <a:gd name="T5" fmla="*/ 0 60000 65536"/>
                <a:gd name="T6" fmla="*/ 0 w 8"/>
                <a:gd name="T7" fmla="*/ 0 h 256"/>
                <a:gd name="T8" fmla="*/ 8 w 8"/>
                <a:gd name="T9" fmla="*/ 256 h 256"/>
              </a:gdLst>
              <a:ahLst/>
              <a:cxnLst>
                <a:cxn ang="T4">
                  <a:pos x="T0" y="T1"/>
                </a:cxn>
                <a:cxn ang="T5">
                  <a:pos x="T2" y="T3"/>
                </a:cxn>
              </a:cxnLst>
              <a:rect l="T6" t="T7" r="T8" b="T9"/>
              <a:pathLst>
                <a:path w="8" h="256">
                  <a:moveTo>
                    <a:pt x="8" y="0"/>
                  </a:moveTo>
                  <a:lnTo>
                    <a:pt x="0" y="256"/>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Freeform 20"/>
            <p:cNvSpPr>
              <a:spLocks noChangeAspect="1"/>
            </p:cNvSpPr>
            <p:nvPr/>
          </p:nvSpPr>
          <p:spPr bwMode="auto">
            <a:xfrm>
              <a:off x="5011" y="1749"/>
              <a:ext cx="3" cy="239"/>
            </a:xfrm>
            <a:custGeom>
              <a:avLst/>
              <a:gdLst>
                <a:gd name="T0" fmla="*/ 0 w 3"/>
                <a:gd name="T1" fmla="*/ 0 h 239"/>
                <a:gd name="T2" fmla="*/ 3 w 3"/>
                <a:gd name="T3" fmla="*/ 239 h 239"/>
                <a:gd name="T4" fmla="*/ 0 60000 65536"/>
                <a:gd name="T5" fmla="*/ 0 60000 65536"/>
                <a:gd name="T6" fmla="*/ 0 w 3"/>
                <a:gd name="T7" fmla="*/ 0 h 239"/>
                <a:gd name="T8" fmla="*/ 3 w 3"/>
                <a:gd name="T9" fmla="*/ 239 h 239"/>
              </a:gdLst>
              <a:ahLst/>
              <a:cxnLst>
                <a:cxn ang="T4">
                  <a:pos x="T0" y="T1"/>
                </a:cxn>
                <a:cxn ang="T5">
                  <a:pos x="T2" y="T3"/>
                </a:cxn>
              </a:cxnLst>
              <a:rect l="T6" t="T7" r="T8" b="T9"/>
              <a:pathLst>
                <a:path w="3" h="239">
                  <a:moveTo>
                    <a:pt x="0" y="0"/>
                  </a:moveTo>
                  <a:lnTo>
                    <a:pt x="3" y="239"/>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21"/>
            <p:cNvSpPr>
              <a:spLocks noChangeAspect="1"/>
            </p:cNvSpPr>
            <p:nvPr/>
          </p:nvSpPr>
          <p:spPr bwMode="auto">
            <a:xfrm>
              <a:off x="5011" y="2255"/>
              <a:ext cx="2" cy="252"/>
            </a:xfrm>
            <a:custGeom>
              <a:avLst/>
              <a:gdLst>
                <a:gd name="T0" fmla="*/ 0 w 2"/>
                <a:gd name="T1" fmla="*/ 0 h 252"/>
                <a:gd name="T2" fmla="*/ 2 w 2"/>
                <a:gd name="T3" fmla="*/ 252 h 252"/>
                <a:gd name="T4" fmla="*/ 0 60000 65536"/>
                <a:gd name="T5" fmla="*/ 0 60000 65536"/>
                <a:gd name="T6" fmla="*/ 0 w 2"/>
                <a:gd name="T7" fmla="*/ 0 h 252"/>
                <a:gd name="T8" fmla="*/ 2 w 2"/>
                <a:gd name="T9" fmla="*/ 252 h 252"/>
              </a:gdLst>
              <a:ahLst/>
              <a:cxnLst>
                <a:cxn ang="T4">
                  <a:pos x="T0" y="T1"/>
                </a:cxn>
                <a:cxn ang="T5">
                  <a:pos x="T2" y="T3"/>
                </a:cxn>
              </a:cxnLst>
              <a:rect l="T6" t="T7" r="T8" b="T9"/>
              <a:pathLst>
                <a:path w="2" h="252">
                  <a:moveTo>
                    <a:pt x="0" y="0"/>
                  </a:moveTo>
                  <a:lnTo>
                    <a:pt x="2" y="252"/>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22"/>
            <p:cNvSpPr>
              <a:spLocks noChangeAspect="1"/>
            </p:cNvSpPr>
            <p:nvPr/>
          </p:nvSpPr>
          <p:spPr bwMode="auto">
            <a:xfrm>
              <a:off x="4622" y="2200"/>
              <a:ext cx="284" cy="312"/>
            </a:xfrm>
            <a:custGeom>
              <a:avLst/>
              <a:gdLst>
                <a:gd name="T0" fmla="*/ 284 w 284"/>
                <a:gd name="T1" fmla="*/ 0 h 312"/>
                <a:gd name="T2" fmla="*/ 0 w 284"/>
                <a:gd name="T3" fmla="*/ 312 h 312"/>
                <a:gd name="T4" fmla="*/ 0 60000 65536"/>
                <a:gd name="T5" fmla="*/ 0 60000 65536"/>
                <a:gd name="T6" fmla="*/ 0 w 284"/>
                <a:gd name="T7" fmla="*/ 0 h 312"/>
                <a:gd name="T8" fmla="*/ 284 w 284"/>
                <a:gd name="T9" fmla="*/ 312 h 312"/>
              </a:gdLst>
              <a:ahLst/>
              <a:cxnLst>
                <a:cxn ang="T4">
                  <a:pos x="T0" y="T1"/>
                </a:cxn>
                <a:cxn ang="T5">
                  <a:pos x="T2" y="T3"/>
                </a:cxn>
              </a:cxnLst>
              <a:rect l="T6" t="T7" r="T8" b="T9"/>
              <a:pathLst>
                <a:path w="284" h="312">
                  <a:moveTo>
                    <a:pt x="284" y="0"/>
                  </a:moveTo>
                  <a:lnTo>
                    <a:pt x="0" y="312"/>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Freeform 23"/>
            <p:cNvSpPr>
              <a:spLocks noChangeAspect="1"/>
            </p:cNvSpPr>
            <p:nvPr/>
          </p:nvSpPr>
          <p:spPr bwMode="auto">
            <a:xfrm>
              <a:off x="5128" y="2193"/>
              <a:ext cx="278" cy="326"/>
            </a:xfrm>
            <a:custGeom>
              <a:avLst/>
              <a:gdLst>
                <a:gd name="T0" fmla="*/ 0 w 278"/>
                <a:gd name="T1" fmla="*/ 0 h 326"/>
                <a:gd name="T2" fmla="*/ 278 w 278"/>
                <a:gd name="T3" fmla="*/ 326 h 326"/>
                <a:gd name="T4" fmla="*/ 0 60000 65536"/>
                <a:gd name="T5" fmla="*/ 0 60000 65536"/>
                <a:gd name="T6" fmla="*/ 0 w 278"/>
                <a:gd name="T7" fmla="*/ 0 h 326"/>
                <a:gd name="T8" fmla="*/ 278 w 278"/>
                <a:gd name="T9" fmla="*/ 326 h 326"/>
              </a:gdLst>
              <a:ahLst/>
              <a:cxnLst>
                <a:cxn ang="T4">
                  <a:pos x="T0" y="T1"/>
                </a:cxn>
                <a:cxn ang="T5">
                  <a:pos x="T2" y="T3"/>
                </a:cxn>
              </a:cxnLst>
              <a:rect l="T6" t="T7" r="T8" b="T9"/>
              <a:pathLst>
                <a:path w="278" h="326">
                  <a:moveTo>
                    <a:pt x="0" y="0"/>
                  </a:moveTo>
                  <a:lnTo>
                    <a:pt x="278" y="326"/>
                  </a:lnTo>
                </a:path>
              </a:pathLst>
            </a:cu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lIns="0" rIns="0" anchor="ctr"/>
            <a:lstStyle/>
            <a:p>
              <a:pPr>
                <a:lnSpc>
                  <a:spcPts val="2300"/>
                </a:lnSpc>
                <a:spcBef>
                  <a:spcPts val="0"/>
                </a:spcBef>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6" name="Text Box 25"/>
          <p:cNvSpPr txBox="1">
            <a:spLocks noChangeArrowheads="1"/>
          </p:cNvSpPr>
          <p:nvPr/>
        </p:nvSpPr>
        <p:spPr bwMode="auto">
          <a:xfrm>
            <a:off x="3864004" y="857232"/>
            <a:ext cx="3636954" cy="338554"/>
          </a:xfrm>
          <a:prstGeom prst="rect">
            <a:avLst/>
          </a:prstGeom>
          <a:noFill/>
          <a:ln w="12700" cap="sq">
            <a:noFill/>
            <a:miter lim="800000"/>
            <a:headEnd type="none" w="sm" len="sm"/>
            <a:tailEnd type="none" w="sm" len="sm"/>
          </a:ln>
        </p:spPr>
        <p:txBody>
          <a:bodyPr wrap="square">
            <a:spAutoFit/>
          </a:bodyPr>
          <a:lstStyle/>
          <a:p>
            <a:pPr algn="l"/>
            <a:r>
              <a:rPr kumimoji="1" lang="zh-CN" altLang="en-US"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先</a:t>
            </a:r>
            <a:r>
              <a:rPr kumimoji="1" lang="zh-CN" altLang="en-US" sz="2000" dirty="0">
                <a:solidFill>
                  <a:srgbClr val="C00000"/>
                </a:solidFill>
                <a:latin typeface="Consolas" panose="020B0609020204030204" pitchFamily="49" charset="0"/>
                <a:ea typeface="仿宋" panose="02010609060101010101" pitchFamily="49" charset="-122"/>
                <a:cs typeface="Consolas" panose="020B0609020204030204" pitchFamily="49" charset="0"/>
              </a:rPr>
              <a:t>根遍历的顶点访问次序：</a:t>
            </a:r>
            <a:endParaRPr kumimoji="1" lang="zh-CN" altLang="en-US" sz="2000" dirty="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26"/>
          <p:cNvSpPr txBox="1">
            <a:spLocks noChangeArrowheads="1"/>
          </p:cNvSpPr>
          <p:nvPr/>
        </p:nvSpPr>
        <p:spPr bwMode="auto">
          <a:xfrm>
            <a:off x="4376765" y="1462057"/>
            <a:ext cx="3147015" cy="342979"/>
          </a:xfrm>
          <a:prstGeom prst="rect">
            <a:avLst/>
          </a:prstGeom>
          <a:noFill/>
          <a:ln w="12700" cap="sq">
            <a:noFill/>
            <a:miter lim="800000"/>
            <a:headEnd type="none" w="sm" len="sm"/>
            <a:tailEnd type="none" w="sm" len="sm"/>
          </a:ln>
        </p:spPr>
        <p:txBody>
          <a:bodyPr wrap="none">
            <a:spAutoFit/>
          </a:bodyPr>
          <a:lstStyle/>
          <a:p>
            <a:pPr algn="l"/>
            <a:r>
              <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rPr>
              <a:t>A B E F C D G H I J K</a:t>
            </a:r>
            <a:endPar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28"/>
          <p:cNvSpPr txBox="1">
            <a:spLocks noChangeArrowheads="1"/>
          </p:cNvSpPr>
          <p:nvPr/>
        </p:nvSpPr>
        <p:spPr bwMode="auto">
          <a:xfrm>
            <a:off x="3864004" y="2297096"/>
            <a:ext cx="3635367" cy="338554"/>
          </a:xfrm>
          <a:prstGeom prst="rect">
            <a:avLst/>
          </a:prstGeom>
          <a:noFill/>
          <a:ln w="12700" cap="sq">
            <a:noFill/>
            <a:miter lim="800000"/>
            <a:headEnd type="none" w="sm" len="sm"/>
            <a:tailEnd type="none" w="sm" len="sm"/>
          </a:ln>
        </p:spPr>
        <p:txBody>
          <a:bodyPr wrap="square">
            <a:spAutoFit/>
          </a:bodyPr>
          <a:lstStyle/>
          <a:p>
            <a:pPr algn="l"/>
            <a:r>
              <a:rPr kumimoji="1" lang="zh-CN" altLang="en-US"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后根</a:t>
            </a:r>
            <a:r>
              <a:rPr kumimoji="1" lang="zh-CN" altLang="en-US" sz="2000">
                <a:solidFill>
                  <a:srgbClr val="C00000"/>
                </a:solidFill>
                <a:latin typeface="Consolas" panose="020B0609020204030204" pitchFamily="49" charset="0"/>
                <a:ea typeface="仿宋" panose="02010609060101010101" pitchFamily="49" charset="-122"/>
                <a:cs typeface="Consolas" panose="020B0609020204030204" pitchFamily="49" charset="0"/>
              </a:rPr>
              <a:t>遍历的顶点访问次序：</a:t>
            </a:r>
            <a:endParaRPr kumimoji="1" lang="zh-CN" altLang="en-US"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 Box 29"/>
          <p:cNvSpPr txBox="1">
            <a:spLocks noChangeArrowheads="1"/>
          </p:cNvSpPr>
          <p:nvPr/>
        </p:nvSpPr>
        <p:spPr bwMode="auto">
          <a:xfrm>
            <a:off x="4286248" y="2890817"/>
            <a:ext cx="3147015" cy="342979"/>
          </a:xfrm>
          <a:prstGeom prst="rect">
            <a:avLst/>
          </a:prstGeom>
          <a:noFill/>
          <a:ln w="12700" cap="sq">
            <a:noFill/>
            <a:miter lim="800000"/>
            <a:headEnd type="none" w="sm" len="sm"/>
            <a:tailEnd type="none" w="sm" len="sm"/>
          </a:ln>
        </p:spPr>
        <p:txBody>
          <a:bodyPr wrap="none">
            <a:spAutoFit/>
          </a:bodyPr>
          <a:lstStyle/>
          <a:p>
            <a:pPr algn="l"/>
            <a:r>
              <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rPr>
              <a:t>E F B C I J K H G D A</a:t>
            </a:r>
            <a:endPar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 Box 31"/>
          <p:cNvSpPr txBox="1">
            <a:spLocks noChangeArrowheads="1"/>
          </p:cNvSpPr>
          <p:nvPr/>
        </p:nvSpPr>
        <p:spPr bwMode="auto">
          <a:xfrm>
            <a:off x="3864004" y="3748073"/>
            <a:ext cx="3465504" cy="338554"/>
          </a:xfrm>
          <a:prstGeom prst="rect">
            <a:avLst/>
          </a:prstGeom>
          <a:noFill/>
          <a:ln w="12700" cap="sq">
            <a:noFill/>
            <a:miter lim="800000"/>
            <a:headEnd type="none" w="sm" len="sm"/>
            <a:tailEnd type="none" w="sm" len="sm"/>
          </a:ln>
        </p:spPr>
        <p:txBody>
          <a:bodyPr wrap="square">
            <a:spAutoFit/>
          </a:bodyPr>
          <a:lstStyle/>
          <a:p>
            <a:pPr algn="l"/>
            <a:r>
              <a:rPr kumimoji="1" lang="zh-CN" altLang="en-US" sz="2000" smtClean="0">
                <a:solidFill>
                  <a:srgbClr val="C00000"/>
                </a:solidFill>
                <a:latin typeface="Consolas" panose="020B0609020204030204" pitchFamily="49" charset="0"/>
                <a:ea typeface="仿宋" panose="02010609060101010101" pitchFamily="49" charset="-122"/>
                <a:cs typeface="Consolas" panose="020B0609020204030204" pitchFamily="49" charset="0"/>
              </a:rPr>
              <a:t>层次</a:t>
            </a:r>
            <a:r>
              <a:rPr kumimoji="1" lang="zh-CN" altLang="en-US" sz="2000">
                <a:solidFill>
                  <a:srgbClr val="C00000"/>
                </a:solidFill>
                <a:latin typeface="Consolas" panose="020B0609020204030204" pitchFamily="49" charset="0"/>
                <a:ea typeface="仿宋" panose="02010609060101010101" pitchFamily="49" charset="-122"/>
                <a:cs typeface="Consolas" panose="020B0609020204030204" pitchFamily="49" charset="0"/>
              </a:rPr>
              <a:t>遍历的顶点访问次序：</a:t>
            </a:r>
            <a:endParaRPr kumimoji="1" lang="zh-CN" altLang="en-US" sz="200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 Box 32"/>
          <p:cNvSpPr txBox="1">
            <a:spLocks noChangeArrowheads="1"/>
          </p:cNvSpPr>
          <p:nvPr/>
        </p:nvSpPr>
        <p:spPr bwMode="auto">
          <a:xfrm>
            <a:off x="4384702" y="4314811"/>
            <a:ext cx="3147015" cy="342979"/>
          </a:xfrm>
          <a:prstGeom prst="rect">
            <a:avLst/>
          </a:prstGeom>
          <a:noFill/>
          <a:ln w="12700" cap="sq">
            <a:noFill/>
            <a:miter lim="800000"/>
            <a:headEnd type="none" w="sm" len="sm"/>
            <a:tailEnd type="none" w="sm" len="sm"/>
          </a:ln>
        </p:spPr>
        <p:txBody>
          <a:bodyPr wrap="none">
            <a:spAutoFit/>
          </a:bodyPr>
          <a:lstStyle/>
          <a:p>
            <a:pPr algn="l"/>
            <a:r>
              <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rPr>
              <a:t>A B C D E F G H I J K</a:t>
            </a:r>
            <a:endParaRPr kumimoji="1" lang="en-US" altLang="zh-CN" sz="20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灯片编号占位符 3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7"/>
                                        </p:tgtEl>
                                        <p:attrNameLst>
                                          <p:attrName>style.visibility</p:attrName>
                                        </p:attrNameLst>
                                      </p:cBhvr>
                                      <p:to>
                                        <p:strVal val="visible"/>
                                      </p:to>
                                    </p:set>
                                    <p:anim calcmode="discrete" valueType="clr">
                                      <p:cBhvr override="childStyle">
                                        <p:cTn id="7" dur="80"/>
                                        <p:tgtEl>
                                          <p:spTgt spid="2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7"/>
                                        </p:tgtEl>
                                        <p:attrNameLst>
                                          <p:attrName>fillcolor</p:attrName>
                                        </p:attrNameLst>
                                      </p:cBhvr>
                                      <p:tavLst>
                                        <p:tav tm="0">
                                          <p:val>
                                            <p:clrVal>
                                              <a:schemeClr val="accent2"/>
                                            </p:clrVal>
                                          </p:val>
                                        </p:tav>
                                        <p:tav tm="50000">
                                          <p:val>
                                            <p:clrVal>
                                              <a:schemeClr val="hlink"/>
                                            </p:clrVal>
                                          </p:val>
                                        </p:tav>
                                      </p:tavLst>
                                    </p:anim>
                                    <p:set>
                                      <p:cBhvr>
                                        <p:cTn id="9" dur="80"/>
                                        <p:tgtEl>
                                          <p:spTgt spid="2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9"/>
                                        </p:tgtEl>
                                        <p:attrNameLst>
                                          <p:attrName>style.visibility</p:attrName>
                                        </p:attrNameLst>
                                      </p:cBhvr>
                                      <p:to>
                                        <p:strVal val="visible"/>
                                      </p:to>
                                    </p:set>
                                    <p:anim calcmode="discrete" valueType="clr">
                                      <p:cBhvr override="childStyle">
                                        <p:cTn id="18" dur="80"/>
                                        <p:tgtEl>
                                          <p:spTgt spid="29"/>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9"/>
                                        </p:tgtEl>
                                        <p:attrNameLst>
                                          <p:attrName>fillcolor</p:attrName>
                                        </p:attrNameLst>
                                      </p:cBhvr>
                                      <p:tavLst>
                                        <p:tav tm="0">
                                          <p:val>
                                            <p:clrVal>
                                              <a:schemeClr val="accent2"/>
                                            </p:clrVal>
                                          </p:val>
                                        </p:tav>
                                        <p:tav tm="50000">
                                          <p:val>
                                            <p:clrVal>
                                              <a:schemeClr val="hlink"/>
                                            </p:clrVal>
                                          </p:val>
                                        </p:tav>
                                      </p:tavLst>
                                    </p:anim>
                                    <p:set>
                                      <p:cBhvr>
                                        <p:cTn id="20" dur="80"/>
                                        <p:tgtEl>
                                          <p:spTgt spid="29"/>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7" presetClass="entr" presetSubtype="0" fill="hold" grpId="0" nodeType="clickEffect">
                                  <p:stCondLst>
                                    <p:cond delay="0"/>
                                  </p:stCondLst>
                                  <p:iterate type="lt">
                                    <p:tmPct val="50000"/>
                                  </p:iterate>
                                  <p:childTnLst>
                                    <p:set>
                                      <p:cBhvr>
                                        <p:cTn id="28" dur="1" fill="hold">
                                          <p:stCondLst>
                                            <p:cond delay="0"/>
                                          </p:stCondLst>
                                        </p:cTn>
                                        <p:tgtEl>
                                          <p:spTgt spid="31"/>
                                        </p:tgtEl>
                                        <p:attrNameLst>
                                          <p:attrName>style.visibility</p:attrName>
                                        </p:attrNameLst>
                                      </p:cBhvr>
                                      <p:to>
                                        <p:strVal val="visible"/>
                                      </p:to>
                                    </p:set>
                                    <p:anim calcmode="discrete" valueType="clr">
                                      <p:cBhvr override="childStyle">
                                        <p:cTn id="29" dur="80"/>
                                        <p:tgtEl>
                                          <p:spTgt spid="31"/>
                                        </p:tgtEl>
                                        <p:attrNameLst>
                                          <p:attrName>style.color</p:attrName>
                                        </p:attrNameLst>
                                      </p:cBhvr>
                                      <p:tavLst>
                                        <p:tav tm="0">
                                          <p:val>
                                            <p:clrVal>
                                              <a:schemeClr val="accent2"/>
                                            </p:clrVal>
                                          </p:val>
                                        </p:tav>
                                        <p:tav tm="50000">
                                          <p:val>
                                            <p:clrVal>
                                              <a:schemeClr val="hlink"/>
                                            </p:clrVal>
                                          </p:val>
                                        </p:tav>
                                      </p:tavLst>
                                    </p:anim>
                                    <p:anim calcmode="discrete" valueType="clr">
                                      <p:cBhvr>
                                        <p:cTn id="30" dur="80"/>
                                        <p:tgtEl>
                                          <p:spTgt spid="31"/>
                                        </p:tgtEl>
                                        <p:attrNameLst>
                                          <p:attrName>fillcolor</p:attrName>
                                        </p:attrNameLst>
                                      </p:cBhvr>
                                      <p:tavLst>
                                        <p:tav tm="0">
                                          <p:val>
                                            <p:clrVal>
                                              <a:schemeClr val="accent2"/>
                                            </p:clrVal>
                                          </p:val>
                                        </p:tav>
                                        <p:tav tm="50000">
                                          <p:val>
                                            <p:clrVal>
                                              <a:schemeClr val="hlink"/>
                                            </p:clrVal>
                                          </p:val>
                                        </p:tav>
                                      </p:tavLst>
                                    </p:anim>
                                    <p:set>
                                      <p:cBhvr>
                                        <p:cTn id="31" dur="80"/>
                                        <p:tgtEl>
                                          <p:spTgt spid="3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85728"/>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7.1.6 </a:t>
            </a:r>
            <a:r>
              <a:rPr lang="zh-CN" altLang="zh-CN" smtClean="0">
                <a:latin typeface="Consolas" panose="020B0609020204030204" pitchFamily="49" charset="0"/>
                <a:ea typeface="微软雅黑" panose="020B0503020204020204" pitchFamily="34" charset="-122"/>
                <a:cs typeface="Consolas" panose="020B0609020204030204" pitchFamily="49" charset="0"/>
              </a:rPr>
              <a:t>树的存储结构</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016214"/>
            <a:ext cx="264320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双亲存储结构</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3"/>
          <p:cNvSpPr txBox="1">
            <a:spLocks noChangeArrowheads="1"/>
          </p:cNvSpPr>
          <p:nvPr/>
        </p:nvSpPr>
        <p:spPr bwMode="auto">
          <a:xfrm>
            <a:off x="428596" y="1643050"/>
            <a:ext cx="8215370" cy="871905"/>
          </a:xfrm>
          <a:prstGeom prst="rect">
            <a:avLst/>
          </a:prstGeom>
          <a:noFill/>
          <a:ln w="9525">
            <a:noFill/>
            <a:miter lim="800000"/>
          </a:ln>
        </p:spPr>
        <p:txBody>
          <a:bodyPr wrap="square">
            <a:spAutoFit/>
          </a:bodyPr>
          <a:lstStyle/>
          <a:p>
            <a:pPr algn="just">
              <a:lnSpc>
                <a:spcPts val="3200"/>
              </a:lnSpc>
              <a:spcBef>
                <a:spcPts val="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这</a:t>
            </a:r>
            <a:r>
              <a:rPr kumimoji="1" lang="zh-CN" altLang="en-US" sz="2000"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种</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存储结构是一种顺序存储结构，用一组连续空间存储树的所有结点，同时在每个结点中附设一个伪指针指示其双亲结点的位置。</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1142976" y="2643182"/>
            <a:ext cx="7286676" cy="28342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双亲存储结构元素类型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char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存放结点值</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假设为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char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parent;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存放双亲索引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PNode(char d,int 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parent=p;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1142976" y="5643578"/>
            <a:ext cx="7286676" cy="49510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vector&lt;PNode&gt; 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树的</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双亲存储结构</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表格 22"/>
          <p:cNvGraphicFramePr>
            <a:graphicFrameLocks noGrp="1"/>
          </p:cNvGraphicFramePr>
          <p:nvPr/>
        </p:nvGraphicFramePr>
        <p:xfrm>
          <a:off x="3786182" y="1071546"/>
          <a:ext cx="2643207" cy="2926080"/>
        </p:xfrm>
        <a:graphic>
          <a:graphicData uri="http://schemas.openxmlformats.org/drawingml/2006/table">
            <a:tbl>
              <a:tblPr firstRow="1" bandRow="1">
                <a:tableStyleId>{5C22544A-7EE6-4342-B048-85BDC9FD1C3A}</a:tableStyleId>
              </a:tblPr>
              <a:tblGrid>
                <a:gridCol w="881069"/>
                <a:gridCol w="813294"/>
                <a:gridCol w="948844"/>
              </a:tblGrid>
              <a:tr h="357190">
                <a:tc>
                  <a:txBody>
                    <a:bodyPr/>
                    <a:lstStyle/>
                    <a:p>
                      <a:pPr algn="ctr"/>
                      <a:r>
                        <a:rPr lang="zh-CN" altLang="en-US" sz="1800" smtClean="0">
                          <a:solidFill>
                            <a:srgbClr val="C00000"/>
                          </a:solidFill>
                          <a:latin typeface="Consolas" panose="020B0609020204030204" pitchFamily="49" charset="0"/>
                          <a:ea typeface="仿宋" panose="02010609060101010101" pitchFamily="49" charset="-122"/>
                          <a:cs typeface="Consolas" panose="020B0609020204030204" pitchFamily="49" charset="0"/>
                        </a:rPr>
                        <a:t>位置</a:t>
                      </a:r>
                      <a:endPar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a:txBody>
                  <a:tcPr>
                    <a:solidFill>
                      <a:schemeClr val="bg1"/>
                    </a:solidFill>
                  </a:tcPr>
                </a:tc>
                <a:tc>
                  <a:txBody>
                    <a:bodyPr/>
                    <a:lstStyle/>
                    <a:p>
                      <a:pPr algn="ctr"/>
                      <a:r>
                        <a:rPr lang="en-US" altLang="zh-CN" sz="1800" smtClean="0">
                          <a:latin typeface="Consolas" panose="020B0609020204030204" pitchFamily="49" charset="0"/>
                          <a:ea typeface="仿宋" panose="02010609060101010101" pitchFamily="49" charset="-122"/>
                          <a:cs typeface="Consolas" panose="020B0609020204030204" pitchFamily="49" charset="0"/>
                        </a:rPr>
                        <a:t>data</a:t>
                      </a:r>
                      <a:endParaRPr lang="zh-CN" altLang="en-US" sz="1800">
                        <a:latin typeface="Consolas" panose="020B0609020204030204" pitchFamily="49" charset="0"/>
                        <a:ea typeface="仿宋" panose="02010609060101010101" pitchFamily="49" charset="-122"/>
                        <a:cs typeface="Consolas" panose="020B0609020204030204" pitchFamily="49" charset="0"/>
                      </a:endParaRPr>
                    </a:p>
                  </a:txBody>
                  <a:tcPr/>
                </a:tc>
                <a:tc>
                  <a:txBody>
                    <a:bodyPr/>
                    <a:lstStyle/>
                    <a:p>
                      <a:pPr algn="ctr"/>
                      <a:r>
                        <a:rPr lang="en-US" altLang="zh-CN" sz="1800" smtClean="0">
                          <a:latin typeface="Consolas" panose="020B0609020204030204" pitchFamily="49" charset="0"/>
                          <a:ea typeface="仿宋" panose="02010609060101010101" pitchFamily="49" charset="-122"/>
                          <a:cs typeface="Consolas" panose="020B0609020204030204" pitchFamily="49" charset="0"/>
                        </a:rPr>
                        <a:t>parent</a:t>
                      </a:r>
                      <a:endParaRPr lang="zh-CN" altLang="en-US" sz="1800">
                        <a:latin typeface="Consolas" panose="020B0609020204030204" pitchFamily="49" charset="0"/>
                        <a:ea typeface="仿宋" panose="02010609060101010101" pitchFamily="49" charset="-122"/>
                        <a:cs typeface="Consolas" panose="020B0609020204030204" pitchFamily="49" charset="0"/>
                      </a:endParaRPr>
                    </a:p>
                  </a:txBody>
                  <a:tcPr/>
                </a:tc>
              </a:tr>
              <a:tr h="357190">
                <a:tc>
                  <a:txBody>
                    <a:bodyPr/>
                    <a:lstStyle/>
                    <a:p>
                      <a:pPr algn="ctr"/>
                      <a:r>
                        <a:rPr lang="en-US" altLang="zh-CN" sz="1800" b="1" smtClean="0">
                          <a:solidFill>
                            <a:srgbClr val="0000FF"/>
                          </a:solidFill>
                        </a:rPr>
                        <a:t>0</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A</a:t>
                      </a:r>
                      <a:endParaRPr lang="zh-CN" altLang="en-US" sz="1800" b="0" i="0">
                        <a:solidFill>
                          <a:srgbClr val="0000FF"/>
                        </a:solidFill>
                      </a:endParaRPr>
                    </a:p>
                  </a:txBody>
                  <a:tcPr/>
                </a:tc>
                <a:tc>
                  <a:txBody>
                    <a:bodyPr/>
                    <a:lstStyle/>
                    <a:p>
                      <a:pPr algn="ctr"/>
                      <a:r>
                        <a:rPr lang="en-US" altLang="zh-CN" sz="1800" b="0" smtClean="0">
                          <a:solidFill>
                            <a:srgbClr val="C00000"/>
                          </a:solidFill>
                        </a:rPr>
                        <a:t>-1</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1</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B</a:t>
                      </a:r>
                      <a:endParaRPr lang="zh-CN" altLang="en-US" sz="1800" b="0" i="0">
                        <a:solidFill>
                          <a:srgbClr val="0000FF"/>
                        </a:solidFill>
                      </a:endParaRPr>
                    </a:p>
                  </a:txBody>
                  <a:tcPr/>
                </a:tc>
                <a:tc>
                  <a:txBody>
                    <a:bodyPr/>
                    <a:lstStyle/>
                    <a:p>
                      <a:pPr algn="ctr"/>
                      <a:r>
                        <a:rPr lang="en-US" altLang="zh-CN" sz="1800" b="0" smtClean="0">
                          <a:solidFill>
                            <a:srgbClr val="C00000"/>
                          </a:solidFill>
                        </a:rPr>
                        <a:t>0</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2</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C</a:t>
                      </a:r>
                      <a:endParaRPr lang="zh-CN" altLang="en-US" sz="1800" b="0" i="0">
                        <a:solidFill>
                          <a:srgbClr val="0000FF"/>
                        </a:solidFill>
                      </a:endParaRPr>
                    </a:p>
                  </a:txBody>
                  <a:tcPr/>
                </a:tc>
                <a:tc>
                  <a:txBody>
                    <a:bodyPr/>
                    <a:lstStyle/>
                    <a:p>
                      <a:pPr algn="ctr"/>
                      <a:r>
                        <a:rPr lang="en-US" altLang="zh-CN" sz="1800" b="0" smtClean="0">
                          <a:solidFill>
                            <a:srgbClr val="C00000"/>
                          </a:solidFill>
                        </a:rPr>
                        <a:t>0</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3</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D</a:t>
                      </a:r>
                      <a:endParaRPr lang="zh-CN" altLang="en-US" sz="1800" b="0" i="0">
                        <a:solidFill>
                          <a:srgbClr val="0000FF"/>
                        </a:solidFill>
                      </a:endParaRPr>
                    </a:p>
                  </a:txBody>
                  <a:tcPr/>
                </a:tc>
                <a:tc>
                  <a:txBody>
                    <a:bodyPr/>
                    <a:lstStyle/>
                    <a:p>
                      <a:pPr algn="ctr"/>
                      <a:r>
                        <a:rPr lang="en-US" altLang="zh-CN" sz="1800" b="0" smtClean="0">
                          <a:solidFill>
                            <a:srgbClr val="C00000"/>
                          </a:solidFill>
                        </a:rPr>
                        <a:t>1</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4</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E</a:t>
                      </a:r>
                      <a:endParaRPr lang="zh-CN" altLang="en-US" sz="1800" b="0" i="0">
                        <a:solidFill>
                          <a:srgbClr val="0000FF"/>
                        </a:solidFill>
                      </a:endParaRPr>
                    </a:p>
                  </a:txBody>
                  <a:tcPr/>
                </a:tc>
                <a:tc>
                  <a:txBody>
                    <a:bodyPr/>
                    <a:lstStyle/>
                    <a:p>
                      <a:pPr algn="ctr"/>
                      <a:r>
                        <a:rPr lang="en-US" altLang="zh-CN" sz="1800" b="0" smtClean="0">
                          <a:solidFill>
                            <a:srgbClr val="C00000"/>
                          </a:solidFill>
                        </a:rPr>
                        <a:t>1</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5</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F</a:t>
                      </a:r>
                      <a:endParaRPr lang="zh-CN" altLang="en-US" sz="1800" b="0" i="0">
                        <a:solidFill>
                          <a:srgbClr val="0000FF"/>
                        </a:solidFill>
                      </a:endParaRPr>
                    </a:p>
                  </a:txBody>
                  <a:tcPr/>
                </a:tc>
                <a:tc>
                  <a:txBody>
                    <a:bodyPr/>
                    <a:lstStyle/>
                    <a:p>
                      <a:pPr algn="ctr"/>
                      <a:r>
                        <a:rPr lang="en-US" altLang="zh-CN" sz="1800" b="0" smtClean="0">
                          <a:solidFill>
                            <a:srgbClr val="C00000"/>
                          </a:solidFill>
                        </a:rPr>
                        <a:t>1</a:t>
                      </a:r>
                      <a:endParaRPr lang="zh-CN" altLang="en-US" sz="1800" b="0">
                        <a:solidFill>
                          <a:srgbClr val="C00000"/>
                        </a:solidFill>
                      </a:endParaRPr>
                    </a:p>
                  </a:txBody>
                  <a:tcPr/>
                </a:tc>
              </a:tr>
              <a:tr h="357190">
                <a:tc>
                  <a:txBody>
                    <a:bodyPr/>
                    <a:lstStyle/>
                    <a:p>
                      <a:pPr algn="ctr"/>
                      <a:r>
                        <a:rPr lang="en-US" altLang="zh-CN" sz="1800" b="1" smtClean="0">
                          <a:solidFill>
                            <a:srgbClr val="0000FF"/>
                          </a:solidFill>
                        </a:rPr>
                        <a:t>6</a:t>
                      </a:r>
                      <a:endParaRPr lang="zh-CN" altLang="en-US" sz="1800" b="1">
                        <a:solidFill>
                          <a:srgbClr val="0000FF"/>
                        </a:solidFill>
                      </a:endParaRPr>
                    </a:p>
                  </a:txBody>
                  <a:tcPr>
                    <a:solidFill>
                      <a:schemeClr val="bg1"/>
                    </a:solidFill>
                  </a:tcPr>
                </a:tc>
                <a:tc>
                  <a:txBody>
                    <a:bodyPr/>
                    <a:lstStyle/>
                    <a:p>
                      <a:pPr algn="ctr"/>
                      <a:r>
                        <a:rPr lang="en-US" altLang="zh-CN" sz="1800" b="0" i="0" smtClean="0">
                          <a:solidFill>
                            <a:srgbClr val="0000FF"/>
                          </a:solidFill>
                        </a:rPr>
                        <a:t>G</a:t>
                      </a:r>
                      <a:endParaRPr lang="zh-CN" altLang="en-US" sz="1800" b="0" i="0">
                        <a:solidFill>
                          <a:srgbClr val="0000FF"/>
                        </a:solidFill>
                      </a:endParaRPr>
                    </a:p>
                  </a:txBody>
                  <a:tcPr/>
                </a:tc>
                <a:tc>
                  <a:txBody>
                    <a:bodyPr/>
                    <a:lstStyle/>
                    <a:p>
                      <a:pPr algn="ctr"/>
                      <a:r>
                        <a:rPr lang="en-US" altLang="zh-CN" sz="1800" b="0" smtClean="0">
                          <a:solidFill>
                            <a:srgbClr val="C00000"/>
                          </a:solidFill>
                        </a:rPr>
                        <a:t>4</a:t>
                      </a:r>
                      <a:endParaRPr lang="zh-CN" altLang="en-US" sz="1800" b="0">
                        <a:solidFill>
                          <a:srgbClr val="C00000"/>
                        </a:solidFill>
                      </a:endParaRPr>
                    </a:p>
                  </a:txBody>
                  <a:tcPr/>
                </a:tc>
              </a:tr>
            </a:tbl>
          </a:graphicData>
        </a:graphic>
      </p:graphicFrame>
      <p:sp>
        <p:nvSpPr>
          <p:cNvPr id="24" name="右箭头 23"/>
          <p:cNvSpPr/>
          <p:nvPr/>
        </p:nvSpPr>
        <p:spPr>
          <a:xfrm>
            <a:off x="3143240" y="2214554"/>
            <a:ext cx="428628" cy="28575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 name="组合 37"/>
          <p:cNvGrpSpPr/>
          <p:nvPr/>
        </p:nvGrpSpPr>
        <p:grpSpPr>
          <a:xfrm>
            <a:off x="1135063" y="1479535"/>
            <a:ext cx="1508111" cy="1878027"/>
            <a:chOff x="1135063" y="3622675"/>
            <a:chExt cx="1508111" cy="1878027"/>
          </a:xfrm>
        </p:grpSpPr>
        <p:sp>
          <p:nvSpPr>
            <p:cNvPr id="105474" name="Freeform 2"/>
            <p:cNvSpPr/>
            <p:nvPr/>
          </p:nvSpPr>
          <p:spPr bwMode="auto">
            <a:xfrm>
              <a:off x="1341772" y="4370461"/>
              <a:ext cx="320255" cy="319664"/>
            </a:xfrm>
            <a:custGeom>
              <a:avLst/>
              <a:gdLst/>
              <a:ahLst/>
              <a:cxnLst>
                <a:cxn ang="0">
                  <a:pos x="309" y="0"/>
                </a:cxn>
                <a:cxn ang="0">
                  <a:pos x="0" y="317"/>
                </a:cxn>
              </a:cxnLst>
              <a:rect l="0" t="0" r="r" b="b"/>
              <a:pathLst>
                <a:path w="309" h="317">
                  <a:moveTo>
                    <a:pt x="309" y="0"/>
                  </a:moveTo>
                  <a:lnTo>
                    <a:pt x="0" y="317"/>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75" name="Freeform 3"/>
            <p:cNvSpPr/>
            <p:nvPr/>
          </p:nvSpPr>
          <p:spPr bwMode="auto">
            <a:xfrm>
              <a:off x="1781396" y="4984103"/>
              <a:ext cx="2910" cy="196935"/>
            </a:xfrm>
            <a:custGeom>
              <a:avLst/>
              <a:gdLst/>
              <a:ahLst/>
              <a:cxnLst>
                <a:cxn ang="0">
                  <a:pos x="2" y="0"/>
                </a:cxn>
                <a:cxn ang="0">
                  <a:pos x="0" y="219"/>
                </a:cxn>
              </a:cxnLst>
              <a:rect l="0" t="0" r="r" b="b"/>
              <a:pathLst>
                <a:path w="2" h="219">
                  <a:moveTo>
                    <a:pt x="2" y="0"/>
                  </a:moveTo>
                  <a:lnTo>
                    <a:pt x="0" y="21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76" name="Freeform 4"/>
            <p:cNvSpPr/>
            <p:nvPr/>
          </p:nvSpPr>
          <p:spPr bwMode="auto">
            <a:xfrm>
              <a:off x="1816333" y="3865278"/>
              <a:ext cx="235823" cy="299684"/>
            </a:xfrm>
            <a:custGeom>
              <a:avLst/>
              <a:gdLst/>
              <a:ahLst/>
              <a:cxnLst>
                <a:cxn ang="0">
                  <a:pos x="252" y="0"/>
                </a:cxn>
                <a:cxn ang="0">
                  <a:pos x="0" y="333"/>
                </a:cxn>
              </a:cxnLst>
              <a:rect l="0" t="0" r="r" b="b"/>
              <a:pathLst>
                <a:path w="252" h="333">
                  <a:moveTo>
                    <a:pt x="252" y="0"/>
                  </a:moveTo>
                  <a:lnTo>
                    <a:pt x="0" y="333"/>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77" name="Freeform 5"/>
            <p:cNvSpPr/>
            <p:nvPr/>
          </p:nvSpPr>
          <p:spPr bwMode="auto">
            <a:xfrm>
              <a:off x="2267601" y="3902381"/>
              <a:ext cx="197976" cy="282561"/>
            </a:xfrm>
            <a:custGeom>
              <a:avLst/>
              <a:gdLst/>
              <a:ahLst/>
              <a:cxnLst>
                <a:cxn ang="0">
                  <a:pos x="0" y="0"/>
                </a:cxn>
                <a:cxn ang="0">
                  <a:pos x="192" y="280"/>
                </a:cxn>
              </a:cxnLst>
              <a:rect l="0" t="0" r="r" b="b"/>
              <a:pathLst>
                <a:path w="192" h="280">
                  <a:moveTo>
                    <a:pt x="0" y="0"/>
                  </a:moveTo>
                  <a:lnTo>
                    <a:pt x="192" y="28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78" name="Freeform 6"/>
            <p:cNvSpPr/>
            <p:nvPr/>
          </p:nvSpPr>
          <p:spPr bwMode="auto">
            <a:xfrm>
              <a:off x="1775573" y="4467502"/>
              <a:ext cx="0" cy="199790"/>
            </a:xfrm>
            <a:custGeom>
              <a:avLst/>
              <a:gdLst/>
              <a:ahLst/>
              <a:cxnLst>
                <a:cxn ang="0">
                  <a:pos x="0" y="0"/>
                </a:cxn>
                <a:cxn ang="0">
                  <a:pos x="16" y="199"/>
                </a:cxn>
              </a:cxnLst>
              <a:rect l="0" t="0" r="r" b="b"/>
              <a:pathLst>
                <a:path w="16" h="199">
                  <a:moveTo>
                    <a:pt x="0" y="0"/>
                  </a:moveTo>
                  <a:lnTo>
                    <a:pt x="16" y="19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79" name="Line 7"/>
            <p:cNvSpPr>
              <a:spLocks noChangeShapeType="1"/>
            </p:cNvSpPr>
            <p:nvPr/>
          </p:nvSpPr>
          <p:spPr bwMode="auto">
            <a:xfrm>
              <a:off x="1918232" y="4370461"/>
              <a:ext cx="291141" cy="313956"/>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5480" name="Oval 8"/>
            <p:cNvSpPr>
              <a:spLocks noChangeArrowheads="1"/>
            </p:cNvSpPr>
            <p:nvPr/>
          </p:nvSpPr>
          <p:spPr bwMode="auto">
            <a:xfrm>
              <a:off x="2031778" y="3622675"/>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1" name="Oval 9"/>
            <p:cNvSpPr>
              <a:spLocks noChangeArrowheads="1"/>
            </p:cNvSpPr>
            <p:nvPr/>
          </p:nvSpPr>
          <p:spPr bwMode="auto">
            <a:xfrm>
              <a:off x="1632913" y="4156401"/>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2" name="Oval 10"/>
            <p:cNvSpPr>
              <a:spLocks noChangeArrowheads="1"/>
            </p:cNvSpPr>
            <p:nvPr/>
          </p:nvSpPr>
          <p:spPr bwMode="auto">
            <a:xfrm>
              <a:off x="2352033" y="4190651"/>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3" name="Oval 11"/>
            <p:cNvSpPr>
              <a:spLocks noChangeArrowheads="1"/>
            </p:cNvSpPr>
            <p:nvPr/>
          </p:nvSpPr>
          <p:spPr bwMode="auto">
            <a:xfrm>
              <a:off x="2145322" y="4675855"/>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4" name="Oval 12"/>
            <p:cNvSpPr>
              <a:spLocks noChangeArrowheads="1"/>
            </p:cNvSpPr>
            <p:nvPr/>
          </p:nvSpPr>
          <p:spPr bwMode="auto">
            <a:xfrm>
              <a:off x="1135063" y="4684417"/>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5" name="Oval 13"/>
            <p:cNvSpPr>
              <a:spLocks noChangeArrowheads="1"/>
            </p:cNvSpPr>
            <p:nvPr/>
          </p:nvSpPr>
          <p:spPr bwMode="auto">
            <a:xfrm>
              <a:off x="1632913" y="4667292"/>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5486" name="Oval 14"/>
            <p:cNvSpPr>
              <a:spLocks noChangeArrowheads="1"/>
            </p:cNvSpPr>
            <p:nvPr/>
          </p:nvSpPr>
          <p:spPr bwMode="auto">
            <a:xfrm>
              <a:off x="1632913" y="5186746"/>
              <a:ext cx="291141" cy="31395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zh-CN"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9" name="灯片编号占位符 1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14348" y="500042"/>
            <a:ext cx="278608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孩子链存储结构</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 Box 2"/>
          <p:cNvSpPr txBox="1">
            <a:spLocks noChangeArrowheads="1"/>
          </p:cNvSpPr>
          <p:nvPr/>
        </p:nvSpPr>
        <p:spPr bwMode="auto">
          <a:xfrm>
            <a:off x="428596" y="1285860"/>
            <a:ext cx="8286808" cy="810478"/>
          </a:xfrm>
          <a:prstGeom prst="rect">
            <a:avLst/>
          </a:prstGeom>
          <a:noFill/>
          <a:ln w="9525">
            <a:noFill/>
            <a:miter lim="800000"/>
          </a:ln>
        </p:spPr>
        <p:txBody>
          <a:bodyPr wrap="square">
            <a:spAutoFit/>
          </a:bodyPr>
          <a:lstStyle/>
          <a:p>
            <a:pPr algn="just">
              <a:lnSpc>
                <a:spcPts val="2800"/>
              </a:lnSpc>
              <a:spcBef>
                <a:spcPts val="0"/>
              </a:spcBef>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每个结点包含结点值和所有孩子结点的指针，可按一个结点的度设</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计结点的孩子结点指针域</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。所有孩子结点指针用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向量存储。</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12" name="Rectangle 8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87" name="组合 86"/>
          <p:cNvGrpSpPr/>
          <p:nvPr/>
        </p:nvGrpSpPr>
        <p:grpSpPr>
          <a:xfrm>
            <a:off x="1285852" y="2643182"/>
            <a:ext cx="1643074" cy="2000264"/>
            <a:chOff x="2010635" y="2660694"/>
            <a:chExt cx="1346919" cy="1709306"/>
          </a:xfrm>
        </p:grpSpPr>
        <p:sp>
          <p:nvSpPr>
            <p:cNvPr id="95310" name="Freeform 78"/>
            <p:cNvSpPr/>
            <p:nvPr/>
          </p:nvSpPr>
          <p:spPr bwMode="auto">
            <a:xfrm>
              <a:off x="2196765" y="3342032"/>
              <a:ext cx="283321" cy="290692"/>
            </a:xfrm>
            <a:custGeom>
              <a:avLst/>
              <a:gdLst/>
              <a:ahLst/>
              <a:cxnLst>
                <a:cxn ang="0">
                  <a:pos x="309" y="0"/>
                </a:cxn>
                <a:cxn ang="0">
                  <a:pos x="0" y="317"/>
                </a:cxn>
              </a:cxnLst>
              <a:rect l="0" t="0" r="r" b="b"/>
              <a:pathLst>
                <a:path w="309" h="317">
                  <a:moveTo>
                    <a:pt x="309" y="0"/>
                  </a:moveTo>
                  <a:lnTo>
                    <a:pt x="0" y="317"/>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9" name="Freeform 77"/>
            <p:cNvSpPr/>
            <p:nvPr/>
          </p:nvSpPr>
          <p:spPr bwMode="auto">
            <a:xfrm>
              <a:off x="2589196" y="3898657"/>
              <a:ext cx="1834" cy="178817"/>
            </a:xfrm>
            <a:custGeom>
              <a:avLst/>
              <a:gdLst/>
              <a:ahLst/>
              <a:cxnLst>
                <a:cxn ang="0">
                  <a:pos x="2" y="0"/>
                </a:cxn>
                <a:cxn ang="0">
                  <a:pos x="0" y="219"/>
                </a:cxn>
              </a:cxnLst>
              <a:rect l="0" t="0" r="r" b="b"/>
              <a:pathLst>
                <a:path w="2" h="219">
                  <a:moveTo>
                    <a:pt x="2" y="0"/>
                  </a:moveTo>
                  <a:lnTo>
                    <a:pt x="0" y="21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8" name="Freeform 76"/>
            <p:cNvSpPr/>
            <p:nvPr/>
          </p:nvSpPr>
          <p:spPr bwMode="auto">
            <a:xfrm>
              <a:off x="2620371" y="2879859"/>
              <a:ext cx="208135" cy="274186"/>
            </a:xfrm>
            <a:custGeom>
              <a:avLst/>
              <a:gdLst/>
              <a:ahLst/>
              <a:cxnLst>
                <a:cxn ang="0">
                  <a:pos x="252" y="0"/>
                </a:cxn>
                <a:cxn ang="0">
                  <a:pos x="0" y="333"/>
                </a:cxn>
              </a:cxnLst>
              <a:rect l="0" t="0" r="r" b="b"/>
              <a:pathLst>
                <a:path w="252" h="333">
                  <a:moveTo>
                    <a:pt x="252" y="0"/>
                  </a:moveTo>
                  <a:lnTo>
                    <a:pt x="0" y="333"/>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7" name="Freeform 75"/>
            <p:cNvSpPr/>
            <p:nvPr/>
          </p:nvSpPr>
          <p:spPr bwMode="auto">
            <a:xfrm>
              <a:off x="3023805" y="2913789"/>
              <a:ext cx="176044" cy="256763"/>
            </a:xfrm>
            <a:custGeom>
              <a:avLst/>
              <a:gdLst/>
              <a:ahLst/>
              <a:cxnLst>
                <a:cxn ang="0">
                  <a:pos x="0" y="0"/>
                </a:cxn>
                <a:cxn ang="0">
                  <a:pos x="192" y="280"/>
                </a:cxn>
              </a:cxnLst>
              <a:rect l="0" t="0" r="r" b="b"/>
              <a:pathLst>
                <a:path w="192" h="280">
                  <a:moveTo>
                    <a:pt x="0" y="0"/>
                  </a:moveTo>
                  <a:lnTo>
                    <a:pt x="192" y="28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6" name="Freeform 74"/>
            <p:cNvSpPr/>
            <p:nvPr/>
          </p:nvSpPr>
          <p:spPr bwMode="auto">
            <a:xfrm>
              <a:off x="2582778" y="3428231"/>
              <a:ext cx="917" cy="182485"/>
            </a:xfrm>
            <a:custGeom>
              <a:avLst/>
              <a:gdLst/>
              <a:ahLst/>
              <a:cxnLst>
                <a:cxn ang="0">
                  <a:pos x="0" y="0"/>
                </a:cxn>
                <a:cxn ang="0">
                  <a:pos x="16" y="199"/>
                </a:cxn>
              </a:cxnLst>
              <a:rect l="0" t="0" r="r" b="b"/>
              <a:pathLst>
                <a:path w="16" h="199">
                  <a:moveTo>
                    <a:pt x="0" y="0"/>
                  </a:moveTo>
                  <a:lnTo>
                    <a:pt x="16" y="19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5" name="Line 73"/>
            <p:cNvSpPr>
              <a:spLocks noChangeShapeType="1"/>
            </p:cNvSpPr>
            <p:nvPr/>
          </p:nvSpPr>
          <p:spPr bwMode="auto">
            <a:xfrm>
              <a:off x="2711143" y="3341115"/>
              <a:ext cx="259481" cy="284273"/>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304" name="Oval 72"/>
            <p:cNvSpPr>
              <a:spLocks noChangeArrowheads="1"/>
            </p:cNvSpPr>
            <p:nvPr/>
          </p:nvSpPr>
          <p:spPr bwMode="auto">
            <a:xfrm>
              <a:off x="2812002" y="2660694"/>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303" name="Oval 71"/>
            <p:cNvSpPr>
              <a:spLocks noChangeArrowheads="1"/>
            </p:cNvSpPr>
            <p:nvPr/>
          </p:nvSpPr>
          <p:spPr bwMode="auto">
            <a:xfrm>
              <a:off x="2455330" y="3145792"/>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302" name="Oval 70"/>
            <p:cNvSpPr>
              <a:spLocks noChangeArrowheads="1"/>
            </p:cNvSpPr>
            <p:nvPr/>
          </p:nvSpPr>
          <p:spPr bwMode="auto">
            <a:xfrm>
              <a:off x="3098073" y="3176053"/>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301" name="Oval 69"/>
            <p:cNvSpPr>
              <a:spLocks noChangeArrowheads="1"/>
            </p:cNvSpPr>
            <p:nvPr/>
          </p:nvSpPr>
          <p:spPr bwMode="auto">
            <a:xfrm>
              <a:off x="2912860" y="3618052"/>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300" name="Oval 68"/>
            <p:cNvSpPr>
              <a:spLocks noChangeArrowheads="1"/>
            </p:cNvSpPr>
            <p:nvPr/>
          </p:nvSpPr>
          <p:spPr bwMode="auto">
            <a:xfrm>
              <a:off x="2010635" y="3625388"/>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99" name="Oval 67"/>
            <p:cNvSpPr>
              <a:spLocks noChangeArrowheads="1"/>
            </p:cNvSpPr>
            <p:nvPr/>
          </p:nvSpPr>
          <p:spPr bwMode="auto">
            <a:xfrm>
              <a:off x="2455330" y="3610716"/>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97" name="Oval 65"/>
            <p:cNvSpPr>
              <a:spLocks noChangeArrowheads="1"/>
            </p:cNvSpPr>
            <p:nvPr/>
          </p:nvSpPr>
          <p:spPr bwMode="auto">
            <a:xfrm>
              <a:off x="2455330" y="4083893"/>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88" name="组合 87"/>
          <p:cNvGrpSpPr/>
          <p:nvPr/>
        </p:nvGrpSpPr>
        <p:grpSpPr>
          <a:xfrm>
            <a:off x="4143372" y="2579080"/>
            <a:ext cx="2567953" cy="2064366"/>
            <a:chOff x="5150195" y="2579080"/>
            <a:chExt cx="2363478" cy="1789085"/>
          </a:xfrm>
        </p:grpSpPr>
        <p:sp>
          <p:nvSpPr>
            <p:cNvPr id="95294" name="Text Box 62"/>
            <p:cNvSpPr txBox="1">
              <a:spLocks noChangeArrowheads="1"/>
            </p:cNvSpPr>
            <p:nvPr/>
          </p:nvSpPr>
          <p:spPr bwMode="auto">
            <a:xfrm>
              <a:off x="6329929"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93" name="Text Box 61"/>
            <p:cNvSpPr txBox="1">
              <a:spLocks noChangeArrowheads="1"/>
            </p:cNvSpPr>
            <p:nvPr/>
          </p:nvSpPr>
          <p:spPr bwMode="auto">
            <a:xfrm>
              <a:off x="6589410"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92" name="Text Box 60"/>
            <p:cNvSpPr txBox="1">
              <a:spLocks noChangeArrowheads="1"/>
            </p:cNvSpPr>
            <p:nvPr/>
          </p:nvSpPr>
          <p:spPr bwMode="auto">
            <a:xfrm>
              <a:off x="6833304"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87" name="Text Box 55"/>
            <p:cNvSpPr txBox="1">
              <a:spLocks noChangeArrowheads="1"/>
            </p:cNvSpPr>
            <p:nvPr/>
          </p:nvSpPr>
          <p:spPr bwMode="auto">
            <a:xfrm>
              <a:off x="5552401"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86" name="Text Box 54"/>
            <p:cNvSpPr txBox="1">
              <a:spLocks noChangeArrowheads="1"/>
            </p:cNvSpPr>
            <p:nvPr/>
          </p:nvSpPr>
          <p:spPr bwMode="auto">
            <a:xfrm>
              <a:off x="5811883"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85" name="Text Box 53"/>
            <p:cNvSpPr txBox="1">
              <a:spLocks noChangeArrowheads="1"/>
            </p:cNvSpPr>
            <p:nvPr/>
          </p:nvSpPr>
          <p:spPr bwMode="auto">
            <a:xfrm>
              <a:off x="6054860"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84" name="Text Box 52"/>
            <p:cNvSpPr txBox="1">
              <a:spLocks noChangeArrowheads="1"/>
            </p:cNvSpPr>
            <p:nvPr/>
          </p:nvSpPr>
          <p:spPr bwMode="auto">
            <a:xfrm>
              <a:off x="6314342"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83" name="Text Box 51"/>
            <p:cNvSpPr txBox="1">
              <a:spLocks noChangeArrowheads="1"/>
            </p:cNvSpPr>
            <p:nvPr/>
          </p:nvSpPr>
          <p:spPr bwMode="auto">
            <a:xfrm>
              <a:off x="7254192"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79" name="Text Box 47"/>
            <p:cNvSpPr txBox="1">
              <a:spLocks noChangeArrowheads="1"/>
            </p:cNvSpPr>
            <p:nvPr/>
          </p:nvSpPr>
          <p:spPr bwMode="auto">
            <a:xfrm>
              <a:off x="5150195"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75" name="Text Box 43"/>
            <p:cNvSpPr txBox="1">
              <a:spLocks noChangeArrowheads="1"/>
            </p:cNvSpPr>
            <p:nvPr/>
          </p:nvSpPr>
          <p:spPr bwMode="auto">
            <a:xfrm>
              <a:off x="5876048"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74" name="Text Box 42"/>
            <p:cNvSpPr txBox="1">
              <a:spLocks noChangeArrowheads="1"/>
            </p:cNvSpPr>
            <p:nvPr/>
          </p:nvSpPr>
          <p:spPr bwMode="auto">
            <a:xfrm>
              <a:off x="6135530" y="3621720"/>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71" name="Text Box 39"/>
            <p:cNvSpPr txBox="1">
              <a:spLocks noChangeArrowheads="1"/>
            </p:cNvSpPr>
            <p:nvPr/>
          </p:nvSpPr>
          <p:spPr bwMode="auto">
            <a:xfrm>
              <a:off x="6119692" y="413524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67" name="Text Box 35"/>
            <p:cNvSpPr txBox="1">
              <a:spLocks noChangeArrowheads="1"/>
            </p:cNvSpPr>
            <p:nvPr/>
          </p:nvSpPr>
          <p:spPr bwMode="auto">
            <a:xfrm>
              <a:off x="6793944"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5263" name="Line 31"/>
            <p:cNvSpPr>
              <a:spLocks noChangeShapeType="1"/>
            </p:cNvSpPr>
            <p:nvPr/>
          </p:nvSpPr>
          <p:spPr bwMode="auto">
            <a:xfrm flipH="1">
              <a:off x="6241907" y="2724885"/>
              <a:ext cx="432775"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262" name="Freeform 30"/>
            <p:cNvSpPr/>
            <p:nvPr/>
          </p:nvSpPr>
          <p:spPr bwMode="auto">
            <a:xfrm>
              <a:off x="6932105" y="2729470"/>
              <a:ext cx="431858" cy="377808"/>
            </a:xfrm>
            <a:custGeom>
              <a:avLst/>
              <a:gdLst/>
              <a:ahLst/>
              <a:cxnLst>
                <a:cxn ang="0">
                  <a:pos x="0" y="0"/>
                </a:cxn>
                <a:cxn ang="0">
                  <a:pos x="525" y="458"/>
                </a:cxn>
              </a:cxnLst>
              <a:rect l="0" t="0" r="r" b="b"/>
              <a:pathLst>
                <a:path w="525" h="458">
                  <a:moveTo>
                    <a:pt x="0" y="0"/>
                  </a:moveTo>
                  <a:lnTo>
                    <a:pt x="525" y="45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261" name="Freeform 29"/>
            <p:cNvSpPr/>
            <p:nvPr/>
          </p:nvSpPr>
          <p:spPr bwMode="auto">
            <a:xfrm>
              <a:off x="5275209" y="3242995"/>
              <a:ext cx="710594" cy="364970"/>
            </a:xfrm>
            <a:custGeom>
              <a:avLst/>
              <a:gdLst/>
              <a:ahLst/>
              <a:cxnLst>
                <a:cxn ang="0">
                  <a:pos x="862" y="0"/>
                </a:cxn>
                <a:cxn ang="0">
                  <a:pos x="0" y="442"/>
                </a:cxn>
              </a:cxnLst>
              <a:rect l="0" t="0" r="r" b="b"/>
              <a:pathLst>
                <a:path w="862" h="442">
                  <a:moveTo>
                    <a:pt x="862" y="0"/>
                  </a:moveTo>
                  <a:lnTo>
                    <a:pt x="0" y="442"/>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260" name="Line 28"/>
            <p:cNvSpPr>
              <a:spLocks noChangeShapeType="1"/>
            </p:cNvSpPr>
            <p:nvPr/>
          </p:nvSpPr>
          <p:spPr bwMode="auto">
            <a:xfrm>
              <a:off x="6259311" y="3750101"/>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259" name="Line 27"/>
            <p:cNvSpPr>
              <a:spLocks noChangeShapeType="1"/>
            </p:cNvSpPr>
            <p:nvPr/>
          </p:nvSpPr>
          <p:spPr bwMode="auto">
            <a:xfrm>
              <a:off x="6156636" y="3238410"/>
              <a:ext cx="0" cy="385144"/>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5258" name="Line 26"/>
            <p:cNvSpPr>
              <a:spLocks noChangeShapeType="1"/>
            </p:cNvSpPr>
            <p:nvPr/>
          </p:nvSpPr>
          <p:spPr bwMode="auto">
            <a:xfrm>
              <a:off x="6389818" y="3238410"/>
              <a:ext cx="519880" cy="385144"/>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89" name="右箭头 88"/>
          <p:cNvSpPr/>
          <p:nvPr/>
        </p:nvSpPr>
        <p:spPr>
          <a:xfrm>
            <a:off x="3428992" y="3429000"/>
            <a:ext cx="500066"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2" name="灯片编号占位符 4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1000108"/>
            <a:ext cx="707236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孩子链存储结构的结点类型</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SonNode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定义如下：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642910" y="1643050"/>
            <a:ext cx="8215370" cy="20928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SonNode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孩子链存储结构结点类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char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存放结点值</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假设为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char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   vector&lt;SonNode* &gt; sons</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指向孩子结点指针</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向量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SonNode()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SonNode(char d):data(d)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2714612" y="4000504"/>
            <a:ext cx="2567953" cy="2064366"/>
            <a:chOff x="5150195" y="2579080"/>
            <a:chExt cx="2363478" cy="1789085"/>
          </a:xfrm>
        </p:grpSpPr>
        <p:sp>
          <p:nvSpPr>
            <p:cNvPr id="9" name="Text Box 62"/>
            <p:cNvSpPr txBox="1">
              <a:spLocks noChangeArrowheads="1"/>
            </p:cNvSpPr>
            <p:nvPr/>
          </p:nvSpPr>
          <p:spPr bwMode="auto">
            <a:xfrm>
              <a:off x="6329929"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61"/>
            <p:cNvSpPr txBox="1">
              <a:spLocks noChangeArrowheads="1"/>
            </p:cNvSpPr>
            <p:nvPr/>
          </p:nvSpPr>
          <p:spPr bwMode="auto">
            <a:xfrm>
              <a:off x="6589410"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Text Box 60"/>
            <p:cNvSpPr txBox="1">
              <a:spLocks noChangeArrowheads="1"/>
            </p:cNvSpPr>
            <p:nvPr/>
          </p:nvSpPr>
          <p:spPr bwMode="auto">
            <a:xfrm>
              <a:off x="6833304" y="2579080"/>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55"/>
            <p:cNvSpPr txBox="1">
              <a:spLocks noChangeArrowheads="1"/>
            </p:cNvSpPr>
            <p:nvPr/>
          </p:nvSpPr>
          <p:spPr bwMode="auto">
            <a:xfrm>
              <a:off x="5552401"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Text Box 54"/>
            <p:cNvSpPr txBox="1">
              <a:spLocks noChangeArrowheads="1"/>
            </p:cNvSpPr>
            <p:nvPr/>
          </p:nvSpPr>
          <p:spPr bwMode="auto">
            <a:xfrm>
              <a:off x="5811883"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Text Box 53"/>
            <p:cNvSpPr txBox="1">
              <a:spLocks noChangeArrowheads="1"/>
            </p:cNvSpPr>
            <p:nvPr/>
          </p:nvSpPr>
          <p:spPr bwMode="auto">
            <a:xfrm>
              <a:off x="6054860"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52"/>
            <p:cNvSpPr txBox="1">
              <a:spLocks noChangeArrowheads="1"/>
            </p:cNvSpPr>
            <p:nvPr/>
          </p:nvSpPr>
          <p:spPr bwMode="auto">
            <a:xfrm>
              <a:off x="6314342"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Text Box 51"/>
            <p:cNvSpPr txBox="1">
              <a:spLocks noChangeArrowheads="1"/>
            </p:cNvSpPr>
            <p:nvPr/>
          </p:nvSpPr>
          <p:spPr bwMode="auto">
            <a:xfrm>
              <a:off x="7254192" y="310727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47"/>
            <p:cNvSpPr txBox="1">
              <a:spLocks noChangeArrowheads="1"/>
            </p:cNvSpPr>
            <p:nvPr/>
          </p:nvSpPr>
          <p:spPr bwMode="auto">
            <a:xfrm>
              <a:off x="5150195"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Text Box 43"/>
            <p:cNvSpPr txBox="1">
              <a:spLocks noChangeArrowheads="1"/>
            </p:cNvSpPr>
            <p:nvPr/>
          </p:nvSpPr>
          <p:spPr bwMode="auto">
            <a:xfrm>
              <a:off x="5876048"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42"/>
            <p:cNvSpPr txBox="1">
              <a:spLocks noChangeArrowheads="1"/>
            </p:cNvSpPr>
            <p:nvPr/>
          </p:nvSpPr>
          <p:spPr bwMode="auto">
            <a:xfrm>
              <a:off x="6135530" y="3621720"/>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200"/>
                </a:lnSpc>
                <a:spcBef>
                  <a:spcPct val="0"/>
                </a:spcBef>
                <a:spcAft>
                  <a:spcPct val="0"/>
                </a:spcAft>
                <a:buClrTx/>
                <a:buSzTx/>
                <a:buFontTx/>
                <a:buNone/>
              </a:pPr>
              <a:endParaRPr kumimoji="0" lang="zh-CN"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39"/>
            <p:cNvSpPr txBox="1">
              <a:spLocks noChangeArrowheads="1"/>
            </p:cNvSpPr>
            <p:nvPr/>
          </p:nvSpPr>
          <p:spPr bwMode="auto">
            <a:xfrm>
              <a:off x="6119692" y="413524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Text Box 35"/>
            <p:cNvSpPr txBox="1">
              <a:spLocks noChangeArrowheads="1"/>
            </p:cNvSpPr>
            <p:nvPr/>
          </p:nvSpPr>
          <p:spPr bwMode="auto">
            <a:xfrm>
              <a:off x="6793944" y="3621720"/>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Line 31"/>
            <p:cNvSpPr>
              <a:spLocks noChangeShapeType="1"/>
            </p:cNvSpPr>
            <p:nvPr/>
          </p:nvSpPr>
          <p:spPr bwMode="auto">
            <a:xfrm flipH="1">
              <a:off x="6241907" y="2724885"/>
              <a:ext cx="432775"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30"/>
            <p:cNvSpPr/>
            <p:nvPr/>
          </p:nvSpPr>
          <p:spPr bwMode="auto">
            <a:xfrm>
              <a:off x="6932105" y="2729470"/>
              <a:ext cx="431858" cy="377808"/>
            </a:xfrm>
            <a:custGeom>
              <a:avLst/>
              <a:gdLst/>
              <a:ahLst/>
              <a:cxnLst>
                <a:cxn ang="0">
                  <a:pos x="0" y="0"/>
                </a:cxn>
                <a:cxn ang="0">
                  <a:pos x="525" y="458"/>
                </a:cxn>
              </a:cxnLst>
              <a:rect l="0" t="0" r="r" b="b"/>
              <a:pathLst>
                <a:path w="525" h="458">
                  <a:moveTo>
                    <a:pt x="0" y="0"/>
                  </a:moveTo>
                  <a:lnTo>
                    <a:pt x="525" y="45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Freeform 29"/>
            <p:cNvSpPr/>
            <p:nvPr/>
          </p:nvSpPr>
          <p:spPr bwMode="auto">
            <a:xfrm>
              <a:off x="5275209" y="3242995"/>
              <a:ext cx="710594" cy="364970"/>
            </a:xfrm>
            <a:custGeom>
              <a:avLst/>
              <a:gdLst/>
              <a:ahLst/>
              <a:cxnLst>
                <a:cxn ang="0">
                  <a:pos x="862" y="0"/>
                </a:cxn>
                <a:cxn ang="0">
                  <a:pos x="0" y="442"/>
                </a:cxn>
              </a:cxnLst>
              <a:rect l="0" t="0" r="r" b="b"/>
              <a:pathLst>
                <a:path w="862" h="442">
                  <a:moveTo>
                    <a:pt x="862" y="0"/>
                  </a:moveTo>
                  <a:lnTo>
                    <a:pt x="0" y="442"/>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Line 28"/>
            <p:cNvSpPr>
              <a:spLocks noChangeShapeType="1"/>
            </p:cNvSpPr>
            <p:nvPr/>
          </p:nvSpPr>
          <p:spPr bwMode="auto">
            <a:xfrm>
              <a:off x="6259311" y="3750101"/>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Line 27"/>
            <p:cNvSpPr>
              <a:spLocks noChangeShapeType="1"/>
            </p:cNvSpPr>
            <p:nvPr/>
          </p:nvSpPr>
          <p:spPr bwMode="auto">
            <a:xfrm>
              <a:off x="6156636" y="3238410"/>
              <a:ext cx="0" cy="385144"/>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Line 26"/>
            <p:cNvSpPr>
              <a:spLocks noChangeShapeType="1"/>
            </p:cNvSpPr>
            <p:nvPr/>
          </p:nvSpPr>
          <p:spPr bwMode="auto">
            <a:xfrm>
              <a:off x="6389818" y="3238410"/>
              <a:ext cx="519880" cy="385144"/>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8" name="灯片编号占位符 2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28662" y="500042"/>
            <a:ext cx="342902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 </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长</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子兄弟链存储结构</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95312" name="Rectangle 80"/>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64" name="TextBox 163"/>
          <p:cNvSpPr txBox="1"/>
          <p:nvPr/>
        </p:nvSpPr>
        <p:spPr>
          <a:xfrm>
            <a:off x="642910" y="1285860"/>
            <a:ext cx="7715304" cy="1141210"/>
          </a:xfrm>
          <a:prstGeom prst="rect">
            <a:avLst/>
          </a:prstGeom>
          <a:noFill/>
        </p:spPr>
        <p:txBody>
          <a:bodyPr wrap="square" rtlCol="0">
            <a:spAutoFit/>
          </a:bodyPr>
          <a:lstStyle/>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长</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子兄弟链存储结构是为每个结点设计三个域：一个数据元素域，一个指向该结点的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长</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子的指针域，一个指向该结点的下一个兄弟结点指针域。</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65" name="组合 164"/>
          <p:cNvGrpSpPr/>
          <p:nvPr/>
        </p:nvGrpSpPr>
        <p:grpSpPr>
          <a:xfrm>
            <a:off x="1285852" y="2643182"/>
            <a:ext cx="1643074" cy="2000264"/>
            <a:chOff x="2010635" y="2660694"/>
            <a:chExt cx="1346919" cy="1709306"/>
          </a:xfrm>
        </p:grpSpPr>
        <p:sp>
          <p:nvSpPr>
            <p:cNvPr id="166" name="Freeform 78"/>
            <p:cNvSpPr/>
            <p:nvPr/>
          </p:nvSpPr>
          <p:spPr bwMode="auto">
            <a:xfrm>
              <a:off x="2196765" y="3342032"/>
              <a:ext cx="283321" cy="290692"/>
            </a:xfrm>
            <a:custGeom>
              <a:avLst/>
              <a:gdLst/>
              <a:ahLst/>
              <a:cxnLst>
                <a:cxn ang="0">
                  <a:pos x="309" y="0"/>
                </a:cxn>
                <a:cxn ang="0">
                  <a:pos x="0" y="317"/>
                </a:cxn>
              </a:cxnLst>
              <a:rect l="0" t="0" r="r" b="b"/>
              <a:pathLst>
                <a:path w="309" h="317">
                  <a:moveTo>
                    <a:pt x="309" y="0"/>
                  </a:moveTo>
                  <a:lnTo>
                    <a:pt x="0" y="317"/>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7" name="Freeform 77"/>
            <p:cNvSpPr/>
            <p:nvPr/>
          </p:nvSpPr>
          <p:spPr bwMode="auto">
            <a:xfrm>
              <a:off x="2589196" y="3898657"/>
              <a:ext cx="1834" cy="178817"/>
            </a:xfrm>
            <a:custGeom>
              <a:avLst/>
              <a:gdLst/>
              <a:ahLst/>
              <a:cxnLst>
                <a:cxn ang="0">
                  <a:pos x="2" y="0"/>
                </a:cxn>
                <a:cxn ang="0">
                  <a:pos x="0" y="219"/>
                </a:cxn>
              </a:cxnLst>
              <a:rect l="0" t="0" r="r" b="b"/>
              <a:pathLst>
                <a:path w="2" h="219">
                  <a:moveTo>
                    <a:pt x="2" y="0"/>
                  </a:moveTo>
                  <a:lnTo>
                    <a:pt x="0" y="21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8" name="Freeform 76"/>
            <p:cNvSpPr/>
            <p:nvPr/>
          </p:nvSpPr>
          <p:spPr bwMode="auto">
            <a:xfrm>
              <a:off x="2620371" y="2879859"/>
              <a:ext cx="208135" cy="274186"/>
            </a:xfrm>
            <a:custGeom>
              <a:avLst/>
              <a:gdLst/>
              <a:ahLst/>
              <a:cxnLst>
                <a:cxn ang="0">
                  <a:pos x="252" y="0"/>
                </a:cxn>
                <a:cxn ang="0">
                  <a:pos x="0" y="333"/>
                </a:cxn>
              </a:cxnLst>
              <a:rect l="0" t="0" r="r" b="b"/>
              <a:pathLst>
                <a:path w="252" h="333">
                  <a:moveTo>
                    <a:pt x="252" y="0"/>
                  </a:moveTo>
                  <a:lnTo>
                    <a:pt x="0" y="333"/>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9" name="Freeform 75"/>
            <p:cNvSpPr/>
            <p:nvPr/>
          </p:nvSpPr>
          <p:spPr bwMode="auto">
            <a:xfrm>
              <a:off x="3023805" y="2913789"/>
              <a:ext cx="176044" cy="256763"/>
            </a:xfrm>
            <a:custGeom>
              <a:avLst/>
              <a:gdLst/>
              <a:ahLst/>
              <a:cxnLst>
                <a:cxn ang="0">
                  <a:pos x="0" y="0"/>
                </a:cxn>
                <a:cxn ang="0">
                  <a:pos x="192" y="280"/>
                </a:cxn>
              </a:cxnLst>
              <a:rect l="0" t="0" r="r" b="b"/>
              <a:pathLst>
                <a:path w="192" h="280">
                  <a:moveTo>
                    <a:pt x="0" y="0"/>
                  </a:moveTo>
                  <a:lnTo>
                    <a:pt x="192" y="280"/>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0" name="Freeform 74"/>
            <p:cNvSpPr/>
            <p:nvPr/>
          </p:nvSpPr>
          <p:spPr bwMode="auto">
            <a:xfrm>
              <a:off x="2582778" y="3428231"/>
              <a:ext cx="917" cy="182485"/>
            </a:xfrm>
            <a:custGeom>
              <a:avLst/>
              <a:gdLst/>
              <a:ahLst/>
              <a:cxnLst>
                <a:cxn ang="0">
                  <a:pos x="0" y="0"/>
                </a:cxn>
                <a:cxn ang="0">
                  <a:pos x="16" y="199"/>
                </a:cxn>
              </a:cxnLst>
              <a:rect l="0" t="0" r="r" b="b"/>
              <a:pathLst>
                <a:path w="16" h="199">
                  <a:moveTo>
                    <a:pt x="0" y="0"/>
                  </a:moveTo>
                  <a:lnTo>
                    <a:pt x="16" y="199"/>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1" name="Line 73"/>
            <p:cNvSpPr>
              <a:spLocks noChangeShapeType="1"/>
            </p:cNvSpPr>
            <p:nvPr/>
          </p:nvSpPr>
          <p:spPr bwMode="auto">
            <a:xfrm>
              <a:off x="2711143" y="3341115"/>
              <a:ext cx="259481" cy="284273"/>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2" name="Oval 72"/>
            <p:cNvSpPr>
              <a:spLocks noChangeArrowheads="1"/>
            </p:cNvSpPr>
            <p:nvPr/>
          </p:nvSpPr>
          <p:spPr bwMode="auto">
            <a:xfrm>
              <a:off x="2812002" y="2660694"/>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3" name="Oval 71"/>
            <p:cNvSpPr>
              <a:spLocks noChangeArrowheads="1"/>
            </p:cNvSpPr>
            <p:nvPr/>
          </p:nvSpPr>
          <p:spPr bwMode="auto">
            <a:xfrm>
              <a:off x="2455330" y="3145792"/>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4" name="Oval 70"/>
            <p:cNvSpPr>
              <a:spLocks noChangeArrowheads="1"/>
            </p:cNvSpPr>
            <p:nvPr/>
          </p:nvSpPr>
          <p:spPr bwMode="auto">
            <a:xfrm>
              <a:off x="3098073" y="3176053"/>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5" name="Oval 69"/>
            <p:cNvSpPr>
              <a:spLocks noChangeArrowheads="1"/>
            </p:cNvSpPr>
            <p:nvPr/>
          </p:nvSpPr>
          <p:spPr bwMode="auto">
            <a:xfrm>
              <a:off x="2912860" y="3618052"/>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6" name="Oval 68"/>
            <p:cNvSpPr>
              <a:spLocks noChangeArrowheads="1"/>
            </p:cNvSpPr>
            <p:nvPr/>
          </p:nvSpPr>
          <p:spPr bwMode="auto">
            <a:xfrm>
              <a:off x="2010635" y="3625388"/>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7" name="Oval 67"/>
            <p:cNvSpPr>
              <a:spLocks noChangeArrowheads="1"/>
            </p:cNvSpPr>
            <p:nvPr/>
          </p:nvSpPr>
          <p:spPr bwMode="auto">
            <a:xfrm>
              <a:off x="2455330" y="3610716"/>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8" name="Oval 65"/>
            <p:cNvSpPr>
              <a:spLocks noChangeArrowheads="1"/>
            </p:cNvSpPr>
            <p:nvPr/>
          </p:nvSpPr>
          <p:spPr bwMode="auto">
            <a:xfrm>
              <a:off x="2455330" y="4083893"/>
              <a:ext cx="259481" cy="28610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79" name="右箭头 178"/>
          <p:cNvSpPr/>
          <p:nvPr/>
        </p:nvSpPr>
        <p:spPr>
          <a:xfrm>
            <a:off x="3428992" y="3429000"/>
            <a:ext cx="500066"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207" name="组合 206"/>
          <p:cNvGrpSpPr/>
          <p:nvPr/>
        </p:nvGrpSpPr>
        <p:grpSpPr>
          <a:xfrm>
            <a:off x="4572000" y="2591918"/>
            <a:ext cx="3143272" cy="2194404"/>
            <a:chOff x="4643438" y="2591918"/>
            <a:chExt cx="2642492" cy="1767077"/>
          </a:xfrm>
        </p:grpSpPr>
        <p:sp>
          <p:nvSpPr>
            <p:cNvPr id="180" name="Text Box 58"/>
            <p:cNvSpPr txBox="1">
              <a:spLocks noChangeArrowheads="1"/>
            </p:cNvSpPr>
            <p:nvPr/>
          </p:nvSpPr>
          <p:spPr bwMode="auto">
            <a:xfrm>
              <a:off x="4899252" y="2591918"/>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1" name="Text Box 57"/>
            <p:cNvSpPr txBox="1">
              <a:spLocks noChangeArrowheads="1"/>
            </p:cNvSpPr>
            <p:nvPr/>
          </p:nvSpPr>
          <p:spPr bwMode="auto">
            <a:xfrm>
              <a:off x="4650773" y="259191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2" name="Text Box 56"/>
            <p:cNvSpPr txBox="1">
              <a:spLocks noChangeArrowheads="1"/>
            </p:cNvSpPr>
            <p:nvPr/>
          </p:nvSpPr>
          <p:spPr bwMode="auto">
            <a:xfrm>
              <a:off x="5148647" y="259191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3" name="Text Box 25"/>
            <p:cNvSpPr txBox="1">
              <a:spLocks noChangeArrowheads="1"/>
            </p:cNvSpPr>
            <p:nvPr/>
          </p:nvSpPr>
          <p:spPr bwMode="auto">
            <a:xfrm>
              <a:off x="4892833"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4" name="Text Box 24"/>
            <p:cNvSpPr txBox="1">
              <a:spLocks noChangeArrowheads="1"/>
            </p:cNvSpPr>
            <p:nvPr/>
          </p:nvSpPr>
          <p:spPr bwMode="auto">
            <a:xfrm>
              <a:off x="4643438" y="3092605"/>
              <a:ext cx="260398"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5" name="Text Box 23"/>
            <p:cNvSpPr txBox="1">
              <a:spLocks noChangeArrowheads="1"/>
            </p:cNvSpPr>
            <p:nvPr/>
          </p:nvSpPr>
          <p:spPr bwMode="auto">
            <a:xfrm>
              <a:off x="5142229"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6" name="Text Box 22"/>
            <p:cNvSpPr txBox="1">
              <a:spLocks noChangeArrowheads="1"/>
            </p:cNvSpPr>
            <p:nvPr/>
          </p:nvSpPr>
          <p:spPr bwMode="auto">
            <a:xfrm>
              <a:off x="4892833"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7" name="Text Box 21"/>
            <p:cNvSpPr txBox="1">
              <a:spLocks noChangeArrowheads="1"/>
            </p:cNvSpPr>
            <p:nvPr/>
          </p:nvSpPr>
          <p:spPr bwMode="auto">
            <a:xfrm>
              <a:off x="4643438" y="360796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8" name="Text Box 20"/>
            <p:cNvSpPr txBox="1">
              <a:spLocks noChangeArrowheads="1"/>
            </p:cNvSpPr>
            <p:nvPr/>
          </p:nvSpPr>
          <p:spPr bwMode="auto">
            <a:xfrm>
              <a:off x="5142229"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9" name="Text Box 19"/>
            <p:cNvSpPr txBox="1">
              <a:spLocks noChangeArrowheads="1"/>
            </p:cNvSpPr>
            <p:nvPr/>
          </p:nvSpPr>
          <p:spPr bwMode="auto">
            <a:xfrm>
              <a:off x="5844571" y="412607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0" name="Text Box 18"/>
            <p:cNvSpPr txBox="1">
              <a:spLocks noChangeArrowheads="1"/>
            </p:cNvSpPr>
            <p:nvPr/>
          </p:nvSpPr>
          <p:spPr bwMode="auto">
            <a:xfrm>
              <a:off x="5594258" y="412607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1" name="Text Box 17"/>
            <p:cNvSpPr txBox="1">
              <a:spLocks noChangeArrowheads="1"/>
            </p:cNvSpPr>
            <p:nvPr/>
          </p:nvSpPr>
          <p:spPr bwMode="auto">
            <a:xfrm>
              <a:off x="6093967" y="412607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2" name="Text Box 16"/>
            <p:cNvSpPr txBox="1">
              <a:spLocks noChangeArrowheads="1"/>
            </p:cNvSpPr>
            <p:nvPr/>
          </p:nvSpPr>
          <p:spPr bwMode="auto">
            <a:xfrm>
              <a:off x="5844571"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3" name="Text Box 15"/>
            <p:cNvSpPr txBox="1">
              <a:spLocks noChangeArrowheads="1"/>
            </p:cNvSpPr>
            <p:nvPr/>
          </p:nvSpPr>
          <p:spPr bwMode="auto">
            <a:xfrm>
              <a:off x="5594258" y="3092605"/>
              <a:ext cx="260398"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4" name="Text Box 14"/>
            <p:cNvSpPr txBox="1">
              <a:spLocks noChangeArrowheads="1"/>
            </p:cNvSpPr>
            <p:nvPr/>
          </p:nvSpPr>
          <p:spPr bwMode="auto">
            <a:xfrm>
              <a:off x="6093967"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5" name="Text Box 13"/>
            <p:cNvSpPr txBox="1">
              <a:spLocks noChangeArrowheads="1"/>
            </p:cNvSpPr>
            <p:nvPr/>
          </p:nvSpPr>
          <p:spPr bwMode="auto">
            <a:xfrm>
              <a:off x="5844571"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6" name="Text Box 12"/>
            <p:cNvSpPr txBox="1">
              <a:spLocks noChangeArrowheads="1"/>
            </p:cNvSpPr>
            <p:nvPr/>
          </p:nvSpPr>
          <p:spPr bwMode="auto">
            <a:xfrm>
              <a:off x="5594258" y="360796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7" name="Text Box 11"/>
            <p:cNvSpPr txBox="1">
              <a:spLocks noChangeArrowheads="1"/>
            </p:cNvSpPr>
            <p:nvPr/>
          </p:nvSpPr>
          <p:spPr bwMode="auto">
            <a:xfrm>
              <a:off x="6093967"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8" name="Text Box 10"/>
            <p:cNvSpPr txBox="1">
              <a:spLocks noChangeArrowheads="1"/>
            </p:cNvSpPr>
            <p:nvPr/>
          </p:nvSpPr>
          <p:spPr bwMode="auto">
            <a:xfrm>
              <a:off x="6776137"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9" name="Text Box 9"/>
            <p:cNvSpPr txBox="1">
              <a:spLocks noChangeArrowheads="1"/>
            </p:cNvSpPr>
            <p:nvPr/>
          </p:nvSpPr>
          <p:spPr bwMode="auto">
            <a:xfrm>
              <a:off x="6526741"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0" name="Text Box 8"/>
            <p:cNvSpPr txBox="1">
              <a:spLocks noChangeArrowheads="1"/>
            </p:cNvSpPr>
            <p:nvPr/>
          </p:nvSpPr>
          <p:spPr bwMode="auto">
            <a:xfrm>
              <a:off x="7026449"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1" name="Line 7"/>
            <p:cNvSpPr>
              <a:spLocks noChangeShapeType="1"/>
            </p:cNvSpPr>
            <p:nvPr/>
          </p:nvSpPr>
          <p:spPr bwMode="auto">
            <a:xfrm>
              <a:off x="4797476" y="2708378"/>
              <a:ext cx="0" cy="384227"/>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2" name="Line 6"/>
            <p:cNvSpPr>
              <a:spLocks noChangeShapeType="1"/>
            </p:cNvSpPr>
            <p:nvPr/>
          </p:nvSpPr>
          <p:spPr bwMode="auto">
            <a:xfrm>
              <a:off x="4797476" y="3228323"/>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3" name="Line 5"/>
            <p:cNvSpPr>
              <a:spLocks noChangeShapeType="1"/>
            </p:cNvSpPr>
            <p:nvPr/>
          </p:nvSpPr>
          <p:spPr bwMode="auto">
            <a:xfrm>
              <a:off x="5748297" y="3735429"/>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4" name="Line 4"/>
            <p:cNvSpPr>
              <a:spLocks noChangeShapeType="1"/>
            </p:cNvSpPr>
            <p:nvPr/>
          </p:nvSpPr>
          <p:spPr bwMode="auto">
            <a:xfrm>
              <a:off x="5282514" y="3221904"/>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 name="Line 3"/>
            <p:cNvSpPr>
              <a:spLocks noChangeShapeType="1"/>
            </p:cNvSpPr>
            <p:nvPr/>
          </p:nvSpPr>
          <p:spPr bwMode="auto">
            <a:xfrm>
              <a:off x="5269677" y="3735429"/>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6" name="Line 2"/>
            <p:cNvSpPr>
              <a:spLocks noChangeShapeType="1"/>
            </p:cNvSpPr>
            <p:nvPr/>
          </p:nvSpPr>
          <p:spPr bwMode="auto">
            <a:xfrm>
              <a:off x="6221415" y="3735429"/>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0" name="灯片编号占位符 4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357166"/>
            <a:ext cx="650085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长子兄弟链存储结构中结点类型</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EBNode</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定义如下：</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500034" y="1000108"/>
            <a:ext cx="8001056" cy="306750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EBNode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长子兄弟链中结点类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char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结点的值</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EBNode* brother;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指向兄弟</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EBNode* eson;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指向长子结点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EBNode():brother(NULL),eson(NULL)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EBNode(char 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brother=eson=NULL;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2071670" y="4286256"/>
            <a:ext cx="3143272" cy="2194404"/>
            <a:chOff x="4643438" y="2591918"/>
            <a:chExt cx="2642492" cy="1767077"/>
          </a:xfrm>
        </p:grpSpPr>
        <p:sp>
          <p:nvSpPr>
            <p:cNvPr id="9" name="Text Box 58"/>
            <p:cNvSpPr txBox="1">
              <a:spLocks noChangeArrowheads="1"/>
            </p:cNvSpPr>
            <p:nvPr/>
          </p:nvSpPr>
          <p:spPr bwMode="auto">
            <a:xfrm>
              <a:off x="4899252" y="2591918"/>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57"/>
            <p:cNvSpPr txBox="1">
              <a:spLocks noChangeArrowheads="1"/>
            </p:cNvSpPr>
            <p:nvPr/>
          </p:nvSpPr>
          <p:spPr bwMode="auto">
            <a:xfrm>
              <a:off x="4650773" y="259191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Text Box 56"/>
            <p:cNvSpPr txBox="1">
              <a:spLocks noChangeArrowheads="1"/>
            </p:cNvSpPr>
            <p:nvPr/>
          </p:nvSpPr>
          <p:spPr bwMode="auto">
            <a:xfrm>
              <a:off x="5148647" y="2591918"/>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Text Box 25"/>
            <p:cNvSpPr txBox="1">
              <a:spLocks noChangeArrowheads="1"/>
            </p:cNvSpPr>
            <p:nvPr/>
          </p:nvSpPr>
          <p:spPr bwMode="auto">
            <a:xfrm>
              <a:off x="4892833"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Text Box 24"/>
            <p:cNvSpPr txBox="1">
              <a:spLocks noChangeArrowheads="1"/>
            </p:cNvSpPr>
            <p:nvPr/>
          </p:nvSpPr>
          <p:spPr bwMode="auto">
            <a:xfrm>
              <a:off x="4643438" y="3092605"/>
              <a:ext cx="260398"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Text Box 23"/>
            <p:cNvSpPr txBox="1">
              <a:spLocks noChangeArrowheads="1"/>
            </p:cNvSpPr>
            <p:nvPr/>
          </p:nvSpPr>
          <p:spPr bwMode="auto">
            <a:xfrm>
              <a:off x="5142229"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22"/>
            <p:cNvSpPr txBox="1">
              <a:spLocks noChangeArrowheads="1"/>
            </p:cNvSpPr>
            <p:nvPr/>
          </p:nvSpPr>
          <p:spPr bwMode="auto">
            <a:xfrm>
              <a:off x="4892833"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Text Box 21"/>
            <p:cNvSpPr txBox="1">
              <a:spLocks noChangeArrowheads="1"/>
            </p:cNvSpPr>
            <p:nvPr/>
          </p:nvSpPr>
          <p:spPr bwMode="auto">
            <a:xfrm>
              <a:off x="4643438" y="360796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20"/>
            <p:cNvSpPr txBox="1">
              <a:spLocks noChangeArrowheads="1"/>
            </p:cNvSpPr>
            <p:nvPr/>
          </p:nvSpPr>
          <p:spPr bwMode="auto">
            <a:xfrm>
              <a:off x="5142229"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Text Box 19"/>
            <p:cNvSpPr txBox="1">
              <a:spLocks noChangeArrowheads="1"/>
            </p:cNvSpPr>
            <p:nvPr/>
          </p:nvSpPr>
          <p:spPr bwMode="auto">
            <a:xfrm>
              <a:off x="5844571" y="412607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8"/>
            <p:cNvSpPr txBox="1">
              <a:spLocks noChangeArrowheads="1"/>
            </p:cNvSpPr>
            <p:nvPr/>
          </p:nvSpPr>
          <p:spPr bwMode="auto">
            <a:xfrm>
              <a:off x="5594258" y="412607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Text Box 17"/>
            <p:cNvSpPr txBox="1">
              <a:spLocks noChangeArrowheads="1"/>
            </p:cNvSpPr>
            <p:nvPr/>
          </p:nvSpPr>
          <p:spPr bwMode="auto">
            <a:xfrm>
              <a:off x="6093967" y="412607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Text Box 16"/>
            <p:cNvSpPr txBox="1">
              <a:spLocks noChangeArrowheads="1"/>
            </p:cNvSpPr>
            <p:nvPr/>
          </p:nvSpPr>
          <p:spPr bwMode="auto">
            <a:xfrm>
              <a:off x="5844571"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Text Box 15"/>
            <p:cNvSpPr txBox="1">
              <a:spLocks noChangeArrowheads="1"/>
            </p:cNvSpPr>
            <p:nvPr/>
          </p:nvSpPr>
          <p:spPr bwMode="auto">
            <a:xfrm>
              <a:off x="5594258" y="3092605"/>
              <a:ext cx="260398"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Text Box 14"/>
            <p:cNvSpPr txBox="1">
              <a:spLocks noChangeArrowheads="1"/>
            </p:cNvSpPr>
            <p:nvPr/>
          </p:nvSpPr>
          <p:spPr bwMode="auto">
            <a:xfrm>
              <a:off x="6093967" y="3092605"/>
              <a:ext cx="259481" cy="23383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Text Box 13"/>
            <p:cNvSpPr txBox="1">
              <a:spLocks noChangeArrowheads="1"/>
            </p:cNvSpPr>
            <p:nvPr/>
          </p:nvSpPr>
          <p:spPr bwMode="auto">
            <a:xfrm>
              <a:off x="5844571"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Text Box 12"/>
            <p:cNvSpPr txBox="1">
              <a:spLocks noChangeArrowheads="1"/>
            </p:cNvSpPr>
            <p:nvPr/>
          </p:nvSpPr>
          <p:spPr bwMode="auto">
            <a:xfrm>
              <a:off x="5594258" y="3607965"/>
              <a:ext cx="260398"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Text Box 11"/>
            <p:cNvSpPr txBox="1">
              <a:spLocks noChangeArrowheads="1"/>
            </p:cNvSpPr>
            <p:nvPr/>
          </p:nvSpPr>
          <p:spPr bwMode="auto">
            <a:xfrm>
              <a:off x="6093967"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3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Text Box 10"/>
            <p:cNvSpPr txBox="1">
              <a:spLocks noChangeArrowheads="1"/>
            </p:cNvSpPr>
            <p:nvPr/>
          </p:nvSpPr>
          <p:spPr bwMode="auto">
            <a:xfrm>
              <a:off x="6776137"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Text Box 9"/>
            <p:cNvSpPr txBox="1">
              <a:spLocks noChangeArrowheads="1"/>
            </p:cNvSpPr>
            <p:nvPr/>
          </p:nvSpPr>
          <p:spPr bwMode="auto">
            <a:xfrm>
              <a:off x="6526741"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a:p>
              <a:pPr marL="0" marR="0" lvl="0" indent="0" algn="l" defTabSz="914400" rtl="0" eaLnBrk="0" fontAlgn="base" latinLnBrk="0" hangingPunct="0">
                <a:lnSpc>
                  <a:spcPts val="2200"/>
                </a:lnSpc>
                <a:spcBef>
                  <a:spcPct val="0"/>
                </a:spcBef>
                <a:spcAft>
                  <a:spcPct val="0"/>
                </a:spcAft>
                <a:buClrTx/>
                <a:buSzTx/>
                <a:buFontTx/>
                <a:buNone/>
              </a:pP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Text Box 8"/>
            <p:cNvSpPr txBox="1">
              <a:spLocks noChangeArrowheads="1"/>
            </p:cNvSpPr>
            <p:nvPr/>
          </p:nvSpPr>
          <p:spPr bwMode="auto">
            <a:xfrm>
              <a:off x="7026449" y="3607965"/>
              <a:ext cx="259481" cy="23292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4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Line 7"/>
            <p:cNvSpPr>
              <a:spLocks noChangeShapeType="1"/>
            </p:cNvSpPr>
            <p:nvPr/>
          </p:nvSpPr>
          <p:spPr bwMode="auto">
            <a:xfrm>
              <a:off x="4797476" y="2708378"/>
              <a:ext cx="0" cy="384227"/>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6"/>
            <p:cNvSpPr>
              <a:spLocks noChangeShapeType="1"/>
            </p:cNvSpPr>
            <p:nvPr/>
          </p:nvSpPr>
          <p:spPr bwMode="auto">
            <a:xfrm>
              <a:off x="4797476" y="3228323"/>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5"/>
            <p:cNvSpPr>
              <a:spLocks noChangeShapeType="1"/>
            </p:cNvSpPr>
            <p:nvPr/>
          </p:nvSpPr>
          <p:spPr bwMode="auto">
            <a:xfrm>
              <a:off x="5748297" y="3735429"/>
              <a:ext cx="0" cy="386061"/>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Line 4"/>
            <p:cNvSpPr>
              <a:spLocks noChangeShapeType="1"/>
            </p:cNvSpPr>
            <p:nvPr/>
          </p:nvSpPr>
          <p:spPr bwMode="auto">
            <a:xfrm>
              <a:off x="5282514" y="3221904"/>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Line 3"/>
            <p:cNvSpPr>
              <a:spLocks noChangeShapeType="1"/>
            </p:cNvSpPr>
            <p:nvPr/>
          </p:nvSpPr>
          <p:spPr bwMode="auto">
            <a:xfrm>
              <a:off x="5269677" y="3735429"/>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Line 2"/>
            <p:cNvSpPr>
              <a:spLocks noChangeShapeType="1"/>
            </p:cNvSpPr>
            <p:nvPr/>
          </p:nvSpPr>
          <p:spPr bwMode="auto">
            <a:xfrm>
              <a:off x="6221415" y="3735429"/>
              <a:ext cx="308077" cy="0"/>
            </a:xfrm>
            <a:prstGeom prst="line">
              <a:avLst/>
            </a:prstGeom>
            <a:ln w="12700">
              <a:solidFill>
                <a:srgbClr val="FF00FF"/>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3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6" name="灯片编号占位符 3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571472" y="2643182"/>
            <a:ext cx="7929618" cy="242538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2800"/>
              </a:lnSpc>
              <a:spcBef>
                <a:spcPts val="600"/>
              </a:spcBef>
              <a:buBlip>
                <a:blip r:embed="rId1"/>
              </a:buBlip>
            </a:pP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二叉树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也称为二分树，它是有限的结点集合，这个集合或者是空，或者由一个根结点和两棵互不相交的称为左子树和右子树的二叉树组成。</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二叉树中许多概念与树中的概念相同。</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在含</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个结点的二叉树中，所有结点的度小于等于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，通常用</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表示叶子结点个数，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表示单分支结点个数，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表示双分支结点个数。</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428596" y="1142984"/>
            <a:ext cx="350046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7.2.1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a:t>
            </a:r>
            <a:r>
              <a:rPr lang="zh-CN" altLang="en-US" smtClean="0">
                <a:latin typeface="Consolas" panose="020B0609020204030204" pitchFamily="49" charset="0"/>
                <a:ea typeface="微软雅黑" panose="020B0503020204020204" pitchFamily="34" charset="-122"/>
                <a:cs typeface="Consolas" panose="020B0609020204030204" pitchFamily="49" charset="0"/>
              </a:rPr>
              <a:t>的</a:t>
            </a:r>
            <a:r>
              <a:rPr lang="zh-CN" altLang="zh-CN" smtClean="0">
                <a:latin typeface="Consolas" panose="020B0609020204030204" pitchFamily="49" charset="0"/>
                <a:ea typeface="微软雅黑" panose="020B0503020204020204" pitchFamily="34" charset="-122"/>
                <a:cs typeface="Consolas" panose="020B0609020204030204" pitchFamily="49" charset="0"/>
              </a:rPr>
              <a:t>概念</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2714612" y="285728"/>
            <a:ext cx="3286148"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7.2 </a:t>
            </a:r>
            <a:r>
              <a:rPr lang="zh-CN" altLang="en-US"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5"/>
          <p:cNvGrpSpPr/>
          <p:nvPr/>
        </p:nvGrpSpPr>
        <p:grpSpPr>
          <a:xfrm>
            <a:off x="2500298" y="5023592"/>
            <a:ext cx="2357454" cy="1357322"/>
            <a:chOff x="3571868" y="4714884"/>
            <a:chExt cx="2357454" cy="1357322"/>
          </a:xfrm>
        </p:grpSpPr>
        <p:sp>
          <p:nvSpPr>
            <p:cNvPr id="7" name="椭圆 6"/>
            <p:cNvSpPr/>
            <p:nvPr/>
          </p:nvSpPr>
          <p:spPr>
            <a:xfrm>
              <a:off x="4572000" y="4714884"/>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8" name="等腰三角形 7"/>
            <p:cNvSpPr/>
            <p:nvPr/>
          </p:nvSpPr>
          <p:spPr>
            <a:xfrm>
              <a:off x="3571868" y="5286388"/>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等腰三角形 8"/>
            <p:cNvSpPr/>
            <p:nvPr/>
          </p:nvSpPr>
          <p:spPr>
            <a:xfrm>
              <a:off x="5072066" y="5286388"/>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0" name="直接连接符 9"/>
            <p:cNvCxnSpPr>
              <a:stCxn id="7" idx="2"/>
              <a:endCxn id="8" idx="0"/>
            </p:cNvCxnSpPr>
            <p:nvPr/>
          </p:nvCxnSpPr>
          <p:spPr>
            <a:xfrm rot="10800000" flipV="1">
              <a:off x="4000496" y="4929198"/>
              <a:ext cx="571504" cy="357190"/>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接连接符 10"/>
            <p:cNvCxnSpPr>
              <a:stCxn id="7" idx="6"/>
              <a:endCxn id="9" idx="0"/>
            </p:cNvCxnSpPr>
            <p:nvPr/>
          </p:nvCxnSpPr>
          <p:spPr>
            <a:xfrm>
              <a:off x="4929190" y="4929198"/>
              <a:ext cx="571504" cy="357190"/>
            </a:xfrm>
            <a:prstGeom prst="line">
              <a:avLst/>
            </a:prstGeom>
          </p:spPr>
          <p:style>
            <a:lnRef idx="2">
              <a:schemeClr val="accent2"/>
            </a:lnRef>
            <a:fillRef idx="0">
              <a:schemeClr val="accent2"/>
            </a:fillRef>
            <a:effectRef idx="1">
              <a:schemeClr val="accent2"/>
            </a:effectRef>
            <a:fontRef idx="minor">
              <a:schemeClr val="tx1"/>
            </a:fontRef>
          </p:style>
        </p:cxnSp>
      </p:grpSp>
      <p:sp>
        <p:nvSpPr>
          <p:cNvPr id="14" name="TextBox 13"/>
          <p:cNvSpPr txBox="1"/>
          <p:nvPr/>
        </p:nvSpPr>
        <p:spPr>
          <a:xfrm>
            <a:off x="571472" y="1857364"/>
            <a:ext cx="264320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1. </a:t>
            </a:r>
            <a:r>
              <a:rPr lang="zh-CN" altLang="en-US"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rPr>
              <a:t>二叉树的定义</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5"/>
          <p:cNvSpPr txBox="1">
            <a:spLocks noChangeArrowheads="1"/>
          </p:cNvSpPr>
          <p:nvPr/>
        </p:nvSpPr>
        <p:spPr bwMode="auto">
          <a:xfrm>
            <a:off x="857224" y="1571612"/>
            <a:ext cx="7643866" cy="18082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28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的树至少有</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个结点，而二叉树的结点数可以</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8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度</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的树不区分子树的次序，而二叉树中的每个结点最多有两个孩子结点，且必须要区分左右子树，即使在结点只有一棵子树的情况下也要明确指出该子树是左子树还是右子树。</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7"/>
          <p:cNvGrpSpPr/>
          <p:nvPr/>
        </p:nvGrpSpPr>
        <p:grpSpPr>
          <a:xfrm>
            <a:off x="357158" y="357166"/>
            <a:ext cx="1428760" cy="927921"/>
            <a:chOff x="428596" y="715129"/>
            <a:chExt cx="1955562" cy="927921"/>
          </a:xfrm>
        </p:grpSpPr>
        <p:pic>
          <p:nvPicPr>
            <p:cNvPr id="9" name="Oval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596" y="715129"/>
              <a:ext cx="1955562" cy="927921"/>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917487" y="1008612"/>
              <a:ext cx="992492" cy="338554"/>
            </a:xfrm>
            <a:prstGeom prst="rect">
              <a:avLst/>
            </a:prstGeom>
            <a:noFill/>
          </p:spPr>
          <p:txBody>
            <a:bodyPr wrap="square" rtlCol="0">
              <a:spAutoFit/>
            </a:bodyPr>
            <a:lstStyle/>
            <a:p>
              <a:pPr algn="ctr"/>
              <a:r>
                <a:rPr lang="zh-CN" altLang="en-US" sz="2000" dirty="0" smtClean="0">
                  <a:solidFill>
                    <a:srgbClr val="FF0000"/>
                  </a:solidFill>
                  <a:latin typeface="微软雅黑" panose="020B0503020204020204" pitchFamily="34" charset="-122"/>
                  <a:ea typeface="微软雅黑" panose="020B0503020204020204" pitchFamily="34" charset="-122"/>
                </a:rPr>
                <a:t>提示</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1" name="TextBox 10"/>
          <p:cNvSpPr txBox="1"/>
          <p:nvPr/>
        </p:nvSpPr>
        <p:spPr>
          <a:xfrm>
            <a:off x="1643042" y="642918"/>
            <a:ext cx="3857652"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二叉树与度为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的树是不同的。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785786" y="785794"/>
            <a:ext cx="4071966" cy="400110"/>
          </a:xfrm>
          <a:prstGeom prst="rect">
            <a:avLst/>
          </a:prstGeom>
          <a:noFill/>
          <a:ln w="9525">
            <a:noFill/>
            <a:miter lim="800000"/>
          </a:ln>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归纳起来，二叉树的</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种</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形态：</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7486838" y="1643050"/>
            <a:ext cx="288000" cy="36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8" name="等腰三角形 7"/>
          <p:cNvSpPr/>
          <p:nvPr/>
        </p:nvSpPr>
        <p:spPr>
          <a:xfrm>
            <a:off x="6845652" y="2346316"/>
            <a:ext cx="756000" cy="7200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等腰三角形 8"/>
          <p:cNvSpPr/>
          <p:nvPr/>
        </p:nvSpPr>
        <p:spPr>
          <a:xfrm>
            <a:off x="7709090" y="2346316"/>
            <a:ext cx="792000" cy="7200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0" name="直接连接符 9"/>
          <p:cNvCxnSpPr>
            <a:stCxn id="7" idx="3"/>
            <a:endCxn id="8" idx="0"/>
          </p:cNvCxnSpPr>
          <p:nvPr/>
        </p:nvCxnSpPr>
        <p:spPr>
          <a:xfrm rot="5400000">
            <a:off x="7178341" y="1995641"/>
            <a:ext cx="395987" cy="305363"/>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接连接符 11"/>
          <p:cNvCxnSpPr>
            <a:stCxn id="7" idx="5"/>
            <a:endCxn id="9" idx="0"/>
          </p:cNvCxnSpPr>
          <p:nvPr/>
        </p:nvCxnSpPr>
        <p:spPr>
          <a:xfrm rot="16200000" flipH="1">
            <a:off x="7720882" y="1962107"/>
            <a:ext cx="395987" cy="372429"/>
          </a:xfrm>
          <a:prstGeom prst="line">
            <a:avLst/>
          </a:prstGeom>
        </p:spPr>
        <p:style>
          <a:lnRef idx="2">
            <a:schemeClr val="accent2"/>
          </a:lnRef>
          <a:fillRef idx="0">
            <a:schemeClr val="accent2"/>
          </a:fillRef>
          <a:effectRef idx="1">
            <a:schemeClr val="accent2"/>
          </a:effectRef>
          <a:fontRef idx="minor">
            <a:schemeClr val="tx1"/>
          </a:fontRef>
        </p:style>
      </p:cxnSp>
      <p:sp>
        <p:nvSpPr>
          <p:cNvPr id="13" name="TextBox 12"/>
          <p:cNvSpPr txBox="1"/>
          <p:nvPr/>
        </p:nvSpPr>
        <p:spPr>
          <a:xfrm>
            <a:off x="1000100" y="2252955"/>
            <a:ext cx="571504" cy="461665"/>
          </a:xfrm>
          <a:prstGeom prst="rect">
            <a:avLst/>
          </a:prstGeom>
          <a:noFill/>
        </p:spPr>
        <p:txBody>
          <a:bodyPr wrap="square" rtlCol="0">
            <a:spAutoFit/>
          </a:bodyPr>
          <a:lstStyle/>
          <a:p>
            <a:r>
              <a:rPr lang="en-US" altLang="zh-CN" smtClean="0">
                <a:solidFill>
                  <a:srgbClr val="0000FF"/>
                </a:solidFill>
                <a:latin typeface="Consolas" panose="020B0609020204030204" pitchFamily="49" charset="0"/>
                <a:cs typeface="Consolas" panose="020B0609020204030204" pitchFamily="49" charset="0"/>
              </a:rPr>
              <a:t>Ø</a:t>
            </a:r>
            <a:endParaRPr lang="zh-CN" altLang="en-US">
              <a:solidFill>
                <a:srgbClr val="0000FF"/>
              </a:solidFill>
              <a:latin typeface="Consolas" panose="020B0609020204030204" pitchFamily="49" charset="0"/>
              <a:cs typeface="Consolas" panose="020B0609020204030204" pitchFamily="49" charset="0"/>
            </a:endParaRPr>
          </a:p>
        </p:txBody>
      </p:sp>
      <p:sp>
        <p:nvSpPr>
          <p:cNvPr id="14" name="TextBox 13"/>
          <p:cNvSpPr txBox="1"/>
          <p:nvPr/>
        </p:nvSpPr>
        <p:spPr>
          <a:xfrm>
            <a:off x="785786" y="3443117"/>
            <a:ext cx="1071570" cy="646331"/>
          </a:xfrm>
          <a:prstGeom prst="rect">
            <a:avLst/>
          </a:prstGeom>
          <a:noFill/>
        </p:spPr>
        <p:txBody>
          <a:bodyPr wrap="square" rtlCol="0">
            <a:spAutoFit/>
          </a:bodyPr>
          <a:lstStyle/>
          <a:p>
            <a:pPr>
              <a:lnSpc>
                <a:spcPct val="100000"/>
              </a:lnSpc>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空二叉树</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椭圆 14"/>
          <p:cNvSpPr/>
          <p:nvPr/>
        </p:nvSpPr>
        <p:spPr>
          <a:xfrm>
            <a:off x="2355174" y="2299275"/>
            <a:ext cx="288000" cy="36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6" name="椭圆 15"/>
          <p:cNvSpPr/>
          <p:nvPr/>
        </p:nvSpPr>
        <p:spPr>
          <a:xfrm>
            <a:off x="4141616" y="1701704"/>
            <a:ext cx="288000" cy="36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17" name="等腰三角形 16"/>
          <p:cNvSpPr/>
          <p:nvPr/>
        </p:nvSpPr>
        <p:spPr>
          <a:xfrm>
            <a:off x="3500430" y="2404970"/>
            <a:ext cx="756000" cy="7200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8" name="直接连接符 17"/>
          <p:cNvCxnSpPr>
            <a:stCxn id="16" idx="3"/>
            <a:endCxn id="17" idx="0"/>
          </p:cNvCxnSpPr>
          <p:nvPr/>
        </p:nvCxnSpPr>
        <p:spPr>
          <a:xfrm rot="5400000">
            <a:off x="3833119" y="2054295"/>
            <a:ext cx="395987" cy="305363"/>
          </a:xfrm>
          <a:prstGeom prst="line">
            <a:avLst/>
          </a:prstGeom>
        </p:spPr>
        <p:style>
          <a:lnRef idx="2">
            <a:schemeClr val="accent2"/>
          </a:lnRef>
          <a:fillRef idx="0">
            <a:schemeClr val="accent2"/>
          </a:fillRef>
          <a:effectRef idx="1">
            <a:schemeClr val="accent2"/>
          </a:effectRef>
          <a:fontRef idx="minor">
            <a:schemeClr val="tx1"/>
          </a:fontRef>
        </p:style>
      </p:cxnSp>
      <p:sp>
        <p:nvSpPr>
          <p:cNvPr id="19" name="椭圆 18"/>
          <p:cNvSpPr/>
          <p:nvPr/>
        </p:nvSpPr>
        <p:spPr>
          <a:xfrm>
            <a:off x="5286380" y="1701704"/>
            <a:ext cx="288000" cy="36000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a:p>
        </p:txBody>
      </p:sp>
      <p:sp>
        <p:nvSpPr>
          <p:cNvPr id="20" name="等腰三角形 19"/>
          <p:cNvSpPr/>
          <p:nvPr/>
        </p:nvSpPr>
        <p:spPr>
          <a:xfrm>
            <a:off x="5508632" y="2404970"/>
            <a:ext cx="792000" cy="72000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21" name="直接连接符 20"/>
          <p:cNvCxnSpPr>
            <a:stCxn id="19" idx="5"/>
            <a:endCxn id="20" idx="0"/>
          </p:cNvCxnSpPr>
          <p:nvPr/>
        </p:nvCxnSpPr>
        <p:spPr>
          <a:xfrm rot="16200000" flipH="1">
            <a:off x="5520424" y="2020761"/>
            <a:ext cx="395987" cy="372429"/>
          </a:xfrm>
          <a:prstGeom prst="line">
            <a:avLst/>
          </a:prstGeom>
        </p:spPr>
        <p:style>
          <a:lnRef idx="2">
            <a:schemeClr val="accent2"/>
          </a:lnRef>
          <a:fillRef idx="0">
            <a:schemeClr val="accent2"/>
          </a:fillRef>
          <a:effectRef idx="1">
            <a:schemeClr val="accent2"/>
          </a:effectRef>
          <a:fontRef idx="minor">
            <a:schemeClr val="tx1"/>
          </a:fontRef>
        </p:style>
      </p:cxnSp>
      <p:sp>
        <p:nvSpPr>
          <p:cNvPr id="22" name="TextBox 21"/>
          <p:cNvSpPr txBox="1"/>
          <p:nvPr/>
        </p:nvSpPr>
        <p:spPr>
          <a:xfrm>
            <a:off x="2000232" y="3443117"/>
            <a:ext cx="1214446" cy="1200329"/>
          </a:xfrm>
          <a:prstGeom prst="rect">
            <a:avLst/>
          </a:prstGeom>
          <a:noFill/>
        </p:spPr>
        <p:txBody>
          <a:bodyPr wrap="square" rtlCol="0">
            <a:spAutoFit/>
          </a:bodyPr>
          <a:lstStyle/>
          <a:p>
            <a:pPr>
              <a:lnSpc>
                <a:spcPct val="100000"/>
              </a:lnSpc>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只有一个根结点的二叉树</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3500430" y="3443117"/>
            <a:ext cx="1428760" cy="923330"/>
          </a:xfrm>
          <a:prstGeom prst="rect">
            <a:avLst/>
          </a:prstGeom>
          <a:noFill/>
        </p:spPr>
        <p:txBody>
          <a:bodyPr wrap="square" rtlCol="0">
            <a:spAutoFit/>
          </a:bodyPr>
          <a:lstStyle/>
          <a:p>
            <a:pPr>
              <a:lnSpc>
                <a:spcPct val="100000"/>
              </a:lnSpc>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右子树为空的二叉树</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5286380" y="3443117"/>
            <a:ext cx="1428760" cy="923330"/>
          </a:xfrm>
          <a:prstGeom prst="rect">
            <a:avLst/>
          </a:prstGeom>
          <a:noFill/>
        </p:spPr>
        <p:txBody>
          <a:bodyPr wrap="square" rtlCol="0">
            <a:spAutoFit/>
          </a:bodyPr>
          <a:lstStyle/>
          <a:p>
            <a:pPr>
              <a:lnSpc>
                <a:spcPct val="100000"/>
              </a:lnSpc>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(d)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左子树为空的二叉树</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7000892" y="3443117"/>
            <a:ext cx="1643074" cy="923330"/>
          </a:xfrm>
          <a:prstGeom prst="rect">
            <a:avLst/>
          </a:prstGeom>
          <a:noFill/>
        </p:spPr>
        <p:txBody>
          <a:bodyPr wrap="square" rtlCol="0">
            <a:spAutoFit/>
          </a:bodyPr>
          <a:lstStyle/>
          <a:p>
            <a:pPr>
              <a:lnSpc>
                <a:spcPct val="100000"/>
              </a:lnSpc>
            </a:pPr>
            <a:r>
              <a:rPr 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(e)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左、右子树非空的二叉树</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灯片编号占位符 2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285728"/>
            <a:ext cx="414340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a:t>
            </a:r>
            <a:r>
              <a:rPr lang="en-US" altLang="zh-CN" sz="2200" smtClean="0">
                <a:latin typeface="Consolas" panose="020B0609020204030204" pitchFamily="49" charset="0"/>
                <a:ea typeface="微软雅黑" panose="020B0503020204020204" pitchFamily="34" charset="-122"/>
                <a:cs typeface="Consolas" panose="020B0609020204030204" pitchFamily="49" charset="0"/>
              </a:rPr>
              <a:t>.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满二叉树和完全二叉树</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928670"/>
            <a:ext cx="8001056" cy="28571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在一棵二叉树中，如果所有分支结点都有左孩子结点和右孩子结点，并且叶子结点都集中在二叉树的最下一层，这样的二叉树称为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满二叉树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可以对满二叉树的结点进行</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层序编号</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，约定编号从树根为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开始，按照层数从小到大、同一层从左到右的次序进行。</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满二叉树也可以从结点个数和树高度之间的关系来定义，即一棵高度为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且有</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个结点的二叉树称为满二叉树。</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571604" y="4143380"/>
            <a:ext cx="5235709" cy="2214578"/>
            <a:chOff x="1666524" y="2335405"/>
            <a:chExt cx="5938139" cy="2950983"/>
          </a:xfrm>
        </p:grpSpPr>
        <p:sp>
          <p:nvSpPr>
            <p:cNvPr id="7" name="椭圆 6"/>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200"/>
                </a:lnSpc>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8" name="椭圆 7"/>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9" idx="3"/>
              <a:endCxn id="10"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9" idx="5"/>
              <a:endCxn id="11"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14" name="椭圆 13"/>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5" name="椭圆 14"/>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6" name="椭圆 15"/>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7" name="直接连接符 16"/>
            <p:cNvCxnSpPr>
              <a:stCxn id="14" idx="3"/>
              <a:endCxn id="15"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8" name="直接连接符 17"/>
            <p:cNvCxnSpPr>
              <a:stCxn id="14" idx="5"/>
              <a:endCxn id="16"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19" name="直接连接符 18"/>
            <p:cNvCxnSpPr>
              <a:stCxn id="8" idx="3"/>
              <a:endCxn id="9"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20" name="直接连接符 19"/>
            <p:cNvCxnSpPr>
              <a:stCxn id="8" idx="5"/>
              <a:endCxn id="14"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21" name="椭圆 20"/>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2" name="椭圆 21"/>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3" name="椭圆 22"/>
            <p:cNvSpPr/>
            <p:nvPr/>
          </p:nvSpPr>
          <p:spPr>
            <a:xfrm>
              <a:off x="4929190"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L</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4" name="椭圆 23"/>
            <p:cNvSpPr/>
            <p:nvPr/>
          </p:nvSpPr>
          <p:spPr>
            <a:xfrm>
              <a:off x="5715008"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b="0" smtClean="0">
                  <a:solidFill>
                    <a:srgbClr val="0000FF"/>
                  </a:solidFill>
                  <a:latin typeface="Consolas" panose="020B0609020204030204" pitchFamily="49" charset="0"/>
                  <a:cs typeface="Consolas" panose="020B0609020204030204" pitchFamily="49" charset="0"/>
                </a:rPr>
                <a:t>M</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5" name="直接连接符 24"/>
            <p:cNvCxnSpPr>
              <a:stCxn id="22" idx="3"/>
              <a:endCxn id="23" idx="0"/>
            </p:cNvCxnSpPr>
            <p:nvPr/>
          </p:nvCxnSpPr>
          <p:spPr>
            <a:xfrm rot="5400000">
              <a:off x="5013257"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26" name="直接连接符 25"/>
            <p:cNvCxnSpPr>
              <a:stCxn id="22" idx="5"/>
              <a:endCxn id="24" idx="0"/>
            </p:cNvCxnSpPr>
            <p:nvPr/>
          </p:nvCxnSpPr>
          <p:spPr>
            <a:xfrm rot="16200000" flipH="1">
              <a:off x="5532452"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27" name="椭圆 26"/>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8" name="椭圆 27"/>
            <p:cNvSpPr/>
            <p:nvPr/>
          </p:nvSpPr>
          <p:spPr>
            <a:xfrm>
              <a:off x="62865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N</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9" name="椭圆 28"/>
            <p:cNvSpPr/>
            <p:nvPr/>
          </p:nvSpPr>
          <p:spPr>
            <a:xfrm>
              <a:off x="7072330"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O</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0" name="直接连接符 29"/>
            <p:cNvCxnSpPr>
              <a:stCxn id="27" idx="3"/>
              <a:endCxn id="28" idx="0"/>
            </p:cNvCxnSpPr>
            <p:nvPr/>
          </p:nvCxnSpPr>
          <p:spPr>
            <a:xfrm rot="5400000">
              <a:off x="6370579"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31" name="直接连接符 30"/>
            <p:cNvCxnSpPr>
              <a:stCxn id="27" idx="5"/>
              <a:endCxn id="29" idx="0"/>
            </p:cNvCxnSpPr>
            <p:nvPr/>
          </p:nvCxnSpPr>
          <p:spPr>
            <a:xfrm rot="16200000" flipH="1">
              <a:off x="6889774"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32" name="直接连接符 31"/>
            <p:cNvCxnSpPr>
              <a:stCxn id="21" idx="3"/>
              <a:endCxn id="22"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33" name="直接连接符 32"/>
            <p:cNvCxnSpPr>
              <a:stCxn id="21" idx="5"/>
              <a:endCxn id="27"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34" name="直接连接符 33"/>
            <p:cNvCxnSpPr>
              <a:stCxn id="7" idx="2"/>
              <a:endCxn id="8"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35" name="直接连接符 34"/>
            <p:cNvCxnSpPr>
              <a:stCxn id="7" idx="6"/>
              <a:endCxn id="21"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36" name="TextBox 35"/>
            <p:cNvSpPr txBox="1"/>
            <p:nvPr/>
          </p:nvSpPr>
          <p:spPr>
            <a:xfrm>
              <a:off x="4214810" y="2335405"/>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7" name="TextBox 36"/>
            <p:cNvSpPr txBox="1"/>
            <p:nvPr/>
          </p:nvSpPr>
          <p:spPr>
            <a:xfrm>
              <a:off x="2638791" y="3335538"/>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2071635" y="3929065"/>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9" name="TextBox 38"/>
            <p:cNvSpPr txBox="1"/>
            <p:nvPr/>
          </p:nvSpPr>
          <p:spPr>
            <a:xfrm>
              <a:off x="1666524" y="4835736"/>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0" name="TextBox 39"/>
            <p:cNvSpPr txBox="1"/>
            <p:nvPr/>
          </p:nvSpPr>
          <p:spPr>
            <a:xfrm>
              <a:off x="2395724" y="4864699"/>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3929058" y="3857628"/>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2" name="TextBox 41"/>
            <p:cNvSpPr txBox="1"/>
            <p:nvPr/>
          </p:nvSpPr>
          <p:spPr>
            <a:xfrm>
              <a:off x="3124924" y="4572007"/>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3799245" y="4702638"/>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4" name="TextBox 43"/>
            <p:cNvSpPr txBox="1"/>
            <p:nvPr/>
          </p:nvSpPr>
          <p:spPr>
            <a:xfrm>
              <a:off x="6284791" y="3357562"/>
              <a:ext cx="428628" cy="375944"/>
            </a:xfrm>
            <a:prstGeom prst="rect">
              <a:avLst/>
            </a:prstGeom>
            <a:noFill/>
          </p:spPr>
          <p:txBody>
            <a:bodyPr wrap="square" lIns="0" tIns="0" rIns="0" bIns="0" rtlCol="0">
              <a:spAutoFit/>
            </a:bodyPr>
            <a:lstStyle/>
            <a:p>
              <a:pPr>
                <a:lnSpc>
                  <a:spcPts val="2200"/>
                </a:lnSpc>
              </a:pPr>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5149628" y="3924963"/>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4643438" y="4857760"/>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5393546" y="4835736"/>
              <a:ext cx="428628" cy="375944"/>
            </a:xfrm>
            <a:prstGeom prst="rect">
              <a:avLst/>
            </a:prstGeom>
            <a:noFill/>
          </p:spPr>
          <p:txBody>
            <a:bodyPr wrap="square" lIns="0" tIns="0" rIns="0" bIns="0" rtlCol="0">
              <a:spAutoFit/>
            </a:bodyPr>
            <a:lstStyle/>
            <a:p>
              <a:pPr>
                <a:lnSpc>
                  <a:spcPts val="2200"/>
                </a:lnSpc>
              </a:pPr>
              <a:r>
                <a:rPr lang="en-US" altLang="zh-CN" sz="1400" b="0" smtClean="0">
                  <a:solidFill>
                    <a:srgbClr val="FF00FF"/>
                  </a:solidFill>
                  <a:latin typeface="Consolas" panose="020B0609020204030204" pitchFamily="49" charset="0"/>
                  <a:cs typeface="Consolas" panose="020B0609020204030204" pitchFamily="49" charset="0"/>
                </a:rPr>
                <a:t>13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6851946" y="3879654"/>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6143636" y="4594034"/>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0" name="TextBox 49"/>
            <p:cNvSpPr txBox="1"/>
            <p:nvPr/>
          </p:nvSpPr>
          <p:spPr>
            <a:xfrm>
              <a:off x="7176035" y="4594034"/>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15</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51" name="灯片编号占位符 5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71480"/>
            <a:ext cx="3643338"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满二叉树的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特点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85786" y="1071546"/>
            <a:ext cx="7643866" cy="18082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叶子结点都在最下一层</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只</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个结点的满二叉树的高度为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，叶子结点个数为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785786" y="3071810"/>
            <a:ext cx="5235709" cy="2214578"/>
            <a:chOff x="1666524" y="2335405"/>
            <a:chExt cx="5938139" cy="2950983"/>
          </a:xfrm>
        </p:grpSpPr>
        <p:sp>
          <p:nvSpPr>
            <p:cNvPr id="7" name="椭圆 6"/>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200"/>
                </a:lnSpc>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8" name="椭圆 7"/>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9" idx="3"/>
              <a:endCxn id="10"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9" idx="5"/>
              <a:endCxn id="11"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14" name="椭圆 13"/>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5" name="椭圆 14"/>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6" name="椭圆 15"/>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7" name="直接连接符 16"/>
            <p:cNvCxnSpPr>
              <a:stCxn id="14" idx="3"/>
              <a:endCxn id="15"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8" name="直接连接符 17"/>
            <p:cNvCxnSpPr>
              <a:stCxn id="14" idx="5"/>
              <a:endCxn id="16"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19" name="直接连接符 18"/>
            <p:cNvCxnSpPr>
              <a:stCxn id="8" idx="3"/>
              <a:endCxn id="9"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20" name="直接连接符 19"/>
            <p:cNvCxnSpPr>
              <a:stCxn id="8" idx="5"/>
              <a:endCxn id="14"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21" name="椭圆 20"/>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2" name="椭圆 21"/>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3" name="椭圆 22"/>
            <p:cNvSpPr/>
            <p:nvPr/>
          </p:nvSpPr>
          <p:spPr>
            <a:xfrm>
              <a:off x="4929190"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L</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4" name="椭圆 23"/>
            <p:cNvSpPr/>
            <p:nvPr/>
          </p:nvSpPr>
          <p:spPr>
            <a:xfrm>
              <a:off x="5715008"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M</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5" name="直接连接符 24"/>
            <p:cNvCxnSpPr>
              <a:stCxn id="22" idx="3"/>
              <a:endCxn id="23" idx="0"/>
            </p:cNvCxnSpPr>
            <p:nvPr/>
          </p:nvCxnSpPr>
          <p:spPr>
            <a:xfrm rot="5400000">
              <a:off x="5013257"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26" name="直接连接符 25"/>
            <p:cNvCxnSpPr>
              <a:stCxn id="22" idx="5"/>
              <a:endCxn id="24" idx="0"/>
            </p:cNvCxnSpPr>
            <p:nvPr/>
          </p:nvCxnSpPr>
          <p:spPr>
            <a:xfrm rot="16200000" flipH="1">
              <a:off x="5532452"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27" name="椭圆 26"/>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8" name="椭圆 27"/>
            <p:cNvSpPr/>
            <p:nvPr/>
          </p:nvSpPr>
          <p:spPr>
            <a:xfrm>
              <a:off x="62865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N</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9" name="椭圆 28"/>
            <p:cNvSpPr/>
            <p:nvPr/>
          </p:nvSpPr>
          <p:spPr>
            <a:xfrm>
              <a:off x="7072330"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O</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0" name="直接连接符 29"/>
            <p:cNvCxnSpPr>
              <a:stCxn id="27" idx="3"/>
              <a:endCxn id="28" idx="0"/>
            </p:cNvCxnSpPr>
            <p:nvPr/>
          </p:nvCxnSpPr>
          <p:spPr>
            <a:xfrm rot="5400000">
              <a:off x="6370579"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31" name="直接连接符 30"/>
            <p:cNvCxnSpPr>
              <a:stCxn id="27" idx="5"/>
              <a:endCxn id="29" idx="0"/>
            </p:cNvCxnSpPr>
            <p:nvPr/>
          </p:nvCxnSpPr>
          <p:spPr>
            <a:xfrm rot="16200000" flipH="1">
              <a:off x="6889774"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32" name="直接连接符 31"/>
            <p:cNvCxnSpPr>
              <a:stCxn id="21" idx="3"/>
              <a:endCxn id="22"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33" name="直接连接符 32"/>
            <p:cNvCxnSpPr>
              <a:stCxn id="21" idx="5"/>
              <a:endCxn id="27"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34" name="直接连接符 33"/>
            <p:cNvCxnSpPr>
              <a:stCxn id="7" idx="2"/>
              <a:endCxn id="8"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35" name="直接连接符 34"/>
            <p:cNvCxnSpPr>
              <a:stCxn id="7" idx="6"/>
              <a:endCxn id="21"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36" name="TextBox 35"/>
            <p:cNvSpPr txBox="1"/>
            <p:nvPr/>
          </p:nvSpPr>
          <p:spPr>
            <a:xfrm>
              <a:off x="4214810" y="2335405"/>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7" name="TextBox 36"/>
            <p:cNvSpPr txBox="1"/>
            <p:nvPr/>
          </p:nvSpPr>
          <p:spPr>
            <a:xfrm>
              <a:off x="2638791" y="3335538"/>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2071635" y="3929065"/>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9" name="TextBox 38"/>
            <p:cNvSpPr txBox="1"/>
            <p:nvPr/>
          </p:nvSpPr>
          <p:spPr>
            <a:xfrm>
              <a:off x="1666524" y="4835736"/>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0" name="TextBox 39"/>
            <p:cNvSpPr txBox="1"/>
            <p:nvPr/>
          </p:nvSpPr>
          <p:spPr>
            <a:xfrm>
              <a:off x="2395724" y="4864699"/>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3929058" y="3857628"/>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2" name="TextBox 41"/>
            <p:cNvSpPr txBox="1"/>
            <p:nvPr/>
          </p:nvSpPr>
          <p:spPr>
            <a:xfrm>
              <a:off x="3124924" y="4572007"/>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3799245" y="4702638"/>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4" name="TextBox 43"/>
            <p:cNvSpPr txBox="1"/>
            <p:nvPr/>
          </p:nvSpPr>
          <p:spPr>
            <a:xfrm>
              <a:off x="6284790" y="3357562"/>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5149627" y="3924963"/>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4643438" y="4857760"/>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5393546" y="4835736"/>
              <a:ext cx="428628" cy="262477"/>
            </a:xfrm>
            <a:prstGeom prst="rect">
              <a:avLst/>
            </a:prstGeom>
            <a:noFill/>
          </p:spPr>
          <p:txBody>
            <a:bodyPr wrap="square" lIns="0" tIns="0" rIns="0" bIns="0" rtlCol="0">
              <a:spAutoFit/>
            </a:bodyPr>
            <a:lstStyle/>
            <a:p>
              <a:r>
                <a:rPr lang="en-US" altLang="zh-CN" sz="1600" b="0" smtClean="0">
                  <a:solidFill>
                    <a:srgbClr val="FF00FF"/>
                  </a:solidFill>
                  <a:latin typeface="Consolas" panose="020B0609020204030204" pitchFamily="49" charset="0"/>
                  <a:cs typeface="Consolas" panose="020B0609020204030204" pitchFamily="49" charset="0"/>
                </a:rPr>
                <a:t>13</a:t>
              </a:r>
              <a:endParaRPr lang="zh-CN" altLang="en-US" sz="1600" b="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6851946" y="3879654"/>
              <a:ext cx="428628" cy="233769"/>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6143636" y="4594034"/>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0" name="TextBox 49"/>
            <p:cNvSpPr txBox="1"/>
            <p:nvPr/>
          </p:nvSpPr>
          <p:spPr>
            <a:xfrm>
              <a:off x="7176035" y="4594034"/>
              <a:ext cx="428628" cy="2296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15</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51" name="TextBox 50"/>
          <p:cNvSpPr txBox="1"/>
          <p:nvPr/>
        </p:nvSpPr>
        <p:spPr>
          <a:xfrm>
            <a:off x="6429388" y="3929066"/>
            <a:ext cx="2071702" cy="810478"/>
          </a:xfrm>
          <a:prstGeom prst="rect">
            <a:avLst/>
          </a:prstGeom>
          <a:noFill/>
        </p:spPr>
        <p:txBody>
          <a:bodyPr wrap="square" rtlCol="0">
            <a:spAutoFit/>
          </a:bodyPr>
          <a:lstStyle/>
          <a:p>
            <a:pPr algn="l">
              <a:lnSpc>
                <a:spcPts val="2800"/>
              </a:lnSpc>
              <a:spcBef>
                <a:spcPts val="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=15</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+1)=4</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灯片编号占位符 5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00042"/>
            <a:ext cx="8001056" cy="2090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若二叉树中最多只有最下面两层的结点的度数可以小于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，并且最下面一层的叶子结点都依次排列在该层最左边的位置上，则这样的二叉树称为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完全二叉树</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同样可以对完全二叉树中每个结点进行</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层序编号</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，编号的方法同满二叉树相同，图中每个结点外边的数字为对该结点的编号。</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1643042" y="2928934"/>
            <a:ext cx="4721825" cy="2450917"/>
            <a:chOff x="1626839" y="2335405"/>
            <a:chExt cx="5558534" cy="2950983"/>
          </a:xfrm>
        </p:grpSpPr>
        <p:sp>
          <p:nvSpPr>
            <p:cNvPr id="6" name="椭圆 5"/>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200"/>
                </a:lnSpc>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7" name="椭圆 6"/>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1" name="直接连接符 10"/>
            <p:cNvCxnSpPr>
              <a:stCxn id="8" idx="3"/>
              <a:endCxn id="9"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连接符 11"/>
            <p:cNvCxnSpPr>
              <a:stCxn id="8" idx="5"/>
              <a:endCxn id="10"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13" name="椭圆 12"/>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5" name="椭圆 14"/>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6" name="直接连接符 15"/>
            <p:cNvCxnSpPr>
              <a:stCxn id="13" idx="3"/>
              <a:endCxn id="14"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7" name="直接连接符 16"/>
            <p:cNvCxnSpPr>
              <a:stCxn id="13" idx="5"/>
              <a:endCxn id="15"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18" name="直接连接符 17"/>
            <p:cNvCxnSpPr>
              <a:stCxn id="7" idx="3"/>
              <a:endCxn id="8"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19" name="直接连接符 18"/>
            <p:cNvCxnSpPr>
              <a:stCxn id="7" idx="5"/>
              <a:endCxn id="13"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20" name="椭圆 19"/>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1" name="椭圆 20"/>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4" name="椭圆 23"/>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5" name="直接连接符 24"/>
            <p:cNvCxnSpPr>
              <a:stCxn id="20" idx="3"/>
              <a:endCxn id="21"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26" name="直接连接符 25"/>
            <p:cNvCxnSpPr>
              <a:stCxn id="20" idx="5"/>
              <a:endCxn id="24"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27" name="直接连接符 26"/>
            <p:cNvCxnSpPr>
              <a:stCxn id="6" idx="2"/>
              <a:endCxn id="7"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28" name="直接连接符 27"/>
            <p:cNvCxnSpPr>
              <a:stCxn id="6" idx="6"/>
              <a:endCxn id="20"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4214810" y="233540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0" name="TextBox 29"/>
            <p:cNvSpPr txBox="1"/>
            <p:nvPr/>
          </p:nvSpPr>
          <p:spPr>
            <a:xfrm>
              <a:off x="2720097" y="33355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1" name="TextBox 30"/>
            <p:cNvSpPr txBox="1"/>
            <p:nvPr/>
          </p:nvSpPr>
          <p:spPr>
            <a:xfrm>
              <a:off x="2131420" y="392906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2" name="TextBox 31"/>
            <p:cNvSpPr txBox="1"/>
            <p:nvPr/>
          </p:nvSpPr>
          <p:spPr>
            <a:xfrm>
              <a:off x="1626839" y="483573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3" name="TextBox 32"/>
            <p:cNvSpPr txBox="1"/>
            <p:nvPr/>
          </p:nvSpPr>
          <p:spPr>
            <a:xfrm>
              <a:off x="2459664" y="4786322"/>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4" name="TextBox 33"/>
            <p:cNvSpPr txBox="1"/>
            <p:nvPr/>
          </p:nvSpPr>
          <p:spPr>
            <a:xfrm>
              <a:off x="3729260" y="3857628"/>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5" name="TextBox 34"/>
            <p:cNvSpPr txBox="1"/>
            <p:nvPr/>
          </p:nvSpPr>
          <p:spPr>
            <a:xfrm>
              <a:off x="3071802" y="463913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6" name="TextBox 35"/>
            <p:cNvSpPr txBox="1"/>
            <p:nvPr/>
          </p:nvSpPr>
          <p:spPr>
            <a:xfrm>
              <a:off x="3799245" y="47236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7" name="TextBox 36"/>
            <p:cNvSpPr txBox="1"/>
            <p:nvPr/>
          </p:nvSpPr>
          <p:spPr>
            <a:xfrm>
              <a:off x="6252164" y="330807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5149628" y="392496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0" name="TextBox 39"/>
            <p:cNvSpPr txBox="1"/>
            <p:nvPr/>
          </p:nvSpPr>
          <p:spPr>
            <a:xfrm>
              <a:off x="6756745" y="3879653"/>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39" name="灯片编号占位符 3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464347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完全二叉树的</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特点</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953281"/>
            <a:ext cx="7929618" cy="26033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叶子结点只可能出现在最下面两层中。</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对于最大层次中的叶子结点，都依次排列在该层最左边的位置上。</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如果有度为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的结点，只可能有一个，且该结点只有左孩子而无右孩子；</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按层序编号后，一旦出现某结点（其编号为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）为叶子结点或只有左孩子，则编号大于</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的结点均为叶子结点。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643042" y="3692727"/>
            <a:ext cx="4721825" cy="2450917"/>
            <a:chOff x="1626839" y="2335405"/>
            <a:chExt cx="5558534" cy="2950983"/>
          </a:xfrm>
        </p:grpSpPr>
        <p:sp>
          <p:nvSpPr>
            <p:cNvPr id="7" name="椭圆 6"/>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200"/>
                </a:lnSpc>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8" name="椭圆 7"/>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9" idx="3"/>
              <a:endCxn id="10"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9" idx="5"/>
              <a:endCxn id="11"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14" name="椭圆 13"/>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5" name="椭圆 14"/>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6" name="椭圆 15"/>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7" name="直接连接符 16"/>
            <p:cNvCxnSpPr>
              <a:stCxn id="14" idx="3"/>
              <a:endCxn id="15"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8" name="直接连接符 17"/>
            <p:cNvCxnSpPr>
              <a:stCxn id="14" idx="5"/>
              <a:endCxn id="16"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19" name="直接连接符 18"/>
            <p:cNvCxnSpPr>
              <a:stCxn id="8" idx="3"/>
              <a:endCxn id="9"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20" name="直接连接符 19"/>
            <p:cNvCxnSpPr>
              <a:stCxn id="8" idx="5"/>
              <a:endCxn id="14"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21" name="椭圆 20"/>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2" name="椭圆 21"/>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3" name="椭圆 22"/>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200"/>
                </a:lnSpc>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4" name="直接连接符 23"/>
            <p:cNvCxnSpPr>
              <a:stCxn id="21" idx="3"/>
              <a:endCxn id="22"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25" name="直接连接符 24"/>
            <p:cNvCxnSpPr>
              <a:stCxn id="21" idx="5"/>
              <a:endCxn id="23"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26" name="直接连接符 25"/>
            <p:cNvCxnSpPr>
              <a:stCxn id="7" idx="2"/>
              <a:endCxn id="8"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27" name="直接连接符 26"/>
            <p:cNvCxnSpPr>
              <a:stCxn id="7" idx="6"/>
              <a:endCxn id="21"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4214810" y="233540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29" name="TextBox 28"/>
            <p:cNvSpPr txBox="1"/>
            <p:nvPr/>
          </p:nvSpPr>
          <p:spPr>
            <a:xfrm>
              <a:off x="2720097" y="33355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0" name="TextBox 29"/>
            <p:cNvSpPr txBox="1"/>
            <p:nvPr/>
          </p:nvSpPr>
          <p:spPr>
            <a:xfrm>
              <a:off x="2131420" y="392906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1" name="TextBox 30"/>
            <p:cNvSpPr txBox="1"/>
            <p:nvPr/>
          </p:nvSpPr>
          <p:spPr>
            <a:xfrm>
              <a:off x="1626839" y="483573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2" name="TextBox 31"/>
            <p:cNvSpPr txBox="1"/>
            <p:nvPr/>
          </p:nvSpPr>
          <p:spPr>
            <a:xfrm>
              <a:off x="2459664" y="4786322"/>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3" name="TextBox 32"/>
            <p:cNvSpPr txBox="1"/>
            <p:nvPr/>
          </p:nvSpPr>
          <p:spPr>
            <a:xfrm>
              <a:off x="3729260" y="3857628"/>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4" name="TextBox 33"/>
            <p:cNvSpPr txBox="1"/>
            <p:nvPr/>
          </p:nvSpPr>
          <p:spPr>
            <a:xfrm>
              <a:off x="3071802" y="463913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5" name="TextBox 34"/>
            <p:cNvSpPr txBox="1"/>
            <p:nvPr/>
          </p:nvSpPr>
          <p:spPr>
            <a:xfrm>
              <a:off x="3799245" y="47236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6" name="TextBox 35"/>
            <p:cNvSpPr txBox="1"/>
            <p:nvPr/>
          </p:nvSpPr>
          <p:spPr>
            <a:xfrm>
              <a:off x="6252164" y="330807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7" name="TextBox 36"/>
            <p:cNvSpPr txBox="1"/>
            <p:nvPr/>
          </p:nvSpPr>
          <p:spPr>
            <a:xfrm>
              <a:off x="5149628" y="392496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6756745" y="3879653"/>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39" name="灯片编号占位符 3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335758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7.2.2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二叉树性质</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2"/>
          <p:cNvSpPr txBox="1">
            <a:spLocks noChangeArrowheads="1"/>
          </p:cNvSpPr>
          <p:nvPr/>
        </p:nvSpPr>
        <p:spPr bwMode="auto">
          <a:xfrm>
            <a:off x="642910" y="1428736"/>
            <a:ext cx="8143932" cy="400110"/>
          </a:xfrm>
          <a:prstGeom prst="rect">
            <a:avLst/>
          </a:prstGeom>
          <a:noFill/>
          <a:ln w="9525">
            <a:noFill/>
            <a:miter lim="800000"/>
          </a:ln>
        </p:spPr>
        <p:txBody>
          <a:bodyPr wrap="square">
            <a:spAutoFit/>
          </a:bodyPr>
          <a:lstStyle/>
          <a:p>
            <a:pPr algn="l">
              <a:lnSpc>
                <a:spcPct val="100000"/>
              </a:lnSpc>
              <a:spcBef>
                <a:spcPct val="50000"/>
              </a:spcBef>
            </a:pPr>
            <a:r>
              <a:rPr kumimoji="1" lang="zh-CN" altLang="en-US" sz="2000"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性质</a:t>
            </a:r>
            <a:r>
              <a:rPr kumimoji="1" lang="en-US" altLang="zh-CN" sz="2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r>
              <a:rPr kumimoji="1" lang="en-US" altLang="zh-CN"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000" dirty="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  </a:t>
            </a:r>
            <a:r>
              <a:rPr kumimoji="1" lang="zh-CN" altLang="en-US" sz="2000" dirty="0" smtClean="0">
                <a:solidFill>
                  <a:srgbClr val="0000FF"/>
                </a:solidFill>
                <a:latin typeface="Consolas" panose="020B0609020204030204" pitchFamily="49" charset="0"/>
                <a:ea typeface="楷体" panose="02010609060101010101" pitchFamily="49" charset="-122"/>
                <a:cs typeface="Consolas" panose="020B0609020204030204" pitchFamily="49" charset="0"/>
              </a:rPr>
              <a:t>非</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空二叉树上叶结点数等于双分支结点数加</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。即</a:t>
            </a:r>
            <a:r>
              <a:rPr kumimoji="1" lang="en-US" altLang="zh-CN" sz="2000" i="1" smtClean="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kumimoji="1" lang="en-US" altLang="zh-CN" sz="2000" baseline="-25000" smtClean="0">
                <a:solidFill>
                  <a:srgbClr val="FF0000"/>
                </a:solidFill>
                <a:latin typeface="Consolas" panose="020B0609020204030204" pitchFamily="49" charset="0"/>
                <a:ea typeface="楷体" panose="02010609060101010101" pitchFamily="49" charset="-122"/>
                <a:cs typeface="Consolas" panose="020B0609020204030204" pitchFamily="49" charset="0"/>
              </a:rPr>
              <a:t>0</a:t>
            </a:r>
            <a:r>
              <a:rPr kumimoji="1"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i="1" smtClean="0">
                <a:solidFill>
                  <a:srgbClr val="FF0000"/>
                </a:solidFill>
                <a:latin typeface="Consolas" panose="020B0609020204030204" pitchFamily="49" charset="0"/>
                <a:ea typeface="楷体" panose="02010609060101010101" pitchFamily="49" charset="-122"/>
                <a:cs typeface="Consolas" panose="020B0609020204030204" pitchFamily="49" charset="0"/>
              </a:rPr>
              <a:t>n</a:t>
            </a:r>
            <a:r>
              <a:rPr kumimoji="1" lang="en-US" altLang="zh-CN" sz="2000" baseline="-25000" smtClean="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kumimoji="1"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12"/>
          <p:cNvGrpSpPr/>
          <p:nvPr/>
        </p:nvGrpSpPr>
        <p:grpSpPr>
          <a:xfrm>
            <a:off x="714348" y="2071678"/>
            <a:ext cx="6929486" cy="2473255"/>
            <a:chOff x="857224" y="2357430"/>
            <a:chExt cx="6929486" cy="2473255"/>
          </a:xfrm>
        </p:grpSpPr>
        <p:sp>
          <p:nvSpPr>
            <p:cNvPr id="6" name="TextBox 5"/>
            <p:cNvSpPr txBox="1"/>
            <p:nvPr/>
          </p:nvSpPr>
          <p:spPr>
            <a:xfrm>
              <a:off x="928662" y="2714620"/>
              <a:ext cx="6858048" cy="211606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600"/>
                </a:lnSpc>
                <a:spcBef>
                  <a:spcPts val="600"/>
                </a:spcBef>
                <a:buBlip>
                  <a:blip r:embed="rId1"/>
                </a:buBlip>
              </a:pP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总结点数</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一个度为</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的结点贡献</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个度，一个度为</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的结点贡献</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个度，所以总的度数</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总的度数</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总分支数</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，求出</a:t>
              </a:r>
              <a:r>
                <a:rPr lang="en-US"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sz="2000" baseline="-25000" smtClean="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857224" y="2357430"/>
              <a:ext cx="928694" cy="338554"/>
            </a:xfrm>
            <a:prstGeom prst="rect">
              <a:avLst/>
            </a:prstGeom>
            <a:noFill/>
          </p:spPr>
          <p:txBody>
            <a:bodyPr wrap="square" rtlCol="0">
              <a:spAutoFit/>
            </a:bodyPr>
            <a:lstStyle/>
            <a:p>
              <a:pPr algn="l"/>
              <a:r>
                <a:rPr lang="zh-CN" altLang="en-US" sz="2000" smtClean="0">
                  <a:solidFill>
                    <a:srgbClr val="FF0000"/>
                  </a:solidFill>
                  <a:latin typeface="微软雅黑" panose="020B0503020204020204" pitchFamily="34" charset="-122"/>
                  <a:ea typeface="微软雅黑" panose="020B0503020204020204" pitchFamily="34" charset="-122"/>
                </a:rPr>
                <a:t>证明：</a:t>
              </a:r>
              <a:endParaRPr lang="zh-CN" altLang="en-US" sz="2000">
                <a:solidFill>
                  <a:srgbClr val="FF0000"/>
                </a:solidFill>
                <a:latin typeface="微软雅黑" panose="020B0503020204020204" pitchFamily="34" charset="-122"/>
                <a:ea typeface="微软雅黑" panose="020B0503020204020204" pitchFamily="34" charset="-122"/>
              </a:endParaRPr>
            </a:p>
          </p:txBody>
        </p:sp>
      </p:grpSp>
      <p:grpSp>
        <p:nvGrpSpPr>
          <p:cNvPr id="4" name="组合 13"/>
          <p:cNvGrpSpPr/>
          <p:nvPr/>
        </p:nvGrpSpPr>
        <p:grpSpPr>
          <a:xfrm>
            <a:off x="428596" y="5072074"/>
            <a:ext cx="7786742" cy="896901"/>
            <a:chOff x="428596" y="5072074"/>
            <a:chExt cx="7786742" cy="896901"/>
          </a:xfrm>
        </p:grpSpPr>
        <p:sp>
          <p:nvSpPr>
            <p:cNvPr id="8" name="TextBox 7"/>
            <p:cNvSpPr txBox="1"/>
            <p:nvPr/>
          </p:nvSpPr>
          <p:spPr>
            <a:xfrm>
              <a:off x="1500166" y="5143512"/>
              <a:ext cx="6715172" cy="784830"/>
            </a:xfrm>
            <a:prstGeom prst="rect">
              <a:avLst/>
            </a:prstGeom>
            <a:noFill/>
          </p:spPr>
          <p:txBody>
            <a:bodyPr wrap="square" rtlCol="0">
              <a:spAutoFit/>
            </a:bodyPr>
            <a:lstStyle/>
            <a:p>
              <a:pPr algn="l">
                <a:lnSpc>
                  <a:spcPts val="2700"/>
                </a:lnSpc>
                <a:spcBef>
                  <a:spcPts val="0"/>
                </a:spcBef>
              </a:pP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在二叉树中计算结点时常用的关系式有：①所有结点的度之和</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-1 </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②所有结点的度之和＝</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2</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2</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 </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③</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0</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1</a:t>
              </a:r>
              <a:r>
                <a:rPr lang="en-US"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i="1"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a:t>
              </a:r>
              <a:endPar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grpSp>
          <p:nvGrpSpPr>
            <p:cNvPr id="9" name="组合 8"/>
            <p:cNvGrpSpPr/>
            <p:nvPr/>
          </p:nvGrpSpPr>
          <p:grpSpPr>
            <a:xfrm>
              <a:off x="428596" y="5072074"/>
              <a:ext cx="896901" cy="896901"/>
              <a:chOff x="388951" y="5103867"/>
              <a:chExt cx="896901" cy="896901"/>
            </a:xfrm>
          </p:grpSpPr>
          <p:sp>
            <p:nvSpPr>
              <p:cNvPr id="10" name="椭圆 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1" name="椭圆 1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2" name="文本框 14"/>
              <p:cNvSpPr txBox="1"/>
              <p:nvPr/>
            </p:nvSpPr>
            <p:spPr>
              <a:xfrm>
                <a:off x="525185" y="5431228"/>
                <a:ext cx="646331" cy="313932"/>
              </a:xfrm>
              <a:prstGeom prst="rect">
                <a:avLst/>
              </a:prstGeom>
              <a:noFill/>
            </p:spPr>
            <p:txBody>
              <a:bodyPr wrap="none" rtlCol="0">
                <a:spAutoFit/>
              </a:bodyPr>
              <a:lstStyle/>
              <a:p>
                <a:r>
                  <a:rPr lang="zh-CN" altLang="en-US" sz="1800" smtClean="0">
                    <a:solidFill>
                      <a:srgbClr val="FF0000"/>
                    </a:solidFill>
                    <a:latin typeface="微软雅黑" panose="020B0503020204020204" pitchFamily="34" charset="-122"/>
                    <a:ea typeface="微软雅黑" panose="020B0503020204020204" pitchFamily="34" charset="-122"/>
                  </a:rPr>
                  <a:t>归纳</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sp>
        <p:nvSpPr>
          <p:cNvPr id="14" name="灯片编号占位符 1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714348" y="857232"/>
            <a:ext cx="7700986" cy="2346668"/>
          </a:xfrm>
          <a:prstGeom prst="rect">
            <a:avLst/>
          </a:prstGeom>
          <a:noFill/>
          <a:ln w="9525">
            <a:noFill/>
            <a:miter lim="800000"/>
          </a:ln>
        </p:spPr>
        <p:txBody>
          <a:bodyPr wrap="square">
            <a:spAutoFit/>
          </a:bodyPr>
          <a:lstStyle/>
          <a:p>
            <a:pPr algn="just">
              <a:lnSpc>
                <a:spcPct val="150000"/>
              </a:lnSpc>
              <a:spcBef>
                <a:spcPct val="50000"/>
              </a:spcBef>
            </a:pPr>
            <a:r>
              <a:rPr kumimoji="1"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性质</a:t>
            </a:r>
            <a:r>
              <a:rPr kumimoji="1" lang="en-US" altLang="zh-CN" sz="2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2</a:t>
            </a:r>
            <a:r>
              <a:rPr kumimoji="1" lang="en-US" altLang="zh-CN"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  </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非空二叉树上第</a:t>
            </a:r>
            <a:r>
              <a:rPr kumimoji="1"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层上至多有</a:t>
            </a:r>
            <a:r>
              <a:rPr kumimoji="1" lang="en-US"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en-US" altLang="zh-CN" sz="2000" i="1"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kumimoji="1" lang="en-US" altLang="zh-CN" sz="2000" baseline="30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个结点，这里应有</a:t>
            </a:r>
            <a:r>
              <a:rPr kumimoji="1"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i</a:t>
            </a:r>
            <a:r>
              <a:rPr kumimoji="1" lang="en-US" altLang="zh-CN" sz="2000" dirty="0" err="1">
                <a:solidFill>
                  <a:srgbClr val="0000FF"/>
                </a:solidFill>
                <a:latin typeface="+mn-ea"/>
                <a:ea typeface="+mn-ea"/>
                <a:cs typeface="Consolas" panose="020B0609020204030204" pitchFamily="49" charset="0"/>
              </a:rPr>
              <a:t>≥</a:t>
            </a:r>
            <a:r>
              <a:rPr kumimoji="1" lang="en-US"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a:lnSpc>
                <a:spcPct val="150000"/>
              </a:lnSpc>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树的性质</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可</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推出</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150000"/>
              </a:lnSpc>
              <a:spcBef>
                <a:spcPct val="50000"/>
              </a:spcBef>
            </a:pPr>
            <a:r>
              <a:rPr kumimoji="1" lang="zh-CN" altLang="en-US"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性质</a:t>
            </a:r>
            <a:r>
              <a:rPr kumimoji="1" lang="en-US" altLang="zh-CN" sz="2000" dirty="0">
                <a:solidFill>
                  <a:srgbClr val="FF0000"/>
                </a:solidFill>
                <a:latin typeface="Consolas" panose="020B0609020204030204" pitchFamily="49" charset="0"/>
                <a:ea typeface="微软雅黑" panose="020B0503020204020204" pitchFamily="34" charset="-122"/>
                <a:cs typeface="Consolas" panose="020B0609020204030204" pitchFamily="49" charset="0"/>
              </a:rPr>
              <a:t>3</a:t>
            </a:r>
            <a:r>
              <a:rPr kumimoji="1" lang="en-US" altLang="zh-CN"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  </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高度为</a:t>
            </a:r>
            <a:r>
              <a:rPr kumimoji="1" lang="en-US"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h</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的二叉树至多有</a:t>
            </a:r>
            <a:r>
              <a:rPr kumimoji="1" lang="en-US"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en-US" altLang="zh-CN" sz="2000" i="1" baseline="30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h</a:t>
            </a:r>
            <a:r>
              <a:rPr kumimoji="1" lang="en-US" altLang="zh-CN" sz="2000" dirty="0">
                <a:solidFill>
                  <a:srgbClr val="0000FF"/>
                </a:solidFill>
                <a:latin typeface="Consolas" panose="020B0609020204030204" pitchFamily="49" charset="0"/>
                <a:ea typeface="宋体" panose="02010600030101010101" pitchFamily="2" charset="-122"/>
                <a:cs typeface="Consolas" panose="020B0609020204030204" pitchFamily="49" charset="0"/>
              </a:rPr>
              <a:t>-</a:t>
            </a:r>
            <a:r>
              <a:rPr kumimoji="1"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个结点（</a:t>
            </a:r>
            <a:r>
              <a:rPr kumimoji="1" lang="en-US"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h</a:t>
            </a:r>
            <a:r>
              <a:rPr kumimoji="1" lang="en-US" altLang="zh-CN" sz="2000" dirty="0" err="1">
                <a:solidFill>
                  <a:srgbClr val="0000FF"/>
                </a:solidFill>
                <a:latin typeface="+mn-ea"/>
                <a:ea typeface="+mn-ea"/>
                <a:cs typeface="Consolas" panose="020B0609020204030204" pitchFamily="49" charset="0"/>
              </a:rPr>
              <a:t>≥</a:t>
            </a:r>
            <a:r>
              <a:rPr kumimoji="1" lang="en-US"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just">
              <a:lnSpc>
                <a:spcPct val="150000"/>
              </a:lnSpc>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kumimoji="1"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树的性质</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可推出。</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571472" y="285728"/>
            <a:ext cx="7072362" cy="400110"/>
          </a:xfrm>
          <a:prstGeom prst="rect">
            <a:avLst/>
          </a:prstGeom>
          <a:noFill/>
          <a:ln w="9525">
            <a:noFill/>
            <a:miter lim="800000"/>
          </a:ln>
        </p:spPr>
        <p:txBody>
          <a:bodyPr wrap="square">
            <a:spAutoFit/>
          </a:bodyPr>
          <a:lstStyle/>
          <a:p>
            <a:pPr algn="l">
              <a:lnSpc>
                <a:spcPct val="100000"/>
              </a:lnSpc>
              <a:spcBef>
                <a:spcPts val="60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4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完全二叉树</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（结点个数为</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层序编号</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后的性质。</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TextBox 13"/>
          <p:cNvSpPr txBox="1"/>
          <p:nvPr/>
        </p:nvSpPr>
        <p:spPr>
          <a:xfrm>
            <a:off x="214282" y="928670"/>
            <a:ext cx="8715436" cy="4001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l">
              <a:lnSpc>
                <a:spcPct val="100000"/>
              </a:lnSpc>
              <a:spcBef>
                <a:spcPts val="0"/>
              </a:spcBef>
            </a:pP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）若完全二叉树的根结点编号为</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，对于编号为</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chemeClr val="bg1"/>
                </a:solidFill>
                <a:latin typeface="+mj-ea"/>
                <a:ea typeface="+mj-ea"/>
                <a:cs typeface="Consolas" panose="020B0609020204030204" pitchFamily="49" charset="0"/>
              </a:rPr>
              <a:t>≤</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chemeClr val="bg1"/>
                </a:solidFill>
                <a:latin typeface="+mn-ea"/>
                <a:ea typeface="+mn-ea"/>
                <a:cs typeface="Consolas" panose="020B0609020204030204" pitchFamily="49" charset="0"/>
              </a:rPr>
              <a:t>≤</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）的结点有：</a:t>
            </a:r>
            <a:endPar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785786" y="1571612"/>
            <a:ext cx="8001056" cy="16287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6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j-ea"/>
                <a:ea typeface="+mj-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n-ea"/>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的结点为分支结点，否则为叶子结点，也就是说，最后一个分支结点的编号为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为奇数，则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，每个分支结点都是双分支结点；若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为偶数，则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，只有一个单分支结点。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椭圆 15"/>
          <p:cNvSpPr/>
          <p:nvPr/>
        </p:nvSpPr>
        <p:spPr>
          <a:xfrm>
            <a:off x="3238443" y="3493323"/>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a</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7" name="椭圆 16"/>
          <p:cNvSpPr/>
          <p:nvPr/>
        </p:nvSpPr>
        <p:spPr>
          <a:xfrm>
            <a:off x="2786050" y="4216014"/>
            <a:ext cx="303423" cy="355994"/>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椭圆 17"/>
          <p:cNvSpPr/>
          <p:nvPr/>
        </p:nvSpPr>
        <p:spPr>
          <a:xfrm>
            <a:off x="3714744" y="421601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0" name="直接连接符 19"/>
          <p:cNvCxnSpPr>
            <a:stCxn id="16" idx="3"/>
            <a:endCxn id="17" idx="0"/>
          </p:cNvCxnSpPr>
          <p:nvPr/>
        </p:nvCxnSpPr>
        <p:spPr>
          <a:xfrm rot="5400000">
            <a:off x="2900905" y="3834040"/>
            <a:ext cx="418831" cy="34511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2" name="直接连接符 21"/>
          <p:cNvCxnSpPr>
            <a:stCxn id="16" idx="5"/>
            <a:endCxn id="18" idx="0"/>
          </p:cNvCxnSpPr>
          <p:nvPr/>
        </p:nvCxnSpPr>
        <p:spPr>
          <a:xfrm rot="16200000" flipH="1">
            <a:off x="3472528" y="3822085"/>
            <a:ext cx="418831" cy="36902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2071670" y="5572140"/>
            <a:ext cx="2357454" cy="646331"/>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=0</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，最后分支结点为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/2=2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2411189" y="493039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5" name="椭圆 24"/>
          <p:cNvSpPr/>
          <p:nvPr/>
        </p:nvSpPr>
        <p:spPr>
          <a:xfrm>
            <a:off x="3143240" y="493039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7" name="直接连接符 26"/>
          <p:cNvCxnSpPr>
            <a:stCxn id="17" idx="3"/>
            <a:endCxn id="24" idx="0"/>
          </p:cNvCxnSpPr>
          <p:nvPr/>
        </p:nvCxnSpPr>
        <p:spPr>
          <a:xfrm rot="5400000">
            <a:off x="2491433" y="4591342"/>
            <a:ext cx="410520" cy="2675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9" name="直接连接符 28"/>
          <p:cNvCxnSpPr>
            <a:stCxn id="17" idx="5"/>
            <a:endCxn id="25" idx="0"/>
          </p:cNvCxnSpPr>
          <p:nvPr/>
        </p:nvCxnSpPr>
        <p:spPr>
          <a:xfrm rot="16200000" flipH="1">
            <a:off x="2964735" y="4600177"/>
            <a:ext cx="410520" cy="24991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0" name="椭圆 29"/>
          <p:cNvSpPr/>
          <p:nvPr/>
        </p:nvSpPr>
        <p:spPr>
          <a:xfrm>
            <a:off x="6286464" y="3500438"/>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a</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5786446" y="422312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2" name="椭圆 31"/>
          <p:cNvSpPr/>
          <p:nvPr/>
        </p:nvSpPr>
        <p:spPr>
          <a:xfrm>
            <a:off x="6781815" y="4223129"/>
            <a:ext cx="303423" cy="355994"/>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3" name="直接连接符 32"/>
          <p:cNvCxnSpPr>
            <a:stCxn id="30" idx="3"/>
            <a:endCxn id="31" idx="0"/>
          </p:cNvCxnSpPr>
          <p:nvPr/>
        </p:nvCxnSpPr>
        <p:spPr>
          <a:xfrm rot="5400000">
            <a:off x="5925114" y="3817343"/>
            <a:ext cx="418831" cy="39274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4" name="直接连接符 33"/>
          <p:cNvCxnSpPr>
            <a:stCxn id="30" idx="5"/>
            <a:endCxn id="32" idx="0"/>
          </p:cNvCxnSpPr>
          <p:nvPr/>
        </p:nvCxnSpPr>
        <p:spPr>
          <a:xfrm rot="16200000" flipH="1">
            <a:off x="6530074" y="3819675"/>
            <a:ext cx="418831" cy="38807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5072066" y="5579255"/>
            <a:ext cx="2357454" cy="646331"/>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，最后分支结点为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/2=3</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椭圆 35"/>
          <p:cNvSpPr/>
          <p:nvPr/>
        </p:nvSpPr>
        <p:spPr>
          <a:xfrm>
            <a:off x="5411585" y="493750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7" name="椭圆 36"/>
          <p:cNvSpPr/>
          <p:nvPr/>
        </p:nvSpPr>
        <p:spPr>
          <a:xfrm>
            <a:off x="6143636" y="493750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8" name="直接连接符 37"/>
          <p:cNvCxnSpPr>
            <a:stCxn id="31" idx="3"/>
            <a:endCxn id="36" idx="0"/>
          </p:cNvCxnSpPr>
          <p:nvPr/>
        </p:nvCxnSpPr>
        <p:spPr>
          <a:xfrm rot="5400000">
            <a:off x="5491829" y="4598457"/>
            <a:ext cx="410520" cy="2675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9" name="直接连接符 38"/>
          <p:cNvCxnSpPr>
            <a:stCxn id="31" idx="5"/>
            <a:endCxn id="37" idx="0"/>
          </p:cNvCxnSpPr>
          <p:nvPr/>
        </p:nvCxnSpPr>
        <p:spPr>
          <a:xfrm rot="16200000" flipH="1">
            <a:off x="5965131" y="4607292"/>
            <a:ext cx="410520" cy="24991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0" name="椭圆 39"/>
          <p:cNvSpPr/>
          <p:nvPr/>
        </p:nvSpPr>
        <p:spPr>
          <a:xfrm>
            <a:off x="6500826" y="4929198"/>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42" name="直接连接符 41"/>
          <p:cNvCxnSpPr>
            <a:stCxn id="32" idx="3"/>
            <a:endCxn id="40" idx="0"/>
          </p:cNvCxnSpPr>
          <p:nvPr/>
        </p:nvCxnSpPr>
        <p:spPr>
          <a:xfrm rot="5400000">
            <a:off x="6538290" y="4641237"/>
            <a:ext cx="402209" cy="17371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3643306" y="350043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2571736" y="421481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4071934" y="428625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2214546"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3500430"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6643702" y="3429000"/>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5572132" y="4143380"/>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7143768" y="421481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5214942" y="492919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6357950" y="4714884"/>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6858016" y="4857760"/>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灯片编号占位符 5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571472" y="428604"/>
            <a:ext cx="8072494" cy="22400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的结点有左孩子结点，则左孩子结点的编号为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的结点有右孩子结点，则右孩子结点的编号为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的结点有左兄弟结点，左兄弟结点的编号为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，若有右兄弟结点，右兄弟结点的编号为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的结点有双亲结点，其双亲结点的编号为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3214678" y="3214686"/>
            <a:ext cx="1831798" cy="2160587"/>
            <a:chOff x="3316465" y="4005263"/>
            <a:chExt cx="1831798" cy="2160587"/>
          </a:xfrm>
        </p:grpSpPr>
        <p:sp>
          <p:nvSpPr>
            <p:cNvPr id="6" name="Line 2"/>
            <p:cNvSpPr>
              <a:spLocks noChangeShapeType="1"/>
            </p:cNvSpPr>
            <p:nvPr/>
          </p:nvSpPr>
          <p:spPr bwMode="auto">
            <a:xfrm>
              <a:off x="4356100" y="5229225"/>
              <a:ext cx="431800" cy="504825"/>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7" name="Line 3"/>
            <p:cNvSpPr>
              <a:spLocks noChangeShapeType="1"/>
            </p:cNvSpPr>
            <p:nvPr/>
          </p:nvSpPr>
          <p:spPr bwMode="auto">
            <a:xfrm flipH="1">
              <a:off x="3643305" y="5229224"/>
              <a:ext cx="423869" cy="485791"/>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8" name="Oval 5"/>
            <p:cNvSpPr>
              <a:spLocks noChangeArrowheads="1"/>
            </p:cNvSpPr>
            <p:nvPr/>
          </p:nvSpPr>
          <p:spPr bwMode="auto">
            <a:xfrm>
              <a:off x="3924300" y="4005263"/>
              <a:ext cx="647700" cy="503237"/>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i="1">
                  <a:solidFill>
                    <a:srgbClr val="0000FF"/>
                  </a:solidFill>
                  <a:latin typeface="Consolas" panose="020B0609020204030204" pitchFamily="49" charset="0"/>
                  <a:cs typeface="Consolas" panose="020B0609020204030204" pitchFamily="49" charset="0"/>
                </a:rPr>
                <a:t>i</a:t>
              </a:r>
              <a:r>
                <a:rPr lang="en-US" altLang="zh-CN" sz="1600">
                  <a:solidFill>
                    <a:srgbClr val="0000FF"/>
                  </a:solidFill>
                  <a:latin typeface="Consolas" panose="020B0609020204030204" pitchFamily="49" charset="0"/>
                  <a:cs typeface="Consolas" panose="020B0609020204030204" pitchFamily="49" charset="0"/>
                </a:rPr>
                <a:t>/2</a:t>
              </a:r>
              <a:endParaRPr lang="en-US" altLang="zh-CN" sz="1600">
                <a:solidFill>
                  <a:srgbClr val="0000FF"/>
                </a:solidFill>
                <a:latin typeface="Consolas" panose="020B0609020204030204" pitchFamily="49" charset="0"/>
                <a:cs typeface="Consolas" panose="020B0609020204030204" pitchFamily="49" charset="0"/>
              </a:endParaRPr>
            </a:p>
          </p:txBody>
        </p:sp>
        <p:sp>
          <p:nvSpPr>
            <p:cNvPr id="9" name="Oval 6"/>
            <p:cNvSpPr>
              <a:spLocks noChangeArrowheads="1"/>
            </p:cNvSpPr>
            <p:nvPr/>
          </p:nvSpPr>
          <p:spPr bwMode="auto">
            <a:xfrm>
              <a:off x="3995737" y="4941887"/>
              <a:ext cx="468000" cy="468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i="1">
                  <a:solidFill>
                    <a:srgbClr val="0000FF"/>
                  </a:solidFill>
                  <a:latin typeface="Consolas" panose="020B0609020204030204" pitchFamily="49" charset="0"/>
                  <a:cs typeface="Consolas" panose="020B0609020204030204" pitchFamily="49" charset="0"/>
                </a:rPr>
                <a:t>i</a:t>
              </a:r>
              <a:endParaRPr lang="en-US" altLang="zh-CN" sz="1600" i="1">
                <a:solidFill>
                  <a:srgbClr val="0000FF"/>
                </a:solidFill>
                <a:latin typeface="Consolas" panose="020B0609020204030204" pitchFamily="49" charset="0"/>
                <a:cs typeface="Consolas" panose="020B0609020204030204" pitchFamily="49" charset="0"/>
              </a:endParaRPr>
            </a:p>
          </p:txBody>
        </p:sp>
        <p:sp>
          <p:nvSpPr>
            <p:cNvPr id="10" name="Line 7"/>
            <p:cNvSpPr>
              <a:spLocks noChangeShapeType="1"/>
            </p:cNvSpPr>
            <p:nvPr/>
          </p:nvSpPr>
          <p:spPr bwMode="auto">
            <a:xfrm>
              <a:off x="4211638" y="4508500"/>
              <a:ext cx="0" cy="433388"/>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11" name="Oval 8"/>
            <p:cNvSpPr>
              <a:spLocks noChangeArrowheads="1"/>
            </p:cNvSpPr>
            <p:nvPr/>
          </p:nvSpPr>
          <p:spPr bwMode="auto">
            <a:xfrm>
              <a:off x="3316465" y="5661025"/>
              <a:ext cx="576263" cy="504825"/>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a:solidFill>
                    <a:srgbClr val="0000FF"/>
                  </a:solidFill>
                  <a:latin typeface="Consolas" panose="020B0609020204030204" pitchFamily="49" charset="0"/>
                  <a:cs typeface="Consolas" panose="020B0609020204030204" pitchFamily="49" charset="0"/>
                </a:rPr>
                <a:t>2</a:t>
              </a:r>
              <a:r>
                <a:rPr lang="en-US" altLang="zh-CN" sz="1600" i="1">
                  <a:solidFill>
                    <a:srgbClr val="0000FF"/>
                  </a:solidFill>
                  <a:latin typeface="Consolas" panose="020B0609020204030204" pitchFamily="49" charset="0"/>
                  <a:cs typeface="Consolas" panose="020B0609020204030204" pitchFamily="49" charset="0"/>
                </a:rPr>
                <a:t>i</a:t>
              </a:r>
              <a:endParaRPr lang="en-US" altLang="zh-CN" sz="1600" i="1">
                <a:solidFill>
                  <a:srgbClr val="0000FF"/>
                </a:solidFill>
                <a:latin typeface="Consolas" panose="020B0609020204030204" pitchFamily="49" charset="0"/>
                <a:cs typeface="Consolas" panose="020B0609020204030204" pitchFamily="49" charset="0"/>
              </a:endParaRPr>
            </a:p>
          </p:txBody>
        </p:sp>
        <p:sp>
          <p:nvSpPr>
            <p:cNvPr id="12" name="Oval 9"/>
            <p:cNvSpPr>
              <a:spLocks noChangeArrowheads="1"/>
            </p:cNvSpPr>
            <p:nvPr/>
          </p:nvSpPr>
          <p:spPr bwMode="auto">
            <a:xfrm>
              <a:off x="4572000" y="5661025"/>
              <a:ext cx="576263" cy="504825"/>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a:solidFill>
                    <a:srgbClr val="0000FF"/>
                  </a:solidFill>
                  <a:latin typeface="Consolas" panose="020B0609020204030204" pitchFamily="49" charset="0"/>
                  <a:cs typeface="Consolas" panose="020B0609020204030204" pitchFamily="49" charset="0"/>
                </a:rPr>
                <a:t>2</a:t>
              </a:r>
              <a:r>
                <a:rPr lang="en-US" altLang="zh-CN" sz="1600" i="1">
                  <a:solidFill>
                    <a:srgbClr val="0000FF"/>
                  </a:solidFill>
                  <a:latin typeface="Consolas" panose="020B0609020204030204" pitchFamily="49" charset="0"/>
                  <a:cs typeface="Consolas" panose="020B0609020204030204" pitchFamily="49" charset="0"/>
                </a:rPr>
                <a:t>i</a:t>
              </a:r>
              <a:r>
                <a:rPr lang="en-US" altLang="zh-CN" sz="1600">
                  <a:solidFill>
                    <a:srgbClr val="0000FF"/>
                  </a:solidFill>
                  <a:latin typeface="Consolas" panose="020B0609020204030204" pitchFamily="49" charset="0"/>
                  <a:cs typeface="Consolas" panose="020B0609020204030204" pitchFamily="49" charset="0"/>
                </a:rPr>
                <a:t>+1</a:t>
              </a:r>
              <a:endParaRPr lang="en-US" altLang="zh-CN" sz="1600">
                <a:solidFill>
                  <a:srgbClr val="0000FF"/>
                </a:solidFill>
                <a:latin typeface="Consolas" panose="020B0609020204030204" pitchFamily="49" charset="0"/>
                <a:cs typeface="Consolas" panose="020B0609020204030204" pitchFamily="49" charset="0"/>
              </a:endParaRPr>
            </a:p>
          </p:txBody>
        </p:sp>
      </p:grpSp>
      <p:sp>
        <p:nvSpPr>
          <p:cNvPr id="13" name="灯片编号占位符 1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42844" y="571480"/>
            <a:ext cx="8786874" cy="4001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l">
              <a:lnSpc>
                <a:spcPct val="100000"/>
              </a:lnSpc>
              <a:spcBef>
                <a:spcPts val="0"/>
              </a:spcBef>
            </a:pP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）若完全二叉树的根结点编号为</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，对于编号为</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chemeClr val="bg1"/>
                </a:solidFill>
                <a:latin typeface="+mj-ea"/>
                <a:ea typeface="+mj-ea"/>
                <a:cs typeface="Consolas" panose="020B0609020204030204" pitchFamily="49" charset="0"/>
              </a:rPr>
              <a:t>≤</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chemeClr val="bg1"/>
                </a:solidFill>
                <a:latin typeface="+mn-ea"/>
                <a:ea typeface="+mn-ea"/>
                <a:cs typeface="Consolas" panose="020B0609020204030204" pitchFamily="49" charset="0"/>
              </a:rPr>
              <a:t>≤</a:t>
            </a:r>
            <a:r>
              <a:rPr lang="en-US" altLang="zh-CN" sz="2000" i="1" smtClean="0">
                <a:solidFill>
                  <a:schemeClr val="bg1"/>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rPr>
              <a:t>）的结点有：</a:t>
            </a:r>
            <a:endParaRPr lang="zh-CN" altLang="zh-CN" sz="2000" smtClean="0">
              <a:solidFill>
                <a:schemeClr val="bg1"/>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571472" y="1285860"/>
            <a:ext cx="8001056" cy="17313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mn-ea"/>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的结点为分支结点，否则为叶子结点，也就是说，最后一个分支结点的编号为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为奇数，则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，每个分支结点都是双分支结点；若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为偶数，则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，只有一个单分支结点。</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椭圆 15"/>
          <p:cNvSpPr/>
          <p:nvPr/>
        </p:nvSpPr>
        <p:spPr>
          <a:xfrm>
            <a:off x="3238443" y="3493323"/>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a</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7" name="椭圆 16"/>
          <p:cNvSpPr/>
          <p:nvPr/>
        </p:nvSpPr>
        <p:spPr>
          <a:xfrm>
            <a:off x="2786050" y="421601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椭圆 17"/>
          <p:cNvSpPr/>
          <p:nvPr/>
        </p:nvSpPr>
        <p:spPr>
          <a:xfrm>
            <a:off x="3714744" y="421601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0" name="直接连接符 19"/>
          <p:cNvCxnSpPr>
            <a:stCxn id="16" idx="3"/>
            <a:endCxn id="17" idx="0"/>
          </p:cNvCxnSpPr>
          <p:nvPr/>
        </p:nvCxnSpPr>
        <p:spPr>
          <a:xfrm rot="5400000">
            <a:off x="2900905" y="3834040"/>
            <a:ext cx="418831" cy="345116"/>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2" name="直接连接符 21"/>
          <p:cNvCxnSpPr>
            <a:stCxn id="16" idx="5"/>
            <a:endCxn id="18" idx="0"/>
          </p:cNvCxnSpPr>
          <p:nvPr/>
        </p:nvCxnSpPr>
        <p:spPr>
          <a:xfrm rot="16200000" flipH="1">
            <a:off x="3472528" y="3822085"/>
            <a:ext cx="418831" cy="36902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2000232" y="5572140"/>
            <a:ext cx="2428892" cy="646331"/>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=5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=0</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，最后分支结点为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/2-1=1</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2411189" y="493039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5" name="椭圆 24"/>
          <p:cNvSpPr/>
          <p:nvPr/>
        </p:nvSpPr>
        <p:spPr>
          <a:xfrm>
            <a:off x="3143240" y="4930394"/>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7" name="直接连接符 26"/>
          <p:cNvCxnSpPr>
            <a:stCxn id="17" idx="3"/>
            <a:endCxn id="24" idx="0"/>
          </p:cNvCxnSpPr>
          <p:nvPr/>
        </p:nvCxnSpPr>
        <p:spPr>
          <a:xfrm rot="5400000">
            <a:off x="2491433" y="4591342"/>
            <a:ext cx="410520" cy="2675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9" name="直接连接符 28"/>
          <p:cNvCxnSpPr>
            <a:stCxn id="17" idx="5"/>
            <a:endCxn id="25" idx="0"/>
          </p:cNvCxnSpPr>
          <p:nvPr/>
        </p:nvCxnSpPr>
        <p:spPr>
          <a:xfrm rot="16200000" flipH="1">
            <a:off x="2964735" y="4600177"/>
            <a:ext cx="410520" cy="24991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0" name="椭圆 29"/>
          <p:cNvSpPr/>
          <p:nvPr/>
        </p:nvSpPr>
        <p:spPr>
          <a:xfrm>
            <a:off x="6286464" y="3500438"/>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a</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5786446" y="422312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2" name="椭圆 31"/>
          <p:cNvSpPr/>
          <p:nvPr/>
        </p:nvSpPr>
        <p:spPr>
          <a:xfrm>
            <a:off x="6781815" y="422312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3" name="直接连接符 32"/>
          <p:cNvCxnSpPr>
            <a:stCxn id="30" idx="3"/>
            <a:endCxn id="31" idx="0"/>
          </p:cNvCxnSpPr>
          <p:nvPr/>
        </p:nvCxnSpPr>
        <p:spPr>
          <a:xfrm rot="5400000">
            <a:off x="5925114" y="3817343"/>
            <a:ext cx="418831" cy="39274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4" name="直接连接符 33"/>
          <p:cNvCxnSpPr>
            <a:stCxn id="30" idx="5"/>
            <a:endCxn id="32" idx="0"/>
          </p:cNvCxnSpPr>
          <p:nvPr/>
        </p:nvCxnSpPr>
        <p:spPr>
          <a:xfrm rot="16200000" flipH="1">
            <a:off x="6530074" y="3819675"/>
            <a:ext cx="418831" cy="388075"/>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5000628" y="5579255"/>
            <a:ext cx="2428892" cy="646331"/>
          </a:xfrm>
          <a:prstGeom prst="rect">
            <a:avLst/>
          </a:prstGeom>
          <a:noFill/>
        </p:spPr>
        <p:txBody>
          <a:bodyPr wrap="square"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=6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=1</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，最后分支结点为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n</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/2-1=2</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椭圆 35"/>
          <p:cNvSpPr/>
          <p:nvPr/>
        </p:nvSpPr>
        <p:spPr>
          <a:xfrm>
            <a:off x="5411585" y="493750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7" name="椭圆 36"/>
          <p:cNvSpPr/>
          <p:nvPr/>
        </p:nvSpPr>
        <p:spPr>
          <a:xfrm>
            <a:off x="6143636" y="4937509"/>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8" name="直接连接符 37"/>
          <p:cNvCxnSpPr>
            <a:stCxn id="31" idx="3"/>
            <a:endCxn id="36" idx="0"/>
          </p:cNvCxnSpPr>
          <p:nvPr/>
        </p:nvCxnSpPr>
        <p:spPr>
          <a:xfrm rot="5400000">
            <a:off x="5491829" y="4598457"/>
            <a:ext cx="410520" cy="2675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9" name="直接连接符 38"/>
          <p:cNvCxnSpPr>
            <a:stCxn id="31" idx="5"/>
            <a:endCxn id="37" idx="0"/>
          </p:cNvCxnSpPr>
          <p:nvPr/>
        </p:nvCxnSpPr>
        <p:spPr>
          <a:xfrm rot="16200000" flipH="1">
            <a:off x="5965131" y="4607292"/>
            <a:ext cx="410520" cy="24991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0" name="椭圆 39"/>
          <p:cNvSpPr/>
          <p:nvPr/>
        </p:nvSpPr>
        <p:spPr>
          <a:xfrm>
            <a:off x="6500826" y="4929198"/>
            <a:ext cx="303423" cy="355994"/>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192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42" name="直接连接符 41"/>
          <p:cNvCxnSpPr>
            <a:stCxn id="32" idx="3"/>
            <a:endCxn id="40" idx="0"/>
          </p:cNvCxnSpPr>
          <p:nvPr/>
        </p:nvCxnSpPr>
        <p:spPr>
          <a:xfrm rot="5400000">
            <a:off x="6538290" y="4641237"/>
            <a:ext cx="402209" cy="17371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3571868" y="350043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2611928" y="421481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4071934" y="428625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2254738"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3500430"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6632552" y="350043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5602276" y="4214818"/>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7102474" y="428625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5245086"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6357950" y="4714884"/>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6858016" y="5000636"/>
            <a:ext cx="142876" cy="214314"/>
          </a:xfrm>
          <a:prstGeom prst="rect">
            <a:avLst/>
          </a:prstGeom>
          <a:noFill/>
        </p:spPr>
        <p:txBody>
          <a:bodyPr wrap="square" lIns="0" tIns="0" rIns="0" bIns="0" rtlCol="0">
            <a:spAutoFit/>
          </a:bodyPr>
          <a:lstStyle/>
          <a:p>
            <a:pPr algn="l">
              <a:lnSpc>
                <a:spcPct val="100000"/>
              </a:lnSpc>
              <a:spcBef>
                <a:spcPts val="0"/>
              </a:spcBef>
            </a:pPr>
            <a:r>
              <a:rPr lang="en-US" altLang="zh-CN" sz="1400" b="0" smtClean="0">
                <a:solidFill>
                  <a:srgbClr val="FF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400" b="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灯片编号占位符 5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571472" y="428604"/>
            <a:ext cx="8072494" cy="22400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的结点有左孩子结点，则左孩子结点的编号为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的结点有右孩子结点，则右孩子结点的编号为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的结点有左兄弟结点，左兄弟结点的编号为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，若有右兄弟结点，右兄弟结点的编号为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若编号为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的结点有双亲结点，其双亲结点的编号为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3214678" y="3214686"/>
            <a:ext cx="1831798" cy="2160587"/>
            <a:chOff x="3316465" y="4005263"/>
            <a:chExt cx="1831798" cy="2160587"/>
          </a:xfrm>
        </p:grpSpPr>
        <p:sp>
          <p:nvSpPr>
            <p:cNvPr id="6" name="Line 2"/>
            <p:cNvSpPr>
              <a:spLocks noChangeShapeType="1"/>
            </p:cNvSpPr>
            <p:nvPr/>
          </p:nvSpPr>
          <p:spPr bwMode="auto">
            <a:xfrm>
              <a:off x="4356100" y="5229225"/>
              <a:ext cx="431800" cy="504825"/>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7" name="Line 3"/>
            <p:cNvSpPr>
              <a:spLocks noChangeShapeType="1"/>
            </p:cNvSpPr>
            <p:nvPr/>
          </p:nvSpPr>
          <p:spPr bwMode="auto">
            <a:xfrm flipH="1">
              <a:off x="3643305" y="5229224"/>
              <a:ext cx="423869" cy="485791"/>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8" name="Oval 5"/>
            <p:cNvSpPr>
              <a:spLocks noChangeArrowheads="1"/>
            </p:cNvSpPr>
            <p:nvPr/>
          </p:nvSpPr>
          <p:spPr bwMode="auto">
            <a:xfrm>
              <a:off x="3781424" y="4005263"/>
              <a:ext cx="820925" cy="503237"/>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400" i="1" smtClean="0">
                  <a:solidFill>
                    <a:srgbClr val="0000FF"/>
                  </a:solidFill>
                  <a:latin typeface="Consolas" panose="020B0609020204030204" pitchFamily="49" charset="0"/>
                  <a:cs typeface="Consolas" panose="020B0609020204030204" pitchFamily="49" charset="0"/>
                </a:rPr>
                <a:t>(i</a:t>
              </a:r>
              <a:r>
                <a:rPr lang="en-US" altLang="zh-CN" sz="1400" smtClean="0">
                  <a:solidFill>
                    <a:srgbClr val="0000FF"/>
                  </a:solidFill>
                  <a:latin typeface="Consolas" panose="020B0609020204030204" pitchFamily="49" charset="0"/>
                  <a:cs typeface="Consolas" panose="020B0609020204030204" pitchFamily="49" charset="0"/>
                </a:rPr>
                <a:t>-1)/2</a:t>
              </a:r>
              <a:endParaRPr lang="en-US" altLang="zh-CN" sz="1400">
                <a:solidFill>
                  <a:srgbClr val="0000FF"/>
                </a:solidFill>
                <a:latin typeface="Consolas" panose="020B0609020204030204" pitchFamily="49" charset="0"/>
                <a:cs typeface="Consolas" panose="020B0609020204030204" pitchFamily="49" charset="0"/>
              </a:endParaRPr>
            </a:p>
          </p:txBody>
        </p:sp>
        <p:sp>
          <p:nvSpPr>
            <p:cNvPr id="9" name="Oval 6"/>
            <p:cNvSpPr>
              <a:spLocks noChangeArrowheads="1"/>
            </p:cNvSpPr>
            <p:nvPr/>
          </p:nvSpPr>
          <p:spPr bwMode="auto">
            <a:xfrm>
              <a:off x="3995737" y="4941887"/>
              <a:ext cx="468000" cy="4680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i="1">
                  <a:solidFill>
                    <a:srgbClr val="0000FF"/>
                  </a:solidFill>
                  <a:latin typeface="Consolas" panose="020B0609020204030204" pitchFamily="49" charset="0"/>
                  <a:cs typeface="Consolas" panose="020B0609020204030204" pitchFamily="49" charset="0"/>
                </a:rPr>
                <a:t>i</a:t>
              </a:r>
              <a:endParaRPr lang="en-US" altLang="zh-CN" sz="1600" i="1">
                <a:solidFill>
                  <a:srgbClr val="0000FF"/>
                </a:solidFill>
                <a:latin typeface="Consolas" panose="020B0609020204030204" pitchFamily="49" charset="0"/>
                <a:cs typeface="Consolas" panose="020B0609020204030204" pitchFamily="49" charset="0"/>
              </a:endParaRPr>
            </a:p>
          </p:txBody>
        </p:sp>
        <p:sp>
          <p:nvSpPr>
            <p:cNvPr id="10" name="Line 7"/>
            <p:cNvSpPr>
              <a:spLocks noChangeShapeType="1"/>
            </p:cNvSpPr>
            <p:nvPr/>
          </p:nvSpPr>
          <p:spPr bwMode="auto">
            <a:xfrm>
              <a:off x="4211638" y="4508500"/>
              <a:ext cx="0" cy="433388"/>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sz="1600"/>
            </a:p>
          </p:txBody>
        </p:sp>
        <p:sp>
          <p:nvSpPr>
            <p:cNvPr id="11" name="Oval 8"/>
            <p:cNvSpPr>
              <a:spLocks noChangeArrowheads="1"/>
            </p:cNvSpPr>
            <p:nvPr/>
          </p:nvSpPr>
          <p:spPr bwMode="auto">
            <a:xfrm>
              <a:off x="3316465" y="5661025"/>
              <a:ext cx="576263" cy="504825"/>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smtClean="0">
                  <a:solidFill>
                    <a:srgbClr val="0000FF"/>
                  </a:solidFill>
                  <a:latin typeface="Consolas" panose="020B0609020204030204" pitchFamily="49" charset="0"/>
                  <a:cs typeface="Consolas" panose="020B0609020204030204" pitchFamily="49" charset="0"/>
                </a:rPr>
                <a:t>2</a:t>
              </a:r>
              <a:r>
                <a:rPr lang="en-US" altLang="zh-CN" sz="1600" i="1" smtClean="0">
                  <a:solidFill>
                    <a:srgbClr val="0000FF"/>
                  </a:solidFill>
                  <a:latin typeface="Consolas" panose="020B0609020204030204" pitchFamily="49" charset="0"/>
                  <a:cs typeface="Consolas" panose="020B0609020204030204" pitchFamily="49" charset="0"/>
                </a:rPr>
                <a:t>i</a:t>
              </a:r>
              <a:r>
                <a:rPr lang="en-US" altLang="zh-CN" sz="1600" smtClean="0">
                  <a:solidFill>
                    <a:srgbClr val="0000FF"/>
                  </a:solidFill>
                  <a:latin typeface="Consolas" panose="020B0609020204030204" pitchFamily="49" charset="0"/>
                  <a:cs typeface="Consolas" panose="020B0609020204030204" pitchFamily="49" charset="0"/>
                </a:rPr>
                <a:t>+1</a:t>
              </a:r>
              <a:endParaRPr lang="en-US" altLang="zh-CN" sz="1600">
                <a:solidFill>
                  <a:srgbClr val="0000FF"/>
                </a:solidFill>
                <a:latin typeface="Consolas" panose="020B0609020204030204" pitchFamily="49" charset="0"/>
                <a:cs typeface="Consolas" panose="020B0609020204030204" pitchFamily="49" charset="0"/>
              </a:endParaRPr>
            </a:p>
          </p:txBody>
        </p:sp>
        <p:sp>
          <p:nvSpPr>
            <p:cNvPr id="12" name="Oval 9"/>
            <p:cNvSpPr>
              <a:spLocks noChangeArrowheads="1"/>
            </p:cNvSpPr>
            <p:nvPr/>
          </p:nvSpPr>
          <p:spPr bwMode="auto">
            <a:xfrm>
              <a:off x="4572000" y="5661025"/>
              <a:ext cx="576263" cy="504825"/>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r>
                <a:rPr lang="en-US" altLang="zh-CN" sz="1600" smtClean="0">
                  <a:solidFill>
                    <a:srgbClr val="0000FF"/>
                  </a:solidFill>
                  <a:latin typeface="Consolas" panose="020B0609020204030204" pitchFamily="49" charset="0"/>
                  <a:cs typeface="Consolas" panose="020B0609020204030204" pitchFamily="49" charset="0"/>
                </a:rPr>
                <a:t>2</a:t>
              </a:r>
              <a:r>
                <a:rPr lang="en-US" altLang="zh-CN" sz="1600" i="1" smtClean="0">
                  <a:solidFill>
                    <a:srgbClr val="0000FF"/>
                  </a:solidFill>
                  <a:latin typeface="Consolas" panose="020B0609020204030204" pitchFamily="49" charset="0"/>
                  <a:cs typeface="Consolas" panose="020B0609020204030204" pitchFamily="49" charset="0"/>
                </a:rPr>
                <a:t>i</a:t>
              </a:r>
              <a:r>
                <a:rPr lang="en-US" altLang="zh-CN" sz="1600" smtClean="0">
                  <a:solidFill>
                    <a:srgbClr val="0000FF"/>
                  </a:solidFill>
                  <a:latin typeface="Consolas" panose="020B0609020204030204" pitchFamily="49" charset="0"/>
                  <a:cs typeface="Consolas" panose="020B0609020204030204" pitchFamily="49" charset="0"/>
                </a:rPr>
                <a:t>+2</a:t>
              </a:r>
              <a:endParaRPr lang="en-US" altLang="zh-CN" sz="1600">
                <a:solidFill>
                  <a:srgbClr val="0000FF"/>
                </a:solidFill>
                <a:latin typeface="Consolas" panose="020B0609020204030204" pitchFamily="49" charset="0"/>
                <a:cs typeface="Consolas" panose="020B0609020204030204" pitchFamily="49" charset="0"/>
              </a:endParaRPr>
            </a:p>
          </p:txBody>
        </p:sp>
      </p:grpSp>
      <p:sp>
        <p:nvSpPr>
          <p:cNvPr id="13" name="灯片编号占位符 1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1000108"/>
            <a:ext cx="8929718" cy="887422"/>
          </a:xfrm>
          <a:prstGeom prst="rect">
            <a:avLst/>
          </a:prstGeom>
          <a:noFill/>
        </p:spPr>
        <p:txBody>
          <a:bodyPr wrap="square" rtlCol="0">
            <a:spAutoFit/>
          </a:bodyPr>
          <a:lstStyle/>
          <a:p>
            <a:pPr algn="l">
              <a:lnSpc>
                <a:spcPts val="2800"/>
              </a:lnSpc>
              <a:spcBef>
                <a:spcPts val="60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性质</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5</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具有</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）结点的完全二叉树的高度为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或</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gn="l">
              <a:lnSpc>
                <a:spcPts val="2800"/>
              </a:lnSpc>
              <a:spcBef>
                <a:spcPts val="60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由完全二叉树的定义和树的性质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可推出。</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1"/>
          <p:cNvGrpSpPr/>
          <p:nvPr/>
        </p:nvGrpSpPr>
        <p:grpSpPr>
          <a:xfrm>
            <a:off x="357158" y="2500306"/>
            <a:ext cx="8358245" cy="1991544"/>
            <a:chOff x="889017" y="3325513"/>
            <a:chExt cx="8358245" cy="1991544"/>
          </a:xfrm>
        </p:grpSpPr>
        <p:sp>
          <p:nvSpPr>
            <p:cNvPr id="6" name="TextBox 5"/>
            <p:cNvSpPr txBox="1"/>
            <p:nvPr/>
          </p:nvSpPr>
          <p:spPr>
            <a:xfrm>
              <a:off x="1928793" y="3325513"/>
              <a:ext cx="7318469" cy="199154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600"/>
                </a:lnSpc>
                <a:spcBef>
                  <a:spcPts val="18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一棵完全二叉树中，由结点总数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可以确定其树形</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80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只能是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为偶数时，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为奇数时，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8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层序编号</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开始）</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的结点层次恰好为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7"/>
            <p:cNvGrpSpPr/>
            <p:nvPr/>
          </p:nvGrpSpPr>
          <p:grpSpPr>
            <a:xfrm>
              <a:off x="889017" y="3532231"/>
              <a:ext cx="896901" cy="896901"/>
              <a:chOff x="388951" y="5103867"/>
              <a:chExt cx="896901" cy="896901"/>
            </a:xfrm>
          </p:grpSpPr>
          <p:sp>
            <p:nvSpPr>
              <p:cNvPr id="9" name="椭圆 8"/>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 name="椭圆 9"/>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1" name="文本框 14"/>
              <p:cNvSpPr txBox="1"/>
              <p:nvPr/>
            </p:nvSpPr>
            <p:spPr>
              <a:xfrm>
                <a:off x="499537" y="5431228"/>
                <a:ext cx="697627" cy="338554"/>
              </a:xfrm>
              <a:prstGeom prst="rect">
                <a:avLst/>
              </a:prstGeom>
              <a:noFill/>
            </p:spPr>
            <p:txBody>
              <a:bodyPr wrap="none" rtlCol="0">
                <a:spAutoFit/>
              </a:bodyPr>
              <a:lstStyle/>
              <a:p>
                <a:r>
                  <a:rPr lang="zh-CN" altLang="en-US" sz="2000" smtClean="0">
                    <a:solidFill>
                      <a:srgbClr val="FF0000"/>
                    </a:solidFill>
                    <a:latin typeface="微软雅黑" panose="020B0503020204020204" pitchFamily="34" charset="-122"/>
                    <a:ea typeface="微软雅黑" panose="020B0503020204020204" pitchFamily="34" charset="-122"/>
                  </a:rPr>
                  <a:t>归纳</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pSp>
      </p:grpSp>
      <p:sp>
        <p:nvSpPr>
          <p:cNvPr id="12" name="灯片编号占位符 1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642918"/>
            <a:ext cx="7929618"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7.5</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一棵含有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882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个结点的二叉树中有</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365</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个叶子结点，求度为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的结点个数和度为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的结点个数。</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857224" y="3622858"/>
            <a:ext cx="7215238" cy="17799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由二叉树的性质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-1=364</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=882-365-364=153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所以该二叉树中度为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的结点和度为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的结点个数分别是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153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364</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85786" y="2908478"/>
            <a:ext cx="32147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这里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=882</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=365</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6" name="Picture 2"/>
          <p:cNvPicPr>
            <a:picLocks noChangeAspect="1" noChangeArrowheads="1"/>
          </p:cNvPicPr>
          <p:nvPr/>
        </p:nvPicPr>
        <p:blipFill>
          <a:blip r:embed="rId2" cstate="print"/>
          <a:srcRect/>
          <a:stretch>
            <a:fillRect/>
          </a:stretch>
        </p:blipFill>
        <p:spPr bwMode="auto">
          <a:xfrm>
            <a:off x="428596" y="1785926"/>
            <a:ext cx="1643074" cy="796023"/>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71472" y="500042"/>
            <a:ext cx="400052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7.2.3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二叉树存储结构</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3" name="TextBox 32"/>
          <p:cNvSpPr txBox="1"/>
          <p:nvPr/>
        </p:nvSpPr>
        <p:spPr>
          <a:xfrm>
            <a:off x="785786" y="1357298"/>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二叉树的顺序存储结构</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34" name="Text Box 4"/>
          <p:cNvSpPr txBox="1">
            <a:spLocks noChangeArrowheads="1"/>
          </p:cNvSpPr>
          <p:nvPr/>
        </p:nvSpPr>
        <p:spPr bwMode="auto">
          <a:xfrm>
            <a:off x="500034" y="2143116"/>
            <a:ext cx="8358246" cy="242384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3200"/>
              </a:lnSpc>
              <a:spcBef>
                <a:spcPct val="500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顺序</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存储一棵二叉树时，就是用一组连续的存储单元存放二</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叉</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200"/>
              </a:lnSpc>
              <a:spcBef>
                <a:spcPct val="500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二叉树的性质</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可知，对于</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完全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二叉树（或满二叉树），</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层序编号</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可以唯一地反映出结点之间的逻辑关系，所以可以用一维数组按从上到下、从左到右的顺序存储树中所有结点值，通过数组元素的下标关系反映完全二叉树或满二叉树中结点之间的逻辑关系。</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785786" y="357166"/>
            <a:ext cx="4714908" cy="453183"/>
          </a:xfrm>
          <a:prstGeom prst="rect">
            <a:avLst/>
          </a:prstGeom>
          <a:blipFill>
            <a:blip r:embed="rId1" cstate="print"/>
            <a:tile tx="0" ty="0" sx="100000" sy="100000" flip="none" algn="tl"/>
          </a:blipFill>
          <a:ln w="9525">
            <a:noFill/>
            <a:miter lim="800000"/>
          </a:ln>
        </p:spPr>
        <p:txBody>
          <a:bodyPr wrap="square" lIns="180000" tIns="72000" bIns="72000">
            <a:spAutoFit/>
          </a:bodyPr>
          <a:lstStyle/>
          <a:p>
            <a:pPr marL="457200" indent="-457200" algn="l">
              <a:lnSpc>
                <a:spcPct val="100000"/>
              </a:lnSpc>
              <a:spcBef>
                <a:spcPct val="50000"/>
              </a:spcBef>
              <a:buBlip>
                <a:blip r:embed="rId2"/>
              </a:buBlip>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一棵完全二叉树的顺序存储结构 </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AutoShape 6"/>
          <p:cNvSpPr>
            <a:spLocks noChangeArrowheads="1"/>
          </p:cNvSpPr>
          <p:nvPr/>
        </p:nvSpPr>
        <p:spPr bwMode="auto">
          <a:xfrm>
            <a:off x="4714876" y="3857628"/>
            <a:ext cx="285752" cy="431800"/>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vert="eaVert" wrap="none" anchor="ctr"/>
          <a:lstStyle/>
          <a:p>
            <a:endParaRPr lang="zh-CN" altLang="en-US"/>
          </a:p>
        </p:txBody>
      </p:sp>
      <p:graphicFrame>
        <p:nvGraphicFramePr>
          <p:cNvPr id="7" name="表格 6"/>
          <p:cNvGraphicFramePr>
            <a:graphicFrameLocks noGrp="1"/>
          </p:cNvGraphicFramePr>
          <p:nvPr/>
        </p:nvGraphicFramePr>
        <p:xfrm>
          <a:off x="1357297" y="4643446"/>
          <a:ext cx="7429545" cy="741680"/>
        </p:xfrm>
        <a:graphic>
          <a:graphicData uri="http://schemas.openxmlformats.org/drawingml/2006/table">
            <a:tbl>
              <a:tblPr firstRow="1" bandRow="1">
                <a:tableStyleId>{5A111915-BE36-4E01-A7E5-04B1672EAD32}</a:tableStyleId>
              </a:tblPr>
              <a:tblGrid>
                <a:gridCol w="495303"/>
                <a:gridCol w="495303"/>
                <a:gridCol w="495303"/>
                <a:gridCol w="495303"/>
                <a:gridCol w="495303"/>
                <a:gridCol w="495303"/>
                <a:gridCol w="495303"/>
                <a:gridCol w="495303"/>
                <a:gridCol w="495303"/>
                <a:gridCol w="495303"/>
                <a:gridCol w="495303"/>
                <a:gridCol w="495303"/>
                <a:gridCol w="495303"/>
                <a:gridCol w="495303"/>
                <a:gridCol w="495303"/>
              </a:tblGrid>
              <a:tr h="370840">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5</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6</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7</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8</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9</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宋体" panose="02010600030101010101" pitchFamily="2" charset="-122"/>
                          <a:ea typeface="宋体" panose="02010600030101010101" pitchFamily="2" charset="-122"/>
                          <a:cs typeface="Consolas" panose="020B0609020204030204" pitchFamily="49" charset="0"/>
                        </a:rPr>
                        <a:t>…</a:t>
                      </a:r>
                      <a:endParaRPr lang="zh-CN" altLang="en-US" sz="1600" b="0">
                        <a:solidFill>
                          <a:schemeClr val="bg1">
                            <a:lumMod val="50000"/>
                          </a:schemeClr>
                        </a:solidFill>
                        <a:latin typeface="宋体" panose="02010600030101010101" pitchFamily="2" charset="-122"/>
                        <a:ea typeface="宋体" panose="02010600030101010101" pitchFamily="2" charset="-122"/>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A</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B</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C</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D</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E</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F</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G</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H</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I</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J</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K</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8" name="TextBox 7"/>
          <p:cNvSpPr txBox="1"/>
          <p:nvPr/>
        </p:nvSpPr>
        <p:spPr>
          <a:xfrm>
            <a:off x="642910" y="4760170"/>
            <a:ext cx="642942" cy="267766"/>
          </a:xfrm>
          <a:prstGeom prst="rect">
            <a:avLst/>
          </a:prstGeom>
          <a:noFill/>
        </p:spPr>
        <p:txBody>
          <a:bodyPr wrap="square" lIns="0" tIns="0" rIns="0" rtlCol="0">
            <a:spAutoFit/>
          </a:bodyPr>
          <a:lstStyle/>
          <a:p>
            <a:r>
              <a:rPr lang="zh-CN" altLang="en-US" sz="1800" smtClean="0">
                <a:solidFill>
                  <a:srgbClr val="0000FF"/>
                </a:solidFill>
                <a:latin typeface="仿宋" panose="02010609060101010101" pitchFamily="49" charset="-122"/>
                <a:ea typeface="仿宋" panose="02010609060101010101" pitchFamily="49" charset="-122"/>
              </a:rPr>
              <a:t>位置</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9" name="TextBox 8"/>
          <p:cNvSpPr txBox="1"/>
          <p:nvPr/>
        </p:nvSpPr>
        <p:spPr>
          <a:xfrm>
            <a:off x="714348" y="5053809"/>
            <a:ext cx="571504" cy="317908"/>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sb</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5"/>
          <p:cNvGrpSpPr/>
          <p:nvPr/>
        </p:nvGrpSpPr>
        <p:grpSpPr>
          <a:xfrm>
            <a:off x="2207629" y="1263835"/>
            <a:ext cx="4721825" cy="2450917"/>
            <a:chOff x="1626839" y="2335405"/>
            <a:chExt cx="5558534" cy="2950983"/>
          </a:xfrm>
        </p:grpSpPr>
        <p:sp>
          <p:nvSpPr>
            <p:cNvPr id="47" name="椭圆 46"/>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48" name="椭圆 47"/>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49" name="椭圆 48"/>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0" name="椭圆 49"/>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1" name="椭圆 50"/>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52" name="直接连接符 51"/>
            <p:cNvCxnSpPr>
              <a:stCxn id="49" idx="3"/>
              <a:endCxn id="50"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53" name="直接连接符 52"/>
            <p:cNvCxnSpPr>
              <a:stCxn id="49" idx="5"/>
              <a:endCxn id="51"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54" name="椭圆 53"/>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5" name="椭圆 54"/>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6" name="椭圆 55"/>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57" name="直接连接符 56"/>
            <p:cNvCxnSpPr>
              <a:stCxn id="54" idx="3"/>
              <a:endCxn id="55"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58" name="直接连接符 57"/>
            <p:cNvCxnSpPr>
              <a:stCxn id="54" idx="5"/>
              <a:endCxn id="56"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59" name="直接连接符 58"/>
            <p:cNvCxnSpPr>
              <a:stCxn id="48" idx="3"/>
              <a:endCxn id="49"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60" name="直接连接符 59"/>
            <p:cNvCxnSpPr>
              <a:stCxn id="48" idx="5"/>
              <a:endCxn id="54"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61" name="椭圆 60"/>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62" name="椭圆 61"/>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63" name="椭圆 62"/>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64" name="直接连接符 63"/>
            <p:cNvCxnSpPr>
              <a:stCxn id="61" idx="3"/>
              <a:endCxn id="62"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65" name="直接连接符 64"/>
            <p:cNvCxnSpPr>
              <a:stCxn id="61" idx="5"/>
              <a:endCxn id="63"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66" name="直接连接符 65"/>
            <p:cNvCxnSpPr>
              <a:stCxn id="47" idx="2"/>
              <a:endCxn id="48"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67" name="直接连接符 66"/>
            <p:cNvCxnSpPr>
              <a:stCxn id="47" idx="6"/>
              <a:endCxn id="61"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4214810" y="233540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9" name="TextBox 68"/>
            <p:cNvSpPr txBox="1"/>
            <p:nvPr/>
          </p:nvSpPr>
          <p:spPr>
            <a:xfrm>
              <a:off x="2720097" y="33355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0" name="TextBox 69"/>
            <p:cNvSpPr txBox="1"/>
            <p:nvPr/>
          </p:nvSpPr>
          <p:spPr>
            <a:xfrm>
              <a:off x="2131420" y="392906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1" name="TextBox 70"/>
            <p:cNvSpPr txBox="1"/>
            <p:nvPr/>
          </p:nvSpPr>
          <p:spPr>
            <a:xfrm>
              <a:off x="1626839" y="483573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2" name="TextBox 71"/>
            <p:cNvSpPr txBox="1"/>
            <p:nvPr/>
          </p:nvSpPr>
          <p:spPr>
            <a:xfrm>
              <a:off x="2459664" y="4786322"/>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3" name="TextBox 72"/>
            <p:cNvSpPr txBox="1"/>
            <p:nvPr/>
          </p:nvSpPr>
          <p:spPr>
            <a:xfrm>
              <a:off x="3729260" y="3857628"/>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4" name="TextBox 73"/>
            <p:cNvSpPr txBox="1"/>
            <p:nvPr/>
          </p:nvSpPr>
          <p:spPr>
            <a:xfrm>
              <a:off x="3071802" y="463913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5" name="TextBox 74"/>
            <p:cNvSpPr txBox="1"/>
            <p:nvPr/>
          </p:nvSpPr>
          <p:spPr>
            <a:xfrm>
              <a:off x="3799245" y="47236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6" name="TextBox 75"/>
            <p:cNvSpPr txBox="1"/>
            <p:nvPr/>
          </p:nvSpPr>
          <p:spPr>
            <a:xfrm>
              <a:off x="6252164" y="330807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7" name="TextBox 76"/>
            <p:cNvSpPr txBox="1"/>
            <p:nvPr/>
          </p:nvSpPr>
          <p:spPr>
            <a:xfrm>
              <a:off x="5149628" y="392496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8" name="TextBox 77"/>
            <p:cNvSpPr txBox="1"/>
            <p:nvPr/>
          </p:nvSpPr>
          <p:spPr>
            <a:xfrm>
              <a:off x="6756745" y="3879653"/>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42" name="TextBox 41"/>
          <p:cNvSpPr txBox="1"/>
          <p:nvPr/>
        </p:nvSpPr>
        <p:spPr>
          <a:xfrm>
            <a:off x="928662" y="5643578"/>
            <a:ext cx="2000264" cy="338554"/>
          </a:xfrm>
          <a:prstGeom prst="rect">
            <a:avLst/>
          </a:prstGeom>
          <a:noFill/>
        </p:spPr>
        <p:txBody>
          <a:bodyPr wrap="square" rtlCol="0">
            <a:spAutoFit/>
          </a:bodyPr>
          <a:lstStyle/>
          <a:p>
            <a:pPr algn="l">
              <a:lnSpc>
                <a:spcPct val="100000"/>
              </a:lnSpc>
              <a:spcBef>
                <a:spcPts val="0"/>
              </a:spcBef>
            </a:pP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sb</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的下标从</a:t>
            </a: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开始</a:t>
            </a:r>
            <a:endPar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44" name="直接箭头连接符 43"/>
          <p:cNvCxnSpPr/>
          <p:nvPr/>
        </p:nvCxnSpPr>
        <p:spPr>
          <a:xfrm rot="5400000" flipH="1" flipV="1">
            <a:off x="1535885" y="5536421"/>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灯片编号占位符 4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a:spLocks noChangeArrowheads="1"/>
          </p:cNvSpPr>
          <p:nvPr/>
        </p:nvSpPr>
        <p:spPr bwMode="auto">
          <a:xfrm>
            <a:off x="4714876" y="3451025"/>
            <a:ext cx="285752" cy="431800"/>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vert="eaVert" wrap="none" anchor="ctr"/>
          <a:lstStyle/>
          <a:p>
            <a:endParaRPr lang="zh-CN" altLang="en-US"/>
          </a:p>
        </p:txBody>
      </p:sp>
      <p:graphicFrame>
        <p:nvGraphicFramePr>
          <p:cNvPr id="7" name="表格 6"/>
          <p:cNvGraphicFramePr>
            <a:graphicFrameLocks noGrp="1"/>
          </p:cNvGraphicFramePr>
          <p:nvPr/>
        </p:nvGraphicFramePr>
        <p:xfrm>
          <a:off x="1357297" y="4236843"/>
          <a:ext cx="7429545" cy="741680"/>
        </p:xfrm>
        <a:graphic>
          <a:graphicData uri="http://schemas.openxmlformats.org/drawingml/2006/table">
            <a:tbl>
              <a:tblPr firstRow="1" bandRow="1">
                <a:tableStyleId>{5A111915-BE36-4E01-A7E5-04B1672EAD32}</a:tableStyleId>
              </a:tblPr>
              <a:tblGrid>
                <a:gridCol w="495303"/>
                <a:gridCol w="495303"/>
                <a:gridCol w="495303"/>
                <a:gridCol w="495303"/>
                <a:gridCol w="495303"/>
                <a:gridCol w="495303"/>
                <a:gridCol w="495303"/>
                <a:gridCol w="495303"/>
                <a:gridCol w="495303"/>
                <a:gridCol w="495303"/>
                <a:gridCol w="495303"/>
                <a:gridCol w="495303"/>
                <a:gridCol w="495303"/>
                <a:gridCol w="495303"/>
                <a:gridCol w="495303"/>
              </a:tblGrid>
              <a:tr h="370840">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5</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6</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7</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8</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9</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0" smtClean="0">
                          <a:solidFill>
                            <a:schemeClr val="bg1">
                              <a:lumMod val="50000"/>
                            </a:schemeClr>
                          </a:solidFill>
                          <a:latin typeface="宋体" panose="02010600030101010101" pitchFamily="2" charset="-122"/>
                          <a:ea typeface="宋体" panose="02010600030101010101" pitchFamily="2" charset="-122"/>
                          <a:cs typeface="Consolas" panose="020B0609020204030204" pitchFamily="49" charset="0"/>
                        </a:rPr>
                        <a:t>…</a:t>
                      </a:r>
                      <a:endParaRPr lang="zh-CN" altLang="en-US" sz="1600" b="0">
                        <a:solidFill>
                          <a:schemeClr val="bg1">
                            <a:lumMod val="50000"/>
                          </a:schemeClr>
                        </a:solidFill>
                        <a:latin typeface="宋体" panose="02010600030101010101" pitchFamily="2" charset="-122"/>
                        <a:ea typeface="宋体" panose="02010600030101010101" pitchFamily="2" charset="-122"/>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A</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B</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C</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D</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E</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F</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G</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H</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I</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J</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K</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8" name="TextBox 7"/>
          <p:cNvSpPr txBox="1"/>
          <p:nvPr/>
        </p:nvSpPr>
        <p:spPr>
          <a:xfrm>
            <a:off x="642910" y="4336701"/>
            <a:ext cx="642942" cy="267766"/>
          </a:xfrm>
          <a:prstGeom prst="rect">
            <a:avLst/>
          </a:prstGeom>
          <a:noFill/>
        </p:spPr>
        <p:txBody>
          <a:bodyPr wrap="square" lIns="0" tIns="0" rIns="0" rtlCol="0">
            <a:spAutoFit/>
          </a:bodyPr>
          <a:lstStyle/>
          <a:p>
            <a:r>
              <a:rPr lang="zh-CN" altLang="en-US" sz="1800" smtClean="0">
                <a:solidFill>
                  <a:srgbClr val="0000FF"/>
                </a:solidFill>
                <a:latin typeface="仿宋" panose="02010609060101010101" pitchFamily="49" charset="-122"/>
                <a:ea typeface="仿宋" panose="02010609060101010101" pitchFamily="49" charset="-122"/>
              </a:rPr>
              <a:t>位置</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9" name="TextBox 8"/>
          <p:cNvSpPr txBox="1"/>
          <p:nvPr/>
        </p:nvSpPr>
        <p:spPr>
          <a:xfrm>
            <a:off x="714348" y="4630340"/>
            <a:ext cx="571504" cy="317908"/>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sb</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5"/>
          <p:cNvGrpSpPr/>
          <p:nvPr/>
        </p:nvGrpSpPr>
        <p:grpSpPr>
          <a:xfrm>
            <a:off x="2207629" y="857232"/>
            <a:ext cx="4721825" cy="2450917"/>
            <a:chOff x="1626839" y="2335405"/>
            <a:chExt cx="5558534" cy="2950983"/>
          </a:xfrm>
        </p:grpSpPr>
        <p:sp>
          <p:nvSpPr>
            <p:cNvPr id="47" name="椭圆 46"/>
            <p:cNvSpPr/>
            <p:nvPr/>
          </p:nvSpPr>
          <p:spPr>
            <a:xfrm>
              <a:off x="4429124" y="2500306"/>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48" name="椭圆 47"/>
            <p:cNvSpPr/>
            <p:nvPr/>
          </p:nvSpPr>
          <p:spPr>
            <a:xfrm>
              <a:off x="3000364"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49" name="椭圆 48"/>
            <p:cNvSpPr/>
            <p:nvPr/>
          </p:nvSpPr>
          <p:spPr>
            <a:xfrm>
              <a:off x="2285984"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0" name="椭圆 49"/>
            <p:cNvSpPr/>
            <p:nvPr/>
          </p:nvSpPr>
          <p:spPr>
            <a:xfrm>
              <a:off x="192879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1" name="椭圆 50"/>
            <p:cNvSpPr/>
            <p:nvPr/>
          </p:nvSpPr>
          <p:spPr>
            <a:xfrm>
              <a:off x="2714612"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52" name="直接连接符 51"/>
            <p:cNvCxnSpPr>
              <a:stCxn id="49" idx="3"/>
              <a:endCxn id="50" idx="0"/>
            </p:cNvCxnSpPr>
            <p:nvPr/>
          </p:nvCxnSpPr>
          <p:spPr>
            <a:xfrm rot="5400000">
              <a:off x="2012861"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53" name="直接连接符 52"/>
            <p:cNvCxnSpPr>
              <a:stCxn id="49" idx="5"/>
              <a:endCxn id="51" idx="0"/>
            </p:cNvCxnSpPr>
            <p:nvPr/>
          </p:nvCxnSpPr>
          <p:spPr>
            <a:xfrm rot="16200000" flipH="1">
              <a:off x="2532056"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sp>
          <p:nvSpPr>
            <p:cNvPr id="54" name="椭圆 53"/>
            <p:cNvSpPr/>
            <p:nvPr/>
          </p:nvSpPr>
          <p:spPr>
            <a:xfrm>
              <a:off x="3643306"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5" name="椭圆 54"/>
            <p:cNvSpPr/>
            <p:nvPr/>
          </p:nvSpPr>
          <p:spPr>
            <a:xfrm>
              <a:off x="3286116"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J</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56" name="椭圆 55"/>
            <p:cNvSpPr/>
            <p:nvPr/>
          </p:nvSpPr>
          <p:spPr>
            <a:xfrm>
              <a:off x="4071934" y="4857760"/>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K</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57" name="直接连接符 56"/>
            <p:cNvCxnSpPr>
              <a:stCxn id="54" idx="3"/>
              <a:endCxn id="55" idx="0"/>
            </p:cNvCxnSpPr>
            <p:nvPr/>
          </p:nvCxnSpPr>
          <p:spPr>
            <a:xfrm rot="5400000">
              <a:off x="3370183" y="4532327"/>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58" name="直接连接符 57"/>
            <p:cNvCxnSpPr>
              <a:stCxn id="54" idx="5"/>
              <a:endCxn id="56" idx="0"/>
            </p:cNvCxnSpPr>
            <p:nvPr/>
          </p:nvCxnSpPr>
          <p:spPr>
            <a:xfrm rot="16200000" flipH="1">
              <a:off x="3889378" y="4496608"/>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59" name="直接连接符 58"/>
            <p:cNvCxnSpPr>
              <a:stCxn id="48" idx="3"/>
              <a:endCxn id="49" idx="7"/>
            </p:cNvCxnSpPr>
            <p:nvPr/>
          </p:nvCxnSpPr>
          <p:spPr>
            <a:xfrm rot="5400000">
              <a:off x="2616122"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60" name="直接连接符 59"/>
            <p:cNvCxnSpPr>
              <a:stCxn id="48" idx="5"/>
              <a:endCxn id="54" idx="1"/>
            </p:cNvCxnSpPr>
            <p:nvPr/>
          </p:nvCxnSpPr>
          <p:spPr>
            <a:xfrm rot="16200000" flipH="1">
              <a:off x="3294783"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61" name="椭圆 60"/>
            <p:cNvSpPr/>
            <p:nvPr/>
          </p:nvSpPr>
          <p:spPr>
            <a:xfrm>
              <a:off x="6000760" y="335756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62" name="椭圆 61"/>
            <p:cNvSpPr/>
            <p:nvPr/>
          </p:nvSpPr>
          <p:spPr>
            <a:xfrm>
              <a:off x="5286380"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63" name="椭圆 62"/>
            <p:cNvSpPr/>
            <p:nvPr/>
          </p:nvSpPr>
          <p:spPr>
            <a:xfrm>
              <a:off x="6643702" y="4071942"/>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64" name="直接连接符 63"/>
            <p:cNvCxnSpPr>
              <a:stCxn id="61" idx="3"/>
              <a:endCxn id="62" idx="7"/>
            </p:cNvCxnSpPr>
            <p:nvPr/>
          </p:nvCxnSpPr>
          <p:spPr>
            <a:xfrm rot="5400000">
              <a:off x="5616518" y="3698162"/>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65" name="直接连接符 64"/>
            <p:cNvCxnSpPr>
              <a:stCxn id="61" idx="5"/>
              <a:endCxn id="63" idx="1"/>
            </p:cNvCxnSpPr>
            <p:nvPr/>
          </p:nvCxnSpPr>
          <p:spPr>
            <a:xfrm rot="16200000" flipH="1">
              <a:off x="6295179" y="3733881"/>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66" name="直接连接符 65"/>
            <p:cNvCxnSpPr>
              <a:stCxn id="47" idx="2"/>
              <a:endCxn id="48" idx="7"/>
            </p:cNvCxnSpPr>
            <p:nvPr/>
          </p:nvCxnSpPr>
          <p:spPr>
            <a:xfrm rot="10800000" flipV="1">
              <a:off x="3305246" y="2714619"/>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67" name="直接连接符 66"/>
            <p:cNvCxnSpPr>
              <a:stCxn id="47" idx="6"/>
              <a:endCxn id="61" idx="1"/>
            </p:cNvCxnSpPr>
            <p:nvPr/>
          </p:nvCxnSpPr>
          <p:spPr>
            <a:xfrm>
              <a:off x="4786314" y="2714620"/>
              <a:ext cx="1266755" cy="705713"/>
            </a:xfrm>
            <a:prstGeom prst="line">
              <a:avLst/>
            </a:prstGeom>
            <a:ln w="19050"/>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4214810" y="233540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9" name="TextBox 68"/>
            <p:cNvSpPr txBox="1"/>
            <p:nvPr/>
          </p:nvSpPr>
          <p:spPr>
            <a:xfrm>
              <a:off x="2720097" y="33355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0" name="TextBox 69"/>
            <p:cNvSpPr txBox="1"/>
            <p:nvPr/>
          </p:nvSpPr>
          <p:spPr>
            <a:xfrm>
              <a:off x="2131420" y="392906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1" name="TextBox 70"/>
            <p:cNvSpPr txBox="1"/>
            <p:nvPr/>
          </p:nvSpPr>
          <p:spPr>
            <a:xfrm>
              <a:off x="1626839" y="483573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2" name="TextBox 71"/>
            <p:cNvSpPr txBox="1"/>
            <p:nvPr/>
          </p:nvSpPr>
          <p:spPr>
            <a:xfrm>
              <a:off x="2459664" y="4786322"/>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3" name="TextBox 72"/>
            <p:cNvSpPr txBox="1"/>
            <p:nvPr/>
          </p:nvSpPr>
          <p:spPr>
            <a:xfrm>
              <a:off x="3729260" y="3857628"/>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4" name="TextBox 73"/>
            <p:cNvSpPr txBox="1"/>
            <p:nvPr/>
          </p:nvSpPr>
          <p:spPr>
            <a:xfrm>
              <a:off x="3071802" y="4639136"/>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5" name="TextBox 74"/>
            <p:cNvSpPr txBox="1"/>
            <p:nvPr/>
          </p:nvSpPr>
          <p:spPr>
            <a:xfrm>
              <a:off x="3799245" y="4723637"/>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6" name="TextBox 75"/>
            <p:cNvSpPr txBox="1"/>
            <p:nvPr/>
          </p:nvSpPr>
          <p:spPr>
            <a:xfrm>
              <a:off x="6252164" y="3308074"/>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7" name="TextBox 76"/>
            <p:cNvSpPr txBox="1"/>
            <p:nvPr/>
          </p:nvSpPr>
          <p:spPr>
            <a:xfrm>
              <a:off x="5149628" y="3924965"/>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78" name="TextBox 77"/>
            <p:cNvSpPr txBox="1"/>
            <p:nvPr/>
          </p:nvSpPr>
          <p:spPr>
            <a:xfrm>
              <a:off x="6756745" y="3879653"/>
              <a:ext cx="428628" cy="211227"/>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42" name="TextBox 41"/>
          <p:cNvSpPr txBox="1"/>
          <p:nvPr/>
        </p:nvSpPr>
        <p:spPr>
          <a:xfrm>
            <a:off x="500034" y="928670"/>
            <a:ext cx="78581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928662" y="5233586"/>
            <a:ext cx="2000264" cy="338554"/>
          </a:xfrm>
          <a:prstGeom prst="rect">
            <a:avLst/>
          </a:prstGeom>
          <a:noFill/>
        </p:spPr>
        <p:txBody>
          <a:bodyPr wrap="square" rtlCol="0">
            <a:spAutoFit/>
          </a:bodyPr>
          <a:lstStyle/>
          <a:p>
            <a:pPr algn="l">
              <a:lnSpc>
                <a:spcPct val="100000"/>
              </a:lnSpc>
              <a:spcBef>
                <a:spcPts val="0"/>
              </a:spcBef>
            </a:pP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sb</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的下标从</a:t>
            </a: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0</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开始</a:t>
            </a:r>
            <a:endPar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44" name="直接箭头连接符 43"/>
          <p:cNvCxnSpPr/>
          <p:nvPr/>
        </p:nvCxnSpPr>
        <p:spPr>
          <a:xfrm rot="5400000" flipH="1" flipV="1">
            <a:off x="1535885" y="5126429"/>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6" name="TextBox 45"/>
          <p:cNvSpPr txBox="1"/>
          <p:nvPr/>
        </p:nvSpPr>
        <p:spPr>
          <a:xfrm>
            <a:off x="1643042" y="5786454"/>
            <a:ext cx="4714908"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cs typeface="Consolas" panose="020B0609020204030204" pitchFamily="49" charset="0"/>
              </a:rPr>
              <a:t>string sb="ABCDEFGHIJK####";</a:t>
            </a:r>
            <a:endParaRPr lang="zh-CN" altLang="zh-CN" sz="1800" smtClean="0">
              <a:solidFill>
                <a:srgbClr val="0000FF"/>
              </a:solidFill>
              <a:latin typeface="Consolas" panose="020B0609020204030204" pitchFamily="49" charset="0"/>
              <a:cs typeface="Consolas" panose="020B0609020204030204" pitchFamily="49" charset="0"/>
            </a:endParaRPr>
          </a:p>
        </p:txBody>
      </p:sp>
      <p:sp>
        <p:nvSpPr>
          <p:cNvPr id="79" name="灯片编号占位符 7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714348" y="928670"/>
            <a:ext cx="3786214" cy="2263991"/>
            <a:chOff x="2285984" y="879257"/>
            <a:chExt cx="4714908" cy="2786082"/>
          </a:xfrm>
        </p:grpSpPr>
        <p:sp>
          <p:nvSpPr>
            <p:cNvPr id="6" name="椭圆 5"/>
            <p:cNvSpPr/>
            <p:nvPr/>
          </p:nvSpPr>
          <p:spPr>
            <a:xfrm>
              <a:off x="4429124" y="879257"/>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7" name="椭圆 6"/>
            <p:cNvSpPr/>
            <p:nvPr/>
          </p:nvSpPr>
          <p:spPr>
            <a:xfrm>
              <a:off x="3000364" y="1736513"/>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2285984" y="2450893"/>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3643306" y="2450893"/>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3286116" y="3236711"/>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071934" y="3236711"/>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2" name="直接连接符 11"/>
            <p:cNvCxnSpPr>
              <a:stCxn id="9" idx="3"/>
              <a:endCxn id="10" idx="0"/>
            </p:cNvCxnSpPr>
            <p:nvPr/>
          </p:nvCxnSpPr>
          <p:spPr>
            <a:xfrm rot="5400000">
              <a:off x="3370183" y="2911278"/>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9" idx="5"/>
              <a:endCxn id="11" idx="0"/>
            </p:cNvCxnSpPr>
            <p:nvPr/>
          </p:nvCxnSpPr>
          <p:spPr>
            <a:xfrm rot="16200000" flipH="1">
              <a:off x="3889378" y="2875559"/>
              <a:ext cx="419961" cy="302342"/>
            </a:xfrm>
            <a:prstGeom prst="line">
              <a:avLst/>
            </a:prstGeom>
            <a:ln w="19050"/>
          </p:spPr>
          <p:style>
            <a:lnRef idx="2">
              <a:schemeClr val="dk1"/>
            </a:lnRef>
            <a:fillRef idx="0">
              <a:schemeClr val="dk1"/>
            </a:fillRef>
            <a:effectRef idx="1">
              <a:schemeClr val="dk1"/>
            </a:effectRef>
            <a:fontRef idx="minor">
              <a:schemeClr val="tx1"/>
            </a:fontRef>
          </p:style>
        </p:cxnSp>
        <p:cxnSp>
          <p:nvCxnSpPr>
            <p:cNvPr id="14" name="直接连接符 13"/>
            <p:cNvCxnSpPr>
              <a:stCxn id="7" idx="3"/>
              <a:endCxn id="8" idx="7"/>
            </p:cNvCxnSpPr>
            <p:nvPr/>
          </p:nvCxnSpPr>
          <p:spPr>
            <a:xfrm rot="5400000">
              <a:off x="2616122" y="2077113"/>
              <a:ext cx="411294" cy="461808"/>
            </a:xfrm>
            <a:prstGeom prst="line">
              <a:avLst/>
            </a:prstGeom>
            <a:ln w="19050"/>
          </p:spPr>
          <p:style>
            <a:lnRef idx="2">
              <a:schemeClr val="dk1"/>
            </a:lnRef>
            <a:fillRef idx="0">
              <a:schemeClr val="dk1"/>
            </a:fillRef>
            <a:effectRef idx="1">
              <a:schemeClr val="dk1"/>
            </a:effectRef>
            <a:fontRef idx="minor">
              <a:schemeClr val="tx1"/>
            </a:fontRef>
          </p:style>
        </p:cxnSp>
        <p:cxnSp>
          <p:nvCxnSpPr>
            <p:cNvPr id="15" name="直接连接符 14"/>
            <p:cNvCxnSpPr>
              <a:stCxn id="7" idx="5"/>
              <a:endCxn id="9" idx="1"/>
            </p:cNvCxnSpPr>
            <p:nvPr/>
          </p:nvCxnSpPr>
          <p:spPr>
            <a:xfrm rot="16200000" flipH="1">
              <a:off x="3294783" y="2112832"/>
              <a:ext cx="411294" cy="390370"/>
            </a:xfrm>
            <a:prstGeom prst="line">
              <a:avLst/>
            </a:prstGeom>
            <a:ln w="19050"/>
          </p:spPr>
          <p:style>
            <a:lnRef idx="2">
              <a:schemeClr val="dk1"/>
            </a:lnRef>
            <a:fillRef idx="0">
              <a:schemeClr val="dk1"/>
            </a:fillRef>
            <a:effectRef idx="1">
              <a:schemeClr val="dk1"/>
            </a:effectRef>
            <a:fontRef idx="minor">
              <a:schemeClr val="tx1"/>
            </a:fontRef>
          </p:style>
        </p:cxnSp>
        <p:sp>
          <p:nvSpPr>
            <p:cNvPr id="16" name="椭圆 15"/>
            <p:cNvSpPr/>
            <p:nvPr/>
          </p:nvSpPr>
          <p:spPr>
            <a:xfrm>
              <a:off x="6000760" y="1736513"/>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7" name="椭圆 16"/>
            <p:cNvSpPr/>
            <p:nvPr/>
          </p:nvSpPr>
          <p:spPr>
            <a:xfrm>
              <a:off x="6643702" y="2450893"/>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椭圆 17"/>
            <p:cNvSpPr/>
            <p:nvPr/>
          </p:nvSpPr>
          <p:spPr>
            <a:xfrm>
              <a:off x="6286512" y="3236711"/>
              <a:ext cx="357190" cy="42862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19" name="直接连接符 18"/>
            <p:cNvCxnSpPr>
              <a:stCxn id="17" idx="3"/>
              <a:endCxn id="18" idx="0"/>
            </p:cNvCxnSpPr>
            <p:nvPr/>
          </p:nvCxnSpPr>
          <p:spPr>
            <a:xfrm rot="5400000">
              <a:off x="6370579" y="2911278"/>
              <a:ext cx="419961" cy="230904"/>
            </a:xfrm>
            <a:prstGeom prst="line">
              <a:avLst/>
            </a:prstGeom>
            <a:ln w="19050"/>
          </p:spPr>
          <p:style>
            <a:lnRef idx="2">
              <a:schemeClr val="dk1"/>
            </a:lnRef>
            <a:fillRef idx="0">
              <a:schemeClr val="dk1"/>
            </a:fillRef>
            <a:effectRef idx="1">
              <a:schemeClr val="dk1"/>
            </a:effectRef>
            <a:fontRef idx="minor">
              <a:schemeClr val="tx1"/>
            </a:fontRef>
          </p:style>
        </p:cxnSp>
        <p:cxnSp>
          <p:nvCxnSpPr>
            <p:cNvPr id="20" name="直接连接符 19"/>
            <p:cNvCxnSpPr>
              <a:stCxn id="16" idx="5"/>
              <a:endCxn id="17" idx="1"/>
            </p:cNvCxnSpPr>
            <p:nvPr/>
          </p:nvCxnSpPr>
          <p:spPr>
            <a:xfrm rot="16200000" flipH="1">
              <a:off x="6295179" y="2112832"/>
              <a:ext cx="411294" cy="390370"/>
            </a:xfrm>
            <a:prstGeom prst="line">
              <a:avLst/>
            </a:prstGeom>
            <a:ln w="19050"/>
          </p:spPr>
          <p:style>
            <a:lnRef idx="2">
              <a:schemeClr val="dk1"/>
            </a:lnRef>
            <a:fillRef idx="0">
              <a:schemeClr val="dk1"/>
            </a:fillRef>
            <a:effectRef idx="1">
              <a:schemeClr val="dk1"/>
            </a:effectRef>
            <a:fontRef idx="minor">
              <a:schemeClr val="tx1"/>
            </a:fontRef>
          </p:style>
        </p:cxnSp>
        <p:cxnSp>
          <p:nvCxnSpPr>
            <p:cNvPr id="21" name="直接连接符 20"/>
            <p:cNvCxnSpPr>
              <a:stCxn id="6" idx="2"/>
              <a:endCxn id="7" idx="7"/>
            </p:cNvCxnSpPr>
            <p:nvPr/>
          </p:nvCxnSpPr>
          <p:spPr>
            <a:xfrm rot="10800000" flipV="1">
              <a:off x="3305246" y="1093570"/>
              <a:ext cx="1123879" cy="705713"/>
            </a:xfrm>
            <a:prstGeom prst="line">
              <a:avLst/>
            </a:prstGeom>
            <a:ln w="19050"/>
          </p:spPr>
          <p:style>
            <a:lnRef idx="2">
              <a:schemeClr val="dk1"/>
            </a:lnRef>
            <a:fillRef idx="0">
              <a:schemeClr val="dk1"/>
            </a:fillRef>
            <a:effectRef idx="1">
              <a:schemeClr val="dk1"/>
            </a:effectRef>
            <a:fontRef idx="minor">
              <a:schemeClr val="tx1"/>
            </a:fontRef>
          </p:style>
        </p:cxnSp>
        <p:cxnSp>
          <p:nvCxnSpPr>
            <p:cNvPr id="22" name="直接连接符 21"/>
            <p:cNvCxnSpPr>
              <a:stCxn id="6" idx="6"/>
              <a:endCxn id="16" idx="1"/>
            </p:cNvCxnSpPr>
            <p:nvPr/>
          </p:nvCxnSpPr>
          <p:spPr>
            <a:xfrm>
              <a:off x="4786314" y="1093571"/>
              <a:ext cx="1266755" cy="705713"/>
            </a:xfrm>
            <a:prstGeom prst="line">
              <a:avLst/>
            </a:prstGeom>
            <a:ln w="19050"/>
          </p:spPr>
          <p:style>
            <a:lnRef idx="2">
              <a:schemeClr val="dk1"/>
            </a:lnRef>
            <a:fillRef idx="0">
              <a:schemeClr val="dk1"/>
            </a:fillRef>
            <a:effectRef idx="1">
              <a:schemeClr val="dk1"/>
            </a:effectRef>
            <a:fontRef idx="minor">
              <a:schemeClr val="tx1"/>
            </a:fontRef>
          </p:style>
        </p:cxnSp>
      </p:grpSp>
      <p:grpSp>
        <p:nvGrpSpPr>
          <p:cNvPr id="3" name="组合 22"/>
          <p:cNvGrpSpPr/>
          <p:nvPr/>
        </p:nvGrpSpPr>
        <p:grpSpPr>
          <a:xfrm>
            <a:off x="428596" y="3621289"/>
            <a:ext cx="4640824" cy="2379479"/>
            <a:chOff x="2000232" y="3764165"/>
            <a:chExt cx="5194952" cy="2736669"/>
          </a:xfrm>
        </p:grpSpPr>
        <p:sp>
          <p:nvSpPr>
            <p:cNvPr id="24" name="椭圆 23"/>
            <p:cNvSpPr/>
            <p:nvPr/>
          </p:nvSpPr>
          <p:spPr>
            <a:xfrm>
              <a:off x="4579938" y="3917090"/>
              <a:ext cx="330731" cy="397499"/>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25" name="椭圆 24"/>
            <p:cNvSpPr/>
            <p:nvPr/>
          </p:nvSpPr>
          <p:spPr>
            <a:xfrm>
              <a:off x="3257012"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6" name="椭圆 25"/>
            <p:cNvSpPr/>
            <p:nvPr/>
          </p:nvSpPr>
          <p:spPr>
            <a:xfrm>
              <a:off x="2595549"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7" name="椭圆 26"/>
            <p:cNvSpPr/>
            <p:nvPr/>
          </p:nvSpPr>
          <p:spPr>
            <a:xfrm>
              <a:off x="2264817"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endParaRPr lang="zh-CN" altLang="en-US" sz="1800" b="0">
                <a:solidFill>
                  <a:srgbClr val="0000FF"/>
                </a:solidFill>
                <a:latin typeface="Consolas" panose="020B0609020204030204" pitchFamily="49" charset="0"/>
                <a:cs typeface="Consolas" panose="020B0609020204030204" pitchFamily="49" charset="0"/>
              </a:endParaRPr>
            </a:p>
          </p:txBody>
        </p:sp>
        <p:sp>
          <p:nvSpPr>
            <p:cNvPr id="28" name="椭圆 27"/>
            <p:cNvSpPr/>
            <p:nvPr/>
          </p:nvSpPr>
          <p:spPr>
            <a:xfrm>
              <a:off x="2992426"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29" name="直接连接符 28"/>
            <p:cNvCxnSpPr>
              <a:stCxn id="26" idx="3"/>
              <a:endCxn id="27" idx="0"/>
            </p:cNvCxnSpPr>
            <p:nvPr/>
          </p:nvCxnSpPr>
          <p:spPr>
            <a:xfrm rot="5400000">
              <a:off x="2342353"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30" name="直接连接符 29"/>
            <p:cNvCxnSpPr>
              <a:stCxn id="26" idx="5"/>
              <a:endCxn id="28" idx="0"/>
            </p:cNvCxnSpPr>
            <p:nvPr/>
          </p:nvCxnSpPr>
          <p:spPr>
            <a:xfrm rot="16200000" flipH="1">
              <a:off x="2823089"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31" name="椭圆 30"/>
            <p:cNvSpPr/>
            <p:nvPr/>
          </p:nvSpPr>
          <p:spPr>
            <a:xfrm>
              <a:off x="3852328"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2" name="椭圆 31"/>
            <p:cNvSpPr/>
            <p:nvPr/>
          </p:nvSpPr>
          <p:spPr>
            <a:xfrm>
              <a:off x="3521597"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3" name="椭圆 32"/>
            <p:cNvSpPr/>
            <p:nvPr/>
          </p:nvSpPr>
          <p:spPr>
            <a:xfrm>
              <a:off x="4249206"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4" name="直接连接符 33"/>
            <p:cNvCxnSpPr>
              <a:stCxn id="31" idx="3"/>
              <a:endCxn id="32" idx="0"/>
            </p:cNvCxnSpPr>
            <p:nvPr/>
          </p:nvCxnSpPr>
          <p:spPr>
            <a:xfrm rot="5400000">
              <a:off x="3599132"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35" name="直接连接符 34"/>
            <p:cNvCxnSpPr>
              <a:stCxn id="31" idx="5"/>
              <a:endCxn id="33" idx="0"/>
            </p:cNvCxnSpPr>
            <p:nvPr/>
          </p:nvCxnSpPr>
          <p:spPr>
            <a:xfrm rot="16200000" flipH="1">
              <a:off x="4079868"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cxnSp>
          <p:nvCxnSpPr>
            <p:cNvPr id="36" name="直接连接符 35"/>
            <p:cNvCxnSpPr>
              <a:stCxn id="25" idx="3"/>
              <a:endCxn id="26" idx="7"/>
            </p:cNvCxnSpPr>
            <p:nvPr/>
          </p:nvCxnSpPr>
          <p:spPr>
            <a:xfrm rot="5400000">
              <a:off x="2900934"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37" name="直接连接符 36"/>
            <p:cNvCxnSpPr>
              <a:stCxn id="25" idx="5"/>
              <a:endCxn id="31" idx="1"/>
            </p:cNvCxnSpPr>
            <p:nvPr/>
          </p:nvCxnSpPr>
          <p:spPr>
            <a:xfrm rot="16200000" flipH="1">
              <a:off x="3529324"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sp>
          <p:nvSpPr>
            <p:cNvPr id="38" name="椭圆 37"/>
            <p:cNvSpPr/>
            <p:nvPr/>
          </p:nvSpPr>
          <p:spPr>
            <a:xfrm>
              <a:off x="6035156"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9" name="椭圆 38"/>
            <p:cNvSpPr/>
            <p:nvPr/>
          </p:nvSpPr>
          <p:spPr>
            <a:xfrm>
              <a:off x="5373693" y="5374587"/>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0" name="椭圆 39"/>
            <p:cNvSpPr/>
            <p:nvPr/>
          </p:nvSpPr>
          <p:spPr>
            <a:xfrm>
              <a:off x="5042962"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endParaRPr lang="zh-CN" altLang="en-US" sz="1800" b="0">
                <a:solidFill>
                  <a:srgbClr val="0000FF"/>
                </a:solidFill>
                <a:latin typeface="Consolas" panose="020B0609020204030204" pitchFamily="49" charset="0"/>
                <a:cs typeface="Consolas" panose="020B0609020204030204" pitchFamily="49" charset="0"/>
              </a:endParaRPr>
            </a:p>
          </p:txBody>
        </p:sp>
        <p:sp>
          <p:nvSpPr>
            <p:cNvPr id="41" name="椭圆 40"/>
            <p:cNvSpPr/>
            <p:nvPr/>
          </p:nvSpPr>
          <p:spPr>
            <a:xfrm>
              <a:off x="5770571"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200"/>
                </a:lnSpc>
                <a:spcBef>
                  <a:spcPts val="0"/>
                </a:spcBef>
              </a:pP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42" name="直接连接符 41"/>
            <p:cNvCxnSpPr>
              <a:stCxn id="39" idx="3"/>
              <a:endCxn id="40" idx="0"/>
            </p:cNvCxnSpPr>
            <p:nvPr/>
          </p:nvCxnSpPr>
          <p:spPr>
            <a:xfrm rot="5400000">
              <a:off x="512049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43" name="直接连接符 42"/>
            <p:cNvCxnSpPr>
              <a:stCxn id="39" idx="5"/>
              <a:endCxn id="41" idx="0"/>
            </p:cNvCxnSpPr>
            <p:nvPr/>
          </p:nvCxnSpPr>
          <p:spPr>
            <a:xfrm rot="16200000" flipH="1">
              <a:off x="5601233"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44" name="椭圆 43"/>
            <p:cNvSpPr/>
            <p:nvPr/>
          </p:nvSpPr>
          <p:spPr>
            <a:xfrm>
              <a:off x="6630473"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45" name="椭圆 44"/>
            <p:cNvSpPr/>
            <p:nvPr/>
          </p:nvSpPr>
          <p:spPr>
            <a:xfrm>
              <a:off x="6299741"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46" name="直接连接符 45"/>
            <p:cNvCxnSpPr>
              <a:stCxn id="44" idx="3"/>
              <a:endCxn id="45" idx="0"/>
            </p:cNvCxnSpPr>
            <p:nvPr/>
          </p:nvCxnSpPr>
          <p:spPr>
            <a:xfrm rot="5400000">
              <a:off x="637727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47" name="直接连接符 46"/>
            <p:cNvCxnSpPr>
              <a:stCxn id="38" idx="3"/>
              <a:endCxn id="39" idx="7"/>
            </p:cNvCxnSpPr>
            <p:nvPr/>
          </p:nvCxnSpPr>
          <p:spPr>
            <a:xfrm rot="5400000">
              <a:off x="5679078"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48" name="直接连接符 47"/>
            <p:cNvCxnSpPr>
              <a:stCxn id="38" idx="5"/>
              <a:endCxn id="44" idx="1"/>
            </p:cNvCxnSpPr>
            <p:nvPr/>
          </p:nvCxnSpPr>
          <p:spPr>
            <a:xfrm rot="16200000" flipH="1">
              <a:off x="6307468"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cxnSp>
          <p:nvCxnSpPr>
            <p:cNvPr id="49" name="直接连接符 48"/>
            <p:cNvCxnSpPr>
              <a:stCxn id="24" idx="2"/>
              <a:endCxn id="25" idx="7"/>
            </p:cNvCxnSpPr>
            <p:nvPr/>
          </p:nvCxnSpPr>
          <p:spPr>
            <a:xfrm rot="10800000" flipV="1">
              <a:off x="3539310" y="4115839"/>
              <a:ext cx="1040629" cy="654461"/>
            </a:xfrm>
            <a:prstGeom prst="line">
              <a:avLst/>
            </a:prstGeom>
            <a:ln w="19050"/>
          </p:spPr>
          <p:style>
            <a:lnRef idx="2">
              <a:schemeClr val="dk1"/>
            </a:lnRef>
            <a:fillRef idx="0">
              <a:schemeClr val="dk1"/>
            </a:fillRef>
            <a:effectRef idx="1">
              <a:schemeClr val="dk1"/>
            </a:effectRef>
            <a:fontRef idx="minor">
              <a:schemeClr val="tx1"/>
            </a:fontRef>
          </p:style>
        </p:cxnSp>
        <p:cxnSp>
          <p:nvCxnSpPr>
            <p:cNvPr id="50" name="直接连接符 49"/>
            <p:cNvCxnSpPr>
              <a:stCxn id="24" idx="6"/>
              <a:endCxn id="38" idx="1"/>
            </p:cNvCxnSpPr>
            <p:nvPr/>
          </p:nvCxnSpPr>
          <p:spPr>
            <a:xfrm>
              <a:off x="4910669" y="4115840"/>
              <a:ext cx="1172921" cy="654461"/>
            </a:xfrm>
            <a:prstGeom prst="line">
              <a:avLst/>
            </a:prstGeom>
            <a:ln w="19050"/>
          </p:spPr>
          <p:style>
            <a:lnRef idx="2">
              <a:schemeClr val="dk1"/>
            </a:lnRef>
            <a:fillRef idx="0">
              <a:schemeClr val="dk1"/>
            </a:fillRef>
            <a:effectRef idx="1">
              <a:schemeClr val="dk1"/>
            </a:effectRef>
            <a:fontRef idx="minor">
              <a:schemeClr val="tx1"/>
            </a:fontRef>
          </p:style>
        </p:cxnSp>
        <p:sp>
          <p:nvSpPr>
            <p:cNvPr id="51" name="TextBox 50"/>
            <p:cNvSpPr txBox="1"/>
            <p:nvPr/>
          </p:nvSpPr>
          <p:spPr>
            <a:xfrm>
              <a:off x="4381499" y="3764165"/>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2" name="TextBox 51"/>
            <p:cNvSpPr txBox="1"/>
            <p:nvPr/>
          </p:nvSpPr>
          <p:spPr>
            <a:xfrm>
              <a:off x="2959847" y="4691663"/>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3" name="TextBox 52"/>
            <p:cNvSpPr txBox="1"/>
            <p:nvPr/>
          </p:nvSpPr>
          <p:spPr>
            <a:xfrm>
              <a:off x="2400072" y="5078753"/>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4" name="TextBox 53"/>
            <p:cNvSpPr txBox="1"/>
            <p:nvPr/>
          </p:nvSpPr>
          <p:spPr>
            <a:xfrm>
              <a:off x="2000232" y="6082910"/>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5" name="TextBox 54"/>
            <p:cNvSpPr txBox="1"/>
            <p:nvPr/>
          </p:nvSpPr>
          <p:spPr>
            <a:xfrm>
              <a:off x="2719943" y="6037086"/>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6" name="TextBox 55"/>
            <p:cNvSpPr txBox="1"/>
            <p:nvPr/>
          </p:nvSpPr>
          <p:spPr>
            <a:xfrm>
              <a:off x="4116913" y="5175837"/>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7" name="TextBox 56"/>
            <p:cNvSpPr txBox="1"/>
            <p:nvPr/>
          </p:nvSpPr>
          <p:spPr>
            <a:xfrm>
              <a:off x="3362648" y="5838336"/>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8" name="TextBox 57"/>
            <p:cNvSpPr txBox="1"/>
            <p:nvPr/>
          </p:nvSpPr>
          <p:spPr>
            <a:xfrm>
              <a:off x="4447645" y="5838336"/>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9" name="TextBox 58"/>
            <p:cNvSpPr txBox="1"/>
            <p:nvPr/>
          </p:nvSpPr>
          <p:spPr>
            <a:xfrm>
              <a:off x="6318499" y="4712088"/>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0" name="TextBox 59"/>
            <p:cNvSpPr txBox="1"/>
            <p:nvPr/>
          </p:nvSpPr>
          <p:spPr>
            <a:xfrm>
              <a:off x="5247070" y="5078753"/>
              <a:ext cx="396878" cy="296456"/>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1" name="TextBox 60"/>
            <p:cNvSpPr txBox="1"/>
            <p:nvPr/>
          </p:nvSpPr>
          <p:spPr>
            <a:xfrm>
              <a:off x="4719141" y="6103336"/>
              <a:ext cx="396878" cy="296456"/>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2" name="TextBox 61"/>
            <p:cNvSpPr txBox="1"/>
            <p:nvPr/>
          </p:nvSpPr>
          <p:spPr>
            <a:xfrm>
              <a:off x="6798306" y="5207218"/>
              <a:ext cx="396878" cy="296456"/>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3" name="TextBox 62"/>
            <p:cNvSpPr txBox="1"/>
            <p:nvPr/>
          </p:nvSpPr>
          <p:spPr>
            <a:xfrm>
              <a:off x="6561365" y="5997925"/>
              <a:ext cx="39687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64" name="TextBox 63"/>
            <p:cNvSpPr txBox="1"/>
            <p:nvPr/>
          </p:nvSpPr>
          <p:spPr>
            <a:xfrm>
              <a:off x="5429256" y="6000768"/>
              <a:ext cx="428628" cy="324480"/>
            </a:xfrm>
            <a:prstGeom prst="rect">
              <a:avLst/>
            </a:prstGeom>
            <a:noFill/>
          </p:spPr>
          <p:txBody>
            <a:bodyPr wrap="square" lIns="0" tIns="0" rIns="0" bIns="0" rtlCol="0">
              <a:spAutoFit/>
            </a:bodyPr>
            <a:lstStyle/>
            <a:p>
              <a:pPr>
                <a:lnSpc>
                  <a:spcPts val="2200"/>
                </a:lnSpc>
                <a:spcBef>
                  <a:spcPts val="0"/>
                </a:spcBef>
              </a:pPr>
              <a:r>
                <a:rPr lang="en-US" altLang="zh-CN" sz="1400" b="0" smtClean="0">
                  <a:solidFill>
                    <a:srgbClr val="FF00FF"/>
                  </a:solidFill>
                  <a:latin typeface="Consolas" panose="020B0609020204030204" pitchFamily="49" charset="0"/>
                  <a:cs typeface="Consolas" panose="020B0609020204030204" pitchFamily="49" charset="0"/>
                </a:rPr>
                <a:t>13</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65" name="TextBox 64"/>
          <p:cNvSpPr txBox="1"/>
          <p:nvPr/>
        </p:nvSpPr>
        <p:spPr>
          <a:xfrm>
            <a:off x="5429256" y="2692595"/>
            <a:ext cx="3357586" cy="1169551"/>
          </a:xfrm>
          <a:prstGeom prst="rect">
            <a:avLst/>
          </a:prstGeom>
          <a:noFill/>
        </p:spPr>
        <p:txBody>
          <a:bodyPr wrap="square" rtlCol="0">
            <a:spAutoFit/>
          </a:bodyPr>
          <a:lstStyle/>
          <a:p>
            <a:pPr marL="342900" indent="-3429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增添空结点补齐为一棵完全二叉树</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并对所有结点进行编号</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右弧形箭头 65"/>
          <p:cNvSpPr/>
          <p:nvPr/>
        </p:nvSpPr>
        <p:spPr>
          <a:xfrm>
            <a:off x="4857752" y="2741163"/>
            <a:ext cx="500066" cy="1428760"/>
          </a:xfrm>
          <a:prstGeom prst="curved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sp>
        <p:nvSpPr>
          <p:cNvPr id="67" name="Text Box 2"/>
          <p:cNvSpPr txBox="1">
            <a:spLocks noChangeArrowheads="1"/>
          </p:cNvSpPr>
          <p:nvPr/>
        </p:nvSpPr>
        <p:spPr bwMode="auto">
          <a:xfrm>
            <a:off x="571472" y="142852"/>
            <a:ext cx="4143404" cy="453183"/>
          </a:xfrm>
          <a:prstGeom prst="rect">
            <a:avLst/>
          </a:prstGeom>
          <a:blipFill>
            <a:blip r:embed="rId2" cstate="print"/>
            <a:tile tx="0" ty="0" sx="100000" sy="100000" flip="none" algn="tl"/>
          </a:blipFill>
          <a:ln w="9525">
            <a:noFill/>
            <a:miter lim="800000"/>
          </a:ln>
        </p:spPr>
        <p:txBody>
          <a:bodyPr wrap="square" lIns="180000" tIns="72000" bIns="72000">
            <a:spAutoFit/>
          </a:bodyPr>
          <a:lstStyle/>
          <a:p>
            <a:pPr marL="457200" indent="-457200" algn="l">
              <a:lnSpc>
                <a:spcPct val="100000"/>
              </a:lnSpc>
              <a:spcBef>
                <a:spcPct val="50000"/>
              </a:spcBef>
              <a:buBlip>
                <a:blip r:embed="rId1"/>
              </a:buBlip>
            </a:pP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一般的二</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叉</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树的</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顺序存储</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结</a:t>
            </a:r>
            <a:r>
              <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构</a:t>
            </a:r>
            <a:endPar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8" name="灯片编号占位符 6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6"/>
          <p:cNvSpPr>
            <a:spLocks noChangeArrowheads="1"/>
          </p:cNvSpPr>
          <p:nvPr/>
        </p:nvSpPr>
        <p:spPr bwMode="auto">
          <a:xfrm>
            <a:off x="4143404" y="3506561"/>
            <a:ext cx="285752" cy="636819"/>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vert="eaVert" wrap="none" anchor="ctr"/>
          <a:lstStyle/>
          <a:p>
            <a:endParaRPr lang="zh-CN" altLang="en-US"/>
          </a:p>
        </p:txBody>
      </p:sp>
      <p:graphicFrame>
        <p:nvGraphicFramePr>
          <p:cNvPr id="5" name="表格 4"/>
          <p:cNvGraphicFramePr>
            <a:graphicFrameLocks noGrp="1"/>
          </p:cNvGraphicFramePr>
          <p:nvPr/>
        </p:nvGraphicFramePr>
        <p:xfrm>
          <a:off x="1071545" y="4363817"/>
          <a:ext cx="7429545" cy="741680"/>
        </p:xfrm>
        <a:graphic>
          <a:graphicData uri="http://schemas.openxmlformats.org/drawingml/2006/table">
            <a:tbl>
              <a:tblPr firstRow="1" bandRow="1">
                <a:tableStyleId>{5A111915-BE36-4E01-A7E5-04B1672EAD32}</a:tableStyleId>
              </a:tblPr>
              <a:tblGrid>
                <a:gridCol w="495303"/>
                <a:gridCol w="495303"/>
                <a:gridCol w="495303"/>
                <a:gridCol w="495303"/>
                <a:gridCol w="495303"/>
                <a:gridCol w="495303"/>
                <a:gridCol w="495303"/>
                <a:gridCol w="495303"/>
                <a:gridCol w="495303"/>
                <a:gridCol w="495303"/>
                <a:gridCol w="495303"/>
                <a:gridCol w="495303"/>
                <a:gridCol w="495303"/>
                <a:gridCol w="495303"/>
                <a:gridCol w="495303"/>
              </a:tblGrid>
              <a:tr h="370840">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5</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6</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7</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8</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9</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mn-ea"/>
                          <a:ea typeface="+mn-ea"/>
                          <a:cs typeface="Consolas" panose="020B0609020204030204" pitchFamily="49" charset="0"/>
                        </a:rPr>
                        <a:t>…</a:t>
                      </a:r>
                      <a:endParaRPr lang="zh-CN" altLang="en-US" sz="1600" b="0">
                        <a:solidFill>
                          <a:schemeClr val="bg1">
                            <a:lumMod val="50000"/>
                          </a:schemeClr>
                        </a:solidFill>
                        <a:latin typeface="+mn-ea"/>
                        <a:ea typeface="+mn-ea"/>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A</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B</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C</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D</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E</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F</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G</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H</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0000FF"/>
                          </a:solidFill>
                          <a:latin typeface="Consolas" panose="020B0609020204030204" pitchFamily="49" charset="0"/>
                          <a:cs typeface="Consolas" panose="020B0609020204030204" pitchFamily="49" charset="0"/>
                        </a:rPr>
                        <a:t>I</a:t>
                      </a:r>
                      <a:endParaRPr lang="zh-CN" altLang="en-US" sz="1600" b="0" i="0">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6" name="TextBox 5"/>
          <p:cNvSpPr txBox="1"/>
          <p:nvPr/>
        </p:nvSpPr>
        <p:spPr>
          <a:xfrm>
            <a:off x="357158" y="4400952"/>
            <a:ext cx="714380" cy="313932"/>
          </a:xfrm>
          <a:prstGeom prst="rect">
            <a:avLst/>
          </a:prstGeom>
          <a:noFill/>
        </p:spPr>
        <p:txBody>
          <a:bodyPr wrap="square" rtlCol="0">
            <a:spAutoFit/>
          </a:bodyPr>
          <a:lstStyle/>
          <a:p>
            <a:r>
              <a:rPr lang="zh-CN" altLang="en-US" sz="1800" smtClean="0">
                <a:solidFill>
                  <a:srgbClr val="0000FF"/>
                </a:solidFill>
                <a:latin typeface="仿宋" panose="02010609060101010101" pitchFamily="49" charset="-122"/>
                <a:ea typeface="仿宋" panose="02010609060101010101" pitchFamily="49" charset="-122"/>
              </a:rPr>
              <a:t>位置</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7" name="TextBox 6"/>
          <p:cNvSpPr txBox="1"/>
          <p:nvPr/>
        </p:nvSpPr>
        <p:spPr>
          <a:xfrm>
            <a:off x="428596" y="4774180"/>
            <a:ext cx="500066" cy="317908"/>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sb</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500594" y="3500438"/>
            <a:ext cx="2357454" cy="707886"/>
          </a:xfrm>
          <a:prstGeom prst="rect">
            <a:avLst/>
          </a:prstGeom>
          <a:noFill/>
        </p:spPr>
        <p:txBody>
          <a:bodyPr wrap="square" rtlCol="0">
            <a:spAutoFit/>
          </a:bodyPr>
          <a:lstStyle/>
          <a:p>
            <a:pPr algn="l">
              <a:lnSpc>
                <a:spcPts val="2400"/>
              </a:lnSpc>
              <a:spcBef>
                <a:spcPts val="0"/>
              </a:spcBef>
            </a:pPr>
            <a:r>
              <a:rPr lang="zh-CN" altLang="en-US" sz="2000" smtClean="0">
                <a:solidFill>
                  <a:srgbClr val="0000FF"/>
                </a:solidFill>
                <a:latin typeface="仿宋" panose="02010609060101010101" pitchFamily="49" charset="-122"/>
                <a:ea typeface="仿宋" panose="02010609060101010101" pitchFamily="49" charset="-122"/>
              </a:rPr>
              <a:t>仅保留实际存在的结点值，其他为空</a:t>
            </a:r>
            <a:endParaRPr lang="zh-CN" altLang="en-US" sz="2000">
              <a:solidFill>
                <a:srgbClr val="0000FF"/>
              </a:solidFill>
              <a:latin typeface="仿宋" panose="02010609060101010101" pitchFamily="49" charset="-122"/>
              <a:ea typeface="仿宋" panose="02010609060101010101" pitchFamily="49" charset="-122"/>
            </a:endParaRPr>
          </a:p>
        </p:txBody>
      </p:sp>
      <p:grpSp>
        <p:nvGrpSpPr>
          <p:cNvPr id="2" name="组合 8"/>
          <p:cNvGrpSpPr/>
          <p:nvPr/>
        </p:nvGrpSpPr>
        <p:grpSpPr>
          <a:xfrm>
            <a:off x="1857356" y="763769"/>
            <a:ext cx="4640824" cy="2379479"/>
            <a:chOff x="2000232" y="3764165"/>
            <a:chExt cx="5194952" cy="2736669"/>
          </a:xfrm>
        </p:grpSpPr>
        <p:sp>
          <p:nvSpPr>
            <p:cNvPr id="10" name="椭圆 9"/>
            <p:cNvSpPr/>
            <p:nvPr/>
          </p:nvSpPr>
          <p:spPr>
            <a:xfrm>
              <a:off x="4579938" y="3917090"/>
              <a:ext cx="330731" cy="397499"/>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11" name="椭圆 10"/>
            <p:cNvSpPr/>
            <p:nvPr/>
          </p:nvSpPr>
          <p:spPr>
            <a:xfrm>
              <a:off x="3257012"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2595549"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2264817"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2992426"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15" name="直接连接符 14"/>
            <p:cNvCxnSpPr>
              <a:stCxn id="12" idx="3"/>
              <a:endCxn id="13" idx="0"/>
            </p:cNvCxnSpPr>
            <p:nvPr/>
          </p:nvCxnSpPr>
          <p:spPr>
            <a:xfrm rot="5400000">
              <a:off x="2342353"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16" name="直接连接符 15"/>
            <p:cNvCxnSpPr>
              <a:stCxn id="12" idx="5"/>
              <a:endCxn id="14" idx="0"/>
            </p:cNvCxnSpPr>
            <p:nvPr/>
          </p:nvCxnSpPr>
          <p:spPr>
            <a:xfrm rot="16200000" flipH="1">
              <a:off x="2823089"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17" name="椭圆 16"/>
            <p:cNvSpPr/>
            <p:nvPr/>
          </p:nvSpPr>
          <p:spPr>
            <a:xfrm>
              <a:off x="3852328"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椭圆 17"/>
            <p:cNvSpPr/>
            <p:nvPr/>
          </p:nvSpPr>
          <p:spPr>
            <a:xfrm>
              <a:off x="3521597"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9" name="椭圆 18"/>
            <p:cNvSpPr/>
            <p:nvPr/>
          </p:nvSpPr>
          <p:spPr>
            <a:xfrm>
              <a:off x="4249206"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0" name="直接连接符 19"/>
            <p:cNvCxnSpPr>
              <a:stCxn id="17" idx="3"/>
              <a:endCxn id="18" idx="0"/>
            </p:cNvCxnSpPr>
            <p:nvPr/>
          </p:nvCxnSpPr>
          <p:spPr>
            <a:xfrm rot="5400000">
              <a:off x="3599132"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21" name="直接连接符 20"/>
            <p:cNvCxnSpPr>
              <a:stCxn id="17" idx="5"/>
              <a:endCxn id="19" idx="0"/>
            </p:cNvCxnSpPr>
            <p:nvPr/>
          </p:nvCxnSpPr>
          <p:spPr>
            <a:xfrm rot="16200000" flipH="1">
              <a:off x="4079868"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cxnSp>
          <p:nvCxnSpPr>
            <p:cNvPr id="22" name="直接连接符 21"/>
            <p:cNvCxnSpPr>
              <a:stCxn id="11" idx="3"/>
              <a:endCxn id="12" idx="7"/>
            </p:cNvCxnSpPr>
            <p:nvPr/>
          </p:nvCxnSpPr>
          <p:spPr>
            <a:xfrm rot="5400000">
              <a:off x="2900934"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23" name="直接连接符 22"/>
            <p:cNvCxnSpPr>
              <a:stCxn id="11" idx="5"/>
              <a:endCxn id="17" idx="1"/>
            </p:cNvCxnSpPr>
            <p:nvPr/>
          </p:nvCxnSpPr>
          <p:spPr>
            <a:xfrm rot="16200000" flipH="1">
              <a:off x="3529324"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sp>
          <p:nvSpPr>
            <p:cNvPr id="24" name="椭圆 23"/>
            <p:cNvSpPr/>
            <p:nvPr/>
          </p:nvSpPr>
          <p:spPr>
            <a:xfrm>
              <a:off x="6035156"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5" name="椭圆 24"/>
            <p:cNvSpPr/>
            <p:nvPr/>
          </p:nvSpPr>
          <p:spPr>
            <a:xfrm>
              <a:off x="5373693" y="5374587"/>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6" name="椭圆 25"/>
            <p:cNvSpPr/>
            <p:nvPr/>
          </p:nvSpPr>
          <p:spPr>
            <a:xfrm>
              <a:off x="5042962"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7" name="椭圆 26"/>
            <p:cNvSpPr/>
            <p:nvPr/>
          </p:nvSpPr>
          <p:spPr>
            <a:xfrm>
              <a:off x="5770571" y="6103335"/>
              <a:ext cx="330731" cy="397499"/>
            </a:xfrm>
            <a:prstGeom prst="ellipse">
              <a:avLst/>
            </a:prstGeom>
            <a:solidFill>
              <a:schemeClr val="bg1"/>
            </a:solidFill>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28" name="直接连接符 27"/>
            <p:cNvCxnSpPr>
              <a:stCxn id="25" idx="3"/>
              <a:endCxn id="26" idx="0"/>
            </p:cNvCxnSpPr>
            <p:nvPr/>
          </p:nvCxnSpPr>
          <p:spPr>
            <a:xfrm rot="5400000">
              <a:off x="512049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29" name="直接连接符 28"/>
            <p:cNvCxnSpPr>
              <a:stCxn id="25" idx="5"/>
              <a:endCxn id="27" idx="0"/>
            </p:cNvCxnSpPr>
            <p:nvPr/>
          </p:nvCxnSpPr>
          <p:spPr>
            <a:xfrm rot="16200000" flipH="1">
              <a:off x="5601233"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30" name="椭圆 29"/>
            <p:cNvSpPr/>
            <p:nvPr/>
          </p:nvSpPr>
          <p:spPr>
            <a:xfrm>
              <a:off x="6630473"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6299741"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2" name="直接连接符 31"/>
            <p:cNvCxnSpPr>
              <a:stCxn id="30" idx="3"/>
              <a:endCxn id="31" idx="0"/>
            </p:cNvCxnSpPr>
            <p:nvPr/>
          </p:nvCxnSpPr>
          <p:spPr>
            <a:xfrm rot="5400000">
              <a:off x="637727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33" name="直接连接符 32"/>
            <p:cNvCxnSpPr>
              <a:stCxn id="24" idx="3"/>
              <a:endCxn id="25" idx="7"/>
            </p:cNvCxnSpPr>
            <p:nvPr/>
          </p:nvCxnSpPr>
          <p:spPr>
            <a:xfrm rot="5400000">
              <a:off x="5679078"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34" name="直接连接符 33"/>
            <p:cNvCxnSpPr>
              <a:stCxn id="24" idx="5"/>
              <a:endCxn id="30" idx="1"/>
            </p:cNvCxnSpPr>
            <p:nvPr/>
          </p:nvCxnSpPr>
          <p:spPr>
            <a:xfrm rot="16200000" flipH="1">
              <a:off x="6307468"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cxnSp>
          <p:nvCxnSpPr>
            <p:cNvPr id="35" name="直接连接符 34"/>
            <p:cNvCxnSpPr>
              <a:stCxn id="10" idx="2"/>
              <a:endCxn id="11" idx="7"/>
            </p:cNvCxnSpPr>
            <p:nvPr/>
          </p:nvCxnSpPr>
          <p:spPr>
            <a:xfrm rot="10800000" flipV="1">
              <a:off x="3539310" y="4115839"/>
              <a:ext cx="1040629" cy="654461"/>
            </a:xfrm>
            <a:prstGeom prst="line">
              <a:avLst/>
            </a:prstGeom>
            <a:ln w="19050"/>
          </p:spPr>
          <p:style>
            <a:lnRef idx="2">
              <a:schemeClr val="dk1"/>
            </a:lnRef>
            <a:fillRef idx="0">
              <a:schemeClr val="dk1"/>
            </a:fillRef>
            <a:effectRef idx="1">
              <a:schemeClr val="dk1"/>
            </a:effectRef>
            <a:fontRef idx="minor">
              <a:schemeClr val="tx1"/>
            </a:fontRef>
          </p:style>
        </p:cxnSp>
        <p:cxnSp>
          <p:nvCxnSpPr>
            <p:cNvPr id="36" name="直接连接符 35"/>
            <p:cNvCxnSpPr>
              <a:stCxn id="10" idx="6"/>
              <a:endCxn id="24" idx="1"/>
            </p:cNvCxnSpPr>
            <p:nvPr/>
          </p:nvCxnSpPr>
          <p:spPr>
            <a:xfrm>
              <a:off x="4910669" y="4115840"/>
              <a:ext cx="1172921" cy="654461"/>
            </a:xfrm>
            <a:prstGeom prst="line">
              <a:avLst/>
            </a:prstGeom>
            <a:ln w="19050"/>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4381499" y="3764165"/>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2959847" y="4691663"/>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2</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39" name="TextBox 38"/>
            <p:cNvSpPr txBox="1"/>
            <p:nvPr/>
          </p:nvSpPr>
          <p:spPr>
            <a:xfrm>
              <a:off x="2463256" y="5242087"/>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4</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0" name="TextBox 39"/>
            <p:cNvSpPr txBox="1"/>
            <p:nvPr/>
          </p:nvSpPr>
          <p:spPr>
            <a:xfrm>
              <a:off x="2000232" y="6082910"/>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8</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2719943" y="6037086"/>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9</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2" name="TextBox 41"/>
            <p:cNvSpPr txBox="1"/>
            <p:nvPr/>
          </p:nvSpPr>
          <p:spPr>
            <a:xfrm>
              <a:off x="4116913" y="5175837"/>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5</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3455451" y="5838336"/>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10</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4" name="TextBox 43"/>
            <p:cNvSpPr txBox="1"/>
            <p:nvPr/>
          </p:nvSpPr>
          <p:spPr>
            <a:xfrm>
              <a:off x="4399269" y="5891798"/>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11</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6318499" y="4712088"/>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3</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5247070" y="5238284"/>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6</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4778376" y="6103336"/>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12</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6798306" y="5207218"/>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7</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6492059" y="5997925"/>
              <a:ext cx="39687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14</a:t>
              </a:r>
              <a:endParaRPr lang="zh-CN" altLang="en-US" sz="1400">
                <a:solidFill>
                  <a:srgbClr val="FF00FF"/>
                </a:solidFill>
                <a:latin typeface="Consolas" panose="020B0609020204030204" pitchFamily="49" charset="0"/>
                <a:cs typeface="Consolas" panose="020B0609020204030204" pitchFamily="49" charset="0"/>
              </a:endParaRPr>
            </a:p>
          </p:txBody>
        </p:sp>
        <p:sp>
          <p:nvSpPr>
            <p:cNvPr id="50" name="TextBox 49"/>
            <p:cNvSpPr txBox="1"/>
            <p:nvPr/>
          </p:nvSpPr>
          <p:spPr>
            <a:xfrm>
              <a:off x="5429256" y="6000768"/>
              <a:ext cx="428628" cy="201768"/>
            </a:xfrm>
            <a:prstGeom prst="rect">
              <a:avLst/>
            </a:prstGeom>
            <a:noFill/>
          </p:spPr>
          <p:txBody>
            <a:bodyPr wrap="square" lIns="0" tIns="0" rIns="0" bIns="0" rtlCol="0">
              <a:spAutoFit/>
            </a:bodyPr>
            <a:lstStyle/>
            <a:p>
              <a:r>
                <a:rPr lang="en-US" altLang="zh-CN" sz="1400" smtClean="0">
                  <a:solidFill>
                    <a:srgbClr val="FF00FF"/>
                  </a:solidFill>
                  <a:latin typeface="Consolas" panose="020B0609020204030204" pitchFamily="49" charset="0"/>
                  <a:cs typeface="Consolas" panose="020B0609020204030204" pitchFamily="49" charset="0"/>
                </a:rPr>
                <a:t>13</a:t>
              </a:r>
              <a:endParaRPr lang="zh-CN" altLang="en-US" sz="1400">
                <a:solidFill>
                  <a:srgbClr val="FF00FF"/>
                </a:solidFill>
                <a:latin typeface="Consolas" panose="020B0609020204030204" pitchFamily="49" charset="0"/>
                <a:cs typeface="Consolas" panose="020B0609020204030204" pitchFamily="49" charset="0"/>
              </a:endParaRPr>
            </a:p>
          </p:txBody>
        </p:sp>
      </p:grpSp>
      <p:sp>
        <p:nvSpPr>
          <p:cNvPr id="52" name="TextBox 51"/>
          <p:cNvSpPr txBox="1"/>
          <p:nvPr/>
        </p:nvSpPr>
        <p:spPr>
          <a:xfrm>
            <a:off x="642910" y="5357032"/>
            <a:ext cx="2000264" cy="338554"/>
          </a:xfrm>
          <a:prstGeom prst="rect">
            <a:avLst/>
          </a:prstGeom>
          <a:noFill/>
        </p:spPr>
        <p:txBody>
          <a:bodyPr wrap="square" rtlCol="0">
            <a:spAutoFit/>
          </a:bodyPr>
          <a:lstStyle/>
          <a:p>
            <a:pPr algn="l">
              <a:lnSpc>
                <a:spcPct val="100000"/>
              </a:lnSpc>
              <a:spcBef>
                <a:spcPts val="0"/>
              </a:spcBef>
            </a:pP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sb</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的下标从</a:t>
            </a: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开始</a:t>
            </a:r>
            <a:endPar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53" name="直接箭头连接符 52"/>
          <p:cNvCxnSpPr/>
          <p:nvPr/>
        </p:nvCxnSpPr>
        <p:spPr>
          <a:xfrm rot="5400000" flipH="1" flipV="1">
            <a:off x="1250133" y="5249875"/>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5" name="灯片编号占位符 5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6"/>
          <p:cNvSpPr>
            <a:spLocks noChangeArrowheads="1"/>
          </p:cNvSpPr>
          <p:nvPr/>
        </p:nvSpPr>
        <p:spPr bwMode="auto">
          <a:xfrm>
            <a:off x="4143404" y="3506561"/>
            <a:ext cx="285752" cy="636819"/>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vert="eaVert" wrap="none" anchor="ctr"/>
          <a:lstStyle/>
          <a:p>
            <a:endParaRPr lang="zh-CN" altLang="en-US"/>
          </a:p>
        </p:txBody>
      </p:sp>
      <p:graphicFrame>
        <p:nvGraphicFramePr>
          <p:cNvPr id="5" name="表格 4"/>
          <p:cNvGraphicFramePr>
            <a:graphicFrameLocks noGrp="1"/>
          </p:cNvGraphicFramePr>
          <p:nvPr/>
        </p:nvGraphicFramePr>
        <p:xfrm>
          <a:off x="1071545" y="4363817"/>
          <a:ext cx="7429545" cy="741680"/>
        </p:xfrm>
        <a:graphic>
          <a:graphicData uri="http://schemas.openxmlformats.org/drawingml/2006/table">
            <a:tbl>
              <a:tblPr firstRow="1" bandRow="1">
                <a:tableStyleId>{5A111915-BE36-4E01-A7E5-04B1672EAD32}</a:tableStyleId>
              </a:tblPr>
              <a:tblGrid>
                <a:gridCol w="495303"/>
                <a:gridCol w="495303"/>
                <a:gridCol w="495303"/>
                <a:gridCol w="495303"/>
                <a:gridCol w="495303"/>
                <a:gridCol w="495303"/>
                <a:gridCol w="495303"/>
                <a:gridCol w="495303"/>
                <a:gridCol w="495303"/>
                <a:gridCol w="495303"/>
                <a:gridCol w="495303"/>
                <a:gridCol w="495303"/>
                <a:gridCol w="495303"/>
                <a:gridCol w="495303"/>
                <a:gridCol w="495303"/>
              </a:tblGrid>
              <a:tr h="370840">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4</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5</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6</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7</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8</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9</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10</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11</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12</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Consolas" panose="020B0609020204030204" pitchFamily="49" charset="0"/>
                          <a:cs typeface="Consolas" panose="020B0609020204030204" pitchFamily="49" charset="0"/>
                        </a:rPr>
                        <a:t>13</a:t>
                      </a:r>
                      <a:endParaRPr lang="zh-CN" altLang="en-US" sz="1600" b="0">
                        <a:solidFill>
                          <a:schemeClr val="bg1">
                            <a:lumMod val="50000"/>
                          </a:schemeClr>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b="0" smtClean="0">
                          <a:solidFill>
                            <a:schemeClr val="bg1">
                              <a:lumMod val="50000"/>
                            </a:schemeClr>
                          </a:solidFill>
                          <a:latin typeface="+mn-ea"/>
                          <a:ea typeface="+mn-ea"/>
                          <a:cs typeface="Consolas" panose="020B0609020204030204" pitchFamily="49" charset="0"/>
                        </a:rPr>
                        <a:t>…</a:t>
                      </a:r>
                      <a:endParaRPr lang="zh-CN" altLang="en-US" sz="1600" b="0">
                        <a:solidFill>
                          <a:schemeClr val="bg1">
                            <a:lumMod val="50000"/>
                          </a:schemeClr>
                        </a:solidFill>
                        <a:latin typeface="+mn-ea"/>
                        <a:ea typeface="+mn-ea"/>
                        <a:cs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A</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B</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C</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D</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E</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F</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G</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H</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0" i="0" smtClean="0">
                          <a:solidFill>
                            <a:srgbClr val="C00000"/>
                          </a:solidFill>
                          <a:latin typeface="Consolas" panose="020B0609020204030204" pitchFamily="49" charset="0"/>
                          <a:cs typeface="Consolas" panose="020B0609020204030204" pitchFamily="49" charset="0"/>
                        </a:rPr>
                        <a:t>#</a:t>
                      </a:r>
                      <a:endParaRPr lang="zh-CN" altLang="en-US" sz="1600" b="0" i="0" smtClean="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i="1" smtClean="0">
                          <a:solidFill>
                            <a:srgbClr val="0000FF"/>
                          </a:solidFill>
                          <a:latin typeface="Consolas" panose="020B0609020204030204" pitchFamily="49" charset="0"/>
                          <a:cs typeface="Consolas" panose="020B0609020204030204" pitchFamily="49" charset="0"/>
                        </a:rPr>
                        <a:t>I</a:t>
                      </a:r>
                      <a:endParaRPr lang="zh-CN" altLang="en-US" sz="1600" b="0" i="1">
                        <a:solidFill>
                          <a:srgbClr val="0000FF"/>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r>
                        <a:rPr lang="en-US" altLang="zh-CN" sz="1600" b="0" smtClean="0">
                          <a:solidFill>
                            <a:srgbClr val="C00000"/>
                          </a:solidFill>
                          <a:latin typeface="Consolas" panose="020B0609020204030204" pitchFamily="49" charset="0"/>
                          <a:cs typeface="Consolas" panose="020B0609020204030204" pitchFamily="49" charset="0"/>
                        </a:rPr>
                        <a:t>#</a:t>
                      </a:r>
                      <a:endParaRPr lang="zh-CN" altLang="en-US" sz="1600" b="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r>
            </a:tbl>
          </a:graphicData>
        </a:graphic>
      </p:graphicFrame>
      <p:sp>
        <p:nvSpPr>
          <p:cNvPr id="6" name="TextBox 5"/>
          <p:cNvSpPr txBox="1"/>
          <p:nvPr/>
        </p:nvSpPr>
        <p:spPr>
          <a:xfrm>
            <a:off x="357158" y="4400952"/>
            <a:ext cx="714380" cy="313932"/>
          </a:xfrm>
          <a:prstGeom prst="rect">
            <a:avLst/>
          </a:prstGeom>
          <a:noFill/>
        </p:spPr>
        <p:txBody>
          <a:bodyPr wrap="square" rtlCol="0">
            <a:spAutoFit/>
          </a:bodyPr>
          <a:lstStyle/>
          <a:p>
            <a:r>
              <a:rPr lang="zh-CN" altLang="en-US" sz="1800" smtClean="0">
                <a:solidFill>
                  <a:srgbClr val="0000FF"/>
                </a:solidFill>
                <a:latin typeface="仿宋" panose="02010609060101010101" pitchFamily="49" charset="-122"/>
                <a:ea typeface="仿宋" panose="02010609060101010101" pitchFamily="49" charset="-122"/>
              </a:rPr>
              <a:t>位置</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7" name="TextBox 6"/>
          <p:cNvSpPr txBox="1"/>
          <p:nvPr/>
        </p:nvSpPr>
        <p:spPr>
          <a:xfrm>
            <a:off x="428596" y="4774180"/>
            <a:ext cx="500066" cy="317908"/>
          </a:xfrm>
          <a:prstGeom prst="rect">
            <a:avLst/>
          </a:prstGeom>
          <a:noFill/>
        </p:spPr>
        <p:txBody>
          <a:bodyPr wrap="square" rtlCol="0">
            <a:spAutoFit/>
          </a:bodyPr>
          <a:lstStyle/>
          <a:p>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sb</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500594" y="3500438"/>
            <a:ext cx="2357454" cy="707886"/>
          </a:xfrm>
          <a:prstGeom prst="rect">
            <a:avLst/>
          </a:prstGeom>
          <a:noFill/>
        </p:spPr>
        <p:txBody>
          <a:bodyPr wrap="square" rtlCol="0">
            <a:spAutoFit/>
          </a:bodyPr>
          <a:lstStyle/>
          <a:p>
            <a:pPr algn="l">
              <a:lnSpc>
                <a:spcPts val="2400"/>
              </a:lnSpc>
              <a:spcBef>
                <a:spcPts val="0"/>
              </a:spcBef>
            </a:pPr>
            <a:r>
              <a:rPr lang="zh-CN" altLang="en-US" sz="2000" smtClean="0">
                <a:solidFill>
                  <a:srgbClr val="0000FF"/>
                </a:solidFill>
                <a:latin typeface="仿宋" panose="02010609060101010101" pitchFamily="49" charset="-122"/>
                <a:ea typeface="仿宋" panose="02010609060101010101" pitchFamily="49" charset="-122"/>
              </a:rPr>
              <a:t>仅保留实际存在的结点值，其他为空</a:t>
            </a:r>
            <a:endParaRPr lang="zh-CN" altLang="en-US" sz="2000">
              <a:solidFill>
                <a:srgbClr val="0000FF"/>
              </a:solidFill>
              <a:latin typeface="仿宋" panose="02010609060101010101" pitchFamily="49" charset="-122"/>
              <a:ea typeface="仿宋" panose="02010609060101010101" pitchFamily="49" charset="-122"/>
            </a:endParaRPr>
          </a:p>
        </p:txBody>
      </p:sp>
      <p:grpSp>
        <p:nvGrpSpPr>
          <p:cNvPr id="2" name="组合 8"/>
          <p:cNvGrpSpPr/>
          <p:nvPr/>
        </p:nvGrpSpPr>
        <p:grpSpPr>
          <a:xfrm>
            <a:off x="1857356" y="763769"/>
            <a:ext cx="4640824" cy="2379479"/>
            <a:chOff x="2000232" y="3764165"/>
            <a:chExt cx="5194952" cy="2736669"/>
          </a:xfrm>
        </p:grpSpPr>
        <p:sp>
          <p:nvSpPr>
            <p:cNvPr id="10" name="椭圆 9"/>
            <p:cNvSpPr/>
            <p:nvPr/>
          </p:nvSpPr>
          <p:spPr>
            <a:xfrm>
              <a:off x="4579938" y="3917090"/>
              <a:ext cx="330731" cy="397499"/>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lnSpc>
                  <a:spcPts val="2600"/>
                </a:lnSpc>
                <a:spcBef>
                  <a:spcPts val="0"/>
                </a:spcBef>
              </a:pPr>
              <a:r>
                <a:rPr lang="en-US" altLang="zh-CN" sz="1600" b="0" smtClean="0">
                  <a:latin typeface="Consolas" panose="020B0609020204030204" pitchFamily="49" charset="0"/>
                  <a:cs typeface="Consolas" panose="020B0609020204030204" pitchFamily="49" charset="0"/>
                </a:rPr>
                <a:t>A</a:t>
              </a:r>
              <a:endParaRPr lang="zh-CN" altLang="en-US" sz="1600" b="0">
                <a:latin typeface="Consolas" panose="020B0609020204030204" pitchFamily="49" charset="0"/>
                <a:cs typeface="Consolas" panose="020B0609020204030204" pitchFamily="49" charset="0"/>
              </a:endParaRPr>
            </a:p>
          </p:txBody>
        </p:sp>
        <p:sp>
          <p:nvSpPr>
            <p:cNvPr id="11" name="椭圆 10"/>
            <p:cNvSpPr/>
            <p:nvPr/>
          </p:nvSpPr>
          <p:spPr>
            <a:xfrm>
              <a:off x="3257012"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B</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2595549"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D</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2264817" y="6103335"/>
              <a:ext cx="330731" cy="397499"/>
            </a:xfrm>
            <a:prstGeom prst="ellipse">
              <a:avLst/>
            </a:prstGeom>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b="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2992426" y="6103335"/>
              <a:ext cx="330731" cy="397499"/>
            </a:xfrm>
            <a:prstGeom prst="ellipse">
              <a:avLst/>
            </a:prstGeom>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15" name="直接连接符 14"/>
            <p:cNvCxnSpPr>
              <a:stCxn id="12" idx="3"/>
              <a:endCxn id="13" idx="0"/>
            </p:cNvCxnSpPr>
            <p:nvPr/>
          </p:nvCxnSpPr>
          <p:spPr>
            <a:xfrm rot="5400000">
              <a:off x="2342353"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16" name="直接连接符 15"/>
            <p:cNvCxnSpPr>
              <a:stCxn id="12" idx="5"/>
              <a:endCxn id="14" idx="0"/>
            </p:cNvCxnSpPr>
            <p:nvPr/>
          </p:nvCxnSpPr>
          <p:spPr>
            <a:xfrm rot="16200000" flipH="1">
              <a:off x="2823089"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17" name="椭圆 16"/>
            <p:cNvSpPr/>
            <p:nvPr/>
          </p:nvSpPr>
          <p:spPr>
            <a:xfrm>
              <a:off x="3852328"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E</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椭圆 17"/>
            <p:cNvSpPr/>
            <p:nvPr/>
          </p:nvSpPr>
          <p:spPr>
            <a:xfrm>
              <a:off x="3521597"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G</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9" name="椭圆 18"/>
            <p:cNvSpPr/>
            <p:nvPr/>
          </p:nvSpPr>
          <p:spPr>
            <a:xfrm>
              <a:off x="4249206"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H</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20" name="直接连接符 19"/>
            <p:cNvCxnSpPr>
              <a:stCxn id="17" idx="3"/>
              <a:endCxn id="18" idx="0"/>
            </p:cNvCxnSpPr>
            <p:nvPr/>
          </p:nvCxnSpPr>
          <p:spPr>
            <a:xfrm rot="5400000">
              <a:off x="3599132"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21" name="直接连接符 20"/>
            <p:cNvCxnSpPr>
              <a:stCxn id="17" idx="5"/>
              <a:endCxn id="19" idx="0"/>
            </p:cNvCxnSpPr>
            <p:nvPr/>
          </p:nvCxnSpPr>
          <p:spPr>
            <a:xfrm rot="16200000" flipH="1">
              <a:off x="4079868"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cxnSp>
          <p:nvCxnSpPr>
            <p:cNvPr id="22" name="直接连接符 21"/>
            <p:cNvCxnSpPr>
              <a:stCxn id="11" idx="3"/>
              <a:endCxn id="12" idx="7"/>
            </p:cNvCxnSpPr>
            <p:nvPr/>
          </p:nvCxnSpPr>
          <p:spPr>
            <a:xfrm rot="5400000">
              <a:off x="2900934"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23" name="直接连接符 22"/>
            <p:cNvCxnSpPr>
              <a:stCxn id="11" idx="5"/>
              <a:endCxn id="17" idx="1"/>
            </p:cNvCxnSpPr>
            <p:nvPr/>
          </p:nvCxnSpPr>
          <p:spPr>
            <a:xfrm rot="16200000" flipH="1">
              <a:off x="3529324"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sp>
          <p:nvSpPr>
            <p:cNvPr id="24" name="椭圆 23"/>
            <p:cNvSpPr/>
            <p:nvPr/>
          </p:nvSpPr>
          <p:spPr>
            <a:xfrm>
              <a:off x="6035156" y="4712088"/>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C</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25" name="椭圆 24"/>
            <p:cNvSpPr/>
            <p:nvPr/>
          </p:nvSpPr>
          <p:spPr>
            <a:xfrm>
              <a:off x="5373693" y="5374587"/>
              <a:ext cx="330731" cy="397499"/>
            </a:xfrm>
            <a:prstGeom prst="ellipse">
              <a:avLst/>
            </a:prstGeom>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b="0">
                <a:solidFill>
                  <a:srgbClr val="0000FF"/>
                </a:solidFill>
                <a:latin typeface="Consolas" panose="020B0609020204030204" pitchFamily="49" charset="0"/>
                <a:cs typeface="Consolas" panose="020B0609020204030204" pitchFamily="49" charset="0"/>
              </a:endParaRPr>
            </a:p>
          </p:txBody>
        </p:sp>
        <p:sp>
          <p:nvSpPr>
            <p:cNvPr id="26" name="椭圆 25"/>
            <p:cNvSpPr/>
            <p:nvPr/>
          </p:nvSpPr>
          <p:spPr>
            <a:xfrm>
              <a:off x="5042962" y="6103335"/>
              <a:ext cx="330731" cy="397499"/>
            </a:xfrm>
            <a:prstGeom prst="ellipse">
              <a:avLst/>
            </a:prstGeom>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b="0">
                <a:solidFill>
                  <a:srgbClr val="0000FF"/>
                </a:solidFill>
                <a:latin typeface="Consolas" panose="020B0609020204030204" pitchFamily="49" charset="0"/>
                <a:cs typeface="Consolas" panose="020B0609020204030204" pitchFamily="49" charset="0"/>
              </a:endParaRPr>
            </a:p>
          </p:txBody>
        </p:sp>
        <p:sp>
          <p:nvSpPr>
            <p:cNvPr id="27" name="椭圆 26"/>
            <p:cNvSpPr/>
            <p:nvPr/>
          </p:nvSpPr>
          <p:spPr>
            <a:xfrm>
              <a:off x="5770571" y="6103335"/>
              <a:ext cx="330731" cy="397499"/>
            </a:xfrm>
            <a:prstGeom prst="ellipse">
              <a:avLst/>
            </a:prstGeom>
            <a:ln w="28575">
              <a:prstDash val="sysDash"/>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b="0">
                <a:solidFill>
                  <a:srgbClr val="0000FF"/>
                </a:solidFill>
                <a:latin typeface="Consolas" panose="020B0609020204030204" pitchFamily="49" charset="0"/>
                <a:cs typeface="Consolas" panose="020B0609020204030204" pitchFamily="49" charset="0"/>
              </a:endParaRPr>
            </a:p>
          </p:txBody>
        </p:sp>
        <p:cxnSp>
          <p:nvCxnSpPr>
            <p:cNvPr id="28" name="直接连接符 27"/>
            <p:cNvCxnSpPr>
              <a:stCxn id="25" idx="3"/>
              <a:endCxn id="26" idx="0"/>
            </p:cNvCxnSpPr>
            <p:nvPr/>
          </p:nvCxnSpPr>
          <p:spPr>
            <a:xfrm rot="5400000">
              <a:off x="512049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29" name="直接连接符 28"/>
            <p:cNvCxnSpPr>
              <a:stCxn id="25" idx="5"/>
              <a:endCxn id="27" idx="0"/>
            </p:cNvCxnSpPr>
            <p:nvPr/>
          </p:nvCxnSpPr>
          <p:spPr>
            <a:xfrm rot="16200000" flipH="1">
              <a:off x="5601233" y="5768631"/>
              <a:ext cx="389461" cy="279946"/>
            </a:xfrm>
            <a:prstGeom prst="line">
              <a:avLst/>
            </a:prstGeom>
            <a:ln w="19050"/>
          </p:spPr>
          <p:style>
            <a:lnRef idx="2">
              <a:schemeClr val="dk1"/>
            </a:lnRef>
            <a:fillRef idx="0">
              <a:schemeClr val="dk1"/>
            </a:fillRef>
            <a:effectRef idx="1">
              <a:schemeClr val="dk1"/>
            </a:effectRef>
            <a:fontRef idx="minor">
              <a:schemeClr val="tx1"/>
            </a:fontRef>
          </p:style>
        </p:cxnSp>
        <p:sp>
          <p:nvSpPr>
            <p:cNvPr id="30" name="椭圆 29"/>
            <p:cNvSpPr/>
            <p:nvPr/>
          </p:nvSpPr>
          <p:spPr>
            <a:xfrm>
              <a:off x="6630473" y="537458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F</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31" name="椭圆 30"/>
            <p:cNvSpPr/>
            <p:nvPr/>
          </p:nvSpPr>
          <p:spPr>
            <a:xfrm>
              <a:off x="6299741" y="6103335"/>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lnSpc>
                  <a:spcPts val="2600"/>
                </a:lnSpc>
                <a:spcBef>
                  <a:spcPts val="0"/>
                </a:spcBef>
              </a:pPr>
              <a:r>
                <a:rPr lang="en-US" altLang="zh-CN" sz="1600" b="0" smtClean="0">
                  <a:solidFill>
                    <a:srgbClr val="0000FF"/>
                  </a:solidFill>
                  <a:latin typeface="Consolas" panose="020B0609020204030204" pitchFamily="49" charset="0"/>
                  <a:cs typeface="Consolas" panose="020B0609020204030204" pitchFamily="49" charset="0"/>
                </a:rPr>
                <a:t>I</a:t>
              </a:r>
              <a:endParaRPr lang="zh-CN" altLang="en-US" sz="1600" b="0">
                <a:solidFill>
                  <a:srgbClr val="0000FF"/>
                </a:solidFill>
                <a:latin typeface="Consolas" panose="020B0609020204030204" pitchFamily="49" charset="0"/>
                <a:cs typeface="Consolas" panose="020B0609020204030204" pitchFamily="49" charset="0"/>
              </a:endParaRPr>
            </a:p>
          </p:txBody>
        </p:sp>
        <p:cxnSp>
          <p:nvCxnSpPr>
            <p:cNvPr id="32" name="直接连接符 31"/>
            <p:cNvCxnSpPr>
              <a:stCxn id="30" idx="3"/>
              <a:endCxn id="31" idx="0"/>
            </p:cNvCxnSpPr>
            <p:nvPr/>
          </p:nvCxnSpPr>
          <p:spPr>
            <a:xfrm rot="5400000">
              <a:off x="6377277" y="5801704"/>
              <a:ext cx="389461" cy="213800"/>
            </a:xfrm>
            <a:prstGeom prst="line">
              <a:avLst/>
            </a:prstGeom>
            <a:ln w="19050"/>
          </p:spPr>
          <p:style>
            <a:lnRef idx="2">
              <a:schemeClr val="dk1"/>
            </a:lnRef>
            <a:fillRef idx="0">
              <a:schemeClr val="dk1"/>
            </a:fillRef>
            <a:effectRef idx="1">
              <a:schemeClr val="dk1"/>
            </a:effectRef>
            <a:fontRef idx="minor">
              <a:schemeClr val="tx1"/>
            </a:fontRef>
          </p:style>
        </p:cxnSp>
        <p:cxnSp>
          <p:nvCxnSpPr>
            <p:cNvPr id="33" name="直接连接符 32"/>
            <p:cNvCxnSpPr>
              <a:stCxn id="24" idx="3"/>
              <a:endCxn id="25" idx="7"/>
            </p:cNvCxnSpPr>
            <p:nvPr/>
          </p:nvCxnSpPr>
          <p:spPr>
            <a:xfrm rot="5400000">
              <a:off x="5679078" y="5028287"/>
              <a:ext cx="381424" cy="427600"/>
            </a:xfrm>
            <a:prstGeom prst="line">
              <a:avLst/>
            </a:prstGeom>
            <a:ln w="19050"/>
          </p:spPr>
          <p:style>
            <a:lnRef idx="2">
              <a:schemeClr val="dk1"/>
            </a:lnRef>
            <a:fillRef idx="0">
              <a:schemeClr val="dk1"/>
            </a:fillRef>
            <a:effectRef idx="1">
              <a:schemeClr val="dk1"/>
            </a:effectRef>
            <a:fontRef idx="minor">
              <a:schemeClr val="tx1"/>
            </a:fontRef>
          </p:style>
        </p:cxnSp>
        <p:cxnSp>
          <p:nvCxnSpPr>
            <p:cNvPr id="34" name="直接连接符 33"/>
            <p:cNvCxnSpPr>
              <a:stCxn id="24" idx="5"/>
              <a:endCxn id="30" idx="1"/>
            </p:cNvCxnSpPr>
            <p:nvPr/>
          </p:nvCxnSpPr>
          <p:spPr>
            <a:xfrm rot="16200000" flipH="1">
              <a:off x="6307468" y="5061360"/>
              <a:ext cx="381424" cy="361454"/>
            </a:xfrm>
            <a:prstGeom prst="line">
              <a:avLst/>
            </a:prstGeom>
            <a:ln w="19050"/>
          </p:spPr>
          <p:style>
            <a:lnRef idx="2">
              <a:schemeClr val="dk1"/>
            </a:lnRef>
            <a:fillRef idx="0">
              <a:schemeClr val="dk1"/>
            </a:fillRef>
            <a:effectRef idx="1">
              <a:schemeClr val="dk1"/>
            </a:effectRef>
            <a:fontRef idx="minor">
              <a:schemeClr val="tx1"/>
            </a:fontRef>
          </p:style>
        </p:cxnSp>
        <p:cxnSp>
          <p:nvCxnSpPr>
            <p:cNvPr id="35" name="直接连接符 34"/>
            <p:cNvCxnSpPr>
              <a:stCxn id="10" idx="2"/>
              <a:endCxn id="11" idx="7"/>
            </p:cNvCxnSpPr>
            <p:nvPr/>
          </p:nvCxnSpPr>
          <p:spPr>
            <a:xfrm rot="10800000" flipV="1">
              <a:off x="3539310" y="4115839"/>
              <a:ext cx="1040629" cy="654461"/>
            </a:xfrm>
            <a:prstGeom prst="line">
              <a:avLst/>
            </a:prstGeom>
            <a:ln w="19050"/>
          </p:spPr>
          <p:style>
            <a:lnRef idx="2">
              <a:schemeClr val="dk1"/>
            </a:lnRef>
            <a:fillRef idx="0">
              <a:schemeClr val="dk1"/>
            </a:fillRef>
            <a:effectRef idx="1">
              <a:schemeClr val="dk1"/>
            </a:effectRef>
            <a:fontRef idx="minor">
              <a:schemeClr val="tx1"/>
            </a:fontRef>
          </p:style>
        </p:cxnSp>
        <p:cxnSp>
          <p:nvCxnSpPr>
            <p:cNvPr id="36" name="直接连接符 35"/>
            <p:cNvCxnSpPr>
              <a:stCxn id="10" idx="6"/>
              <a:endCxn id="24" idx="1"/>
            </p:cNvCxnSpPr>
            <p:nvPr/>
          </p:nvCxnSpPr>
          <p:spPr>
            <a:xfrm>
              <a:off x="4910669" y="4115840"/>
              <a:ext cx="1172921" cy="654461"/>
            </a:xfrm>
            <a:prstGeom prst="line">
              <a:avLst/>
            </a:prstGeom>
            <a:ln w="19050"/>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4381499" y="3764165"/>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8" name="TextBox 37"/>
            <p:cNvSpPr txBox="1"/>
            <p:nvPr/>
          </p:nvSpPr>
          <p:spPr>
            <a:xfrm>
              <a:off x="2959847" y="4691663"/>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39" name="TextBox 38"/>
            <p:cNvSpPr txBox="1"/>
            <p:nvPr/>
          </p:nvSpPr>
          <p:spPr>
            <a:xfrm>
              <a:off x="2463256" y="5242087"/>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0" name="TextBox 39"/>
            <p:cNvSpPr txBox="1"/>
            <p:nvPr/>
          </p:nvSpPr>
          <p:spPr>
            <a:xfrm>
              <a:off x="2000232" y="6082910"/>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7</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1" name="TextBox 40"/>
            <p:cNvSpPr txBox="1"/>
            <p:nvPr/>
          </p:nvSpPr>
          <p:spPr>
            <a:xfrm>
              <a:off x="2719943" y="6037086"/>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8</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2" name="TextBox 41"/>
            <p:cNvSpPr txBox="1"/>
            <p:nvPr/>
          </p:nvSpPr>
          <p:spPr>
            <a:xfrm>
              <a:off x="4116913" y="5175837"/>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4</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3" name="TextBox 42"/>
            <p:cNvSpPr txBox="1"/>
            <p:nvPr/>
          </p:nvSpPr>
          <p:spPr>
            <a:xfrm>
              <a:off x="3455451" y="5838336"/>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9</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4" name="TextBox 43"/>
            <p:cNvSpPr txBox="1"/>
            <p:nvPr/>
          </p:nvSpPr>
          <p:spPr>
            <a:xfrm>
              <a:off x="4322263" y="5860245"/>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10</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5" name="TextBox 44"/>
            <p:cNvSpPr txBox="1"/>
            <p:nvPr/>
          </p:nvSpPr>
          <p:spPr>
            <a:xfrm>
              <a:off x="6318499" y="4712088"/>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2</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6" name="TextBox 45"/>
            <p:cNvSpPr txBox="1"/>
            <p:nvPr/>
          </p:nvSpPr>
          <p:spPr>
            <a:xfrm>
              <a:off x="5247070" y="5238284"/>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5</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7" name="TextBox 46"/>
            <p:cNvSpPr txBox="1"/>
            <p:nvPr/>
          </p:nvSpPr>
          <p:spPr>
            <a:xfrm>
              <a:off x="4757052" y="5985954"/>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11</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8" name="TextBox 47"/>
            <p:cNvSpPr txBox="1"/>
            <p:nvPr/>
          </p:nvSpPr>
          <p:spPr>
            <a:xfrm>
              <a:off x="6798306" y="5207218"/>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6</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49" name="TextBox 48"/>
            <p:cNvSpPr txBox="1"/>
            <p:nvPr/>
          </p:nvSpPr>
          <p:spPr>
            <a:xfrm>
              <a:off x="6492059" y="5997925"/>
              <a:ext cx="39687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13</a:t>
              </a:r>
              <a:endParaRPr lang="zh-CN" altLang="en-US" sz="1400" b="0">
                <a:solidFill>
                  <a:srgbClr val="FF00FF"/>
                </a:solidFill>
                <a:latin typeface="Consolas" panose="020B0609020204030204" pitchFamily="49" charset="0"/>
                <a:cs typeface="Consolas" panose="020B0609020204030204" pitchFamily="49" charset="0"/>
              </a:endParaRPr>
            </a:p>
          </p:txBody>
        </p:sp>
        <p:sp>
          <p:nvSpPr>
            <p:cNvPr id="50" name="TextBox 49"/>
            <p:cNvSpPr txBox="1"/>
            <p:nvPr/>
          </p:nvSpPr>
          <p:spPr>
            <a:xfrm>
              <a:off x="5429256" y="6000768"/>
              <a:ext cx="428628" cy="201768"/>
            </a:xfrm>
            <a:prstGeom prst="rect">
              <a:avLst/>
            </a:prstGeom>
            <a:noFill/>
          </p:spPr>
          <p:txBody>
            <a:bodyPr wrap="square" lIns="0" tIns="0" rIns="0" bIns="0" rtlCol="0">
              <a:spAutoFit/>
            </a:bodyPr>
            <a:lstStyle/>
            <a:p>
              <a:r>
                <a:rPr lang="en-US" altLang="zh-CN" sz="1400" b="0" smtClean="0">
                  <a:solidFill>
                    <a:srgbClr val="FF00FF"/>
                  </a:solidFill>
                  <a:latin typeface="Consolas" panose="020B0609020204030204" pitchFamily="49" charset="0"/>
                  <a:cs typeface="Consolas" panose="020B0609020204030204" pitchFamily="49" charset="0"/>
                </a:rPr>
                <a:t>12</a:t>
              </a:r>
              <a:endParaRPr lang="zh-CN" altLang="en-US" sz="1400" b="0">
                <a:solidFill>
                  <a:srgbClr val="FF00FF"/>
                </a:solidFill>
                <a:latin typeface="Consolas" panose="020B0609020204030204" pitchFamily="49" charset="0"/>
                <a:cs typeface="Consolas" panose="020B0609020204030204" pitchFamily="49" charset="0"/>
              </a:endParaRPr>
            </a:p>
          </p:txBody>
        </p:sp>
      </p:grpSp>
      <p:sp>
        <p:nvSpPr>
          <p:cNvPr id="52" name="TextBox 51"/>
          <p:cNvSpPr txBox="1"/>
          <p:nvPr/>
        </p:nvSpPr>
        <p:spPr>
          <a:xfrm>
            <a:off x="642910" y="5357032"/>
            <a:ext cx="2000264" cy="338554"/>
          </a:xfrm>
          <a:prstGeom prst="rect">
            <a:avLst/>
          </a:prstGeom>
          <a:noFill/>
        </p:spPr>
        <p:txBody>
          <a:bodyPr wrap="square" rtlCol="0">
            <a:spAutoFit/>
          </a:bodyPr>
          <a:lstStyle/>
          <a:p>
            <a:pPr algn="l">
              <a:lnSpc>
                <a:spcPct val="100000"/>
              </a:lnSpc>
              <a:spcBef>
                <a:spcPts val="0"/>
              </a:spcBef>
            </a:pP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sb</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的下标从</a:t>
            </a:r>
            <a:r>
              <a:rPr lang="en-US" altLang="zh-CN"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0</a:t>
            </a:r>
            <a:r>
              <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rPr>
              <a:t>开始</a:t>
            </a:r>
            <a:endParaRPr lang="zh-CN" altLang="en-US" sz="1600" smtClean="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53" name="直接箭头连接符 52"/>
          <p:cNvCxnSpPr/>
          <p:nvPr/>
        </p:nvCxnSpPr>
        <p:spPr>
          <a:xfrm rot="5400000" flipH="1" flipV="1">
            <a:off x="1250133" y="5249875"/>
            <a:ext cx="21431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54" name="TextBox 53"/>
          <p:cNvSpPr txBox="1"/>
          <p:nvPr/>
        </p:nvSpPr>
        <p:spPr>
          <a:xfrm>
            <a:off x="500034" y="428604"/>
            <a:ext cx="71438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1500166" y="5857892"/>
            <a:ext cx="4714908" cy="369332"/>
          </a:xfrm>
          <a:prstGeom prst="rect">
            <a:avLst/>
          </a:prstGeom>
          <a:noFill/>
        </p:spPr>
        <p:txBody>
          <a:bodyPr wrap="square" rtlCol="0">
            <a:spAutoFit/>
          </a:bodyPr>
          <a:lstStyle/>
          <a:p>
            <a:pPr algn="l">
              <a:lnSpc>
                <a:spcPct val="100000"/>
              </a:lnSpc>
              <a:spcBef>
                <a:spcPts val="0"/>
              </a:spcBef>
            </a:pPr>
            <a:r>
              <a:rPr lang="en-US" altLang="zh-CN" sz="1800" smtClean="0">
                <a:solidFill>
                  <a:srgbClr val="0000FF"/>
                </a:solidFill>
                <a:latin typeface="Consolas" panose="020B0609020204030204" pitchFamily="49" charset="0"/>
                <a:cs typeface="Consolas" panose="020B0609020204030204" pitchFamily="49" charset="0"/>
              </a:rPr>
              <a:t>string sb="ABCDE#F##GH##I##";</a:t>
            </a:r>
            <a:endParaRPr lang="zh-CN" altLang="zh-CN" sz="1800" smtClean="0">
              <a:solidFill>
                <a:srgbClr val="0000FF"/>
              </a:solidFill>
              <a:latin typeface="Consolas" panose="020B0609020204030204" pitchFamily="49" charset="0"/>
              <a:cs typeface="Consolas" panose="020B0609020204030204" pitchFamily="49" charset="0"/>
            </a:endParaRPr>
          </a:p>
        </p:txBody>
      </p:sp>
      <p:sp>
        <p:nvSpPr>
          <p:cNvPr id="57" name="灯片编号占位符 5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8" grpId="0"/>
      <p:bldP spid="5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142984"/>
            <a:ext cx="7858180" cy="18040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二叉树顺序存储结构采用</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字符串</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（假设每个结点值为单个字符）</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zh-CN" altLang="en-US"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数组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当二叉树中某结点为空结点或无效结点（不存在该编号的结点）时，对应位置的值用特殊值（如</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857224" y="1285860"/>
            <a:ext cx="7677174" cy="155799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ts val="26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完全二叉树或满二叉树采用顺序存储结构比较合适</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12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需要增加很多空结点才能将一棵二叉树改造成为一棵完全二叉树，采用顺序存储结构会造成空间的大量浪费，这时不宜用顺序存储结构。 </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2"/>
          <p:cNvGrpSpPr/>
          <p:nvPr/>
        </p:nvGrpSpPr>
        <p:grpSpPr>
          <a:xfrm>
            <a:off x="1857356" y="3571876"/>
            <a:ext cx="5617143" cy="2152320"/>
            <a:chOff x="2169567" y="2500306"/>
            <a:chExt cx="5617143" cy="2152320"/>
          </a:xfrm>
        </p:grpSpPr>
        <p:sp>
          <p:nvSpPr>
            <p:cNvPr id="5" name="椭圆 4"/>
            <p:cNvSpPr/>
            <p:nvPr/>
          </p:nvSpPr>
          <p:spPr>
            <a:xfrm>
              <a:off x="2169567" y="2500306"/>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zh-CN" altLang="en-US" sz="20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2627299" y="3112119"/>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zh-CN" altLang="en-US" sz="20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3055927" y="3683623"/>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zh-CN" altLang="en-US" sz="20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椭圆 7"/>
            <p:cNvSpPr/>
            <p:nvPr/>
          </p:nvSpPr>
          <p:spPr>
            <a:xfrm>
              <a:off x="3500430" y="4255127"/>
              <a:ext cx="330731" cy="3974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l"/>
              <a:endParaRPr lang="zh-CN" altLang="en-US" sz="20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连接符 8"/>
            <p:cNvCxnSpPr>
              <a:stCxn id="5" idx="5"/>
              <a:endCxn id="6" idx="1"/>
            </p:cNvCxnSpPr>
            <p:nvPr/>
          </p:nvCxnSpPr>
          <p:spPr>
            <a:xfrm rot="16200000" flipH="1">
              <a:off x="2398429" y="2893027"/>
              <a:ext cx="330738" cy="223869"/>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6" idx="5"/>
              <a:endCxn id="7" idx="1"/>
            </p:cNvCxnSpPr>
            <p:nvPr/>
          </p:nvCxnSpPr>
          <p:spPr>
            <a:xfrm rot="16200000" flipH="1">
              <a:off x="2861764" y="3499237"/>
              <a:ext cx="290429" cy="194765"/>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7" idx="5"/>
              <a:endCxn id="8" idx="1"/>
            </p:cNvCxnSpPr>
            <p:nvPr/>
          </p:nvCxnSpPr>
          <p:spPr>
            <a:xfrm rot="16200000" flipH="1">
              <a:off x="3298330" y="4062804"/>
              <a:ext cx="290429" cy="210640"/>
            </a:xfrm>
            <a:prstGeom prst="line">
              <a:avLst/>
            </a:prstGeom>
            <a:ln w="19050"/>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4000496" y="2938114"/>
              <a:ext cx="3786214" cy="1323439"/>
            </a:xfrm>
            <a:prstGeom prst="rect">
              <a:avLst/>
            </a:prstGeom>
            <a:noFill/>
          </p:spPr>
          <p:txBody>
            <a:bodyPr wrap="square" rtlCol="0">
              <a:spAutoFit/>
            </a:bodyPr>
            <a:lstStyle/>
            <a:p>
              <a:pPr marL="457200" indent="-457200" algn="l">
                <a:lnSpc>
                  <a:spcPct val="100000"/>
                </a:lnSpc>
                <a:buBlip>
                  <a:blip r:embed="rId2"/>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2"/>
                </a:buBlip>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MaxSize=2</a:t>
              </a:r>
              <a:r>
                <a:rPr lang="en-US" altLang="zh-CN" sz="2000" baseline="30000" smtClean="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-1=15</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2"/>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空间利用率</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=4/15=27%</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4" name="Oval 11"/>
          <p:cNvSpPr>
            <a:spLocks noChangeArrowheads="1"/>
          </p:cNvSpPr>
          <p:nvPr/>
        </p:nvSpPr>
        <p:spPr bwMode="auto">
          <a:xfrm>
            <a:off x="928662" y="285728"/>
            <a:ext cx="928694"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lstStyle/>
          <a:p>
            <a:pPr algn="ctr" latinLnBrk="1"/>
            <a:r>
              <a:rPr kumimoji="1" lang="zh-CN" altLang="en-US" sz="1800" b="1" smtClean="0">
                <a:solidFill>
                  <a:schemeClr val="bg1"/>
                </a:solidFill>
                <a:latin typeface="微软雅黑" panose="020B0503020204020204" pitchFamily="34" charset="-122"/>
                <a:ea typeface="微软雅黑" panose="020B0503020204020204" pitchFamily="34" charset="-122"/>
              </a:rPr>
              <a:t>优缺点</a:t>
            </a:r>
            <a:endParaRPr kumimoji="1" lang="en-US" altLang="ko-KR" sz="1800" b="1">
              <a:solidFill>
                <a:schemeClr val="bg1"/>
              </a:solidFill>
              <a:latin typeface="微软雅黑" panose="020B0503020204020204" pitchFamily="34" charset="-122"/>
              <a:ea typeface="微软雅黑" panose="020B0503020204020204" pitchFamily="34" charset="-122"/>
            </a:endParaRPr>
          </a:p>
        </p:txBody>
      </p:sp>
      <p:sp>
        <p:nvSpPr>
          <p:cNvPr id="15" name="灯片编号占位符 1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642918"/>
            <a:ext cx="357190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二叉树的链式存储结构</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110639" name="Rectangle 4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50"/>
          <p:cNvGrpSpPr/>
          <p:nvPr/>
        </p:nvGrpSpPr>
        <p:grpSpPr>
          <a:xfrm>
            <a:off x="714348" y="2103913"/>
            <a:ext cx="1900083" cy="1925032"/>
            <a:chOff x="1150124" y="3032607"/>
            <a:chExt cx="1900083" cy="1925032"/>
          </a:xfrm>
        </p:grpSpPr>
        <p:sp>
          <p:nvSpPr>
            <p:cNvPr id="110626" name="Line 34"/>
            <p:cNvSpPr>
              <a:spLocks noChangeShapeType="1"/>
            </p:cNvSpPr>
            <p:nvPr/>
          </p:nvSpPr>
          <p:spPr bwMode="auto">
            <a:xfrm>
              <a:off x="2214546" y="3286124"/>
              <a:ext cx="201626" cy="255318"/>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7"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6" name="Line 44"/>
            <p:cNvSpPr>
              <a:spLocks noChangeShapeType="1"/>
            </p:cNvSpPr>
            <p:nvPr/>
          </p:nvSpPr>
          <p:spPr bwMode="auto">
            <a:xfrm>
              <a:off x="1369024" y="4327825"/>
              <a:ext cx="308248" cy="334084"/>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5"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4" name="Line 42"/>
            <p:cNvSpPr>
              <a:spLocks noChangeShapeType="1"/>
            </p:cNvSpPr>
            <p:nvPr/>
          </p:nvSpPr>
          <p:spPr bwMode="auto">
            <a:xfrm flipH="1">
              <a:off x="1296653" y="3705059"/>
              <a:ext cx="285911" cy="406897"/>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3" name="Line 41"/>
            <p:cNvSpPr>
              <a:spLocks noChangeShapeType="1"/>
            </p:cNvSpPr>
            <p:nvPr/>
          </p:nvSpPr>
          <p:spPr bwMode="auto">
            <a:xfrm flipH="1">
              <a:off x="1632598" y="3155105"/>
              <a:ext cx="477114" cy="409467"/>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32"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31"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30"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9"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8"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7"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5" name="Oval 33"/>
            <p:cNvSpPr>
              <a:spLocks noChangeArrowheads="1"/>
            </p:cNvSpPr>
            <p:nvPr/>
          </p:nvSpPr>
          <p:spPr bwMode="auto">
            <a:xfrm>
              <a:off x="1568268" y="4633639"/>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10623" name="Text Box 31"/>
          <p:cNvSpPr txBox="1">
            <a:spLocks noChangeArrowheads="1"/>
          </p:cNvSpPr>
          <p:nvPr/>
        </p:nvSpPr>
        <p:spPr bwMode="auto">
          <a:xfrm>
            <a:off x="2714612" y="2357430"/>
            <a:ext cx="1643074" cy="273263"/>
          </a:xfrm>
          <a:prstGeom prst="rect">
            <a:avLst/>
          </a:prstGeom>
          <a:noFill/>
          <a:ln w="9525">
            <a:noFill/>
            <a:miter lim="800000"/>
          </a:ln>
        </p:spPr>
        <p:txBody>
          <a:bodyPr vert="horz" wrap="square" lIns="0" tIns="0" rIns="0" bIns="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二叉链存储结构</a:t>
            </a:r>
            <a:endParaRPr kumimoji="0" lang="zh-CN" altLang="en-US" sz="180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51"/>
          <p:cNvGrpSpPr/>
          <p:nvPr/>
        </p:nvGrpSpPr>
        <p:grpSpPr>
          <a:xfrm>
            <a:off x="4623345" y="1643050"/>
            <a:ext cx="4020621" cy="2316314"/>
            <a:chOff x="4409031" y="2571744"/>
            <a:chExt cx="4020621" cy="2316314"/>
          </a:xfrm>
        </p:grpSpPr>
        <p:sp>
          <p:nvSpPr>
            <p:cNvPr id="110622" name="Rectangle 30"/>
            <p:cNvSpPr>
              <a:spLocks noChangeArrowheads="1"/>
            </p:cNvSpPr>
            <p:nvPr/>
          </p:nvSpPr>
          <p:spPr bwMode="auto">
            <a:xfrm>
              <a:off x="5856455"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1" name="Rectangle 29"/>
            <p:cNvSpPr>
              <a:spLocks noChangeArrowheads="1"/>
            </p:cNvSpPr>
            <p:nvPr/>
          </p:nvSpPr>
          <p:spPr bwMode="auto">
            <a:xfrm>
              <a:off x="6178104"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20" name="Rectangle 28"/>
            <p:cNvSpPr>
              <a:spLocks noChangeArrowheads="1"/>
            </p:cNvSpPr>
            <p:nvPr/>
          </p:nvSpPr>
          <p:spPr bwMode="auto">
            <a:xfrm>
              <a:off x="6499754"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9" name="Rectangle 27"/>
            <p:cNvSpPr>
              <a:spLocks noChangeArrowheads="1"/>
            </p:cNvSpPr>
            <p:nvPr/>
          </p:nvSpPr>
          <p:spPr bwMode="auto">
            <a:xfrm>
              <a:off x="4891506"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8" name="Rectangle 26"/>
            <p:cNvSpPr>
              <a:spLocks noChangeArrowheads="1"/>
            </p:cNvSpPr>
            <p:nvPr/>
          </p:nvSpPr>
          <p:spPr bwMode="auto">
            <a:xfrm>
              <a:off x="5213155"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7" name="Rectangle 25"/>
            <p:cNvSpPr>
              <a:spLocks noChangeArrowheads="1"/>
            </p:cNvSpPr>
            <p:nvPr/>
          </p:nvSpPr>
          <p:spPr bwMode="auto">
            <a:xfrm>
              <a:off x="5534805"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6" name="Rectangle 24"/>
            <p:cNvSpPr>
              <a:spLocks noChangeArrowheads="1"/>
            </p:cNvSpPr>
            <p:nvPr/>
          </p:nvSpPr>
          <p:spPr bwMode="auto">
            <a:xfrm>
              <a:off x="6821404" y="3552579"/>
              <a:ext cx="320756"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5" name="Rectangle 23"/>
            <p:cNvSpPr>
              <a:spLocks noChangeArrowheads="1"/>
            </p:cNvSpPr>
            <p:nvPr/>
          </p:nvSpPr>
          <p:spPr bwMode="auto">
            <a:xfrm>
              <a:off x="7142160" y="3552579"/>
              <a:ext cx="322543"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4" name="Rectangle 22"/>
            <p:cNvSpPr>
              <a:spLocks noChangeArrowheads="1"/>
            </p:cNvSpPr>
            <p:nvPr/>
          </p:nvSpPr>
          <p:spPr bwMode="auto">
            <a:xfrm>
              <a:off x="7464703"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3" name="Rectangle 21"/>
            <p:cNvSpPr>
              <a:spLocks noChangeArrowheads="1"/>
            </p:cNvSpPr>
            <p:nvPr/>
          </p:nvSpPr>
          <p:spPr bwMode="auto">
            <a:xfrm>
              <a:off x="4409031"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2" name="Rectangle 20"/>
            <p:cNvSpPr>
              <a:spLocks noChangeArrowheads="1"/>
            </p:cNvSpPr>
            <p:nvPr/>
          </p:nvSpPr>
          <p:spPr bwMode="auto">
            <a:xfrm>
              <a:off x="4730681"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1" name="Rectangle 19"/>
            <p:cNvSpPr>
              <a:spLocks noChangeArrowheads="1"/>
            </p:cNvSpPr>
            <p:nvPr/>
          </p:nvSpPr>
          <p:spPr bwMode="auto">
            <a:xfrm>
              <a:off x="5052330"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10" name="Rectangle 18"/>
            <p:cNvSpPr>
              <a:spLocks noChangeArrowheads="1"/>
            </p:cNvSpPr>
            <p:nvPr/>
          </p:nvSpPr>
          <p:spPr bwMode="auto">
            <a:xfrm>
              <a:off x="6338929" y="4086257"/>
              <a:ext cx="320756"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9" name="Rectangle 17"/>
            <p:cNvSpPr>
              <a:spLocks noChangeArrowheads="1"/>
            </p:cNvSpPr>
            <p:nvPr/>
          </p:nvSpPr>
          <p:spPr bwMode="auto">
            <a:xfrm>
              <a:off x="6659685" y="4086257"/>
              <a:ext cx="322543"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8" name="Rectangle 16"/>
            <p:cNvSpPr>
              <a:spLocks noChangeArrowheads="1"/>
            </p:cNvSpPr>
            <p:nvPr/>
          </p:nvSpPr>
          <p:spPr bwMode="auto">
            <a:xfrm>
              <a:off x="6982229"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7" name="Rectangle 15"/>
            <p:cNvSpPr>
              <a:spLocks noChangeArrowheads="1"/>
            </p:cNvSpPr>
            <p:nvPr/>
          </p:nvSpPr>
          <p:spPr bwMode="auto">
            <a:xfrm>
              <a:off x="537398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6" name="Rectangle 14"/>
            <p:cNvSpPr>
              <a:spLocks noChangeArrowheads="1"/>
            </p:cNvSpPr>
            <p:nvPr/>
          </p:nvSpPr>
          <p:spPr bwMode="auto">
            <a:xfrm>
              <a:off x="569563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5" name="Rectangle 13"/>
            <p:cNvSpPr>
              <a:spLocks noChangeArrowheads="1"/>
            </p:cNvSpPr>
            <p:nvPr/>
          </p:nvSpPr>
          <p:spPr bwMode="auto">
            <a:xfrm>
              <a:off x="601728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4" name="Rectangle 12"/>
            <p:cNvSpPr>
              <a:spLocks noChangeArrowheads="1"/>
            </p:cNvSpPr>
            <p:nvPr/>
          </p:nvSpPr>
          <p:spPr bwMode="auto">
            <a:xfrm>
              <a:off x="7464703"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3" name="Rectangle 11"/>
            <p:cNvSpPr>
              <a:spLocks noChangeArrowheads="1"/>
            </p:cNvSpPr>
            <p:nvPr/>
          </p:nvSpPr>
          <p:spPr bwMode="auto">
            <a:xfrm>
              <a:off x="7786353" y="4086257"/>
              <a:ext cx="320756"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2" name="Rectangle 10"/>
            <p:cNvSpPr>
              <a:spLocks noChangeArrowheads="1"/>
            </p:cNvSpPr>
            <p:nvPr/>
          </p:nvSpPr>
          <p:spPr bwMode="auto">
            <a:xfrm>
              <a:off x="8107109" y="4086257"/>
              <a:ext cx="322543"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601" name="Freeform 9"/>
            <p:cNvSpPr/>
            <p:nvPr/>
          </p:nvSpPr>
          <p:spPr bwMode="auto">
            <a:xfrm>
              <a:off x="5688482" y="3150822"/>
              <a:ext cx="328797" cy="395761"/>
            </a:xfrm>
            <a:custGeom>
              <a:avLst/>
              <a:gdLst/>
              <a:ahLst/>
              <a:cxnLst>
                <a:cxn ang="0">
                  <a:pos x="367" y="0"/>
                </a:cxn>
                <a:cxn ang="0">
                  <a:pos x="0" y="462"/>
                </a:cxn>
              </a:cxnLst>
              <a:rect l="0" t="0" r="r" b="b"/>
              <a:pathLst>
                <a:path w="367" h="462">
                  <a:moveTo>
                    <a:pt x="367" y="0"/>
                  </a:moveTo>
                  <a:lnTo>
                    <a:pt x="0" y="462"/>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600" name="Freeform 8"/>
            <p:cNvSpPr/>
            <p:nvPr/>
          </p:nvSpPr>
          <p:spPr bwMode="auto">
            <a:xfrm>
              <a:off x="6673981" y="3167955"/>
              <a:ext cx="308248" cy="384625"/>
            </a:xfrm>
            <a:custGeom>
              <a:avLst/>
              <a:gdLst/>
              <a:ahLst/>
              <a:cxnLst>
                <a:cxn ang="0">
                  <a:pos x="0" y="0"/>
                </a:cxn>
                <a:cxn ang="0">
                  <a:pos x="345" y="448"/>
                </a:cxn>
              </a:cxnLst>
              <a:rect l="0" t="0" r="r" b="b"/>
              <a:pathLst>
                <a:path w="345" h="448">
                  <a:moveTo>
                    <a:pt x="0" y="0"/>
                  </a:moveTo>
                  <a:lnTo>
                    <a:pt x="345" y="44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599" name="Line 7"/>
            <p:cNvSpPr>
              <a:spLocks noChangeShapeType="1"/>
            </p:cNvSpPr>
            <p:nvPr/>
          </p:nvSpPr>
          <p:spPr bwMode="auto">
            <a:xfrm flipH="1">
              <a:off x="4730681" y="3685356"/>
              <a:ext cx="321650" cy="400900"/>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598" name="Line 6"/>
            <p:cNvSpPr>
              <a:spLocks noChangeShapeType="1"/>
            </p:cNvSpPr>
            <p:nvPr/>
          </p:nvSpPr>
          <p:spPr bwMode="auto">
            <a:xfrm>
              <a:off x="5213155" y="4219890"/>
              <a:ext cx="321650" cy="400900"/>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597" name="Freeform 5"/>
            <p:cNvSpPr/>
            <p:nvPr/>
          </p:nvSpPr>
          <p:spPr bwMode="auto">
            <a:xfrm>
              <a:off x="6760648" y="3685356"/>
              <a:ext cx="221581" cy="394904"/>
            </a:xfrm>
            <a:custGeom>
              <a:avLst/>
              <a:gdLst/>
              <a:ahLst/>
              <a:cxnLst>
                <a:cxn ang="0">
                  <a:pos x="247" y="0"/>
                </a:cxn>
                <a:cxn ang="0">
                  <a:pos x="0" y="461"/>
                </a:cxn>
              </a:cxnLst>
              <a:rect l="0" t="0" r="r" b="b"/>
              <a:pathLst>
                <a:path w="247" h="461">
                  <a:moveTo>
                    <a:pt x="247" y="0"/>
                  </a:moveTo>
                  <a:lnTo>
                    <a:pt x="0" y="461"/>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596" name="Freeform 4"/>
            <p:cNvSpPr/>
            <p:nvPr/>
          </p:nvSpPr>
          <p:spPr bwMode="auto">
            <a:xfrm>
              <a:off x="7624635" y="3685356"/>
              <a:ext cx="228729" cy="400900"/>
            </a:xfrm>
            <a:custGeom>
              <a:avLst/>
              <a:gdLst/>
              <a:ahLst/>
              <a:cxnLst>
                <a:cxn ang="0">
                  <a:pos x="0" y="0"/>
                </a:cxn>
                <a:cxn ang="0">
                  <a:pos x="255" y="468"/>
                </a:cxn>
              </a:cxnLst>
              <a:rect l="0" t="0" r="r" b="b"/>
              <a:pathLst>
                <a:path w="255" h="468">
                  <a:moveTo>
                    <a:pt x="0" y="0"/>
                  </a:moveTo>
                  <a:lnTo>
                    <a:pt x="255" y="46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0595" name="Text Box 3"/>
            <p:cNvSpPr txBox="1">
              <a:spLocks noChangeArrowheads="1"/>
            </p:cNvSpPr>
            <p:nvPr/>
          </p:nvSpPr>
          <p:spPr bwMode="auto">
            <a:xfrm>
              <a:off x="5608070" y="2571744"/>
              <a:ext cx="245705" cy="2732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0594" name="Arc 2"/>
            <p:cNvSpPr/>
            <p:nvPr/>
          </p:nvSpPr>
          <p:spPr bwMode="auto">
            <a:xfrm>
              <a:off x="5824290" y="2666829"/>
              <a:ext cx="321650" cy="35036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3" name="右箭头 52"/>
          <p:cNvSpPr/>
          <p:nvPr/>
        </p:nvSpPr>
        <p:spPr>
          <a:xfrm>
            <a:off x="2714612" y="2643182"/>
            <a:ext cx="1643074"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1" name="灯片编号占位符 5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14290"/>
            <a:ext cx="67866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对应的二叉链结点类型</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357158" y="714356"/>
            <a:ext cx="8358246" cy="352246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BTNode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二叉链中结点类型</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char data;</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数据元素</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BTNode* lchild;</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指向左孩子结点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BTNode* rchild;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指向右孩子结点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120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BTNode():lchild(NULL),rchild(NULL)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BTNode(char 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data=d;</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lchild=rchild=NULL;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2357422" y="4286256"/>
            <a:ext cx="4020621" cy="2316314"/>
            <a:chOff x="4409031" y="2571744"/>
            <a:chExt cx="4020621" cy="2316314"/>
          </a:xfrm>
        </p:grpSpPr>
        <p:sp>
          <p:nvSpPr>
            <p:cNvPr id="8" name="Rectangle 30"/>
            <p:cNvSpPr>
              <a:spLocks noChangeArrowheads="1"/>
            </p:cNvSpPr>
            <p:nvPr/>
          </p:nvSpPr>
          <p:spPr bwMode="auto">
            <a:xfrm>
              <a:off x="5856455"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29"/>
            <p:cNvSpPr>
              <a:spLocks noChangeArrowheads="1"/>
            </p:cNvSpPr>
            <p:nvPr/>
          </p:nvSpPr>
          <p:spPr bwMode="auto">
            <a:xfrm>
              <a:off x="6178104"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Rectangle 28"/>
            <p:cNvSpPr>
              <a:spLocks noChangeArrowheads="1"/>
            </p:cNvSpPr>
            <p:nvPr/>
          </p:nvSpPr>
          <p:spPr bwMode="auto">
            <a:xfrm>
              <a:off x="6499754" y="3017189"/>
              <a:ext cx="321650" cy="268124"/>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Rectangle 27"/>
            <p:cNvSpPr>
              <a:spLocks noChangeArrowheads="1"/>
            </p:cNvSpPr>
            <p:nvPr/>
          </p:nvSpPr>
          <p:spPr bwMode="auto">
            <a:xfrm>
              <a:off x="4891506"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Rectangle 26"/>
            <p:cNvSpPr>
              <a:spLocks noChangeArrowheads="1"/>
            </p:cNvSpPr>
            <p:nvPr/>
          </p:nvSpPr>
          <p:spPr bwMode="auto">
            <a:xfrm>
              <a:off x="5213155"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25"/>
            <p:cNvSpPr>
              <a:spLocks noChangeArrowheads="1"/>
            </p:cNvSpPr>
            <p:nvPr/>
          </p:nvSpPr>
          <p:spPr bwMode="auto">
            <a:xfrm>
              <a:off x="5534805"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24"/>
            <p:cNvSpPr>
              <a:spLocks noChangeArrowheads="1"/>
            </p:cNvSpPr>
            <p:nvPr/>
          </p:nvSpPr>
          <p:spPr bwMode="auto">
            <a:xfrm>
              <a:off x="6821404" y="3552579"/>
              <a:ext cx="320756"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Rectangle 23"/>
            <p:cNvSpPr>
              <a:spLocks noChangeArrowheads="1"/>
            </p:cNvSpPr>
            <p:nvPr/>
          </p:nvSpPr>
          <p:spPr bwMode="auto">
            <a:xfrm>
              <a:off x="7142160" y="3552579"/>
              <a:ext cx="322543"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22"/>
            <p:cNvSpPr>
              <a:spLocks noChangeArrowheads="1"/>
            </p:cNvSpPr>
            <p:nvPr/>
          </p:nvSpPr>
          <p:spPr bwMode="auto">
            <a:xfrm>
              <a:off x="7464703" y="3552579"/>
              <a:ext cx="321650" cy="266410"/>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21"/>
            <p:cNvSpPr>
              <a:spLocks noChangeArrowheads="1"/>
            </p:cNvSpPr>
            <p:nvPr/>
          </p:nvSpPr>
          <p:spPr bwMode="auto">
            <a:xfrm>
              <a:off x="4409031"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Rectangle 20"/>
            <p:cNvSpPr>
              <a:spLocks noChangeArrowheads="1"/>
            </p:cNvSpPr>
            <p:nvPr/>
          </p:nvSpPr>
          <p:spPr bwMode="auto">
            <a:xfrm>
              <a:off x="4730681"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Rectangle 19"/>
            <p:cNvSpPr>
              <a:spLocks noChangeArrowheads="1"/>
            </p:cNvSpPr>
            <p:nvPr/>
          </p:nvSpPr>
          <p:spPr bwMode="auto">
            <a:xfrm>
              <a:off x="5052330"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l" defTabSz="914400" rtl="0" eaLnBrk="1" fontAlgn="base" latinLnBrk="0" hangingPunct="1">
                <a:lnSpc>
                  <a:spcPts val="2000"/>
                </a:lnSpc>
                <a:spcBef>
                  <a:spcPct val="0"/>
                </a:spcBef>
                <a:spcAft>
                  <a:spcPct val="0"/>
                </a:spcAft>
                <a:buClrTx/>
                <a:buSzTx/>
                <a:buFontTx/>
                <a:buNone/>
              </a:pP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Rectangle 18"/>
            <p:cNvSpPr>
              <a:spLocks noChangeArrowheads="1"/>
            </p:cNvSpPr>
            <p:nvPr/>
          </p:nvSpPr>
          <p:spPr bwMode="auto">
            <a:xfrm>
              <a:off x="6338929" y="4086257"/>
              <a:ext cx="320756"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Rectangle 17"/>
            <p:cNvSpPr>
              <a:spLocks noChangeArrowheads="1"/>
            </p:cNvSpPr>
            <p:nvPr/>
          </p:nvSpPr>
          <p:spPr bwMode="auto">
            <a:xfrm>
              <a:off x="6659685" y="4086257"/>
              <a:ext cx="322543"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Rectangle 16"/>
            <p:cNvSpPr>
              <a:spLocks noChangeArrowheads="1"/>
            </p:cNvSpPr>
            <p:nvPr/>
          </p:nvSpPr>
          <p:spPr bwMode="auto">
            <a:xfrm>
              <a:off x="6982229"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Rectangle 15"/>
            <p:cNvSpPr>
              <a:spLocks noChangeArrowheads="1"/>
            </p:cNvSpPr>
            <p:nvPr/>
          </p:nvSpPr>
          <p:spPr bwMode="auto">
            <a:xfrm>
              <a:off x="537398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Rectangle 14"/>
            <p:cNvSpPr>
              <a:spLocks noChangeArrowheads="1"/>
            </p:cNvSpPr>
            <p:nvPr/>
          </p:nvSpPr>
          <p:spPr bwMode="auto">
            <a:xfrm>
              <a:off x="569563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5" name="Rectangle 13"/>
            <p:cNvSpPr>
              <a:spLocks noChangeArrowheads="1"/>
            </p:cNvSpPr>
            <p:nvPr/>
          </p:nvSpPr>
          <p:spPr bwMode="auto">
            <a:xfrm>
              <a:off x="6017280" y="4620791"/>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6" name="Rectangle 12"/>
            <p:cNvSpPr>
              <a:spLocks noChangeArrowheads="1"/>
            </p:cNvSpPr>
            <p:nvPr/>
          </p:nvSpPr>
          <p:spPr bwMode="auto">
            <a:xfrm>
              <a:off x="7464703" y="4086257"/>
              <a:ext cx="321650"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Rectangle 11"/>
            <p:cNvSpPr>
              <a:spLocks noChangeArrowheads="1"/>
            </p:cNvSpPr>
            <p:nvPr/>
          </p:nvSpPr>
          <p:spPr bwMode="auto">
            <a:xfrm>
              <a:off x="7786353" y="4086257"/>
              <a:ext cx="320756"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Rectangle 10"/>
            <p:cNvSpPr>
              <a:spLocks noChangeArrowheads="1"/>
            </p:cNvSpPr>
            <p:nvPr/>
          </p:nvSpPr>
          <p:spPr bwMode="auto">
            <a:xfrm>
              <a:off x="8107109" y="4086257"/>
              <a:ext cx="322543" cy="26726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29412"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endParaRPr kumimoji="0" lang="zh-CN" altLang="zh-CN" sz="16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Freeform 9"/>
            <p:cNvSpPr/>
            <p:nvPr/>
          </p:nvSpPr>
          <p:spPr bwMode="auto">
            <a:xfrm>
              <a:off x="5688482" y="3150822"/>
              <a:ext cx="328797" cy="395761"/>
            </a:xfrm>
            <a:custGeom>
              <a:avLst/>
              <a:gdLst/>
              <a:ahLst/>
              <a:cxnLst>
                <a:cxn ang="0">
                  <a:pos x="367" y="0"/>
                </a:cxn>
                <a:cxn ang="0">
                  <a:pos x="0" y="462"/>
                </a:cxn>
              </a:cxnLst>
              <a:rect l="0" t="0" r="r" b="b"/>
              <a:pathLst>
                <a:path w="367" h="462">
                  <a:moveTo>
                    <a:pt x="367" y="0"/>
                  </a:moveTo>
                  <a:lnTo>
                    <a:pt x="0" y="462"/>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8"/>
            <p:cNvSpPr/>
            <p:nvPr/>
          </p:nvSpPr>
          <p:spPr bwMode="auto">
            <a:xfrm>
              <a:off x="6673981" y="3167955"/>
              <a:ext cx="308248" cy="384625"/>
            </a:xfrm>
            <a:custGeom>
              <a:avLst/>
              <a:gdLst/>
              <a:ahLst/>
              <a:cxnLst>
                <a:cxn ang="0">
                  <a:pos x="0" y="0"/>
                </a:cxn>
                <a:cxn ang="0">
                  <a:pos x="345" y="448"/>
                </a:cxn>
              </a:cxnLst>
              <a:rect l="0" t="0" r="r" b="b"/>
              <a:pathLst>
                <a:path w="345" h="448">
                  <a:moveTo>
                    <a:pt x="0" y="0"/>
                  </a:moveTo>
                  <a:lnTo>
                    <a:pt x="345" y="44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7"/>
            <p:cNvSpPr>
              <a:spLocks noChangeShapeType="1"/>
            </p:cNvSpPr>
            <p:nvPr/>
          </p:nvSpPr>
          <p:spPr bwMode="auto">
            <a:xfrm flipH="1">
              <a:off x="4730681" y="3685356"/>
              <a:ext cx="321650" cy="400900"/>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6"/>
            <p:cNvSpPr>
              <a:spLocks noChangeShapeType="1"/>
            </p:cNvSpPr>
            <p:nvPr/>
          </p:nvSpPr>
          <p:spPr bwMode="auto">
            <a:xfrm>
              <a:off x="5213155" y="4219890"/>
              <a:ext cx="321650" cy="400900"/>
            </a:xfrm>
            <a:prstGeom prst="line">
              <a:avLst/>
            </a:pr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Freeform 5"/>
            <p:cNvSpPr/>
            <p:nvPr/>
          </p:nvSpPr>
          <p:spPr bwMode="auto">
            <a:xfrm>
              <a:off x="6760648" y="3685356"/>
              <a:ext cx="221581" cy="394904"/>
            </a:xfrm>
            <a:custGeom>
              <a:avLst/>
              <a:gdLst/>
              <a:ahLst/>
              <a:cxnLst>
                <a:cxn ang="0">
                  <a:pos x="247" y="0"/>
                </a:cxn>
                <a:cxn ang="0">
                  <a:pos x="0" y="461"/>
                </a:cxn>
              </a:cxnLst>
              <a:rect l="0" t="0" r="r" b="b"/>
              <a:pathLst>
                <a:path w="247" h="461">
                  <a:moveTo>
                    <a:pt x="247" y="0"/>
                  </a:moveTo>
                  <a:lnTo>
                    <a:pt x="0" y="461"/>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Freeform 4"/>
            <p:cNvSpPr/>
            <p:nvPr/>
          </p:nvSpPr>
          <p:spPr bwMode="auto">
            <a:xfrm>
              <a:off x="7624635" y="3685356"/>
              <a:ext cx="228729" cy="400900"/>
            </a:xfrm>
            <a:custGeom>
              <a:avLst/>
              <a:gdLst/>
              <a:ahLst/>
              <a:cxnLst>
                <a:cxn ang="0">
                  <a:pos x="0" y="0"/>
                </a:cxn>
                <a:cxn ang="0">
                  <a:pos x="255" y="468"/>
                </a:cxn>
              </a:cxnLst>
              <a:rect l="0" t="0" r="r" b="b"/>
              <a:pathLst>
                <a:path w="255" h="468">
                  <a:moveTo>
                    <a:pt x="0" y="0"/>
                  </a:moveTo>
                  <a:lnTo>
                    <a:pt x="255" y="468"/>
                  </a:lnTo>
                </a:path>
              </a:pathLst>
            </a:custGeom>
            <a:ln w="127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3"/>
            <p:cNvSpPr txBox="1">
              <a:spLocks noChangeArrowheads="1"/>
            </p:cNvSpPr>
            <p:nvPr/>
          </p:nvSpPr>
          <p:spPr bwMode="auto">
            <a:xfrm>
              <a:off x="5608070" y="2571744"/>
              <a:ext cx="245705" cy="27326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1"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800" b="0" i="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Arc 2"/>
            <p:cNvSpPr/>
            <p:nvPr/>
          </p:nvSpPr>
          <p:spPr bwMode="auto">
            <a:xfrm>
              <a:off x="5824290" y="2666829"/>
              <a:ext cx="321650" cy="35036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lstStyle/>
            <a:p>
              <a:pPr>
                <a:lnSpc>
                  <a:spcPts val="2000"/>
                </a:lnSpc>
              </a:pPr>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7" name="灯片编号占位符 3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p:cNvSpPr txBox="1"/>
          <p:nvPr/>
        </p:nvSpPr>
        <p:spPr>
          <a:xfrm>
            <a:off x="642910" y="1500174"/>
            <a:ext cx="8001056" cy="17056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rIns="144000" bIns="108000" rtlCol="0">
            <a:spAutoFit/>
          </a:bodyPr>
          <a:lstStyle/>
          <a:p>
            <a:pPr marL="342900" indent="-342900" algn="l">
              <a:lnSpc>
                <a:spcPts val="26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相对于顺序存储结构，二叉链方便二叉树的修改，对于普通二叉树和完全二叉树同样适合二叉链存储。</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在二叉链中查找一个结点的孩子十分方便，但查找一个结点的双亲结点需要遍历二叉树。</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Oval 11"/>
          <p:cNvSpPr>
            <a:spLocks noChangeArrowheads="1"/>
          </p:cNvSpPr>
          <p:nvPr/>
        </p:nvSpPr>
        <p:spPr bwMode="auto">
          <a:xfrm>
            <a:off x="928662" y="571480"/>
            <a:ext cx="928694"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lstStyle/>
          <a:p>
            <a:pPr algn="ctr" latinLnBrk="1"/>
            <a:r>
              <a:rPr kumimoji="1" lang="zh-CN" altLang="en-US" sz="1800" b="1" smtClean="0">
                <a:solidFill>
                  <a:schemeClr val="bg1"/>
                </a:solidFill>
                <a:latin typeface="微软雅黑" panose="020B0503020204020204" pitchFamily="34" charset="-122"/>
                <a:ea typeface="微软雅黑" panose="020B0503020204020204" pitchFamily="34" charset="-122"/>
              </a:rPr>
              <a:t>优缺点</a:t>
            </a:r>
            <a:endParaRPr kumimoji="1" lang="en-US" altLang="ko-KR" sz="1800" b="1">
              <a:solidFill>
                <a:schemeClr val="bg1"/>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142852"/>
            <a:ext cx="450059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7.2.4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二叉树的递归算法设计</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 Box 2"/>
          <p:cNvSpPr txBox="1">
            <a:spLocks noChangeArrowheads="1"/>
          </p:cNvSpPr>
          <p:nvPr/>
        </p:nvSpPr>
        <p:spPr bwMode="auto">
          <a:xfrm>
            <a:off x="500034" y="4033541"/>
            <a:ext cx="8072494" cy="244948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二</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叉</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树</a:t>
            </a:r>
            <a:r>
              <a:rPr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是求解</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“大问题”。</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rchild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“小问题”。</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假设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rchild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是可求的，在此基础上得</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rchild</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之间的关系，从而得到</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递归</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体。</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600"/>
              </a:lnSpc>
              <a:spcBef>
                <a:spcPts val="600"/>
              </a:spcBef>
              <a:buBlip>
                <a:blip r:embed="rId1"/>
              </a:buBlip>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考</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虑</a:t>
            </a:r>
            <a:r>
              <a:rPr lang="en-US" altLang="zh-CN" sz="2000" i="1" dirty="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=NULL</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或只有一个结点的特殊情况，从而得到递归出口。</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357158" y="785794"/>
            <a:ext cx="3786214" cy="400110"/>
          </a:xfrm>
          <a:prstGeom prst="rect">
            <a:avLst/>
          </a:prstGeom>
          <a:noFill/>
        </p:spPr>
        <p:txBody>
          <a:bodyPr wrap="square" rtlCol="0">
            <a:spAutoFit/>
          </a:bodyPr>
          <a:lstStyle/>
          <a:p>
            <a:pPr algn="l">
              <a:lnSpc>
                <a:spcPct val="100000"/>
              </a:lnSpc>
            </a:pPr>
            <a:r>
              <a:rPr lang="zh-CN" altLang="en-US" sz="2000" smtClean="0">
                <a:solidFill>
                  <a:srgbClr val="0000FF"/>
                </a:solidFill>
                <a:ea typeface="楷体" panose="02010609060101010101" pitchFamily="49" charset="-122"/>
                <a:cs typeface="Times New Roman" panose="02020603050405020304" pitchFamily="18" charset="0"/>
              </a:rPr>
              <a:t>一般地，二叉树的递归结构如下：</a:t>
            </a:r>
            <a:endParaRPr lang="zh-CN" altLang="en-US" sz="2000">
              <a:solidFill>
                <a:srgbClr val="0000FF"/>
              </a:solidFill>
            </a:endParaRPr>
          </a:p>
        </p:txBody>
      </p:sp>
      <p:grpSp>
        <p:nvGrpSpPr>
          <p:cNvPr id="2" name="组合 20"/>
          <p:cNvGrpSpPr/>
          <p:nvPr/>
        </p:nvGrpSpPr>
        <p:grpSpPr>
          <a:xfrm>
            <a:off x="1285852" y="1215303"/>
            <a:ext cx="4857784" cy="2603924"/>
            <a:chOff x="1714480" y="1268978"/>
            <a:chExt cx="4857784" cy="2603924"/>
          </a:xfrm>
        </p:grpSpPr>
        <p:sp>
          <p:nvSpPr>
            <p:cNvPr id="7" name="椭圆 6"/>
            <p:cNvSpPr/>
            <p:nvPr/>
          </p:nvSpPr>
          <p:spPr>
            <a:xfrm>
              <a:off x="3857620" y="1583328"/>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sz="1800"/>
            </a:p>
          </p:txBody>
        </p:sp>
        <p:sp>
          <p:nvSpPr>
            <p:cNvPr id="8" name="等腰三角形 7"/>
            <p:cNvSpPr/>
            <p:nvPr/>
          </p:nvSpPr>
          <p:spPr>
            <a:xfrm>
              <a:off x="2928926" y="25834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l"/>
              <a:endParaRPr lang="zh-CN" altLang="en-US" sz="1800"/>
            </a:p>
          </p:txBody>
        </p:sp>
        <p:sp>
          <p:nvSpPr>
            <p:cNvPr id="9" name="等腰三角形 8"/>
            <p:cNvSpPr/>
            <p:nvPr/>
          </p:nvSpPr>
          <p:spPr>
            <a:xfrm>
              <a:off x="4429124" y="25834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l"/>
              <a:endParaRPr lang="zh-CN" altLang="en-US" sz="1800"/>
            </a:p>
          </p:txBody>
        </p:sp>
        <p:cxnSp>
          <p:nvCxnSpPr>
            <p:cNvPr id="10" name="直接连接符 9"/>
            <p:cNvCxnSpPr>
              <a:stCxn id="7" idx="3"/>
              <a:endCxn id="8" idx="0"/>
            </p:cNvCxnSpPr>
            <p:nvPr/>
          </p:nvCxnSpPr>
          <p:spPr>
            <a:xfrm rot="5400000">
              <a:off x="3316605" y="1990135"/>
              <a:ext cx="634275" cy="552375"/>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7" idx="5"/>
              <a:endCxn id="9" idx="0"/>
            </p:cNvCxnSpPr>
            <p:nvPr/>
          </p:nvCxnSpPr>
          <p:spPr>
            <a:xfrm rot="16200000" flipH="1">
              <a:off x="4192989" y="1918696"/>
              <a:ext cx="634275" cy="695251"/>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a:off x="3584114" y="1421266"/>
              <a:ext cx="321471" cy="214314"/>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3" name="TextBox 12"/>
            <p:cNvSpPr txBox="1"/>
            <p:nvPr/>
          </p:nvSpPr>
          <p:spPr>
            <a:xfrm>
              <a:off x="3286116" y="1268978"/>
              <a:ext cx="285752" cy="317908"/>
            </a:xfrm>
            <a:prstGeom prst="rect">
              <a:avLst/>
            </a:prstGeom>
            <a:noFill/>
          </p:spPr>
          <p:txBody>
            <a:bodyPr wrap="square" rtlCol="0">
              <a:spAutoFit/>
            </a:bodyPr>
            <a:lstStyle/>
            <a:p>
              <a:pPr algn="l"/>
              <a:r>
                <a:rPr lang="en-US" altLang="zh-CN" sz="1800" i="1" smtClean="0">
                  <a:solidFill>
                    <a:srgbClr val="0000FF"/>
                  </a:solidFill>
                  <a:latin typeface="Consolas" panose="020B0609020204030204" pitchFamily="49" charset="0"/>
                  <a:cs typeface="Consolas" panose="020B0609020204030204" pitchFamily="49" charset="0"/>
                </a:rPr>
                <a:t>r</a:t>
              </a:r>
              <a:endParaRPr lang="zh-CN" altLang="en-US" sz="1800" i="1">
                <a:solidFill>
                  <a:srgbClr val="0000FF"/>
                </a:solidFill>
                <a:latin typeface="Consolas" panose="020B0609020204030204" pitchFamily="49" charset="0"/>
                <a:cs typeface="Consolas" panose="020B0609020204030204" pitchFamily="49" charset="0"/>
              </a:endParaRPr>
            </a:p>
          </p:txBody>
        </p:sp>
        <p:sp>
          <p:nvSpPr>
            <p:cNvPr id="14" name="TextBox 13"/>
            <p:cNvSpPr txBox="1"/>
            <p:nvPr/>
          </p:nvSpPr>
          <p:spPr>
            <a:xfrm>
              <a:off x="4214810" y="1400556"/>
              <a:ext cx="642942" cy="292837"/>
            </a:xfrm>
            <a:prstGeom prst="rect">
              <a:avLst/>
            </a:prstGeom>
            <a:noFill/>
          </p:spPr>
          <p:txBody>
            <a:bodyPr wrap="square" rtlCol="0">
              <a:spAutoFit/>
            </a:bodyPr>
            <a:lstStyle/>
            <a:p>
              <a:pPr algn="l"/>
              <a:r>
                <a:rPr lang="en-US" altLang="zh-CN" sz="1600" i="1" smtClean="0">
                  <a:solidFill>
                    <a:srgbClr val="0000FF"/>
                  </a:solidFill>
                  <a:latin typeface="Consolas" panose="020B0609020204030204" pitchFamily="49" charset="0"/>
                  <a:cs typeface="Consolas" panose="020B0609020204030204" pitchFamily="49" charset="0"/>
                </a:rPr>
                <a:t>f</a:t>
              </a:r>
              <a:r>
                <a:rPr lang="en-US" altLang="zh-CN" sz="160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0000FF"/>
                  </a:solidFill>
                  <a:latin typeface="Consolas" panose="020B0609020204030204" pitchFamily="49" charset="0"/>
                  <a:cs typeface="Consolas" panose="020B0609020204030204" pitchFamily="49" charset="0"/>
                </a:rPr>
                <a:t>r</a:t>
              </a:r>
              <a:r>
                <a:rPr lang="en-US" altLang="zh-CN" sz="1600" smtClean="0">
                  <a:solidFill>
                    <a:srgbClr val="0000FF"/>
                  </a:solidFill>
                  <a:latin typeface="Consolas" panose="020B0609020204030204" pitchFamily="49" charset="0"/>
                  <a:cs typeface="Consolas" panose="020B0609020204030204" pitchFamily="49" charset="0"/>
                </a:rPr>
                <a:t>)</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15" name="TextBox 14"/>
            <p:cNvSpPr txBox="1"/>
            <p:nvPr/>
          </p:nvSpPr>
          <p:spPr>
            <a:xfrm>
              <a:off x="1714480" y="2254788"/>
              <a:ext cx="1428760" cy="289310"/>
            </a:xfrm>
            <a:prstGeom prst="rect">
              <a:avLst/>
            </a:prstGeom>
            <a:noFill/>
          </p:spPr>
          <p:txBody>
            <a:bodyPr wrap="square" rtlCol="0">
              <a:spAutoFit/>
            </a:bodyPr>
            <a:lstStyle/>
            <a:p>
              <a:pPr algn="l"/>
              <a:r>
                <a:rPr lang="en-US" altLang="zh-CN" sz="1600" i="1" smtClean="0">
                  <a:solidFill>
                    <a:srgbClr val="0000FF"/>
                  </a:solidFill>
                  <a:latin typeface="Consolas" panose="020B0609020204030204" pitchFamily="49" charset="0"/>
                  <a:cs typeface="Consolas" panose="020B0609020204030204" pitchFamily="49" charset="0"/>
                </a:rPr>
                <a:t>r</a:t>
              </a:r>
              <a:r>
                <a:rPr lang="en-US" altLang="zh-CN" sz="1600" smtClean="0">
                  <a:solidFill>
                    <a:srgbClr val="0000FF"/>
                  </a:solidFill>
                  <a:latin typeface="Consolas" panose="020B0609020204030204" pitchFamily="49" charset="0"/>
                  <a:cs typeface="Consolas" panose="020B0609020204030204" pitchFamily="49" charset="0"/>
                </a:rPr>
                <a:t>-&gt;lchild</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6" name="直接箭头连接符 15"/>
            <p:cNvCxnSpPr/>
            <p:nvPr/>
          </p:nvCxnSpPr>
          <p:spPr>
            <a:xfrm>
              <a:off x="3036083" y="2369146"/>
              <a:ext cx="321471" cy="214314"/>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cxnSp>
          <p:nvCxnSpPr>
            <p:cNvPr id="17" name="直接箭头连接符 16"/>
            <p:cNvCxnSpPr/>
            <p:nvPr/>
          </p:nvCxnSpPr>
          <p:spPr>
            <a:xfrm rot="5400000">
              <a:off x="4857752" y="2297708"/>
              <a:ext cx="285752" cy="285752"/>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2285984" y="3583592"/>
              <a:ext cx="1785950" cy="289310"/>
            </a:xfrm>
            <a:prstGeom prst="rect">
              <a:avLst/>
            </a:prstGeom>
            <a:noFill/>
          </p:spPr>
          <p:txBody>
            <a:bodyPr wrap="square" rtlCol="0">
              <a:spAutoFit/>
            </a:bodyPr>
            <a:lstStyle/>
            <a:p>
              <a:pPr algn="l"/>
              <a:r>
                <a:rPr lang="en-US" altLang="zh-CN" sz="1600" i="1" smtClean="0">
                  <a:solidFill>
                    <a:srgbClr val="0000FF"/>
                  </a:solidFill>
                  <a:latin typeface="Consolas" panose="020B0609020204030204" pitchFamily="49" charset="0"/>
                  <a:cs typeface="Consolas" panose="020B0609020204030204" pitchFamily="49" charset="0"/>
                </a:rPr>
                <a:t>f</a:t>
              </a:r>
              <a:r>
                <a:rPr lang="en-US" altLang="zh-CN" sz="160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0000FF"/>
                  </a:solidFill>
                  <a:latin typeface="Consolas" panose="020B0609020204030204" pitchFamily="49" charset="0"/>
                  <a:cs typeface="Consolas" panose="020B0609020204030204" pitchFamily="49" charset="0"/>
                </a:rPr>
                <a:t>r</a:t>
              </a:r>
              <a:r>
                <a:rPr lang="en-US" altLang="zh-CN" sz="1600" smtClean="0">
                  <a:solidFill>
                    <a:srgbClr val="0000FF"/>
                  </a:solidFill>
                  <a:latin typeface="Consolas" panose="020B0609020204030204" pitchFamily="49" charset="0"/>
                  <a:cs typeface="Consolas" panose="020B0609020204030204" pitchFamily="49" charset="0"/>
                </a:rPr>
                <a:t>-&gt;lchild)</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19" name="TextBox 18"/>
            <p:cNvSpPr txBox="1"/>
            <p:nvPr/>
          </p:nvSpPr>
          <p:spPr>
            <a:xfrm>
              <a:off x="5143504" y="2226270"/>
              <a:ext cx="1428760" cy="289310"/>
            </a:xfrm>
            <a:prstGeom prst="rect">
              <a:avLst/>
            </a:prstGeom>
            <a:noFill/>
          </p:spPr>
          <p:txBody>
            <a:bodyPr wrap="square" rtlCol="0">
              <a:spAutoFit/>
            </a:bodyPr>
            <a:lstStyle/>
            <a:p>
              <a:pPr algn="l"/>
              <a:r>
                <a:rPr lang="en-US" altLang="zh-CN" sz="1600" i="1" smtClean="0">
                  <a:solidFill>
                    <a:srgbClr val="0000FF"/>
                  </a:solidFill>
                  <a:latin typeface="Consolas" panose="020B0609020204030204" pitchFamily="49" charset="0"/>
                  <a:cs typeface="Consolas" panose="020B0609020204030204" pitchFamily="49" charset="0"/>
                </a:rPr>
                <a:t>r</a:t>
              </a:r>
              <a:r>
                <a:rPr lang="en-US" altLang="zh-CN" sz="1600" smtClean="0">
                  <a:solidFill>
                    <a:srgbClr val="0000FF"/>
                  </a:solidFill>
                  <a:latin typeface="Consolas" panose="020B0609020204030204" pitchFamily="49" charset="0"/>
                  <a:cs typeface="Consolas" panose="020B0609020204030204" pitchFamily="49" charset="0"/>
                </a:rPr>
                <a:t>-&gt;rchild</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20" name="TextBox 19"/>
            <p:cNvSpPr txBox="1"/>
            <p:nvPr/>
          </p:nvSpPr>
          <p:spPr>
            <a:xfrm>
              <a:off x="4214810" y="3555074"/>
              <a:ext cx="2000264" cy="289310"/>
            </a:xfrm>
            <a:prstGeom prst="rect">
              <a:avLst/>
            </a:prstGeom>
            <a:noFill/>
          </p:spPr>
          <p:txBody>
            <a:bodyPr wrap="square" rtlCol="0">
              <a:spAutoFit/>
            </a:bodyPr>
            <a:lstStyle/>
            <a:p>
              <a:pPr algn="l"/>
              <a:r>
                <a:rPr lang="en-US" altLang="zh-CN" sz="1600" i="1" smtClean="0">
                  <a:solidFill>
                    <a:srgbClr val="0000FF"/>
                  </a:solidFill>
                  <a:latin typeface="Consolas" panose="020B0609020204030204" pitchFamily="49" charset="0"/>
                  <a:cs typeface="Consolas" panose="020B0609020204030204" pitchFamily="49" charset="0"/>
                </a:rPr>
                <a:t>f</a:t>
              </a:r>
              <a:r>
                <a:rPr lang="en-US" altLang="zh-CN" sz="1600" smtClean="0">
                  <a:solidFill>
                    <a:srgbClr val="0000FF"/>
                  </a:solidFill>
                  <a:latin typeface="Consolas" panose="020B0609020204030204" pitchFamily="49" charset="0"/>
                  <a:cs typeface="Consolas" panose="020B0609020204030204" pitchFamily="49" charset="0"/>
                </a:rPr>
                <a:t>(</a:t>
              </a:r>
              <a:r>
                <a:rPr lang="en-US" altLang="zh-CN" sz="1600" i="1" smtClean="0">
                  <a:solidFill>
                    <a:srgbClr val="0000FF"/>
                  </a:solidFill>
                  <a:latin typeface="Consolas" panose="020B0609020204030204" pitchFamily="49" charset="0"/>
                  <a:cs typeface="Consolas" panose="020B0609020204030204" pitchFamily="49" charset="0"/>
                </a:rPr>
                <a:t>r</a:t>
              </a:r>
              <a:r>
                <a:rPr lang="en-US" altLang="zh-CN" sz="1600" smtClean="0">
                  <a:solidFill>
                    <a:srgbClr val="0000FF"/>
                  </a:solidFill>
                  <a:latin typeface="Consolas" panose="020B0609020204030204" pitchFamily="49" charset="0"/>
                  <a:cs typeface="Consolas" panose="020B0609020204030204" pitchFamily="49" charset="0"/>
                </a:rPr>
                <a:t>-&gt;rchild)</a:t>
              </a: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21" name="灯片编号占位符 2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083985"/>
            <a:ext cx="7929618" cy="1987825"/>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4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为二叉树</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中所有结点值之和</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4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则</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(r-&gt;lchild)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(r-&gt;rchild)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分别求根结点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的左、右子树的所有结点值之和</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4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显然有</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(r)=r-&gt;data+</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(r-&gt;lchild)+</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(r-&gt;rchild)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4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r=NULL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，从而得到以下递归模型：</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1071538" y="3381155"/>
            <a:ext cx="7215238" cy="91060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252000" tIns="108000" bIns="108000" rtlCol="0">
            <a:spAutoFit/>
          </a:bodyPr>
          <a:lstStyle/>
          <a:p>
            <a:pPr algn="l">
              <a:lnSpc>
                <a:spcPct val="100000"/>
              </a:lnSpc>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(r)=0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r=NULL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(r)=r-&gt;data+</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(r-&gt;lchild)+</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(r-&gt;rchild)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85786" y="4857760"/>
            <a:ext cx="7858180" cy="157321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r)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计算以</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为根的二叉树的结点值之和</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(r==NULL) return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r-&gt;data+</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(r-&gt;lchild)+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Sum</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(r-&gt;rchild);</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下箭头 7"/>
          <p:cNvSpPr/>
          <p:nvPr/>
        </p:nvSpPr>
        <p:spPr>
          <a:xfrm>
            <a:off x="3643306" y="4286256"/>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357158" y="142852"/>
            <a:ext cx="8429684"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例如，假设二叉树中所有结点值为整数，采用二叉链存储结构，求该二叉树</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中所有结点值之和。</a:t>
            </a:r>
            <a:endPar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85728"/>
            <a:ext cx="542928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7.2.5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二叉树的基本运算及其实现</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85786" y="2143116"/>
            <a:ext cx="257176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 </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二叉树类设计</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000100" y="3000372"/>
            <a:ext cx="7000924" cy="226571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二叉树类</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9900"/>
                </a:solidFill>
                <a:latin typeface="Consolas" panose="020B0609020204030204" pitchFamily="49" charset="0"/>
                <a:ea typeface="仿宋" panose="02010609060101010101" pitchFamily="49" charset="-122"/>
                <a:cs typeface="Consolas" panose="020B0609020204030204" pitchFamily="49" charset="0"/>
              </a:rPr>
              <a:t>BTNode* r</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二叉树的根结点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BTree()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建立一棵空树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r=NULL;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二叉树的基本运算</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714348" y="1071546"/>
            <a:ext cx="8001056" cy="759182"/>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为了简单，本节讨论的二叉树中所有结点值为单个字符。逻辑结构采用括号表示串，存储结构采用二叉链。</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00042"/>
            <a:ext cx="435771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二叉树的基本运算算法实现</a:t>
            </a:r>
            <a:endParaRPr lang="zh-CN"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357298"/>
            <a:ext cx="528641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1</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）创建二叉树：</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CreateBTree(str)</a:t>
            </a:r>
            <a:endPar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17" name="TextBox 16"/>
          <p:cNvSpPr txBox="1"/>
          <p:nvPr/>
        </p:nvSpPr>
        <p:spPr>
          <a:xfrm>
            <a:off x="642910" y="2000240"/>
            <a:ext cx="535785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2</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）求二叉链的括号表示串</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DispBTree()</a:t>
            </a:r>
            <a:endPar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20" name="TextBox 19"/>
          <p:cNvSpPr txBox="1"/>
          <p:nvPr/>
        </p:nvSpPr>
        <p:spPr>
          <a:xfrm>
            <a:off x="2357422" y="2786058"/>
            <a:ext cx="78581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楷体" panose="02010609060101010101" pitchFamily="49" charset="-122"/>
                <a:ea typeface="楷体" panose="02010609060101010101" pitchFamily="49" charset="-122"/>
                <a:cs typeface="Consolas" panose="020B0609020204030204" pitchFamily="49" charset="0"/>
              </a:rPr>
              <a:t>自学</a:t>
            </a:r>
            <a:endParaRPr lang="zh-CN" altLang="en-US" sz="2000" smtClean="0">
              <a:solidFill>
                <a:srgbClr val="FF0000"/>
              </a:solidFill>
              <a:latin typeface="楷体" panose="02010609060101010101" pitchFamily="49" charset="-122"/>
              <a:ea typeface="楷体" panose="02010609060101010101" pitchFamily="49" charset="-122"/>
              <a:cs typeface="Consolas" panose="020B0609020204030204" pitchFamily="49" charset="0"/>
            </a:endParaRPr>
          </a:p>
        </p:txBody>
      </p:sp>
      <p:sp>
        <p:nvSpPr>
          <p:cNvPr id="21" name="灯片编号占位符 2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4348" y="1357298"/>
            <a:ext cx="7500990" cy="827021"/>
          </a:xfrm>
          <a:prstGeom prst="rect">
            <a:avLst/>
          </a:prstGeom>
          <a:noFill/>
        </p:spPr>
        <p:txBody>
          <a:bodyPr wrap="square" rtlCol="0">
            <a:spAutoFit/>
          </a:bodyPr>
          <a:lstStyle/>
          <a:p>
            <a:pPr algn="l">
              <a:lnSpc>
                <a:spcPts val="3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在以</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为根结点的二叉树中查找值为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的结点，找到后返回其</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地址</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，否则返回</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NULL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857224" y="2428483"/>
            <a:ext cx="7715304" cy="2000649"/>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lnSpc>
                <a:spcPts val="23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)=NULL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b-&gt;data=</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若在左子树中找到了，即</a:t>
            </a:r>
            <a:endPar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p</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(b-&gt;lchild</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且</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p!=NULL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71472" y="571480"/>
            <a:ext cx="478634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3</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）查找值为</a:t>
            </a:r>
            <a:r>
              <a:rPr lang="en-US" altLang="zh-CN" sz="2000" i="1"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x</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的结点</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FindNode(x)</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11" name="灯片编号占位符 1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14290"/>
            <a:ext cx="8501122" cy="507673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(char x)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查找值为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的结点算法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FindNode1(r,x);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FindNode1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b,char x)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FindNode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BTNode* p;</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 return 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为空时返回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if (b-&gt;data==x) return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所指结点值为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时返回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p=</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FindNode1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(b-&gt;lchild,x);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在左子树中查找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(p!=NULL)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在左子树中找到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FindNode1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(b-&gt;rchild,x);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返回在右子树中查找结果</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571480"/>
            <a:ext cx="342902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4</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）求高度</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Height()</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714348" y="1142984"/>
            <a:ext cx="7286676"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为根结点二叉树的高度为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，空树高度为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，非空树高度为左、右子树中较大的高度加</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857224" y="2357430"/>
            <a:ext cx="7358114" cy="910607"/>
          </a:xfrm>
          <a:prstGeom prst="rect">
            <a:avLst/>
          </a:prstGeom>
          <a:solidFill>
            <a:schemeClr val="bg1">
              <a:lumMod val="95000"/>
            </a:schemeClr>
          </a:solidFill>
          <a:effectLst>
            <a:outerShdw blurRad="76200" dist="12700" dir="2700000" sy="-23000" kx="-8004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lnSpc>
                <a:spcPts val="24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0					</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60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MAX{</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57043"/>
            <a:ext cx="8215370" cy="379433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Height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求二叉树高度的算法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Height1(r);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Height1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Height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空树的高度为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max(</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Height1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Height1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514353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5</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）销毁二叉树：</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DestroyBTree(b)</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8" name="TextBox 7"/>
          <p:cNvSpPr txBox="1"/>
          <p:nvPr/>
        </p:nvSpPr>
        <p:spPr>
          <a:xfrm>
            <a:off x="571472" y="1142984"/>
            <a:ext cx="7929618" cy="810478"/>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的功能是销毁以</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为根结点二叉树，即释放其中所有结点的空间。对应的递归模型如下：</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642910" y="2357430"/>
            <a:ext cx="8072494" cy="884959"/>
          </a:xfrm>
          <a:prstGeom prst="rect">
            <a:avLst/>
          </a:prstGeom>
          <a:solidFill>
            <a:schemeClr val="bg1">
              <a:lumMod val="95000"/>
            </a:schemeClr>
          </a:solidFill>
          <a:effectLst>
            <a:outerShdw blurRad="76200" dist="12700" dir="2700000" sy="-23000" kx="-8004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lnSpc>
                <a:spcPts val="26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不做任何事情</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delete b;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521497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5</a:t>
            </a:r>
            <a:r>
              <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）销毁二叉树：</a:t>
            </a:r>
            <a:r>
              <a:rPr lang="en-US"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rPr>
              <a:t>DestroyBTree(b)</a:t>
            </a:r>
            <a:endParaRPr lang="zh-CN" altLang="zh-CN" sz="20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357158" y="1071546"/>
            <a:ext cx="8429684" cy="268736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DestroyBTree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释放所有的结点空间</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DestroyBTree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递归释放左子树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DestroyBTree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递归释放右子树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delete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释放根结点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57158" y="3643314"/>
            <a:ext cx="8429684" cy="164862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析构函数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DestroyBTree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调用</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DestroyBTree()</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置为空树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7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06" y="897764"/>
            <a:ext cx="6929486" cy="425767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#include"BTree.cpp"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引用二叉树类</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BTree </a:t>
            </a:r>
            <a:endPar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string str="A(B(D(,G)),C(E,F))";</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char x='e';</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BTree bt;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CreateBTree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(str);</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 bt.</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DispBTre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e(); cout &lt;&lt; endl;</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的高度</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bt.</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Height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endl;</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(bt.</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FindNode</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中找到值为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x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"bt</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中没有找到值为</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x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销毁二叉树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786446" y="5932577"/>
            <a:ext cx="3071834" cy="353943"/>
          </a:xfrm>
          <a:prstGeom prst="rect">
            <a:avLst/>
          </a:prstGeom>
          <a:noFill/>
        </p:spPr>
        <p:txBody>
          <a:bodyPr wrap="square" rtlCol="0">
            <a:spAutoFit/>
          </a:bodyPr>
          <a:lstStyle/>
          <a:p>
            <a:pPr algn="l">
              <a:lnSpc>
                <a:spcPct val="100000"/>
              </a:lnSpc>
              <a:spcBef>
                <a:spcPts val="0"/>
              </a:spcBef>
            </a:pPr>
            <a:r>
              <a:rPr lang="zh-CN" altLang="en-US" sz="17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所有代码存放在</a:t>
            </a:r>
            <a:r>
              <a:rPr lang="en-US" altLang="zh-CN" sz="17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BTree.cpp</a:t>
            </a:r>
            <a:r>
              <a:rPr lang="zh-CN" altLang="en-US" sz="17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中</a:t>
            </a:r>
            <a:endParaRPr lang="zh-CN" altLang="en-US" sz="17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9" name="图文框 8"/>
          <p:cNvSpPr/>
          <p:nvPr/>
        </p:nvSpPr>
        <p:spPr>
          <a:xfrm>
            <a:off x="6143636" y="5361073"/>
            <a:ext cx="785818" cy="500066"/>
          </a:xfrm>
          <a:prstGeom prst="frame">
            <a:avLst/>
          </a:prstGeom>
          <a:solidFill>
            <a:srgbClr val="339933"/>
          </a:solidFill>
          <a:ln>
            <a:tailEnd type="none"/>
          </a:ln>
        </p:spPr>
        <p:style>
          <a:lnRef idx="3">
            <a:schemeClr val="lt1"/>
          </a:lnRef>
          <a:fillRef idx="1">
            <a:schemeClr val="accent6"/>
          </a:fillRef>
          <a:effectRef idx="1">
            <a:schemeClr val="accent6"/>
          </a:effectRef>
          <a:fontRef idx="minor">
            <a:schemeClr val="lt1"/>
          </a:fontRef>
        </p:style>
        <p:txBody>
          <a:bodyPr rtlCol="0" anchor="ctr"/>
          <a:lstStyle/>
          <a:p>
            <a:pPr algn="ctr">
              <a:lnSpc>
                <a:spcPts val="2100"/>
              </a:lnSpc>
            </a:pPr>
            <a:r>
              <a:rPr lang="zh-CN" altLang="en-US" sz="1600" smtClean="0">
                <a:solidFill>
                  <a:srgbClr val="FF0000"/>
                </a:solidFill>
                <a:latin typeface="微软雅黑" panose="020B0503020204020204" pitchFamily="34" charset="-122"/>
                <a:ea typeface="微软雅黑" panose="020B0503020204020204" pitchFamily="34" charset="-122"/>
              </a:rPr>
              <a:t>操作</a:t>
            </a:r>
            <a:endParaRPr lang="zh-CN" altLang="en-US" sz="1600">
              <a:solidFill>
                <a:srgbClr val="FF0000"/>
              </a:solidFill>
              <a:latin typeface="微软雅黑" panose="020B0503020204020204" pitchFamily="34" charset="-122"/>
              <a:ea typeface="微软雅黑" panose="020B0503020204020204" pitchFamily="34" charset="-122"/>
            </a:endParaRPr>
          </a:p>
        </p:txBody>
      </p:sp>
      <p:grpSp>
        <p:nvGrpSpPr>
          <p:cNvPr id="2" name="组合 10"/>
          <p:cNvGrpSpPr/>
          <p:nvPr/>
        </p:nvGrpSpPr>
        <p:grpSpPr>
          <a:xfrm>
            <a:off x="6786578" y="2143116"/>
            <a:ext cx="1900083" cy="1925032"/>
            <a:chOff x="1150124" y="3032607"/>
            <a:chExt cx="1900083" cy="1925032"/>
          </a:xfrm>
        </p:grpSpPr>
        <p:sp>
          <p:nvSpPr>
            <p:cNvPr id="12" name="Line 34"/>
            <p:cNvSpPr>
              <a:spLocks noChangeShapeType="1"/>
            </p:cNvSpPr>
            <p:nvPr/>
          </p:nvSpPr>
          <p:spPr bwMode="auto">
            <a:xfrm>
              <a:off x="2214546" y="3286124"/>
              <a:ext cx="201626" cy="255318"/>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44"/>
            <p:cNvSpPr>
              <a:spLocks noChangeShapeType="1"/>
            </p:cNvSpPr>
            <p:nvPr/>
          </p:nvSpPr>
          <p:spPr bwMode="auto">
            <a:xfrm>
              <a:off x="1369024" y="4327825"/>
              <a:ext cx="308248" cy="334084"/>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42"/>
            <p:cNvSpPr>
              <a:spLocks noChangeShapeType="1"/>
            </p:cNvSpPr>
            <p:nvPr/>
          </p:nvSpPr>
          <p:spPr bwMode="auto">
            <a:xfrm flipH="1">
              <a:off x="1296653" y="3705059"/>
              <a:ext cx="285911" cy="406897"/>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41"/>
            <p:cNvSpPr>
              <a:spLocks noChangeShapeType="1"/>
            </p:cNvSpPr>
            <p:nvPr/>
          </p:nvSpPr>
          <p:spPr bwMode="auto">
            <a:xfrm flipH="1">
              <a:off x="1632598" y="3155105"/>
              <a:ext cx="477114" cy="409467"/>
            </a:xfrm>
            <a:prstGeom prst="line">
              <a:avLst/>
            </a:prstGeom>
            <a:ln w="1270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pPr>
                <a:lnSpc>
                  <a:spcPts val="2000"/>
                </a:lnSpc>
              </a:pPr>
              <a:endParaRPr lang="zh-CN" altLang="en-US" sz="1600" b="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Oval 33"/>
            <p:cNvSpPr>
              <a:spLocks noChangeArrowheads="1"/>
            </p:cNvSpPr>
            <p:nvPr/>
          </p:nvSpPr>
          <p:spPr bwMode="auto">
            <a:xfrm>
              <a:off x="1568268" y="4633639"/>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5" name="TextBox 5"/>
          <p:cNvSpPr txBox="1"/>
          <p:nvPr/>
        </p:nvSpPr>
        <p:spPr>
          <a:xfrm>
            <a:off x="357158" y="139463"/>
            <a:ext cx="714380" cy="646331"/>
          </a:xfrm>
          <a:prstGeom prst="rect">
            <a:avLst/>
          </a:prstGeom>
          <a:blipFill>
            <a:blip r:embed="rId1"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pic>
        <p:nvPicPr>
          <p:cNvPr id="10241" name="Picture 1"/>
          <p:cNvPicPr>
            <a:picLocks noChangeAspect="1" noChangeArrowheads="1"/>
          </p:cNvPicPr>
          <p:nvPr/>
        </p:nvPicPr>
        <p:blipFill>
          <a:blip r:embed="rId2" cstate="print"/>
          <a:srcRect/>
          <a:stretch>
            <a:fillRect/>
          </a:stretch>
        </p:blipFill>
        <p:spPr bwMode="auto">
          <a:xfrm>
            <a:off x="2214546" y="5214950"/>
            <a:ext cx="2914650" cy="1381125"/>
          </a:xfrm>
          <a:prstGeom prst="rect">
            <a:avLst/>
          </a:prstGeom>
          <a:noFill/>
          <a:ln w="9525">
            <a:noFill/>
            <a:miter lim="800000"/>
            <a:headEnd/>
            <a:tailEnd/>
          </a:ln>
        </p:spPr>
      </p:pic>
      <p:sp>
        <p:nvSpPr>
          <p:cNvPr id="26" name="左弧形箭头 25"/>
          <p:cNvSpPr/>
          <p:nvPr/>
        </p:nvSpPr>
        <p:spPr>
          <a:xfrm>
            <a:off x="1571604" y="5357826"/>
            <a:ext cx="500066" cy="857256"/>
          </a:xfrm>
          <a:prstGeom prst="curved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chemeClr val="tx1"/>
              </a:solidFill>
            </a:endParaRPr>
          </a:p>
        </p:txBody>
      </p:sp>
      <p:sp>
        <p:nvSpPr>
          <p:cNvPr id="28" name="灯片编号占位符 2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00166" y="500042"/>
            <a:ext cx="592935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7.3 </a:t>
            </a:r>
            <a:r>
              <a:rPr lang="zh-CN" altLang="zh-CN" sz="2800" spc="50" smtClean="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二叉树先序、中序和后序遍历</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500034" y="1500174"/>
            <a:ext cx="450059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7.3.1 </a:t>
            </a:r>
            <a:r>
              <a:rPr lang="zh-CN" altLang="zh-CN" smtClean="0">
                <a:latin typeface="Consolas" panose="020B0609020204030204" pitchFamily="49" charset="0"/>
                <a:ea typeface="微软雅黑" panose="020B0503020204020204" pitchFamily="34" charset="-122"/>
                <a:cs typeface="Consolas" panose="020B0609020204030204" pitchFamily="49" charset="0"/>
              </a:rPr>
              <a:t>二叉树遍历的概念</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714348" y="2285992"/>
            <a:ext cx="8072494" cy="25221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44000" bIns="144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二叉树遍历是指按照一定次序访问二叉树中所有结点，并且每个结点仅被访问一次的过程。</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分别为左、右子树，这</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种遍历方法是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NLR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LNR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LRN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NRL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RNL</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RLN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），若再规定先遍历左子树，后遍历右子树，则对于非空二叉树，可得到如下</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种递归的遍历方法（即</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NLR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LNR</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LRN</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4"/>
          <p:cNvGrpSpPr/>
          <p:nvPr/>
        </p:nvGrpSpPr>
        <p:grpSpPr>
          <a:xfrm>
            <a:off x="2571736" y="4897018"/>
            <a:ext cx="2286016" cy="1603816"/>
            <a:chOff x="2571736" y="4539828"/>
            <a:chExt cx="2357454" cy="1785950"/>
          </a:xfrm>
        </p:grpSpPr>
        <p:sp>
          <p:nvSpPr>
            <p:cNvPr id="9" name="椭圆 8"/>
            <p:cNvSpPr/>
            <p:nvPr/>
          </p:nvSpPr>
          <p:spPr>
            <a:xfrm>
              <a:off x="3548055" y="4539828"/>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lIns="0" rIns="0" rtlCol="0" anchor="ctr"/>
            <a:lstStyle/>
            <a:p>
              <a:r>
                <a:rPr lang="en-US" altLang="zh-CN" sz="1800" smtClean="0">
                  <a:solidFill>
                    <a:srgbClr val="FF0000"/>
                  </a:solidFill>
                  <a:latin typeface="Consolas" panose="020B0609020204030204" pitchFamily="49" charset="0"/>
                  <a:cs typeface="Consolas" panose="020B0609020204030204" pitchFamily="49" charset="0"/>
                </a:rPr>
                <a:t>N</a:t>
              </a:r>
              <a:endParaRPr lang="zh-CN" altLang="en-US" sz="1800">
                <a:solidFill>
                  <a:srgbClr val="FF0000"/>
                </a:solidFill>
                <a:latin typeface="Consolas" panose="020B0609020204030204" pitchFamily="49" charset="0"/>
                <a:cs typeface="Consolas" panose="020B0609020204030204" pitchFamily="49" charset="0"/>
              </a:endParaRPr>
            </a:p>
          </p:txBody>
        </p:sp>
        <p:sp>
          <p:nvSpPr>
            <p:cNvPr id="10" name="等腰三角形 9"/>
            <p:cNvSpPr/>
            <p:nvPr/>
          </p:nvSpPr>
          <p:spPr>
            <a:xfrm>
              <a:off x="2571736"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L</a:t>
              </a:r>
              <a:endParaRPr lang="zh-CN" altLang="en-US" sz="1800">
                <a:latin typeface="Consolas" panose="020B0609020204030204" pitchFamily="49" charset="0"/>
                <a:cs typeface="Consolas" panose="020B0609020204030204" pitchFamily="49" charset="0"/>
              </a:endParaRPr>
            </a:p>
          </p:txBody>
        </p:sp>
        <p:sp>
          <p:nvSpPr>
            <p:cNvPr id="11" name="等腰三角形 10"/>
            <p:cNvSpPr/>
            <p:nvPr/>
          </p:nvSpPr>
          <p:spPr>
            <a:xfrm>
              <a:off x="4071934"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R</a:t>
              </a:r>
              <a:endParaRPr lang="zh-CN" altLang="en-US" sz="1800">
                <a:latin typeface="Consolas" panose="020B0609020204030204" pitchFamily="49" charset="0"/>
                <a:cs typeface="Consolas" panose="020B0609020204030204" pitchFamily="49" charset="0"/>
              </a:endParaRPr>
            </a:p>
          </p:txBody>
        </p:sp>
        <p:cxnSp>
          <p:nvCxnSpPr>
            <p:cNvPr id="12" name="直接连接符 11"/>
            <p:cNvCxnSpPr>
              <a:stCxn id="9" idx="3"/>
              <a:endCxn id="10" idx="0"/>
            </p:cNvCxnSpPr>
            <p:nvPr/>
          </p:nvCxnSpPr>
          <p:spPr>
            <a:xfrm rot="5400000">
              <a:off x="2983227" y="4922822"/>
              <a:ext cx="634275" cy="600000"/>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9" idx="5"/>
              <a:endCxn id="11" idx="0"/>
            </p:cNvCxnSpPr>
            <p:nvPr/>
          </p:nvCxnSpPr>
          <p:spPr>
            <a:xfrm rot="16200000" flipH="1">
              <a:off x="3859612" y="4899009"/>
              <a:ext cx="634275" cy="647626"/>
            </a:xfrm>
            <a:prstGeom prst="line">
              <a:avLst/>
            </a:prstGeom>
            <a:ln w="19050"/>
          </p:spPr>
          <p:style>
            <a:lnRef idx="2">
              <a:schemeClr val="dk1"/>
            </a:lnRef>
            <a:fillRef idx="0">
              <a:schemeClr val="dk1"/>
            </a:fillRef>
            <a:effectRef idx="1">
              <a:schemeClr val="dk1"/>
            </a:effectRef>
            <a:fontRef idx="minor">
              <a:schemeClr val="tx1"/>
            </a:fontRef>
          </p:style>
        </p:cxnSp>
      </p:grpSp>
      <p:sp>
        <p:nvSpPr>
          <p:cNvPr id="14" name="灯片编号占位符 1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357166"/>
            <a:ext cx="21431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）先序遍历</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928662" y="1142984"/>
            <a:ext cx="2643206"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① 访问根结点。</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② 先序遍历左子树。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③ 先序遍历右子树。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285852" y="2718414"/>
            <a:ext cx="1900083" cy="1925032"/>
            <a:chOff x="1150124" y="3032607"/>
            <a:chExt cx="1900083" cy="1925032"/>
          </a:xfrm>
        </p:grpSpPr>
        <p:sp>
          <p:nvSpPr>
            <p:cNvPr id="7"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3"/>
            <p:cNvSpPr>
              <a:spLocks noChangeArrowheads="1"/>
            </p:cNvSpPr>
            <p:nvPr/>
          </p:nvSpPr>
          <p:spPr bwMode="auto">
            <a:xfrm>
              <a:off x="1568268" y="4633639"/>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0" name="TextBox 19"/>
          <p:cNvSpPr txBox="1"/>
          <p:nvPr/>
        </p:nvSpPr>
        <p:spPr>
          <a:xfrm>
            <a:off x="4000496" y="3289918"/>
            <a:ext cx="2786082"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先序序列为：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ABDGCEF</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右箭头 20"/>
          <p:cNvSpPr/>
          <p:nvPr/>
        </p:nvSpPr>
        <p:spPr>
          <a:xfrm>
            <a:off x="3286116" y="3361356"/>
            <a:ext cx="50006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4" name="组合 21"/>
          <p:cNvGrpSpPr/>
          <p:nvPr/>
        </p:nvGrpSpPr>
        <p:grpSpPr>
          <a:xfrm>
            <a:off x="1285852" y="5143512"/>
            <a:ext cx="896901" cy="896901"/>
            <a:chOff x="388951" y="5103867"/>
            <a:chExt cx="896901" cy="896901"/>
          </a:xfrm>
        </p:grpSpPr>
        <p:sp>
          <p:nvSpPr>
            <p:cNvPr id="23" name="椭圆 22"/>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4" name="椭圆 23"/>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5"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26" name="TextBox 25"/>
          <p:cNvSpPr txBox="1"/>
          <p:nvPr/>
        </p:nvSpPr>
        <p:spPr>
          <a:xfrm>
            <a:off x="2214546" y="5214950"/>
            <a:ext cx="5429288" cy="75918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6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在一棵二叉树的先序序列中，第一个元素即为根结点对应的结点值。</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750099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7.8</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给出求一棵非空二叉树先序序列尾结点的过程。</a:t>
            </a:r>
            <a:endParaRPr lang="zh-CN" altLang="en-US"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nvGrpSpPr>
          <p:cNvPr id="2" name="组合 18"/>
          <p:cNvGrpSpPr/>
          <p:nvPr/>
        </p:nvGrpSpPr>
        <p:grpSpPr>
          <a:xfrm>
            <a:off x="642910" y="1571612"/>
            <a:ext cx="3500462" cy="3071834"/>
            <a:chOff x="2071670" y="1285860"/>
            <a:chExt cx="3500462" cy="3071834"/>
          </a:xfrm>
        </p:grpSpPr>
        <p:sp>
          <p:nvSpPr>
            <p:cNvPr id="6" name="Oval 40"/>
            <p:cNvSpPr>
              <a:spLocks noChangeArrowheads="1"/>
            </p:cNvSpPr>
            <p:nvPr/>
          </p:nvSpPr>
          <p:spPr bwMode="auto">
            <a:xfrm>
              <a:off x="2500298" y="1285860"/>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 name="等腰三角形 6"/>
            <p:cNvSpPr/>
            <p:nvPr/>
          </p:nvSpPr>
          <p:spPr>
            <a:xfrm>
              <a:off x="2071670" y="1785926"/>
              <a:ext cx="428628" cy="428628"/>
            </a:xfrm>
            <a:prstGeom prst="triangl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8" name="Oval 40"/>
            <p:cNvSpPr>
              <a:spLocks noChangeArrowheads="1"/>
            </p:cNvSpPr>
            <p:nvPr/>
          </p:nvSpPr>
          <p:spPr bwMode="auto">
            <a:xfrm>
              <a:off x="3143240" y="2071678"/>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9" name="Oval 40"/>
            <p:cNvSpPr>
              <a:spLocks noChangeArrowheads="1"/>
            </p:cNvSpPr>
            <p:nvPr/>
          </p:nvSpPr>
          <p:spPr bwMode="auto">
            <a:xfrm>
              <a:off x="2714612" y="260493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0" name="Oval 40"/>
            <p:cNvSpPr>
              <a:spLocks noChangeArrowheads="1"/>
            </p:cNvSpPr>
            <p:nvPr/>
          </p:nvSpPr>
          <p:spPr bwMode="auto">
            <a:xfrm>
              <a:off x="3357554" y="3643314"/>
              <a:ext cx="324000" cy="32400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cxnSp>
          <p:nvCxnSpPr>
            <p:cNvPr id="12" name="直接连接符 11"/>
            <p:cNvCxnSpPr>
              <a:stCxn id="6" idx="3"/>
              <a:endCxn id="7" idx="0"/>
            </p:cNvCxnSpPr>
            <p:nvPr/>
          </p:nvCxnSpPr>
          <p:spPr>
            <a:xfrm rot="5400000">
              <a:off x="2305109" y="1543287"/>
              <a:ext cx="223515" cy="261763"/>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4" name="直接连接符 13"/>
            <p:cNvCxnSpPr>
              <a:stCxn id="6" idx="5"/>
              <a:endCxn id="8" idx="1"/>
            </p:cNvCxnSpPr>
            <p:nvPr/>
          </p:nvCxnSpPr>
          <p:spPr>
            <a:xfrm rot="16200000" flipH="1">
              <a:off x="2705411" y="1633849"/>
              <a:ext cx="556716" cy="413840"/>
            </a:xfrm>
            <a:prstGeom prst="line">
              <a:avLst/>
            </a:prstGeom>
            <a:ln w="19050">
              <a:prstDash val="dash"/>
              <a:tailEnd type="none"/>
            </a:ln>
          </p:spPr>
          <p:style>
            <a:lnRef idx="2">
              <a:schemeClr val="dk1"/>
            </a:lnRef>
            <a:fillRef idx="0">
              <a:schemeClr val="dk1"/>
            </a:fillRef>
            <a:effectRef idx="1">
              <a:schemeClr val="dk1"/>
            </a:effectRef>
            <a:fontRef idx="minor">
              <a:schemeClr val="tx1"/>
            </a:fontRef>
          </p:style>
        </p:cxnSp>
        <p:cxnSp>
          <p:nvCxnSpPr>
            <p:cNvPr id="16" name="直接连接符 15"/>
            <p:cNvCxnSpPr>
              <a:stCxn id="8" idx="3"/>
              <a:endCxn id="9" idx="7"/>
            </p:cNvCxnSpPr>
            <p:nvPr/>
          </p:nvCxnSpPr>
          <p:spPr>
            <a:xfrm rot="5400000">
              <a:off x="2938849" y="2400543"/>
              <a:ext cx="304154" cy="199526"/>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7" name="等腰三角形 16"/>
            <p:cNvSpPr/>
            <p:nvPr/>
          </p:nvSpPr>
          <p:spPr>
            <a:xfrm>
              <a:off x="2333609" y="3200398"/>
              <a:ext cx="428628" cy="428628"/>
            </a:xfrm>
            <a:prstGeom prst="triangl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cxnSp>
          <p:nvCxnSpPr>
            <p:cNvPr id="18" name="直接连接符 17"/>
            <p:cNvCxnSpPr>
              <a:stCxn id="9" idx="3"/>
              <a:endCxn id="17" idx="0"/>
            </p:cNvCxnSpPr>
            <p:nvPr/>
          </p:nvCxnSpPr>
          <p:spPr>
            <a:xfrm rot="5400000">
              <a:off x="2495536" y="2933872"/>
              <a:ext cx="318913" cy="214138"/>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1" name="直接连接符 20"/>
            <p:cNvCxnSpPr>
              <a:stCxn id="9" idx="5"/>
              <a:endCxn id="10" idx="0"/>
            </p:cNvCxnSpPr>
            <p:nvPr/>
          </p:nvCxnSpPr>
          <p:spPr>
            <a:xfrm rot="16200000" flipH="1">
              <a:off x="2874444" y="2998203"/>
              <a:ext cx="761829" cy="528391"/>
            </a:xfrm>
            <a:prstGeom prst="line">
              <a:avLst/>
            </a:prstGeom>
            <a:ln w="19050">
              <a:prstDash val="dash"/>
              <a:tailEnd type="none"/>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3786182" y="3643314"/>
              <a:ext cx="1785950"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没有左右孩子</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4" name="直接箭头连接符 23"/>
            <p:cNvCxnSpPr/>
            <p:nvPr/>
          </p:nvCxnSpPr>
          <p:spPr>
            <a:xfrm rot="5400000" flipH="1" flipV="1">
              <a:off x="3333889" y="4162504"/>
              <a:ext cx="390380" cy="0"/>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3" name="TextBox 22"/>
          <p:cNvSpPr txBox="1"/>
          <p:nvPr/>
        </p:nvSpPr>
        <p:spPr>
          <a:xfrm>
            <a:off x="4286248" y="1571612"/>
            <a:ext cx="4286280" cy="178510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3000"/>
              </a:lnSpc>
              <a:spcBef>
                <a:spcPts val="600"/>
              </a:spcBef>
              <a:buBlip>
                <a:blip r:embed="rId1"/>
              </a:buBlip>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从根结点开始。</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600"/>
              </a:spcBef>
              <a:buBlip>
                <a:blip r:embed="rId1"/>
              </a:buBlip>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当前结点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没有左右孩子，返回</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600"/>
              </a:spcBef>
              <a:buBlip>
                <a:blip r:embed="rId1"/>
              </a:buBlip>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当前结点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有右子树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转向右孩子，否则  转向左孩子。</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灯片编号占位符 1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357166"/>
            <a:ext cx="21431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中</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序遍历</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928662" y="1024663"/>
            <a:ext cx="2643206"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①</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序遍历左子树。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②</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访问根结点。</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③ </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序遍历右子树。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285852" y="2718414"/>
            <a:ext cx="1900083" cy="1925032"/>
            <a:chOff x="1150124" y="3032607"/>
            <a:chExt cx="1900083" cy="1925032"/>
          </a:xfrm>
        </p:grpSpPr>
        <p:sp>
          <p:nvSpPr>
            <p:cNvPr id="7"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3"/>
            <p:cNvSpPr>
              <a:spLocks noChangeArrowheads="1"/>
            </p:cNvSpPr>
            <p:nvPr/>
          </p:nvSpPr>
          <p:spPr bwMode="auto">
            <a:xfrm>
              <a:off x="1568268" y="4633639"/>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0" name="TextBox 19"/>
          <p:cNvSpPr txBox="1"/>
          <p:nvPr/>
        </p:nvSpPr>
        <p:spPr>
          <a:xfrm>
            <a:off x="4000496" y="3289918"/>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中序序列为：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DGBAECF</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右箭头 20"/>
          <p:cNvSpPr/>
          <p:nvPr/>
        </p:nvSpPr>
        <p:spPr>
          <a:xfrm>
            <a:off x="3286116" y="3361356"/>
            <a:ext cx="50006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4" name="组合 21"/>
          <p:cNvGrpSpPr/>
          <p:nvPr/>
        </p:nvGrpSpPr>
        <p:grpSpPr>
          <a:xfrm>
            <a:off x="928662" y="5143512"/>
            <a:ext cx="896901" cy="896901"/>
            <a:chOff x="388951" y="5103867"/>
            <a:chExt cx="896901" cy="896901"/>
          </a:xfrm>
        </p:grpSpPr>
        <p:sp>
          <p:nvSpPr>
            <p:cNvPr id="23" name="椭圆 22"/>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4" name="椭圆 23"/>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5"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26" name="TextBox 25"/>
          <p:cNvSpPr txBox="1"/>
          <p:nvPr/>
        </p:nvSpPr>
        <p:spPr>
          <a:xfrm>
            <a:off x="1928794" y="5269670"/>
            <a:ext cx="6500858" cy="1092607"/>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6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在一棵二叉树的中序序列中，根结点值将其序列分为前后两部分，前部分为左子树的中序序列，后部分为右子树的中序序列。</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285728"/>
            <a:ext cx="21431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后</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序遍历</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85786" y="1024663"/>
            <a:ext cx="2643206"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① 后序遍历左子树。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② 后序遍历右子树。</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③ 访问根结点。</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285852" y="2718414"/>
            <a:ext cx="1900083" cy="1925032"/>
            <a:chOff x="1150124" y="3032607"/>
            <a:chExt cx="1900083" cy="1925032"/>
          </a:xfrm>
        </p:grpSpPr>
        <p:sp>
          <p:nvSpPr>
            <p:cNvPr id="7"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3"/>
            <p:cNvSpPr>
              <a:spLocks noChangeArrowheads="1"/>
            </p:cNvSpPr>
            <p:nvPr/>
          </p:nvSpPr>
          <p:spPr bwMode="auto">
            <a:xfrm>
              <a:off x="1568268" y="4633639"/>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8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0" name="TextBox 19"/>
          <p:cNvSpPr txBox="1"/>
          <p:nvPr/>
        </p:nvSpPr>
        <p:spPr>
          <a:xfrm>
            <a:off x="4000496" y="3289918"/>
            <a:ext cx="285752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后序序列为：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GDBEFCA</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右箭头 20"/>
          <p:cNvSpPr/>
          <p:nvPr/>
        </p:nvSpPr>
        <p:spPr>
          <a:xfrm>
            <a:off x="3286116" y="3361356"/>
            <a:ext cx="50006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4" name="组合 21"/>
          <p:cNvGrpSpPr/>
          <p:nvPr/>
        </p:nvGrpSpPr>
        <p:grpSpPr>
          <a:xfrm>
            <a:off x="1285852" y="5143512"/>
            <a:ext cx="896901" cy="896901"/>
            <a:chOff x="388951" y="5103867"/>
            <a:chExt cx="896901" cy="896901"/>
          </a:xfrm>
        </p:grpSpPr>
        <p:sp>
          <p:nvSpPr>
            <p:cNvPr id="23" name="椭圆 22"/>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4" name="椭圆 23"/>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5" name="文本框 14"/>
            <p:cNvSpPr txBox="1"/>
            <p:nvPr/>
          </p:nvSpPr>
          <p:spPr>
            <a:xfrm>
              <a:off x="525185" y="5431228"/>
              <a:ext cx="646332" cy="313932"/>
            </a:xfrm>
            <a:prstGeom prst="rect">
              <a:avLst/>
            </a:prstGeom>
            <a:noFill/>
          </p:spPr>
          <p:txBody>
            <a:bodyPr wrap="none" rtlCol="0">
              <a:spAutoFit/>
            </a:bodyPr>
            <a:lstStyle/>
            <a:p>
              <a:r>
                <a:rPr lang="zh-CN" altLang="en-US" sz="1800" b="1" smtClean="0">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sp>
        <p:nvSpPr>
          <p:cNvPr id="26" name="TextBox 25"/>
          <p:cNvSpPr txBox="1"/>
          <p:nvPr/>
        </p:nvSpPr>
        <p:spPr>
          <a:xfrm>
            <a:off x="2285984" y="5214950"/>
            <a:ext cx="5429288" cy="75918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6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在一棵二叉树的后序序列中，最后一个元素即为根结点对应的结点值。</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578647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7.3.2 </a:t>
            </a:r>
            <a:r>
              <a:rPr lang="zh-CN" altLang="zh-CN" smtClean="0">
                <a:latin typeface="Consolas" panose="020B0609020204030204" pitchFamily="49" charset="0"/>
                <a:ea typeface="微软雅黑" panose="020B0503020204020204" pitchFamily="34" charset="-122"/>
                <a:cs typeface="Consolas" panose="020B0609020204030204" pitchFamily="49" charset="0"/>
              </a:rPr>
              <a:t>先序、中序和后序遍历递归算法</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571472" y="1357298"/>
            <a:ext cx="328614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1</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）先序遍历的递归算法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14348" y="2278765"/>
            <a:ext cx="7715304" cy="35378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PreOrder11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PreOrder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cout &lt;&lt; 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PreOrder11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先序遍历左子树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PreOrder11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先序遍历右子树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PreOrder1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先序遍历的递归算法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PreOrder11(bt.r);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p:nvPr/>
        </p:nvGrpSpPr>
        <p:grpSpPr>
          <a:xfrm>
            <a:off x="5007148" y="1000108"/>
            <a:ext cx="2279496" cy="2801359"/>
            <a:chOff x="506805" y="1365389"/>
            <a:chExt cx="2279496" cy="2801359"/>
          </a:xfrm>
        </p:grpSpPr>
        <p:sp>
          <p:nvSpPr>
            <p:cNvPr id="5" name="Freeform 70"/>
            <p:cNvSpPr/>
            <p:nvPr/>
          </p:nvSpPr>
          <p:spPr bwMode="auto">
            <a:xfrm>
              <a:off x="1872681" y="2710446"/>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Line 69"/>
            <p:cNvSpPr>
              <a:spLocks noChangeShapeType="1"/>
            </p:cNvSpPr>
            <p:nvPr/>
          </p:nvSpPr>
          <p:spPr bwMode="auto">
            <a:xfrm>
              <a:off x="975250" y="3335442"/>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68"/>
            <p:cNvSpPr/>
            <p:nvPr/>
          </p:nvSpPr>
          <p:spPr bwMode="auto">
            <a:xfrm>
              <a:off x="2276373" y="2676061"/>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67"/>
            <p:cNvSpPr>
              <a:spLocks noChangeShapeType="1"/>
            </p:cNvSpPr>
            <p:nvPr/>
          </p:nvSpPr>
          <p:spPr bwMode="auto">
            <a:xfrm flipH="1">
              <a:off x="897345" y="2637630"/>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66"/>
            <p:cNvSpPr>
              <a:spLocks noChangeShapeType="1"/>
            </p:cNvSpPr>
            <p:nvPr/>
          </p:nvSpPr>
          <p:spPr bwMode="auto">
            <a:xfrm flipH="1">
              <a:off x="1258543" y="2021736"/>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Oval 65"/>
            <p:cNvSpPr>
              <a:spLocks noChangeArrowheads="1"/>
            </p:cNvSpPr>
            <p:nvPr/>
          </p:nvSpPr>
          <p:spPr bwMode="auto">
            <a:xfrm>
              <a:off x="1604565" y="1884196"/>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64"/>
            <p:cNvSpPr>
              <a:spLocks noChangeArrowheads="1"/>
            </p:cNvSpPr>
            <p:nvPr/>
          </p:nvSpPr>
          <p:spPr bwMode="auto">
            <a:xfrm>
              <a:off x="1100708" y="2387834"/>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Oval 63"/>
            <p:cNvSpPr>
              <a:spLocks noChangeArrowheads="1"/>
            </p:cNvSpPr>
            <p:nvPr/>
          </p:nvSpPr>
          <p:spPr bwMode="auto">
            <a:xfrm>
              <a:off x="2036586" y="2431321"/>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62"/>
            <p:cNvSpPr>
              <a:spLocks noChangeArrowheads="1"/>
            </p:cNvSpPr>
            <p:nvPr/>
          </p:nvSpPr>
          <p:spPr bwMode="auto">
            <a:xfrm>
              <a:off x="1722941" y="3078566"/>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61"/>
            <p:cNvSpPr>
              <a:spLocks noChangeArrowheads="1"/>
            </p:cNvSpPr>
            <p:nvPr/>
          </p:nvSpPr>
          <p:spPr bwMode="auto">
            <a:xfrm>
              <a:off x="2433196" y="3078566"/>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60"/>
            <p:cNvSpPr>
              <a:spLocks noChangeArrowheads="1"/>
            </p:cNvSpPr>
            <p:nvPr/>
          </p:nvSpPr>
          <p:spPr bwMode="auto">
            <a:xfrm>
              <a:off x="740522" y="3093736"/>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Line 59"/>
            <p:cNvSpPr>
              <a:spLocks noChangeShapeType="1"/>
            </p:cNvSpPr>
            <p:nvPr/>
          </p:nvSpPr>
          <p:spPr bwMode="auto">
            <a:xfrm>
              <a:off x="1846375" y="2141072"/>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58"/>
            <p:cNvSpPr>
              <a:spLocks noChangeArrowheads="1"/>
            </p:cNvSpPr>
            <p:nvPr/>
          </p:nvSpPr>
          <p:spPr bwMode="auto">
            <a:xfrm>
              <a:off x="1189743" y="3677269"/>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Freeform 56"/>
            <p:cNvSpPr/>
            <p:nvPr/>
          </p:nvSpPr>
          <p:spPr bwMode="auto">
            <a:xfrm>
              <a:off x="644405" y="1430113"/>
              <a:ext cx="2141896" cy="2736635"/>
            </a:xfrm>
            <a:custGeom>
              <a:avLst/>
              <a:gdLst/>
              <a:ahLst/>
              <a:cxnLst>
                <a:cxn ang="0">
                  <a:pos x="977" y="228"/>
                </a:cxn>
                <a:cxn ang="0">
                  <a:pos x="920" y="440"/>
                </a:cxn>
                <a:cxn ang="0">
                  <a:pos x="621" y="749"/>
                </a:cxn>
                <a:cxn ang="0">
                  <a:pos x="415" y="1016"/>
                </a:cxn>
                <a:cxn ang="0">
                  <a:pos x="265" y="1308"/>
                </a:cxn>
                <a:cxn ang="0">
                  <a:pos x="10" y="1811"/>
                </a:cxn>
                <a:cxn ang="0">
                  <a:pos x="205" y="2111"/>
                </a:cxn>
                <a:cxn ang="0">
                  <a:pos x="392" y="2328"/>
                </a:cxn>
                <a:cxn ang="0">
                  <a:pos x="654" y="2665"/>
                </a:cxn>
                <a:cxn ang="0">
                  <a:pos x="855" y="2572"/>
                </a:cxn>
                <a:cxn ang="0">
                  <a:pos x="940" y="2433"/>
                </a:cxn>
                <a:cxn ang="0">
                  <a:pos x="835" y="2208"/>
                </a:cxn>
                <a:cxn ang="0">
                  <a:pos x="655" y="2058"/>
                </a:cxn>
                <a:cxn ang="0">
                  <a:pos x="451" y="1805"/>
                </a:cxn>
                <a:cxn ang="0">
                  <a:pos x="720" y="1286"/>
                </a:cxn>
                <a:cxn ang="0">
                  <a:pos x="1030" y="873"/>
                </a:cxn>
                <a:cxn ang="0">
                  <a:pos x="1225" y="978"/>
                </a:cxn>
                <a:cxn ang="0">
                  <a:pos x="1277" y="1211"/>
                </a:cxn>
                <a:cxn ang="0">
                  <a:pos x="1172" y="1481"/>
                </a:cxn>
                <a:cxn ang="0">
                  <a:pos x="1014" y="1645"/>
                </a:cxn>
                <a:cxn ang="0">
                  <a:pos x="949" y="1824"/>
                </a:cxn>
                <a:cxn ang="0">
                  <a:pos x="1066" y="2076"/>
                </a:cxn>
                <a:cxn ang="0">
                  <a:pos x="1335" y="2058"/>
                </a:cxn>
                <a:cxn ang="0">
                  <a:pos x="1435" y="1884"/>
                </a:cxn>
                <a:cxn ang="0">
                  <a:pos x="1439" y="1581"/>
                </a:cxn>
                <a:cxn ang="0">
                  <a:pos x="1509" y="1384"/>
                </a:cxn>
                <a:cxn ang="0">
                  <a:pos x="1645" y="1525"/>
                </a:cxn>
                <a:cxn ang="0">
                  <a:pos x="1682" y="1796"/>
                </a:cxn>
                <a:cxn ang="0">
                  <a:pos x="1862" y="2067"/>
                </a:cxn>
                <a:cxn ang="0">
                  <a:pos x="2080" y="1953"/>
                </a:cxn>
                <a:cxn ang="0">
                  <a:pos x="2087" y="1691"/>
                </a:cxn>
                <a:cxn ang="0">
                  <a:pos x="1945" y="1496"/>
                </a:cxn>
                <a:cxn ang="0">
                  <a:pos x="1742" y="1166"/>
                </a:cxn>
                <a:cxn ang="0">
                  <a:pos x="1439" y="703"/>
                </a:cxn>
                <a:cxn ang="0">
                  <a:pos x="1322" y="477"/>
                </a:cxn>
                <a:cxn ang="0">
                  <a:pos x="1238" y="0"/>
                </a:cxn>
              </a:cxnLst>
              <a:rect l="0" t="0" r="r" b="b"/>
              <a:pathLst>
                <a:path w="2117" h="2706">
                  <a:moveTo>
                    <a:pt x="977" y="228"/>
                  </a:moveTo>
                  <a:cubicBezTo>
                    <a:pt x="966" y="264"/>
                    <a:pt x="979" y="353"/>
                    <a:pt x="920" y="440"/>
                  </a:cubicBezTo>
                  <a:cubicBezTo>
                    <a:pt x="861" y="527"/>
                    <a:pt x="705" y="653"/>
                    <a:pt x="621" y="749"/>
                  </a:cubicBezTo>
                  <a:cubicBezTo>
                    <a:pt x="537" y="845"/>
                    <a:pt x="474" y="923"/>
                    <a:pt x="415" y="1016"/>
                  </a:cubicBezTo>
                  <a:cubicBezTo>
                    <a:pt x="356" y="1109"/>
                    <a:pt x="332" y="1176"/>
                    <a:pt x="265" y="1308"/>
                  </a:cubicBezTo>
                  <a:cubicBezTo>
                    <a:pt x="198" y="1440"/>
                    <a:pt x="20" y="1677"/>
                    <a:pt x="10" y="1811"/>
                  </a:cubicBezTo>
                  <a:cubicBezTo>
                    <a:pt x="0" y="1945"/>
                    <a:pt x="141" y="2025"/>
                    <a:pt x="205" y="2111"/>
                  </a:cubicBezTo>
                  <a:cubicBezTo>
                    <a:pt x="269" y="2197"/>
                    <a:pt x="317" y="2236"/>
                    <a:pt x="392" y="2328"/>
                  </a:cubicBezTo>
                  <a:cubicBezTo>
                    <a:pt x="467" y="2420"/>
                    <a:pt x="577" y="2624"/>
                    <a:pt x="654" y="2665"/>
                  </a:cubicBezTo>
                  <a:cubicBezTo>
                    <a:pt x="731" y="2706"/>
                    <a:pt x="807" y="2611"/>
                    <a:pt x="855" y="2572"/>
                  </a:cubicBezTo>
                  <a:cubicBezTo>
                    <a:pt x="903" y="2533"/>
                    <a:pt x="943" y="2494"/>
                    <a:pt x="940" y="2433"/>
                  </a:cubicBezTo>
                  <a:cubicBezTo>
                    <a:pt x="937" y="2372"/>
                    <a:pt x="883" y="2270"/>
                    <a:pt x="835" y="2208"/>
                  </a:cubicBezTo>
                  <a:cubicBezTo>
                    <a:pt x="787" y="2146"/>
                    <a:pt x="719" y="2125"/>
                    <a:pt x="655" y="2058"/>
                  </a:cubicBezTo>
                  <a:cubicBezTo>
                    <a:pt x="591" y="1991"/>
                    <a:pt x="440" y="1934"/>
                    <a:pt x="451" y="1805"/>
                  </a:cubicBezTo>
                  <a:cubicBezTo>
                    <a:pt x="462" y="1676"/>
                    <a:pt x="624" y="1441"/>
                    <a:pt x="720" y="1286"/>
                  </a:cubicBezTo>
                  <a:cubicBezTo>
                    <a:pt x="816" y="1131"/>
                    <a:pt x="946" y="924"/>
                    <a:pt x="1030" y="873"/>
                  </a:cubicBezTo>
                  <a:cubicBezTo>
                    <a:pt x="1114" y="822"/>
                    <a:pt x="1184" y="922"/>
                    <a:pt x="1225" y="978"/>
                  </a:cubicBezTo>
                  <a:cubicBezTo>
                    <a:pt x="1266" y="1034"/>
                    <a:pt x="1286" y="1127"/>
                    <a:pt x="1277" y="1211"/>
                  </a:cubicBezTo>
                  <a:cubicBezTo>
                    <a:pt x="1268" y="1295"/>
                    <a:pt x="1216" y="1409"/>
                    <a:pt x="1172" y="1481"/>
                  </a:cubicBezTo>
                  <a:cubicBezTo>
                    <a:pt x="1128" y="1553"/>
                    <a:pt x="1051" y="1588"/>
                    <a:pt x="1014" y="1645"/>
                  </a:cubicBezTo>
                  <a:cubicBezTo>
                    <a:pt x="977" y="1702"/>
                    <a:pt x="940" y="1752"/>
                    <a:pt x="949" y="1824"/>
                  </a:cubicBezTo>
                  <a:cubicBezTo>
                    <a:pt x="958" y="1896"/>
                    <a:pt x="1002" y="2037"/>
                    <a:pt x="1066" y="2076"/>
                  </a:cubicBezTo>
                  <a:cubicBezTo>
                    <a:pt x="1130" y="2115"/>
                    <a:pt x="1273" y="2090"/>
                    <a:pt x="1335" y="2058"/>
                  </a:cubicBezTo>
                  <a:cubicBezTo>
                    <a:pt x="1397" y="2026"/>
                    <a:pt x="1418" y="1963"/>
                    <a:pt x="1435" y="1884"/>
                  </a:cubicBezTo>
                  <a:cubicBezTo>
                    <a:pt x="1452" y="1805"/>
                    <a:pt x="1427" y="1664"/>
                    <a:pt x="1439" y="1581"/>
                  </a:cubicBezTo>
                  <a:cubicBezTo>
                    <a:pt x="1451" y="1498"/>
                    <a:pt x="1475" y="1393"/>
                    <a:pt x="1509" y="1384"/>
                  </a:cubicBezTo>
                  <a:cubicBezTo>
                    <a:pt x="1543" y="1375"/>
                    <a:pt x="1616" y="1456"/>
                    <a:pt x="1645" y="1525"/>
                  </a:cubicBezTo>
                  <a:cubicBezTo>
                    <a:pt x="1674" y="1594"/>
                    <a:pt x="1646" y="1706"/>
                    <a:pt x="1682" y="1796"/>
                  </a:cubicBezTo>
                  <a:cubicBezTo>
                    <a:pt x="1718" y="1886"/>
                    <a:pt x="1796" y="2041"/>
                    <a:pt x="1862" y="2067"/>
                  </a:cubicBezTo>
                  <a:cubicBezTo>
                    <a:pt x="1928" y="2093"/>
                    <a:pt x="2043" y="2016"/>
                    <a:pt x="2080" y="1953"/>
                  </a:cubicBezTo>
                  <a:cubicBezTo>
                    <a:pt x="2117" y="1890"/>
                    <a:pt x="2109" y="1767"/>
                    <a:pt x="2087" y="1691"/>
                  </a:cubicBezTo>
                  <a:cubicBezTo>
                    <a:pt x="2065" y="1615"/>
                    <a:pt x="2002" y="1583"/>
                    <a:pt x="1945" y="1496"/>
                  </a:cubicBezTo>
                  <a:cubicBezTo>
                    <a:pt x="1888" y="1409"/>
                    <a:pt x="1826" y="1298"/>
                    <a:pt x="1742" y="1166"/>
                  </a:cubicBezTo>
                  <a:cubicBezTo>
                    <a:pt x="1658" y="1034"/>
                    <a:pt x="1509" y="818"/>
                    <a:pt x="1439" y="703"/>
                  </a:cubicBezTo>
                  <a:cubicBezTo>
                    <a:pt x="1369" y="588"/>
                    <a:pt x="1355" y="594"/>
                    <a:pt x="1322" y="477"/>
                  </a:cubicBezTo>
                  <a:cubicBezTo>
                    <a:pt x="1289" y="360"/>
                    <a:pt x="1255" y="99"/>
                    <a:pt x="1238" y="0"/>
                  </a:cubicBezTo>
                </a:path>
              </a:pathLst>
            </a:cu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AutoShape 55"/>
            <p:cNvSpPr>
              <a:spLocks noChangeShapeType="1"/>
            </p:cNvSpPr>
            <p:nvPr/>
          </p:nvSpPr>
          <p:spPr bwMode="auto">
            <a:xfrm flipH="1">
              <a:off x="1632894" y="1365389"/>
              <a:ext cx="23270" cy="295306"/>
            </a:xfrm>
            <a:prstGeom prst="straightConnector1">
              <a:avLst/>
            </a:prstGeom>
            <a:ln w="19050">
              <a:solidFill>
                <a:srgbClr val="FF0000"/>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AutoShape 54"/>
            <p:cNvSpPr>
              <a:spLocks noChangeShapeType="1"/>
            </p:cNvSpPr>
            <p:nvPr/>
          </p:nvSpPr>
          <p:spPr bwMode="auto">
            <a:xfrm>
              <a:off x="1372872" y="2020725"/>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AutoShape 53"/>
            <p:cNvSpPr>
              <a:spLocks noChangeShapeType="1"/>
            </p:cNvSpPr>
            <p:nvPr/>
          </p:nvSpPr>
          <p:spPr bwMode="auto">
            <a:xfrm>
              <a:off x="862945" y="2538521"/>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AutoShape 52"/>
            <p:cNvSpPr>
              <a:spLocks noChangeShapeType="1"/>
            </p:cNvSpPr>
            <p:nvPr/>
          </p:nvSpPr>
          <p:spPr bwMode="auto">
            <a:xfrm>
              <a:off x="506805" y="3250491"/>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AutoShape 51"/>
            <p:cNvSpPr>
              <a:spLocks noChangeShapeType="1"/>
            </p:cNvSpPr>
            <p:nvPr/>
          </p:nvSpPr>
          <p:spPr bwMode="auto">
            <a:xfrm>
              <a:off x="951980" y="3857284"/>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AutoShape 50"/>
            <p:cNvSpPr>
              <a:spLocks noChangeShapeType="1"/>
            </p:cNvSpPr>
            <p:nvPr/>
          </p:nvSpPr>
          <p:spPr bwMode="auto">
            <a:xfrm>
              <a:off x="1486189" y="3234310"/>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AutoShape 49"/>
            <p:cNvSpPr>
              <a:spLocks noChangeShapeType="1"/>
            </p:cNvSpPr>
            <p:nvPr/>
          </p:nvSpPr>
          <p:spPr bwMode="auto">
            <a:xfrm>
              <a:off x="1801858" y="2603246"/>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AutoShape 48"/>
            <p:cNvSpPr>
              <a:spLocks noChangeShapeType="1"/>
            </p:cNvSpPr>
            <p:nvPr/>
          </p:nvSpPr>
          <p:spPr bwMode="auto">
            <a:xfrm>
              <a:off x="2190374" y="3250491"/>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51"/>
          <p:cNvGrpSpPr/>
          <p:nvPr/>
        </p:nvGrpSpPr>
        <p:grpSpPr>
          <a:xfrm>
            <a:off x="1142976" y="1510824"/>
            <a:ext cx="1964837" cy="2092424"/>
            <a:chOff x="1000100" y="1876105"/>
            <a:chExt cx="1964837" cy="2092424"/>
          </a:xfrm>
        </p:grpSpPr>
        <p:sp>
          <p:nvSpPr>
            <p:cNvPr id="28"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50" name="右箭头 49"/>
          <p:cNvSpPr/>
          <p:nvPr/>
        </p:nvSpPr>
        <p:spPr>
          <a:xfrm>
            <a:off x="3500430" y="2420777"/>
            <a:ext cx="121444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1" name="TextBox 50"/>
          <p:cNvSpPr txBox="1"/>
          <p:nvPr/>
        </p:nvSpPr>
        <p:spPr>
          <a:xfrm>
            <a:off x="3428992" y="2063587"/>
            <a:ext cx="1357322"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PreOrder</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灯片编号占位符 4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2</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中</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序遍历的递归算法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1285860"/>
            <a:ext cx="7786742" cy="35378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InOrder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中序遍历左子树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中序遍历右子树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InOrder1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中序遍历的递归算法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InOrder11(bt.r);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1"/>
          <p:cNvGrpSpPr/>
          <p:nvPr/>
        </p:nvGrpSpPr>
        <p:grpSpPr>
          <a:xfrm>
            <a:off x="1142976" y="1510824"/>
            <a:ext cx="1964837" cy="2092424"/>
            <a:chOff x="1000100" y="1876105"/>
            <a:chExt cx="1964837" cy="2092424"/>
          </a:xfrm>
        </p:grpSpPr>
        <p:sp>
          <p:nvSpPr>
            <p:cNvPr id="28"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50" name="右箭头 49"/>
          <p:cNvSpPr/>
          <p:nvPr/>
        </p:nvSpPr>
        <p:spPr>
          <a:xfrm>
            <a:off x="3500430" y="2420777"/>
            <a:ext cx="121444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1" name="TextBox 50"/>
          <p:cNvSpPr txBox="1"/>
          <p:nvPr/>
        </p:nvSpPr>
        <p:spPr>
          <a:xfrm>
            <a:off x="3428992" y="2063587"/>
            <a:ext cx="1357322"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InOrder</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41"/>
          <p:cNvGrpSpPr/>
          <p:nvPr/>
        </p:nvGrpSpPr>
        <p:grpSpPr>
          <a:xfrm>
            <a:off x="5143504" y="1285860"/>
            <a:ext cx="2141896" cy="2837767"/>
            <a:chOff x="3210228" y="1373479"/>
            <a:chExt cx="2141896" cy="2837767"/>
          </a:xfrm>
        </p:grpSpPr>
        <p:sp>
          <p:nvSpPr>
            <p:cNvPr id="43" name="AutoShape 47"/>
            <p:cNvSpPr>
              <a:spLocks noChangeShapeType="1"/>
            </p:cNvSpPr>
            <p:nvPr/>
          </p:nvSpPr>
          <p:spPr bwMode="auto">
            <a:xfrm>
              <a:off x="4304952" y="2193661"/>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Freeform 46"/>
            <p:cNvSpPr/>
            <p:nvPr/>
          </p:nvSpPr>
          <p:spPr bwMode="auto">
            <a:xfrm>
              <a:off x="4438504" y="2718536"/>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Line 45"/>
            <p:cNvSpPr>
              <a:spLocks noChangeShapeType="1"/>
            </p:cNvSpPr>
            <p:nvPr/>
          </p:nvSpPr>
          <p:spPr bwMode="auto">
            <a:xfrm>
              <a:off x="3541073" y="3343533"/>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Freeform 44"/>
            <p:cNvSpPr/>
            <p:nvPr/>
          </p:nvSpPr>
          <p:spPr bwMode="auto">
            <a:xfrm>
              <a:off x="4842196" y="2684151"/>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Line 43"/>
            <p:cNvSpPr>
              <a:spLocks noChangeShapeType="1"/>
            </p:cNvSpPr>
            <p:nvPr/>
          </p:nvSpPr>
          <p:spPr bwMode="auto">
            <a:xfrm flipH="1">
              <a:off x="3463168" y="2645721"/>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Line 42"/>
            <p:cNvSpPr>
              <a:spLocks noChangeShapeType="1"/>
            </p:cNvSpPr>
            <p:nvPr/>
          </p:nvSpPr>
          <p:spPr bwMode="auto">
            <a:xfrm flipH="1">
              <a:off x="3824366" y="2029827"/>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Oval 41"/>
            <p:cNvSpPr>
              <a:spLocks noChangeArrowheads="1"/>
            </p:cNvSpPr>
            <p:nvPr/>
          </p:nvSpPr>
          <p:spPr bwMode="auto">
            <a:xfrm>
              <a:off x="4170388" y="189228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2" name="Oval 40"/>
            <p:cNvSpPr>
              <a:spLocks noChangeArrowheads="1"/>
            </p:cNvSpPr>
            <p:nvPr/>
          </p:nvSpPr>
          <p:spPr bwMode="auto">
            <a:xfrm>
              <a:off x="3666531" y="239592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3" name="Oval 39"/>
            <p:cNvSpPr>
              <a:spLocks noChangeArrowheads="1"/>
            </p:cNvSpPr>
            <p:nvPr/>
          </p:nvSpPr>
          <p:spPr bwMode="auto">
            <a:xfrm>
              <a:off x="4602409" y="2439412"/>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4" name="Oval 38"/>
            <p:cNvSpPr>
              <a:spLocks noChangeArrowheads="1"/>
            </p:cNvSpPr>
            <p:nvPr/>
          </p:nvSpPr>
          <p:spPr bwMode="auto">
            <a:xfrm>
              <a:off x="4288764" y="308665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5" name="Oval 37"/>
            <p:cNvSpPr>
              <a:spLocks noChangeArrowheads="1"/>
            </p:cNvSpPr>
            <p:nvPr/>
          </p:nvSpPr>
          <p:spPr bwMode="auto">
            <a:xfrm>
              <a:off x="4999019" y="308665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6" name="Oval 36"/>
            <p:cNvSpPr>
              <a:spLocks noChangeArrowheads="1"/>
            </p:cNvSpPr>
            <p:nvPr/>
          </p:nvSpPr>
          <p:spPr bwMode="auto">
            <a:xfrm>
              <a:off x="3306345" y="3101827"/>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7" name="Line 35"/>
            <p:cNvSpPr>
              <a:spLocks noChangeShapeType="1"/>
            </p:cNvSpPr>
            <p:nvPr/>
          </p:nvSpPr>
          <p:spPr bwMode="auto">
            <a:xfrm>
              <a:off x="4412198" y="2149162"/>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Oval 34"/>
            <p:cNvSpPr>
              <a:spLocks noChangeArrowheads="1"/>
            </p:cNvSpPr>
            <p:nvPr/>
          </p:nvSpPr>
          <p:spPr bwMode="auto">
            <a:xfrm>
              <a:off x="3755566" y="3685359"/>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59" name="Freeform 32"/>
            <p:cNvSpPr/>
            <p:nvPr/>
          </p:nvSpPr>
          <p:spPr bwMode="auto">
            <a:xfrm>
              <a:off x="3210228" y="1438204"/>
              <a:ext cx="2141896" cy="2736635"/>
            </a:xfrm>
            <a:custGeom>
              <a:avLst/>
              <a:gdLst/>
              <a:ahLst/>
              <a:cxnLst>
                <a:cxn ang="0">
                  <a:pos x="977" y="228"/>
                </a:cxn>
                <a:cxn ang="0">
                  <a:pos x="920" y="440"/>
                </a:cxn>
                <a:cxn ang="0">
                  <a:pos x="621" y="749"/>
                </a:cxn>
                <a:cxn ang="0">
                  <a:pos x="415" y="1016"/>
                </a:cxn>
                <a:cxn ang="0">
                  <a:pos x="265" y="1308"/>
                </a:cxn>
                <a:cxn ang="0">
                  <a:pos x="10" y="1811"/>
                </a:cxn>
                <a:cxn ang="0">
                  <a:pos x="205" y="2111"/>
                </a:cxn>
                <a:cxn ang="0">
                  <a:pos x="392" y="2328"/>
                </a:cxn>
                <a:cxn ang="0">
                  <a:pos x="654" y="2665"/>
                </a:cxn>
                <a:cxn ang="0">
                  <a:pos x="855" y="2572"/>
                </a:cxn>
                <a:cxn ang="0">
                  <a:pos x="940" y="2433"/>
                </a:cxn>
                <a:cxn ang="0">
                  <a:pos x="835" y="2208"/>
                </a:cxn>
                <a:cxn ang="0">
                  <a:pos x="655" y="2058"/>
                </a:cxn>
                <a:cxn ang="0">
                  <a:pos x="451" y="1805"/>
                </a:cxn>
                <a:cxn ang="0">
                  <a:pos x="720" y="1286"/>
                </a:cxn>
                <a:cxn ang="0">
                  <a:pos x="1030" y="873"/>
                </a:cxn>
                <a:cxn ang="0">
                  <a:pos x="1225" y="978"/>
                </a:cxn>
                <a:cxn ang="0">
                  <a:pos x="1277" y="1211"/>
                </a:cxn>
                <a:cxn ang="0">
                  <a:pos x="1172" y="1481"/>
                </a:cxn>
                <a:cxn ang="0">
                  <a:pos x="1014" y="1645"/>
                </a:cxn>
                <a:cxn ang="0">
                  <a:pos x="949" y="1824"/>
                </a:cxn>
                <a:cxn ang="0">
                  <a:pos x="1066" y="2076"/>
                </a:cxn>
                <a:cxn ang="0">
                  <a:pos x="1335" y="2058"/>
                </a:cxn>
                <a:cxn ang="0">
                  <a:pos x="1435" y="1884"/>
                </a:cxn>
                <a:cxn ang="0">
                  <a:pos x="1439" y="1581"/>
                </a:cxn>
                <a:cxn ang="0">
                  <a:pos x="1509" y="1384"/>
                </a:cxn>
                <a:cxn ang="0">
                  <a:pos x="1645" y="1525"/>
                </a:cxn>
                <a:cxn ang="0">
                  <a:pos x="1682" y="1796"/>
                </a:cxn>
                <a:cxn ang="0">
                  <a:pos x="1862" y="2067"/>
                </a:cxn>
                <a:cxn ang="0">
                  <a:pos x="2080" y="1953"/>
                </a:cxn>
                <a:cxn ang="0">
                  <a:pos x="2087" y="1691"/>
                </a:cxn>
                <a:cxn ang="0">
                  <a:pos x="1945" y="1496"/>
                </a:cxn>
                <a:cxn ang="0">
                  <a:pos x="1742" y="1166"/>
                </a:cxn>
                <a:cxn ang="0">
                  <a:pos x="1439" y="703"/>
                </a:cxn>
                <a:cxn ang="0">
                  <a:pos x="1322" y="477"/>
                </a:cxn>
                <a:cxn ang="0">
                  <a:pos x="1238" y="0"/>
                </a:cxn>
              </a:cxnLst>
              <a:rect l="0" t="0" r="r" b="b"/>
              <a:pathLst>
                <a:path w="2117" h="2706">
                  <a:moveTo>
                    <a:pt x="977" y="228"/>
                  </a:moveTo>
                  <a:cubicBezTo>
                    <a:pt x="966" y="264"/>
                    <a:pt x="979" y="353"/>
                    <a:pt x="920" y="440"/>
                  </a:cubicBezTo>
                  <a:cubicBezTo>
                    <a:pt x="861" y="527"/>
                    <a:pt x="705" y="653"/>
                    <a:pt x="621" y="749"/>
                  </a:cubicBezTo>
                  <a:cubicBezTo>
                    <a:pt x="537" y="845"/>
                    <a:pt x="474" y="923"/>
                    <a:pt x="415" y="1016"/>
                  </a:cubicBezTo>
                  <a:cubicBezTo>
                    <a:pt x="356" y="1109"/>
                    <a:pt x="332" y="1176"/>
                    <a:pt x="265" y="1308"/>
                  </a:cubicBezTo>
                  <a:cubicBezTo>
                    <a:pt x="198" y="1440"/>
                    <a:pt x="20" y="1677"/>
                    <a:pt x="10" y="1811"/>
                  </a:cubicBezTo>
                  <a:cubicBezTo>
                    <a:pt x="0" y="1945"/>
                    <a:pt x="141" y="2025"/>
                    <a:pt x="205" y="2111"/>
                  </a:cubicBezTo>
                  <a:cubicBezTo>
                    <a:pt x="269" y="2197"/>
                    <a:pt x="317" y="2236"/>
                    <a:pt x="392" y="2328"/>
                  </a:cubicBezTo>
                  <a:cubicBezTo>
                    <a:pt x="467" y="2420"/>
                    <a:pt x="577" y="2624"/>
                    <a:pt x="654" y="2665"/>
                  </a:cubicBezTo>
                  <a:cubicBezTo>
                    <a:pt x="731" y="2706"/>
                    <a:pt x="807" y="2611"/>
                    <a:pt x="855" y="2572"/>
                  </a:cubicBezTo>
                  <a:cubicBezTo>
                    <a:pt x="903" y="2533"/>
                    <a:pt x="943" y="2494"/>
                    <a:pt x="940" y="2433"/>
                  </a:cubicBezTo>
                  <a:cubicBezTo>
                    <a:pt x="937" y="2372"/>
                    <a:pt x="883" y="2270"/>
                    <a:pt x="835" y="2208"/>
                  </a:cubicBezTo>
                  <a:cubicBezTo>
                    <a:pt x="787" y="2146"/>
                    <a:pt x="719" y="2125"/>
                    <a:pt x="655" y="2058"/>
                  </a:cubicBezTo>
                  <a:cubicBezTo>
                    <a:pt x="591" y="1991"/>
                    <a:pt x="440" y="1934"/>
                    <a:pt x="451" y="1805"/>
                  </a:cubicBezTo>
                  <a:cubicBezTo>
                    <a:pt x="462" y="1676"/>
                    <a:pt x="624" y="1441"/>
                    <a:pt x="720" y="1286"/>
                  </a:cubicBezTo>
                  <a:cubicBezTo>
                    <a:pt x="816" y="1131"/>
                    <a:pt x="946" y="924"/>
                    <a:pt x="1030" y="873"/>
                  </a:cubicBezTo>
                  <a:cubicBezTo>
                    <a:pt x="1114" y="822"/>
                    <a:pt x="1184" y="922"/>
                    <a:pt x="1225" y="978"/>
                  </a:cubicBezTo>
                  <a:cubicBezTo>
                    <a:pt x="1266" y="1034"/>
                    <a:pt x="1286" y="1127"/>
                    <a:pt x="1277" y="1211"/>
                  </a:cubicBezTo>
                  <a:cubicBezTo>
                    <a:pt x="1268" y="1295"/>
                    <a:pt x="1216" y="1409"/>
                    <a:pt x="1172" y="1481"/>
                  </a:cubicBezTo>
                  <a:cubicBezTo>
                    <a:pt x="1128" y="1553"/>
                    <a:pt x="1051" y="1588"/>
                    <a:pt x="1014" y="1645"/>
                  </a:cubicBezTo>
                  <a:cubicBezTo>
                    <a:pt x="977" y="1702"/>
                    <a:pt x="940" y="1752"/>
                    <a:pt x="949" y="1824"/>
                  </a:cubicBezTo>
                  <a:cubicBezTo>
                    <a:pt x="958" y="1896"/>
                    <a:pt x="1002" y="2037"/>
                    <a:pt x="1066" y="2076"/>
                  </a:cubicBezTo>
                  <a:cubicBezTo>
                    <a:pt x="1130" y="2115"/>
                    <a:pt x="1273" y="2090"/>
                    <a:pt x="1335" y="2058"/>
                  </a:cubicBezTo>
                  <a:cubicBezTo>
                    <a:pt x="1397" y="2026"/>
                    <a:pt x="1418" y="1963"/>
                    <a:pt x="1435" y="1884"/>
                  </a:cubicBezTo>
                  <a:cubicBezTo>
                    <a:pt x="1452" y="1805"/>
                    <a:pt x="1427" y="1664"/>
                    <a:pt x="1439" y="1581"/>
                  </a:cubicBezTo>
                  <a:cubicBezTo>
                    <a:pt x="1451" y="1498"/>
                    <a:pt x="1475" y="1393"/>
                    <a:pt x="1509" y="1384"/>
                  </a:cubicBezTo>
                  <a:cubicBezTo>
                    <a:pt x="1543" y="1375"/>
                    <a:pt x="1616" y="1456"/>
                    <a:pt x="1645" y="1525"/>
                  </a:cubicBezTo>
                  <a:cubicBezTo>
                    <a:pt x="1674" y="1594"/>
                    <a:pt x="1646" y="1706"/>
                    <a:pt x="1682" y="1796"/>
                  </a:cubicBezTo>
                  <a:cubicBezTo>
                    <a:pt x="1718" y="1886"/>
                    <a:pt x="1796" y="2041"/>
                    <a:pt x="1862" y="2067"/>
                  </a:cubicBezTo>
                  <a:cubicBezTo>
                    <a:pt x="1928" y="2093"/>
                    <a:pt x="2043" y="2016"/>
                    <a:pt x="2080" y="1953"/>
                  </a:cubicBezTo>
                  <a:cubicBezTo>
                    <a:pt x="2117" y="1890"/>
                    <a:pt x="2109" y="1767"/>
                    <a:pt x="2087" y="1691"/>
                  </a:cubicBezTo>
                  <a:cubicBezTo>
                    <a:pt x="2065" y="1615"/>
                    <a:pt x="2002" y="1583"/>
                    <a:pt x="1945" y="1496"/>
                  </a:cubicBezTo>
                  <a:cubicBezTo>
                    <a:pt x="1888" y="1409"/>
                    <a:pt x="1826" y="1298"/>
                    <a:pt x="1742" y="1166"/>
                  </a:cubicBezTo>
                  <a:cubicBezTo>
                    <a:pt x="1658" y="1034"/>
                    <a:pt x="1509" y="818"/>
                    <a:pt x="1439" y="703"/>
                  </a:cubicBezTo>
                  <a:cubicBezTo>
                    <a:pt x="1369" y="588"/>
                    <a:pt x="1355" y="594"/>
                    <a:pt x="1322" y="477"/>
                  </a:cubicBezTo>
                  <a:cubicBezTo>
                    <a:pt x="1289" y="360"/>
                    <a:pt x="1255" y="99"/>
                    <a:pt x="1238" y="0"/>
                  </a:cubicBezTo>
                </a:path>
              </a:pathLst>
            </a:custGeom>
            <a:ln w="19050">
              <a:solidFill>
                <a:srgbClr val="FF0000"/>
              </a:solidFill>
              <a:prstDash val="dash"/>
              <a:tailEnd type="triangl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AutoShape 31"/>
            <p:cNvSpPr>
              <a:spLocks noChangeShapeType="1"/>
            </p:cNvSpPr>
            <p:nvPr/>
          </p:nvSpPr>
          <p:spPr bwMode="auto">
            <a:xfrm flipH="1">
              <a:off x="4198717" y="1373479"/>
              <a:ext cx="23270" cy="295306"/>
            </a:xfrm>
            <a:prstGeom prst="straightConnector1">
              <a:avLst/>
            </a:prstGeom>
            <a:ln w="19050">
              <a:solidFill>
                <a:srgbClr val="FF0000"/>
              </a:solidFill>
              <a:prstDash val="dash"/>
              <a:tailEnd type="triangl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AutoShape 7"/>
            <p:cNvSpPr>
              <a:spLocks noChangeShapeType="1"/>
            </p:cNvSpPr>
            <p:nvPr/>
          </p:nvSpPr>
          <p:spPr bwMode="auto">
            <a:xfrm>
              <a:off x="3843589" y="2703366"/>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AutoShape 6"/>
            <p:cNvSpPr>
              <a:spLocks noChangeShapeType="1"/>
            </p:cNvSpPr>
            <p:nvPr/>
          </p:nvSpPr>
          <p:spPr bwMode="auto">
            <a:xfrm>
              <a:off x="3422697" y="3399155"/>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AutoShape 5"/>
            <p:cNvSpPr>
              <a:spLocks noChangeShapeType="1"/>
            </p:cNvSpPr>
            <p:nvPr/>
          </p:nvSpPr>
          <p:spPr bwMode="auto">
            <a:xfrm>
              <a:off x="3892154" y="3981676"/>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AutoShape 4"/>
            <p:cNvSpPr>
              <a:spLocks noChangeShapeType="1"/>
            </p:cNvSpPr>
            <p:nvPr/>
          </p:nvSpPr>
          <p:spPr bwMode="auto">
            <a:xfrm>
              <a:off x="4418269" y="3386008"/>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AutoShape 3"/>
            <p:cNvSpPr>
              <a:spLocks noChangeShapeType="1"/>
            </p:cNvSpPr>
            <p:nvPr/>
          </p:nvSpPr>
          <p:spPr bwMode="auto">
            <a:xfrm>
              <a:off x="5162924" y="3386008"/>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AutoShape 2"/>
            <p:cNvSpPr>
              <a:spLocks noChangeShapeType="1"/>
            </p:cNvSpPr>
            <p:nvPr/>
          </p:nvSpPr>
          <p:spPr bwMode="auto">
            <a:xfrm>
              <a:off x="4735961" y="2750898"/>
              <a:ext cx="1012" cy="229570"/>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2" name="灯片编号占位符 4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328614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smtClean="0">
                <a:latin typeface="Consolas" panose="020B0609020204030204" pitchFamily="49" charset="0"/>
                <a:ea typeface="微软雅黑" panose="020B0503020204020204" pitchFamily="34" charset="-122"/>
                <a:cs typeface="Consolas" panose="020B0609020204030204" pitchFamily="49" charset="0"/>
              </a:rPr>
              <a:t>3</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a:t>
            </a:r>
            <a:r>
              <a:rPr lang="zh-CN" altLang="en-US" sz="2200" smtClean="0">
                <a:latin typeface="Consolas" panose="020B0609020204030204" pitchFamily="49" charset="0"/>
                <a:ea typeface="微软雅黑" panose="020B0503020204020204" pitchFamily="34" charset="-122"/>
                <a:cs typeface="Consolas" panose="020B0609020204030204" pitchFamily="49" charset="0"/>
              </a:rPr>
              <a:t>后</a:t>
            </a:r>
            <a:r>
              <a:rPr lang="zh-CN" altLang="zh-CN" sz="2200" smtClean="0">
                <a:latin typeface="Consolas" panose="020B0609020204030204" pitchFamily="49" charset="0"/>
                <a:ea typeface="微软雅黑" panose="020B0503020204020204" pitchFamily="34" charset="-122"/>
                <a:cs typeface="Consolas" panose="020B0609020204030204" pitchFamily="49" charset="0"/>
              </a:rPr>
              <a:t>序遍历的递归算法</a:t>
            </a:r>
            <a:endParaRPr lang="zh-CN" altLang="zh-CN" sz="2200" smtClean="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14348" y="1500174"/>
            <a:ext cx="7929618" cy="366609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PostOrder11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PostOrder</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函数调用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PostOrder11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后序遍历左子树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PostOrder11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后序遍历右子树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访问根结点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PostOrder1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后序遍历的递归算法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PostOrder11(bt.r);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1"/>
          <p:cNvGrpSpPr/>
          <p:nvPr/>
        </p:nvGrpSpPr>
        <p:grpSpPr>
          <a:xfrm>
            <a:off x="1142976" y="1510824"/>
            <a:ext cx="1964837" cy="2092424"/>
            <a:chOff x="1000100" y="1876105"/>
            <a:chExt cx="1964837" cy="2092424"/>
          </a:xfrm>
        </p:grpSpPr>
        <p:sp>
          <p:nvSpPr>
            <p:cNvPr id="28"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4"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6"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7"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8"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9"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50" name="右箭头 49"/>
          <p:cNvSpPr/>
          <p:nvPr/>
        </p:nvSpPr>
        <p:spPr>
          <a:xfrm>
            <a:off x="3500430" y="2420777"/>
            <a:ext cx="121444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51" name="TextBox 50"/>
          <p:cNvSpPr txBox="1"/>
          <p:nvPr/>
        </p:nvSpPr>
        <p:spPr>
          <a:xfrm>
            <a:off x="3362316" y="2063587"/>
            <a:ext cx="1500198"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PostOrder</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41"/>
          <p:cNvGrpSpPr/>
          <p:nvPr/>
        </p:nvGrpSpPr>
        <p:grpSpPr>
          <a:xfrm>
            <a:off x="5001079" y="1357298"/>
            <a:ext cx="2285565" cy="2801360"/>
            <a:chOff x="5735580" y="1373479"/>
            <a:chExt cx="2285565" cy="2801360"/>
          </a:xfrm>
        </p:grpSpPr>
        <p:sp>
          <p:nvSpPr>
            <p:cNvPr id="67" name="Freeform 30"/>
            <p:cNvSpPr/>
            <p:nvPr/>
          </p:nvSpPr>
          <p:spPr bwMode="auto">
            <a:xfrm>
              <a:off x="6963857" y="2718536"/>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Line 29"/>
            <p:cNvSpPr>
              <a:spLocks noChangeShapeType="1"/>
            </p:cNvSpPr>
            <p:nvPr/>
          </p:nvSpPr>
          <p:spPr bwMode="auto">
            <a:xfrm>
              <a:off x="6066426" y="3343533"/>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Freeform 28"/>
            <p:cNvSpPr/>
            <p:nvPr/>
          </p:nvSpPr>
          <p:spPr bwMode="auto">
            <a:xfrm>
              <a:off x="7367549" y="2684151"/>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Line 27"/>
            <p:cNvSpPr>
              <a:spLocks noChangeShapeType="1"/>
            </p:cNvSpPr>
            <p:nvPr/>
          </p:nvSpPr>
          <p:spPr bwMode="auto">
            <a:xfrm flipH="1">
              <a:off x="5988520" y="2645721"/>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 name="Line 26"/>
            <p:cNvSpPr>
              <a:spLocks noChangeShapeType="1"/>
            </p:cNvSpPr>
            <p:nvPr/>
          </p:nvSpPr>
          <p:spPr bwMode="auto">
            <a:xfrm flipH="1">
              <a:off x="6349718" y="2029827"/>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2" name="Oval 25"/>
            <p:cNvSpPr>
              <a:spLocks noChangeArrowheads="1"/>
            </p:cNvSpPr>
            <p:nvPr/>
          </p:nvSpPr>
          <p:spPr bwMode="auto">
            <a:xfrm>
              <a:off x="6695740" y="189228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3" name="Oval 24"/>
            <p:cNvSpPr>
              <a:spLocks noChangeArrowheads="1"/>
            </p:cNvSpPr>
            <p:nvPr/>
          </p:nvSpPr>
          <p:spPr bwMode="auto">
            <a:xfrm>
              <a:off x="6191884" y="239592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4" name="Oval 23"/>
            <p:cNvSpPr>
              <a:spLocks noChangeArrowheads="1"/>
            </p:cNvSpPr>
            <p:nvPr/>
          </p:nvSpPr>
          <p:spPr bwMode="auto">
            <a:xfrm>
              <a:off x="7127762" y="2439412"/>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5" name="Oval 22"/>
            <p:cNvSpPr>
              <a:spLocks noChangeArrowheads="1"/>
            </p:cNvSpPr>
            <p:nvPr/>
          </p:nvSpPr>
          <p:spPr bwMode="auto">
            <a:xfrm>
              <a:off x="6814116" y="308665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6" name="Oval 21"/>
            <p:cNvSpPr>
              <a:spLocks noChangeArrowheads="1"/>
            </p:cNvSpPr>
            <p:nvPr/>
          </p:nvSpPr>
          <p:spPr bwMode="auto">
            <a:xfrm>
              <a:off x="7524372" y="3086657"/>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7" name="Oval 20"/>
            <p:cNvSpPr>
              <a:spLocks noChangeArrowheads="1"/>
            </p:cNvSpPr>
            <p:nvPr/>
          </p:nvSpPr>
          <p:spPr bwMode="auto">
            <a:xfrm>
              <a:off x="5831697" y="3101827"/>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78" name="Line 19"/>
            <p:cNvSpPr>
              <a:spLocks noChangeShapeType="1"/>
            </p:cNvSpPr>
            <p:nvPr/>
          </p:nvSpPr>
          <p:spPr bwMode="auto">
            <a:xfrm>
              <a:off x="6937551" y="2149162"/>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 name="Oval 18"/>
            <p:cNvSpPr>
              <a:spLocks noChangeArrowheads="1"/>
            </p:cNvSpPr>
            <p:nvPr/>
          </p:nvSpPr>
          <p:spPr bwMode="auto">
            <a:xfrm>
              <a:off x="6280919" y="3685359"/>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80" name="Freeform 16"/>
            <p:cNvSpPr/>
            <p:nvPr/>
          </p:nvSpPr>
          <p:spPr bwMode="auto">
            <a:xfrm>
              <a:off x="5735580" y="1438204"/>
              <a:ext cx="2141896" cy="2736635"/>
            </a:xfrm>
            <a:custGeom>
              <a:avLst/>
              <a:gdLst/>
              <a:ahLst/>
              <a:cxnLst>
                <a:cxn ang="0">
                  <a:pos x="977" y="228"/>
                </a:cxn>
                <a:cxn ang="0">
                  <a:pos x="920" y="440"/>
                </a:cxn>
                <a:cxn ang="0">
                  <a:pos x="621" y="749"/>
                </a:cxn>
                <a:cxn ang="0">
                  <a:pos x="415" y="1016"/>
                </a:cxn>
                <a:cxn ang="0">
                  <a:pos x="265" y="1308"/>
                </a:cxn>
                <a:cxn ang="0">
                  <a:pos x="10" y="1811"/>
                </a:cxn>
                <a:cxn ang="0">
                  <a:pos x="205" y="2111"/>
                </a:cxn>
                <a:cxn ang="0">
                  <a:pos x="392" y="2328"/>
                </a:cxn>
                <a:cxn ang="0">
                  <a:pos x="654" y="2665"/>
                </a:cxn>
                <a:cxn ang="0">
                  <a:pos x="855" y="2572"/>
                </a:cxn>
                <a:cxn ang="0">
                  <a:pos x="940" y="2433"/>
                </a:cxn>
                <a:cxn ang="0">
                  <a:pos x="835" y="2208"/>
                </a:cxn>
                <a:cxn ang="0">
                  <a:pos x="655" y="2058"/>
                </a:cxn>
                <a:cxn ang="0">
                  <a:pos x="451" y="1805"/>
                </a:cxn>
                <a:cxn ang="0">
                  <a:pos x="720" y="1286"/>
                </a:cxn>
                <a:cxn ang="0">
                  <a:pos x="1030" y="873"/>
                </a:cxn>
                <a:cxn ang="0">
                  <a:pos x="1225" y="978"/>
                </a:cxn>
                <a:cxn ang="0">
                  <a:pos x="1277" y="1211"/>
                </a:cxn>
                <a:cxn ang="0">
                  <a:pos x="1172" y="1481"/>
                </a:cxn>
                <a:cxn ang="0">
                  <a:pos x="1014" y="1645"/>
                </a:cxn>
                <a:cxn ang="0">
                  <a:pos x="949" y="1824"/>
                </a:cxn>
                <a:cxn ang="0">
                  <a:pos x="1066" y="2076"/>
                </a:cxn>
                <a:cxn ang="0">
                  <a:pos x="1335" y="2058"/>
                </a:cxn>
                <a:cxn ang="0">
                  <a:pos x="1435" y="1884"/>
                </a:cxn>
                <a:cxn ang="0">
                  <a:pos x="1439" y="1581"/>
                </a:cxn>
                <a:cxn ang="0">
                  <a:pos x="1509" y="1384"/>
                </a:cxn>
                <a:cxn ang="0">
                  <a:pos x="1645" y="1525"/>
                </a:cxn>
                <a:cxn ang="0">
                  <a:pos x="1682" y="1796"/>
                </a:cxn>
                <a:cxn ang="0">
                  <a:pos x="1862" y="2067"/>
                </a:cxn>
                <a:cxn ang="0">
                  <a:pos x="2080" y="1953"/>
                </a:cxn>
                <a:cxn ang="0">
                  <a:pos x="2087" y="1691"/>
                </a:cxn>
                <a:cxn ang="0">
                  <a:pos x="1945" y="1496"/>
                </a:cxn>
                <a:cxn ang="0">
                  <a:pos x="1742" y="1166"/>
                </a:cxn>
                <a:cxn ang="0">
                  <a:pos x="1439" y="703"/>
                </a:cxn>
                <a:cxn ang="0">
                  <a:pos x="1322" y="477"/>
                </a:cxn>
                <a:cxn ang="0">
                  <a:pos x="1238" y="0"/>
                </a:cxn>
              </a:cxnLst>
              <a:rect l="0" t="0" r="r" b="b"/>
              <a:pathLst>
                <a:path w="2117" h="2706">
                  <a:moveTo>
                    <a:pt x="977" y="228"/>
                  </a:moveTo>
                  <a:cubicBezTo>
                    <a:pt x="966" y="264"/>
                    <a:pt x="979" y="353"/>
                    <a:pt x="920" y="440"/>
                  </a:cubicBezTo>
                  <a:cubicBezTo>
                    <a:pt x="861" y="527"/>
                    <a:pt x="705" y="653"/>
                    <a:pt x="621" y="749"/>
                  </a:cubicBezTo>
                  <a:cubicBezTo>
                    <a:pt x="537" y="845"/>
                    <a:pt x="474" y="923"/>
                    <a:pt x="415" y="1016"/>
                  </a:cubicBezTo>
                  <a:cubicBezTo>
                    <a:pt x="356" y="1109"/>
                    <a:pt x="332" y="1176"/>
                    <a:pt x="265" y="1308"/>
                  </a:cubicBezTo>
                  <a:cubicBezTo>
                    <a:pt x="198" y="1440"/>
                    <a:pt x="20" y="1677"/>
                    <a:pt x="10" y="1811"/>
                  </a:cubicBezTo>
                  <a:cubicBezTo>
                    <a:pt x="0" y="1945"/>
                    <a:pt x="141" y="2025"/>
                    <a:pt x="205" y="2111"/>
                  </a:cubicBezTo>
                  <a:cubicBezTo>
                    <a:pt x="269" y="2197"/>
                    <a:pt x="317" y="2236"/>
                    <a:pt x="392" y="2328"/>
                  </a:cubicBezTo>
                  <a:cubicBezTo>
                    <a:pt x="467" y="2420"/>
                    <a:pt x="577" y="2624"/>
                    <a:pt x="654" y="2665"/>
                  </a:cubicBezTo>
                  <a:cubicBezTo>
                    <a:pt x="731" y="2706"/>
                    <a:pt x="807" y="2611"/>
                    <a:pt x="855" y="2572"/>
                  </a:cubicBezTo>
                  <a:cubicBezTo>
                    <a:pt x="903" y="2533"/>
                    <a:pt x="943" y="2494"/>
                    <a:pt x="940" y="2433"/>
                  </a:cubicBezTo>
                  <a:cubicBezTo>
                    <a:pt x="937" y="2372"/>
                    <a:pt x="883" y="2270"/>
                    <a:pt x="835" y="2208"/>
                  </a:cubicBezTo>
                  <a:cubicBezTo>
                    <a:pt x="787" y="2146"/>
                    <a:pt x="719" y="2125"/>
                    <a:pt x="655" y="2058"/>
                  </a:cubicBezTo>
                  <a:cubicBezTo>
                    <a:pt x="591" y="1991"/>
                    <a:pt x="440" y="1934"/>
                    <a:pt x="451" y="1805"/>
                  </a:cubicBezTo>
                  <a:cubicBezTo>
                    <a:pt x="462" y="1676"/>
                    <a:pt x="624" y="1441"/>
                    <a:pt x="720" y="1286"/>
                  </a:cubicBezTo>
                  <a:cubicBezTo>
                    <a:pt x="816" y="1131"/>
                    <a:pt x="946" y="924"/>
                    <a:pt x="1030" y="873"/>
                  </a:cubicBezTo>
                  <a:cubicBezTo>
                    <a:pt x="1114" y="822"/>
                    <a:pt x="1184" y="922"/>
                    <a:pt x="1225" y="978"/>
                  </a:cubicBezTo>
                  <a:cubicBezTo>
                    <a:pt x="1266" y="1034"/>
                    <a:pt x="1286" y="1127"/>
                    <a:pt x="1277" y="1211"/>
                  </a:cubicBezTo>
                  <a:cubicBezTo>
                    <a:pt x="1268" y="1295"/>
                    <a:pt x="1216" y="1409"/>
                    <a:pt x="1172" y="1481"/>
                  </a:cubicBezTo>
                  <a:cubicBezTo>
                    <a:pt x="1128" y="1553"/>
                    <a:pt x="1051" y="1588"/>
                    <a:pt x="1014" y="1645"/>
                  </a:cubicBezTo>
                  <a:cubicBezTo>
                    <a:pt x="977" y="1702"/>
                    <a:pt x="940" y="1752"/>
                    <a:pt x="949" y="1824"/>
                  </a:cubicBezTo>
                  <a:cubicBezTo>
                    <a:pt x="958" y="1896"/>
                    <a:pt x="1002" y="2037"/>
                    <a:pt x="1066" y="2076"/>
                  </a:cubicBezTo>
                  <a:cubicBezTo>
                    <a:pt x="1130" y="2115"/>
                    <a:pt x="1273" y="2090"/>
                    <a:pt x="1335" y="2058"/>
                  </a:cubicBezTo>
                  <a:cubicBezTo>
                    <a:pt x="1397" y="2026"/>
                    <a:pt x="1418" y="1963"/>
                    <a:pt x="1435" y="1884"/>
                  </a:cubicBezTo>
                  <a:cubicBezTo>
                    <a:pt x="1452" y="1805"/>
                    <a:pt x="1427" y="1664"/>
                    <a:pt x="1439" y="1581"/>
                  </a:cubicBezTo>
                  <a:cubicBezTo>
                    <a:pt x="1451" y="1498"/>
                    <a:pt x="1475" y="1393"/>
                    <a:pt x="1509" y="1384"/>
                  </a:cubicBezTo>
                  <a:cubicBezTo>
                    <a:pt x="1543" y="1375"/>
                    <a:pt x="1616" y="1456"/>
                    <a:pt x="1645" y="1525"/>
                  </a:cubicBezTo>
                  <a:cubicBezTo>
                    <a:pt x="1674" y="1594"/>
                    <a:pt x="1646" y="1706"/>
                    <a:pt x="1682" y="1796"/>
                  </a:cubicBezTo>
                  <a:cubicBezTo>
                    <a:pt x="1718" y="1886"/>
                    <a:pt x="1796" y="2041"/>
                    <a:pt x="1862" y="2067"/>
                  </a:cubicBezTo>
                  <a:cubicBezTo>
                    <a:pt x="1928" y="2093"/>
                    <a:pt x="2043" y="2016"/>
                    <a:pt x="2080" y="1953"/>
                  </a:cubicBezTo>
                  <a:cubicBezTo>
                    <a:pt x="2117" y="1890"/>
                    <a:pt x="2109" y="1767"/>
                    <a:pt x="2087" y="1691"/>
                  </a:cubicBezTo>
                  <a:cubicBezTo>
                    <a:pt x="2065" y="1615"/>
                    <a:pt x="2002" y="1583"/>
                    <a:pt x="1945" y="1496"/>
                  </a:cubicBezTo>
                  <a:cubicBezTo>
                    <a:pt x="1888" y="1409"/>
                    <a:pt x="1826" y="1298"/>
                    <a:pt x="1742" y="1166"/>
                  </a:cubicBezTo>
                  <a:cubicBezTo>
                    <a:pt x="1658" y="1034"/>
                    <a:pt x="1509" y="818"/>
                    <a:pt x="1439" y="703"/>
                  </a:cubicBezTo>
                  <a:cubicBezTo>
                    <a:pt x="1369" y="588"/>
                    <a:pt x="1355" y="594"/>
                    <a:pt x="1322" y="477"/>
                  </a:cubicBezTo>
                  <a:cubicBezTo>
                    <a:pt x="1289" y="360"/>
                    <a:pt x="1255" y="99"/>
                    <a:pt x="1238" y="0"/>
                  </a:cubicBezTo>
                </a:path>
              </a:pathLst>
            </a:custGeom>
            <a:ln w="19050">
              <a:solidFill>
                <a:srgbClr val="FF0000"/>
              </a:solidFill>
              <a:prstDash val="dash"/>
              <a:tailEnd type="triangl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AutoShape 15"/>
            <p:cNvSpPr>
              <a:spLocks noChangeShapeType="1"/>
            </p:cNvSpPr>
            <p:nvPr/>
          </p:nvSpPr>
          <p:spPr bwMode="auto">
            <a:xfrm flipH="1">
              <a:off x="6724070" y="1373479"/>
              <a:ext cx="23270" cy="295306"/>
            </a:xfrm>
            <a:prstGeom prst="straightConnector1">
              <a:avLst/>
            </a:prstGeom>
            <a:ln w="19050">
              <a:solidFill>
                <a:srgbClr val="FF0000"/>
              </a:solidFill>
              <a:prstDash val="dash"/>
              <a:tailEnd type="triangl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2" name="AutoShape 14"/>
            <p:cNvSpPr>
              <a:spLocks noChangeShapeType="1"/>
            </p:cNvSpPr>
            <p:nvPr/>
          </p:nvSpPr>
          <p:spPr bwMode="auto">
            <a:xfrm>
              <a:off x="6973974" y="2020725"/>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3" name="AutoShape 13"/>
            <p:cNvSpPr>
              <a:spLocks noChangeShapeType="1"/>
            </p:cNvSpPr>
            <p:nvPr/>
          </p:nvSpPr>
          <p:spPr bwMode="auto">
            <a:xfrm>
              <a:off x="6464047" y="2546612"/>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4" name="AutoShape 12"/>
            <p:cNvSpPr>
              <a:spLocks noChangeShapeType="1"/>
            </p:cNvSpPr>
            <p:nvPr/>
          </p:nvSpPr>
          <p:spPr bwMode="auto">
            <a:xfrm>
              <a:off x="6107908" y="3250491"/>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5" name="AutoShape 11"/>
            <p:cNvSpPr>
              <a:spLocks noChangeShapeType="1"/>
            </p:cNvSpPr>
            <p:nvPr/>
          </p:nvSpPr>
          <p:spPr bwMode="auto">
            <a:xfrm>
              <a:off x="6553082" y="3857284"/>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6" name="AutoShape 10"/>
            <p:cNvSpPr>
              <a:spLocks noChangeShapeType="1"/>
            </p:cNvSpPr>
            <p:nvPr/>
          </p:nvSpPr>
          <p:spPr bwMode="auto">
            <a:xfrm>
              <a:off x="7087291" y="3234310"/>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7" name="AutoShape 9"/>
            <p:cNvSpPr>
              <a:spLocks noChangeShapeType="1"/>
            </p:cNvSpPr>
            <p:nvPr/>
          </p:nvSpPr>
          <p:spPr bwMode="auto">
            <a:xfrm>
              <a:off x="7402960" y="2570883"/>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8" name="AutoShape 8"/>
            <p:cNvSpPr>
              <a:spLocks noChangeShapeType="1"/>
            </p:cNvSpPr>
            <p:nvPr/>
          </p:nvSpPr>
          <p:spPr bwMode="auto">
            <a:xfrm>
              <a:off x="7791476" y="3250491"/>
              <a:ext cx="229669" cy="1011"/>
            </a:xfrm>
            <a:prstGeom prst="straightConnector1">
              <a:avLst/>
            </a:prstGeom>
            <a:ln w="38100"/>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2" name="灯片编号占位符 4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64" name="Rectangle 7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79" name="TextBox 78"/>
          <p:cNvSpPr txBox="1"/>
          <p:nvPr/>
        </p:nvSpPr>
        <p:spPr>
          <a:xfrm>
            <a:off x="500034" y="571480"/>
            <a:ext cx="435771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mtClean="0">
                <a:latin typeface="Consolas" panose="020B0609020204030204" pitchFamily="49" charset="0"/>
                <a:ea typeface="微软雅黑" panose="020B0503020204020204" pitchFamily="34" charset="-122"/>
                <a:cs typeface="Consolas" panose="020B0609020204030204" pitchFamily="49" charset="0"/>
              </a:rPr>
              <a:t>7.3.3 </a:t>
            </a:r>
            <a:r>
              <a:rPr lang="zh-CN" altLang="zh-CN" smtClean="0">
                <a:latin typeface="Consolas" panose="020B0609020204030204" pitchFamily="49" charset="0"/>
                <a:ea typeface="微软雅黑" panose="020B0503020204020204" pitchFamily="34" charset="-122"/>
                <a:cs typeface="Consolas" panose="020B0609020204030204" pitchFamily="49" charset="0"/>
              </a:rPr>
              <a:t>递归遍历算法的应用</a:t>
            </a:r>
            <a:endParaRPr lang="zh-CN" altLang="zh-CN" smtClean="0">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80" name="TextBox 79"/>
          <p:cNvSpPr txBox="1"/>
          <p:nvPr/>
        </p:nvSpPr>
        <p:spPr>
          <a:xfrm>
            <a:off x="500034" y="1428736"/>
            <a:ext cx="7858180"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7.9</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假设二叉树采用二叉链存储结构存储，设计一个算法求一棵给定二叉树中的结点个数。</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1" name="TextBox 80"/>
          <p:cNvSpPr txBox="1"/>
          <p:nvPr/>
        </p:nvSpPr>
        <p:spPr>
          <a:xfrm>
            <a:off x="857224" y="3571876"/>
            <a:ext cx="7643866"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求一棵二叉树中的结点个数是以遍历算法为基础的，任何一种遍历算法都可以出一棵二叉树中的结点个数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1" cstate="print"/>
          <a:srcRect/>
          <a:stretch>
            <a:fillRect/>
          </a:stretch>
        </p:blipFill>
        <p:spPr bwMode="auto">
          <a:xfrm>
            <a:off x="714348" y="2643182"/>
            <a:ext cx="1643074" cy="796023"/>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8215370" cy="434576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m,n,k;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k=1;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根结点计数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m=</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遍历求左子树的结点个数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遍历求右子树的结点个数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k+m+n;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空树结点个数为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基于先序遍历求结点个数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NodeCount11(bt.r);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642918"/>
            <a:ext cx="8715436" cy="451248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m,n,k;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m=</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遍历求左子树的结点个数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k=1;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根结点计数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遍历求右子树的结点个数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k+m+n;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空树结点个数为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基于中序遍历求结点个数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NodeCount21(bt.r);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42918"/>
            <a:ext cx="8715436" cy="434576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m,n,k;</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m=</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遍历求左子树的结点个数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n=</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遍历求右子树的结点个数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k=1;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根结点计数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k+m+n;</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return 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空树结点个数为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NodeCount3</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基于后序遍历求结点个数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NodeCount31(bt.r);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00042"/>
            <a:ext cx="7643866" cy="1169551"/>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也可以从递归算法设计的角度来求解。设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求二叉树</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中所有结点个数，它是“大问题”，</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分别求左、右子树的结点个数</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2571736" y="1785926"/>
            <a:ext cx="2286016" cy="1603816"/>
            <a:chOff x="2571736" y="4539828"/>
            <a:chExt cx="2357454" cy="1785950"/>
          </a:xfrm>
        </p:grpSpPr>
        <p:sp>
          <p:nvSpPr>
            <p:cNvPr id="6" name="椭圆 5"/>
            <p:cNvSpPr/>
            <p:nvPr/>
          </p:nvSpPr>
          <p:spPr>
            <a:xfrm>
              <a:off x="3577523" y="4539828"/>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lIns="0" rIns="0" rtlCol="0" anchor="ctr"/>
            <a:lstStyle/>
            <a:p>
              <a:r>
                <a:rPr lang="en-US" altLang="zh-CN" sz="1800" smtClean="0">
                  <a:solidFill>
                    <a:srgbClr val="FF0000"/>
                  </a:solidFill>
                  <a:latin typeface="Consolas" panose="020B0609020204030204" pitchFamily="49" charset="0"/>
                  <a:cs typeface="Consolas" panose="020B0609020204030204" pitchFamily="49" charset="0"/>
                </a:rPr>
                <a:t>N</a:t>
              </a:r>
              <a:endParaRPr lang="zh-CN" altLang="en-US" sz="1800">
                <a:solidFill>
                  <a:srgbClr val="FF0000"/>
                </a:solidFill>
                <a:latin typeface="Consolas" panose="020B0609020204030204" pitchFamily="49" charset="0"/>
                <a:cs typeface="Consolas" panose="020B0609020204030204" pitchFamily="49" charset="0"/>
              </a:endParaRPr>
            </a:p>
          </p:txBody>
        </p:sp>
        <p:sp>
          <p:nvSpPr>
            <p:cNvPr id="7" name="等腰三角形 6"/>
            <p:cNvSpPr/>
            <p:nvPr/>
          </p:nvSpPr>
          <p:spPr>
            <a:xfrm>
              <a:off x="2571736"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L</a:t>
              </a:r>
              <a:endParaRPr lang="zh-CN" altLang="en-US" sz="1800">
                <a:latin typeface="Consolas" panose="020B0609020204030204" pitchFamily="49" charset="0"/>
                <a:cs typeface="Consolas" panose="020B0609020204030204" pitchFamily="49" charset="0"/>
              </a:endParaRPr>
            </a:p>
          </p:txBody>
        </p:sp>
        <p:sp>
          <p:nvSpPr>
            <p:cNvPr id="8" name="等腰三角形 7"/>
            <p:cNvSpPr/>
            <p:nvPr/>
          </p:nvSpPr>
          <p:spPr>
            <a:xfrm>
              <a:off x="4071934"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R</a:t>
              </a:r>
              <a:endParaRPr lang="zh-CN" altLang="en-US" sz="1800">
                <a:latin typeface="Consolas" panose="020B0609020204030204" pitchFamily="49" charset="0"/>
                <a:cs typeface="Consolas" panose="020B0609020204030204" pitchFamily="49" charset="0"/>
              </a:endParaRPr>
            </a:p>
          </p:txBody>
        </p:sp>
        <p:cxnSp>
          <p:nvCxnSpPr>
            <p:cNvPr id="9" name="直接连接符 8"/>
            <p:cNvCxnSpPr>
              <a:stCxn id="6" idx="3"/>
              <a:endCxn id="7" idx="0"/>
            </p:cNvCxnSpPr>
            <p:nvPr/>
          </p:nvCxnSpPr>
          <p:spPr>
            <a:xfrm rot="5400000">
              <a:off x="2997962" y="4908088"/>
              <a:ext cx="634275" cy="629468"/>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6" idx="5"/>
              <a:endCxn id="8" idx="0"/>
            </p:cNvCxnSpPr>
            <p:nvPr/>
          </p:nvCxnSpPr>
          <p:spPr>
            <a:xfrm rot="16200000" flipH="1">
              <a:off x="3874346" y="4913743"/>
              <a:ext cx="634275" cy="618158"/>
            </a:xfrm>
            <a:prstGeom prst="line">
              <a:avLst/>
            </a:prstGeom>
            <a:ln w="19050"/>
          </p:spPr>
          <p:style>
            <a:lnRef idx="2">
              <a:schemeClr val="dk1"/>
            </a:lnRef>
            <a:fillRef idx="0">
              <a:schemeClr val="dk1"/>
            </a:fillRef>
            <a:effectRef idx="1">
              <a:schemeClr val="dk1"/>
            </a:effectRef>
            <a:fontRef idx="minor">
              <a:schemeClr val="tx1"/>
            </a:fontRef>
          </p:style>
        </p:cxnSp>
      </p:grpSp>
      <p:sp>
        <p:nvSpPr>
          <p:cNvPr id="11" name="TextBox 10"/>
          <p:cNvSpPr txBox="1"/>
          <p:nvPr/>
        </p:nvSpPr>
        <p:spPr>
          <a:xfrm>
            <a:off x="642910" y="4000504"/>
            <a:ext cx="6786610" cy="799807"/>
          </a:xfrm>
          <a:prstGeom prst="rect">
            <a:avLst/>
          </a:prstGeom>
          <a:solidFill>
            <a:schemeClr val="bg1">
              <a:lumMod val="95000"/>
            </a:schemeClr>
          </a:solidFill>
          <a:effectLst>
            <a:outerShdw blurRad="76200" dist="12700" dir="2700000" sy="-23000" kx="-8004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062874"/>
            <a:ext cx="8429684" cy="338396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空树结点个数为</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NodeCount4</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基于递归设计方法求结点个数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NodeCount41(bt.r);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1142976" y="500042"/>
            <a:ext cx="6500858" cy="799807"/>
          </a:xfrm>
          <a:prstGeom prst="rect">
            <a:avLst/>
          </a:prstGeom>
          <a:solidFill>
            <a:schemeClr val="bg1">
              <a:lumMod val="95000"/>
            </a:schemeClr>
          </a:solidFill>
          <a:effectLst>
            <a:outerShdw blurRad="76200" dist="12700" dir="2700000" sy="-23000" kx="-8004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下箭头 5"/>
          <p:cNvSpPr/>
          <p:nvPr/>
        </p:nvSpPr>
        <p:spPr>
          <a:xfrm>
            <a:off x="3428992" y="1500174"/>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5786" y="714356"/>
            <a:ext cx="6929486" cy="799807"/>
          </a:xfrm>
          <a:prstGeom prst="rect">
            <a:avLst/>
          </a:prstGeom>
          <a:solidFill>
            <a:schemeClr val="bg1">
              <a:lumMod val="95000"/>
            </a:schemeClr>
          </a:solidFill>
          <a:effectLst>
            <a:outerShdw blurRad="76200" dist="12700" dir="2700000" sy="-23000" kx="-8004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785786" y="2143116"/>
            <a:ext cx="7286676" cy="1092607"/>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”相当于访问结点，放在不同位置体现不同的递归遍历思路，</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NodeCount41()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方法是将“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”放在最后，体现出后序遍历的算法思路。</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 name="直接箭头连接符 6"/>
          <p:cNvCxnSpPr/>
          <p:nvPr/>
        </p:nvCxnSpPr>
        <p:spPr>
          <a:xfrm rot="5400000" flipH="1" flipV="1">
            <a:off x="4678363" y="1702582"/>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857224" y="3929066"/>
            <a:ext cx="6858048" cy="1060547"/>
          </a:xfrm>
          <a:prstGeom prst="rect">
            <a:avLst/>
          </a:prstGeom>
          <a:noFill/>
        </p:spPr>
        <p:txBody>
          <a:bodyPr wrap="square" rtlCol="0">
            <a:spAutoFit/>
          </a:bodyPr>
          <a:lstStyle/>
          <a:p>
            <a:pPr algn="l">
              <a:lnSpc>
                <a:spcPts val="26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基于递归遍历思路和直接采用递归算法设计方法完全相同。实际上，当求解问题较复杂时，</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直接采用递归算法设计方法</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更加简单方便。</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下箭头 8"/>
          <p:cNvSpPr/>
          <p:nvPr/>
        </p:nvSpPr>
        <p:spPr>
          <a:xfrm>
            <a:off x="3786182" y="3143248"/>
            <a:ext cx="285752" cy="500066"/>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 name="灯片编号占位符 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71480"/>
            <a:ext cx="7786742" cy="827021"/>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7.10</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假设二叉树采用二叉链存储结构存储，设计一个算法按从左到右输出一棵二叉树中所有叶子结点值。</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571472" y="3071810"/>
            <a:ext cx="7929618" cy="810478"/>
          </a:xfrm>
          <a:prstGeom prst="rect">
            <a:avLst/>
          </a:prstGeom>
          <a:noFill/>
        </p:spPr>
        <p:txBody>
          <a:bodyPr wrap="square" rtlCol="0">
            <a:spAutoFit/>
          </a:bodyPr>
          <a:lstStyle/>
          <a:p>
            <a:pPr algn="l">
              <a:lnSpc>
                <a:spcPts val="2800"/>
              </a:lnSpc>
              <a:spcBef>
                <a:spcPts val="0"/>
              </a:spcBef>
            </a:pPr>
            <a:r>
              <a:rPr lang="en-US" altLang="zh-CN" sz="2000" smtClean="0">
                <a:solidFill>
                  <a:srgbClr val="FF0000"/>
                </a:solidFill>
                <a:latin typeface="楷体" panose="02010609060101010101" pitchFamily="49" charset="-122"/>
                <a:ea typeface="楷体" panose="02010609060101010101" pitchFamily="49" charset="-122"/>
                <a:cs typeface="Consolas" panose="020B0609020204030204" pitchFamily="49" charset="0"/>
              </a:rPr>
              <a:t>    </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由于先序、中序和后序递归遍历算法都是按从左到右的顺序访问叶子结点的，所以本题可以基于这三种递归遍历算法求解。</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1" cstate="print"/>
          <a:srcRect/>
          <a:stretch>
            <a:fillRect/>
          </a:stretch>
        </p:blipFill>
        <p:spPr bwMode="auto">
          <a:xfrm>
            <a:off x="714348" y="1857364"/>
            <a:ext cx="1643074" cy="796023"/>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85720" y="571480"/>
            <a:ext cx="8429684" cy="380716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(b-&gt;lchild==NULL &amp;&amp; b-&gt;rchild==NULL)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&lt;&lt; "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根结点为叶子结点时输出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输出左子树的叶子结点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输出右子树的叶子结点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DispLeaf11(bt.r);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85794"/>
            <a:ext cx="8358246" cy="380716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输出左子树的叶子结点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(b-&gt;lchild==NULL &amp;&amp; b-&gt;rchild==NULL)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&lt;&lt; " ";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根结点为叶子结点时输出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输出右子树的叶子结点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DispLeaf21(bt.r);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642918"/>
            <a:ext cx="8643998" cy="380716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输出左子树的叶子结点</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输出右子树的叶子结点</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(b-&gt;lchild==NULL &amp;&amp; b-&gt;rchild==NULL)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&lt;&lt; " "; 	</a:t>
            </a:r>
            <a:r>
              <a:rPr lang="en-US"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根结点为叶子结点时输出</a:t>
            </a:r>
            <a:endParaRPr lang="zh-CN" altLang="zh-CN" sz="1800" smtClean="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DispLeaf3</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DispLeaf31(bt.r);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857232"/>
            <a:ext cx="8001056" cy="199028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600"/>
              </a:lnSpc>
              <a:spcBef>
                <a:spcPts val="600"/>
              </a:spcBef>
              <a:buBlip>
                <a:blip r:embed="rId1"/>
              </a:buBlip>
            </a:pP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也可以直接采用递归算法设计方法求解。</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的功能是从左到右输出以</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为根结点的二叉树的所有叶子结点值，为“大问题”，显然</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-&gt;lchild)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-&gt;rchild)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是两个“小问题”。</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不是叶子结点时，先调用</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-&gt;lchild)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再调用</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-&gt;rchild)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600"/>
              </a:spcBef>
              <a:buBlip>
                <a:blip r:embed="rId1"/>
              </a:buBlip>
            </a:pP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对应的递归模型</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如下：</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571472" y="3214686"/>
            <a:ext cx="7572428" cy="1444975"/>
          </a:xfrm>
          <a:prstGeom prst="rect">
            <a:avLst/>
          </a:prstGeom>
          <a:solidFill>
            <a:schemeClr val="accent6">
              <a:lumMod val="20000"/>
              <a:lumOff val="80000"/>
            </a:schemeClr>
          </a:solidFill>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216000" tIns="144000" bIns="144000" rtlCol="0">
            <a:spAutoFit/>
          </a:bodyPr>
          <a:lstStyle/>
          <a:p>
            <a:pPr algn="l">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不做任何事件</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为叶子结点</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3116"/>
            <a:ext cx="8715436" cy="380716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基于递归方法输出所有叶子结点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if (b-&gt;lchild==NULL &amp;&amp; b-&gt;rchild==NULL)</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根结点为叶子结点时输出</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b-&gt;data &lt;&lt; " ";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输出左子树的叶子结点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DispLeaf41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输出右子树的叶子结点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200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DispLeaf4</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DispLeaf41(bt.r);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428596" y="214290"/>
            <a:ext cx="7572428" cy="1121809"/>
          </a:xfrm>
          <a:prstGeom prst="rect">
            <a:avLst/>
          </a:prstGeom>
          <a:solidFill>
            <a:schemeClr val="accent6">
              <a:lumMod val="20000"/>
              <a:lumOff val="80000"/>
            </a:schemeClr>
          </a:solidFill>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216000" tIns="144000" bIns="144000" rtlCol="0">
            <a:spAutoFit/>
          </a:bodyPr>
          <a:lstStyle/>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不做任何事件</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为叶子结点</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下箭头 5"/>
          <p:cNvSpPr/>
          <p:nvPr/>
        </p:nvSpPr>
        <p:spPr>
          <a:xfrm>
            <a:off x="3786182" y="1428736"/>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8358246" cy="3729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从上述两例看出，</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基于递归遍历思路</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直接采用递归算法设计</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方法完全相同。实际上，当求解问题较复杂时，直接采用递归算法设计方法更加简单方便。</a:t>
            </a:r>
            <a:endPar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仅从递归遍历角度看，上述两例基于</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种递归遍历思路中任意一种都是可行的</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但有些情况并非如此</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一般地，二叉树由根、左右子树</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部分构成，但可以看成两类，即根和子树</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如果需要先处理根再处理子树，可以采用</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先序遍历</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思路</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如果需要先处理子树，再处理根，可以采用</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后序遍历</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思路。</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
          <p:cNvGrpSpPr/>
          <p:nvPr/>
        </p:nvGrpSpPr>
        <p:grpSpPr>
          <a:xfrm>
            <a:off x="2714612" y="4643446"/>
            <a:ext cx="2286016" cy="1603816"/>
            <a:chOff x="2571736" y="4539828"/>
            <a:chExt cx="2357454" cy="1785950"/>
          </a:xfrm>
        </p:grpSpPr>
        <p:sp>
          <p:nvSpPr>
            <p:cNvPr id="6" name="椭圆 5"/>
            <p:cNvSpPr/>
            <p:nvPr/>
          </p:nvSpPr>
          <p:spPr>
            <a:xfrm>
              <a:off x="3577523" y="4539828"/>
              <a:ext cx="357190" cy="428628"/>
            </a:xfrm>
            <a:prstGeom prst="ellipse">
              <a:avLst/>
            </a:prstGeom>
          </p:spPr>
          <p:style>
            <a:lnRef idx="1">
              <a:schemeClr val="accent3"/>
            </a:lnRef>
            <a:fillRef idx="3">
              <a:schemeClr val="accent3"/>
            </a:fillRef>
            <a:effectRef idx="2">
              <a:schemeClr val="accent3"/>
            </a:effectRef>
            <a:fontRef idx="minor">
              <a:schemeClr val="lt1"/>
            </a:fontRef>
          </p:style>
          <p:txBody>
            <a:bodyPr lIns="0" rIns="0" rtlCol="0" anchor="ctr"/>
            <a:lstStyle/>
            <a:p>
              <a:r>
                <a:rPr lang="en-US" altLang="zh-CN" sz="1800" smtClean="0">
                  <a:solidFill>
                    <a:srgbClr val="FF0000"/>
                  </a:solidFill>
                  <a:latin typeface="Consolas" panose="020B0609020204030204" pitchFamily="49" charset="0"/>
                  <a:cs typeface="Consolas" panose="020B0609020204030204" pitchFamily="49" charset="0"/>
                </a:rPr>
                <a:t>N</a:t>
              </a:r>
              <a:endParaRPr lang="zh-CN" altLang="en-US" sz="1800">
                <a:solidFill>
                  <a:srgbClr val="FF0000"/>
                </a:solidFill>
                <a:latin typeface="Consolas" panose="020B0609020204030204" pitchFamily="49" charset="0"/>
                <a:cs typeface="Consolas" panose="020B0609020204030204" pitchFamily="49" charset="0"/>
              </a:endParaRPr>
            </a:p>
          </p:txBody>
        </p:sp>
        <p:sp>
          <p:nvSpPr>
            <p:cNvPr id="7" name="等腰三角形 6"/>
            <p:cNvSpPr/>
            <p:nvPr/>
          </p:nvSpPr>
          <p:spPr>
            <a:xfrm>
              <a:off x="2571736"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L</a:t>
              </a:r>
              <a:endParaRPr lang="zh-CN" altLang="en-US" sz="1800">
                <a:latin typeface="Consolas" panose="020B0609020204030204" pitchFamily="49" charset="0"/>
                <a:cs typeface="Consolas" panose="020B0609020204030204" pitchFamily="49" charset="0"/>
              </a:endParaRPr>
            </a:p>
          </p:txBody>
        </p:sp>
        <p:sp>
          <p:nvSpPr>
            <p:cNvPr id="8" name="等腰三角形 7"/>
            <p:cNvSpPr/>
            <p:nvPr/>
          </p:nvSpPr>
          <p:spPr>
            <a:xfrm>
              <a:off x="4071934" y="5539960"/>
              <a:ext cx="857256" cy="785818"/>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800" smtClean="0">
                  <a:latin typeface="Consolas" panose="020B0609020204030204" pitchFamily="49" charset="0"/>
                  <a:cs typeface="Consolas" panose="020B0609020204030204" pitchFamily="49" charset="0"/>
                </a:rPr>
                <a:t>R</a:t>
              </a:r>
              <a:endParaRPr lang="zh-CN" altLang="en-US" sz="1800">
                <a:latin typeface="Consolas" panose="020B0609020204030204" pitchFamily="49" charset="0"/>
                <a:cs typeface="Consolas" panose="020B0609020204030204" pitchFamily="49" charset="0"/>
              </a:endParaRPr>
            </a:p>
          </p:txBody>
        </p:sp>
        <p:cxnSp>
          <p:nvCxnSpPr>
            <p:cNvPr id="9" name="直接连接符 8"/>
            <p:cNvCxnSpPr>
              <a:stCxn id="6" idx="3"/>
              <a:endCxn id="7" idx="0"/>
            </p:cNvCxnSpPr>
            <p:nvPr/>
          </p:nvCxnSpPr>
          <p:spPr>
            <a:xfrm rot="5400000">
              <a:off x="2997962" y="4908088"/>
              <a:ext cx="634275" cy="629468"/>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6" idx="5"/>
              <a:endCxn id="8" idx="0"/>
            </p:cNvCxnSpPr>
            <p:nvPr/>
          </p:nvCxnSpPr>
          <p:spPr>
            <a:xfrm rot="16200000" flipH="1">
              <a:off x="3874346" y="4913743"/>
              <a:ext cx="634275" cy="618158"/>
            </a:xfrm>
            <a:prstGeom prst="line">
              <a:avLst/>
            </a:prstGeom>
            <a:ln w="19050"/>
          </p:spPr>
          <p:style>
            <a:lnRef idx="2">
              <a:schemeClr val="dk1"/>
            </a:lnRef>
            <a:fillRef idx="0">
              <a:schemeClr val="dk1"/>
            </a:fillRef>
            <a:effectRef idx="1">
              <a:schemeClr val="dk1"/>
            </a:effectRef>
            <a:fontRef idx="minor">
              <a:schemeClr val="tx1"/>
            </a:fontRef>
          </p:style>
        </p:cxnSp>
      </p:grpSp>
      <p:sp>
        <p:nvSpPr>
          <p:cNvPr id="11" name="灯片编号占位符 1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7858180" cy="775982"/>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7.11</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假设二叉树中每个结点值为单个字符，采用二叉链存储结构存储。设计一个算法交换二叉树</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bt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的所有左右子树。</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TextBox 4"/>
          <p:cNvSpPr txBox="1"/>
          <p:nvPr/>
        </p:nvSpPr>
        <p:spPr>
          <a:xfrm>
            <a:off x="1142976" y="2643182"/>
            <a:ext cx="228601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递归思路：</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651" name="Rectangle 27"/>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 name="组合 43"/>
          <p:cNvGrpSpPr/>
          <p:nvPr/>
        </p:nvGrpSpPr>
        <p:grpSpPr>
          <a:xfrm>
            <a:off x="1357290" y="3357562"/>
            <a:ext cx="6357982" cy="2133258"/>
            <a:chOff x="1571604" y="2714620"/>
            <a:chExt cx="6357982" cy="2133258"/>
          </a:xfrm>
        </p:grpSpPr>
        <p:sp>
          <p:nvSpPr>
            <p:cNvPr id="36" name="椭圆 35"/>
            <p:cNvSpPr/>
            <p:nvPr/>
          </p:nvSpPr>
          <p:spPr>
            <a:xfrm>
              <a:off x="2975541" y="2714620"/>
              <a:ext cx="346366" cy="384916"/>
            </a:xfrm>
            <a:prstGeom prst="ellipse">
              <a:avLst/>
            </a:prstGeom>
          </p:spPr>
          <p:style>
            <a:lnRef idx="1">
              <a:schemeClr val="accent3"/>
            </a:lnRef>
            <a:fillRef idx="3">
              <a:schemeClr val="accent3"/>
            </a:fillRef>
            <a:effectRef idx="2">
              <a:schemeClr val="accent3"/>
            </a:effectRef>
            <a:fontRef idx="minor">
              <a:schemeClr val="lt1"/>
            </a:fontRef>
          </p:style>
          <p:txBody>
            <a:bodyPr lIns="0" rIns="0" rtlCol="0" anchor="ctr"/>
            <a:lstStyle/>
            <a:p>
              <a:r>
                <a:rPr lang="en-US" altLang="zh-CN" sz="2000" smtClean="0">
                  <a:solidFill>
                    <a:srgbClr val="FF0000"/>
                  </a:solidFill>
                  <a:latin typeface="Consolas" panose="020B0609020204030204" pitchFamily="49" charset="0"/>
                  <a:cs typeface="Consolas" panose="020B0609020204030204" pitchFamily="49" charset="0"/>
                </a:rPr>
                <a:t>N</a:t>
              </a:r>
              <a:endParaRPr lang="zh-CN" altLang="en-US" sz="2000">
                <a:solidFill>
                  <a:srgbClr val="FF0000"/>
                </a:solidFill>
                <a:latin typeface="Consolas" panose="020B0609020204030204" pitchFamily="49" charset="0"/>
                <a:cs typeface="Consolas" panose="020B0609020204030204" pitchFamily="49" charset="0"/>
              </a:endParaRPr>
            </a:p>
          </p:txBody>
        </p:sp>
        <p:sp>
          <p:nvSpPr>
            <p:cNvPr id="37" name="等腰三角形 36"/>
            <p:cNvSpPr/>
            <p:nvPr/>
          </p:nvSpPr>
          <p:spPr>
            <a:xfrm>
              <a:off x="2000232" y="3612757"/>
              <a:ext cx="831279" cy="70567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2000" smtClean="0">
                  <a:latin typeface="Consolas" panose="020B0609020204030204" pitchFamily="49" charset="0"/>
                  <a:cs typeface="Consolas" panose="020B0609020204030204" pitchFamily="49" charset="0"/>
                </a:rPr>
                <a:t>L</a:t>
              </a:r>
              <a:endParaRPr lang="zh-CN" altLang="en-US" sz="2000">
                <a:latin typeface="Consolas" panose="020B0609020204030204" pitchFamily="49" charset="0"/>
                <a:cs typeface="Consolas" panose="020B0609020204030204" pitchFamily="49" charset="0"/>
              </a:endParaRPr>
            </a:p>
          </p:txBody>
        </p:sp>
        <p:sp>
          <p:nvSpPr>
            <p:cNvPr id="38" name="等腰三角形 37"/>
            <p:cNvSpPr/>
            <p:nvPr/>
          </p:nvSpPr>
          <p:spPr>
            <a:xfrm>
              <a:off x="3454969" y="3612757"/>
              <a:ext cx="831279" cy="70567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altLang="zh-CN" sz="2000" smtClean="0">
                  <a:latin typeface="Consolas" panose="020B0609020204030204" pitchFamily="49" charset="0"/>
                  <a:cs typeface="Consolas" panose="020B0609020204030204" pitchFamily="49" charset="0"/>
                </a:rPr>
                <a:t>R</a:t>
              </a:r>
              <a:endParaRPr lang="zh-CN" altLang="en-US" sz="2000">
                <a:latin typeface="Consolas" panose="020B0609020204030204" pitchFamily="49" charset="0"/>
                <a:cs typeface="Consolas" panose="020B0609020204030204" pitchFamily="49" charset="0"/>
              </a:endParaRPr>
            </a:p>
          </p:txBody>
        </p:sp>
        <p:cxnSp>
          <p:nvCxnSpPr>
            <p:cNvPr id="39" name="直接连接符 38"/>
            <p:cNvCxnSpPr>
              <a:stCxn id="36" idx="3"/>
              <a:endCxn id="37" idx="0"/>
            </p:cNvCxnSpPr>
            <p:nvPr/>
          </p:nvCxnSpPr>
          <p:spPr>
            <a:xfrm rot="5400000">
              <a:off x="2436274" y="3022765"/>
              <a:ext cx="569591" cy="610393"/>
            </a:xfrm>
            <a:prstGeom prst="line">
              <a:avLst/>
            </a:prstGeom>
            <a:ln w="19050"/>
          </p:spPr>
          <p:style>
            <a:lnRef idx="2">
              <a:schemeClr val="dk1"/>
            </a:lnRef>
            <a:fillRef idx="0">
              <a:schemeClr val="dk1"/>
            </a:fillRef>
            <a:effectRef idx="1">
              <a:schemeClr val="dk1"/>
            </a:effectRef>
            <a:fontRef idx="minor">
              <a:schemeClr val="tx1"/>
            </a:fontRef>
          </p:style>
        </p:cxnSp>
        <p:cxnSp>
          <p:nvCxnSpPr>
            <p:cNvPr id="40" name="直接连接符 39"/>
            <p:cNvCxnSpPr>
              <a:stCxn id="36" idx="5"/>
              <a:endCxn id="38" idx="0"/>
            </p:cNvCxnSpPr>
            <p:nvPr/>
          </p:nvCxnSpPr>
          <p:spPr>
            <a:xfrm rot="16200000" flipH="1">
              <a:off x="3286101" y="3028248"/>
              <a:ext cx="569591" cy="599426"/>
            </a:xfrm>
            <a:prstGeom prst="line">
              <a:avLst/>
            </a:prstGeom>
            <a:ln w="19050"/>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1571604" y="4447768"/>
              <a:ext cx="1500198"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交换左子树</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3357554" y="4447768"/>
              <a:ext cx="164307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交换右子树</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3500430" y="2714620"/>
              <a:ext cx="44291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交换根结点的左右指针：访问根结点</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pic>
        <p:nvPicPr>
          <p:cNvPr id="15" name="Picture 2"/>
          <p:cNvPicPr>
            <a:picLocks noChangeAspect="1" noChangeArrowheads="1"/>
          </p:cNvPicPr>
          <p:nvPr/>
        </p:nvPicPr>
        <p:blipFill>
          <a:blip r:embed="rId1" cstate="print"/>
          <a:srcRect/>
          <a:stretch>
            <a:fillRect/>
          </a:stretch>
        </p:blipFill>
        <p:spPr bwMode="auto">
          <a:xfrm>
            <a:off x="642910" y="1714488"/>
            <a:ext cx="1643074" cy="796023"/>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571472" y="500042"/>
            <a:ext cx="335758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基于先序遍历的算法：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Box 34"/>
          <p:cNvSpPr txBox="1"/>
          <p:nvPr/>
        </p:nvSpPr>
        <p:spPr>
          <a:xfrm>
            <a:off x="285720" y="1071546"/>
            <a:ext cx="8429684" cy="36763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*&amp;b)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基于先序遍历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swap(b-&gt;lchild,b-&gt;rchild);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交换根结点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的左右孩子指针</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 &amp;bt)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求解算法</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571472" y="500042"/>
            <a:ext cx="3357586"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基于后序遍历的算法：</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571472" y="1214422"/>
            <a:ext cx="8072494" cy="36763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*&amp;b)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基于后序遍历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swap(b-&gt;lchild,b-&gt;rchild);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交换根结点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的左右孩子指针 </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 &amp;bt)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求解算法</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 </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28662" y="1000108"/>
            <a:ext cx="664373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采用上述两个算法得到交换</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结果是</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正确的。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071538" y="2071678"/>
            <a:ext cx="1964837" cy="2092424"/>
            <a:chOff x="1000100" y="1876105"/>
            <a:chExt cx="1964837" cy="2092424"/>
          </a:xfrm>
        </p:grpSpPr>
        <p:sp>
          <p:nvSpPr>
            <p:cNvPr id="7"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34"/>
          <p:cNvGrpSpPr/>
          <p:nvPr/>
        </p:nvGrpSpPr>
        <p:grpSpPr>
          <a:xfrm>
            <a:off x="4286248" y="2000240"/>
            <a:ext cx="1857388" cy="2092424"/>
            <a:chOff x="4286248" y="2000240"/>
            <a:chExt cx="1857388" cy="2092424"/>
          </a:xfrm>
        </p:grpSpPr>
        <p:sp>
          <p:nvSpPr>
            <p:cNvPr id="21" name="Freeform 70"/>
            <p:cNvSpPr/>
            <p:nvPr/>
          </p:nvSpPr>
          <p:spPr bwMode="auto">
            <a:xfrm>
              <a:off x="4435988" y="2826490"/>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Line 69"/>
            <p:cNvSpPr>
              <a:spLocks noChangeShapeType="1"/>
            </p:cNvSpPr>
            <p:nvPr/>
          </p:nvSpPr>
          <p:spPr bwMode="auto">
            <a:xfrm>
              <a:off x="5715008" y="2786058"/>
              <a:ext cx="285752" cy="4286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68"/>
            <p:cNvSpPr/>
            <p:nvPr/>
          </p:nvSpPr>
          <p:spPr bwMode="auto">
            <a:xfrm>
              <a:off x="4839680" y="2792105"/>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Line 67"/>
            <p:cNvSpPr>
              <a:spLocks noChangeShapeType="1"/>
            </p:cNvSpPr>
            <p:nvPr/>
          </p:nvSpPr>
          <p:spPr bwMode="auto">
            <a:xfrm flipH="1">
              <a:off x="5643570" y="3429000"/>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Line 66"/>
            <p:cNvSpPr>
              <a:spLocks noChangeShapeType="1"/>
            </p:cNvSpPr>
            <p:nvPr/>
          </p:nvSpPr>
          <p:spPr bwMode="auto">
            <a:xfrm flipH="1">
              <a:off x="4732831" y="2137780"/>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Oval 65"/>
            <p:cNvSpPr>
              <a:spLocks noChangeArrowheads="1"/>
            </p:cNvSpPr>
            <p:nvPr/>
          </p:nvSpPr>
          <p:spPr bwMode="auto">
            <a:xfrm>
              <a:off x="5098256" y="200024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Oval 64"/>
            <p:cNvSpPr>
              <a:spLocks noChangeArrowheads="1"/>
            </p:cNvSpPr>
            <p:nvPr/>
          </p:nvSpPr>
          <p:spPr bwMode="auto">
            <a:xfrm>
              <a:off x="5500694" y="2503878"/>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Oval 63"/>
            <p:cNvSpPr>
              <a:spLocks noChangeArrowheads="1"/>
            </p:cNvSpPr>
            <p:nvPr/>
          </p:nvSpPr>
          <p:spPr bwMode="auto">
            <a:xfrm>
              <a:off x="4599893" y="254736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Oval 62"/>
            <p:cNvSpPr>
              <a:spLocks noChangeArrowheads="1"/>
            </p:cNvSpPr>
            <p:nvPr/>
          </p:nvSpPr>
          <p:spPr bwMode="auto">
            <a:xfrm>
              <a:off x="4286248" y="319461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Oval 61"/>
            <p:cNvSpPr>
              <a:spLocks noChangeArrowheads="1"/>
            </p:cNvSpPr>
            <p:nvPr/>
          </p:nvSpPr>
          <p:spPr bwMode="auto">
            <a:xfrm>
              <a:off x="4996503" y="319461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Oval 60"/>
            <p:cNvSpPr>
              <a:spLocks noChangeArrowheads="1"/>
            </p:cNvSpPr>
            <p:nvPr/>
          </p:nvSpPr>
          <p:spPr bwMode="auto">
            <a:xfrm>
              <a:off x="5872484" y="3209780"/>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Line 59"/>
            <p:cNvSpPr>
              <a:spLocks noChangeShapeType="1"/>
            </p:cNvSpPr>
            <p:nvPr/>
          </p:nvSpPr>
          <p:spPr bwMode="auto">
            <a:xfrm>
              <a:off x="5320663" y="2257116"/>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58"/>
            <p:cNvSpPr>
              <a:spLocks noChangeArrowheads="1"/>
            </p:cNvSpPr>
            <p:nvPr/>
          </p:nvSpPr>
          <p:spPr bwMode="auto">
            <a:xfrm>
              <a:off x="5429256" y="3793313"/>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34" name="右箭头 33"/>
          <p:cNvSpPr/>
          <p:nvPr/>
        </p:nvSpPr>
        <p:spPr>
          <a:xfrm>
            <a:off x="3500430" y="3071810"/>
            <a:ext cx="357190"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6" name="TextBox 5"/>
          <p:cNvSpPr txBox="1"/>
          <p:nvPr/>
        </p:nvSpPr>
        <p:spPr>
          <a:xfrm>
            <a:off x="500034" y="1714488"/>
            <a:ext cx="714380" cy="646331"/>
          </a:xfrm>
          <a:prstGeom prst="rect">
            <a:avLst/>
          </a:prstGeom>
          <a:blipFill>
            <a:blip r:embed="rId1"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35" name="灯片编号占位符 3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7358114"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那么</a:t>
            </a:r>
            <a:r>
              <a:rPr lang="zh-CN" altLang="zh-CN" sz="2000" smtClean="0">
                <a:solidFill>
                  <a:srgbClr val="FF0000"/>
                </a:solidFill>
                <a:latin typeface="微软雅黑" panose="020B0503020204020204" pitchFamily="34" charset="-122"/>
                <a:ea typeface="微软雅黑" panose="020B0503020204020204" pitchFamily="34" charset="-122"/>
                <a:cs typeface="Consolas" panose="020B0609020204030204" pitchFamily="49" charset="0"/>
              </a:rPr>
              <a:t>能不能采用中序遍历</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呢？对应的基于中序遍历的算法如下：</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28596" y="1142984"/>
            <a:ext cx="8072494" cy="367635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*&amp;b)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基于中序遍历</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递归交换左子树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swap(b-&gt;lchild,b-&gt;rchild);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交换根结点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的左右孩子指针 </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递归交换右子树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Swap3</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 &amp;bt)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求解算法</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3</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Swap31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85786" y="571480"/>
            <a:ext cx="6643734" cy="400110"/>
          </a:xfrm>
          <a:prstGeom prst="rect">
            <a:avLst/>
          </a:prstGeom>
          <a:noFill/>
        </p:spPr>
        <p:txBody>
          <a:bodyPr wrap="square" rtlCol="0">
            <a:spAutoFit/>
          </a:bodyPr>
          <a:lstStyle/>
          <a:p>
            <a:pPr algn="l">
              <a:lnSpc>
                <a:spcPct val="100000"/>
              </a:lnSpc>
              <a:spcBef>
                <a:spcPts val="0"/>
              </a:spcBef>
            </a:pP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基于中序遍历</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算法得到交换</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结果是错误</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344271" y="1357298"/>
            <a:ext cx="1964837" cy="2092424"/>
            <a:chOff x="1000100" y="1876105"/>
            <a:chExt cx="1964837" cy="2092424"/>
          </a:xfrm>
        </p:grpSpPr>
        <p:sp>
          <p:nvSpPr>
            <p:cNvPr id="7"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34"/>
          <p:cNvGrpSpPr/>
          <p:nvPr/>
        </p:nvGrpSpPr>
        <p:grpSpPr>
          <a:xfrm>
            <a:off x="4558981" y="1285860"/>
            <a:ext cx="1785950" cy="2092424"/>
            <a:chOff x="4286248" y="2000240"/>
            <a:chExt cx="1785950" cy="2092424"/>
          </a:xfrm>
        </p:grpSpPr>
        <p:sp>
          <p:nvSpPr>
            <p:cNvPr id="21" name="Freeform 70"/>
            <p:cNvSpPr/>
            <p:nvPr/>
          </p:nvSpPr>
          <p:spPr bwMode="auto">
            <a:xfrm>
              <a:off x="4435988" y="2826490"/>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Line 69"/>
            <p:cNvSpPr>
              <a:spLocks noChangeShapeType="1"/>
            </p:cNvSpPr>
            <p:nvPr/>
          </p:nvSpPr>
          <p:spPr bwMode="auto">
            <a:xfrm>
              <a:off x="5572132" y="3429000"/>
              <a:ext cx="285752" cy="4286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Freeform 68"/>
            <p:cNvSpPr/>
            <p:nvPr/>
          </p:nvSpPr>
          <p:spPr bwMode="auto">
            <a:xfrm>
              <a:off x="4839680" y="2792105"/>
              <a:ext cx="232386" cy="422581"/>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Line 67"/>
            <p:cNvSpPr>
              <a:spLocks noChangeShapeType="1"/>
            </p:cNvSpPr>
            <p:nvPr/>
          </p:nvSpPr>
          <p:spPr bwMode="auto">
            <a:xfrm flipH="1">
              <a:off x="5500694" y="2786058"/>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Line 66"/>
            <p:cNvSpPr>
              <a:spLocks noChangeShapeType="1"/>
            </p:cNvSpPr>
            <p:nvPr/>
          </p:nvSpPr>
          <p:spPr bwMode="auto">
            <a:xfrm flipH="1">
              <a:off x="4732831" y="220445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Oval 65"/>
            <p:cNvSpPr>
              <a:spLocks noChangeArrowheads="1"/>
            </p:cNvSpPr>
            <p:nvPr/>
          </p:nvSpPr>
          <p:spPr bwMode="auto">
            <a:xfrm>
              <a:off x="5171381" y="200024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Oval 64"/>
            <p:cNvSpPr>
              <a:spLocks noChangeArrowheads="1"/>
            </p:cNvSpPr>
            <p:nvPr/>
          </p:nvSpPr>
          <p:spPr bwMode="auto">
            <a:xfrm>
              <a:off x="5715008" y="2503878"/>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8" name="Oval 63"/>
            <p:cNvSpPr>
              <a:spLocks noChangeArrowheads="1"/>
            </p:cNvSpPr>
            <p:nvPr/>
          </p:nvSpPr>
          <p:spPr bwMode="auto">
            <a:xfrm>
              <a:off x="4599893" y="254736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9" name="Oval 62"/>
            <p:cNvSpPr>
              <a:spLocks noChangeArrowheads="1"/>
            </p:cNvSpPr>
            <p:nvPr/>
          </p:nvSpPr>
          <p:spPr bwMode="auto">
            <a:xfrm>
              <a:off x="4286248" y="319461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0" name="Oval 61"/>
            <p:cNvSpPr>
              <a:spLocks noChangeArrowheads="1"/>
            </p:cNvSpPr>
            <p:nvPr/>
          </p:nvSpPr>
          <p:spPr bwMode="auto">
            <a:xfrm>
              <a:off x="4942779" y="319461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1" name="Oval 60"/>
            <p:cNvSpPr>
              <a:spLocks noChangeArrowheads="1"/>
            </p:cNvSpPr>
            <p:nvPr/>
          </p:nvSpPr>
          <p:spPr bwMode="auto">
            <a:xfrm>
              <a:off x="5372418" y="3209780"/>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32" name="Line 59"/>
            <p:cNvSpPr>
              <a:spLocks noChangeShapeType="1"/>
            </p:cNvSpPr>
            <p:nvPr/>
          </p:nvSpPr>
          <p:spPr bwMode="auto">
            <a:xfrm>
              <a:off x="5429256" y="2285992"/>
              <a:ext cx="325390"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Oval 58"/>
            <p:cNvSpPr>
              <a:spLocks noChangeArrowheads="1"/>
            </p:cNvSpPr>
            <p:nvPr/>
          </p:nvSpPr>
          <p:spPr bwMode="auto">
            <a:xfrm>
              <a:off x="5801046" y="3793313"/>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34" name="右箭头 33"/>
          <p:cNvSpPr/>
          <p:nvPr/>
        </p:nvSpPr>
        <p:spPr>
          <a:xfrm>
            <a:off x="3773163" y="2357430"/>
            <a:ext cx="357190"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36" name="Picture 2"/>
          <p:cNvPicPr>
            <a:picLocks noChangeAspect="1" noChangeArrowheads="1"/>
          </p:cNvPicPr>
          <p:nvPr/>
        </p:nvPicPr>
        <p:blipFill>
          <a:blip r:embed="rId1" cstate="print"/>
          <a:srcRect/>
          <a:stretch>
            <a:fillRect/>
          </a:stretch>
        </p:blipFill>
        <p:spPr bwMode="auto">
          <a:xfrm>
            <a:off x="3000364" y="3357562"/>
            <a:ext cx="1428760" cy="1714512"/>
          </a:xfrm>
          <a:prstGeom prst="rect">
            <a:avLst/>
          </a:prstGeom>
          <a:noFill/>
          <a:ln w="9525">
            <a:noFill/>
            <a:miter lim="800000"/>
            <a:headEnd/>
            <a:tailEnd/>
          </a:ln>
        </p:spPr>
      </p:pic>
      <p:sp>
        <p:nvSpPr>
          <p:cNvPr id="37" name="椭圆 36"/>
          <p:cNvSpPr/>
          <p:nvPr/>
        </p:nvSpPr>
        <p:spPr>
          <a:xfrm>
            <a:off x="4487543" y="2285992"/>
            <a:ext cx="1071570" cy="785818"/>
          </a:xfrm>
          <a:prstGeom prst="ellips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8" name="椭圆 37"/>
          <p:cNvSpPr/>
          <p:nvPr/>
        </p:nvSpPr>
        <p:spPr>
          <a:xfrm rot="19130600">
            <a:off x="5708498" y="2326958"/>
            <a:ext cx="785818" cy="1183201"/>
          </a:xfrm>
          <a:prstGeom prst="ellipse">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9" name="TextBox 5"/>
          <p:cNvSpPr txBox="1"/>
          <p:nvPr/>
        </p:nvSpPr>
        <p:spPr>
          <a:xfrm>
            <a:off x="500034" y="1142984"/>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40" name="灯片编号占位符 39"/>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428604"/>
            <a:ext cx="8143932" cy="1141210"/>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7.12</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假设一棵二叉树采用二叉链存储结构，且所有结点值均不相同，设计一个算法求二叉树中指定结点值的结点所在的层次（根结点的层次计为</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714348" y="2714620"/>
            <a:ext cx="7643866" cy="23725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二叉树中每个结点都有一个相对于根结点的层次，根结点的层次为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，那么如何指定这种情况呢？</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可以采用递归算法参数赋初值的方法，即设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为“大问题”，增加第</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个参数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表示第一个参数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指向结点的层次，在初始调用时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指向根结点，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对应的实参为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，从而指定了根结点的层次为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的情况。</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2"/>
          <p:cNvPicPr>
            <a:picLocks noChangeAspect="1" noChangeArrowheads="1"/>
          </p:cNvPicPr>
          <p:nvPr/>
        </p:nvPicPr>
        <p:blipFill>
          <a:blip r:embed="rId2" cstate="print"/>
          <a:srcRect/>
          <a:stretch>
            <a:fillRect/>
          </a:stretch>
        </p:blipFill>
        <p:spPr bwMode="auto">
          <a:xfrm>
            <a:off x="571472" y="1571612"/>
            <a:ext cx="1643074" cy="796023"/>
          </a:xfrm>
          <a:prstGeom prst="rect">
            <a:avLst/>
          </a:prstGeom>
          <a:noFill/>
          <a:ln w="9525">
            <a:noFill/>
            <a:miter lim="800000"/>
            <a:headEnd/>
            <a:tailEnd/>
          </a:ln>
        </p:spPr>
      </p:pic>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071546"/>
            <a:ext cx="8358246" cy="1756992"/>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lnSpc>
                <a:spcPts val="24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b-&gt;data=</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l</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l</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b-&gt;l</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child</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且</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l</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0</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（在左子树中找到了）</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06" y="450365"/>
            <a:ext cx="9001156" cy="490746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Level1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b,char x,int 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Level()</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算法调用</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空树不能找到该结点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if (b-&gt;data==x)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根结点即为所找</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返回其层次</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int l=</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Level1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(b-&gt;lchild,x,h+1);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在左子树中查找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(l!=0)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左子树中找到了</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返回其层次</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左子树中未找到</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Level1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(b-&gt;rchild,x,h+1);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再在右子树中查找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Level</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bt,char x)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求解算法</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Level1(bt.r,x,</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7"/>
          <p:cNvGrpSpPr/>
          <p:nvPr/>
        </p:nvGrpSpPr>
        <p:grpSpPr>
          <a:xfrm>
            <a:off x="1785918" y="5286388"/>
            <a:ext cx="3214710" cy="971614"/>
            <a:chOff x="1714480" y="4917056"/>
            <a:chExt cx="3214710" cy="971614"/>
          </a:xfrm>
        </p:grpSpPr>
        <p:sp>
          <p:nvSpPr>
            <p:cNvPr id="5" name="TextBox 4"/>
            <p:cNvSpPr txBox="1"/>
            <p:nvPr/>
          </p:nvSpPr>
          <p:spPr>
            <a:xfrm>
              <a:off x="1714480" y="5488560"/>
              <a:ext cx="3214710" cy="400110"/>
            </a:xfrm>
            <a:prstGeom prst="rect">
              <a:avLst/>
            </a:prstGeom>
            <a:noFill/>
          </p:spPr>
          <p:txBody>
            <a:bodyPr wrap="square" rtlCol="0">
              <a:spAutoFit/>
            </a:bodyPr>
            <a:lstStyle/>
            <a:p>
              <a:pPr algn="l">
                <a:lnSpc>
                  <a:spcPct val="100000"/>
                </a:lnSpc>
                <a:spcBef>
                  <a:spcPts val="0"/>
                </a:spcBef>
              </a:pPr>
              <a:r>
                <a:rPr lang="zh-CN" altLang="zh-CN"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rPr>
                <a:t>递归算法参数赋初值问题</a:t>
              </a:r>
              <a:endParaRPr lang="zh-CN" altLang="en-US" sz="2000" smtClean="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6" name="上箭头 5"/>
            <p:cNvSpPr/>
            <p:nvPr/>
          </p:nvSpPr>
          <p:spPr>
            <a:xfrm>
              <a:off x="3000364" y="4917056"/>
              <a:ext cx="214314" cy="428628"/>
            </a:xfrm>
            <a:prstGeom prst="up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7" name="灯片编号占位符 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428604"/>
            <a:ext cx="8143932" cy="775982"/>
          </a:xfrm>
          <a:prstGeom prst="rect">
            <a:avLst/>
          </a:prstGeom>
          <a:noFill/>
        </p:spPr>
        <p:txBody>
          <a:bodyPr wrap="square" rtlCol="0">
            <a:spAutoFit/>
          </a:bodyPr>
          <a:lstStyle/>
          <a:p>
            <a:pPr algn="l">
              <a:lnSpc>
                <a:spcPts val="28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7.14</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假设二叉树采用二叉链存储结构，且所有结点值均不相同，设计一个算法求二叉树中第</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smtClean="0">
                <a:solidFill>
                  <a:srgbClr val="0000FF"/>
                </a:solidFill>
                <a:latin typeface="+mn-ea"/>
                <a:ea typeface="+mn-ea"/>
                <a:cs typeface="Consolas" panose="020B0609020204030204" pitchFamily="49" charset="0"/>
              </a:rPr>
              <a:t>≤</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sz="2000" smtClean="0">
                <a:solidFill>
                  <a:srgbClr val="0000FF"/>
                </a:solidFill>
                <a:latin typeface="+mn-ea"/>
                <a:ea typeface="+mn-ea"/>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二叉树高度）层的结点个数。 </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TextBox 6"/>
          <p:cNvSpPr txBox="1"/>
          <p:nvPr/>
        </p:nvSpPr>
        <p:spPr>
          <a:xfrm>
            <a:off x="857224" y="2643182"/>
            <a:ext cx="7429552" cy="18761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采用先序遍历思路</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设计</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KCount1(b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cnt)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递归算法在根结点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的二叉树中求第</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层的结点个数</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cnt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指向结点的层次（采用参数赋初值方法，</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为根结点时，</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对应的实参数为</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 name="Picture 2"/>
          <p:cNvPicPr>
            <a:picLocks noChangeAspect="1" noChangeArrowheads="1"/>
          </p:cNvPicPr>
          <p:nvPr/>
        </p:nvPicPr>
        <p:blipFill>
          <a:blip r:embed="rId2" cstate="print"/>
          <a:srcRect/>
          <a:stretch>
            <a:fillRect/>
          </a:stretch>
        </p:blipFill>
        <p:spPr bwMode="auto">
          <a:xfrm>
            <a:off x="500034" y="1571612"/>
            <a:ext cx="1643074" cy="796023"/>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8643998" cy="495875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KCount1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b,int h,int k,int&amp; cnt)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 return;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空树返回</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(h==k) cnt++;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当前层的结点在第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层，</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cnt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(h&lt;k)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当前层次小于</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，递归处理</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子树</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KCount1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(b-&gt;lchild,h+1,k,cnt);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KCount1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(b-&gt;rchild,h+1,k,cnt);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KCount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bt,int 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先序遍历求二叉树第</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层结点个数</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int cnt=0;</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KCount1(bt.r,1,k,cnt);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cnt;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灯片编号占位符 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1"/>
          <p:cNvGrpSpPr/>
          <p:nvPr/>
        </p:nvGrpSpPr>
        <p:grpSpPr>
          <a:xfrm>
            <a:off x="6000760" y="3786190"/>
            <a:ext cx="1964837" cy="2092424"/>
            <a:chOff x="1000100" y="1876105"/>
            <a:chExt cx="1964837" cy="2092424"/>
          </a:xfrm>
        </p:grpSpPr>
        <p:sp>
          <p:nvSpPr>
            <p:cNvPr id="5" name="Freeform 70"/>
            <p:cNvSpPr/>
            <p:nvPr/>
          </p:nvSpPr>
          <p:spPr bwMode="auto">
            <a:xfrm>
              <a:off x="2132259" y="2702355"/>
              <a:ext cx="223599" cy="367110"/>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Line 69"/>
            <p:cNvSpPr>
              <a:spLocks noChangeShapeType="1"/>
            </p:cNvSpPr>
            <p:nvPr/>
          </p:nvSpPr>
          <p:spPr bwMode="auto">
            <a:xfrm>
              <a:off x="1234828" y="3327351"/>
              <a:ext cx="330845" cy="37317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Freeform 68"/>
            <p:cNvSpPr/>
            <p:nvPr/>
          </p:nvSpPr>
          <p:spPr bwMode="auto">
            <a:xfrm>
              <a:off x="2535951" y="2667970"/>
              <a:ext cx="251928" cy="409585"/>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Line 67"/>
            <p:cNvSpPr>
              <a:spLocks noChangeShapeType="1"/>
            </p:cNvSpPr>
            <p:nvPr/>
          </p:nvSpPr>
          <p:spPr bwMode="auto">
            <a:xfrm flipH="1">
              <a:off x="1156923" y="2629539"/>
              <a:ext cx="307575" cy="456106"/>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66"/>
            <p:cNvSpPr>
              <a:spLocks noChangeShapeType="1"/>
            </p:cNvSpPr>
            <p:nvPr/>
          </p:nvSpPr>
          <p:spPr bwMode="auto">
            <a:xfrm flipH="1">
              <a:off x="1518121" y="2013645"/>
              <a:ext cx="512962" cy="45812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Oval 65"/>
            <p:cNvSpPr>
              <a:spLocks noChangeArrowheads="1"/>
            </p:cNvSpPr>
            <p:nvPr/>
          </p:nvSpPr>
          <p:spPr bwMode="auto">
            <a:xfrm>
              <a:off x="1883546" y="187610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1" name="Oval 64"/>
            <p:cNvSpPr>
              <a:spLocks noChangeArrowheads="1"/>
            </p:cNvSpPr>
            <p:nvPr/>
          </p:nvSpPr>
          <p:spPr bwMode="auto">
            <a:xfrm>
              <a:off x="1360286" y="2379743"/>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2" name="Oval 63"/>
            <p:cNvSpPr>
              <a:spLocks noChangeArrowheads="1"/>
            </p:cNvSpPr>
            <p:nvPr/>
          </p:nvSpPr>
          <p:spPr bwMode="auto">
            <a:xfrm>
              <a:off x="2296164" y="2423230"/>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Oval 62"/>
            <p:cNvSpPr>
              <a:spLocks noChangeArrowheads="1"/>
            </p:cNvSpPr>
            <p:nvPr/>
          </p:nvSpPr>
          <p:spPr bwMode="auto">
            <a:xfrm>
              <a:off x="1982519"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61"/>
            <p:cNvSpPr>
              <a:spLocks noChangeArrowheads="1"/>
            </p:cNvSpPr>
            <p:nvPr/>
          </p:nvSpPr>
          <p:spPr bwMode="auto">
            <a:xfrm>
              <a:off x="2692774" y="3070475"/>
              <a:ext cx="272163"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60"/>
            <p:cNvSpPr>
              <a:spLocks noChangeArrowheads="1"/>
            </p:cNvSpPr>
            <p:nvPr/>
          </p:nvSpPr>
          <p:spPr bwMode="auto">
            <a:xfrm>
              <a:off x="1000100" y="3085645"/>
              <a:ext cx="271152" cy="298340"/>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Line 59"/>
            <p:cNvSpPr>
              <a:spLocks noChangeShapeType="1"/>
            </p:cNvSpPr>
            <p:nvPr/>
          </p:nvSpPr>
          <p:spPr bwMode="auto">
            <a:xfrm>
              <a:off x="2105953" y="2132981"/>
              <a:ext cx="253952" cy="313510"/>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58"/>
            <p:cNvSpPr>
              <a:spLocks noChangeArrowheads="1"/>
            </p:cNvSpPr>
            <p:nvPr/>
          </p:nvSpPr>
          <p:spPr bwMode="auto">
            <a:xfrm>
              <a:off x="1449321" y="3669178"/>
              <a:ext cx="271152" cy="299351"/>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18" name="TextBox 17"/>
          <p:cNvSpPr txBox="1"/>
          <p:nvPr/>
        </p:nvSpPr>
        <p:spPr>
          <a:xfrm>
            <a:off x="285720" y="500042"/>
            <a:ext cx="8643998" cy="29136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string str="A(B(D(,G)),C(E,F))";</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BTree bt;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bt.CreateBTree(str);</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 bt.DispBTree(); cout &lt;&lt; endl;</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k=1;k&lt;=5;k++)</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k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层的结点个数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&lt;&lt;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KCount(bt,k)</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&lt;&lt; endl;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销毁二叉树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下箭头 18"/>
          <p:cNvSpPr/>
          <p:nvPr/>
        </p:nvSpPr>
        <p:spPr>
          <a:xfrm>
            <a:off x="3643306" y="3571876"/>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2051" name="Picture 3"/>
          <p:cNvPicPr>
            <a:picLocks noChangeAspect="1" noChangeArrowheads="1"/>
          </p:cNvPicPr>
          <p:nvPr/>
        </p:nvPicPr>
        <p:blipFill>
          <a:blip r:embed="rId1" cstate="print"/>
          <a:srcRect/>
          <a:stretch>
            <a:fillRect/>
          </a:stretch>
        </p:blipFill>
        <p:spPr bwMode="auto">
          <a:xfrm>
            <a:off x="2428860" y="4143380"/>
            <a:ext cx="2928958" cy="2095167"/>
          </a:xfrm>
          <a:prstGeom prst="rect">
            <a:avLst/>
          </a:prstGeom>
          <a:noFill/>
          <a:ln w="9525">
            <a:noFill/>
            <a:miter lim="800000"/>
            <a:headEnd/>
            <a:tailEnd/>
          </a:ln>
        </p:spPr>
      </p:pic>
      <p:sp>
        <p:nvSpPr>
          <p:cNvPr id="21" name="TextBox 5"/>
          <p:cNvSpPr txBox="1"/>
          <p:nvPr/>
        </p:nvSpPr>
        <p:spPr>
          <a:xfrm>
            <a:off x="642910" y="3714752"/>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灯片编号占位符 22"/>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214290"/>
            <a:ext cx="8643998" cy="861774"/>
          </a:xfrm>
          <a:prstGeom prst="rect">
            <a:avLst/>
          </a:prstGeom>
          <a:noFill/>
        </p:spPr>
        <p:txBody>
          <a:bodyPr wrap="square" rtlCol="0">
            <a:spAutoFit/>
          </a:bodyPr>
          <a:lstStyle/>
          <a:p>
            <a:pPr algn="l">
              <a:lnSpc>
                <a:spcPts val="3000"/>
              </a:lnSpc>
              <a:spcBef>
                <a:spcPts val="0"/>
              </a:spcBef>
            </a:pPr>
            <a:r>
              <a:rPr lang="en-US"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7.15</a:t>
            </a:r>
            <a:r>
              <a:rPr lang="zh-CN" altLang="zh-CN" sz="2000" smtClean="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假设二叉树采用二叉链存储结构，且所有结点值均不相同，设计一个算法输出值为</a:t>
            </a:r>
            <a:r>
              <a:rPr lang="en-US" altLang="zh-CN" sz="2000" i="1" smtClean="0">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rPr>
              <a:t>的结点的所有祖先。</a:t>
            </a:r>
            <a:endParaRPr lang="zh-CN" altLang="zh-CN" sz="2000" smtClean="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285720" y="1928802"/>
            <a:ext cx="8572560" cy="178510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4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根据二叉树中祖先的定义可知，若一个结点的左孩子或右孩子值为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时，则该结点是</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结点的祖先结点；若一个结点的左孩子或右孩子为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结点的祖先结点时，则该结点也为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结点的祖先结点。</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400"/>
              </a:lnSpc>
              <a:spcBef>
                <a:spcPts val="12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结点是否为结点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的祖先结点，</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vector&lt;char&gt;</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容器</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的祖先结点（从根结点到结点</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双亲的结点序列）</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57158" y="4046319"/>
            <a:ext cx="8429684" cy="2240201"/>
          </a:xfrm>
          <a:prstGeom prst="rect">
            <a:avLst/>
          </a:prstGeom>
          <a:solidFill>
            <a:schemeClr val="bg1">
              <a:lumMod val="95000"/>
            </a:schemeClr>
          </a:solidFill>
          <a:effectLst>
            <a:outerShdw blurRad="50800" dist="38100" dir="13500000" algn="br"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wrap="square" lIns="216000" tIns="108000" bIns="108000" rtlCol="0">
            <a:spAutoFit/>
          </a:bodyPr>
          <a:lstStyle/>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 = false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i="1"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 = true; </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b-&gt;data</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添加到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的左孩子为结点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 = true</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b-&gt;data</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添加到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的右孩子为结点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 = true</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b-&gt;data</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添加到</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若结点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的左或右孩子是结点</a:t>
            </a:r>
            <a:r>
              <a:rPr lang="en-US"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的祖先</a:t>
            </a:r>
            <a:endPar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 = false			     </a:t>
            </a:r>
            <a:r>
              <a:rPr lang="zh-CN" altLang="zh-CN" sz="1800" smtClean="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pic>
        <p:nvPicPr>
          <p:cNvPr id="9" name="Picture 2"/>
          <p:cNvPicPr>
            <a:picLocks noChangeAspect="1" noChangeArrowheads="1"/>
          </p:cNvPicPr>
          <p:nvPr/>
        </p:nvPicPr>
        <p:blipFill>
          <a:blip r:embed="rId2" cstate="print"/>
          <a:srcRect/>
          <a:stretch>
            <a:fillRect/>
          </a:stretch>
        </p:blipFill>
        <p:spPr bwMode="auto">
          <a:xfrm>
            <a:off x="357158" y="1071546"/>
            <a:ext cx="1643074" cy="796023"/>
          </a:xfrm>
          <a:prstGeom prst="rect">
            <a:avLst/>
          </a:prstGeom>
          <a:noFill/>
          <a:ln w="9525">
            <a:noFill/>
            <a:miter lim="800000"/>
            <a:headEnd/>
            <a:tailEnd/>
          </a:ln>
        </p:spPr>
      </p:pic>
      <p:sp>
        <p:nvSpPr>
          <p:cNvPr id="10" name="TextBox 9"/>
          <p:cNvSpPr txBox="1"/>
          <p:nvPr/>
        </p:nvSpPr>
        <p:spPr>
          <a:xfrm>
            <a:off x="2214546" y="1214422"/>
            <a:ext cx="928694" cy="45318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bodyPr>
          <a:lstStyle/>
          <a:p>
            <a:pPr>
              <a:lnSpc>
                <a:spcPct val="100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解法</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1</a:t>
            </a:r>
            <a:endPar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06" y="142852"/>
            <a:ext cx="8929718" cy="663436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 char x,vector&lt;char&gt;&amp; res)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false</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false;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(b-&gt;lchild!=NULL &amp;&amp; b-&gt;lchild-&gt;data==x)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res.push_back(b-&gt;data);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结点的祖先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(b-&gt;rchild!=NULL &amp;&amp; b-&gt;rchild-&gt;data==x)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res.push_back(b-&gt;data);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结点的祖先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(b-&gt;lchild,x,res) ||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Ancestor11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(b-&gt;rchild,x,res))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res.push_back(b-&gt;data);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b</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的孩子是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的祖先，则它是</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的祖先</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false;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其他情况返回</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false</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bt,char x,vector&lt;char&gt;&amp; res)</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算法</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1</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结点的祖先</a:t>
            </a:r>
            <a:endPar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Ancestor11(bt.r,x,res);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reverse(res.begin(),res.end());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逆置</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res</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→按根结点到结点</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双亲的顺序</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285728"/>
            <a:ext cx="8501122" cy="399083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int main()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string str="A(B(D(,G)),C(E,F))";</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BTree bt;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bt.CreateBTree(str);</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 bt.DispBTree(); cout &lt;&lt; endl;</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(char ch='A';ch&lt;='G';ch++)</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cout &lt;&lt;  ch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结点的所有祖先</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vector&lt;char&gt; res;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存放祖先</a:t>
            </a:r>
            <a:endParaRPr lang="zh-CN" altLang="en-US"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(bt,ch,res);</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i=0;i&lt;res.size();i++)</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 " &lt;&lt; res[i];</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endl;</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cout &lt;&lt; "</a:t>
            </a:r>
            <a:r>
              <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销毁二叉树</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0;</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19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1260769" y="4429132"/>
            <a:ext cx="1900083" cy="1925032"/>
            <a:chOff x="1150124" y="3032607"/>
            <a:chExt cx="1900083" cy="1925032"/>
          </a:xfrm>
        </p:grpSpPr>
        <p:sp>
          <p:nvSpPr>
            <p:cNvPr id="7"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3"/>
            <p:cNvSpPr>
              <a:spLocks noChangeArrowheads="1"/>
            </p:cNvSpPr>
            <p:nvPr/>
          </p:nvSpPr>
          <p:spPr bwMode="auto">
            <a:xfrm>
              <a:off x="1568268" y="4633639"/>
              <a:ext cx="324000" cy="32400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0" name="右箭头 19"/>
          <p:cNvSpPr/>
          <p:nvPr/>
        </p:nvSpPr>
        <p:spPr>
          <a:xfrm>
            <a:off x="3546785" y="5214950"/>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21" name="Picture 2"/>
          <p:cNvPicPr>
            <a:picLocks noChangeAspect="1" noChangeArrowheads="1"/>
          </p:cNvPicPr>
          <p:nvPr/>
        </p:nvPicPr>
        <p:blipFill>
          <a:blip r:embed="rId1" cstate="print"/>
          <a:srcRect/>
          <a:stretch>
            <a:fillRect/>
          </a:stretch>
        </p:blipFill>
        <p:spPr bwMode="auto">
          <a:xfrm>
            <a:off x="4189727" y="4429132"/>
            <a:ext cx="2382537" cy="2000264"/>
          </a:xfrm>
          <a:prstGeom prst="rect">
            <a:avLst/>
          </a:prstGeom>
          <a:noFill/>
          <a:ln w="9525">
            <a:noFill/>
            <a:miter lim="800000"/>
            <a:headEnd/>
            <a:tailEnd/>
          </a:ln>
        </p:spPr>
      </p:pic>
      <p:sp>
        <p:nvSpPr>
          <p:cNvPr id="22" name="TextBox 5"/>
          <p:cNvSpPr txBox="1"/>
          <p:nvPr/>
        </p:nvSpPr>
        <p:spPr>
          <a:xfrm>
            <a:off x="357158" y="4500570"/>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4" name="灯片编号占位符 23"/>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571480"/>
            <a:ext cx="928694" cy="45318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bodyPr>
          <a:lstStyle/>
          <a:p>
            <a:pPr>
              <a:lnSpc>
                <a:spcPct val="100000"/>
              </a:lnSpc>
              <a:spcBef>
                <a:spcPts val="0"/>
              </a:spcBef>
            </a:pPr>
            <a:r>
              <a:rPr lang="zh-CN"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解法</a:t>
            </a:r>
            <a:r>
              <a:rPr lang="en-US" altLang="zh-CN"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rPr>
              <a:t>2</a:t>
            </a:r>
            <a:endParaRPr lang="zh-CN" altLang="en-US" sz="2000" smtClean="0">
              <a:solidFill>
                <a:srgbClr val="FF0000"/>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357298"/>
            <a:ext cx="8072494" cy="206207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108000" bIns="108000" rtlCol="0">
            <a:spAutoFit/>
          </a:bodyPr>
          <a:lstStyle/>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二叉树中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结点的祖先恰好是</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根结点到</a:t>
            </a:r>
            <a:r>
              <a:rPr lang="en-US" altLang="zh-CN" sz="2000" i="1" smtClean="0">
                <a:solidFill>
                  <a:srgbClr val="FF0000"/>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FF0000"/>
                </a:solidFill>
                <a:latin typeface="Consolas" panose="020B0609020204030204" pitchFamily="49" charset="0"/>
                <a:ea typeface="仿宋" panose="02010609060101010101" pitchFamily="49" charset="-122"/>
                <a:cs typeface="Consolas" panose="020B0609020204030204" pitchFamily="49" charset="0"/>
              </a:rPr>
              <a:t>结点的路径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上除了</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结点外的所有结点</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，用全局变量</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res</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向量表示</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1"/>
              </a:buBlip>
            </a:pP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采用先序遍历的思路，采用一个</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向量</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存放路径，当找到</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结点时，将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r>
              <a:rPr lang="en-US" altLang="zh-CN" sz="2000" i="1" smtClean="0">
                <a:solidFill>
                  <a:srgbClr val="0000FF"/>
                </a:solidFill>
                <a:latin typeface="Consolas" panose="020B0609020204030204" pitchFamily="49" charset="0"/>
                <a:ea typeface="仿宋" panose="02010609060101010101" pitchFamily="49" charset="-122"/>
                <a:cs typeface="Consolas" panose="020B0609020204030204" pitchFamily="49" charset="0"/>
              </a:rPr>
              <a:t>x</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结点（最后添加的结点）删除，再将</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path</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复制的</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ans</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中。</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
          <p:cNvGrpSpPr/>
          <p:nvPr/>
        </p:nvGrpSpPr>
        <p:grpSpPr>
          <a:xfrm>
            <a:off x="2928926" y="3631172"/>
            <a:ext cx="1900083" cy="1925032"/>
            <a:chOff x="1150124" y="3032607"/>
            <a:chExt cx="1900083" cy="1925032"/>
          </a:xfrm>
        </p:grpSpPr>
        <p:sp>
          <p:nvSpPr>
            <p:cNvPr id="7"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4"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7"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3"/>
            <p:cNvSpPr>
              <a:spLocks noChangeArrowheads="1"/>
            </p:cNvSpPr>
            <p:nvPr/>
          </p:nvSpPr>
          <p:spPr bwMode="auto">
            <a:xfrm>
              <a:off x="1568268" y="4633639"/>
              <a:ext cx="324000" cy="32400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0" name="TextBox 19"/>
          <p:cNvSpPr txBox="1"/>
          <p:nvPr/>
        </p:nvSpPr>
        <p:spPr>
          <a:xfrm>
            <a:off x="2857488" y="5774312"/>
            <a:ext cx="2357454" cy="400110"/>
          </a:xfrm>
          <a:prstGeom prst="rect">
            <a:avLst/>
          </a:prstGeom>
          <a:noFill/>
        </p:spPr>
        <p:txBody>
          <a:bodyPr wrap="square" rtlCol="0">
            <a:spAutoFit/>
          </a:bodyPr>
          <a:lstStyle/>
          <a:p>
            <a:pPr algn="l">
              <a:lnSpc>
                <a:spcPct val="100000"/>
              </a:lnSpc>
              <a:spcBef>
                <a:spcPts val="0"/>
              </a:spcBef>
            </a:pP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祖先</a:t>
            </a:r>
            <a:r>
              <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smtClean="0">
                <a:solidFill>
                  <a:srgbClr val="0000FF"/>
                </a:solidFill>
                <a:latin typeface="Consolas" panose="020B0609020204030204" pitchFamily="49" charset="0"/>
                <a:ea typeface="仿宋" panose="02010609060101010101" pitchFamily="49" charset="-122"/>
                <a:cs typeface="Consolas" panose="020B0609020204030204" pitchFamily="49" charset="0"/>
              </a:rPr>
              <a:t>A B D</a:t>
            </a:r>
            <a:endParaRPr lang="zh-CN" altLang="en-US" sz="20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灯片编号占位符 20"/>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776" y="71414"/>
            <a:ext cx="8896380" cy="4648306"/>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(BTNode* b,char x,vector&lt;char&gt; path,</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vector&lt;char</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&gt;&amp;res</a:t>
            </a:r>
            <a:r>
              <a:rPr lang="en-US"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(b==NULL) return;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空树返回</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path.push_back(b-&gt;data);</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if (b-&gt;data==x)</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  path.pop_back();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删除</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res=path;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复制</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path</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res</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return;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找到路径后返回</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(b-&gt;lchild,x,path,res);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在左子树中查找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Ancestor21</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(b-&gt;rchild,x,path,res);		</a:t>
            </a:r>
            <a:r>
              <a:rPr lang="en-US"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在右子树中查找</a:t>
            </a:r>
            <a:endParaRPr lang="zh-CN" altLang="zh-CN" sz="1800" smtClean="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smtClean="0">
                <a:solidFill>
                  <a:srgbClr val="FF0000"/>
                </a:solidFill>
                <a:latin typeface="Consolas" panose="020B0609020204030204" pitchFamily="49" charset="0"/>
                <a:ea typeface="仿宋" panose="02010609060101010101" pitchFamily="49" charset="-122"/>
                <a:cs typeface="Consolas" panose="020B0609020204030204" pitchFamily="49" charset="0"/>
              </a:rPr>
              <a:t>Ancestor2</a:t>
            </a: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(BTree&amp; bt,char x,vector&lt;char&gt;&amp; res)</a:t>
            </a:r>
            <a:endPar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算法</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2</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：返回</a:t>
            </a:r>
            <a:r>
              <a:rPr lang="en-US"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x</a:t>
            </a:r>
            <a:r>
              <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rPr>
              <a:t>结点的祖先</a:t>
            </a:r>
            <a:endParaRPr lang="zh-CN" altLang="zh-CN" sz="1800" smtClean="0">
              <a:solidFill>
                <a:srgbClr val="339933"/>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vector&lt;char&gt; path;</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   Ancestor21(bt.r,x,path,res);</a:t>
            </a:r>
            <a:endParaRPr lang="zh-CN"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smtClean="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3074" name="Picture 2"/>
          <p:cNvPicPr>
            <a:picLocks noChangeAspect="1" noChangeArrowheads="1"/>
          </p:cNvPicPr>
          <p:nvPr/>
        </p:nvPicPr>
        <p:blipFill>
          <a:blip r:embed="rId1" cstate="print"/>
          <a:srcRect/>
          <a:stretch>
            <a:fillRect/>
          </a:stretch>
        </p:blipFill>
        <p:spPr bwMode="auto">
          <a:xfrm>
            <a:off x="4714876" y="4572008"/>
            <a:ext cx="2500330" cy="2044129"/>
          </a:xfrm>
          <a:prstGeom prst="rect">
            <a:avLst/>
          </a:prstGeom>
          <a:noFill/>
          <a:ln w="9525">
            <a:noFill/>
            <a:miter lim="800000"/>
            <a:headEnd/>
            <a:tailEnd/>
          </a:ln>
        </p:spPr>
      </p:pic>
      <p:grpSp>
        <p:nvGrpSpPr>
          <p:cNvPr id="2" name="组合 9"/>
          <p:cNvGrpSpPr/>
          <p:nvPr/>
        </p:nvGrpSpPr>
        <p:grpSpPr>
          <a:xfrm>
            <a:off x="1500166" y="4643446"/>
            <a:ext cx="1900083" cy="1925032"/>
            <a:chOff x="1150124" y="3032607"/>
            <a:chExt cx="1900083" cy="1925032"/>
          </a:xfrm>
        </p:grpSpPr>
        <p:sp>
          <p:nvSpPr>
            <p:cNvPr id="11" name="Line 34"/>
            <p:cNvSpPr>
              <a:spLocks noChangeShapeType="1"/>
            </p:cNvSpPr>
            <p:nvPr/>
          </p:nvSpPr>
          <p:spPr bwMode="auto">
            <a:xfrm>
              <a:off x="2214546" y="3286124"/>
              <a:ext cx="201626" cy="255318"/>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Freeform 45"/>
            <p:cNvSpPr/>
            <p:nvPr/>
          </p:nvSpPr>
          <p:spPr bwMode="auto">
            <a:xfrm>
              <a:off x="2204420" y="3770162"/>
              <a:ext cx="208179" cy="328087"/>
            </a:xfrm>
            <a:custGeom>
              <a:avLst/>
              <a:gdLst/>
              <a:ahLst/>
              <a:cxnLst>
                <a:cxn ang="0">
                  <a:pos x="233" y="0"/>
                </a:cxn>
                <a:cxn ang="0">
                  <a:pos x="0" y="383"/>
                </a:cxn>
              </a:cxnLst>
              <a:rect l="0" t="0" r="r" b="b"/>
              <a:pathLst>
                <a:path w="233" h="383">
                  <a:moveTo>
                    <a:pt x="233" y="0"/>
                  </a:moveTo>
                  <a:lnTo>
                    <a:pt x="0" y="383"/>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44"/>
            <p:cNvSpPr>
              <a:spLocks noChangeShapeType="1"/>
            </p:cNvSpPr>
            <p:nvPr/>
          </p:nvSpPr>
          <p:spPr bwMode="auto">
            <a:xfrm>
              <a:off x="1369024" y="4327825"/>
              <a:ext cx="308248" cy="334084"/>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43"/>
            <p:cNvSpPr/>
            <p:nvPr/>
          </p:nvSpPr>
          <p:spPr bwMode="auto">
            <a:xfrm>
              <a:off x="2579678" y="3739324"/>
              <a:ext cx="234983" cy="365779"/>
            </a:xfrm>
            <a:custGeom>
              <a:avLst/>
              <a:gdLst/>
              <a:ahLst/>
              <a:cxnLst>
                <a:cxn ang="0">
                  <a:pos x="0" y="0"/>
                </a:cxn>
                <a:cxn ang="0">
                  <a:pos x="263" y="427"/>
                </a:cxn>
              </a:cxnLst>
              <a:rect l="0" t="0" r="r" b="b"/>
              <a:pathLst>
                <a:path w="263" h="427">
                  <a:moveTo>
                    <a:pt x="0" y="0"/>
                  </a:moveTo>
                  <a:lnTo>
                    <a:pt x="263" y="427"/>
                  </a:lnTo>
                </a:path>
              </a:pathLst>
            </a:cu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Line 42"/>
            <p:cNvSpPr>
              <a:spLocks noChangeShapeType="1"/>
            </p:cNvSpPr>
            <p:nvPr/>
          </p:nvSpPr>
          <p:spPr bwMode="auto">
            <a:xfrm flipH="1">
              <a:off x="1296653" y="3705059"/>
              <a:ext cx="285911" cy="40689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41"/>
            <p:cNvSpPr>
              <a:spLocks noChangeShapeType="1"/>
            </p:cNvSpPr>
            <p:nvPr/>
          </p:nvSpPr>
          <p:spPr bwMode="auto">
            <a:xfrm flipH="1">
              <a:off x="1632598" y="3155105"/>
              <a:ext cx="477114" cy="409467"/>
            </a:xfrm>
            <a:prstGeom prst="line">
              <a:avLst/>
            </a:prstGeom>
            <a:ln w="19050"/>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40"/>
            <p:cNvSpPr>
              <a:spLocks noChangeArrowheads="1"/>
            </p:cNvSpPr>
            <p:nvPr/>
          </p:nvSpPr>
          <p:spPr bwMode="auto">
            <a:xfrm>
              <a:off x="1955141" y="3032607"/>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8" name="Oval 39"/>
            <p:cNvSpPr>
              <a:spLocks noChangeArrowheads="1"/>
            </p:cNvSpPr>
            <p:nvPr/>
          </p:nvSpPr>
          <p:spPr bwMode="auto">
            <a:xfrm>
              <a:off x="1486069" y="348233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Oval 38"/>
            <p:cNvSpPr>
              <a:spLocks noChangeArrowheads="1"/>
            </p:cNvSpPr>
            <p:nvPr/>
          </p:nvSpPr>
          <p:spPr bwMode="auto">
            <a:xfrm>
              <a:off x="2357204" y="3520883"/>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0" name="Oval 37"/>
            <p:cNvSpPr>
              <a:spLocks noChangeArrowheads="1"/>
            </p:cNvSpPr>
            <p:nvPr/>
          </p:nvSpPr>
          <p:spPr bwMode="auto">
            <a:xfrm>
              <a:off x="2065038"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E</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1" name="Oval 36"/>
            <p:cNvSpPr>
              <a:spLocks noChangeArrowheads="1"/>
            </p:cNvSpPr>
            <p:nvPr/>
          </p:nvSpPr>
          <p:spPr bwMode="auto">
            <a:xfrm>
              <a:off x="2726207" y="4099105"/>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F</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2" name="Oval 35"/>
            <p:cNvSpPr>
              <a:spLocks noChangeArrowheads="1"/>
            </p:cNvSpPr>
            <p:nvPr/>
          </p:nvSpPr>
          <p:spPr bwMode="auto">
            <a:xfrm>
              <a:off x="1150124" y="4111954"/>
              <a:ext cx="324000" cy="324000"/>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23" name="Oval 33"/>
            <p:cNvSpPr>
              <a:spLocks noChangeArrowheads="1"/>
            </p:cNvSpPr>
            <p:nvPr/>
          </p:nvSpPr>
          <p:spPr bwMode="auto">
            <a:xfrm>
              <a:off x="1568268" y="4633639"/>
              <a:ext cx="324000" cy="324000"/>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G</a:t>
              </a:r>
              <a:endParaRPr kumimoji="0" lang="en-US" altLang="zh-CN" sz="1600" b="0" u="none" strike="noStrike" cap="none" normalizeH="0" baseline="0" smtClean="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sp>
        <p:nvSpPr>
          <p:cNvPr id="24" name="右箭头 23"/>
          <p:cNvSpPr/>
          <p:nvPr/>
        </p:nvSpPr>
        <p:spPr>
          <a:xfrm>
            <a:off x="3929058" y="5429264"/>
            <a:ext cx="500066"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TextBox 5"/>
          <p:cNvSpPr txBox="1"/>
          <p:nvPr/>
        </p:nvSpPr>
        <p:spPr>
          <a:xfrm>
            <a:off x="500034" y="4714884"/>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a:lstStyle>
          <a:p>
            <a:pPr>
              <a:lnSpc>
                <a:spcPct val="100000"/>
              </a:lnSpc>
              <a:spcBef>
                <a:spcPts val="0"/>
              </a:spcBef>
            </a:pPr>
            <a:r>
              <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程序验证</a:t>
            </a:r>
            <a:endParaRPr lang="zh-CN" altLang="en-US" sz="1800" b="0" smtClean="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85720" y="357166"/>
            <a:ext cx="685804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smtClean="0">
                <a:latin typeface="Consolas" panose="020B0609020204030204" pitchFamily="49" charset="0"/>
                <a:ea typeface="微软雅黑" panose="020B0503020204020204" pitchFamily="34" charset="-122"/>
                <a:cs typeface="Consolas" panose="020B0609020204030204" pitchFamily="49" charset="0"/>
              </a:rPr>
              <a:t>7.3.4 </a:t>
            </a:r>
            <a:r>
              <a:rPr lang="zh-CN" altLang="zh-CN" sz="2800" smtClean="0">
                <a:latin typeface="Consolas" panose="020B0609020204030204" pitchFamily="49" charset="0"/>
                <a:ea typeface="微软雅黑" panose="020B0503020204020204" pitchFamily="34" charset="-122"/>
                <a:cs typeface="Consolas" panose="020B0609020204030204" pitchFamily="49" charset="0"/>
              </a:rPr>
              <a:t>先序、中序和后序遍历非递归算法</a:t>
            </a:r>
            <a:endParaRPr lang="zh-CN" altLang="zh-CN" sz="2800">
              <a:latin typeface="Consolas" panose="020B0609020204030204" pitchFamily="49" charset="0"/>
              <a:ea typeface="微软雅黑" panose="020B0503020204020204" pitchFamily="34" charset="-122"/>
              <a:cs typeface="Consolas" panose="020B0609020204030204" pitchFamily="49" charset="0"/>
            </a:endParaRPr>
          </a:p>
        </p:txBody>
      </p:sp>
      <p:pic>
        <p:nvPicPr>
          <p:cNvPr id="105474" name="Picture 2"/>
          <p:cNvPicPr>
            <a:picLocks noChangeAspect="1" noChangeArrowheads="1"/>
          </p:cNvPicPr>
          <p:nvPr/>
        </p:nvPicPr>
        <p:blipFill>
          <a:blip r:embed="rId1" cstate="print"/>
          <a:srcRect/>
          <a:stretch>
            <a:fillRect/>
          </a:stretch>
        </p:blipFill>
        <p:spPr bwMode="auto">
          <a:xfrm>
            <a:off x="1857356" y="1571612"/>
            <a:ext cx="2400300" cy="1600200"/>
          </a:xfrm>
          <a:prstGeom prst="rect">
            <a:avLst/>
          </a:prstGeom>
          <a:noFill/>
          <a:ln w="9525">
            <a:noFill/>
            <a:miter lim="800000"/>
            <a:headEnd/>
            <a:tailEnd/>
          </a:ln>
        </p:spPr>
      </p:pic>
      <p:sp>
        <p:nvSpPr>
          <p:cNvPr id="11" name="TextBox 10"/>
          <p:cNvSpPr txBox="1"/>
          <p:nvPr/>
        </p:nvSpPr>
        <p:spPr>
          <a:xfrm>
            <a:off x="2643174" y="3429000"/>
            <a:ext cx="857256" cy="400110"/>
          </a:xfrm>
          <a:prstGeom prst="rect">
            <a:avLst/>
          </a:prstGeom>
          <a:noFill/>
        </p:spPr>
        <p:txBody>
          <a:bodyPr wrap="square" rtlCol="0">
            <a:spAutoFit/>
          </a:bodyPr>
          <a:lstStyle/>
          <a:p>
            <a:pPr algn="l">
              <a:lnSpc>
                <a:spcPct val="100000"/>
              </a:lnSpc>
              <a:spcBef>
                <a:spcPts val="0"/>
              </a:spcBef>
            </a:pPr>
            <a:r>
              <a:rPr lang="zh-CN" altLang="en-US" sz="2000" smtClean="0">
                <a:solidFill>
                  <a:srgbClr val="FF0000"/>
                </a:solidFill>
                <a:latin typeface="楷体" panose="02010609060101010101" pitchFamily="49" charset="-122"/>
                <a:ea typeface="楷体" panose="02010609060101010101" pitchFamily="49" charset="-122"/>
                <a:cs typeface="Consolas" panose="020B0609020204030204" pitchFamily="49" charset="0"/>
              </a:rPr>
              <a:t>自学</a:t>
            </a:r>
            <a:endParaRPr lang="zh-CN" altLang="en-US" sz="2000" smtClean="0">
              <a:solidFill>
                <a:srgbClr val="FF0000"/>
              </a:solidFill>
              <a:latin typeface="楷体" panose="02010609060101010101" pitchFamily="49" charset="-122"/>
              <a:ea typeface="楷体"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67864EE2-EAB3-4814-A7EB-820BD7610F1E}" type="slidenum">
              <a:rPr lang="en-US" altLang="zh-CN" smtClean="0"/>
            </a:fld>
            <a:r>
              <a:rPr lang="en-US" altLang="zh-CN" smtClean="0"/>
              <a:t>/110</a:t>
            </a:r>
            <a:endParaRPr lang="en-US" altLang="zh-CN"/>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0ae6f4ad-6547-4e28-a8f4-1f54ebbdba5e"/>
  <p:tag name="COMMONDATA" val="eyJoZGlkIjoiY2QwNjU5MjVlNjdjNDU2Zjg5OTZjZTk4MjhhZmIxMm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仿宋" panose="02010609060101010101" pitchFamily="49" charset="-122"/>
            <a:cs typeface="Consolas" panose="020B0609020204030204" pitchFamily="49"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19144</Words>
  <Application>WPS 演示</Application>
  <PresentationFormat>全屏显示(4:3)</PresentationFormat>
  <Paragraphs>3039</Paragraphs>
  <Slides>110</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110</vt:i4>
      </vt:variant>
    </vt:vector>
  </HeadingPairs>
  <TitlesOfParts>
    <vt:vector size="130" baseType="lpstr">
      <vt:lpstr>Arial</vt:lpstr>
      <vt:lpstr>宋体</vt:lpstr>
      <vt:lpstr>Wingdings</vt:lpstr>
      <vt:lpstr>Times New Roman</vt:lpstr>
      <vt:lpstr>楷体_GB2312</vt:lpstr>
      <vt:lpstr>新宋体</vt:lpstr>
      <vt:lpstr>Consolas</vt:lpstr>
      <vt:lpstr>仿宋</vt:lpstr>
      <vt:lpstr>方正启体简体</vt:lpstr>
      <vt:lpstr>微软雅黑</vt:lpstr>
      <vt:lpstr>Arial</vt:lpstr>
      <vt:lpstr>楷体</vt:lpstr>
      <vt:lpstr>Arial Unicode MS</vt:lpstr>
      <vt:lpstr>Calibri</vt:lpstr>
      <vt:lpstr>华文中宋</vt:lpstr>
      <vt:lpstr>Symbol</vt:lpstr>
      <vt:lpstr>黑体</vt:lpstr>
      <vt:lpstr>Wingdings</vt:lpstr>
      <vt:lpstr>Office 主题</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汪鼎文</cp:lastModifiedBy>
  <cp:revision>2834</cp:revision>
  <dcterms:created xsi:type="dcterms:W3CDTF">2004-03-31T23:50:00Z</dcterms:created>
  <dcterms:modified xsi:type="dcterms:W3CDTF">2022-10-24T11:55:17Z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ED1FC3681CF1456DA836B82B23AE1063</vt:lpwstr>
  </property>
  <property fmtid="{D5CDD505-2E9C-101B-9397-08002B2CF9AE}" pid="3" name="KSOProductBuildVer">
    <vt:lpwstr>2052-11.1.0.12598</vt:lpwstr>
  </property>
</Properties>
</file>